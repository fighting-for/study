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7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310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1.png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image" Target="../media/image4.png"/><Relationship Id="rId13" Type="http://schemas.openxmlformats.org/officeDocument/2006/relationships/tags" Target="../tags/tag71.xml"/><Relationship Id="rId12" Type="http://schemas.openxmlformats.org/officeDocument/2006/relationships/image" Target="../media/image3.png"/><Relationship Id="rId11" Type="http://schemas.openxmlformats.org/officeDocument/2006/relationships/tags" Target="../tags/tag70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image" Target="../media/image6.png"/><Relationship Id="rId4" Type="http://schemas.openxmlformats.org/officeDocument/2006/relationships/tags" Target="../tags/tag83.xml"/><Relationship Id="rId3" Type="http://schemas.openxmlformats.org/officeDocument/2006/relationships/image" Target="../media/image5.png"/><Relationship Id="rId2" Type="http://schemas.openxmlformats.org/officeDocument/2006/relationships/tags" Target="../tags/tag82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image" Target="../media/image8.png"/><Relationship Id="rId2" Type="http://schemas.openxmlformats.org/officeDocument/2006/relationships/tags" Target="../tags/tag88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image" Target="../media/image11.png"/><Relationship Id="rId12" Type="http://schemas.openxmlformats.org/officeDocument/2006/relationships/tags" Target="../tags/tag95.xml"/><Relationship Id="rId11" Type="http://schemas.openxmlformats.org/officeDocument/2006/relationships/image" Target="../media/image10.png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image" Target="../media/image8.png"/><Relationship Id="rId2" Type="http://schemas.openxmlformats.org/officeDocument/2006/relationships/tags" Target="../tags/tag135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image" Target="../media/image14.png"/><Relationship Id="rId15" Type="http://schemas.openxmlformats.org/officeDocument/2006/relationships/tags" Target="../tags/tag144.xml"/><Relationship Id="rId14" Type="http://schemas.openxmlformats.org/officeDocument/2006/relationships/image" Target="../media/image13.png"/><Relationship Id="rId13" Type="http://schemas.openxmlformats.org/officeDocument/2006/relationships/tags" Target="../tags/tag143.xml"/><Relationship Id="rId12" Type="http://schemas.openxmlformats.org/officeDocument/2006/relationships/image" Target="../media/image12.png"/><Relationship Id="rId11" Type="http://schemas.openxmlformats.org/officeDocument/2006/relationships/tags" Target="../tags/tag142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 userDrawn="1">
            <p:custDataLst>
              <p:tags r:id="rId2"/>
            </p:custDataLst>
          </p:nvPr>
        </p:nvSpPr>
        <p:spPr>
          <a:xfrm>
            <a:off x="6565904" y="838203"/>
            <a:ext cx="5626100" cy="6019165"/>
          </a:xfrm>
          <a:custGeom>
            <a:avLst/>
            <a:gdLst>
              <a:gd name="connisteX0" fmla="*/ 36832 w 78140"/>
              <a:gd name="connsiteY0" fmla="*/ 2755846 h 83608"/>
              <a:gd name="connisteX1" fmla="*/ 390860 w 78140"/>
              <a:gd name="connsiteY1" fmla="*/ 1989725 h 83608"/>
              <a:gd name="connisteX2" fmla="*/ 5626083 w 78140"/>
              <a:gd name="connsiteY2" fmla="*/ 0 h 83608"/>
              <a:gd name="connisteX3" fmla="*/ 5626102 w 78140"/>
              <a:gd name="connsiteY3" fmla="*/ 6019796 h 83608"/>
              <a:gd name="connisteX4" fmla="*/ 1237046 w 78140"/>
              <a:gd name="connsiteY4" fmla="*/ 6019796 h 83608"/>
              <a:gd name="connisteX5" fmla="*/ 36832 w 78140"/>
              <a:gd name="connsiteY5" fmla="*/ 2755846 h 8360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5626102" h="6019797">
                <a:moveTo>
                  <a:pt x="36832" y="2755846"/>
                </a:moveTo>
                <a:cubicBezTo>
                  <a:pt x="-76892" y="2446578"/>
                  <a:pt x="81555" y="2103696"/>
                  <a:pt x="390860" y="1989725"/>
                </a:cubicBezTo>
                <a:lnTo>
                  <a:pt x="5626084" y="0"/>
                </a:lnTo>
                <a:lnTo>
                  <a:pt x="5626102" y="6019797"/>
                </a:lnTo>
                <a:lnTo>
                  <a:pt x="1237046" y="6019797"/>
                </a:lnTo>
                <a:lnTo>
                  <a:pt x="36832" y="2755846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 userDrawn="1">
            <p:custDataLst>
              <p:tags r:id="rId3"/>
            </p:custDataLst>
          </p:nvPr>
        </p:nvSpPr>
        <p:spPr>
          <a:xfrm>
            <a:off x="0" y="5143500"/>
            <a:ext cx="6527800" cy="1713865"/>
          </a:xfrm>
          <a:custGeom>
            <a:avLst/>
            <a:gdLst>
              <a:gd name="connisteX0" fmla="*/ 1466853 w 90663"/>
              <a:gd name="connsiteY0" fmla="*/ 895353 h 23807"/>
              <a:gd name="connisteX1" fmla="*/ 0 w 90663"/>
              <a:gd name="connsiteY1" fmla="*/ 0 h 23807"/>
              <a:gd name="connisteX2" fmla="*/ 0 w 90663"/>
              <a:gd name="connsiteY2" fmla="*/ 1714115 h 23807"/>
              <a:gd name="connisteX3" fmla="*/ 6527801 w 90663"/>
              <a:gd name="connsiteY3" fmla="*/ 1714115 h 23807"/>
              <a:gd name="connisteX4" fmla="*/ 4953003 w 90663"/>
              <a:gd name="connsiteY4" fmla="*/ 895353 h 23807"/>
              <a:gd name="connisteX5" fmla="*/ 1466853 w 90663"/>
              <a:gd name="connsiteY5" fmla="*/ 895353 h 2380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6527801" h="1714125">
                <a:moveTo>
                  <a:pt x="1466853" y="895353"/>
                </a:moveTo>
                <a:cubicBezTo>
                  <a:pt x="1092196" y="381012"/>
                  <a:pt x="368302" y="9"/>
                  <a:pt x="0" y="0"/>
                </a:cubicBezTo>
                <a:lnTo>
                  <a:pt x="0" y="1714116"/>
                </a:lnTo>
                <a:lnTo>
                  <a:pt x="6527801" y="1714116"/>
                </a:lnTo>
                <a:cubicBezTo>
                  <a:pt x="6527801" y="1714116"/>
                  <a:pt x="5911852" y="895353"/>
                  <a:pt x="4953003" y="895353"/>
                </a:cubicBezTo>
                <a:cubicBezTo>
                  <a:pt x="3133704" y="895353"/>
                  <a:pt x="2368616" y="2133350"/>
                  <a:pt x="1466853" y="895353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>
            <p:custDataLst>
              <p:tags r:id="rId4"/>
            </p:custDataLst>
          </p:nvPr>
        </p:nvSpPr>
        <p:spPr>
          <a:xfrm>
            <a:off x="0" y="5143500"/>
            <a:ext cx="3213100" cy="1015365"/>
          </a:xfrm>
          <a:custGeom>
            <a:avLst/>
            <a:gdLst>
              <a:gd name="connisteX0" fmla="*/ 0 w 44626"/>
              <a:gd name="connsiteY0" fmla="*/ 0 h 14111"/>
              <a:gd name="connisteX1" fmla="*/ 2705096 w 44626"/>
              <a:gd name="connsiteY1" fmla="*/ 0 h 14111"/>
              <a:gd name="connisteX2" fmla="*/ 3213101 w 44626"/>
              <a:gd name="connsiteY2" fmla="*/ 508004 h 14111"/>
              <a:gd name="connisteX3" fmla="*/ 3213101 w 44626"/>
              <a:gd name="connsiteY3" fmla="*/ 508004 h 14111"/>
              <a:gd name="connisteX4" fmla="*/ 2705096 w 44626"/>
              <a:gd name="connsiteY4" fmla="*/ 1015998 h 14111"/>
              <a:gd name="connisteX5" fmla="*/ 0 w 44626"/>
              <a:gd name="connsiteY5" fmla="*/ 1015998 h 14111"/>
              <a:gd name="connisteX6" fmla="*/ 0 w 44626"/>
              <a:gd name="connsiteY6" fmla="*/ 0 h 1411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213101" h="1015999">
                <a:moveTo>
                  <a:pt x="0" y="0"/>
                </a:moveTo>
                <a:lnTo>
                  <a:pt x="2705097" y="0"/>
                </a:lnTo>
                <a:cubicBezTo>
                  <a:pt x="2985653" y="0"/>
                  <a:pt x="3213101" y="227439"/>
                  <a:pt x="3213101" y="508004"/>
                </a:cubicBezTo>
                <a:lnTo>
                  <a:pt x="3213101" y="508004"/>
                </a:lnTo>
                <a:cubicBezTo>
                  <a:pt x="3213101" y="788560"/>
                  <a:pt x="2985653" y="1015999"/>
                  <a:pt x="2705097" y="1015999"/>
                </a:cubicBezTo>
                <a:lnTo>
                  <a:pt x="0" y="1015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6"/>
            </p:custDataLst>
          </p:nvPr>
        </p:nvSpPr>
        <p:spPr>
          <a:xfrm>
            <a:off x="9874249" y="0"/>
            <a:ext cx="2317750" cy="2059940"/>
          </a:xfrm>
          <a:custGeom>
            <a:avLst/>
            <a:gdLst>
              <a:gd name="connisteX0" fmla="*/ 1200150 w 32190"/>
              <a:gd name="connsiteY0" fmla="*/ 1206495 h 28614"/>
              <a:gd name="connisteX1" fmla="*/ 0 w 32190"/>
              <a:gd name="connsiteY1" fmla="*/ 0 h 28614"/>
              <a:gd name="connisteX2" fmla="*/ 2317747 w 32190"/>
              <a:gd name="connsiteY2" fmla="*/ 0 h 28614"/>
              <a:gd name="connisteX3" fmla="*/ 2317747 w 32190"/>
              <a:gd name="connsiteY3" fmla="*/ 2057400 h 28614"/>
              <a:gd name="connisteX4" fmla="*/ 1200150 w 32190"/>
              <a:gd name="connsiteY4" fmla="*/ 1206495 h 2861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317748" h="2060235">
                <a:moveTo>
                  <a:pt x="1200150" y="1206496"/>
                </a:moveTo>
                <a:cubicBezTo>
                  <a:pt x="1073149" y="279404"/>
                  <a:pt x="273049" y="19047"/>
                  <a:pt x="0" y="0"/>
                </a:cubicBezTo>
                <a:lnTo>
                  <a:pt x="2317748" y="0"/>
                </a:lnTo>
                <a:lnTo>
                  <a:pt x="2317748" y="2057400"/>
                </a:lnTo>
                <a:cubicBezTo>
                  <a:pt x="1987549" y="2082802"/>
                  <a:pt x="1301749" y="1948184"/>
                  <a:pt x="1200150" y="1206496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655300" y="381000"/>
            <a:ext cx="508000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0965" y="4888865"/>
            <a:ext cx="812800" cy="508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1" name="图片 10"/>
          <p:cNvPicPr/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413500" y="279400"/>
            <a:ext cx="5777865" cy="657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2" name="图片 11"/>
          <p:cNvPicPr/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879600" cy="1802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3" hasCustomPrompt="1"/>
            <p:custDataLst>
              <p:tags r:id="rId17"/>
            </p:custDataLst>
          </p:nvPr>
        </p:nvSpPr>
        <p:spPr>
          <a:xfrm>
            <a:off x="1015999" y="5422904"/>
            <a:ext cx="2070101" cy="457200"/>
          </a:xfrm>
          <a:noFill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buNone/>
              <a:defRPr sz="2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4" hasCustomPrompt="1"/>
            <p:custDataLst>
              <p:tags r:id="rId18"/>
            </p:custDataLst>
          </p:nvPr>
        </p:nvSpPr>
        <p:spPr>
          <a:xfrm>
            <a:off x="1028700" y="1460498"/>
            <a:ext cx="4749796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4" name="标题 13"/>
          <p:cNvSpPr>
            <a:spLocks noGrp="1"/>
          </p:cNvSpPr>
          <p:nvPr>
            <p:ph type="ctrTitle" idx="15" hasCustomPrompt="1"/>
            <p:custDataLst>
              <p:tags r:id="rId19"/>
            </p:custDataLst>
          </p:nvPr>
        </p:nvSpPr>
        <p:spPr>
          <a:xfrm>
            <a:off x="1015999" y="1955801"/>
            <a:ext cx="5587999" cy="3047997"/>
          </a:xfrm>
          <a:noFill/>
        </p:spPr>
        <p:txBody>
          <a:bodyPr lIns="0" tIns="0" rIns="0" bIns="0" anchor="ctr">
            <a:noAutofit/>
          </a:bodyPr>
          <a:lstStyle>
            <a:lvl1pPr algn="l">
              <a:lnSpc>
                <a:spcPct val="111000"/>
              </a:lnSpc>
              <a:buNone/>
              <a:defRPr sz="6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可爱童趣
主题班会模版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6" name="图片 5"/>
          <p:cNvPicPr/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任意多边形 8"/>
          <p:cNvSpPr/>
          <p:nvPr userDrawn="1">
            <p:custDataLst>
              <p:tags r:id="rId6"/>
            </p:custDataLst>
          </p:nvPr>
        </p:nvSpPr>
        <p:spPr>
          <a:xfrm>
            <a:off x="3293714" y="0"/>
            <a:ext cx="8898255" cy="6858000"/>
          </a:xfrm>
          <a:custGeom>
            <a:avLst/>
            <a:gdLst>
              <a:gd name="connisteX0" fmla="*/ 9592 w 123587"/>
              <a:gd name="connsiteY0" fmla="*/ 1849502 h 95250"/>
              <a:gd name="connisteX1" fmla="*/ 740929 w 123587"/>
              <a:gd name="connsiteY1" fmla="*/ 867116 h 95250"/>
              <a:gd name="connisteX2" fmla="*/ 6734235 w 123587"/>
              <a:gd name="connsiteY2" fmla="*/ 6190 h 95250"/>
              <a:gd name="connisteX3" fmla="*/ 6820930 w 123587"/>
              <a:gd name="connsiteY3" fmla="*/ 0 h 95250"/>
              <a:gd name="connisteX4" fmla="*/ 8898264 w 123587"/>
              <a:gd name="connsiteY4" fmla="*/ 0 h 95250"/>
              <a:gd name="connisteX5" fmla="*/ 8898264 w 123587"/>
              <a:gd name="connsiteY5" fmla="*/ 6858000 h 95250"/>
              <a:gd name="connisteX6" fmla="*/ 757552 w 123587"/>
              <a:gd name="connsiteY6" fmla="*/ 6858000 h 95250"/>
              <a:gd name="connisteX7" fmla="*/ 9592 w 123587"/>
              <a:gd name="connsiteY7" fmla="*/ 1849502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8898264" h="6858000">
                <a:moveTo>
                  <a:pt x="9592" y="1849502"/>
                </a:moveTo>
                <a:cubicBezTo>
                  <a:pt x="-61137" y="1375916"/>
                  <a:pt x="266959" y="935203"/>
                  <a:pt x="740929" y="867116"/>
                </a:cubicBezTo>
                <a:lnTo>
                  <a:pt x="6734236" y="6190"/>
                </a:lnTo>
                <a:cubicBezTo>
                  <a:pt x="6762957" y="2067"/>
                  <a:pt x="6791925" y="0"/>
                  <a:pt x="6820930" y="0"/>
                </a:cubicBezTo>
                <a:lnTo>
                  <a:pt x="8898264" y="0"/>
                </a:lnTo>
                <a:lnTo>
                  <a:pt x="8898264" y="6858000"/>
                </a:lnTo>
                <a:lnTo>
                  <a:pt x="757553" y="6858000"/>
                </a:lnTo>
                <a:lnTo>
                  <a:pt x="9592" y="1849502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ctrTitle" idx="13" hasCustomPrompt="1"/>
            <p:custDataLst>
              <p:tags r:id="rId7"/>
            </p:custDataLst>
          </p:nvPr>
        </p:nvSpPr>
        <p:spPr>
          <a:xfrm>
            <a:off x="825502" y="1295403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8" name="副标题 7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825502" y="825502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1981200"/>
            <a:ext cx="4063365" cy="487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8877300" cy="6615430"/>
          </a:xfrm>
          <a:custGeom>
            <a:avLst/>
            <a:gdLst>
              <a:gd name="connisteX0" fmla="*/ 27 w 123295"/>
              <a:gd name="connsiteY0" fmla="*/ 5911852 h 91886"/>
              <a:gd name="connisteX1" fmla="*/ 0 w 123295"/>
              <a:gd name="connsiteY1" fmla="*/ 0 h 91886"/>
              <a:gd name="connisteX2" fmla="*/ 8877315 w 123295"/>
              <a:gd name="connsiteY2" fmla="*/ 0 h 91886"/>
              <a:gd name="connisteX3" fmla="*/ 8109475 w 123295"/>
              <a:gd name="connsiteY3" fmla="*/ 5864303 h 91886"/>
              <a:gd name="connisteX4" fmla="*/ 7169280 w 123295"/>
              <a:gd name="connsiteY4" fmla="*/ 6611697 h 91886"/>
              <a:gd name="connisteX5" fmla="*/ 27 w 123295"/>
              <a:gd name="connsiteY5" fmla="*/ 5911852 h 918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8877306" h="6615849">
                <a:moveTo>
                  <a:pt x="27" y="5911852"/>
                </a:moveTo>
                <a:lnTo>
                  <a:pt x="0" y="0"/>
                </a:lnTo>
                <a:lnTo>
                  <a:pt x="8877315" y="0"/>
                </a:lnTo>
                <a:lnTo>
                  <a:pt x="8109475" y="5864303"/>
                </a:lnTo>
                <a:cubicBezTo>
                  <a:pt x="8048997" y="6326267"/>
                  <a:pt x="7632981" y="6656969"/>
                  <a:pt x="7169280" y="6611697"/>
                </a:cubicBezTo>
                <a:lnTo>
                  <a:pt x="27" y="5911852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6"/>
            </p:custDataLst>
          </p:nvPr>
        </p:nvSpPr>
        <p:spPr>
          <a:xfrm>
            <a:off x="2730700" y="1345448"/>
            <a:ext cx="2197735" cy="2197735"/>
          </a:xfrm>
          <a:custGeom>
            <a:avLst/>
            <a:gdLst>
              <a:gd name="connisteX0" fmla="*/ 883273 w 30522"/>
              <a:gd name="connsiteY0" fmla="*/ 89272 h 30522"/>
              <a:gd name="connisteX1" fmla="*/ 1314321 w 30522"/>
              <a:gd name="connsiteY1" fmla="*/ 89272 h 30522"/>
              <a:gd name="connisteX2" fmla="*/ 2108322 w 30522"/>
              <a:gd name="connsiteY2" fmla="*/ 883273 h 30522"/>
              <a:gd name="connisteX3" fmla="*/ 2108322 w 30522"/>
              <a:gd name="connsiteY3" fmla="*/ 1314321 h 30522"/>
              <a:gd name="connisteX4" fmla="*/ 1314321 w 30522"/>
              <a:gd name="connsiteY4" fmla="*/ 2108322 h 30522"/>
              <a:gd name="connisteX5" fmla="*/ 883273 w 30522"/>
              <a:gd name="connsiteY5" fmla="*/ 2108322 h 30522"/>
              <a:gd name="connisteX6" fmla="*/ 89272 w 30522"/>
              <a:gd name="connsiteY6" fmla="*/ 1314321 h 30522"/>
              <a:gd name="connisteX7" fmla="*/ 89272 w 30522"/>
              <a:gd name="connsiteY7" fmla="*/ 883273 h 30522"/>
              <a:gd name="connisteX8" fmla="*/ 883273 w 30522"/>
              <a:gd name="connsiteY8" fmla="*/ 89272 h 305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97605" h="2197605">
                <a:moveTo>
                  <a:pt x="883274" y="89273"/>
                </a:moveTo>
                <a:cubicBezTo>
                  <a:pt x="1002310" y="-29755"/>
                  <a:pt x="1195295" y="-29755"/>
                  <a:pt x="1314322" y="89273"/>
                </a:cubicBezTo>
                <a:lnTo>
                  <a:pt x="2108323" y="883274"/>
                </a:lnTo>
                <a:cubicBezTo>
                  <a:pt x="2227369" y="1002310"/>
                  <a:pt x="2227369" y="1195295"/>
                  <a:pt x="2108323" y="1314322"/>
                </a:cubicBezTo>
                <a:lnTo>
                  <a:pt x="1314322" y="2108323"/>
                </a:lnTo>
                <a:cubicBezTo>
                  <a:pt x="1195295" y="2227369"/>
                  <a:pt x="1002310" y="2227369"/>
                  <a:pt x="883274" y="2108323"/>
                </a:cubicBezTo>
                <a:lnTo>
                  <a:pt x="89273" y="1314322"/>
                </a:lnTo>
                <a:cubicBezTo>
                  <a:pt x="-29755" y="1195295"/>
                  <a:pt x="-29755" y="1002310"/>
                  <a:pt x="89273" y="883274"/>
                </a:cubicBezTo>
                <a:lnTo>
                  <a:pt x="883274" y="89273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93700" y="5777865"/>
            <a:ext cx="508000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3" name="图片 12"/>
          <p:cNvPicPr/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096000" y="1434465"/>
            <a:ext cx="6096000" cy="542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4" name="图片 13"/>
          <p:cNvPicPr/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2031365" cy="195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15"/>
            </p:custDataLst>
          </p:nvPr>
        </p:nvSpPr>
        <p:spPr>
          <a:xfrm>
            <a:off x="825502" y="3873499"/>
            <a:ext cx="6248397" cy="1676397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4800" b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章节页的标题内容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 hasCustomPrompt="1"/>
            <p:custDataLst>
              <p:tags r:id="rId16"/>
            </p:custDataLst>
          </p:nvPr>
        </p:nvSpPr>
        <p:spPr>
          <a:xfrm>
            <a:off x="2644774" y="1816099"/>
            <a:ext cx="2381253" cy="1257300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9000"/>
              </a:lnSpc>
              <a:buNone/>
              <a:defRPr sz="7800" b="1">
                <a:solidFill>
                  <a:schemeClr val="accent4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6"/>
            </p:custDataLst>
          </p:nvPr>
        </p:nvSpPr>
        <p:spPr>
          <a:xfrm>
            <a:off x="0" y="711202"/>
            <a:ext cx="5910580" cy="6146800"/>
          </a:xfrm>
          <a:custGeom>
            <a:avLst/>
            <a:gdLst>
              <a:gd name="connisteX0" fmla="*/ 5873163 w 82093"/>
              <a:gd name="connsiteY0" fmla="*/ 2813992 h 85372"/>
              <a:gd name="connisteX1" fmla="*/ 5511829 w 82093"/>
              <a:gd name="connsiteY1" fmla="*/ 2031705 h 85372"/>
              <a:gd name="connisteX2" fmla="*/ 18 w 82093"/>
              <a:gd name="connsiteY2" fmla="*/ 0 h 85372"/>
              <a:gd name="connisteX3" fmla="*/ 0 w 82093"/>
              <a:gd name="connsiteY3" fmla="*/ 6146797 h 85372"/>
              <a:gd name="connisteX4" fmla="*/ 4648178 w 82093"/>
              <a:gd name="connsiteY4" fmla="*/ 6146797 h 85372"/>
              <a:gd name="connisteX5" fmla="*/ 5873163 w 82093"/>
              <a:gd name="connsiteY5" fmla="*/ 2813992 h 853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5910755" h="6146798">
                <a:moveTo>
                  <a:pt x="5873164" y="2813993"/>
                </a:moveTo>
                <a:cubicBezTo>
                  <a:pt x="5989247" y="2498196"/>
                  <a:pt x="5827526" y="2148063"/>
                  <a:pt x="5511829" y="2031705"/>
                </a:cubicBezTo>
                <a:lnTo>
                  <a:pt x="18" y="0"/>
                </a:lnTo>
                <a:lnTo>
                  <a:pt x="0" y="6146798"/>
                </a:lnTo>
                <a:lnTo>
                  <a:pt x="4648179" y="6146798"/>
                </a:lnTo>
                <a:lnTo>
                  <a:pt x="5873164" y="2813993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5664196" y="5232398"/>
            <a:ext cx="6527800" cy="1625600"/>
          </a:xfrm>
          <a:custGeom>
            <a:avLst/>
            <a:gdLst>
              <a:gd name="connisteX0" fmla="*/ 5060947 w 90663"/>
              <a:gd name="connsiteY0" fmla="*/ 806455 h 22572"/>
              <a:gd name="connisteX1" fmla="*/ 6527801 w 90663"/>
              <a:gd name="connsiteY1" fmla="*/ 0 h 22572"/>
              <a:gd name="connisteX2" fmla="*/ 6527801 w 90663"/>
              <a:gd name="connsiteY2" fmla="*/ 1625217 h 22572"/>
              <a:gd name="connisteX3" fmla="*/ 0 w 90663"/>
              <a:gd name="connsiteY3" fmla="*/ 1625217 h 22572"/>
              <a:gd name="connisteX4" fmla="*/ 1574797 w 90663"/>
              <a:gd name="connsiteY4" fmla="*/ 806455 h 22572"/>
              <a:gd name="connisteX5" fmla="*/ 5060947 w 90663"/>
              <a:gd name="connsiteY5" fmla="*/ 806455 h 225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6527801" h="1625227">
                <a:moveTo>
                  <a:pt x="5060948" y="806455"/>
                </a:moveTo>
                <a:cubicBezTo>
                  <a:pt x="5435596" y="292114"/>
                  <a:pt x="6159499" y="9"/>
                  <a:pt x="6527801" y="0"/>
                </a:cubicBezTo>
                <a:lnTo>
                  <a:pt x="6527801" y="1625218"/>
                </a:lnTo>
                <a:lnTo>
                  <a:pt x="0" y="1625218"/>
                </a:lnTo>
                <a:cubicBezTo>
                  <a:pt x="0" y="1625218"/>
                  <a:pt x="615949" y="806455"/>
                  <a:pt x="1574798" y="806455"/>
                </a:cubicBezTo>
                <a:cubicBezTo>
                  <a:pt x="3394097" y="806455"/>
                  <a:pt x="4159185" y="2044443"/>
                  <a:pt x="5060948" y="806455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2317115" cy="2059940"/>
          </a:xfrm>
          <a:custGeom>
            <a:avLst/>
            <a:gdLst>
              <a:gd name="connisteX0" fmla="*/ 1117597 w 32190"/>
              <a:gd name="connsiteY0" fmla="*/ 1206495 h 28614"/>
              <a:gd name="connisteX1" fmla="*/ 2317747 w 32190"/>
              <a:gd name="connsiteY1" fmla="*/ 0 h 28614"/>
              <a:gd name="connisteX2" fmla="*/ 0 w 32190"/>
              <a:gd name="connsiteY2" fmla="*/ 0 h 28614"/>
              <a:gd name="connisteX3" fmla="*/ 0 w 32190"/>
              <a:gd name="connsiteY3" fmla="*/ 2057400 h 28614"/>
              <a:gd name="connisteX4" fmla="*/ 1117597 w 32190"/>
              <a:gd name="connsiteY4" fmla="*/ 1206495 h 2861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317748" h="2060235">
                <a:moveTo>
                  <a:pt x="1117598" y="1206496"/>
                </a:moveTo>
                <a:cubicBezTo>
                  <a:pt x="1244599" y="279404"/>
                  <a:pt x="2044699" y="19047"/>
                  <a:pt x="2317748" y="0"/>
                </a:cubicBezTo>
                <a:lnTo>
                  <a:pt x="0" y="0"/>
                </a:lnTo>
                <a:lnTo>
                  <a:pt x="0" y="2057400"/>
                </a:lnTo>
                <a:cubicBezTo>
                  <a:pt x="330199" y="2082802"/>
                  <a:pt x="1015999" y="1948184"/>
                  <a:pt x="1117598" y="1206496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/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28700" y="381000"/>
            <a:ext cx="508000" cy="81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4" name="图片 13"/>
          <p:cNvPicPr/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289665" y="4977765"/>
            <a:ext cx="812800" cy="508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5" name="图片 14"/>
          <p:cNvPicPr/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457200"/>
            <a:ext cx="6387465" cy="640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16" name="图片 15"/>
          <p:cNvPicPr/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159365" y="0"/>
            <a:ext cx="2032000" cy="195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8"/>
            </p:custDataLst>
          </p:nvPr>
        </p:nvSpPr>
        <p:spPr>
          <a:xfrm>
            <a:off x="6057900" y="2705097"/>
            <a:ext cx="55245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9"/>
            </p:custDataLst>
          </p:nvPr>
        </p:nvSpPr>
        <p:spPr>
          <a:xfrm>
            <a:off x="5930899" y="3162297"/>
            <a:ext cx="5651504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1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4" Type="http://schemas.openxmlformats.org/officeDocument/2006/relationships/slideLayout" Target="../slideLayouts/slideLayout14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180.xml"/><Relationship Id="rId1" Type="http://schemas.openxmlformats.org/officeDocument/2006/relationships/tags" Target="../tags/tag17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image" Target="../media/image17.png"/><Relationship Id="rId7" Type="http://schemas.openxmlformats.org/officeDocument/2006/relationships/image" Target="../media/image16.jpeg"/><Relationship Id="rId6" Type="http://schemas.openxmlformats.org/officeDocument/2006/relationships/tags" Target="../tags/tag188.xml"/><Relationship Id="rId5" Type="http://schemas.openxmlformats.org/officeDocument/2006/relationships/image" Target="../media/image15.png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tags" Target="../tags/tag18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image" Target="../media/image19.jpeg"/><Relationship Id="rId7" Type="http://schemas.openxmlformats.org/officeDocument/2006/relationships/tags" Target="../tags/tag203.xml"/><Relationship Id="rId6" Type="http://schemas.openxmlformats.org/officeDocument/2006/relationships/image" Target="../media/image17.png"/><Relationship Id="rId5" Type="http://schemas.openxmlformats.org/officeDocument/2006/relationships/image" Target="../media/image18.jpeg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2" Type="http://schemas.openxmlformats.org/officeDocument/2006/relationships/slideLayout" Target="../slideLayouts/slideLayout18.xml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200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image" Target="../media/image21.jpeg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image" Target="../media/image20.jpeg"/><Relationship Id="rId10" Type="http://schemas.openxmlformats.org/officeDocument/2006/relationships/tags" Target="../tags/tag205.xml"/><Relationship Id="rId1" Type="http://schemas.openxmlformats.org/officeDocument/2006/relationships/tags" Target="../tags/tag19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image" Target="../media/image15.png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219.xml"/><Relationship Id="rId19" Type="http://schemas.openxmlformats.org/officeDocument/2006/relationships/tags" Target="../tags/tag232.xml"/><Relationship Id="rId18" Type="http://schemas.openxmlformats.org/officeDocument/2006/relationships/tags" Target="../tags/tag231.xml"/><Relationship Id="rId17" Type="http://schemas.openxmlformats.org/officeDocument/2006/relationships/tags" Target="../tags/tag230.xml"/><Relationship Id="rId16" Type="http://schemas.openxmlformats.org/officeDocument/2006/relationships/tags" Target="../tags/tag229.xml"/><Relationship Id="rId15" Type="http://schemas.openxmlformats.org/officeDocument/2006/relationships/tags" Target="../tags/tag228.xml"/><Relationship Id="rId14" Type="http://schemas.openxmlformats.org/officeDocument/2006/relationships/image" Target="../media/image23.jpeg"/><Relationship Id="rId13" Type="http://schemas.openxmlformats.org/officeDocument/2006/relationships/tags" Target="../tags/tag227.xml"/><Relationship Id="rId12" Type="http://schemas.openxmlformats.org/officeDocument/2006/relationships/image" Target="../media/image17.png"/><Relationship Id="rId11" Type="http://schemas.openxmlformats.org/officeDocument/2006/relationships/image" Target="../media/image22.jpeg"/><Relationship Id="rId10" Type="http://schemas.openxmlformats.org/officeDocument/2006/relationships/tags" Target="../tags/tag226.xml"/><Relationship Id="rId1" Type="http://schemas.openxmlformats.org/officeDocument/2006/relationships/tags" Target="../tags/tag2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jpeg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0" Type="http://schemas.openxmlformats.org/officeDocument/2006/relationships/slideLayout" Target="../slideLayouts/slideLayout18.xml"/><Relationship Id="rId3" Type="http://schemas.openxmlformats.org/officeDocument/2006/relationships/image" Target="../media/image24.png"/><Relationship Id="rId29" Type="http://schemas.openxmlformats.org/officeDocument/2006/relationships/tags" Target="../tags/tag255.xml"/><Relationship Id="rId28" Type="http://schemas.openxmlformats.org/officeDocument/2006/relationships/tags" Target="../tags/tag254.xml"/><Relationship Id="rId27" Type="http://schemas.openxmlformats.org/officeDocument/2006/relationships/tags" Target="../tags/tag253.xml"/><Relationship Id="rId26" Type="http://schemas.openxmlformats.org/officeDocument/2006/relationships/tags" Target="../tags/tag252.xml"/><Relationship Id="rId25" Type="http://schemas.openxmlformats.org/officeDocument/2006/relationships/tags" Target="../tags/tag251.xml"/><Relationship Id="rId24" Type="http://schemas.openxmlformats.org/officeDocument/2006/relationships/image" Target="../media/image28.jpeg"/><Relationship Id="rId23" Type="http://schemas.openxmlformats.org/officeDocument/2006/relationships/tags" Target="../tags/tag250.xml"/><Relationship Id="rId22" Type="http://schemas.openxmlformats.org/officeDocument/2006/relationships/tags" Target="../tags/tag249.xml"/><Relationship Id="rId21" Type="http://schemas.openxmlformats.org/officeDocument/2006/relationships/tags" Target="../tags/tag248.xml"/><Relationship Id="rId20" Type="http://schemas.openxmlformats.org/officeDocument/2006/relationships/image" Target="../media/image27.jpeg"/><Relationship Id="rId2" Type="http://schemas.openxmlformats.org/officeDocument/2006/relationships/tags" Target="../tags/tag234.xml"/><Relationship Id="rId19" Type="http://schemas.openxmlformats.org/officeDocument/2006/relationships/tags" Target="../tags/tag247.xml"/><Relationship Id="rId18" Type="http://schemas.openxmlformats.org/officeDocument/2006/relationships/tags" Target="../tags/tag246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image" Target="../media/image26.jpeg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image" Target="../media/image17.png"/><Relationship Id="rId1" Type="http://schemas.openxmlformats.org/officeDocument/2006/relationships/tags" Target="../tags/tag23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268.xml"/><Relationship Id="rId10" Type="http://schemas.openxmlformats.org/officeDocument/2006/relationships/image" Target="../media/image29.jpeg"/><Relationship Id="rId1" Type="http://schemas.openxmlformats.org/officeDocument/2006/relationships/tags" Target="../tags/tag25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image" Target="../media/image17.png"/><Relationship Id="rId4" Type="http://schemas.openxmlformats.org/officeDocument/2006/relationships/image" Target="../media/image30.jpeg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282.xml"/><Relationship Id="rId15" Type="http://schemas.openxmlformats.org/officeDocument/2006/relationships/tags" Target="../tags/tag281.xml"/><Relationship Id="rId14" Type="http://schemas.openxmlformats.org/officeDocument/2006/relationships/tags" Target="../tags/tag280.xml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tags" Target="../tags/tag26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7.png"/><Relationship Id="rId4" Type="http://schemas.openxmlformats.org/officeDocument/2006/relationships/image" Target="../media/image31.jpeg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293.xml"/><Relationship Id="rId1" Type="http://schemas.openxmlformats.org/officeDocument/2006/relationships/tags" Target="../tags/tag28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image" Target="../media/image15.png"/><Relationship Id="rId2" Type="http://schemas.openxmlformats.org/officeDocument/2006/relationships/tags" Target="../tags/tag295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306.xml"/><Relationship Id="rId15" Type="http://schemas.openxmlformats.org/officeDocument/2006/relationships/image" Target="../media/image17.png"/><Relationship Id="rId14" Type="http://schemas.openxmlformats.org/officeDocument/2006/relationships/image" Target="../media/image32.jpeg"/><Relationship Id="rId13" Type="http://schemas.openxmlformats.org/officeDocument/2006/relationships/tags" Target="../tags/tag305.xml"/><Relationship Id="rId12" Type="http://schemas.openxmlformats.org/officeDocument/2006/relationships/tags" Target="../tags/tag30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tags" Target="../tags/tag29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>
          <a:xfrm>
            <a:off x="1016000" y="5422900"/>
            <a:ext cx="2329180" cy="457200"/>
          </a:xfrm>
        </p:spPr>
        <p:txBody>
          <a:bodyPr/>
          <a:p>
            <a:r>
              <a:rPr lang="zh-CN" altLang="en-US" sz="2100"/>
              <a:t>汇报人：</a:t>
            </a:r>
            <a:r>
              <a:rPr lang="en-US" altLang="zh-CN" sz="2100"/>
              <a:t>lxy gjq</a:t>
            </a:r>
            <a:endParaRPr lang="en-US" altLang="zh-CN" sz="210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2025/04/24</a:t>
            </a:r>
            <a:endParaRPr lang="en-US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5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你有社恐吗？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副标题 3"/>
          <p:cNvSpPr>
            <a:spLocks noGrp="1"/>
          </p:cNvSpPr>
          <p:nvPr>
            <p:ph type="sub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7" name="组合 16"/>
          <p:cNvGrpSpPr/>
          <p:nvPr>
            <p:custDataLst>
              <p:tags r:id="rId3"/>
            </p:custDataLst>
          </p:nvPr>
        </p:nvGrpSpPr>
        <p:grpSpPr>
          <a:xfrm>
            <a:off x="5287010" y="2616199"/>
            <a:ext cx="5534022" cy="2260598"/>
            <a:chOff x="6525" y="4120"/>
            <a:chExt cx="8715" cy="3560"/>
          </a:xfrm>
        </p:grpSpPr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6525" y="4120"/>
              <a:ext cx="1670" cy="11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ctr">
                <a:lnSpc>
                  <a:spcPct val="109000"/>
                </a:lnSpc>
              </a:pPr>
              <a:r>
                <a:rPr lang="en-US" altLang="en-US" sz="5800">
                  <a:solidFill>
                    <a:schemeClr val="accent4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01</a:t>
              </a:r>
              <a:endParaRPr lang="en-US" altLang="en-US" sz="5800">
                <a:solidFill>
                  <a:schemeClr val="accent4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6640" y="5820"/>
              <a:ext cx="2401" cy="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7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6640" y="6240"/>
              <a:ext cx="25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引入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7"/>
              </p:custDataLst>
            </p:nvPr>
          </p:nvSpPr>
          <p:spPr>
            <a:xfrm>
              <a:off x="9565" y="4120"/>
              <a:ext cx="1670" cy="11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ctr">
                <a:lnSpc>
                  <a:spcPct val="109000"/>
                </a:lnSpc>
              </a:pPr>
              <a:r>
                <a:rPr lang="en-US" altLang="en-US" sz="5800">
                  <a:solidFill>
                    <a:schemeClr val="accent4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02</a:t>
              </a:r>
              <a:endParaRPr lang="en-US" altLang="en-US" sz="5800">
                <a:solidFill>
                  <a:schemeClr val="accent4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8"/>
              </p:custDataLst>
            </p:nvPr>
          </p:nvSpPr>
          <p:spPr>
            <a:xfrm>
              <a:off x="9680" y="5820"/>
              <a:ext cx="2401" cy="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>
              <a:off x="9680" y="6240"/>
              <a:ext cx="25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概念的界定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12605" y="4120"/>
              <a:ext cx="1670" cy="11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ctr">
                <a:lnSpc>
                  <a:spcPct val="109000"/>
                </a:lnSpc>
              </a:pPr>
              <a:r>
                <a:rPr lang="en-US" altLang="en-US" sz="5800">
                  <a:solidFill>
                    <a:schemeClr val="accent4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03</a:t>
              </a:r>
              <a:endParaRPr lang="en-US" altLang="en-US" sz="5800">
                <a:solidFill>
                  <a:schemeClr val="accent4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1"/>
              </p:custDataLst>
            </p:nvPr>
          </p:nvSpPr>
          <p:spPr>
            <a:xfrm>
              <a:off x="12720" y="5820"/>
              <a:ext cx="2400" cy="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13" name="文本框 12"/>
            <p:cNvSpPr txBox="1"/>
            <p:nvPr>
              <p:custDataLst>
                <p:tags r:id="rId12"/>
              </p:custDataLst>
            </p:nvPr>
          </p:nvSpPr>
          <p:spPr>
            <a:xfrm>
              <a:off x="12720" y="6240"/>
              <a:ext cx="25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研究目的、意义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5789291" y="2565404"/>
            <a:ext cx="4457700" cy="2552694"/>
            <a:chOff x="6940" y="4040"/>
            <a:chExt cx="7020" cy="4020"/>
          </a:xfrm>
        </p:grpSpPr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6940" y="4040"/>
              <a:ext cx="2280" cy="1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ctr">
                <a:lnSpc>
                  <a:spcPct val="109000"/>
                </a:lnSpc>
              </a:pPr>
              <a:r>
                <a:rPr lang="en-US" altLang="en-US" sz="8000">
                  <a:solidFill>
                    <a:schemeClr val="accent4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04</a:t>
              </a:r>
              <a:endParaRPr lang="en-US" altLang="en-US" sz="8000">
                <a:solidFill>
                  <a:schemeClr val="accent4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7120" y="6200"/>
              <a:ext cx="2880" cy="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6" name="文本框 5"/>
            <p:cNvSpPr txBox="1"/>
            <p:nvPr>
              <p:custDataLst>
                <p:tags r:id="rId6"/>
              </p:custDataLst>
            </p:nvPr>
          </p:nvSpPr>
          <p:spPr>
            <a:xfrm>
              <a:off x="7120" y="6620"/>
              <a:ext cx="30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研究过程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7"/>
              </p:custDataLst>
            </p:nvPr>
          </p:nvSpPr>
          <p:spPr>
            <a:xfrm>
              <a:off x="10780" y="4040"/>
              <a:ext cx="2280" cy="1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ctr">
                <a:lnSpc>
                  <a:spcPct val="109000"/>
                </a:lnSpc>
              </a:pPr>
              <a:r>
                <a:rPr lang="en-US" altLang="en-US" sz="8000">
                  <a:solidFill>
                    <a:schemeClr val="accent4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05</a:t>
              </a:r>
              <a:endParaRPr lang="en-US" altLang="en-US" sz="8000">
                <a:solidFill>
                  <a:schemeClr val="accent4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8"/>
              </p:custDataLst>
            </p:nvPr>
          </p:nvSpPr>
          <p:spPr>
            <a:xfrm>
              <a:off x="10960" y="6200"/>
              <a:ext cx="2880" cy="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"/>
            </a:p>
          </p:txBody>
        </p:sp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10960" y="6620"/>
              <a:ext cx="30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我们的建议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引入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/>
              <a:t>01</a:t>
            </a:r>
            <a:endParaRPr lang="en-US" altLang="en-US" sz="75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10363197" y="0"/>
            <a:ext cx="1828800" cy="6858000"/>
          </a:xfrm>
          <a:custGeom>
            <a:avLst/>
            <a:gdLst>
              <a:gd name="connisteX0" fmla="*/ 0 w 25400"/>
              <a:gd name="connsiteY0" fmla="*/ 0 h 95250"/>
              <a:gd name="connisteX1" fmla="*/ 1828800 w 25400"/>
              <a:gd name="connsiteY1" fmla="*/ 0 h 95250"/>
              <a:gd name="connisteX2" fmla="*/ 1828800 w 25400"/>
              <a:gd name="connsiteY2" fmla="*/ 6858000 h 95250"/>
              <a:gd name="connisteX3" fmla="*/ 925098 w 25400"/>
              <a:gd name="connsiteY3" fmla="*/ 6858000 h 95250"/>
              <a:gd name="connisteX4" fmla="*/ 0 w 25400"/>
              <a:gd name="connsiteY4" fmla="*/ 4902198 h 95250"/>
              <a:gd name="connisteX5" fmla="*/ 666753 w 25400"/>
              <a:gd name="connsiteY5" fmla="*/ 1904996 h 95250"/>
              <a:gd name="connisteX6" fmla="*/ 0 w 25400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925098" y="6858000"/>
                </a:lnTo>
                <a:cubicBezTo>
                  <a:pt x="925098" y="6858000"/>
                  <a:pt x="-9" y="6184901"/>
                  <a:pt x="0" y="4902199"/>
                </a:cubicBezTo>
                <a:cubicBezTo>
                  <a:pt x="9" y="3619497"/>
                  <a:pt x="666524" y="3070656"/>
                  <a:pt x="666753" y="1904997"/>
                </a:cubicBezTo>
                <a:cubicBezTo>
                  <a:pt x="666753" y="812801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0490198" y="0"/>
            <a:ext cx="1701800" cy="6858000"/>
          </a:xfrm>
          <a:custGeom>
            <a:avLst/>
            <a:gdLst>
              <a:gd name="connisteX0" fmla="*/ 387348 w 23636"/>
              <a:gd name="connsiteY0" fmla="*/ 0 h 95250"/>
              <a:gd name="connisteX1" fmla="*/ 1701798 w 23636"/>
              <a:gd name="connsiteY1" fmla="*/ 0 h 95250"/>
              <a:gd name="connisteX2" fmla="*/ 1701798 w 23636"/>
              <a:gd name="connsiteY2" fmla="*/ 6858000 h 95250"/>
              <a:gd name="connisteX3" fmla="*/ 798106 w 23636"/>
              <a:gd name="connsiteY3" fmla="*/ 6858000 h 95250"/>
              <a:gd name="connisteX4" fmla="*/ 0 w 23636"/>
              <a:gd name="connsiteY4" fmla="*/ 4927601 h 95250"/>
              <a:gd name="connisteX5" fmla="*/ 798106 w 23636"/>
              <a:gd name="connsiteY5" fmla="*/ 1949445 h 95250"/>
              <a:gd name="connisteX6" fmla="*/ 387348 w 23636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701799" h="6858000">
                <a:moveTo>
                  <a:pt x="387349" y="0"/>
                </a:moveTo>
                <a:lnTo>
                  <a:pt x="1701799" y="0"/>
                </a:lnTo>
                <a:lnTo>
                  <a:pt x="1701799" y="6858000"/>
                </a:lnTo>
                <a:lnTo>
                  <a:pt x="798107" y="6858000"/>
                </a:lnTo>
                <a:cubicBezTo>
                  <a:pt x="798107" y="6858000"/>
                  <a:pt x="-9" y="6210303"/>
                  <a:pt x="0" y="4927601"/>
                </a:cubicBezTo>
                <a:cubicBezTo>
                  <a:pt x="9" y="3644899"/>
                  <a:pt x="797878" y="3115105"/>
                  <a:pt x="798107" y="1949446"/>
                </a:cubicBezTo>
                <a:cubicBezTo>
                  <a:pt x="798107" y="857250"/>
                  <a:pt x="387349" y="0"/>
                  <a:pt x="38734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3" y="609603"/>
            <a:ext cx="9283702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社交恐惧症：青少年心理问题探究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5" name="图片 4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0"/>
            <a:ext cx="2158365" cy="5010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pic>
        <p:nvPicPr>
          <p:cNvPr id="6" name="图片 5" descr="C:/Users/30335/AppData/Roaming/Kingsoft/office6/wppai/generateppt/579ccad8-b277-453e-a158-ad2c9b7081cb.jpg579ccad8-b277-453e-a158-ad2c9b7081cb"/>
          <p:cNvPicPr preferRelativeResize="0"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618" r="618"/>
          <a:stretch>
            <a:fillRect/>
          </a:stretch>
        </p:blipFill>
        <p:spPr>
          <a:xfrm>
            <a:off x="609603" y="1828800"/>
            <a:ext cx="10972800" cy="2844165"/>
          </a:xfrm>
          <a:custGeom>
            <a:avLst/>
            <a:gdLst>
              <a:gd name="connisteX0" fmla="*/ 0 w 152400"/>
              <a:gd name="connsiteY0" fmla="*/ 304796 h 39511"/>
              <a:gd name="connisteX1" fmla="*/ 304796 w 152400"/>
              <a:gd name="connsiteY1" fmla="*/ 0 h 39511"/>
              <a:gd name="connisteX2" fmla="*/ 10668003 w 152400"/>
              <a:gd name="connsiteY2" fmla="*/ 0 h 39511"/>
              <a:gd name="connisteX3" fmla="*/ 10972800 w 152400"/>
              <a:gd name="connsiteY3" fmla="*/ 304796 h 39511"/>
              <a:gd name="connisteX4" fmla="*/ 10972800 w 152400"/>
              <a:gd name="connsiteY4" fmla="*/ 2540002 h 39511"/>
              <a:gd name="connisteX5" fmla="*/ 10668003 w 152400"/>
              <a:gd name="connsiteY5" fmla="*/ 2844798 h 39511"/>
              <a:gd name="connisteX6" fmla="*/ 304796 w 152400"/>
              <a:gd name="connsiteY6" fmla="*/ 2844798 h 39511"/>
              <a:gd name="connisteX7" fmla="*/ 0 w 152400"/>
              <a:gd name="connsiteY7" fmla="*/ 2540002 h 39511"/>
              <a:gd name="connisteX8" fmla="*/ 0 w 152400"/>
              <a:gd name="connsiteY8" fmla="*/ 304796 h 3951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799">
                <a:moveTo>
                  <a:pt x="0" y="304797"/>
                </a:moveTo>
                <a:cubicBezTo>
                  <a:pt x="0" y="136465"/>
                  <a:pt x="136465" y="0"/>
                  <a:pt x="304797" y="0"/>
                </a:cubicBezTo>
                <a:lnTo>
                  <a:pt x="10668003" y="0"/>
                </a:lnTo>
                <a:cubicBezTo>
                  <a:pt x="10836335" y="0"/>
                  <a:pt x="10972800" y="136465"/>
                  <a:pt x="10972800" y="304797"/>
                </a:cubicBezTo>
                <a:lnTo>
                  <a:pt x="10972800" y="2540002"/>
                </a:lnTo>
                <a:cubicBezTo>
                  <a:pt x="10972800" y="2708343"/>
                  <a:pt x="10836335" y="2844799"/>
                  <a:pt x="10668003" y="2844799"/>
                </a:cubicBezTo>
                <a:lnTo>
                  <a:pt x="304797" y="2844799"/>
                </a:lnTo>
                <a:cubicBezTo>
                  <a:pt x="136465" y="2844799"/>
                  <a:pt x="0" y="2708343"/>
                  <a:pt x="0" y="2540002"/>
                </a:cubicBezTo>
                <a:lnTo>
                  <a:pt x="0" y="304797"/>
                </a:lnTo>
                <a:close/>
              </a:path>
            </a:pathLst>
          </a:custGeom>
          <a:blipFill rotWithShape="1">
            <a:blip r:embed="rId8"/>
            <a:stretch>
              <a:fillRect/>
            </a:stretch>
          </a:blip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prstClr val="black"/>
                  </a:fgClr>
                </a:pattFill>
              </a14:hiddenLine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609600" y="5130800"/>
            <a:ext cx="9220200" cy="1117600"/>
            <a:chOff x="960" y="8080"/>
            <a:chExt cx="14520" cy="1760"/>
          </a:xfrm>
        </p:grpSpPr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960" y="8080"/>
              <a:ext cx="80" cy="1760"/>
            </a:xfrm>
            <a:custGeom>
              <a:avLst/>
              <a:gdLst>
                <a:gd name="connisteX0" fmla="*/ 0 w 705"/>
                <a:gd name="connsiteY0" fmla="*/ 25402 h 15522"/>
                <a:gd name="connisteX1" fmla="*/ 25402 w 705"/>
                <a:gd name="connsiteY1" fmla="*/ 0 h 15522"/>
                <a:gd name="connisteX2" fmla="*/ 25402 w 705"/>
                <a:gd name="connsiteY2" fmla="*/ 0 h 15522"/>
                <a:gd name="connisteX3" fmla="*/ 50804 w 705"/>
                <a:gd name="connsiteY3" fmla="*/ 25402 h 15522"/>
                <a:gd name="connisteX4" fmla="*/ 50804 w 705"/>
                <a:gd name="connsiteY4" fmla="*/ 1092195 h 15522"/>
                <a:gd name="connisteX5" fmla="*/ 25402 w 705"/>
                <a:gd name="connsiteY5" fmla="*/ 1117597 h 15522"/>
                <a:gd name="connisteX6" fmla="*/ 25402 w 705"/>
                <a:gd name="connsiteY6" fmla="*/ 1117597 h 15522"/>
                <a:gd name="connisteX7" fmla="*/ 0 w 705"/>
                <a:gd name="connsiteY7" fmla="*/ 1092195 h 15522"/>
                <a:gd name="connisteX8" fmla="*/ 0 w 705"/>
                <a:gd name="connsiteY8" fmla="*/ 25402 h 155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11175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1092196"/>
                  </a:lnTo>
                  <a:cubicBezTo>
                    <a:pt x="50804" y="1106232"/>
                    <a:pt x="39429" y="1117598"/>
                    <a:pt x="25402" y="1117598"/>
                  </a:cubicBezTo>
                  <a:lnTo>
                    <a:pt x="25402" y="1117598"/>
                  </a:lnTo>
                  <a:cubicBezTo>
                    <a:pt x="11375" y="1117598"/>
                    <a:pt x="0" y="1106232"/>
                    <a:pt x="0" y="10921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10"/>
              </p:custDataLst>
            </p:nvPr>
          </p:nvSpPr>
          <p:spPr>
            <a:xfrm>
              <a:off x="8520" y="8080"/>
              <a:ext cx="80" cy="1760"/>
            </a:xfrm>
            <a:custGeom>
              <a:avLst/>
              <a:gdLst>
                <a:gd name="connisteX0" fmla="*/ 0 w 705"/>
                <a:gd name="connsiteY0" fmla="*/ 25402 h 15522"/>
                <a:gd name="connisteX1" fmla="*/ 25402 w 705"/>
                <a:gd name="connsiteY1" fmla="*/ 0 h 15522"/>
                <a:gd name="connisteX2" fmla="*/ 25402 w 705"/>
                <a:gd name="connsiteY2" fmla="*/ 0 h 15522"/>
                <a:gd name="connisteX3" fmla="*/ 50804 w 705"/>
                <a:gd name="connsiteY3" fmla="*/ 25402 h 15522"/>
                <a:gd name="connisteX4" fmla="*/ 50804 w 705"/>
                <a:gd name="connsiteY4" fmla="*/ 1092195 h 15522"/>
                <a:gd name="connisteX5" fmla="*/ 25402 w 705"/>
                <a:gd name="connsiteY5" fmla="*/ 1117597 h 15522"/>
                <a:gd name="connisteX6" fmla="*/ 25402 w 705"/>
                <a:gd name="connsiteY6" fmla="*/ 1117597 h 15522"/>
                <a:gd name="connisteX7" fmla="*/ 0 w 705"/>
                <a:gd name="connsiteY7" fmla="*/ 1092195 h 15522"/>
                <a:gd name="connisteX8" fmla="*/ 0 w 705"/>
                <a:gd name="connsiteY8" fmla="*/ 25402 h 155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11175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1092196"/>
                  </a:lnTo>
                  <a:cubicBezTo>
                    <a:pt x="50804" y="1106232"/>
                    <a:pt x="39429" y="1117598"/>
                    <a:pt x="25402" y="1117598"/>
                  </a:cubicBezTo>
                  <a:lnTo>
                    <a:pt x="25402" y="1117598"/>
                  </a:lnTo>
                  <a:cubicBezTo>
                    <a:pt x="11375" y="1117598"/>
                    <a:pt x="0" y="1106232"/>
                    <a:pt x="0" y="10921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>
              <p:custDataLst>
                <p:tags r:id="rId11"/>
              </p:custDataLst>
            </p:nvPr>
          </p:nvSpPr>
          <p:spPr>
            <a:xfrm>
              <a:off x="1200" y="8080"/>
              <a:ext cx="672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社交恐惧症现象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2"/>
              </p:custDataLst>
            </p:nvPr>
          </p:nvSpPr>
          <p:spPr>
            <a:xfrm>
              <a:off x="1200" y="8880"/>
              <a:ext cx="668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网络热梗背后，反映真实心理问题，青少年群体中尤为显著，影响其社交与日常生活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3"/>
              </p:custDataLst>
            </p:nvPr>
          </p:nvSpPr>
          <p:spPr>
            <a:xfrm>
              <a:off x="8760" y="8080"/>
              <a:ext cx="672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课题研究目标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4"/>
              </p:custDataLst>
            </p:nvPr>
          </p:nvSpPr>
          <p:spPr>
            <a:xfrm>
              <a:off x="8760" y="8880"/>
              <a:ext cx="668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探讨社交恐惧症成因，评估其对青少年心理健康影响，旨在提供预防和应对策略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概念的界定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/>
              <a:t>02</a:t>
            </a:r>
            <a:endParaRPr lang="en-US" altLang="en-US" sz="75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 rot="10800000" flipV="1">
            <a:off x="0" y="0"/>
            <a:ext cx="1828800" cy="6858000"/>
          </a:xfrm>
          <a:custGeom>
            <a:avLst/>
            <a:gdLst>
              <a:gd name="connisteX0" fmla="*/ 0 w 25400"/>
              <a:gd name="connsiteY0" fmla="*/ 0 h 95250"/>
              <a:gd name="connisteX1" fmla="*/ 1828800 w 25400"/>
              <a:gd name="connsiteY1" fmla="*/ 0 h 95250"/>
              <a:gd name="connisteX2" fmla="*/ 1828800 w 25400"/>
              <a:gd name="connsiteY2" fmla="*/ 6858000 h 95250"/>
              <a:gd name="connisteX3" fmla="*/ 925098 w 25400"/>
              <a:gd name="connsiteY3" fmla="*/ 6858000 h 95250"/>
              <a:gd name="connisteX4" fmla="*/ 0 w 25400"/>
              <a:gd name="connsiteY4" fmla="*/ 4902198 h 95250"/>
              <a:gd name="connisteX5" fmla="*/ 666753 w 25400"/>
              <a:gd name="connsiteY5" fmla="*/ 1904996 h 95250"/>
              <a:gd name="connisteX6" fmla="*/ 0 w 25400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925098" y="6858000"/>
                </a:lnTo>
                <a:cubicBezTo>
                  <a:pt x="925098" y="6858000"/>
                  <a:pt x="-9" y="6184901"/>
                  <a:pt x="0" y="4902199"/>
                </a:cubicBezTo>
                <a:cubicBezTo>
                  <a:pt x="9" y="3619497"/>
                  <a:pt x="666524" y="3070656"/>
                  <a:pt x="666753" y="1904997"/>
                </a:cubicBezTo>
                <a:cubicBezTo>
                  <a:pt x="666753" y="812801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 rot="10800000" flipV="1">
            <a:off x="0" y="0"/>
            <a:ext cx="1701165" cy="6858000"/>
          </a:xfrm>
          <a:custGeom>
            <a:avLst/>
            <a:gdLst>
              <a:gd name="connisteX0" fmla="*/ 387348 w 23636"/>
              <a:gd name="connsiteY0" fmla="*/ 0 h 95250"/>
              <a:gd name="connisteX1" fmla="*/ 1701798 w 23636"/>
              <a:gd name="connsiteY1" fmla="*/ 0 h 95250"/>
              <a:gd name="connisteX2" fmla="*/ 1701798 w 23636"/>
              <a:gd name="connsiteY2" fmla="*/ 6858000 h 95250"/>
              <a:gd name="connisteX3" fmla="*/ 798106 w 23636"/>
              <a:gd name="connsiteY3" fmla="*/ 6858000 h 95250"/>
              <a:gd name="connisteX4" fmla="*/ 0 w 23636"/>
              <a:gd name="connsiteY4" fmla="*/ 4927601 h 95250"/>
              <a:gd name="connisteX5" fmla="*/ 798106 w 23636"/>
              <a:gd name="connsiteY5" fmla="*/ 1949445 h 95250"/>
              <a:gd name="connisteX6" fmla="*/ 387348 w 23636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701799" h="6858000">
                <a:moveTo>
                  <a:pt x="387349" y="0"/>
                </a:moveTo>
                <a:lnTo>
                  <a:pt x="1701799" y="0"/>
                </a:lnTo>
                <a:lnTo>
                  <a:pt x="1701799" y="6858000"/>
                </a:lnTo>
                <a:lnTo>
                  <a:pt x="798107" y="6858000"/>
                </a:lnTo>
                <a:cubicBezTo>
                  <a:pt x="798107" y="6858000"/>
                  <a:pt x="-9" y="6210303"/>
                  <a:pt x="0" y="4927601"/>
                </a:cubicBezTo>
                <a:cubicBezTo>
                  <a:pt x="9" y="3644899"/>
                  <a:pt x="797878" y="3115105"/>
                  <a:pt x="798107" y="1949446"/>
                </a:cubicBezTo>
                <a:cubicBezTo>
                  <a:pt x="798107" y="857250"/>
                  <a:pt x="387349" y="0"/>
                  <a:pt x="38734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438403" y="609603"/>
            <a:ext cx="9283702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社交恐惧症：过分惧怕社交场合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438400" y="2057400"/>
            <a:ext cx="9220200" cy="3962397"/>
            <a:chOff x="3840" y="3240"/>
            <a:chExt cx="14520" cy="6240"/>
          </a:xfrm>
        </p:grpSpPr>
        <p:pic>
          <p:nvPicPr>
            <p:cNvPr id="5" name="图片 4" descr="C:/Users/30335/AppData/Roaming/Kingsoft/office6/wppai/generateppt/bffbd4e8-7281-43ee-a21a-f52d74aa94e8.jpgbffbd4e8-7281-43ee-a21a-f52d74aa94e8"/>
            <p:cNvPicPr preferRelativeResize="0"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rcRect/>
            <a:stretch>
              <a:fillRect/>
            </a:stretch>
          </p:blipFill>
          <p:spPr>
            <a:xfrm>
              <a:off x="3840" y="3240"/>
              <a:ext cx="1440" cy="1440"/>
            </a:xfrm>
            <a:custGeom>
              <a:avLst/>
              <a:gdLst>
                <a:gd name="connisteX0" fmla="*/ 0 w 12700"/>
                <a:gd name="connsiteY0" fmla="*/ 457200 h 12700"/>
                <a:gd name="connisteX1" fmla="*/ 457200 w 12700"/>
                <a:gd name="connsiteY1" fmla="*/ 0 h 12700"/>
                <a:gd name="connisteX2" fmla="*/ 457200 w 12700"/>
                <a:gd name="connsiteY2" fmla="*/ 0 h 12700"/>
                <a:gd name="connisteX3" fmla="*/ 914400 w 12700"/>
                <a:gd name="connsiteY3" fmla="*/ 457200 h 12700"/>
                <a:gd name="connisteX4" fmla="*/ 914400 w 12700"/>
                <a:gd name="connsiteY4" fmla="*/ 457200 h 12700"/>
                <a:gd name="connisteX5" fmla="*/ 457200 w 12700"/>
                <a:gd name="connsiteY5" fmla="*/ 914400 h 12700"/>
                <a:gd name="connisteX6" fmla="*/ 457200 w 12700"/>
                <a:gd name="connsiteY6" fmla="*/ 914400 h 12700"/>
                <a:gd name="connisteX7" fmla="*/ 0 w 12700"/>
                <a:gd name="connsiteY7" fmla="*/ 457200 h 12700"/>
                <a:gd name="connisteX8" fmla="*/ 0 w 12700"/>
                <a:gd name="connsiteY8" fmla="*/ 457200 h 12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914400" h="914400">
                  <a:moveTo>
                    <a:pt x="0" y="457200"/>
                  </a:moveTo>
                  <a:cubicBezTo>
                    <a:pt x="0" y="204698"/>
                    <a:pt x="204698" y="0"/>
                    <a:pt x="457200" y="0"/>
                  </a:cubicBezTo>
                  <a:lnTo>
                    <a:pt x="457200" y="0"/>
                  </a:lnTo>
                  <a:cubicBezTo>
                    <a:pt x="709702" y="0"/>
                    <a:pt x="914400" y="204698"/>
                    <a:pt x="914400" y="457200"/>
                  </a:cubicBezTo>
                  <a:lnTo>
                    <a:pt x="914400" y="457200"/>
                  </a:lnTo>
                  <a:cubicBezTo>
                    <a:pt x="914400" y="709702"/>
                    <a:pt x="709702" y="914400"/>
                    <a:pt x="457200" y="914400"/>
                  </a:cubicBezTo>
                  <a:lnTo>
                    <a:pt x="457200" y="914400"/>
                  </a:lnTo>
                  <a:cubicBezTo>
                    <a:pt x="204698" y="914400"/>
                    <a:pt x="0" y="709702"/>
                    <a:pt x="0" y="457200"/>
                  </a:cubicBez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pic>
          <p:nvPicPr>
            <p:cNvPr id="10" name="图片 9" descr="C:/Users/30335/AppData/Roaming/Kingsoft/office6/wppai/generateppt/0ca8f2bd-c341-4167-9650-4a04792df876.jpg0ca8f2bd-c341-4167-9650-4a04792df876"/>
            <p:cNvPicPr preferRelativeResize="0"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>
            <a:xfrm>
              <a:off x="3840" y="6840"/>
              <a:ext cx="1440" cy="1440"/>
            </a:xfrm>
            <a:custGeom>
              <a:avLst/>
              <a:gdLst>
                <a:gd name="connisteX0" fmla="*/ 0 w 12700"/>
                <a:gd name="connsiteY0" fmla="*/ 457200 h 12700"/>
                <a:gd name="connisteX1" fmla="*/ 457200 w 12700"/>
                <a:gd name="connsiteY1" fmla="*/ 0 h 12700"/>
                <a:gd name="connisteX2" fmla="*/ 457200 w 12700"/>
                <a:gd name="connsiteY2" fmla="*/ 0 h 12700"/>
                <a:gd name="connisteX3" fmla="*/ 914400 w 12700"/>
                <a:gd name="connsiteY3" fmla="*/ 457200 h 12700"/>
                <a:gd name="connisteX4" fmla="*/ 914400 w 12700"/>
                <a:gd name="connsiteY4" fmla="*/ 457200 h 12700"/>
                <a:gd name="connisteX5" fmla="*/ 457200 w 12700"/>
                <a:gd name="connsiteY5" fmla="*/ 914400 h 12700"/>
                <a:gd name="connisteX6" fmla="*/ 457200 w 12700"/>
                <a:gd name="connsiteY6" fmla="*/ 914400 h 12700"/>
                <a:gd name="connisteX7" fmla="*/ 0 w 12700"/>
                <a:gd name="connsiteY7" fmla="*/ 457200 h 12700"/>
                <a:gd name="connisteX8" fmla="*/ 0 w 12700"/>
                <a:gd name="connsiteY8" fmla="*/ 457200 h 12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914400" h="914400">
                  <a:moveTo>
                    <a:pt x="0" y="457200"/>
                  </a:moveTo>
                  <a:cubicBezTo>
                    <a:pt x="0" y="204698"/>
                    <a:pt x="204698" y="0"/>
                    <a:pt x="457200" y="0"/>
                  </a:cubicBezTo>
                  <a:lnTo>
                    <a:pt x="457200" y="0"/>
                  </a:lnTo>
                  <a:cubicBezTo>
                    <a:pt x="709702" y="0"/>
                    <a:pt x="914400" y="204698"/>
                    <a:pt x="914400" y="457200"/>
                  </a:cubicBezTo>
                  <a:lnTo>
                    <a:pt x="914400" y="457200"/>
                  </a:lnTo>
                  <a:cubicBezTo>
                    <a:pt x="914400" y="709702"/>
                    <a:pt x="709702" y="914400"/>
                    <a:pt x="457200" y="914400"/>
                  </a:cubicBezTo>
                  <a:lnTo>
                    <a:pt x="457200" y="914400"/>
                  </a:lnTo>
                  <a:cubicBezTo>
                    <a:pt x="204698" y="914400"/>
                    <a:pt x="0" y="709702"/>
                    <a:pt x="0" y="457200"/>
                  </a:cubicBez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8" name="文本框 7"/>
            <p:cNvSpPr txBox="1"/>
            <p:nvPr>
              <p:custDataLst>
                <p:tags r:id="rId9"/>
              </p:custDataLst>
            </p:nvPr>
          </p:nvSpPr>
          <p:spPr>
            <a:xfrm>
              <a:off x="5680" y="3240"/>
              <a:ext cx="524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社交恐惧症概述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pic>
          <p:nvPicPr>
            <p:cNvPr id="15" name="图片 14" descr="C:/Users/30335/AppData/Roaming/Kingsoft/office6/wppai/generateppt/fa69c67c-258f-4300-865f-863215babe64.jpgfa69c67c-258f-4300-865f-863215babe64"/>
            <p:cNvPicPr preferRelativeResize="0"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rcRect/>
            <a:stretch>
              <a:fillRect/>
            </a:stretch>
          </p:blipFill>
          <p:spPr>
            <a:xfrm>
              <a:off x="11280" y="3240"/>
              <a:ext cx="1440" cy="1440"/>
            </a:xfrm>
            <a:custGeom>
              <a:avLst/>
              <a:gdLst>
                <a:gd name="connisteX0" fmla="*/ 0 w 12700"/>
                <a:gd name="connsiteY0" fmla="*/ 457200 h 12700"/>
                <a:gd name="connisteX1" fmla="*/ 457200 w 12700"/>
                <a:gd name="connsiteY1" fmla="*/ 0 h 12700"/>
                <a:gd name="connisteX2" fmla="*/ 457200 w 12700"/>
                <a:gd name="connsiteY2" fmla="*/ 0 h 12700"/>
                <a:gd name="connisteX3" fmla="*/ 914400 w 12700"/>
                <a:gd name="connsiteY3" fmla="*/ 457200 h 12700"/>
                <a:gd name="connisteX4" fmla="*/ 914400 w 12700"/>
                <a:gd name="connsiteY4" fmla="*/ 457200 h 12700"/>
                <a:gd name="connisteX5" fmla="*/ 457200 w 12700"/>
                <a:gd name="connsiteY5" fmla="*/ 914400 h 12700"/>
                <a:gd name="connisteX6" fmla="*/ 457200 w 12700"/>
                <a:gd name="connsiteY6" fmla="*/ 914400 h 12700"/>
                <a:gd name="connisteX7" fmla="*/ 0 w 12700"/>
                <a:gd name="connsiteY7" fmla="*/ 457200 h 12700"/>
                <a:gd name="connisteX8" fmla="*/ 0 w 12700"/>
                <a:gd name="connsiteY8" fmla="*/ 457200 h 12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914400" h="914400">
                  <a:moveTo>
                    <a:pt x="0" y="457200"/>
                  </a:moveTo>
                  <a:cubicBezTo>
                    <a:pt x="0" y="204698"/>
                    <a:pt x="204698" y="0"/>
                    <a:pt x="457200" y="0"/>
                  </a:cubicBezTo>
                  <a:lnTo>
                    <a:pt x="457200" y="0"/>
                  </a:lnTo>
                  <a:cubicBezTo>
                    <a:pt x="709702" y="0"/>
                    <a:pt x="914400" y="204698"/>
                    <a:pt x="914400" y="457200"/>
                  </a:cubicBezTo>
                  <a:lnTo>
                    <a:pt x="914400" y="457200"/>
                  </a:lnTo>
                  <a:cubicBezTo>
                    <a:pt x="914400" y="709702"/>
                    <a:pt x="709702" y="914400"/>
                    <a:pt x="457200" y="914400"/>
                  </a:cubicBezTo>
                  <a:lnTo>
                    <a:pt x="457200" y="914400"/>
                  </a:lnTo>
                  <a:cubicBezTo>
                    <a:pt x="204698" y="914400"/>
                    <a:pt x="0" y="709702"/>
                    <a:pt x="0" y="457200"/>
                  </a:cubicBez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9" name="文本框 8"/>
            <p:cNvSpPr txBox="1"/>
            <p:nvPr>
              <p:custDataLst>
                <p:tags r:id="rId12"/>
              </p:custDataLst>
            </p:nvPr>
          </p:nvSpPr>
          <p:spPr>
            <a:xfrm>
              <a:off x="5680" y="3960"/>
              <a:ext cx="5200" cy="19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定义、症状和分类，表现为对社交场合的过度恐惧，常伴有焦虑和回避行为，包括广场恐惧、社交恐惧和特殊恐惧症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pic>
          <p:nvPicPr>
            <p:cNvPr id="20" name="图片 19" descr="C:/Users/30335/AppData/Roaming/Kingsoft/office6/wppai/generateppt/f6c10d1b-245c-474a-8eb9-b7053df72525.jpgf6c10d1b-245c-474a-8eb9-b7053df72525"/>
            <p:cNvPicPr preferRelativeResize="0"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rcRect/>
            <a:stretch>
              <a:fillRect/>
            </a:stretch>
          </p:blipFill>
          <p:spPr>
            <a:xfrm>
              <a:off x="11280" y="6840"/>
              <a:ext cx="1440" cy="1440"/>
            </a:xfrm>
            <a:custGeom>
              <a:avLst/>
              <a:gdLst>
                <a:gd name="connisteX0" fmla="*/ 0 w 12700"/>
                <a:gd name="connsiteY0" fmla="*/ 457200 h 12700"/>
                <a:gd name="connisteX1" fmla="*/ 457200 w 12700"/>
                <a:gd name="connsiteY1" fmla="*/ 0 h 12700"/>
                <a:gd name="connisteX2" fmla="*/ 457200 w 12700"/>
                <a:gd name="connsiteY2" fmla="*/ 0 h 12700"/>
                <a:gd name="connisteX3" fmla="*/ 914400 w 12700"/>
                <a:gd name="connsiteY3" fmla="*/ 457200 h 12700"/>
                <a:gd name="connisteX4" fmla="*/ 914400 w 12700"/>
                <a:gd name="connsiteY4" fmla="*/ 457200 h 12700"/>
                <a:gd name="connisteX5" fmla="*/ 457200 w 12700"/>
                <a:gd name="connsiteY5" fmla="*/ 914400 h 12700"/>
                <a:gd name="connisteX6" fmla="*/ 457200 w 12700"/>
                <a:gd name="connsiteY6" fmla="*/ 914400 h 12700"/>
                <a:gd name="connisteX7" fmla="*/ 0 w 12700"/>
                <a:gd name="connsiteY7" fmla="*/ 457200 h 12700"/>
                <a:gd name="connisteX8" fmla="*/ 0 w 12700"/>
                <a:gd name="connsiteY8" fmla="*/ 457200 h 12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914400" h="914400">
                  <a:moveTo>
                    <a:pt x="0" y="457200"/>
                  </a:moveTo>
                  <a:cubicBezTo>
                    <a:pt x="0" y="204698"/>
                    <a:pt x="204698" y="0"/>
                    <a:pt x="457200" y="0"/>
                  </a:cubicBezTo>
                  <a:lnTo>
                    <a:pt x="457200" y="0"/>
                  </a:lnTo>
                  <a:cubicBezTo>
                    <a:pt x="709702" y="0"/>
                    <a:pt x="914400" y="204698"/>
                    <a:pt x="914400" y="457200"/>
                  </a:cubicBezTo>
                  <a:lnTo>
                    <a:pt x="914400" y="457200"/>
                  </a:lnTo>
                  <a:cubicBezTo>
                    <a:pt x="914400" y="709702"/>
                    <a:pt x="709702" y="914400"/>
                    <a:pt x="457200" y="914400"/>
                  </a:cubicBezTo>
                  <a:lnTo>
                    <a:pt x="457200" y="914400"/>
                  </a:lnTo>
                  <a:cubicBezTo>
                    <a:pt x="204698" y="914400"/>
                    <a:pt x="0" y="709702"/>
                    <a:pt x="0" y="457200"/>
                  </a:cubicBez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13" name="文本框 12"/>
            <p:cNvSpPr txBox="1"/>
            <p:nvPr>
              <p:custDataLst>
                <p:tags r:id="rId15"/>
              </p:custDataLst>
            </p:nvPr>
          </p:nvSpPr>
          <p:spPr>
            <a:xfrm>
              <a:off x="5680" y="6840"/>
              <a:ext cx="524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发病原因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6"/>
              </p:custDataLst>
            </p:nvPr>
          </p:nvSpPr>
          <p:spPr>
            <a:xfrm>
              <a:off x="5680" y="7560"/>
              <a:ext cx="5200" cy="19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社交恐惧症的成因复杂，涉及遗传因素、神经生化变化及心理社会因素的相互作用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7"/>
              </p:custDataLst>
            </p:nvPr>
          </p:nvSpPr>
          <p:spPr>
            <a:xfrm>
              <a:off x="13120" y="3240"/>
              <a:ext cx="524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恐惧症的类型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8"/>
              </p:custDataLst>
            </p:nvPr>
          </p:nvSpPr>
          <p:spPr>
            <a:xfrm>
              <a:off x="13120" y="3960"/>
              <a:ext cx="5200" cy="19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社交恐惧症是恐惧症的一种，特征是无法控制地、过度地害怕特定的物体、活动或社交情境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9"/>
              </p:custDataLst>
            </p:nvPr>
          </p:nvSpPr>
          <p:spPr>
            <a:xfrm>
              <a:off x="13120" y="6840"/>
              <a:ext cx="524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临床表现与诊断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20"/>
              </p:custDataLst>
            </p:nvPr>
          </p:nvSpPr>
          <p:spPr>
            <a:xfrm>
              <a:off x="13120" y="7560"/>
              <a:ext cx="5200" cy="19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患者明知恐惧反应不合理，但仍然频繁经历，常伴有自主神经症状，并因此改变或限制自己的日常生活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研究目的、意义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/>
              <a:t>03</a:t>
            </a:r>
            <a:endParaRPr lang="en-US" altLang="en-US" sz="75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10363197" y="0"/>
            <a:ext cx="1828800" cy="6858000"/>
          </a:xfrm>
          <a:custGeom>
            <a:avLst/>
            <a:gdLst>
              <a:gd name="connisteX0" fmla="*/ 0 w 25400"/>
              <a:gd name="connsiteY0" fmla="*/ 0 h 95250"/>
              <a:gd name="connisteX1" fmla="*/ 1828800 w 25400"/>
              <a:gd name="connsiteY1" fmla="*/ 0 h 95250"/>
              <a:gd name="connisteX2" fmla="*/ 1828800 w 25400"/>
              <a:gd name="connsiteY2" fmla="*/ 6858000 h 95250"/>
              <a:gd name="connisteX3" fmla="*/ 925098 w 25400"/>
              <a:gd name="connsiteY3" fmla="*/ 6858000 h 95250"/>
              <a:gd name="connisteX4" fmla="*/ 0 w 25400"/>
              <a:gd name="connsiteY4" fmla="*/ 4902198 h 95250"/>
              <a:gd name="connisteX5" fmla="*/ 666753 w 25400"/>
              <a:gd name="connsiteY5" fmla="*/ 1904996 h 95250"/>
              <a:gd name="connisteX6" fmla="*/ 0 w 25400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925098" y="6858000"/>
                </a:lnTo>
                <a:cubicBezTo>
                  <a:pt x="925098" y="6858000"/>
                  <a:pt x="-9" y="6184901"/>
                  <a:pt x="0" y="4902199"/>
                </a:cubicBezTo>
                <a:cubicBezTo>
                  <a:pt x="9" y="3619497"/>
                  <a:pt x="666524" y="3070656"/>
                  <a:pt x="666753" y="1904997"/>
                </a:cubicBezTo>
                <a:cubicBezTo>
                  <a:pt x="666753" y="812801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0490198" y="0"/>
            <a:ext cx="1701800" cy="6858000"/>
          </a:xfrm>
          <a:custGeom>
            <a:avLst/>
            <a:gdLst>
              <a:gd name="connisteX0" fmla="*/ 387348 w 23636"/>
              <a:gd name="connsiteY0" fmla="*/ 0 h 95250"/>
              <a:gd name="connisteX1" fmla="*/ 1701798 w 23636"/>
              <a:gd name="connsiteY1" fmla="*/ 0 h 95250"/>
              <a:gd name="connisteX2" fmla="*/ 1701798 w 23636"/>
              <a:gd name="connsiteY2" fmla="*/ 6858000 h 95250"/>
              <a:gd name="connisteX3" fmla="*/ 798106 w 23636"/>
              <a:gd name="connsiteY3" fmla="*/ 6858000 h 95250"/>
              <a:gd name="connisteX4" fmla="*/ 0 w 23636"/>
              <a:gd name="connsiteY4" fmla="*/ 4927601 h 95250"/>
              <a:gd name="connisteX5" fmla="*/ 798106 w 23636"/>
              <a:gd name="connsiteY5" fmla="*/ 1949445 h 95250"/>
              <a:gd name="connisteX6" fmla="*/ 387348 w 23636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701799" h="6858000">
                <a:moveTo>
                  <a:pt x="387349" y="0"/>
                </a:moveTo>
                <a:lnTo>
                  <a:pt x="1701799" y="0"/>
                </a:lnTo>
                <a:lnTo>
                  <a:pt x="1701799" y="6858000"/>
                </a:lnTo>
                <a:lnTo>
                  <a:pt x="798107" y="6858000"/>
                </a:lnTo>
                <a:cubicBezTo>
                  <a:pt x="798107" y="6858000"/>
                  <a:pt x="-9" y="6210303"/>
                  <a:pt x="0" y="4927601"/>
                </a:cubicBezTo>
                <a:cubicBezTo>
                  <a:pt x="9" y="3644899"/>
                  <a:pt x="797878" y="3115105"/>
                  <a:pt x="798107" y="1949446"/>
                </a:cubicBezTo>
                <a:cubicBezTo>
                  <a:pt x="798107" y="857250"/>
                  <a:pt x="387349" y="0"/>
                  <a:pt x="38734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3" y="609603"/>
            <a:ext cx="9283702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积极心态与人生价值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5" name="图片 4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0"/>
            <a:ext cx="2158365" cy="5010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grpSp>
        <p:nvGrpSpPr>
          <p:cNvPr id="20" name="组合 19"/>
          <p:cNvGrpSpPr/>
          <p:nvPr/>
        </p:nvGrpSpPr>
        <p:grpSpPr>
          <a:xfrm>
            <a:off x="609600" y="1828800"/>
            <a:ext cx="9144002" cy="4419600"/>
            <a:chOff x="960" y="2880"/>
            <a:chExt cx="14400" cy="6960"/>
          </a:xfrm>
        </p:grpSpPr>
        <p:sp>
          <p:nvSpPr>
            <p:cNvPr id="6" name="任意多边形 5"/>
            <p:cNvSpPr/>
            <p:nvPr>
              <p:custDataLst>
                <p:tags r:id="rId6"/>
              </p:custDataLst>
            </p:nvPr>
          </p:nvSpPr>
          <p:spPr>
            <a:xfrm>
              <a:off x="960" y="2880"/>
              <a:ext cx="5600" cy="3240"/>
            </a:xfrm>
            <a:custGeom>
              <a:avLst/>
              <a:gdLst>
                <a:gd name="connisteX0" fmla="*/ 0 w 49388"/>
                <a:gd name="connsiteY0" fmla="*/ 304796 h 28575"/>
                <a:gd name="connisteX1" fmla="*/ 304796 w 49388"/>
                <a:gd name="connsiteY1" fmla="*/ 0 h 28575"/>
                <a:gd name="connisteX2" fmla="*/ 3556001 w 49388"/>
                <a:gd name="connsiteY2" fmla="*/ 0 h 28575"/>
                <a:gd name="connisteX3" fmla="*/ 3556001 w 49388"/>
                <a:gd name="connsiteY3" fmla="*/ 2057400 h 28575"/>
                <a:gd name="connisteX4" fmla="*/ 304796 w 49388"/>
                <a:gd name="connsiteY4" fmla="*/ 2057400 h 28575"/>
                <a:gd name="connisteX5" fmla="*/ 0 w 49388"/>
                <a:gd name="connsiteY5" fmla="*/ 1752603 h 28575"/>
                <a:gd name="connisteX6" fmla="*/ 0 w 49388"/>
                <a:gd name="connsiteY6" fmla="*/ 304796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556001" h="2057400">
                  <a:moveTo>
                    <a:pt x="0" y="304797"/>
                  </a:moveTo>
                  <a:cubicBezTo>
                    <a:pt x="0" y="136465"/>
                    <a:pt x="136465" y="0"/>
                    <a:pt x="304797" y="0"/>
                  </a:cubicBezTo>
                  <a:lnTo>
                    <a:pt x="3556001" y="0"/>
                  </a:lnTo>
                  <a:lnTo>
                    <a:pt x="3556001" y="2057400"/>
                  </a:lnTo>
                  <a:lnTo>
                    <a:pt x="304797" y="2057400"/>
                  </a:lnTo>
                  <a:cubicBezTo>
                    <a:pt x="136465" y="2057400"/>
                    <a:pt x="0" y="1920935"/>
                    <a:pt x="0" y="1752603"/>
                  </a:cubicBezTo>
                  <a:lnTo>
                    <a:pt x="0" y="30479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7"/>
              </p:custDataLst>
            </p:nvPr>
          </p:nvSpPr>
          <p:spPr>
            <a:xfrm>
              <a:off x="1020" y="2940"/>
              <a:ext cx="5540" cy="3120"/>
            </a:xfrm>
            <a:custGeom>
              <a:avLst/>
              <a:gdLst>
                <a:gd name="connisteX0" fmla="*/ 0 w 48859"/>
                <a:gd name="connsiteY0" fmla="*/ 279404 h 27516"/>
                <a:gd name="connisteX1" fmla="*/ 279404 w 48859"/>
                <a:gd name="connsiteY1" fmla="*/ 0 h 27516"/>
                <a:gd name="connisteX2" fmla="*/ 3517897 w 48859"/>
                <a:gd name="connsiteY2" fmla="*/ 0 h 27516"/>
                <a:gd name="connisteX3" fmla="*/ 3517897 w 48859"/>
                <a:gd name="connsiteY3" fmla="*/ 1981203 h 27516"/>
                <a:gd name="connisteX4" fmla="*/ 279404 w 48859"/>
                <a:gd name="connsiteY4" fmla="*/ 1981203 h 27516"/>
                <a:gd name="connisteX5" fmla="*/ 0 w 48859"/>
                <a:gd name="connsiteY5" fmla="*/ 1701798 h 27516"/>
                <a:gd name="connisteX6" fmla="*/ 0 w 48859"/>
                <a:gd name="connsiteY6" fmla="*/ 279404 h 2751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517898" h="1981203">
                  <a:moveTo>
                    <a:pt x="0" y="279404"/>
                  </a:moveTo>
                  <a:cubicBezTo>
                    <a:pt x="0" y="125090"/>
                    <a:pt x="125090" y="0"/>
                    <a:pt x="279404" y="0"/>
                  </a:cubicBezTo>
                  <a:lnTo>
                    <a:pt x="3517898" y="0"/>
                  </a:lnTo>
                  <a:lnTo>
                    <a:pt x="3517898" y="1981203"/>
                  </a:lnTo>
                  <a:lnTo>
                    <a:pt x="279404" y="1981203"/>
                  </a:lnTo>
                  <a:cubicBezTo>
                    <a:pt x="125090" y="1981203"/>
                    <a:pt x="0" y="1856104"/>
                    <a:pt x="0" y="1701799"/>
                  </a:cubicBezTo>
                  <a:lnTo>
                    <a:pt x="0" y="279404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>
              <p:custDataLst>
                <p:tags r:id="rId8"/>
              </p:custDataLst>
            </p:nvPr>
          </p:nvSpPr>
          <p:spPr>
            <a:xfrm>
              <a:off x="1440" y="3340"/>
              <a:ext cx="476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青少年心理建设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1440" y="4220"/>
              <a:ext cx="47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注重心理健康教育，培养乐观、勇敢面对生活的态度，形成积极的人生观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pic>
          <p:nvPicPr>
            <p:cNvPr id="10" name="图片 9" descr="C:/Users/30335/AppData/Roaming/Kingsoft/office6/wppai/generateppt/6d95c5de-fbdf-45f0-8959-34cea2b99e7e.jpg6d95c5de-fbdf-45f0-8959-34cea2b99e7e"/>
            <p:cNvPicPr preferRelativeResize="0"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rcRect l="858" r="858"/>
            <a:stretch>
              <a:fillRect/>
            </a:stretch>
          </p:blipFill>
          <p:spPr>
            <a:xfrm>
              <a:off x="6560" y="2880"/>
              <a:ext cx="8799" cy="3240"/>
            </a:xfrm>
            <a:custGeom>
              <a:avLst/>
              <a:gdLst>
                <a:gd name="connisteX0" fmla="*/ 0 w 77611"/>
                <a:gd name="connsiteY0" fmla="*/ 0 h 28575"/>
                <a:gd name="connisteX1" fmla="*/ 5283202 w 77611"/>
                <a:gd name="connsiteY1" fmla="*/ 0 h 28575"/>
                <a:gd name="connisteX2" fmla="*/ 5587998 w 77611"/>
                <a:gd name="connsiteY2" fmla="*/ 304796 h 28575"/>
                <a:gd name="connisteX3" fmla="*/ 5587998 w 77611"/>
                <a:gd name="connsiteY3" fmla="*/ 1752603 h 28575"/>
                <a:gd name="connisteX4" fmla="*/ 5283202 w 77611"/>
                <a:gd name="connsiteY4" fmla="*/ 2057400 h 28575"/>
                <a:gd name="connisteX5" fmla="*/ 0 w 77611"/>
                <a:gd name="connsiteY5" fmla="*/ 2057400 h 28575"/>
                <a:gd name="connisteX6" fmla="*/ 0 w 77611"/>
                <a:gd name="connsiteY6" fmla="*/ 0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5587999" h="2057400">
                  <a:moveTo>
                    <a:pt x="0" y="0"/>
                  </a:moveTo>
                  <a:lnTo>
                    <a:pt x="5283202" y="0"/>
                  </a:lnTo>
                  <a:cubicBezTo>
                    <a:pt x="5451543" y="0"/>
                    <a:pt x="5587999" y="136465"/>
                    <a:pt x="5587999" y="304797"/>
                  </a:cubicBezTo>
                  <a:lnTo>
                    <a:pt x="5587999" y="1752603"/>
                  </a:lnTo>
                  <a:cubicBezTo>
                    <a:pt x="5587999" y="1920935"/>
                    <a:pt x="5451543" y="2057400"/>
                    <a:pt x="5283202" y="2057400"/>
                  </a:cubicBez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pic>
          <p:nvPicPr>
            <p:cNvPr id="13" name="图片 12" descr="C:/Users/30335/AppData/Roaming/Kingsoft/office6/wppai/generateppt/619abe9d-9ff2-4849-9237-75f1fb3dae73.jpg619abe9d-9ff2-4849-9237-75f1fb3dae73"/>
            <p:cNvPicPr preferRelativeResize="0"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rcRect l="858" r="858"/>
            <a:stretch>
              <a:fillRect/>
            </a:stretch>
          </p:blipFill>
          <p:spPr>
            <a:xfrm>
              <a:off x="960" y="6600"/>
              <a:ext cx="8799" cy="3240"/>
            </a:xfrm>
            <a:custGeom>
              <a:avLst/>
              <a:gdLst>
                <a:gd name="connisteX0" fmla="*/ 0 w 77611"/>
                <a:gd name="connsiteY0" fmla="*/ 304796 h 28575"/>
                <a:gd name="connisteX1" fmla="*/ 304796 w 77611"/>
                <a:gd name="connsiteY1" fmla="*/ 0 h 28575"/>
                <a:gd name="connisteX2" fmla="*/ 5587998 w 77611"/>
                <a:gd name="connsiteY2" fmla="*/ 0 h 28575"/>
                <a:gd name="connisteX3" fmla="*/ 5587998 w 77611"/>
                <a:gd name="connsiteY3" fmla="*/ 2057400 h 28575"/>
                <a:gd name="connisteX4" fmla="*/ 304796 w 77611"/>
                <a:gd name="connsiteY4" fmla="*/ 2057400 h 28575"/>
                <a:gd name="connisteX5" fmla="*/ 0 w 77611"/>
                <a:gd name="connsiteY5" fmla="*/ 1752603 h 28575"/>
                <a:gd name="connisteX6" fmla="*/ 0 w 77611"/>
                <a:gd name="connsiteY6" fmla="*/ 304796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5587999" h="2057400">
                  <a:moveTo>
                    <a:pt x="0" y="304797"/>
                  </a:moveTo>
                  <a:cubicBezTo>
                    <a:pt x="0" y="136465"/>
                    <a:pt x="136465" y="0"/>
                    <a:pt x="304797" y="0"/>
                  </a:cubicBezTo>
                  <a:lnTo>
                    <a:pt x="5587999" y="0"/>
                  </a:lnTo>
                  <a:lnTo>
                    <a:pt x="5587999" y="2057400"/>
                  </a:lnTo>
                  <a:lnTo>
                    <a:pt x="304797" y="2057400"/>
                  </a:lnTo>
                  <a:cubicBezTo>
                    <a:pt x="136465" y="2057400"/>
                    <a:pt x="0" y="1920935"/>
                    <a:pt x="0" y="1752603"/>
                  </a:cubicBezTo>
                  <a:lnTo>
                    <a:pt x="0" y="304797"/>
                  </a:lnTo>
                  <a:close/>
                </a:path>
              </a:pathLst>
            </a:custGeom>
            <a:blipFill rotWithShape="1">
              <a:blip r:embed="rId12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16" name="任意多边形 15"/>
            <p:cNvSpPr/>
            <p:nvPr>
              <p:custDataLst>
                <p:tags r:id="rId15"/>
              </p:custDataLst>
            </p:nvPr>
          </p:nvSpPr>
          <p:spPr>
            <a:xfrm>
              <a:off x="9760" y="6600"/>
              <a:ext cx="5600" cy="3240"/>
            </a:xfrm>
            <a:custGeom>
              <a:avLst/>
              <a:gdLst>
                <a:gd name="connisteX0" fmla="*/ 0 w 49388"/>
                <a:gd name="connsiteY0" fmla="*/ 0 h 28575"/>
                <a:gd name="connisteX1" fmla="*/ 3251204 w 49388"/>
                <a:gd name="connsiteY1" fmla="*/ 0 h 28575"/>
                <a:gd name="connisteX2" fmla="*/ 3556001 w 49388"/>
                <a:gd name="connsiteY2" fmla="*/ 304796 h 28575"/>
                <a:gd name="connisteX3" fmla="*/ 3556001 w 49388"/>
                <a:gd name="connsiteY3" fmla="*/ 1752603 h 28575"/>
                <a:gd name="connisteX4" fmla="*/ 3251204 w 49388"/>
                <a:gd name="connsiteY4" fmla="*/ 2057400 h 28575"/>
                <a:gd name="connisteX5" fmla="*/ 0 w 49388"/>
                <a:gd name="connsiteY5" fmla="*/ 2057400 h 28575"/>
                <a:gd name="connisteX6" fmla="*/ 0 w 49388"/>
                <a:gd name="connsiteY6" fmla="*/ 0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556001" h="2057400">
                  <a:moveTo>
                    <a:pt x="0" y="0"/>
                  </a:moveTo>
                  <a:lnTo>
                    <a:pt x="3251204" y="0"/>
                  </a:lnTo>
                  <a:cubicBezTo>
                    <a:pt x="3419536" y="0"/>
                    <a:pt x="3556001" y="136465"/>
                    <a:pt x="3556001" y="304797"/>
                  </a:cubicBezTo>
                  <a:lnTo>
                    <a:pt x="3556001" y="1752603"/>
                  </a:lnTo>
                  <a:cubicBezTo>
                    <a:pt x="3556001" y="1920935"/>
                    <a:pt x="3419536" y="2057400"/>
                    <a:pt x="3251204" y="2057400"/>
                  </a:cubicBez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6"/>
              </p:custDataLst>
            </p:nvPr>
          </p:nvSpPr>
          <p:spPr>
            <a:xfrm>
              <a:off x="9760" y="6660"/>
              <a:ext cx="5540" cy="3120"/>
            </a:xfrm>
            <a:custGeom>
              <a:avLst/>
              <a:gdLst>
                <a:gd name="connisteX0" fmla="*/ 0 w 48859"/>
                <a:gd name="connsiteY0" fmla="*/ 0 h 27516"/>
                <a:gd name="connisteX1" fmla="*/ 3238503 w 48859"/>
                <a:gd name="connsiteY1" fmla="*/ 0 h 27516"/>
                <a:gd name="connisteX2" fmla="*/ 3517897 w 48859"/>
                <a:gd name="connsiteY2" fmla="*/ 279404 h 27516"/>
                <a:gd name="connisteX3" fmla="*/ 3517897 w 48859"/>
                <a:gd name="connsiteY3" fmla="*/ 1701798 h 27516"/>
                <a:gd name="connisteX4" fmla="*/ 3238503 w 48859"/>
                <a:gd name="connsiteY4" fmla="*/ 1981203 h 27516"/>
                <a:gd name="connisteX5" fmla="*/ 0 w 48859"/>
                <a:gd name="connsiteY5" fmla="*/ 1981203 h 27516"/>
                <a:gd name="connisteX6" fmla="*/ 0 w 48859"/>
                <a:gd name="connsiteY6" fmla="*/ 0 h 2751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517898" h="1981203">
                  <a:moveTo>
                    <a:pt x="0" y="0"/>
                  </a:moveTo>
                  <a:lnTo>
                    <a:pt x="3238503" y="0"/>
                  </a:lnTo>
                  <a:cubicBezTo>
                    <a:pt x="3392808" y="0"/>
                    <a:pt x="3517898" y="125090"/>
                    <a:pt x="3517898" y="279404"/>
                  </a:cubicBezTo>
                  <a:lnTo>
                    <a:pt x="3517898" y="1701799"/>
                  </a:lnTo>
                  <a:cubicBezTo>
                    <a:pt x="3517898" y="1856104"/>
                    <a:pt x="3392808" y="1981203"/>
                    <a:pt x="3238503" y="1981203"/>
                  </a:cubicBezTo>
                  <a:lnTo>
                    <a:pt x="0" y="1981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>
              <p:custDataLst>
                <p:tags r:id="rId17"/>
              </p:custDataLst>
            </p:nvPr>
          </p:nvSpPr>
          <p:spPr>
            <a:xfrm>
              <a:off x="10240" y="7060"/>
              <a:ext cx="476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心理成长重要性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8"/>
              </p:custDataLst>
            </p:nvPr>
          </p:nvSpPr>
          <p:spPr>
            <a:xfrm>
              <a:off x="10240" y="7940"/>
              <a:ext cx="47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健康心理是成长的基石，能助青少年更好地适应社会，发掘个人价值，形成良好价值观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98701" y="609603"/>
            <a:ext cx="9283702" cy="761997"/>
          </a:xfrm>
          <a:noFill/>
        </p:spPr>
        <p:txBody>
          <a:bodyPr lIns="0" tIns="0" rIns="0" bIns="0" anchor="t">
            <a:noAutofit/>
          </a:bodyPr>
          <a:p>
            <a:pPr algn="r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探索社交恐惧症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图片 2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grpSp>
        <p:nvGrpSpPr>
          <p:cNvPr id="32" name="组合 31"/>
          <p:cNvGrpSpPr/>
          <p:nvPr/>
        </p:nvGrpSpPr>
        <p:grpSpPr>
          <a:xfrm>
            <a:off x="609603" y="1828800"/>
            <a:ext cx="10972797" cy="4419600"/>
            <a:chOff x="960" y="2880"/>
            <a:chExt cx="17280" cy="6960"/>
          </a:xfrm>
        </p:grpSpPr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>
              <a:off x="960" y="2880"/>
              <a:ext cx="6000" cy="3240"/>
            </a:xfrm>
            <a:custGeom>
              <a:avLst/>
              <a:gdLst>
                <a:gd name="connisteX0" fmla="*/ 0 w 52916"/>
                <a:gd name="connsiteY0" fmla="*/ 304796 h 28575"/>
                <a:gd name="connisteX1" fmla="*/ 304796 w 52916"/>
                <a:gd name="connsiteY1" fmla="*/ 0 h 28575"/>
                <a:gd name="connisteX2" fmla="*/ 3810003 w 52916"/>
                <a:gd name="connsiteY2" fmla="*/ 0 h 28575"/>
                <a:gd name="connisteX3" fmla="*/ 3810003 w 52916"/>
                <a:gd name="connsiteY3" fmla="*/ 2057400 h 28575"/>
                <a:gd name="connisteX4" fmla="*/ 304796 w 52916"/>
                <a:gd name="connsiteY4" fmla="*/ 2057400 h 28575"/>
                <a:gd name="connisteX5" fmla="*/ 0 w 52916"/>
                <a:gd name="connsiteY5" fmla="*/ 1752603 h 28575"/>
                <a:gd name="connisteX6" fmla="*/ 0 w 52916"/>
                <a:gd name="connsiteY6" fmla="*/ 304796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810003" h="2057400">
                  <a:moveTo>
                    <a:pt x="0" y="304797"/>
                  </a:moveTo>
                  <a:cubicBezTo>
                    <a:pt x="0" y="136465"/>
                    <a:pt x="136465" y="0"/>
                    <a:pt x="304797" y="0"/>
                  </a:cubicBezTo>
                  <a:lnTo>
                    <a:pt x="3810003" y="0"/>
                  </a:lnTo>
                  <a:lnTo>
                    <a:pt x="3810003" y="2057400"/>
                  </a:lnTo>
                  <a:lnTo>
                    <a:pt x="304797" y="2057400"/>
                  </a:lnTo>
                  <a:cubicBezTo>
                    <a:pt x="136465" y="2057400"/>
                    <a:pt x="0" y="1920935"/>
                    <a:pt x="0" y="1752603"/>
                  </a:cubicBezTo>
                  <a:lnTo>
                    <a:pt x="0" y="30479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5"/>
              </p:custDataLst>
            </p:nvPr>
          </p:nvSpPr>
          <p:spPr>
            <a:xfrm>
              <a:off x="1020" y="2940"/>
              <a:ext cx="5940" cy="3120"/>
            </a:xfrm>
            <a:custGeom>
              <a:avLst/>
              <a:gdLst>
                <a:gd name="connisteX0" fmla="*/ 0 w 52387"/>
                <a:gd name="connsiteY0" fmla="*/ 279404 h 27516"/>
                <a:gd name="connisteX1" fmla="*/ 279404 w 52387"/>
                <a:gd name="connsiteY1" fmla="*/ 0 h 27516"/>
                <a:gd name="connisteX2" fmla="*/ 3771900 w 52387"/>
                <a:gd name="connsiteY2" fmla="*/ 0 h 27516"/>
                <a:gd name="connisteX3" fmla="*/ 3771900 w 52387"/>
                <a:gd name="connsiteY3" fmla="*/ 1981203 h 27516"/>
                <a:gd name="connisteX4" fmla="*/ 279404 w 52387"/>
                <a:gd name="connsiteY4" fmla="*/ 1981203 h 27516"/>
                <a:gd name="connisteX5" fmla="*/ 0 w 52387"/>
                <a:gd name="connsiteY5" fmla="*/ 1701798 h 27516"/>
                <a:gd name="connisteX6" fmla="*/ 0 w 52387"/>
                <a:gd name="connsiteY6" fmla="*/ 279404 h 2751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771900" h="1981203">
                  <a:moveTo>
                    <a:pt x="0" y="279404"/>
                  </a:moveTo>
                  <a:cubicBezTo>
                    <a:pt x="0" y="125090"/>
                    <a:pt x="125090" y="0"/>
                    <a:pt x="279404" y="0"/>
                  </a:cubicBezTo>
                  <a:lnTo>
                    <a:pt x="3771900" y="0"/>
                  </a:lnTo>
                  <a:lnTo>
                    <a:pt x="3771900" y="1981203"/>
                  </a:lnTo>
                  <a:lnTo>
                    <a:pt x="279404" y="1981203"/>
                  </a:lnTo>
                  <a:cubicBezTo>
                    <a:pt x="125090" y="1981203"/>
                    <a:pt x="0" y="1856104"/>
                    <a:pt x="0" y="1701799"/>
                  </a:cubicBezTo>
                  <a:lnTo>
                    <a:pt x="0" y="279404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6"/>
              </p:custDataLst>
            </p:nvPr>
          </p:nvSpPr>
          <p:spPr>
            <a:xfrm>
              <a:off x="1440" y="3380"/>
              <a:ext cx="516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研究背景与目的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7"/>
              </p:custDataLst>
            </p:nvPr>
          </p:nvSpPr>
          <p:spPr>
            <a:xfrm>
              <a:off x="1440" y="4180"/>
              <a:ext cx="51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调查社交恐惧症，增进公众理解，分析社会因素，提出关怀建议和解决策略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pic>
          <p:nvPicPr>
            <p:cNvPr id="8" name="图片 7" descr="C:/Users/30335/AppData/Roaming/Kingsoft/office6/wppai/generateppt/0c3c73f0b5ad8b014e1ded9c3e35ccc1.jpg0c3c73f0b5ad8b014e1ded9c3e35ccc1"/>
            <p:cNvPicPr preferRelativeResize="0"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rcRect l="12963" r="12963"/>
            <a:stretch>
              <a:fillRect/>
            </a:stretch>
          </p:blipFill>
          <p:spPr>
            <a:xfrm>
              <a:off x="6960" y="2880"/>
              <a:ext cx="2400" cy="3240"/>
            </a:xfrm>
            <a:custGeom>
              <a:avLst/>
              <a:gdLst>
                <a:gd name="connisteX0" fmla="*/ 0 w 21166"/>
                <a:gd name="connsiteY0" fmla="*/ 0 h 28575"/>
                <a:gd name="connisteX1" fmla="*/ 1219196 w 21166"/>
                <a:gd name="connsiteY1" fmla="*/ 0 h 28575"/>
                <a:gd name="connisteX2" fmla="*/ 1524003 w 21166"/>
                <a:gd name="connsiteY2" fmla="*/ 304796 h 28575"/>
                <a:gd name="connisteX3" fmla="*/ 1524003 w 21166"/>
                <a:gd name="connsiteY3" fmla="*/ 1752603 h 28575"/>
                <a:gd name="connisteX4" fmla="*/ 1219196 w 21166"/>
                <a:gd name="connsiteY4" fmla="*/ 2057400 h 28575"/>
                <a:gd name="connisteX5" fmla="*/ 0 w 21166"/>
                <a:gd name="connsiteY5" fmla="*/ 2057400 h 28575"/>
                <a:gd name="connisteX6" fmla="*/ 0 w 21166"/>
                <a:gd name="connsiteY6" fmla="*/ 0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1524003" h="2057400">
                  <a:moveTo>
                    <a:pt x="0" y="0"/>
                  </a:moveTo>
                  <a:lnTo>
                    <a:pt x="1219197" y="0"/>
                  </a:lnTo>
                  <a:cubicBezTo>
                    <a:pt x="1387538" y="0"/>
                    <a:pt x="1524003" y="136465"/>
                    <a:pt x="1524003" y="304797"/>
                  </a:cubicBezTo>
                  <a:lnTo>
                    <a:pt x="1524003" y="1752603"/>
                  </a:lnTo>
                  <a:cubicBezTo>
                    <a:pt x="1524003" y="1920935"/>
                    <a:pt x="1387538" y="2057400"/>
                    <a:pt x="1219197" y="2057400"/>
                  </a:cubicBez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11" name="任意多边形 10"/>
            <p:cNvSpPr/>
            <p:nvPr>
              <p:custDataLst>
                <p:tags r:id="rId11"/>
              </p:custDataLst>
            </p:nvPr>
          </p:nvSpPr>
          <p:spPr>
            <a:xfrm>
              <a:off x="960" y="6600"/>
              <a:ext cx="6000" cy="3240"/>
            </a:xfrm>
            <a:custGeom>
              <a:avLst/>
              <a:gdLst>
                <a:gd name="connisteX0" fmla="*/ 0 w 52916"/>
                <a:gd name="connsiteY0" fmla="*/ 304796 h 28575"/>
                <a:gd name="connisteX1" fmla="*/ 304796 w 52916"/>
                <a:gd name="connsiteY1" fmla="*/ 0 h 28575"/>
                <a:gd name="connisteX2" fmla="*/ 3810003 w 52916"/>
                <a:gd name="connsiteY2" fmla="*/ 0 h 28575"/>
                <a:gd name="connisteX3" fmla="*/ 3810003 w 52916"/>
                <a:gd name="connsiteY3" fmla="*/ 2057400 h 28575"/>
                <a:gd name="connisteX4" fmla="*/ 304796 w 52916"/>
                <a:gd name="connsiteY4" fmla="*/ 2057400 h 28575"/>
                <a:gd name="connisteX5" fmla="*/ 0 w 52916"/>
                <a:gd name="connsiteY5" fmla="*/ 1752603 h 28575"/>
                <a:gd name="connisteX6" fmla="*/ 0 w 52916"/>
                <a:gd name="connsiteY6" fmla="*/ 304796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810003" h="2057400">
                  <a:moveTo>
                    <a:pt x="0" y="304797"/>
                  </a:moveTo>
                  <a:cubicBezTo>
                    <a:pt x="0" y="136465"/>
                    <a:pt x="136465" y="0"/>
                    <a:pt x="304797" y="0"/>
                  </a:cubicBezTo>
                  <a:lnTo>
                    <a:pt x="3810003" y="0"/>
                  </a:lnTo>
                  <a:lnTo>
                    <a:pt x="3810003" y="2057400"/>
                  </a:lnTo>
                  <a:lnTo>
                    <a:pt x="304797" y="2057400"/>
                  </a:lnTo>
                  <a:cubicBezTo>
                    <a:pt x="136465" y="2057400"/>
                    <a:pt x="0" y="1920935"/>
                    <a:pt x="0" y="1752603"/>
                  </a:cubicBezTo>
                  <a:lnTo>
                    <a:pt x="0" y="30479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12"/>
              </p:custDataLst>
            </p:nvPr>
          </p:nvSpPr>
          <p:spPr>
            <a:xfrm>
              <a:off x="1020" y="6660"/>
              <a:ext cx="5940" cy="3120"/>
            </a:xfrm>
            <a:custGeom>
              <a:avLst/>
              <a:gdLst>
                <a:gd name="connisteX0" fmla="*/ 0 w 52387"/>
                <a:gd name="connsiteY0" fmla="*/ 279404 h 27516"/>
                <a:gd name="connisteX1" fmla="*/ 279404 w 52387"/>
                <a:gd name="connsiteY1" fmla="*/ 0 h 27516"/>
                <a:gd name="connisteX2" fmla="*/ 3771900 w 52387"/>
                <a:gd name="connsiteY2" fmla="*/ 0 h 27516"/>
                <a:gd name="connisteX3" fmla="*/ 3771900 w 52387"/>
                <a:gd name="connsiteY3" fmla="*/ 1981203 h 27516"/>
                <a:gd name="connisteX4" fmla="*/ 279404 w 52387"/>
                <a:gd name="connsiteY4" fmla="*/ 1981203 h 27516"/>
                <a:gd name="connisteX5" fmla="*/ 0 w 52387"/>
                <a:gd name="connsiteY5" fmla="*/ 1701798 h 27516"/>
                <a:gd name="connisteX6" fmla="*/ 0 w 52387"/>
                <a:gd name="connsiteY6" fmla="*/ 279404 h 2751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771900" h="1981203">
                  <a:moveTo>
                    <a:pt x="0" y="279404"/>
                  </a:moveTo>
                  <a:cubicBezTo>
                    <a:pt x="0" y="125090"/>
                    <a:pt x="125090" y="0"/>
                    <a:pt x="279404" y="0"/>
                  </a:cubicBezTo>
                  <a:lnTo>
                    <a:pt x="3771900" y="0"/>
                  </a:lnTo>
                  <a:lnTo>
                    <a:pt x="3771900" y="1981203"/>
                  </a:lnTo>
                  <a:lnTo>
                    <a:pt x="279404" y="1981203"/>
                  </a:lnTo>
                  <a:cubicBezTo>
                    <a:pt x="125090" y="1981203"/>
                    <a:pt x="0" y="1856104"/>
                    <a:pt x="0" y="1701799"/>
                  </a:cubicBezTo>
                  <a:lnTo>
                    <a:pt x="0" y="279404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 descr="C:/Users/30335/AppData/Roaming/Kingsoft/office6/wppai/generateppt/08874c58ea0c68838c11dd7075eb0bbb.jpg08874c58ea0c68838c11dd7075eb0bbb"/>
            <p:cNvPicPr preferRelativeResize="0"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rcRect l="19521" t="15" r="19521" b="-15"/>
            <a:stretch>
              <a:fillRect/>
            </a:stretch>
          </p:blipFill>
          <p:spPr>
            <a:xfrm>
              <a:off x="6960" y="6600"/>
              <a:ext cx="2400" cy="3240"/>
            </a:xfrm>
            <a:custGeom>
              <a:avLst/>
              <a:gdLst>
                <a:gd name="connisteX0" fmla="*/ 0 w 21166"/>
                <a:gd name="connsiteY0" fmla="*/ 0 h 28575"/>
                <a:gd name="connisteX1" fmla="*/ 1219196 w 21166"/>
                <a:gd name="connsiteY1" fmla="*/ 0 h 28575"/>
                <a:gd name="connisteX2" fmla="*/ 1524003 w 21166"/>
                <a:gd name="connsiteY2" fmla="*/ 304796 h 28575"/>
                <a:gd name="connisteX3" fmla="*/ 1524003 w 21166"/>
                <a:gd name="connsiteY3" fmla="*/ 1752603 h 28575"/>
                <a:gd name="connisteX4" fmla="*/ 1219196 w 21166"/>
                <a:gd name="connsiteY4" fmla="*/ 2057400 h 28575"/>
                <a:gd name="connisteX5" fmla="*/ 0 w 21166"/>
                <a:gd name="connsiteY5" fmla="*/ 2057400 h 28575"/>
                <a:gd name="connisteX6" fmla="*/ 0 w 21166"/>
                <a:gd name="connsiteY6" fmla="*/ 0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1524003" h="2057400">
                  <a:moveTo>
                    <a:pt x="0" y="0"/>
                  </a:moveTo>
                  <a:lnTo>
                    <a:pt x="1219197" y="0"/>
                  </a:lnTo>
                  <a:cubicBezTo>
                    <a:pt x="1387538" y="0"/>
                    <a:pt x="1524003" y="136465"/>
                    <a:pt x="1524003" y="304797"/>
                  </a:cubicBezTo>
                  <a:lnTo>
                    <a:pt x="1524003" y="1752603"/>
                  </a:lnTo>
                  <a:cubicBezTo>
                    <a:pt x="1524003" y="1920935"/>
                    <a:pt x="1387538" y="2057400"/>
                    <a:pt x="1219197" y="2057400"/>
                  </a:cubicBez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18" name="任意多边形 17"/>
            <p:cNvSpPr/>
            <p:nvPr>
              <p:custDataLst>
                <p:tags r:id="rId15"/>
              </p:custDataLst>
            </p:nvPr>
          </p:nvSpPr>
          <p:spPr>
            <a:xfrm>
              <a:off x="9840" y="2880"/>
              <a:ext cx="6001" cy="3240"/>
            </a:xfrm>
            <a:custGeom>
              <a:avLst/>
              <a:gdLst>
                <a:gd name="connisteX0" fmla="*/ 0 w 52916"/>
                <a:gd name="connsiteY0" fmla="*/ 304796 h 28575"/>
                <a:gd name="connisteX1" fmla="*/ 304796 w 52916"/>
                <a:gd name="connsiteY1" fmla="*/ 0 h 28575"/>
                <a:gd name="connisteX2" fmla="*/ 3810003 w 52916"/>
                <a:gd name="connsiteY2" fmla="*/ 0 h 28575"/>
                <a:gd name="connisteX3" fmla="*/ 3810003 w 52916"/>
                <a:gd name="connsiteY3" fmla="*/ 2057400 h 28575"/>
                <a:gd name="connisteX4" fmla="*/ 304796 w 52916"/>
                <a:gd name="connsiteY4" fmla="*/ 2057400 h 28575"/>
                <a:gd name="connisteX5" fmla="*/ 0 w 52916"/>
                <a:gd name="connsiteY5" fmla="*/ 1752603 h 28575"/>
                <a:gd name="connisteX6" fmla="*/ 0 w 52916"/>
                <a:gd name="connsiteY6" fmla="*/ 304796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810003" h="2057400">
                  <a:moveTo>
                    <a:pt x="0" y="304797"/>
                  </a:moveTo>
                  <a:cubicBezTo>
                    <a:pt x="0" y="136465"/>
                    <a:pt x="136465" y="0"/>
                    <a:pt x="304797" y="0"/>
                  </a:cubicBezTo>
                  <a:lnTo>
                    <a:pt x="3810003" y="0"/>
                  </a:lnTo>
                  <a:lnTo>
                    <a:pt x="3810003" y="2057400"/>
                  </a:lnTo>
                  <a:lnTo>
                    <a:pt x="304797" y="2057400"/>
                  </a:lnTo>
                  <a:cubicBezTo>
                    <a:pt x="136465" y="2057400"/>
                    <a:pt x="0" y="1920935"/>
                    <a:pt x="0" y="1752603"/>
                  </a:cubicBezTo>
                  <a:lnTo>
                    <a:pt x="0" y="30479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6"/>
              </p:custDataLst>
            </p:nvPr>
          </p:nvSpPr>
          <p:spPr>
            <a:xfrm>
              <a:off x="9900" y="2940"/>
              <a:ext cx="5940" cy="3120"/>
            </a:xfrm>
            <a:custGeom>
              <a:avLst/>
              <a:gdLst>
                <a:gd name="connisteX0" fmla="*/ 0 w 52387"/>
                <a:gd name="connsiteY0" fmla="*/ 279404 h 27516"/>
                <a:gd name="connisteX1" fmla="*/ 279404 w 52387"/>
                <a:gd name="connsiteY1" fmla="*/ 0 h 27516"/>
                <a:gd name="connisteX2" fmla="*/ 3771900 w 52387"/>
                <a:gd name="connsiteY2" fmla="*/ 0 h 27516"/>
                <a:gd name="connisteX3" fmla="*/ 3771900 w 52387"/>
                <a:gd name="connsiteY3" fmla="*/ 1981203 h 27516"/>
                <a:gd name="connisteX4" fmla="*/ 279404 w 52387"/>
                <a:gd name="connsiteY4" fmla="*/ 1981203 h 27516"/>
                <a:gd name="connisteX5" fmla="*/ 0 w 52387"/>
                <a:gd name="connsiteY5" fmla="*/ 1701798 h 27516"/>
                <a:gd name="connisteX6" fmla="*/ 0 w 52387"/>
                <a:gd name="connsiteY6" fmla="*/ 279404 h 2751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771900" h="1981203">
                  <a:moveTo>
                    <a:pt x="0" y="279404"/>
                  </a:moveTo>
                  <a:cubicBezTo>
                    <a:pt x="0" y="125090"/>
                    <a:pt x="125090" y="0"/>
                    <a:pt x="279404" y="0"/>
                  </a:cubicBezTo>
                  <a:lnTo>
                    <a:pt x="3771900" y="0"/>
                  </a:lnTo>
                  <a:lnTo>
                    <a:pt x="3771900" y="1981203"/>
                  </a:lnTo>
                  <a:lnTo>
                    <a:pt x="279404" y="1981203"/>
                  </a:lnTo>
                  <a:cubicBezTo>
                    <a:pt x="125090" y="1981203"/>
                    <a:pt x="0" y="1856104"/>
                    <a:pt x="0" y="1701799"/>
                  </a:cubicBezTo>
                  <a:lnTo>
                    <a:pt x="0" y="279404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>
              <p:custDataLst>
                <p:tags r:id="rId17"/>
              </p:custDataLst>
            </p:nvPr>
          </p:nvSpPr>
          <p:spPr>
            <a:xfrm>
              <a:off x="1440" y="7100"/>
              <a:ext cx="516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研究重点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8"/>
              </p:custDataLst>
            </p:nvPr>
          </p:nvSpPr>
          <p:spPr>
            <a:xfrm>
              <a:off x="1440" y="7900"/>
              <a:ext cx="51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关注青少年群体，探讨社交恐惧症与社会环境的关联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pic>
          <p:nvPicPr>
            <p:cNvPr id="22" name="图片 21" descr="C:/Users/30335/AppData/Roaming/Kingsoft/office6/wppai/generateppt/fea4831f-8d30-43a4-a324-2716ca7bf96f.jpgfea4831f-8d30-43a4-a324-2716ca7bf96f"/>
            <p:cNvPicPr preferRelativeResize="0"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rcRect l="168" t="-15" r="168" b="15"/>
            <a:stretch>
              <a:fillRect/>
            </a:stretch>
          </p:blipFill>
          <p:spPr>
            <a:xfrm>
              <a:off x="15840" y="2880"/>
              <a:ext cx="2400" cy="3240"/>
            </a:xfrm>
            <a:custGeom>
              <a:avLst/>
              <a:gdLst>
                <a:gd name="connisteX0" fmla="*/ 0 w 21166"/>
                <a:gd name="connsiteY0" fmla="*/ 0 h 28575"/>
                <a:gd name="connisteX1" fmla="*/ 1219196 w 21166"/>
                <a:gd name="connsiteY1" fmla="*/ 0 h 28575"/>
                <a:gd name="connisteX2" fmla="*/ 1524003 w 21166"/>
                <a:gd name="connsiteY2" fmla="*/ 304796 h 28575"/>
                <a:gd name="connisteX3" fmla="*/ 1524003 w 21166"/>
                <a:gd name="connsiteY3" fmla="*/ 1752603 h 28575"/>
                <a:gd name="connisteX4" fmla="*/ 1219196 w 21166"/>
                <a:gd name="connsiteY4" fmla="*/ 2057400 h 28575"/>
                <a:gd name="connisteX5" fmla="*/ 0 w 21166"/>
                <a:gd name="connsiteY5" fmla="*/ 2057400 h 28575"/>
                <a:gd name="connisteX6" fmla="*/ 0 w 21166"/>
                <a:gd name="connsiteY6" fmla="*/ 0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1524003" h="2057400">
                  <a:moveTo>
                    <a:pt x="0" y="0"/>
                  </a:moveTo>
                  <a:lnTo>
                    <a:pt x="1219197" y="0"/>
                  </a:lnTo>
                  <a:cubicBezTo>
                    <a:pt x="1387538" y="0"/>
                    <a:pt x="1524003" y="136465"/>
                    <a:pt x="1524003" y="304797"/>
                  </a:cubicBezTo>
                  <a:lnTo>
                    <a:pt x="1524003" y="1752603"/>
                  </a:lnTo>
                  <a:cubicBezTo>
                    <a:pt x="1524003" y="1920935"/>
                    <a:pt x="1387538" y="2057400"/>
                    <a:pt x="1219197" y="2057400"/>
                  </a:cubicBez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25" name="任意多边形 24"/>
            <p:cNvSpPr/>
            <p:nvPr>
              <p:custDataLst>
                <p:tags r:id="rId21"/>
              </p:custDataLst>
            </p:nvPr>
          </p:nvSpPr>
          <p:spPr>
            <a:xfrm>
              <a:off x="9840" y="6600"/>
              <a:ext cx="6001" cy="3240"/>
            </a:xfrm>
            <a:custGeom>
              <a:avLst/>
              <a:gdLst>
                <a:gd name="connisteX0" fmla="*/ 0 w 52916"/>
                <a:gd name="connsiteY0" fmla="*/ 304796 h 28575"/>
                <a:gd name="connisteX1" fmla="*/ 304796 w 52916"/>
                <a:gd name="connsiteY1" fmla="*/ 0 h 28575"/>
                <a:gd name="connisteX2" fmla="*/ 3810003 w 52916"/>
                <a:gd name="connsiteY2" fmla="*/ 0 h 28575"/>
                <a:gd name="connisteX3" fmla="*/ 3810003 w 52916"/>
                <a:gd name="connsiteY3" fmla="*/ 2057400 h 28575"/>
                <a:gd name="connisteX4" fmla="*/ 304796 w 52916"/>
                <a:gd name="connsiteY4" fmla="*/ 2057400 h 28575"/>
                <a:gd name="connisteX5" fmla="*/ 0 w 52916"/>
                <a:gd name="connsiteY5" fmla="*/ 1752603 h 28575"/>
                <a:gd name="connisteX6" fmla="*/ 0 w 52916"/>
                <a:gd name="connsiteY6" fmla="*/ 304796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810003" h="2057400">
                  <a:moveTo>
                    <a:pt x="0" y="304797"/>
                  </a:moveTo>
                  <a:cubicBezTo>
                    <a:pt x="0" y="136465"/>
                    <a:pt x="136465" y="0"/>
                    <a:pt x="304797" y="0"/>
                  </a:cubicBezTo>
                  <a:lnTo>
                    <a:pt x="3810003" y="0"/>
                  </a:lnTo>
                  <a:lnTo>
                    <a:pt x="3810003" y="2057400"/>
                  </a:lnTo>
                  <a:lnTo>
                    <a:pt x="304797" y="2057400"/>
                  </a:lnTo>
                  <a:cubicBezTo>
                    <a:pt x="136465" y="2057400"/>
                    <a:pt x="0" y="1920935"/>
                    <a:pt x="0" y="1752603"/>
                  </a:cubicBezTo>
                  <a:lnTo>
                    <a:pt x="0" y="30479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2"/>
              </p:custDataLst>
            </p:nvPr>
          </p:nvSpPr>
          <p:spPr>
            <a:xfrm>
              <a:off x="9900" y="6660"/>
              <a:ext cx="5940" cy="3120"/>
            </a:xfrm>
            <a:custGeom>
              <a:avLst/>
              <a:gdLst>
                <a:gd name="connisteX0" fmla="*/ 0 w 52387"/>
                <a:gd name="connsiteY0" fmla="*/ 279404 h 27516"/>
                <a:gd name="connisteX1" fmla="*/ 279404 w 52387"/>
                <a:gd name="connsiteY1" fmla="*/ 0 h 27516"/>
                <a:gd name="connisteX2" fmla="*/ 3771900 w 52387"/>
                <a:gd name="connsiteY2" fmla="*/ 0 h 27516"/>
                <a:gd name="connisteX3" fmla="*/ 3771900 w 52387"/>
                <a:gd name="connsiteY3" fmla="*/ 1981203 h 27516"/>
                <a:gd name="connisteX4" fmla="*/ 279404 w 52387"/>
                <a:gd name="connsiteY4" fmla="*/ 1981203 h 27516"/>
                <a:gd name="connisteX5" fmla="*/ 0 w 52387"/>
                <a:gd name="connsiteY5" fmla="*/ 1701798 h 27516"/>
                <a:gd name="connisteX6" fmla="*/ 0 w 52387"/>
                <a:gd name="connsiteY6" fmla="*/ 279404 h 2751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3771900" h="1981203">
                  <a:moveTo>
                    <a:pt x="0" y="279404"/>
                  </a:moveTo>
                  <a:cubicBezTo>
                    <a:pt x="0" y="125090"/>
                    <a:pt x="125090" y="0"/>
                    <a:pt x="279404" y="0"/>
                  </a:cubicBezTo>
                  <a:lnTo>
                    <a:pt x="3771900" y="0"/>
                  </a:lnTo>
                  <a:lnTo>
                    <a:pt x="3771900" y="1981203"/>
                  </a:lnTo>
                  <a:lnTo>
                    <a:pt x="279404" y="1981203"/>
                  </a:lnTo>
                  <a:cubicBezTo>
                    <a:pt x="125090" y="1981203"/>
                    <a:pt x="0" y="1856104"/>
                    <a:pt x="0" y="1701799"/>
                  </a:cubicBezTo>
                  <a:lnTo>
                    <a:pt x="0" y="279404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9" name="图片 28" descr="C:/Users/30335/AppData/Roaming/Kingsoft/office6/wppai/generateppt/3faac00ab40cb389afe07413f68f9661.jpg3faac00ab40cb389afe07413f68f9661"/>
            <p:cNvPicPr preferRelativeResize="0"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rcRect l="8247" t="15" r="8247" b="-15"/>
            <a:stretch>
              <a:fillRect/>
            </a:stretch>
          </p:blipFill>
          <p:spPr>
            <a:xfrm>
              <a:off x="15840" y="6600"/>
              <a:ext cx="2400" cy="3240"/>
            </a:xfrm>
            <a:custGeom>
              <a:avLst/>
              <a:gdLst>
                <a:gd name="connisteX0" fmla="*/ 0 w 21166"/>
                <a:gd name="connsiteY0" fmla="*/ 0 h 28575"/>
                <a:gd name="connisteX1" fmla="*/ 1219196 w 21166"/>
                <a:gd name="connsiteY1" fmla="*/ 0 h 28575"/>
                <a:gd name="connisteX2" fmla="*/ 1524003 w 21166"/>
                <a:gd name="connsiteY2" fmla="*/ 304796 h 28575"/>
                <a:gd name="connisteX3" fmla="*/ 1524003 w 21166"/>
                <a:gd name="connsiteY3" fmla="*/ 1752603 h 28575"/>
                <a:gd name="connisteX4" fmla="*/ 1219196 w 21166"/>
                <a:gd name="connsiteY4" fmla="*/ 2057400 h 28575"/>
                <a:gd name="connisteX5" fmla="*/ 0 w 21166"/>
                <a:gd name="connsiteY5" fmla="*/ 2057400 h 28575"/>
                <a:gd name="connisteX6" fmla="*/ 0 w 21166"/>
                <a:gd name="connsiteY6" fmla="*/ 0 h 2857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pathLst>
                <a:path w="1524003" h="2057400">
                  <a:moveTo>
                    <a:pt x="0" y="0"/>
                  </a:moveTo>
                  <a:lnTo>
                    <a:pt x="1219197" y="0"/>
                  </a:lnTo>
                  <a:cubicBezTo>
                    <a:pt x="1387538" y="0"/>
                    <a:pt x="1524003" y="136465"/>
                    <a:pt x="1524003" y="304797"/>
                  </a:cubicBezTo>
                  <a:lnTo>
                    <a:pt x="1524003" y="1752603"/>
                  </a:lnTo>
                  <a:cubicBezTo>
                    <a:pt x="1524003" y="1920935"/>
                    <a:pt x="1387538" y="2057400"/>
                    <a:pt x="1219197" y="2057400"/>
                  </a:cubicBez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/>
              <a:stretch>
                <a:fillRect/>
              </a:stretch>
            </a:blip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prstClr val="black"/>
                    </a:fgClr>
                  </a:pattFill>
                </a14:hiddenLine>
              </a:ext>
            </a:extLst>
          </p:spPr>
        </p:pic>
        <p:sp>
          <p:nvSpPr>
            <p:cNvPr id="20" name="文本框 19"/>
            <p:cNvSpPr txBox="1"/>
            <p:nvPr>
              <p:custDataLst>
                <p:tags r:id="rId25"/>
              </p:custDataLst>
            </p:nvPr>
          </p:nvSpPr>
          <p:spPr>
            <a:xfrm>
              <a:off x="10320" y="3380"/>
              <a:ext cx="516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调查方法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6"/>
              </p:custDataLst>
            </p:nvPr>
          </p:nvSpPr>
          <p:spPr>
            <a:xfrm>
              <a:off x="10320" y="4180"/>
              <a:ext cx="51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通过问卷调查和资料查阅，深入理解社交恐惧症的成因和现状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27"/>
              </p:custDataLst>
            </p:nvPr>
          </p:nvSpPr>
          <p:spPr>
            <a:xfrm>
              <a:off x="10320" y="7100"/>
              <a:ext cx="516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预期成果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28"/>
              </p:custDataLst>
            </p:nvPr>
          </p:nvSpPr>
          <p:spPr>
            <a:xfrm>
              <a:off x="10320" y="7900"/>
              <a:ext cx="512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提出社会关怀方案，寻找帮助患者改善状况的有效方法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2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研究过程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/>
              <a:t>04</a:t>
            </a:r>
            <a:endParaRPr lang="en-US" altLang="en-US" sz="75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10363197" y="0"/>
            <a:ext cx="1828800" cy="6858000"/>
          </a:xfrm>
          <a:custGeom>
            <a:avLst/>
            <a:gdLst>
              <a:gd name="connisteX0" fmla="*/ 0 w 25400"/>
              <a:gd name="connsiteY0" fmla="*/ 0 h 95250"/>
              <a:gd name="connisteX1" fmla="*/ 1828800 w 25400"/>
              <a:gd name="connsiteY1" fmla="*/ 0 h 95250"/>
              <a:gd name="connisteX2" fmla="*/ 1828800 w 25400"/>
              <a:gd name="connsiteY2" fmla="*/ 6858000 h 95250"/>
              <a:gd name="connisteX3" fmla="*/ 925098 w 25400"/>
              <a:gd name="connsiteY3" fmla="*/ 6858000 h 95250"/>
              <a:gd name="connisteX4" fmla="*/ 0 w 25400"/>
              <a:gd name="connsiteY4" fmla="*/ 4902198 h 95250"/>
              <a:gd name="connisteX5" fmla="*/ 666753 w 25400"/>
              <a:gd name="connsiteY5" fmla="*/ 1904996 h 95250"/>
              <a:gd name="connisteX6" fmla="*/ 0 w 25400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925098" y="6858000"/>
                </a:lnTo>
                <a:cubicBezTo>
                  <a:pt x="925098" y="6858000"/>
                  <a:pt x="-9" y="6184901"/>
                  <a:pt x="0" y="4902199"/>
                </a:cubicBezTo>
                <a:cubicBezTo>
                  <a:pt x="9" y="3619497"/>
                  <a:pt x="666524" y="3070656"/>
                  <a:pt x="666753" y="1904997"/>
                </a:cubicBezTo>
                <a:cubicBezTo>
                  <a:pt x="666753" y="812801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0490198" y="0"/>
            <a:ext cx="1701800" cy="6858000"/>
          </a:xfrm>
          <a:custGeom>
            <a:avLst/>
            <a:gdLst>
              <a:gd name="connisteX0" fmla="*/ 387348 w 23636"/>
              <a:gd name="connsiteY0" fmla="*/ 0 h 95250"/>
              <a:gd name="connisteX1" fmla="*/ 1701798 w 23636"/>
              <a:gd name="connsiteY1" fmla="*/ 0 h 95250"/>
              <a:gd name="connisteX2" fmla="*/ 1701798 w 23636"/>
              <a:gd name="connsiteY2" fmla="*/ 6858000 h 95250"/>
              <a:gd name="connisteX3" fmla="*/ 798106 w 23636"/>
              <a:gd name="connsiteY3" fmla="*/ 6858000 h 95250"/>
              <a:gd name="connisteX4" fmla="*/ 0 w 23636"/>
              <a:gd name="connsiteY4" fmla="*/ 4927601 h 95250"/>
              <a:gd name="connisteX5" fmla="*/ 798106 w 23636"/>
              <a:gd name="connsiteY5" fmla="*/ 1949445 h 95250"/>
              <a:gd name="connisteX6" fmla="*/ 387348 w 23636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701799" h="6858000">
                <a:moveTo>
                  <a:pt x="387349" y="0"/>
                </a:moveTo>
                <a:lnTo>
                  <a:pt x="1701799" y="0"/>
                </a:lnTo>
                <a:lnTo>
                  <a:pt x="1701799" y="6858000"/>
                </a:lnTo>
                <a:lnTo>
                  <a:pt x="798107" y="6858000"/>
                </a:lnTo>
                <a:cubicBezTo>
                  <a:pt x="798107" y="6858000"/>
                  <a:pt x="-9" y="6210303"/>
                  <a:pt x="0" y="4927601"/>
                </a:cubicBezTo>
                <a:cubicBezTo>
                  <a:pt x="9" y="3644899"/>
                  <a:pt x="797878" y="3115105"/>
                  <a:pt x="798107" y="1949446"/>
                </a:cubicBezTo>
                <a:cubicBezTo>
                  <a:pt x="798107" y="857250"/>
                  <a:pt x="387349" y="0"/>
                  <a:pt x="38734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3" y="609603"/>
            <a:ext cx="9283702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问卷调查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09600" y="1828800"/>
            <a:ext cx="9220200" cy="1117600"/>
            <a:chOff x="960" y="2880"/>
            <a:chExt cx="14520" cy="1760"/>
          </a:xfrm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960" y="2880"/>
              <a:ext cx="80" cy="1759"/>
            </a:xfrm>
            <a:custGeom>
              <a:avLst/>
              <a:gdLst>
                <a:gd name="connisteX0" fmla="*/ 0 w 705"/>
                <a:gd name="connsiteY0" fmla="*/ 25402 h 15522"/>
                <a:gd name="connisteX1" fmla="*/ 25402 w 705"/>
                <a:gd name="connsiteY1" fmla="*/ 0 h 15522"/>
                <a:gd name="connisteX2" fmla="*/ 25402 w 705"/>
                <a:gd name="connsiteY2" fmla="*/ 0 h 15522"/>
                <a:gd name="connisteX3" fmla="*/ 50804 w 705"/>
                <a:gd name="connsiteY3" fmla="*/ 25402 h 15522"/>
                <a:gd name="connisteX4" fmla="*/ 50804 w 705"/>
                <a:gd name="connsiteY4" fmla="*/ 1092195 h 15522"/>
                <a:gd name="connisteX5" fmla="*/ 25402 w 705"/>
                <a:gd name="connsiteY5" fmla="*/ 1117597 h 15522"/>
                <a:gd name="connisteX6" fmla="*/ 25402 w 705"/>
                <a:gd name="connsiteY6" fmla="*/ 1117597 h 15522"/>
                <a:gd name="connisteX7" fmla="*/ 0 w 705"/>
                <a:gd name="connsiteY7" fmla="*/ 1092195 h 15522"/>
                <a:gd name="connisteX8" fmla="*/ 0 w 705"/>
                <a:gd name="connsiteY8" fmla="*/ 25402 h 155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11175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1092196"/>
                  </a:lnTo>
                  <a:cubicBezTo>
                    <a:pt x="50804" y="1106232"/>
                    <a:pt x="39429" y="1117598"/>
                    <a:pt x="25402" y="1117598"/>
                  </a:cubicBezTo>
                  <a:lnTo>
                    <a:pt x="25402" y="1117598"/>
                  </a:lnTo>
                  <a:cubicBezTo>
                    <a:pt x="11375" y="1117598"/>
                    <a:pt x="0" y="1106232"/>
                    <a:pt x="0" y="10921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1200" y="2880"/>
              <a:ext cx="672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调查概述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1200" y="3680"/>
              <a:ext cx="668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en-US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77</a:t>
              </a: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人参与，男性</a:t>
              </a:r>
              <a:r>
                <a:rPr lang="en-US" altLang="zh-CN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25</a:t>
              </a: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人，女性</a:t>
              </a:r>
              <a:r>
                <a:rPr lang="en-US" altLang="zh-CN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52</a:t>
              </a: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人，主要探讨青少年对社恐的了解和自身症状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8" name="任意多边形 7"/>
            <p:cNvSpPr/>
            <p:nvPr>
              <p:custDataLst>
                <p:tags r:id="rId7"/>
              </p:custDataLst>
            </p:nvPr>
          </p:nvSpPr>
          <p:spPr>
            <a:xfrm>
              <a:off x="8520" y="2880"/>
              <a:ext cx="80" cy="1759"/>
            </a:xfrm>
            <a:custGeom>
              <a:avLst/>
              <a:gdLst>
                <a:gd name="connisteX0" fmla="*/ 0 w 705"/>
                <a:gd name="connsiteY0" fmla="*/ 25402 h 15522"/>
                <a:gd name="connisteX1" fmla="*/ 25402 w 705"/>
                <a:gd name="connsiteY1" fmla="*/ 0 h 15522"/>
                <a:gd name="connisteX2" fmla="*/ 25402 w 705"/>
                <a:gd name="connsiteY2" fmla="*/ 0 h 15522"/>
                <a:gd name="connisteX3" fmla="*/ 50804 w 705"/>
                <a:gd name="connsiteY3" fmla="*/ 25402 h 15522"/>
                <a:gd name="connisteX4" fmla="*/ 50804 w 705"/>
                <a:gd name="connsiteY4" fmla="*/ 1092195 h 15522"/>
                <a:gd name="connisteX5" fmla="*/ 25402 w 705"/>
                <a:gd name="connsiteY5" fmla="*/ 1117597 h 15522"/>
                <a:gd name="connisteX6" fmla="*/ 25402 w 705"/>
                <a:gd name="connsiteY6" fmla="*/ 1117597 h 15522"/>
                <a:gd name="connisteX7" fmla="*/ 0 w 705"/>
                <a:gd name="connsiteY7" fmla="*/ 1092195 h 15522"/>
                <a:gd name="connisteX8" fmla="*/ 0 w 705"/>
                <a:gd name="connsiteY8" fmla="*/ 25402 h 155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11175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1092196"/>
                  </a:lnTo>
                  <a:cubicBezTo>
                    <a:pt x="50804" y="1106232"/>
                    <a:pt x="39429" y="1117598"/>
                    <a:pt x="25402" y="1117598"/>
                  </a:cubicBezTo>
                  <a:lnTo>
                    <a:pt x="25402" y="1117598"/>
                  </a:lnTo>
                  <a:cubicBezTo>
                    <a:pt x="11375" y="1117598"/>
                    <a:pt x="0" y="1106232"/>
                    <a:pt x="0" y="10921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8"/>
              </p:custDataLst>
            </p:nvPr>
          </p:nvSpPr>
          <p:spPr>
            <a:xfrm>
              <a:off x="8760" y="2880"/>
              <a:ext cx="672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结果分析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>
              <a:off x="8760" y="3680"/>
              <a:ext cx="668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大部分青少年了解社恐，但了解程度不一，且存在相关症状，具体数据见详细表格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  <p:pic>
        <p:nvPicPr>
          <p:cNvPr id="1027" name="Image1"/>
          <p:cNvPicPr/>
          <p:nvPr/>
        </p:nvPicPr>
        <p:blipFill>
          <a:blip r:embed="rId10" cstate="print"/>
          <a:srcRect l="6588" b="59718"/>
          <a:stretch>
            <a:fillRect/>
          </a:stretch>
        </p:blipFill>
        <p:spPr>
          <a:xfrm>
            <a:off x="393065" y="3022600"/>
            <a:ext cx="6722110" cy="3593465"/>
          </a:xfrm>
          <a:prstGeom prst="rect">
            <a:avLst/>
          </a:prstGeom>
        </p:spPr>
      </p:pic>
      <p:pic>
        <p:nvPicPr>
          <p:cNvPr id="1029" name="Image1"/>
          <p:cNvPicPr/>
          <p:nvPr/>
        </p:nvPicPr>
        <p:blipFill>
          <a:blip r:embed="rId10" cstate="print"/>
          <a:srcRect l="6562" t="43644" r="49263"/>
          <a:stretch>
            <a:fillRect/>
          </a:stretch>
        </p:blipFill>
        <p:spPr>
          <a:xfrm>
            <a:off x="7115175" y="2994660"/>
            <a:ext cx="3670300" cy="386334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 rot="10800000" flipV="1">
            <a:off x="0" y="0"/>
            <a:ext cx="1828800" cy="6858000"/>
          </a:xfrm>
          <a:custGeom>
            <a:avLst/>
            <a:gdLst>
              <a:gd name="connisteX0" fmla="*/ 0 w 25400"/>
              <a:gd name="connsiteY0" fmla="*/ 0 h 95250"/>
              <a:gd name="connisteX1" fmla="*/ 1828800 w 25400"/>
              <a:gd name="connsiteY1" fmla="*/ 0 h 95250"/>
              <a:gd name="connisteX2" fmla="*/ 1828800 w 25400"/>
              <a:gd name="connsiteY2" fmla="*/ 6858000 h 95250"/>
              <a:gd name="connisteX3" fmla="*/ 925098 w 25400"/>
              <a:gd name="connsiteY3" fmla="*/ 6858000 h 95250"/>
              <a:gd name="connisteX4" fmla="*/ 0 w 25400"/>
              <a:gd name="connsiteY4" fmla="*/ 4902198 h 95250"/>
              <a:gd name="connisteX5" fmla="*/ 666753 w 25400"/>
              <a:gd name="connsiteY5" fmla="*/ 1904996 h 95250"/>
              <a:gd name="connisteX6" fmla="*/ 0 w 25400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925098" y="6858000"/>
                </a:lnTo>
                <a:cubicBezTo>
                  <a:pt x="925098" y="6858000"/>
                  <a:pt x="-9" y="6184901"/>
                  <a:pt x="0" y="4902199"/>
                </a:cubicBezTo>
                <a:cubicBezTo>
                  <a:pt x="9" y="3619497"/>
                  <a:pt x="666524" y="3070656"/>
                  <a:pt x="666753" y="1904997"/>
                </a:cubicBezTo>
                <a:cubicBezTo>
                  <a:pt x="666753" y="812801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 rot="10800000" flipV="1">
            <a:off x="0" y="0"/>
            <a:ext cx="1701165" cy="6858000"/>
          </a:xfrm>
          <a:custGeom>
            <a:avLst/>
            <a:gdLst>
              <a:gd name="connisteX0" fmla="*/ 387348 w 23636"/>
              <a:gd name="connsiteY0" fmla="*/ 0 h 95250"/>
              <a:gd name="connisteX1" fmla="*/ 1701798 w 23636"/>
              <a:gd name="connsiteY1" fmla="*/ 0 h 95250"/>
              <a:gd name="connisteX2" fmla="*/ 1701798 w 23636"/>
              <a:gd name="connsiteY2" fmla="*/ 6858000 h 95250"/>
              <a:gd name="connisteX3" fmla="*/ 798106 w 23636"/>
              <a:gd name="connsiteY3" fmla="*/ 6858000 h 95250"/>
              <a:gd name="connisteX4" fmla="*/ 0 w 23636"/>
              <a:gd name="connsiteY4" fmla="*/ 4927601 h 95250"/>
              <a:gd name="connisteX5" fmla="*/ 798106 w 23636"/>
              <a:gd name="connsiteY5" fmla="*/ 1949445 h 95250"/>
              <a:gd name="connisteX6" fmla="*/ 387348 w 23636"/>
              <a:gd name="connsiteY6" fmla="*/ 0 h 952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701799" h="6858000">
                <a:moveTo>
                  <a:pt x="387349" y="0"/>
                </a:moveTo>
                <a:lnTo>
                  <a:pt x="1701799" y="0"/>
                </a:lnTo>
                <a:lnTo>
                  <a:pt x="1701799" y="6858000"/>
                </a:lnTo>
                <a:lnTo>
                  <a:pt x="798107" y="6858000"/>
                </a:lnTo>
                <a:cubicBezTo>
                  <a:pt x="798107" y="6858000"/>
                  <a:pt x="-9" y="6210303"/>
                  <a:pt x="0" y="4927601"/>
                </a:cubicBezTo>
                <a:cubicBezTo>
                  <a:pt x="9" y="3644899"/>
                  <a:pt x="797878" y="3115105"/>
                  <a:pt x="798107" y="1949446"/>
                </a:cubicBezTo>
                <a:cubicBezTo>
                  <a:pt x="798107" y="857250"/>
                  <a:pt x="387349" y="0"/>
                  <a:pt x="38734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C:/Users/30335/AppData/Roaming/Kingsoft/office6/wppai/generateppt/29f7bd79c5b9f4ff6dc70ed6ad782025.jpg29f7bd79c5b9f4ff6dc70ed6ad782025"/>
          <p:cNvPicPr preferRelativeResize="0"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4189" r="14189"/>
          <a:stretch>
            <a:fillRect/>
          </a:stretch>
        </p:blipFill>
        <p:spPr>
          <a:xfrm>
            <a:off x="609602" y="609603"/>
            <a:ext cx="4038600" cy="5638800"/>
          </a:xfrm>
          <a:custGeom>
            <a:avLst/>
            <a:gdLst>
              <a:gd name="connisteX0" fmla="*/ 0 w 56091"/>
              <a:gd name="connsiteY0" fmla="*/ 304796 h 78316"/>
              <a:gd name="connisteX1" fmla="*/ 304796 w 56091"/>
              <a:gd name="connsiteY1" fmla="*/ 0 h 78316"/>
              <a:gd name="connisteX2" fmla="*/ 3733796 w 56091"/>
              <a:gd name="connsiteY2" fmla="*/ 0 h 78316"/>
              <a:gd name="connisteX3" fmla="*/ 4038603 w 56091"/>
              <a:gd name="connsiteY3" fmla="*/ 304796 h 78316"/>
              <a:gd name="connisteX4" fmla="*/ 4038603 w 56091"/>
              <a:gd name="connsiteY4" fmla="*/ 5333996 h 78316"/>
              <a:gd name="connisteX5" fmla="*/ 3733796 w 56091"/>
              <a:gd name="connsiteY5" fmla="*/ 5638803 h 78316"/>
              <a:gd name="connisteX6" fmla="*/ 304796 w 56091"/>
              <a:gd name="connsiteY6" fmla="*/ 5638803 h 78316"/>
              <a:gd name="connisteX7" fmla="*/ 0 w 56091"/>
              <a:gd name="connsiteY7" fmla="*/ 5333996 h 78316"/>
              <a:gd name="connisteX8" fmla="*/ 0 w 56091"/>
              <a:gd name="connsiteY8" fmla="*/ 304796 h 7831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3" h="5638803">
                <a:moveTo>
                  <a:pt x="0" y="304797"/>
                </a:moveTo>
                <a:cubicBezTo>
                  <a:pt x="0" y="136465"/>
                  <a:pt x="136465" y="0"/>
                  <a:pt x="304797" y="0"/>
                </a:cubicBezTo>
                <a:lnTo>
                  <a:pt x="3733797" y="0"/>
                </a:lnTo>
                <a:cubicBezTo>
                  <a:pt x="3902138" y="0"/>
                  <a:pt x="4038603" y="136465"/>
                  <a:pt x="4038603" y="304797"/>
                </a:cubicBezTo>
                <a:lnTo>
                  <a:pt x="4038603" y="5333997"/>
                </a:lnTo>
                <a:cubicBezTo>
                  <a:pt x="4038603" y="5502338"/>
                  <a:pt x="3902138" y="5638803"/>
                  <a:pt x="3733797" y="5638803"/>
                </a:cubicBezTo>
                <a:lnTo>
                  <a:pt x="304797" y="5638803"/>
                </a:lnTo>
                <a:cubicBezTo>
                  <a:pt x="136465" y="5638803"/>
                  <a:pt x="0" y="5502338"/>
                  <a:pt x="0" y="5333997"/>
                </a:cubicBezTo>
                <a:lnTo>
                  <a:pt x="0" y="304797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prstClr val="black"/>
                  </a:fgClr>
                </a:pattFill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57800" y="609603"/>
            <a:ext cx="6464296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查阅资料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257800" y="2286000"/>
            <a:ext cx="6400800" cy="3962400"/>
            <a:chOff x="8280" y="3600"/>
            <a:chExt cx="10080" cy="6240"/>
          </a:xfrm>
        </p:grpSpPr>
        <p:sp>
          <p:nvSpPr>
            <p:cNvPr id="8" name="任意多边形 7"/>
            <p:cNvSpPr/>
            <p:nvPr>
              <p:custDataLst>
                <p:tags r:id="rId7"/>
              </p:custDataLst>
            </p:nvPr>
          </p:nvSpPr>
          <p:spPr>
            <a:xfrm>
              <a:off x="8280" y="3600"/>
              <a:ext cx="80" cy="1759"/>
            </a:xfrm>
            <a:custGeom>
              <a:avLst/>
              <a:gdLst>
                <a:gd name="connisteX0" fmla="*/ 0 w 705"/>
                <a:gd name="connsiteY0" fmla="*/ 25402 h 15522"/>
                <a:gd name="connisteX1" fmla="*/ 25402 w 705"/>
                <a:gd name="connsiteY1" fmla="*/ 0 h 15522"/>
                <a:gd name="connisteX2" fmla="*/ 25402 w 705"/>
                <a:gd name="connsiteY2" fmla="*/ 0 h 15522"/>
                <a:gd name="connisteX3" fmla="*/ 50804 w 705"/>
                <a:gd name="connsiteY3" fmla="*/ 25402 h 15522"/>
                <a:gd name="connisteX4" fmla="*/ 50804 w 705"/>
                <a:gd name="connsiteY4" fmla="*/ 1092195 h 15522"/>
                <a:gd name="connisteX5" fmla="*/ 25402 w 705"/>
                <a:gd name="connsiteY5" fmla="*/ 1117597 h 15522"/>
                <a:gd name="connisteX6" fmla="*/ 25402 w 705"/>
                <a:gd name="connsiteY6" fmla="*/ 1117597 h 15522"/>
                <a:gd name="connisteX7" fmla="*/ 0 w 705"/>
                <a:gd name="connsiteY7" fmla="*/ 1092195 h 15522"/>
                <a:gd name="connisteX8" fmla="*/ 0 w 705"/>
                <a:gd name="connsiteY8" fmla="*/ 25402 h 155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11175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1092196"/>
                  </a:lnTo>
                  <a:cubicBezTo>
                    <a:pt x="50804" y="1106232"/>
                    <a:pt x="39429" y="1117598"/>
                    <a:pt x="25402" y="1117598"/>
                  </a:cubicBezTo>
                  <a:lnTo>
                    <a:pt x="25402" y="1117598"/>
                  </a:lnTo>
                  <a:cubicBezTo>
                    <a:pt x="11375" y="1117598"/>
                    <a:pt x="0" y="1106232"/>
                    <a:pt x="0" y="10921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8280" y="5840"/>
              <a:ext cx="80" cy="1760"/>
            </a:xfrm>
            <a:custGeom>
              <a:avLst/>
              <a:gdLst>
                <a:gd name="connisteX0" fmla="*/ 0 w 705"/>
                <a:gd name="connsiteY0" fmla="*/ 25402 h 15522"/>
                <a:gd name="connisteX1" fmla="*/ 25402 w 705"/>
                <a:gd name="connsiteY1" fmla="*/ 0 h 15522"/>
                <a:gd name="connisteX2" fmla="*/ 25402 w 705"/>
                <a:gd name="connsiteY2" fmla="*/ 0 h 15522"/>
                <a:gd name="connisteX3" fmla="*/ 50804 w 705"/>
                <a:gd name="connsiteY3" fmla="*/ 25402 h 15522"/>
                <a:gd name="connisteX4" fmla="*/ 50804 w 705"/>
                <a:gd name="connsiteY4" fmla="*/ 1092195 h 15522"/>
                <a:gd name="connisteX5" fmla="*/ 25402 w 705"/>
                <a:gd name="connsiteY5" fmla="*/ 1117597 h 15522"/>
                <a:gd name="connisteX6" fmla="*/ 25402 w 705"/>
                <a:gd name="connsiteY6" fmla="*/ 1117597 h 15522"/>
                <a:gd name="connisteX7" fmla="*/ 0 w 705"/>
                <a:gd name="connsiteY7" fmla="*/ 1092195 h 15522"/>
                <a:gd name="connisteX8" fmla="*/ 0 w 705"/>
                <a:gd name="connsiteY8" fmla="*/ 25402 h 155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11175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1092196"/>
                  </a:lnTo>
                  <a:cubicBezTo>
                    <a:pt x="50804" y="1106232"/>
                    <a:pt x="39429" y="1117598"/>
                    <a:pt x="25402" y="1117598"/>
                  </a:cubicBezTo>
                  <a:lnTo>
                    <a:pt x="25402" y="1117598"/>
                  </a:lnTo>
                  <a:cubicBezTo>
                    <a:pt x="11375" y="1117598"/>
                    <a:pt x="0" y="1106232"/>
                    <a:pt x="0" y="10921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8520" y="3600"/>
              <a:ext cx="984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社交恐惧症概述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0"/>
              </p:custDataLst>
            </p:nvPr>
          </p:nvSpPr>
          <p:spPr>
            <a:xfrm>
              <a:off x="8520" y="4400"/>
              <a:ext cx="98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社交恐惧症是患者对特定社交场景过度、不合理的恐惧，明知不必要但无法控制，常伴有焦虑和回避行为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4" name="任意多边形 13"/>
            <p:cNvSpPr/>
            <p:nvPr>
              <p:custDataLst>
                <p:tags r:id="rId11"/>
              </p:custDataLst>
            </p:nvPr>
          </p:nvSpPr>
          <p:spPr>
            <a:xfrm>
              <a:off x="8280" y="8080"/>
              <a:ext cx="80" cy="1760"/>
            </a:xfrm>
            <a:custGeom>
              <a:avLst/>
              <a:gdLst>
                <a:gd name="connisteX0" fmla="*/ 0 w 705"/>
                <a:gd name="connsiteY0" fmla="*/ 25402 h 15522"/>
                <a:gd name="connisteX1" fmla="*/ 25402 w 705"/>
                <a:gd name="connsiteY1" fmla="*/ 0 h 15522"/>
                <a:gd name="connisteX2" fmla="*/ 25402 w 705"/>
                <a:gd name="connsiteY2" fmla="*/ 0 h 15522"/>
                <a:gd name="connisteX3" fmla="*/ 50804 w 705"/>
                <a:gd name="connsiteY3" fmla="*/ 25402 h 15522"/>
                <a:gd name="connisteX4" fmla="*/ 50804 w 705"/>
                <a:gd name="connsiteY4" fmla="*/ 1092195 h 15522"/>
                <a:gd name="connisteX5" fmla="*/ 25402 w 705"/>
                <a:gd name="connsiteY5" fmla="*/ 1117597 h 15522"/>
                <a:gd name="connisteX6" fmla="*/ 25402 w 705"/>
                <a:gd name="connsiteY6" fmla="*/ 1117597 h 15522"/>
                <a:gd name="connisteX7" fmla="*/ 0 w 705"/>
                <a:gd name="connsiteY7" fmla="*/ 1092195 h 15522"/>
                <a:gd name="connisteX8" fmla="*/ 0 w 705"/>
                <a:gd name="connsiteY8" fmla="*/ 25402 h 155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11175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1092196"/>
                  </a:lnTo>
                  <a:cubicBezTo>
                    <a:pt x="50804" y="1106232"/>
                    <a:pt x="39429" y="1117598"/>
                    <a:pt x="25402" y="1117598"/>
                  </a:cubicBezTo>
                  <a:lnTo>
                    <a:pt x="25402" y="1117598"/>
                  </a:lnTo>
                  <a:cubicBezTo>
                    <a:pt x="11375" y="1117598"/>
                    <a:pt x="0" y="1106232"/>
                    <a:pt x="0" y="10921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12"/>
              </p:custDataLst>
            </p:nvPr>
          </p:nvSpPr>
          <p:spPr>
            <a:xfrm>
              <a:off x="8520" y="5840"/>
              <a:ext cx="984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社交恐惧症的症状与影响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3"/>
              </p:custDataLst>
            </p:nvPr>
          </p:nvSpPr>
          <p:spPr>
            <a:xfrm>
              <a:off x="8520" y="6640"/>
              <a:ext cx="98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社交恐惧症患者害怕被人审视，易出现逃避社交、自我评价低和身体症状，严重时可能导致社会隔离和物质依赖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4"/>
              </p:custDataLst>
            </p:nvPr>
          </p:nvSpPr>
          <p:spPr>
            <a:xfrm>
              <a:off x="8520" y="8080"/>
              <a:ext cx="984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社交恐惧症的诊断要点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5"/>
              </p:custDataLst>
            </p:nvPr>
          </p:nvSpPr>
          <p:spPr>
            <a:xfrm>
              <a:off x="8520" y="8880"/>
              <a:ext cx="98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诊断社交恐惧症需考虑恐惧程度、回避行为、自我控制感、病程和功能损害，并排除其他精神障碍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我们的建议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7500"/>
              <a:t>05</a:t>
            </a:r>
            <a:endParaRPr lang="en-US" altLang="en-US" sz="75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 rot="16200000">
            <a:off x="5181603" y="-5181603"/>
            <a:ext cx="1828800" cy="12191365"/>
          </a:xfrm>
          <a:custGeom>
            <a:avLst/>
            <a:gdLst>
              <a:gd name="connisteX0" fmla="*/ 0 w 25400"/>
              <a:gd name="connsiteY0" fmla="*/ 0 h 169333"/>
              <a:gd name="connisteX1" fmla="*/ 1828800 w 25400"/>
              <a:gd name="connsiteY1" fmla="*/ 0 h 169333"/>
              <a:gd name="connisteX2" fmla="*/ 1828800 w 25400"/>
              <a:gd name="connsiteY2" fmla="*/ 12191996 h 169333"/>
              <a:gd name="connisteX3" fmla="*/ 925098 w 25400"/>
              <a:gd name="connsiteY3" fmla="*/ 12191996 h 169333"/>
              <a:gd name="connisteX4" fmla="*/ 0 w 25400"/>
              <a:gd name="connsiteY4" fmla="*/ 8715018 h 169333"/>
              <a:gd name="connisteX5" fmla="*/ 666753 w 25400"/>
              <a:gd name="connsiteY5" fmla="*/ 3386672 h 169333"/>
              <a:gd name="connisteX6" fmla="*/ 0 w 25400"/>
              <a:gd name="connsiteY6" fmla="*/ 0 h 1693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828800" h="12191997">
                <a:moveTo>
                  <a:pt x="0" y="0"/>
                </a:moveTo>
                <a:lnTo>
                  <a:pt x="1828800" y="0"/>
                </a:lnTo>
                <a:lnTo>
                  <a:pt x="1828800" y="12191997"/>
                </a:lnTo>
                <a:lnTo>
                  <a:pt x="925098" y="12191997"/>
                </a:lnTo>
                <a:cubicBezTo>
                  <a:pt x="925098" y="12191997"/>
                  <a:pt x="-9" y="10995377"/>
                  <a:pt x="0" y="8715018"/>
                </a:cubicBezTo>
                <a:cubicBezTo>
                  <a:pt x="9" y="6434669"/>
                  <a:pt x="666524" y="5458941"/>
                  <a:pt x="666753" y="3386672"/>
                </a:cubicBezTo>
                <a:cubicBezTo>
                  <a:pt x="666753" y="1444981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 rot="16200000">
            <a:off x="5245099" y="-5245099"/>
            <a:ext cx="1701800" cy="12190730"/>
          </a:xfrm>
          <a:custGeom>
            <a:avLst/>
            <a:gdLst>
              <a:gd name="connisteX0" fmla="*/ 387348 w 23636"/>
              <a:gd name="connsiteY0" fmla="*/ 0 h 169333"/>
              <a:gd name="connisteX1" fmla="*/ 1701798 w 23636"/>
              <a:gd name="connsiteY1" fmla="*/ 0 h 169333"/>
              <a:gd name="connisteX2" fmla="*/ 1701798 w 23636"/>
              <a:gd name="connsiteY2" fmla="*/ 12191996 h 169333"/>
              <a:gd name="connisteX3" fmla="*/ 798106 w 23636"/>
              <a:gd name="connsiteY3" fmla="*/ 12191996 h 169333"/>
              <a:gd name="connisteX4" fmla="*/ 0 w 23636"/>
              <a:gd name="connsiteY4" fmla="*/ 8760180 h 169333"/>
              <a:gd name="connisteX5" fmla="*/ 798106 w 23636"/>
              <a:gd name="connsiteY5" fmla="*/ 3465694 h 169333"/>
              <a:gd name="connisteX6" fmla="*/ 387348 w 23636"/>
              <a:gd name="connsiteY6" fmla="*/ 0 h 1693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701799" h="12191997">
                <a:moveTo>
                  <a:pt x="387349" y="0"/>
                </a:moveTo>
                <a:lnTo>
                  <a:pt x="1701799" y="0"/>
                </a:lnTo>
                <a:lnTo>
                  <a:pt x="1701799" y="12191997"/>
                </a:lnTo>
                <a:lnTo>
                  <a:pt x="798107" y="12191997"/>
                </a:lnTo>
                <a:cubicBezTo>
                  <a:pt x="798107" y="12191997"/>
                  <a:pt x="-9" y="11040530"/>
                  <a:pt x="0" y="8760181"/>
                </a:cubicBezTo>
                <a:cubicBezTo>
                  <a:pt x="9" y="6479822"/>
                  <a:pt x="797878" y="5537963"/>
                  <a:pt x="798107" y="3465695"/>
                </a:cubicBezTo>
                <a:cubicBezTo>
                  <a:pt x="798107" y="1524003"/>
                  <a:pt x="387349" y="0"/>
                  <a:pt x="38734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C:/Users/30335/AppData/Roaming/Kingsoft/office6/wppai/generateppt/87c994f7-574d-44f8-b400-a0b3d8c6b557.jpg87c994f7-574d-44f8-b400-a0b3d8c6b557"/>
          <p:cNvPicPr preferRelativeResize="0"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220" r="220"/>
          <a:stretch>
            <a:fillRect/>
          </a:stretch>
        </p:blipFill>
        <p:spPr>
          <a:xfrm>
            <a:off x="609603" y="609603"/>
            <a:ext cx="10972800" cy="3148965"/>
          </a:xfrm>
          <a:custGeom>
            <a:avLst/>
            <a:gdLst>
              <a:gd name="connisteX0" fmla="*/ 0 w 152400"/>
              <a:gd name="connsiteY0" fmla="*/ 304796 h 43744"/>
              <a:gd name="connisteX1" fmla="*/ 304796 w 152400"/>
              <a:gd name="connsiteY1" fmla="*/ 0 h 43744"/>
              <a:gd name="connisteX2" fmla="*/ 10668003 w 152400"/>
              <a:gd name="connsiteY2" fmla="*/ 0 h 43744"/>
              <a:gd name="connisteX3" fmla="*/ 10972800 w 152400"/>
              <a:gd name="connsiteY3" fmla="*/ 304796 h 43744"/>
              <a:gd name="connisteX4" fmla="*/ 10972800 w 152400"/>
              <a:gd name="connsiteY4" fmla="*/ 2844798 h 43744"/>
              <a:gd name="connisteX5" fmla="*/ 10668003 w 152400"/>
              <a:gd name="connsiteY5" fmla="*/ 3149595 h 43744"/>
              <a:gd name="connisteX6" fmla="*/ 304796 w 152400"/>
              <a:gd name="connsiteY6" fmla="*/ 3149595 h 43744"/>
              <a:gd name="connisteX7" fmla="*/ 0 w 152400"/>
              <a:gd name="connsiteY7" fmla="*/ 2844798 h 43744"/>
              <a:gd name="connisteX8" fmla="*/ 0 w 152400"/>
              <a:gd name="connsiteY8" fmla="*/ 304796 h 4374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596">
                <a:moveTo>
                  <a:pt x="0" y="304797"/>
                </a:moveTo>
                <a:cubicBezTo>
                  <a:pt x="0" y="136465"/>
                  <a:pt x="136465" y="0"/>
                  <a:pt x="304797" y="0"/>
                </a:cubicBezTo>
                <a:lnTo>
                  <a:pt x="10668003" y="0"/>
                </a:lnTo>
                <a:cubicBezTo>
                  <a:pt x="10836335" y="0"/>
                  <a:pt x="10972800" y="136465"/>
                  <a:pt x="10972800" y="304797"/>
                </a:cubicBezTo>
                <a:lnTo>
                  <a:pt x="10972800" y="2844799"/>
                </a:lnTo>
                <a:cubicBezTo>
                  <a:pt x="10972800" y="3013140"/>
                  <a:pt x="10836335" y="3149596"/>
                  <a:pt x="10668003" y="3149596"/>
                </a:cubicBezTo>
                <a:lnTo>
                  <a:pt x="304797" y="3149596"/>
                </a:lnTo>
                <a:cubicBezTo>
                  <a:pt x="136465" y="3149596"/>
                  <a:pt x="0" y="3013140"/>
                  <a:pt x="0" y="2844799"/>
                </a:cubicBezTo>
                <a:lnTo>
                  <a:pt x="0" y="304797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prstClr val="black"/>
                  </a:fgClr>
                </a:pattFill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9603" y="4216399"/>
            <a:ext cx="11112502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青少年应正确对待社交恐惧症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09600" y="5435600"/>
            <a:ext cx="11049000" cy="812800"/>
            <a:chOff x="960" y="8560"/>
            <a:chExt cx="17400" cy="1280"/>
          </a:xfrm>
        </p:grpSpPr>
        <p:sp>
          <p:nvSpPr>
            <p:cNvPr id="8" name="任意多边形 7"/>
            <p:cNvSpPr/>
            <p:nvPr>
              <p:custDataLst>
                <p:tags r:id="rId7"/>
              </p:custDataLst>
            </p:nvPr>
          </p:nvSpPr>
          <p:spPr>
            <a:xfrm>
              <a:off x="960" y="8560"/>
              <a:ext cx="80" cy="1280"/>
            </a:xfrm>
            <a:custGeom>
              <a:avLst/>
              <a:gdLst>
                <a:gd name="connisteX0" fmla="*/ 0 w 705"/>
                <a:gd name="connsiteY0" fmla="*/ 25402 h 11288"/>
                <a:gd name="connisteX1" fmla="*/ 25402 w 705"/>
                <a:gd name="connsiteY1" fmla="*/ 0 h 11288"/>
                <a:gd name="connisteX2" fmla="*/ 25402 w 705"/>
                <a:gd name="connsiteY2" fmla="*/ 0 h 11288"/>
                <a:gd name="connisteX3" fmla="*/ 50804 w 705"/>
                <a:gd name="connsiteY3" fmla="*/ 25402 h 11288"/>
                <a:gd name="connisteX4" fmla="*/ 50804 w 705"/>
                <a:gd name="connsiteY4" fmla="*/ 787398 h 11288"/>
                <a:gd name="connisteX5" fmla="*/ 25402 w 705"/>
                <a:gd name="connsiteY5" fmla="*/ 812801 h 11288"/>
                <a:gd name="connisteX6" fmla="*/ 25402 w 705"/>
                <a:gd name="connsiteY6" fmla="*/ 812801 h 11288"/>
                <a:gd name="connisteX7" fmla="*/ 0 w 705"/>
                <a:gd name="connsiteY7" fmla="*/ 787398 h 11288"/>
                <a:gd name="connisteX8" fmla="*/ 0 w 705"/>
                <a:gd name="connsiteY8" fmla="*/ 25402 h 1128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812801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787399"/>
                  </a:lnTo>
                  <a:cubicBezTo>
                    <a:pt x="50804" y="801426"/>
                    <a:pt x="39429" y="812801"/>
                    <a:pt x="25402" y="812801"/>
                  </a:cubicBezTo>
                  <a:lnTo>
                    <a:pt x="25402" y="812801"/>
                  </a:lnTo>
                  <a:cubicBezTo>
                    <a:pt x="11375" y="812801"/>
                    <a:pt x="0" y="801426"/>
                    <a:pt x="0" y="787399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8"/>
              </p:custDataLst>
            </p:nvPr>
          </p:nvSpPr>
          <p:spPr>
            <a:xfrm>
              <a:off x="1200" y="8560"/>
              <a:ext cx="1716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社交恐惧症认知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>
              <a:off x="1200" y="9360"/>
              <a:ext cx="1712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它是心理病症，非潮流标签。理解并接纳患者，勿随意自我诊断。轻微社交回避正常，严重时需专业帮助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3" y="609603"/>
            <a:ext cx="3568702" cy="1524003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zh-CN" altLang="en-US" sz="43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青少年应加强自身心理建设</a:t>
            </a:r>
            <a:endParaRPr lang="zh-CN" altLang="en-US" sz="43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图片 2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9600" y="0"/>
            <a:ext cx="2158365" cy="5010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grpSp>
        <p:nvGrpSpPr>
          <p:cNvPr id="16" name="组合 15"/>
          <p:cNvGrpSpPr/>
          <p:nvPr/>
        </p:nvGrpSpPr>
        <p:grpSpPr>
          <a:xfrm>
            <a:off x="4648200" y="609600"/>
            <a:ext cx="7010400" cy="2032000"/>
            <a:chOff x="7320" y="960"/>
            <a:chExt cx="11040" cy="3200"/>
          </a:xfrm>
        </p:grpSpPr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>
              <a:off x="7320" y="960"/>
              <a:ext cx="81" cy="3200"/>
            </a:xfrm>
            <a:custGeom>
              <a:avLst/>
              <a:gdLst>
                <a:gd name="connisteX0" fmla="*/ 0 w 705"/>
                <a:gd name="connsiteY0" fmla="*/ 25402 h 28222"/>
                <a:gd name="connisteX1" fmla="*/ 25402 w 705"/>
                <a:gd name="connsiteY1" fmla="*/ 0 h 28222"/>
                <a:gd name="connisteX2" fmla="*/ 25402 w 705"/>
                <a:gd name="connsiteY2" fmla="*/ 0 h 28222"/>
                <a:gd name="connisteX3" fmla="*/ 50804 w 705"/>
                <a:gd name="connsiteY3" fmla="*/ 25402 h 28222"/>
                <a:gd name="connisteX4" fmla="*/ 50804 w 705"/>
                <a:gd name="connsiteY4" fmla="*/ 2006595 h 28222"/>
                <a:gd name="connisteX5" fmla="*/ 25402 w 705"/>
                <a:gd name="connsiteY5" fmla="*/ 2031997 h 28222"/>
                <a:gd name="connisteX6" fmla="*/ 25402 w 705"/>
                <a:gd name="connsiteY6" fmla="*/ 2031997 h 28222"/>
                <a:gd name="connisteX7" fmla="*/ 0 w 705"/>
                <a:gd name="connsiteY7" fmla="*/ 2006595 h 28222"/>
                <a:gd name="connisteX8" fmla="*/ 0 w 705"/>
                <a:gd name="connsiteY8" fmla="*/ 25402 h 282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20319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2006596"/>
                  </a:lnTo>
                  <a:cubicBezTo>
                    <a:pt x="50804" y="2020632"/>
                    <a:pt x="39429" y="2031998"/>
                    <a:pt x="25402" y="2031998"/>
                  </a:cubicBezTo>
                  <a:lnTo>
                    <a:pt x="25402" y="2031998"/>
                  </a:lnTo>
                  <a:cubicBezTo>
                    <a:pt x="11375" y="2031998"/>
                    <a:pt x="0" y="2020632"/>
                    <a:pt x="0" y="20065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7560" y="960"/>
              <a:ext cx="320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日常社交实践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6"/>
              </p:custDataLst>
            </p:nvPr>
          </p:nvSpPr>
          <p:spPr>
            <a:xfrm>
              <a:off x="7560" y="1760"/>
              <a:ext cx="3160" cy="2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积极参与班级活动，主动与同学老师交流，建立良好人际关系，提升社交技能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7" name="任意多边形 6"/>
            <p:cNvSpPr/>
            <p:nvPr>
              <p:custDataLst>
                <p:tags r:id="rId7"/>
              </p:custDataLst>
            </p:nvPr>
          </p:nvSpPr>
          <p:spPr>
            <a:xfrm>
              <a:off x="11120" y="960"/>
              <a:ext cx="81" cy="3200"/>
            </a:xfrm>
            <a:custGeom>
              <a:avLst/>
              <a:gdLst>
                <a:gd name="connisteX0" fmla="*/ 0 w 705"/>
                <a:gd name="connsiteY0" fmla="*/ 25402 h 28222"/>
                <a:gd name="connisteX1" fmla="*/ 25402 w 705"/>
                <a:gd name="connsiteY1" fmla="*/ 0 h 28222"/>
                <a:gd name="connisteX2" fmla="*/ 25402 w 705"/>
                <a:gd name="connsiteY2" fmla="*/ 0 h 28222"/>
                <a:gd name="connisteX3" fmla="*/ 50804 w 705"/>
                <a:gd name="connsiteY3" fmla="*/ 25402 h 28222"/>
                <a:gd name="connisteX4" fmla="*/ 50804 w 705"/>
                <a:gd name="connsiteY4" fmla="*/ 2006595 h 28222"/>
                <a:gd name="connisteX5" fmla="*/ 25402 w 705"/>
                <a:gd name="connsiteY5" fmla="*/ 2031997 h 28222"/>
                <a:gd name="connisteX6" fmla="*/ 25402 w 705"/>
                <a:gd name="connsiteY6" fmla="*/ 2031997 h 28222"/>
                <a:gd name="connisteX7" fmla="*/ 0 w 705"/>
                <a:gd name="connsiteY7" fmla="*/ 2006595 h 28222"/>
                <a:gd name="connisteX8" fmla="*/ 0 w 705"/>
                <a:gd name="connsiteY8" fmla="*/ 25402 h 282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20319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2006596"/>
                  </a:lnTo>
                  <a:cubicBezTo>
                    <a:pt x="50804" y="2020632"/>
                    <a:pt x="39429" y="2031998"/>
                    <a:pt x="25402" y="2031998"/>
                  </a:cubicBezTo>
                  <a:lnTo>
                    <a:pt x="25402" y="2031998"/>
                  </a:lnTo>
                  <a:cubicBezTo>
                    <a:pt x="11375" y="2031998"/>
                    <a:pt x="0" y="2020632"/>
                    <a:pt x="0" y="20065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>
              <p:custDataLst>
                <p:tags r:id="rId8"/>
              </p:custDataLst>
            </p:nvPr>
          </p:nvSpPr>
          <p:spPr>
            <a:xfrm>
              <a:off x="11360" y="960"/>
              <a:ext cx="320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正视社交恐惧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11360" y="1760"/>
              <a:ext cx="3160" cy="2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认识到恐惧并不可怕，自我调整心态，勇敢面对社交场合，逐步克服恐惧心理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0" name="任意多边形 9"/>
            <p:cNvSpPr/>
            <p:nvPr>
              <p:custDataLst>
                <p:tags r:id="rId10"/>
              </p:custDataLst>
            </p:nvPr>
          </p:nvSpPr>
          <p:spPr>
            <a:xfrm>
              <a:off x="14920" y="960"/>
              <a:ext cx="81" cy="3200"/>
            </a:xfrm>
            <a:custGeom>
              <a:avLst/>
              <a:gdLst>
                <a:gd name="connisteX0" fmla="*/ 0 w 705"/>
                <a:gd name="connsiteY0" fmla="*/ 25402 h 28222"/>
                <a:gd name="connisteX1" fmla="*/ 25402 w 705"/>
                <a:gd name="connsiteY1" fmla="*/ 0 h 28222"/>
                <a:gd name="connisteX2" fmla="*/ 25402 w 705"/>
                <a:gd name="connsiteY2" fmla="*/ 0 h 28222"/>
                <a:gd name="connisteX3" fmla="*/ 50804 w 705"/>
                <a:gd name="connsiteY3" fmla="*/ 25402 h 28222"/>
                <a:gd name="connisteX4" fmla="*/ 50804 w 705"/>
                <a:gd name="connsiteY4" fmla="*/ 2006595 h 28222"/>
                <a:gd name="connisteX5" fmla="*/ 25402 w 705"/>
                <a:gd name="connsiteY5" fmla="*/ 2031997 h 28222"/>
                <a:gd name="connisteX6" fmla="*/ 25402 w 705"/>
                <a:gd name="connsiteY6" fmla="*/ 2031997 h 28222"/>
                <a:gd name="connisteX7" fmla="*/ 0 w 705"/>
                <a:gd name="connsiteY7" fmla="*/ 2006595 h 28222"/>
                <a:gd name="connisteX8" fmla="*/ 0 w 705"/>
                <a:gd name="connsiteY8" fmla="*/ 25402 h 2822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pathLst>
                <a:path w="50804" h="2031998">
                  <a:moveTo>
                    <a:pt x="0" y="25402"/>
                  </a:moveTo>
                  <a:cubicBezTo>
                    <a:pt x="0" y="11375"/>
                    <a:pt x="11375" y="0"/>
                    <a:pt x="25402" y="0"/>
                  </a:cubicBezTo>
                  <a:lnTo>
                    <a:pt x="25402" y="0"/>
                  </a:lnTo>
                  <a:cubicBezTo>
                    <a:pt x="39429" y="0"/>
                    <a:pt x="50804" y="11375"/>
                    <a:pt x="50804" y="25402"/>
                  </a:cubicBezTo>
                  <a:lnTo>
                    <a:pt x="50804" y="2006596"/>
                  </a:lnTo>
                  <a:cubicBezTo>
                    <a:pt x="50804" y="2020632"/>
                    <a:pt x="39429" y="2031998"/>
                    <a:pt x="25402" y="2031998"/>
                  </a:cubicBezTo>
                  <a:lnTo>
                    <a:pt x="25402" y="2031998"/>
                  </a:lnTo>
                  <a:cubicBezTo>
                    <a:pt x="11375" y="2031998"/>
                    <a:pt x="0" y="2020632"/>
                    <a:pt x="0" y="2006596"/>
                  </a:cubicBezTo>
                  <a:lnTo>
                    <a:pt x="0" y="25402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  <a:extLst>
              <a:ext uri="{91240B29-F687-4F45-9708-019B960494DF}">
                <a14:hiddenLine xmlns:a14="http://schemas.microsoft.com/office/drawing/2010/main" w="0">
                  <a:pattFill prst="pct5">
                    <a:fgClr>
                      <a:schemeClr val="accent1">
                        <a:lumMod val="75000"/>
                      </a:schemeClr>
                    </a:fgClr>
                  </a:pattFill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1"/>
              </p:custDataLst>
            </p:nvPr>
          </p:nvSpPr>
          <p:spPr>
            <a:xfrm>
              <a:off x="15160" y="960"/>
              <a:ext cx="3200" cy="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11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寻求帮助途径</a:t>
              </a:r>
              <a:endParaRPr lang="zh-CN" altLang="en-US" sz="2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12"/>
              </p:custDataLst>
            </p:nvPr>
          </p:nvSpPr>
          <p:spPr>
            <a:xfrm>
              <a:off x="15160" y="1760"/>
              <a:ext cx="3160" cy="2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25000"/>
                </a:lnSpc>
              </a:pPr>
              <a:r>
                <a:rPr lang="zh-CN" altLang="en-US" sz="1600">
                  <a:solidFill>
                    <a:schemeClr val="tx1"/>
                  </a:solidFill>
                  <a:latin typeface="Microsoft YaHei UI" panose="020B0503020204020204" charset="-122"/>
                  <a:ea typeface="Microsoft YaHei UI" panose="020B0503020204020204" charset="-122"/>
                </a:rPr>
                <a:t>向家长、心理老师表达困扰，适时寻求专业帮助。如果面对面交流困难，可尝试在线心理咨询</a:t>
              </a:r>
              <a:endParaRPr lang="zh-CN" altLang="en-US" sz="16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endParaRPr>
            </a:p>
          </p:txBody>
        </p:sp>
      </p:grpSp>
      <p:pic>
        <p:nvPicPr>
          <p:cNvPr id="13" name="图片 12" descr="C:/Users/30335/AppData/Roaming/Kingsoft/office6/wppai/generateppt/2a42b553-f2ba-426e-9ae9-b5e6a86cc3cd.jpg2a42b553-f2ba-426e-9ae9-b5e6a86cc3cd"/>
          <p:cNvPicPr preferRelativeResize="0"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220" r="220"/>
          <a:stretch>
            <a:fillRect/>
          </a:stretch>
        </p:blipFill>
        <p:spPr>
          <a:xfrm>
            <a:off x="609603" y="3098801"/>
            <a:ext cx="10972800" cy="3148965"/>
          </a:xfrm>
          <a:custGeom>
            <a:avLst/>
            <a:gdLst>
              <a:gd name="connisteX0" fmla="*/ 0 w 152400"/>
              <a:gd name="connsiteY0" fmla="*/ 304796 h 43744"/>
              <a:gd name="connisteX1" fmla="*/ 304796 w 152400"/>
              <a:gd name="connsiteY1" fmla="*/ 0 h 43744"/>
              <a:gd name="connisteX2" fmla="*/ 10668003 w 152400"/>
              <a:gd name="connsiteY2" fmla="*/ 0 h 43744"/>
              <a:gd name="connisteX3" fmla="*/ 10972800 w 152400"/>
              <a:gd name="connsiteY3" fmla="*/ 304796 h 43744"/>
              <a:gd name="connisteX4" fmla="*/ 10972800 w 152400"/>
              <a:gd name="connsiteY4" fmla="*/ 2844798 h 43744"/>
              <a:gd name="connisteX5" fmla="*/ 10668003 w 152400"/>
              <a:gd name="connsiteY5" fmla="*/ 3149595 h 43744"/>
              <a:gd name="connisteX6" fmla="*/ 304796 w 152400"/>
              <a:gd name="connsiteY6" fmla="*/ 3149595 h 43744"/>
              <a:gd name="connisteX7" fmla="*/ 0 w 152400"/>
              <a:gd name="connsiteY7" fmla="*/ 2844798 h 43744"/>
              <a:gd name="connisteX8" fmla="*/ 0 w 152400"/>
              <a:gd name="connsiteY8" fmla="*/ 304796 h 4374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596">
                <a:moveTo>
                  <a:pt x="0" y="304797"/>
                </a:moveTo>
                <a:cubicBezTo>
                  <a:pt x="0" y="136465"/>
                  <a:pt x="136465" y="0"/>
                  <a:pt x="304797" y="0"/>
                </a:cubicBezTo>
                <a:lnTo>
                  <a:pt x="10668003" y="0"/>
                </a:lnTo>
                <a:cubicBezTo>
                  <a:pt x="10836335" y="0"/>
                  <a:pt x="10972800" y="136465"/>
                  <a:pt x="10972800" y="304797"/>
                </a:cubicBezTo>
                <a:lnTo>
                  <a:pt x="10972800" y="2844799"/>
                </a:lnTo>
                <a:cubicBezTo>
                  <a:pt x="10972800" y="3013140"/>
                  <a:pt x="10836335" y="3149596"/>
                  <a:pt x="10668003" y="3149596"/>
                </a:cubicBezTo>
                <a:lnTo>
                  <a:pt x="304797" y="3149596"/>
                </a:lnTo>
                <a:cubicBezTo>
                  <a:pt x="136465" y="3149596"/>
                  <a:pt x="0" y="3013140"/>
                  <a:pt x="0" y="2844799"/>
                </a:cubicBezTo>
                <a:lnTo>
                  <a:pt x="0" y="304797"/>
                </a:lnTo>
                <a:close/>
              </a:path>
            </a:pathLst>
          </a:custGeom>
          <a:blipFill rotWithShape="1">
            <a:blip r:embed="rId15"/>
            <a:stretch>
              <a:fillRect/>
            </a:stretch>
          </a:blip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prstClr val="black"/>
                  </a:fgClr>
                </a:pattFill>
              </a14:hiddenLine>
            </a:ext>
          </a:extLst>
        </p:spPr>
      </p:pic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300"/>
              <a:t>谢谢</a:t>
            </a:r>
            <a:endParaRPr lang="zh-CN" altLang="en-US" sz="63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64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65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68.xml><?xml version="1.0" encoding="utf-8"?>
<p:tagLst xmlns:p="http://schemas.openxmlformats.org/presentationml/2006/main">
  <p:tag name="KSO_WM_BEAUTIFY_FLAG" val="#wm#"/>
  <p:tag name="KSO_WM_UNIT_INDEX" val="5"/>
  <p:tag name="KSO_WM_UNIT_TYPE" val="i"/>
</p:tagLst>
</file>

<file path=ppt/tags/tag69.xml><?xml version="1.0" encoding="utf-8"?>
<p:tagLst xmlns:p="http://schemas.openxmlformats.org/presentationml/2006/main">
  <p:tag name="KSO_WM_BEAUTIFY_FLAG" val="#wm#"/>
  <p:tag name="KSO_WM_UNIT_INDEX" val="6"/>
  <p:tag name="KSO_WM_UNIT_TYPE" val="i"/>
</p:tagLst>
</file>

<file path=ppt/tags/tag70.xml><?xml version="1.0" encoding="utf-8"?>
<p:tagLst xmlns:p="http://schemas.openxmlformats.org/presentationml/2006/main">
  <p:tag name="KSO_WM_BEAUTIFY_FLAG" val="#wm#"/>
  <p:tag name="KSO_WM_UNIT_INDEX" val="7"/>
  <p:tag name="KSO_WM_UNIT_TYPE" val="i"/>
</p:tagLst>
</file>

<file path=ppt/tags/tag71.xml><?xml version="1.0" encoding="utf-8"?>
<p:tagLst xmlns:p="http://schemas.openxmlformats.org/presentationml/2006/main">
  <p:tag name="KSO_WM_BEAUTIFY_FLAG" val="#wm#"/>
  <p:tag name="KSO_WM_UNIT_INDEX" val="8"/>
  <p:tag name="KSO_WM_UNIT_TYPE" val="i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UNIT_INDEX" val="1"/>
  <p:tag name="KSO_WM_UNIT_SUBTYPE" val="b"/>
  <p:tag name="KSO_WM_UNIT_TYPE" val="f"/>
</p:tagLst>
</file>

<file path=ppt/tags/tag75.xml><?xml version="1.0" encoding="utf-8"?>
<p:tagLst xmlns:p="http://schemas.openxmlformats.org/presentationml/2006/main">
  <p:tag name="KSO_WM_BEAUTIFY_FLAG" val="#wm#"/>
  <p:tag name="KSO_WM_UNIT_INDEX" val="2"/>
  <p:tag name="KSO_WM_UNIT_SUBTYPE" val="c"/>
  <p:tag name="KSO_WM_UNIT_TYPE" val="f"/>
</p:tagLst>
</file>

<file path=ppt/tags/tag76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83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84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85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86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87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88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89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94.xml><?xml version="1.0" encoding="utf-8"?>
<p:tagLst xmlns:p="http://schemas.openxmlformats.org/presentationml/2006/main">
  <p:tag name="KSO_WM_BEAUTIFY_FLAG" val="#wm#"/>
  <p:tag name="KSO_WM_UNIT_INDEX" val="5"/>
  <p:tag name="KSO_WM_UNIT_TYPE" val="i"/>
</p:tagLst>
</file>

<file path=ppt/tags/tag95.xml><?xml version="1.0" encoding="utf-8"?>
<p:tagLst xmlns:p="http://schemas.openxmlformats.org/presentationml/2006/main">
  <p:tag name="KSO_WM_BEAUTIFY_FLAG" val="#wm#"/>
  <p:tag name="KSO_WM_UNIT_INDEX" val="6"/>
  <p:tag name="KSO_WM_UNIT_TYPE" val="i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98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139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40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141.xml><?xml version="1.0" encoding="utf-8"?>
<p:tagLst xmlns:p="http://schemas.openxmlformats.org/presentationml/2006/main">
  <p:tag name="KSO_WM_BEAUTIFY_FLAG" val="#wm#"/>
  <p:tag name="KSO_WM_UNIT_INDEX" val="5"/>
  <p:tag name="KSO_WM_UNIT_TYPE" val="i"/>
</p:tagLst>
</file>

<file path=ppt/tags/tag142.xml><?xml version="1.0" encoding="utf-8"?>
<p:tagLst xmlns:p="http://schemas.openxmlformats.org/presentationml/2006/main">
  <p:tag name="KSO_WM_BEAUTIFY_FLAG" val="#wm#"/>
  <p:tag name="KSO_WM_UNIT_INDEX" val="6"/>
  <p:tag name="KSO_WM_UNIT_TYPE" val="i"/>
</p:tagLst>
</file>

<file path=ppt/tags/tag143.xml><?xml version="1.0" encoding="utf-8"?>
<p:tagLst xmlns:p="http://schemas.openxmlformats.org/presentationml/2006/main">
  <p:tag name="KSO_WM_BEAUTIFY_FLAG" val="#wm#"/>
  <p:tag name="KSO_WM_UNIT_INDEX" val="7"/>
  <p:tag name="KSO_WM_UNIT_TYPE" val="i"/>
</p:tagLst>
</file>

<file path=ppt/tags/tag144.xml><?xml version="1.0" encoding="utf-8"?>
<p:tagLst xmlns:p="http://schemas.openxmlformats.org/presentationml/2006/main">
  <p:tag name="KSO_WM_BEAUTIFY_FLAG" val="#wm#"/>
  <p:tag name="KSO_WM_UNIT_INDEX" val="8"/>
  <p:tag name="KSO_WM_UNIT_TYPE" val="i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147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32bd143fa5130ed2"/>
</p:tagLst>
</file>

<file path=ppt/tags/tag154.xml><?xml version="1.0" encoding="utf-8"?>
<p:tagLst xmlns:p="http://schemas.openxmlformats.org/presentationml/2006/main">
  <p:tag name="KSO_WM_BEAUTIFY_FLAG" val="#wm#"/>
  <p:tag name="KSO_WM_UNIT_INDEX" val="1"/>
  <p:tag name="KSO_WM_UNIT_SUBTYPE" val="b"/>
  <p:tag name="KSO_WM_UNIT_TYPE" val="f"/>
</p:tagLst>
</file>

<file path=ppt/tags/tag155.xml><?xml version="1.0" encoding="utf-8"?>
<p:tagLst xmlns:p="http://schemas.openxmlformats.org/presentationml/2006/main">
  <p:tag name="KSO_WM_BEAUTIFY_FLAG" val="#wm#"/>
  <p:tag name="KSO_WM_UNIT_INDEX" val="2"/>
  <p:tag name="KSO_WM_UNIT_SUBTYPE" val="c"/>
  <p:tag name="KSO_WM_UNIT_TYPE" val="f"/>
</p:tagLst>
</file>

<file path=ppt/tags/tag156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57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EMPLATE_FIGMA_ID" val="32bd143fa5130ed2"/>
</p:tagLst>
</file>

<file path=ppt/tags/tag158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59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160.xml><?xml version="1.0" encoding="utf-8"?>
<p:tagLst xmlns:p="http://schemas.openxmlformats.org/presentationml/2006/main">
  <p:tag name="KSO_WM_DIAGRAM_VIRTUALLY_FRAME" val="{&quot;height&quot;:178.0000762939453,&quot;left&quot;:326.25,&quot;top&quot;:205.9999237060547,&quot;width&quot;:587.75}"/>
</p:tagLst>
</file>

<file path=ppt/tags/tag161.xml><?xml version="1.0" encoding="utf-8"?>
<p:tagLst xmlns:p="http://schemas.openxmlformats.org/presentationml/2006/main">
  <p:tag name="KSO_WM_BEAUTIFY_FLAG" val="#wm#"/>
  <p:tag name="KSO_WM_DIAGRAM_GROUP_CODE" val="1"/>
  <p:tag name="KSO_WM_UNIT_INDEX" val="1_1_1"/>
  <p:tag name="KSO_WM_UNIT_SUBTYPE" val="d"/>
  <p:tag name="KSO_WM_UNIT_TYPE" val="l_h_i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2.xml><?xml version="1.0" encoding="utf-8"?>
<p:tagLst xmlns:p="http://schemas.openxmlformats.org/presentationml/2006/main">
  <p:tag name="KSO_WM_BEAUTIFY_FLAG" val="#wm#"/>
  <p:tag name="KSO_WM_DIAGRAM_GROUP_CODE" val="1"/>
  <p:tag name="KSO_WM_UNIT_INDEX" val="1_1_2"/>
  <p:tag name="KSO_WM_UNIT_TYPE" val="l_h_i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3.xml><?xml version="1.0" encoding="utf-8"?>
<p:tagLst xmlns:p="http://schemas.openxmlformats.org/presentationml/2006/main">
  <p:tag name="KSO_WM_BEAUTIFY_FLAG" val="#wm#"/>
  <p:tag name="KSO_WM_DIAGRAM_GROUP_CODE" val="1"/>
  <p:tag name="KSO_WM_UNIT_INDEX" val="1_1_1"/>
  <p:tag name="KSO_WM_UNIT_PRESET_TEXT" val="单击此处添加标题内容"/>
  <p:tag name="KSO_WM_UNIT_TEXT_TYPE" val="1"/>
  <p:tag name="KSO_WM_UNIT_TYPE" val="l_h_a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4.xml><?xml version="1.0" encoding="utf-8"?>
<p:tagLst xmlns:p="http://schemas.openxmlformats.org/presentationml/2006/main">
  <p:tag name="KSO_WM_BEAUTIFY_FLAG" val="#wm#"/>
  <p:tag name="KSO_WM_DIAGRAM_GROUP_CODE" val="1"/>
  <p:tag name="KSO_WM_UNIT_INDEX" val="1_2_1"/>
  <p:tag name="KSO_WM_UNIT_SUBTYPE" val="d"/>
  <p:tag name="KSO_WM_UNIT_TYPE" val="l_h_i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5.xml><?xml version="1.0" encoding="utf-8"?>
<p:tagLst xmlns:p="http://schemas.openxmlformats.org/presentationml/2006/main">
  <p:tag name="KSO_WM_BEAUTIFY_FLAG" val="#wm#"/>
  <p:tag name="KSO_WM_DIAGRAM_GROUP_CODE" val="1"/>
  <p:tag name="KSO_WM_UNIT_INDEX" val="1_2_2"/>
  <p:tag name="KSO_WM_UNIT_TYPE" val="l_h_i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6.xml><?xml version="1.0" encoding="utf-8"?>
<p:tagLst xmlns:p="http://schemas.openxmlformats.org/presentationml/2006/main">
  <p:tag name="KSO_WM_BEAUTIFY_FLAG" val="#wm#"/>
  <p:tag name="KSO_WM_DIAGRAM_GROUP_CODE" val="1"/>
  <p:tag name="KSO_WM_UNIT_INDEX" val="1_2_1"/>
  <p:tag name="KSO_WM_UNIT_PRESET_TEXT" val="单击此处添加标题内容"/>
  <p:tag name="KSO_WM_UNIT_TEXT_TYPE" val="1"/>
  <p:tag name="KSO_WM_UNIT_TYPE" val="l_h_a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7.xml><?xml version="1.0" encoding="utf-8"?>
<p:tagLst xmlns:p="http://schemas.openxmlformats.org/presentationml/2006/main">
  <p:tag name="KSO_WM_BEAUTIFY_FLAG" val="#wm#"/>
  <p:tag name="KSO_WM_DIAGRAM_GROUP_CODE" val="1"/>
  <p:tag name="KSO_WM_UNIT_INDEX" val="1_3_1"/>
  <p:tag name="KSO_WM_UNIT_SUBTYPE" val="d"/>
  <p:tag name="KSO_WM_UNIT_TYPE" val="l_h_i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8.xml><?xml version="1.0" encoding="utf-8"?>
<p:tagLst xmlns:p="http://schemas.openxmlformats.org/presentationml/2006/main">
  <p:tag name="KSO_WM_BEAUTIFY_FLAG" val="#wm#"/>
  <p:tag name="KSO_WM_DIAGRAM_GROUP_CODE" val="1"/>
  <p:tag name="KSO_WM_UNIT_INDEX" val="1_3_2"/>
  <p:tag name="KSO_WM_UNIT_TYPE" val="l_h_i"/>
  <p:tag name="KSO_WM_SLIDE_FIGMA_DIAGRAM" val="1"/>
  <p:tag name="KSO_WM_DIAGRAM_VIRTUALLY_FRAME" val="{&quot;height&quot;:178.0000762939453,&quot;left&quot;:326.25,&quot;top&quot;:205.9999237060547,&quot;width&quot;:587.75}"/>
</p:tagLst>
</file>

<file path=ppt/tags/tag169.xml><?xml version="1.0" encoding="utf-8"?>
<p:tagLst xmlns:p="http://schemas.openxmlformats.org/presentationml/2006/main">
  <p:tag name="KSO_WM_BEAUTIFY_FLAG" val="#wm#"/>
  <p:tag name="KSO_WM_DIAGRAM_GROUP_CODE" val="1"/>
  <p:tag name="KSO_WM_UNIT_INDEX" val="1_3_1"/>
  <p:tag name="KSO_WM_UNIT_PRESET_TEXT" val="单击此处添加标题内容"/>
  <p:tag name="KSO_WM_UNIT_TEXT_TYPE" val="1"/>
  <p:tag name="KSO_WM_UNIT_TYPE" val="l_h_a"/>
  <p:tag name="KSO_WM_SLIDE_FIGMA_DIAGRAM" val="1"/>
  <p:tag name="KSO_WM_DIAGRAM_VIRTUALLY_FRAME" val="{&quot;height&quot;:178.0000762939453,&quot;left&quot;:326.25,&quot;top&quot;:205.9999237060547,&quot;width&quot;:587.75}"/>
</p:tagLst>
</file>

<file path=ppt/tags/tag170.xml><?xml version="1.0" encoding="utf-8"?>
<p:tagLst xmlns:p="http://schemas.openxmlformats.org/presentationml/2006/main">
  <p:tag name="KSO_WM_FIGMA_LIMIT" val=""/>
  <p:tag name="KSO_WM_FIGMA_SLIDE_GROUP" val="1"/>
  <p:tag name="KSO_WM_SLIDE_TYPE" val="contents"/>
  <p:tag name="KSO_WM_TEMPLATE_SUBCATEGORY" val="29"/>
  <p:tag name="KSO_WM_TEMPLATE_FIGMA_ID" val="32bd143fa5130ed2"/>
</p:tagLst>
</file>

<file path=ppt/tags/tag171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72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173.xml><?xml version="1.0" encoding="utf-8"?>
<p:tagLst xmlns:p="http://schemas.openxmlformats.org/presentationml/2006/main">
  <p:tag name="KSO_WM_DIAGRAM_VIRTUALLY_FRAME" val="{&quot;height&quot;:201,&quot;left&quot;:346.99969482421875,&quot;top&quot;:202,&quot;width&quot;:543.0003051757812}"/>
</p:tagLst>
</file>

<file path=ppt/tags/tag174.xml><?xml version="1.0" encoding="utf-8"?>
<p:tagLst xmlns:p="http://schemas.openxmlformats.org/presentationml/2006/main">
  <p:tag name="KSO_WM_BEAUTIFY_FLAG" val="#wm#"/>
  <p:tag name="KSO_WM_DIAGRAM_GROUP_CODE" val="1"/>
  <p:tag name="KSO_WM_UNIT_INDEX" val="1_1_1"/>
  <p:tag name="KSO_WM_UNIT_SUBTYPE" val="d"/>
  <p:tag name="KSO_WM_UNIT_TYPE" val="l_h_i"/>
  <p:tag name="KSO_WM_SLIDE_FIGMA_DIAGRAM" val="1"/>
  <p:tag name="KSO_WM_DIAGRAM_VIRTUALLY_FRAME" val="{&quot;height&quot;:201,&quot;left&quot;:346.99969482421875,&quot;top&quot;:202,&quot;width&quot;:543.0003051757812}"/>
</p:tagLst>
</file>

<file path=ppt/tags/tag175.xml><?xml version="1.0" encoding="utf-8"?>
<p:tagLst xmlns:p="http://schemas.openxmlformats.org/presentationml/2006/main">
  <p:tag name="KSO_WM_BEAUTIFY_FLAG" val="#wm#"/>
  <p:tag name="KSO_WM_DIAGRAM_GROUP_CODE" val="1"/>
  <p:tag name="KSO_WM_UNIT_INDEX" val="1_1_2"/>
  <p:tag name="KSO_WM_UNIT_TYPE" val="l_h_i"/>
  <p:tag name="KSO_WM_SLIDE_FIGMA_DIAGRAM" val="1"/>
  <p:tag name="KSO_WM_DIAGRAM_VIRTUALLY_FRAME" val="{&quot;height&quot;:201,&quot;left&quot;:346.99969482421875,&quot;top&quot;:202,&quot;width&quot;:543.0003051757812}"/>
</p:tagLst>
</file>

<file path=ppt/tags/tag176.xml><?xml version="1.0" encoding="utf-8"?>
<p:tagLst xmlns:p="http://schemas.openxmlformats.org/presentationml/2006/main">
  <p:tag name="KSO_WM_BEAUTIFY_FLAG" val="#wm#"/>
  <p:tag name="KSO_WM_DIAGRAM_GROUP_CODE" val="1"/>
  <p:tag name="KSO_WM_UNIT_INDEX" val="1_1_1"/>
  <p:tag name="KSO_WM_UNIT_PRESET_TEXT" val="单击此处添加项标题内容"/>
  <p:tag name="KSO_WM_UNIT_TEXT_TYPE" val="1"/>
  <p:tag name="KSO_WM_UNIT_TYPE" val="l_h_a"/>
  <p:tag name="KSO_WM_SLIDE_FIGMA_DIAGRAM" val="1"/>
  <p:tag name="KSO_WM_DIAGRAM_VIRTUALLY_FRAME" val="{&quot;height&quot;:201,&quot;left&quot;:346.99969482421875,&quot;top&quot;:202,&quot;width&quot;:543.0003051757812}"/>
</p:tagLst>
</file>

<file path=ppt/tags/tag177.xml><?xml version="1.0" encoding="utf-8"?>
<p:tagLst xmlns:p="http://schemas.openxmlformats.org/presentationml/2006/main">
  <p:tag name="KSO_WM_BEAUTIFY_FLAG" val="#wm#"/>
  <p:tag name="KSO_WM_DIAGRAM_GROUP_CODE" val="1"/>
  <p:tag name="KSO_WM_UNIT_INDEX" val="1_2_1"/>
  <p:tag name="KSO_WM_UNIT_SUBTYPE" val="d"/>
  <p:tag name="KSO_WM_UNIT_TYPE" val="l_h_i"/>
  <p:tag name="KSO_WM_SLIDE_FIGMA_DIAGRAM" val="1"/>
  <p:tag name="KSO_WM_DIAGRAM_VIRTUALLY_FRAME" val="{&quot;height&quot;:201,&quot;left&quot;:346.99969482421875,&quot;top&quot;:202,&quot;width&quot;:543.0003051757812}"/>
</p:tagLst>
</file>

<file path=ppt/tags/tag178.xml><?xml version="1.0" encoding="utf-8"?>
<p:tagLst xmlns:p="http://schemas.openxmlformats.org/presentationml/2006/main">
  <p:tag name="KSO_WM_BEAUTIFY_FLAG" val="#wm#"/>
  <p:tag name="KSO_WM_DIAGRAM_GROUP_CODE" val="1"/>
  <p:tag name="KSO_WM_UNIT_INDEX" val="1_2_2"/>
  <p:tag name="KSO_WM_UNIT_TYPE" val="l_h_i"/>
  <p:tag name="KSO_WM_SLIDE_FIGMA_DIAGRAM" val="1"/>
  <p:tag name="KSO_WM_DIAGRAM_VIRTUALLY_FRAME" val="{&quot;height&quot;:201,&quot;left&quot;:346.99969482421875,&quot;top&quot;:202,&quot;width&quot;:543.0003051757812}"/>
</p:tagLst>
</file>

<file path=ppt/tags/tag179.xml><?xml version="1.0" encoding="utf-8"?>
<p:tagLst xmlns:p="http://schemas.openxmlformats.org/presentationml/2006/main">
  <p:tag name="KSO_WM_BEAUTIFY_FLAG" val="#wm#"/>
  <p:tag name="KSO_WM_DIAGRAM_GROUP_CODE" val="1"/>
  <p:tag name="KSO_WM_UNIT_INDEX" val="1_2_1"/>
  <p:tag name="KSO_WM_UNIT_PRESET_TEXT" val="单击此处添加项标题内容"/>
  <p:tag name="KSO_WM_UNIT_TEXT_TYPE" val="1"/>
  <p:tag name="KSO_WM_UNIT_TYPE" val="l_h_a"/>
  <p:tag name="KSO_WM_SLIDE_FIGMA_DIAGRAM" val="1"/>
  <p:tag name="KSO_WM_DIAGRAM_VIRTUALLY_FRAME" val="{&quot;height&quot;:201,&quot;left&quot;:346.99969482421875,&quot;top&quot;:202,&quot;width&quot;:543.0003051757812}"/>
</p:tagLst>
</file>

<file path=ppt/tags/tag180.xml><?xml version="1.0" encoding="utf-8"?>
<p:tagLst xmlns:p="http://schemas.openxmlformats.org/presentationml/2006/main">
  <p:tag name="KSO_WM_FIGMA_LIMIT" val=""/>
  <p:tag name="KSO_WM_FIGMA_SLIDE_GROUP" val="1"/>
  <p:tag name="KSO_WM_SLIDE_TYPE" val="contents"/>
  <p:tag name="KSO_WM_TEMPLATE_SUBCATEGORY" val="29"/>
  <p:tag name="KSO_WM_TEMPLATE_FIGMA_ID" val="32bd143fa5130ed2"/>
</p:tagLst>
</file>

<file path=ppt/tags/tag181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82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18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EMPLATE_FIGMA_ID" val="32bd143fa5130ed2"/>
</p:tagLst>
</file>

<file path=ppt/tags/tag184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85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18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187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88.xml><?xml version="1.0" encoding="utf-8"?>
<p:tagLst xmlns:p="http://schemas.openxmlformats.org/presentationml/2006/main">
  <p:tag name="KSO_WM_BEAUTIFY_FLAG" val="#wm#"/>
  <p:tag name="KSO_WM_UNIT_INDEX" val="1"/>
  <p:tag name="KSO_WM_UNIT_TYPE" val="d"/>
  <p:tag name="MH_SHAPE_GUID" val="generate_slide_ai*{&quot;ai_type&quot;:&quot;generate_ppt&quot;,&quot;id&quot;:&quot;http://zh-ai-group.ks3-cn-beijing-internal.ksyun.com/image_generate/image_process/production/202504/579ccad8-b277-453e-a158-ad2c9b7081cb.jpg?Expires=1776774821&amp;AWSAccessKeyId=AKLT9NSy7kh8TIS1UzNqLRY2&amp;Signature=OCDyZe9NPtIdGyJ7kC4aHzN1fTQ%3D&quot;}*auto_ai_ai_*1745238815872_31.73_d02df33d800e-slide-4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i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添加项标题"/>
  <p:tag name="KSO_WM_UNIT_TEXT_TYPE" val="1"/>
  <p:tag name="KSO_WM_UNIT_TYPE" val="l_h_a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添加项标题"/>
  <p:tag name="KSO_WM_UNIT_TEXT_TYPE" val="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95.xml><?xml version="1.0" encoding="utf-8"?>
<p:tagLst xmlns:p="http://schemas.openxmlformats.org/presentationml/2006/main">
  <p:tag name="KSO_WM_FIGMA_LIMIT" val=""/>
  <p:tag name="KSO_WM_FIGMA_SLIDE_GROUP" val="42"/>
  <p:tag name="KSO_WM_SLIDE_TYPE" val="text"/>
  <p:tag name="KSO_WM_TEMPLATE_SUBCATEGORY" val="29"/>
  <p:tag name="KSO_WM_TEMPLATE_FIGMA_ID" val="32bd143fa5130ed2"/>
</p:tagLst>
</file>

<file path=ppt/tags/tag196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97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198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EMPLATE_FIGMA_ID" val="32bd143fa5130ed2"/>
</p:tagLst>
</file>

<file path=ppt/tags/tag199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00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20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d"/>
  <p:tag name="MH_SHAPE_GUID" val="generate_slide_ai*{&quot;ai_type&quot;:&quot;generate_ppt&quot;,&quot;id&quot;:&quot;http://zh-ai-group.ks3-cn-beijing-internal.ksyun.com/image_generate/image_process/production/202504/bffbd4e8-7281-43ee-a21a-f52d74aa94e8.jpg?Expires=1776774822&amp;AWSAccessKeyId=AKLT9NSy7kh8TIS1UzNqLRY2&amp;Signature=YLfQHU1R%2Fub32zghO22PDDScaBs%3D&quot;}*auto_ai_ai_*1745238815872_31.73_d02df33d800e-slide-6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TYPE" val="l_h_d"/>
  <p:tag name="MH_SHAPE_GUID" val="generate_slide_ai*{&quot;ai_type&quot;:&quot;generate_ppt&quot;,&quot;id&quot;:&quot;http://zh-ai-group.ks3-cn-beijing-internal.ksyun.com/image_generate/image_process/production/202504/0ca8f2bd-c341-4167-9650-4a04792df876.jpg?Expires=1776774822&amp;AWSAccessKeyId=AKLT9NSy7kh8TIS1UzNqLRY2&amp;Signature=Z7sdZ51WuWzEvhyx3wQB5pQUMVw%3D&quot;}*auto_ai_ai_*1745238815872_31.73_d02df33d800e-slide-6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添加项标题"/>
  <p:tag name="KSO_WM_UNIT_TEXT_TYPE" val="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d"/>
  <p:tag name="MH_SHAPE_GUID" val="generate_slide_ai*{&quot;ai_type&quot;:&quot;generate_ppt&quot;,&quot;id&quot;:&quot;http://zh-ai-group.ks3-cn-beijing-internal.ksyun.com/image_generate/image_process/production/202504/fa69c67c-258f-4300-865f-863215babe64.jpg?Expires=1776774822&amp;AWSAccessKeyId=AKLT9NSy7kh8TIS1UzNqLRY2&amp;Signature=sD7VD%2BU7UbqrwTsY4OcTOgG646U%3D&quot;}*auto_ai_ai_*1745238815872_31.73_d02df33d800e-slide-6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UNIT_INDEX" val="1_4_1"/>
  <p:tag name="KSO_WM_UNIT_TYPE" val="l_h_d"/>
  <p:tag name="MH_SHAPE_GUID" val="generate_slide_ai*{&quot;ai_type&quot;:&quot;generate_ppt&quot;,&quot;id&quot;:&quot;http://zh-ai-group.ks3-cn-beijing-internal.ksyun.com/image_generate/image_process/production/202504/f6c10d1b-245c-474a-8eb9-b7053df72525.jpg?Expires=1776774823&amp;AWSAccessKeyId=AKLT9NSy7kh8TIS1UzNqLRY2&amp;Signature=%2F4DexrG4iGBhkuqgWM4evoiconk%3D&quot;}*auto_ai_ai_*1745238815872_31.73_d02df33d800e-slide-6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单击添加项标题"/>
  <p:tag name="KSO_WM_UNIT_TEXT_TYPE" val="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添加项标题"/>
  <p:tag name="KSO_WM_UNIT_TEXT_TYPE" val="1"/>
  <p:tag name="KSO_WM_UNIT_TYPE" val="l_h_a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UNIT_INDEX" val="1_4_1"/>
  <p:tag name="KSO_WM_UNIT_PRESET_TEXT" val="单击添加项标题"/>
  <p:tag name="KSO_WM_UNIT_TEXT_TYPE" val="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UNIT_INDEX" val="1_4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14.xml><?xml version="1.0" encoding="utf-8"?>
<p:tagLst xmlns:p="http://schemas.openxmlformats.org/presentationml/2006/main">
  <p:tag name="KSO_WM_FIGMA_LIMIT" val=""/>
  <p:tag name="KSO_WM_FIGMA_SLIDE_GROUP" val="34"/>
  <p:tag name="KSO_WM_SLIDE_TYPE" val="text"/>
  <p:tag name="KSO_WM_TEMPLATE_SUBCATEGORY" val="29"/>
  <p:tag name="KSO_WM_TEMPLATE_FIGMA_ID" val="32bd143fa5130ed2"/>
</p:tagLst>
</file>

<file path=ppt/tags/tag215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216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217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EMPLATE_FIGMA_ID" val="32bd143fa5130ed2"/>
</p:tagLst>
</file>

<file path=ppt/tags/tag218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19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22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221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UNIT_INDEX" val="1_1_2"/>
  <p:tag name="KSO_WM_UNIT_TYPE" val="l_h_i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添加项标题"/>
  <p:tag name="KSO_WM_UNIT_TEXT_TYPE" val="1"/>
  <p:tag name="KSO_WM_UNIT_TYPE" val="l_h_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d"/>
  <p:tag name="MH_SHAPE_GUID" val="generate_slide_ai*{&quot;ai_type&quot;:&quot;generate_ppt&quot;,&quot;id&quot;:&quot;http://zh-ai-group.ks3-cn-beijing-internal.ksyun.com/image_generate/image_process/production/202504/6d95c5de-fbdf-45f0-8959-34cea2b99e7e.jpg?Expires=1776774822&amp;AWSAccessKeyId=AKLT9NSy7kh8TIS1UzNqLRY2&amp;Signature=kHKe5LjjjKnWG2lE6g1R9UDRZz8%3D&quot;}*auto_ai_ai_*1745238815872_31.73_d02df33d800e-slide-8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d"/>
  <p:tag name="MH_SHAPE_GUID" val="generate_slide_ai*{&quot;ai_type&quot;:&quot;generate_ppt&quot;,&quot;id&quot;:&quot;http://zh-ai-group.ks3-cn-beijing-internal.ksyun.com/image_generate/image_process/production/202504/619abe9d-9ff2-4849-9237-75f1fb3dae73.jpg?Expires=1776774822&amp;AWSAccessKeyId=AKLT9NSy7kh8TIS1UzNqLRY2&amp;Signature=93dFmP%2Bj5lEUyS2dvTJwKtpIYhc%3D&quot;}*auto_ai_ai_*1745238815872_31.73_d02df33d800e-slide-8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UNIT_INDEX" val="1_2_2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添加项标题"/>
  <p:tag name="KSO_WM_UNIT_TEXT_TYPE" val="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32.xml><?xml version="1.0" encoding="utf-8"?>
<p:tagLst xmlns:p="http://schemas.openxmlformats.org/presentationml/2006/main">
  <p:tag name="KSO_WM_FIGMA_LIMIT" val=""/>
  <p:tag name="KSO_WM_FIGMA_SLIDE_GROUP" val="26"/>
  <p:tag name="KSO_WM_SLIDE_TYPE" val="text"/>
  <p:tag name="KSO_WM_TEMPLATE_SUBCATEGORY" val="29"/>
  <p:tag name="KSO_WM_TEMPLATE_FIGMA_ID" val="32bd143fa5130ed2"/>
</p:tagLst>
</file>

<file path=ppt/tags/tag23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234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UNIT_INDEX" val="1_1_2"/>
  <p:tag name="KSO_WM_UNIT_TYPE" val="l_h_i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添加项标题"/>
  <p:tag name="KSO_WM_UNIT_TEXT_TYPE" val="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d"/>
  <p:tag name="MH_SHAPE_GUID" val="generate_slide_ai*{&quot;ai_type&quot;:&quot;generate_ppt&quot;,&quot;id&quot;:&quot;VCG41N1213728516&quot;}*auto_galley_ai_*1745238815872_31.73_d02df33d800e-slide-9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UNIT_INDEX" val="1_3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TYPE" val="l_h_d"/>
  <p:tag name="MH_SHAPE_GUID" val="generate_slide_ai*{&quot;ai_type&quot;:&quot;generate_ppt&quot;,&quot;id&quot;:&quot;VCG41N1298608027&quot;}*auto_galley_ai_*1745238815872_31.73_d02df33d800e-slide-9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i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UNIT_INDEX" val="1_2_2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添加项标题"/>
  <p:tag name="KSO_WM_UNIT_TEXT_TYPE" val="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d"/>
  <p:tag name="MH_SHAPE_GUID" val="generate_slide_ai*{&quot;ai_type&quot;:&quot;generate_ppt&quot;,&quot;id&quot;:&quot;http://zh-ai-group.ks3-cn-beijing-internal.ksyun.com/image_generate/image_process/production/202504/fea4831f-8d30-43a4-a324-2716ca7bf96f.jpg?Expires=1776774823&amp;AWSAccessKeyId=AKLT9NSy7kh8TIS1UzNqLRY2&amp;Signature=JY1QgbH686hVDElkaf3R%2BzKAdEA%3D&quot;}*auto_ai_ai_*1745238815872_31.73_d02df33d800e-slide-9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UNIT_INDEX" val="1_4_1"/>
  <p:tag name="KSO_WM_UNIT_TYPE" val="l_h_i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UNIT_INDEX" val="1_4_2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UNIT_INDEX" val="1_4_1"/>
  <p:tag name="KSO_WM_UNIT_TYPE" val="l_h_d"/>
  <p:tag name="MH_SHAPE_GUID" val="generate_slide_ai*{&quot;ai_type&quot;:&quot;generate_ppt&quot;,&quot;id&quot;:&quot;VCG211400639465&quot;}*auto_galley_ai_*1745238815872_31.73_d02df33d800e-slide-9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添加项标题"/>
  <p:tag name="KSO_WM_UNIT_TEXT_TYPE" val="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UNIT_INDEX" val="1_4_1"/>
  <p:tag name="KSO_WM_UNIT_PRESET_TEXT" val="添加项标题"/>
  <p:tag name="KSO_WM_UNIT_TEXT_TYPE" val="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UNIT_INDEX" val="1_4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55.xml><?xml version="1.0" encoding="utf-8"?>
<p:tagLst xmlns:p="http://schemas.openxmlformats.org/presentationml/2006/main">
  <p:tag name="KSO_WM_FIGMA_LIMIT" val=""/>
  <p:tag name="KSO_WM_FIGMA_SLIDE_GROUP" val="38"/>
  <p:tag name="KSO_WM_SLIDE_TYPE" val="text"/>
  <p:tag name="KSO_WM_TEMPLATE_SUBCATEGORY" val="29"/>
  <p:tag name="KSO_WM_TEMPLATE_FIGMA_ID" val="32bd143fa5130ed2"/>
</p:tagLst>
</file>

<file path=ppt/tags/tag256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257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258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EMPLATE_FIGMA_ID" val="32bd143fa5130ed2"/>
</p:tagLst>
</file>

<file path=ppt/tags/tag259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60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26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i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添加项标题"/>
  <p:tag name="KSO_WM_UNIT_TEXT_TYPE" val="1"/>
  <p:tag name="KSO_WM_UNIT_TYPE" val="l_h_a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i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添加项标题"/>
  <p:tag name="KSO_WM_UNIT_TEXT_TYPE" val="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68.xml><?xml version="1.0" encoding="utf-8"?>
<p:tagLst xmlns:p="http://schemas.openxmlformats.org/presentationml/2006/main">
  <p:tag name="KSO_WM_FIGMA_LIMIT" val=""/>
  <p:tag name="KSO_WM_FIGMA_SLIDE_GROUP" val="59"/>
  <p:tag name="KSO_WM_SLIDE_TYPE" val="text"/>
  <p:tag name="KSO_WM_TEMPLATE_SUBCATEGORY" val="29"/>
  <p:tag name="KSO_WM_TEMPLATE_FIGMA_ID" val="32bd143fa5130ed2"/>
</p:tagLst>
</file>

<file path=ppt/tags/tag269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70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271.xml><?xml version="1.0" encoding="utf-8"?>
<p:tagLst xmlns:p="http://schemas.openxmlformats.org/presentationml/2006/main">
  <p:tag name="KSO_WM_BEAUTIFY_FLAG" val="#wm#"/>
  <p:tag name="KSO_WM_UNIT_INDEX" val="1"/>
  <p:tag name="KSO_WM_UNIT_TYPE" val="d"/>
  <p:tag name="MH_SHAPE_GUID" val="generate_slide_ai*{&quot;ai_type&quot;:&quot;generate_ppt&quot;,&quot;id&quot;:&quot;VCG41N1215022246&quot;}*auto_galley_ai_*1745238815872_31.73_d02df33d800e-slide-14"/>
</p:tagLst>
</file>

<file path=ppt/tags/tag27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i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i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添加项标题"/>
  <p:tag name="KSO_WM_UNIT_TEXT_TYPE" val="1"/>
  <p:tag name="KSO_WM_UNIT_TYPE" val="l_h_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TYPE" val="l_h_i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添加项标题"/>
  <p:tag name="KSO_WM_UNIT_TEXT_TYPE" val="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添加项标题"/>
  <p:tag name="KSO_WM_UNIT_TEXT_TYPE" val="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82.xml><?xml version="1.0" encoding="utf-8"?>
<p:tagLst xmlns:p="http://schemas.openxmlformats.org/presentationml/2006/main">
  <p:tag name="KSO_WM_FIGMA_LIMIT" val=""/>
  <p:tag name="KSO_WM_FIGMA_SLIDE_GROUP" val="30"/>
  <p:tag name="KSO_WM_SLIDE_TYPE" val="text"/>
  <p:tag name="KSO_WM_TEMPLATE_SUBCATEGORY" val="29"/>
  <p:tag name="KSO_WM_TEMPLATE_FIGMA_ID" val="32bd143fa5130ed2"/>
</p:tagLst>
</file>

<file path=ppt/tags/tag283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284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285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EMPLATE_FIGMA_ID" val="32bd143fa5130ed2"/>
</p:tagLst>
</file>

<file path=ppt/tags/tag286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87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288.xml><?xml version="1.0" encoding="utf-8"?>
<p:tagLst xmlns:p="http://schemas.openxmlformats.org/presentationml/2006/main">
  <p:tag name="KSO_WM_BEAUTIFY_FLAG" val="#wm#"/>
  <p:tag name="KSO_WM_UNIT_INDEX" val="1"/>
  <p:tag name="KSO_WM_UNIT_TYPE" val="d"/>
  <p:tag name="MH_SHAPE_GUID" val="generate_slide_ai*{&quot;ai_type&quot;:&quot;generate_ppt&quot;,&quot;id&quot;:&quot;http://zh-ai-group.ks3-cn-beijing-internal.ksyun.com/image_generate/image_process/production/202504/87c994f7-574d-44f8-b400-a0b3d8c6b557.jpg?Expires=1776774828&amp;AWSAccessKeyId=AKLT9NSy7kh8TIS1UzNqLRY2&amp;Signature=%2F4NmZt0hLN07ByvkIpkseqxLy54%3D&quot;}*auto_ai_ai_*1745238815872_31.73_d02df33d800e-slide-16"/>
</p:tagLst>
</file>

<file path=ppt/tags/tag289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添加项标题"/>
  <p:tag name="KSO_WM_UNIT_TEXT_TYPE" val="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93.xml><?xml version="1.0" encoding="utf-8"?>
<p:tagLst xmlns:p="http://schemas.openxmlformats.org/presentationml/2006/main">
  <p:tag name="KSO_WM_FIGMA_LIMIT" val=""/>
  <p:tag name="KSO_WM_FIGMA_SLIDE_GROUP" val="51"/>
  <p:tag name="KSO_WM_SLIDE_TYPE" val="text"/>
  <p:tag name="KSO_WM_TEMPLATE_SUBCATEGORY" val="29"/>
  <p:tag name="KSO_WM_TEMPLATE_FIGMA_ID" val="32bd143fa5130ed2"/>
</p:tagLst>
</file>

<file path=ppt/tags/tag29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295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添加项标题"/>
  <p:tag name="KSO_WM_UNIT_TEXT_TYPE" val="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添加项标题"/>
  <p:tag name="KSO_WM_UNIT_TEXT_TYPE" val="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添加项标题"/>
  <p:tag name="KSO_WM_UNIT_TEXT_TYPE" val="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UNIT_INDEX" val="1_3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305.xml><?xml version="1.0" encoding="utf-8"?>
<p:tagLst xmlns:p="http://schemas.openxmlformats.org/presentationml/2006/main">
  <p:tag name="KSO_WM_BEAUTIFY_FLAG" val="#wm#"/>
  <p:tag name="KSO_WM_UNIT_INDEX" val="1"/>
  <p:tag name="KSO_WM_UNIT_TYPE" val="d"/>
  <p:tag name="MH_SHAPE_GUID" val="generate_slide_ai*{&quot;ai_type&quot;:&quot;generate_ppt&quot;,&quot;id&quot;:&quot;http://zh-ai-group.ks3-cn-beijing-internal.ksyun.com/image_generate/image_process/production/202504/2a42b553-f2ba-426e-9ae9-b5e6a86cc3cd.jpg?Expires=1776774829&amp;AWSAccessKeyId=AKLT9NSy7kh8TIS1UzNqLRY2&amp;Signature=WxqcuSSkwJRzk1XPw9wO6w7hV8o%3D&quot;}*auto_ai_ai_*1745238815872_31.73_d02df33d800e-slide-17"/>
</p:tagLst>
</file>

<file path=ppt/tags/tag306.xml><?xml version="1.0" encoding="utf-8"?>
<p:tagLst xmlns:p="http://schemas.openxmlformats.org/presentationml/2006/main">
  <p:tag name="KSO_WM_FIGMA_LIMIT" val=""/>
  <p:tag name="KSO_WM_FIGMA_SLIDE_GROUP" val="62"/>
  <p:tag name="KSO_WM_SLIDE_TYPE" val="text"/>
  <p:tag name="KSO_WM_TEMPLATE_SUBCATEGORY" val="29"/>
  <p:tag name="KSO_WM_TEMPLATE_FIGMA_ID" val="32bd143fa5130ed2"/>
</p:tagLst>
</file>

<file path=ppt/tags/tag307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308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309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EMPLATE_FIGMA_ID" val="32bd143fa5130ed2"/>
</p:tagLst>
</file>

<file path=ppt/tags/tag310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绿色班会卡通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F9FFF2"/>
      </a:lt2>
      <a:accent1>
        <a:srgbClr val="4379F0"/>
      </a:accent1>
      <a:accent2>
        <a:srgbClr val="F5FDEA"/>
      </a:accent2>
      <a:accent3>
        <a:srgbClr val="C5EE95"/>
      </a:accent3>
      <a:accent4>
        <a:srgbClr val="81C637"/>
      </a:accent4>
      <a:accent5>
        <a:srgbClr val="6CAC27"/>
      </a:accent5>
      <a:accent6>
        <a:srgbClr val="2538D9"/>
      </a:accent6>
      <a:hlink>
        <a:srgbClr val="71B727"/>
      </a:hlink>
      <a:folHlink>
        <a:srgbClr val="3D72E7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</Words>
  <Application>WPS 演示</Application>
  <PresentationFormat>宽屏</PresentationFormat>
  <Paragraphs>158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Microsoft YaHei UI</vt:lpstr>
      <vt:lpstr>WPS</vt:lpstr>
      <vt:lpstr>绿色班会卡通主题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高济祺</cp:lastModifiedBy>
  <cp:revision>157</cp:revision>
  <dcterms:created xsi:type="dcterms:W3CDTF">2019-06-19T02:08:00Z</dcterms:created>
  <dcterms:modified xsi:type="dcterms:W3CDTF">2025-04-21T12:45:13Z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48C8EA6D4465442E85BD7861DD55976D_11</vt:lpwstr>
  </property>
</Properties>
</file>