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</p:sldMasterIdLst>
  <p:notesMasterIdLst>
    <p:notesMasterId r:id="rId9"/>
  </p:notesMasterIdLst>
  <p:handoutMasterIdLst>
    <p:handoutMasterId r:id="rId19"/>
  </p:handoutMasterIdLst>
  <p:sldIdLst>
    <p:sldId id="267" r:id="rId8"/>
    <p:sldId id="264" r:id="rId10"/>
    <p:sldId id="257" r:id="rId11"/>
    <p:sldId id="258" r:id="rId12"/>
    <p:sldId id="259" r:id="rId13"/>
    <p:sldId id="260" r:id="rId14"/>
    <p:sldId id="261" r:id="rId15"/>
    <p:sldId id="262" r:id="rId16"/>
    <p:sldId id="268" r:id="rId17"/>
    <p:sldId id="263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A76B"/>
    <a:srgbClr val="E2E3E5"/>
    <a:srgbClr val="E2C3BD"/>
    <a:srgbClr val="EDE9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  <p:pic>
        <p:nvPicPr>
          <p:cNvPr id="1" name="图片 0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image" Target="../media/image6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20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d16d106db0f521e5b9715bf5673ef23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267450" y="0"/>
            <a:ext cx="22345650" cy="6858000"/>
          </a:xfrm>
          <a:prstGeom prst="rect">
            <a:avLst/>
          </a:prstGeom>
        </p:spPr>
      </p:pic>
      <p:sp>
        <p:nvSpPr>
          <p:cNvPr id="1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7F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1C1C1C"/>
                </a:solidFill>
                <a:latin typeface="方正小标宋"/>
                <a:ea typeface="方正小标宋"/>
                <a:cs typeface="方正小标宋"/>
                <a:sym typeface="方正小标宋"/>
              </a:rPr>
              <a:t>笔墨中的失意与旷达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302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75343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—— 《黄州寒食帖》赏析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747000" y="4889500"/>
            <a:ext cx="381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endParaRPr lang="en-US" sz="1200">
              <a:solidFill>
                <a:schemeClr val="accent2">
                  <a:lumMod val="75000"/>
                </a:schemeClr>
              </a:solidFill>
            </a:endParaRPr>
          </a:p>
          <a:p>
            <a:pPr indent="0" algn="r">
              <a:lnSpc>
                <a:spcPct val="125000"/>
              </a:lnSpc>
            </a:pPr>
            <a:r>
              <a:rPr lang="zh-CN" altLang="en-US" sz="1600" b="0" i="0" u="none" strike="noStrike">
                <a:solidFill>
                  <a:schemeClr val="accent2">
                    <a:lumMod val="75000"/>
                  </a:scheme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主讲人：电信</a:t>
            </a:r>
            <a:r>
              <a:rPr lang="en-US" altLang="zh-CN" sz="1600" b="0" i="0" u="none" strike="noStrike">
                <a:solidFill>
                  <a:schemeClr val="accent2">
                    <a:lumMod val="75000"/>
                  </a:scheme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241 </a:t>
            </a:r>
            <a:r>
              <a:rPr lang="zh-CN" altLang="en-US" sz="1600" b="0" i="0" u="none" strike="noStrike">
                <a:solidFill>
                  <a:schemeClr val="accent2">
                    <a:lumMod val="75000"/>
                  </a:scheme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刘欣语</a:t>
            </a:r>
            <a:endParaRPr lang="zh-CN" altLang="en-US" sz="1600" b="0" i="0" u="none" strike="noStrike">
              <a:solidFill>
                <a:schemeClr val="accent2">
                  <a:lumMod val="75000"/>
                </a:scheme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12074" r="1207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d16d106db0f521e5b9715bf5673ef23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70" y="2294890"/>
            <a:ext cx="11158220" cy="34245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982720" y="838835"/>
            <a:ext cx="4227195" cy="1261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400">
                <a:latin typeface="华文行楷" panose="02010800040101010101" charset="-122"/>
                <a:ea typeface="华文行楷" panose="02010800040101010101" charset="-122"/>
              </a:rPr>
              <a:t>《黄州寒食帖》</a:t>
            </a:r>
            <a:endParaRPr lang="zh-CN" altLang="en-US" sz="4400"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12074" r="1207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C1C1C"/>
                </a:solidFill>
                <a:latin typeface="方正小标宋"/>
                <a:ea typeface="方正小标宋"/>
                <a:cs typeface="方正小标宋"/>
                <a:sym typeface="方正小标宋"/>
              </a:rPr>
              <a:t>书法不只是“字”，更是“人”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5620" r="5620"/>
          <a:stretch>
            <a:fillRect/>
          </a:stretch>
        </p:blipFill>
        <p:spPr>
          <a:xfrm>
            <a:off x="762000" y="2032000"/>
            <a:ext cx="4572000" cy="3810000"/>
          </a:xfrm>
          <a:prstGeom prst="rect">
            <a:avLst/>
          </a:prstGeom>
          <a:noFill/>
          <a:ln w="12700" cap="flat" cmpd="sng">
            <a:solidFill>
              <a:srgbClr val="66615B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5842000" y="2153920"/>
            <a:ext cx="5893435" cy="19456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9A2A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▪</a:t>
            </a:r>
            <a:r>
              <a:rPr lang="en-US" sz="1500" b="0" i="0" u="none" strike="noStrike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书法不仅</a:t>
            </a:r>
            <a:r>
              <a:rPr lang="zh-CN" altLang="en-US" sz="1500" b="0" i="0" u="none" strike="noStrike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仅</a:t>
            </a:r>
            <a:r>
              <a:rPr lang="en-US" sz="1500" b="0" i="0" u="none" strike="noStrike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是技巧的展现，更是创作者性格、当下处境与心境的投射。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9A2A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▪</a:t>
            </a:r>
            <a:r>
              <a:rPr lang="en-US" sz="1500" b="0" i="0" u="none" strike="noStrike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《黄州寒食帖》是苏轼贬谪生涯中，关于人生失意的真情记录。</a:t>
            </a:r>
            <a:endParaRPr lang="en-US" sz="1500" b="0" i="0" u="none" strike="noStrike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9A2A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▪</a:t>
            </a:r>
            <a:r>
              <a:rPr lang="en-US" sz="1500" b="0" i="0" u="none" strike="noStrike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它最打动人的</a:t>
            </a:r>
            <a:r>
              <a:rPr lang="zh-CN" altLang="en-US" sz="1500" b="0" i="0" u="none" strike="noStrike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地方在于</a:t>
            </a:r>
            <a:r>
              <a:rPr lang="en-US" sz="1500" b="0" i="0" u="none" strike="noStrike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笔法看似不规整，却流露</a:t>
            </a:r>
            <a:r>
              <a:rPr lang="en-US" sz="1500" b="1" i="0" u="none" strike="noStrike">
                <a:solidFill>
                  <a:srgbClr val="9A2A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真实</a:t>
            </a:r>
            <a:r>
              <a:rPr lang="en-US" sz="1500" b="0" i="0" u="none" strike="noStrike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；章法未必平稳，却蕴藏</a:t>
            </a:r>
            <a:r>
              <a:rPr lang="en-US" sz="1500" b="1" i="0" u="none" strike="noStrike">
                <a:solidFill>
                  <a:srgbClr val="9A2A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生命的力量</a:t>
            </a:r>
            <a:r>
              <a:rPr lang="en-US" sz="1500" b="0" i="0" u="none" strike="noStrike">
                <a:solidFill>
                  <a:srgbClr val="3C37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。</a:t>
            </a:r>
            <a:endParaRPr lang="en-US" sz="1500" b="0" i="0" u="none" strike="noStrike">
              <a:solidFill>
                <a:srgbClr val="3C3732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842000" y="4353560"/>
            <a:ext cx="6202680" cy="1137920"/>
          </a:xfrm>
          <a:prstGeom prst="roundRect">
            <a:avLst>
              <a:gd name="adj" fmla="val 11111"/>
            </a:avLst>
          </a:prstGeom>
          <a:solidFill>
            <a:srgbClr val="9A2A2A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969000" y="4582160"/>
            <a:ext cx="5920105" cy="7588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A232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“《黄州寒食帖》的美，不在完美，而在真实。”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 l="12074" r="1207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71717"/>
                </a:solidFill>
                <a:latin typeface="方正小标宋"/>
                <a:ea typeface="方正小标宋"/>
                <a:cs typeface="方正小标宋"/>
                <a:sym typeface="方正小标宋"/>
              </a:rPr>
              <a:t>从乌台诗案到黄州贬谪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3"/>
            </p:custDataLst>
          </p:nvPr>
        </p:nvSpPr>
        <p:spPr>
          <a:xfrm>
            <a:off x="762000" y="1778000"/>
            <a:ext cx="2476500" cy="1016000"/>
          </a:xfrm>
          <a:prstGeom prst="roundRect">
            <a:avLst>
              <a:gd name="adj" fmla="val 10000"/>
            </a:avLst>
          </a:prstGeom>
          <a:solidFill>
            <a:srgbClr val="EDE9E0">
              <a:alpha val="100000"/>
            </a:srgbClr>
          </a:solidFill>
          <a:ln w="12700" cap="flat" cmpd="sng">
            <a:solidFill>
              <a:srgbClr val="A62A2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4"/>
            </p:custDataLst>
          </p:nvPr>
        </p:nvSpPr>
        <p:spPr>
          <a:xfrm>
            <a:off x="762000" y="1930400"/>
            <a:ext cx="24765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7171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乌台诗案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人生剧变</a:t>
            </a:r>
            <a:endParaRPr lang="en-US" sz="1200" b="0" i="0" u="none" strike="noStrike">
              <a:solidFill>
                <a:srgbClr val="5A5A5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3492500" y="1778000"/>
            <a:ext cx="2476500" cy="1016000"/>
          </a:xfrm>
          <a:prstGeom prst="roundRect">
            <a:avLst>
              <a:gd name="adj" fmla="val 10000"/>
            </a:avLst>
          </a:prstGeom>
          <a:solidFill>
            <a:srgbClr val="EDE9E0">
              <a:alpha val="100000"/>
            </a:srgbClr>
          </a:solidFill>
          <a:ln w="12700" cap="flat" cmpd="sng">
            <a:solidFill>
              <a:srgbClr val="A62A2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3492500" y="1930400"/>
            <a:ext cx="24765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7171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贬谪黄州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有名无实</a:t>
            </a:r>
            <a:endParaRPr lang="en-US" sz="1200" b="0" i="0" u="none" strike="noStrike">
              <a:solidFill>
                <a:srgbClr val="5A5A5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6223000" y="1778000"/>
            <a:ext cx="2476500" cy="1016000"/>
          </a:xfrm>
          <a:prstGeom prst="roundRect">
            <a:avLst>
              <a:gd name="adj" fmla="val 10000"/>
            </a:avLst>
          </a:prstGeom>
          <a:solidFill>
            <a:srgbClr val="EDE9E0">
              <a:alpha val="100000"/>
            </a:srgbClr>
          </a:solidFill>
          <a:ln w="12700" cap="flat" cmpd="sng">
            <a:solidFill>
              <a:srgbClr val="A62A2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6223000" y="1930400"/>
            <a:ext cx="24765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7171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寒食作诗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触景生情 </a:t>
            </a:r>
            <a:endParaRPr lang="en-US" sz="1200" b="0" i="0" u="none" strike="noStrike">
              <a:solidFill>
                <a:srgbClr val="5A5A5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8953500" y="1778000"/>
            <a:ext cx="2476500" cy="1016000"/>
          </a:xfrm>
          <a:prstGeom prst="roundRect">
            <a:avLst>
              <a:gd name="adj" fmla="val 10000"/>
            </a:avLst>
          </a:prstGeom>
          <a:solidFill>
            <a:srgbClr val="EDE9E0">
              <a:alpha val="100000"/>
            </a:srgbClr>
          </a:solidFill>
          <a:ln w="12700" cap="flat" cmpd="sng">
            <a:solidFill>
              <a:srgbClr val="A62A2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8953500" y="1930400"/>
            <a:ext cx="24765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7171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书写成帖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天下第三行书</a:t>
            </a:r>
            <a:endParaRPr lang="en-US" sz="1200" b="0" i="0" u="none" strike="noStrike">
              <a:solidFill>
                <a:srgbClr val="5A5A5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3302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2CDC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3492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7171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落寞处境：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因“乌台诗案”险些丧命，最终被贬为黄州团练副使，且被规定“不得签署公事”，名为官员，实则近乎流放。此时的他，既远离了汴京的朝堂中心，也隔绝了昔日的故友亲朋，更不得不暂别“致君尧舜”的政治理想。</a:t>
            </a:r>
            <a:endParaRPr lang="en-US" sz="1300" b="0" i="0" u="none" strike="noStrike">
              <a:solidFill>
                <a:srgbClr val="374151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3302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2CDC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77000" y="3492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7171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寒食心境：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在黄州的第三个寒食节，阴雨连绵，空庖寒菜，破灶湿苇。节日的清冷与生活的困窘交织，触发起他对自我命运与人生无常的深沉感叹。那首流传千古的诗，便是在这样百感交集的时刻一气呵成。</a:t>
            </a:r>
            <a:endParaRPr lang="en-US" sz="1300" b="0" i="0" u="none" strike="noStrike">
              <a:solidFill>
                <a:srgbClr val="374151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2070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1" u="none" strike="noStrike">
                <a:solidFill>
                  <a:srgbClr val="A62A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“自我来黄州，已过三寒食。”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5207000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5C48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黄州不是苏轼人生的终点，而是精神转折的起点。</a:t>
            </a:r>
            <a:endParaRPr lang="en-US" sz="1700" b="1" i="0" u="none" strike="noStrike">
              <a:solidFill>
                <a:srgbClr val="5C483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20" name="右箭头 19"/>
          <p:cNvSpPr/>
          <p:nvPr>
            <p:custDataLst>
              <p:tags r:id="rId11"/>
            </p:custDataLst>
          </p:nvPr>
        </p:nvSpPr>
        <p:spPr>
          <a:xfrm>
            <a:off x="2983865" y="2169160"/>
            <a:ext cx="829310" cy="32766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rgbClr val="E2C3B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EDE9E0"/>
              </a:solidFill>
            </a:endParaRPr>
          </a:p>
        </p:txBody>
      </p:sp>
      <p:sp>
        <p:nvSpPr>
          <p:cNvPr id="21" name="右箭头 20"/>
          <p:cNvSpPr/>
          <p:nvPr>
            <p:custDataLst>
              <p:tags r:id="rId12"/>
            </p:custDataLst>
          </p:nvPr>
        </p:nvSpPr>
        <p:spPr>
          <a:xfrm>
            <a:off x="5715000" y="2169160"/>
            <a:ext cx="829310" cy="32766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rgbClr val="E2C3B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EDE9E0"/>
              </a:solidFill>
            </a:endParaRPr>
          </a:p>
        </p:txBody>
      </p:sp>
      <p:sp>
        <p:nvSpPr>
          <p:cNvPr id="22" name="右箭头 21"/>
          <p:cNvSpPr/>
          <p:nvPr>
            <p:custDataLst>
              <p:tags r:id="rId13"/>
            </p:custDataLst>
          </p:nvPr>
        </p:nvSpPr>
        <p:spPr>
          <a:xfrm>
            <a:off x="8446135" y="2169160"/>
            <a:ext cx="829310" cy="32766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rgbClr val="E2C3B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EDE9E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 l="12074" r="1207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329"/>
                </a:solidFill>
                <a:latin typeface="方正小标宋"/>
                <a:ea typeface="方正小标宋"/>
                <a:cs typeface="方正小标宋"/>
                <a:sym typeface="方正小标宋"/>
              </a:rPr>
              <a:t>不平稳的字形，正对应不平静的心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6390" r="6390"/>
          <a:stretch>
            <a:fillRect/>
          </a:stretch>
        </p:blipFill>
        <p:spPr>
          <a:xfrm>
            <a:off x="762000" y="1905000"/>
            <a:ext cx="4826000" cy="4064000"/>
          </a:xfrm>
          <a:prstGeom prst="rect">
            <a:avLst/>
          </a:prstGeom>
          <a:noFill/>
          <a:ln w="25400" cap="flat" cmpd="sng">
            <a:solidFill>
              <a:srgbClr val="8B6D5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6096000" y="173736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400" b="1" i="0" u="none" strike="noStrike">
                <a:solidFill>
                  <a:srgbClr val="8C1B2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它不是“写乱了”，而是情绪在笔下自然展开。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0" y="3093720"/>
            <a:ext cx="5333365" cy="2962275"/>
          </a:xfrm>
          <a:prstGeom prst="roundRect">
            <a:avLst>
              <a:gd name="adj" fmla="val 0"/>
            </a:avLst>
          </a:prstGeom>
          <a:solidFill>
            <a:srgbClr val="EBE6D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223000" y="3197860"/>
            <a:ext cx="5026660" cy="26168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457200" algn="l">
              <a:lnSpc>
                <a:spcPct val="108000"/>
              </a:lnSpc>
              <a:spcBef>
                <a:spcPts val="800"/>
              </a:spcBef>
            </a:pPr>
            <a:r>
              <a:rPr lang="zh-CN" altLang="en-US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有人认为《黄州寒食帖》</a:t>
            </a:r>
            <a:r>
              <a:rPr lang="en-US" altLang="zh-CN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</a:t>
            </a:r>
            <a:r>
              <a:rPr lang="zh-CN" altLang="en-US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丑</a:t>
            </a:r>
            <a:r>
              <a:rPr lang="en-US" altLang="zh-CN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”</a:t>
            </a:r>
            <a:r>
              <a:rPr lang="zh-CN" altLang="en-US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、</a:t>
            </a:r>
            <a:r>
              <a:rPr lang="en-US" altLang="zh-CN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</a:t>
            </a:r>
            <a:r>
              <a:rPr lang="zh-CN" altLang="en-US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乱</a:t>
            </a:r>
            <a:r>
              <a:rPr lang="en-US" altLang="zh-CN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”</a:t>
            </a:r>
            <a:r>
              <a:rPr lang="zh-CN" altLang="en-US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，但恰恰是这种</a:t>
            </a:r>
            <a:r>
              <a:rPr lang="en-US" altLang="zh-CN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</a:t>
            </a:r>
            <a:r>
              <a:rPr lang="zh-CN" altLang="en-US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丑</a:t>
            </a:r>
            <a:r>
              <a:rPr lang="en-US" altLang="zh-CN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”</a:t>
            </a:r>
            <a:r>
              <a:rPr lang="zh-CN" altLang="en-US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和</a:t>
            </a:r>
            <a:r>
              <a:rPr lang="en-US" altLang="zh-CN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</a:t>
            </a:r>
            <a:r>
              <a:rPr lang="zh-CN" altLang="en-US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乱</a:t>
            </a:r>
            <a:r>
              <a:rPr lang="en-US" altLang="zh-CN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”</a:t>
            </a:r>
            <a:r>
              <a:rPr lang="zh-CN" altLang="en-US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更让人能深切感受到苏轼内心的</a:t>
            </a:r>
            <a:r>
              <a:rPr lang="zh-CN" altLang="en-US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挣扎。</a:t>
            </a:r>
            <a:endParaRPr lang="zh-CN" altLang="en-US" sz="1700" b="1" i="0" u="none" strike="noStrike">
              <a:solidFill>
                <a:srgbClr val="1F2329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indent="457200" algn="l">
              <a:lnSpc>
                <a:spcPct val="108000"/>
              </a:lnSpc>
              <a:spcBef>
                <a:spcPts val="800"/>
              </a:spcBef>
            </a:pPr>
            <a:r>
              <a:rPr lang="zh-CN" altLang="en-US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这幅字与苏轼</a:t>
            </a:r>
            <a:r>
              <a:rPr lang="zh-CN" altLang="en-US" sz="1700" b="1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以往</a:t>
            </a:r>
            <a:r>
              <a:rPr lang="zh-CN" altLang="en-US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的字都不一样，它用略显潦草而富有变化感的笔触更生动</a:t>
            </a:r>
            <a:r>
              <a:rPr lang="zh-CN" altLang="en-US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地体现出苏轼内心的失意与自我排解后的</a:t>
            </a:r>
            <a:r>
              <a:rPr lang="zh-CN" altLang="en-US" sz="1700" b="1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旷达。</a:t>
            </a:r>
            <a:endParaRPr lang="zh-CN" altLang="en-US" sz="1700" b="1" i="0" u="none" strike="noStrike">
              <a:solidFill>
                <a:srgbClr val="1F2329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 l="11986" r="11986"/>
          <a:stretch>
            <a:fillRect/>
          </a:stretch>
        </p:blipFill>
        <p:spPr>
          <a:xfrm>
            <a:off x="0" y="0"/>
            <a:ext cx="12221210" cy="68580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1A1A"/>
                </a:solidFill>
                <a:latin typeface="方正小标宋"/>
                <a:ea typeface="方正小标宋"/>
                <a:cs typeface="方正小标宋"/>
                <a:sym typeface="方正小标宋"/>
              </a:rPr>
              <a:t>浓淡枯润之间：情绪的层次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6" r="106"/>
          <a:stretch>
            <a:fillRect/>
          </a:stretch>
        </p:blipFill>
        <p:spPr>
          <a:xfrm>
            <a:off x="762000" y="1778000"/>
            <a:ext cx="4572000" cy="3302000"/>
          </a:xfrm>
          <a:prstGeom prst="rect">
            <a:avLst/>
          </a:prstGeom>
          <a:noFill/>
          <a:ln w="12700" cap="flat" cmpd="sng">
            <a:solidFill>
              <a:srgbClr val="A08C78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762000" y="5334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644B3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《黄州寒食帖》（局部） · 墨迹赏析</a:t>
            </a:r>
            <a:endParaRPr lang="en-US" sz="1100"/>
          </a:p>
          <a:p>
            <a:pPr indent="0" algn="ctr">
              <a:lnSpc>
                <a:spcPct val="125000"/>
              </a:lnSpc>
            </a:pPr>
            <a:endParaRPr lang="en-US" sz="1400" b="0" i="0" u="none" strike="noStrike">
              <a:solidFill>
                <a:srgbClr val="785F4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5842000" y="1778000"/>
            <a:ext cx="2997200" cy="2199640"/>
          </a:xfrm>
          <a:prstGeom prst="roundRect">
            <a:avLst>
              <a:gd name="adj" fmla="val 4137"/>
            </a:avLst>
          </a:prstGeom>
          <a:solidFill>
            <a:srgbClr val="EEE9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6032500" y="1968500"/>
            <a:ext cx="2578735" cy="17443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8C1A1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浓墨沉郁</a:t>
            </a:r>
            <a:endParaRPr lang="en-US" sz="12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rgbClr val="2D2D2D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笔触厚重，墨色浓郁，给人以压抑、沉重之感。恰似诗人心中郁结难舒的愤懑与愁绪，力透纸背。</a:t>
            </a:r>
            <a:endParaRPr lang="en-US" b="0" i="0" u="none" strike="noStrike">
              <a:solidFill>
                <a:srgbClr val="2D2D2D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8763000" y="1778000"/>
            <a:ext cx="2997200" cy="2199640"/>
          </a:xfrm>
          <a:prstGeom prst="roundRect">
            <a:avLst>
              <a:gd name="adj" fmla="val 4137"/>
            </a:avLst>
          </a:prstGeom>
          <a:solidFill>
            <a:srgbClr val="EEE9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8953500" y="1968500"/>
            <a:ext cx="2578735" cy="17443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8C1A1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淡墨空寂</a:t>
            </a:r>
            <a:endParaRPr lang="en-US" sz="12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rgbClr val="2D2D2D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墨色轻淡，笔触疏离，营造出一种清冷与空寂的氛围。是诗人对眼前凄凉处境的客观观照与抽离。</a:t>
            </a:r>
            <a:endParaRPr lang="en-US" b="0" i="0" u="none" strike="noStrike">
              <a:solidFill>
                <a:srgbClr val="2D2D2D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5842000" y="3810000"/>
            <a:ext cx="2997200" cy="2199640"/>
          </a:xfrm>
          <a:prstGeom prst="roundRect">
            <a:avLst>
              <a:gd name="adj" fmla="val 4137"/>
            </a:avLst>
          </a:prstGeom>
          <a:solidFill>
            <a:srgbClr val="EEE9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032500" y="4000500"/>
            <a:ext cx="2578735" cy="17443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8C1A1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枯笔苍凉</a:t>
            </a:r>
            <a:endParaRPr lang="en-US" sz="12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rgbClr val="2D2D2D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笔画干涩，飞白明显，如秋日枯树，传递出人生的苍凉与命运的坎坷，是心境最真实的外化。</a:t>
            </a:r>
            <a:endParaRPr lang="en-US" b="0" i="0" u="none" strike="noStrike">
              <a:solidFill>
                <a:srgbClr val="2D2D2D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8763000" y="3810000"/>
            <a:ext cx="2997200" cy="2199640"/>
          </a:xfrm>
          <a:prstGeom prst="roundRect">
            <a:avLst>
              <a:gd name="adj" fmla="val 4137"/>
            </a:avLst>
          </a:prstGeom>
          <a:solidFill>
            <a:srgbClr val="EEE9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8953500" y="4000500"/>
            <a:ext cx="2578735" cy="17443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8C1A1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润笔生机</a:t>
            </a:r>
            <a:endParaRPr lang="en-US" sz="12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rgbClr val="2D2D2D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行笔流畅，墨色滋润，气息在字里行间流动。即便身处逆境，仍可见生命韧性与旷达气度。</a:t>
            </a:r>
            <a:endParaRPr lang="en-US" b="0" i="0" u="none" strike="noStrike">
              <a:solidFill>
                <a:srgbClr val="2D2D2D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12074" r="1207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12121"/>
                </a:solidFill>
                <a:latin typeface="方正小标宋"/>
                <a:ea typeface="方正小标宋"/>
                <a:cs typeface="方正小标宋"/>
                <a:sym typeface="方正小标宋"/>
              </a:rPr>
              <a:t>失意是真实处境，旷达是精神回应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5207000" cy="3048000"/>
          </a:xfrm>
          <a:prstGeom prst="roundRect">
            <a:avLst>
              <a:gd name="adj" fmla="val 5000"/>
            </a:avLst>
          </a:prstGeom>
          <a:solidFill>
            <a:schemeClr val="tx2">
              <a:lumMod val="5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3"/>
            </p:custDataLst>
          </p:nvPr>
        </p:nvSpPr>
        <p:spPr>
          <a:xfrm>
            <a:off x="952500" y="2159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失意 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4"/>
            </p:custDataLst>
          </p:nvPr>
        </p:nvSpPr>
        <p:spPr>
          <a:xfrm>
            <a:off x="952500" y="30226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被贬黄州</a:t>
            </a:r>
            <a:r>
              <a:rPr lang="zh-CN" altLang="en-US" sz="1800" b="0" i="0" u="none" strike="noStrike">
                <a:solidFill>
                  <a:srgbClr val="E5E7E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、</a:t>
            </a:r>
            <a:r>
              <a:rPr lang="en-US" sz="1800" b="0" i="0" u="none" strike="noStrike">
                <a:solidFill>
                  <a:srgbClr val="E5E7E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理想受挫</a:t>
            </a:r>
            <a:r>
              <a:rPr lang="zh-CN" altLang="en-US" sz="1800" b="0" i="0" u="none" strike="noStrike">
                <a:solidFill>
                  <a:srgbClr val="E5E7E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、</a:t>
            </a:r>
            <a:r>
              <a:rPr lang="en-US" sz="1800" b="0" i="0" u="none" strike="noStrike">
                <a:solidFill>
                  <a:srgbClr val="E5E7E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身世漂泊 </a:t>
            </a:r>
            <a:r>
              <a:rPr lang="zh-CN" altLang="en-US" sz="1800" b="0" i="0" u="none" strike="noStrike">
                <a:solidFill>
                  <a:srgbClr val="E5E7E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、</a:t>
            </a:r>
            <a:r>
              <a:rPr lang="en-US" sz="1800" b="0" i="0" u="none" strike="noStrike">
                <a:solidFill>
                  <a:srgbClr val="E5E7E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心境压抑</a:t>
            </a:r>
            <a:endParaRPr lang="en-US" sz="1200"/>
          </a:p>
          <a:p>
            <a:pPr indent="0" algn="ctr">
              <a:lnSpc>
                <a:spcPct val="125000"/>
              </a:lnSpc>
              <a:spcBef>
                <a:spcPts val="1000"/>
              </a:spcBef>
            </a:pPr>
            <a:r>
              <a:rPr lang="en-US" b="0" i="0" u="none" strike="noStrike">
                <a:solidFill>
                  <a:srgbClr val="00206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人生低谷的困顿与迷茫，是生命无法回避的真实处境</a:t>
            </a:r>
            <a:endParaRPr lang="en-US" b="0" i="0" u="none" strike="noStrike">
              <a:solidFill>
                <a:srgbClr val="00206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6223000" y="1905000"/>
            <a:ext cx="5207000" cy="3048000"/>
          </a:xfrm>
          <a:prstGeom prst="roundRect">
            <a:avLst>
              <a:gd name="adj" fmla="val 5000"/>
            </a:avLst>
          </a:prstGeom>
          <a:solidFill>
            <a:srgbClr val="F9EDED">
              <a:alpha val="100000"/>
            </a:srgbClr>
          </a:solidFill>
          <a:ln w="12700" cap="flat" cmpd="sng">
            <a:solidFill>
              <a:srgbClr val="B4323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6413500" y="2159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A8202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旷达 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6413500" y="30226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未彻底沉沦</a:t>
            </a:r>
            <a:r>
              <a:rPr lang="zh-CN" altLang="en-US" sz="1800" b="0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、</a:t>
            </a:r>
            <a:r>
              <a:rPr lang="en-US" sz="1800" b="0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重识自我</a:t>
            </a:r>
            <a:r>
              <a:rPr lang="zh-CN" altLang="en-US" sz="1800" b="0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、</a:t>
            </a:r>
            <a:r>
              <a:rPr lang="en-US" sz="1800" b="0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艺术创造</a:t>
            </a:r>
            <a:r>
              <a:rPr lang="zh-CN" altLang="en-US" sz="1800" b="0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、</a:t>
            </a:r>
            <a:r>
              <a:rPr lang="en-US" sz="1800" b="0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精神成熟</a:t>
            </a:r>
            <a:endParaRPr lang="en-US" sz="1200"/>
          </a:p>
          <a:p>
            <a:pPr indent="0" algn="ctr">
              <a:lnSpc>
                <a:spcPct val="125000"/>
              </a:lnSpc>
              <a:spcBef>
                <a:spcPts val="1000"/>
              </a:spcBef>
            </a:pPr>
            <a:r>
              <a:rPr lang="en-US" b="0" i="0" u="none" strike="noStrike">
                <a:solidFill>
                  <a:srgbClr val="6B728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在苦难中完成精神突围，将现实的痛感转化为生命的厚度</a:t>
            </a:r>
            <a:endParaRPr lang="en-US" b="0" i="0" u="none" strike="noStrike">
              <a:solidFill>
                <a:srgbClr val="6B728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0" y="533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A8202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 真正的旷达，不是没有痛苦，而是痛苦之后仍能安顿自己。”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12042" r="12042"/>
          <a:stretch>
            <a:fillRect/>
          </a:stretch>
        </p:blipFill>
        <p:spPr>
          <a:xfrm>
            <a:off x="0" y="0"/>
            <a:ext cx="12203430" cy="68580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A1A1A"/>
                </a:solidFill>
                <a:latin typeface="方正小标宋"/>
                <a:ea typeface="方正小标宋"/>
                <a:cs typeface="方正小标宋"/>
                <a:sym typeface="方正小标宋"/>
              </a:rPr>
              <a:t>从一件书法作品，看见一种人生姿态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8796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A8242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❖</a:t>
            </a:r>
            <a:r>
              <a:rPr lang="en-US" sz="2000" b="0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书法的价值不只在技巧，更在情感与精神。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0226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A8242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❖</a:t>
            </a:r>
            <a:r>
              <a:rPr lang="en-US" sz="2000" b="0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“不完美”反而成就了真实之美。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1656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A8242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❖</a:t>
            </a:r>
            <a:r>
              <a:rPr lang="en-US" sz="2000" b="0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低谷不一定是失败，也可能是重新认识自己的开始。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9863" b="9863"/>
          <a:stretch>
            <a:fillRect/>
          </a:stretch>
        </p:blipFill>
        <p:spPr>
          <a:xfrm>
            <a:off x="7366000" y="2032000"/>
            <a:ext cx="4064000" cy="2413000"/>
          </a:xfrm>
          <a:prstGeom prst="rect">
            <a:avLst/>
          </a:prstGeom>
          <a:noFill/>
          <a:ln w="25400" cap="flat" cmpd="sng">
            <a:solidFill>
              <a:srgbClr val="76685A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0" y="520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A8242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《黄州寒食帖》之所以</a:t>
            </a:r>
            <a:r>
              <a:rPr lang="zh-CN" altLang="en-US" sz="2200" b="1" i="0" u="none" strike="noStrike">
                <a:solidFill>
                  <a:srgbClr val="A8242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成为经典</a:t>
            </a:r>
            <a:r>
              <a:rPr lang="en-US" sz="2200" b="1" i="0" u="none" strike="noStrike">
                <a:solidFill>
                  <a:srgbClr val="A8242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，是因</a:t>
            </a:r>
            <a:r>
              <a:rPr lang="en-US" sz="2200" b="1" i="0" u="none" strike="noStrike">
                <a:solidFill>
                  <a:srgbClr val="A8242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为它写下的不只是字，更是一段人在困境中</a:t>
            </a:r>
            <a:r>
              <a:rPr lang="en-US" sz="2200" b="1" i="0" u="none" strike="noStrike">
                <a:solidFill>
                  <a:srgbClr val="D1A7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自我安顿</a:t>
            </a:r>
            <a:r>
              <a:rPr lang="en-US" sz="2200" b="1" i="0" u="none" strike="noStrike">
                <a:solidFill>
                  <a:srgbClr val="A8242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的过程。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12042" r="12042"/>
          <a:stretch>
            <a:fillRect/>
          </a:stretch>
        </p:blipFill>
        <p:spPr>
          <a:xfrm>
            <a:off x="0" y="0"/>
            <a:ext cx="12203430" cy="68580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000" b="1" i="0" u="none" strike="noStrike">
                <a:solidFill>
                  <a:srgbClr val="1A1A1A"/>
                </a:solidFill>
                <a:latin typeface="方正小标宋"/>
                <a:ea typeface="方正小标宋"/>
                <a:cs typeface="方正小标宋"/>
                <a:sym typeface="方正小标宋"/>
              </a:rPr>
              <a:t>临摹《</a:t>
            </a:r>
            <a:r>
              <a:rPr lang="zh-CN" altLang="en-US" sz="4000" b="1" i="0" u="none" strike="noStrike">
                <a:solidFill>
                  <a:srgbClr val="1A1A1A"/>
                </a:solidFill>
                <a:latin typeface="方正小标宋"/>
                <a:ea typeface="方正小标宋"/>
                <a:cs typeface="方正小标宋"/>
                <a:sym typeface="方正小标宋"/>
              </a:rPr>
              <a:t>黄州寒食帖》</a:t>
            </a:r>
            <a:endParaRPr lang="zh-CN" altLang="en-US" sz="4000" b="1" i="0" u="none" strike="noStrike">
              <a:solidFill>
                <a:srgbClr val="1A1A1A"/>
              </a:solidFill>
              <a:latin typeface="方正小标宋"/>
              <a:ea typeface="方正小标宋"/>
              <a:cs typeface="方正小标宋"/>
              <a:sym typeface="方正小标宋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25" y="2154555"/>
            <a:ext cx="4892040" cy="34651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b="9080"/>
          <a:stretch>
            <a:fillRect/>
          </a:stretch>
        </p:blipFill>
        <p:spPr>
          <a:xfrm>
            <a:off x="6250940" y="2154555"/>
            <a:ext cx="5083175" cy="3465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d16d106db0f521e5b9715bf5673ef23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267450" y="0"/>
            <a:ext cx="22345650" cy="6858000"/>
          </a:xfrm>
          <a:prstGeom prst="rect">
            <a:avLst/>
          </a:prstGeom>
        </p:spPr>
      </p:pic>
      <p:sp>
        <p:nvSpPr>
          <p:cNvPr id="1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7F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矩形 8"/>
          <p:cNvSpPr/>
          <p:nvPr/>
        </p:nvSpPr>
        <p:spPr>
          <a:xfrm>
            <a:off x="4168140" y="2829560"/>
            <a:ext cx="385572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D1A76B"/>
                </a:solidFill>
                <a:effectLst/>
              </a:rPr>
              <a:t>谢谢观看</a:t>
            </a:r>
            <a:endParaRPr lang="zh-CN" altLang="en-US" sz="7200" b="1">
              <a:ln w="22225">
                <a:solidFill>
                  <a:schemeClr val="accent2"/>
                </a:solidFill>
                <a:prstDash val="solid"/>
              </a:ln>
              <a:solidFill>
                <a:srgbClr val="D1A76B"/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90,&quot;left&quot;:60,&quot;top&quot;:140,&quot;width&quot;:840}"/>
</p:tagLst>
</file>

<file path=ppt/tags/tag2.xml><?xml version="1.0" encoding="utf-8"?>
<p:tagLst xmlns:p="http://schemas.openxmlformats.org/presentationml/2006/main">
  <p:tag name="KSO_WM_DIAGRAM_VIRTUALLY_FRAME" val="{&quot;height&quot;:90,&quot;left&quot;:60,&quot;top&quot;:140,&quot;width&quot;:840}"/>
</p:tagLst>
</file>

<file path=ppt/tags/tag3.xml><?xml version="1.0" encoding="utf-8"?>
<p:tagLst xmlns:p="http://schemas.openxmlformats.org/presentationml/2006/main">
  <p:tag name="KSO_WM_DIAGRAM_VIRTUALLY_FRAME" val="{&quot;height&quot;:90,&quot;left&quot;:60,&quot;top&quot;:140,&quot;width&quot;:840}"/>
</p:tagLst>
</file>

<file path=ppt/tags/tag4.xml><?xml version="1.0" encoding="utf-8"?>
<p:tagLst xmlns:p="http://schemas.openxmlformats.org/presentationml/2006/main">
  <p:tag name="KSO_WM_DIAGRAM_VIRTUALLY_FRAME" val="{&quot;height&quot;:90,&quot;left&quot;:60,&quot;top&quot;:140,&quot;width&quot;:840}"/>
</p:tagLst>
</file>

<file path=ppt/tags/tag5.xml><?xml version="1.0" encoding="utf-8"?>
<p:tagLst xmlns:p="http://schemas.openxmlformats.org/presentationml/2006/main">
  <p:tag name="KSO_WM_DIAGRAM_VIRTUALLY_FRAME" val="{&quot;height&quot;:90,&quot;left&quot;:60,&quot;top&quot;:140,&quot;width&quot;:840}"/>
</p:tagLst>
</file>

<file path=ppt/tags/tag6.xml><?xml version="1.0" encoding="utf-8"?>
<p:tagLst xmlns:p="http://schemas.openxmlformats.org/presentationml/2006/main">
  <p:tag name="KSO_WM_DIAGRAM_VIRTUALLY_FRAME" val="{&quot;height&quot;:90,&quot;left&quot;:60,&quot;top&quot;:140,&quot;width&quot;:840}"/>
</p:tagLst>
</file>

<file path=ppt/tags/tag7.xml><?xml version="1.0" encoding="utf-8"?>
<p:tagLst xmlns:p="http://schemas.openxmlformats.org/presentationml/2006/main">
  <p:tag name="KSO_WM_DIAGRAM_VIRTUALLY_FRAME" val="{&quot;height&quot;:90,&quot;left&quot;:60,&quot;top&quot;:140,&quot;width&quot;:840}"/>
</p:tagLst>
</file>

<file path=ppt/tags/tag8.xml><?xml version="1.0" encoding="utf-8"?>
<p:tagLst xmlns:p="http://schemas.openxmlformats.org/presentationml/2006/main">
  <p:tag name="KSO_WM_DIAGRAM_VIRTUALLY_FRAME" val="{&quot;height&quot;:90,&quot;left&quot;:60,&quot;top&quot;:140,&quot;width&quot;:840}"/>
</p:tagLst>
</file>

<file path=ppt/tags/tag9.xml><?xml version="1.0" encoding="utf-8"?>
<p:tagLst xmlns:p="http://schemas.openxmlformats.org/presentationml/2006/main">
  <p:tag name="KSO_WM_DIAGRAM_VIRTUALLY_FRAME" val="{&quot;height&quot;:90,&quot;left&quot;:60,&quot;top&quot;:140,&quot;width&quot;:840}"/>
</p:tagLst>
</file>

<file path=ppt/tags/tag10.xml><?xml version="1.0" encoding="utf-8"?>
<p:tagLst xmlns:p="http://schemas.openxmlformats.org/presentationml/2006/main">
  <p:tag name="KSO_WM_DIAGRAM_VIRTUALLY_FRAME" val="{&quot;height&quot;:90,&quot;left&quot;:60,&quot;top&quot;:140,&quot;width&quot;:840}"/>
</p:tagLst>
</file>

<file path=ppt/tags/tag11.xml><?xml version="1.0" encoding="utf-8"?>
<p:tagLst xmlns:p="http://schemas.openxmlformats.org/presentationml/2006/main">
  <p:tag name="KSO_WM_DIAGRAM_VIRTUALLY_FRAME" val="{&quot;height&quot;:90,&quot;left&quot;:60,&quot;top&quot;:140,&quot;width&quot;:840}"/>
</p:tagLst>
</file>

<file path=ppt/tags/tag12.xml><?xml version="1.0" encoding="utf-8"?>
<p:tagLst xmlns:p="http://schemas.openxmlformats.org/presentationml/2006/main">
  <p:tag name="KSO_WM_DIAGRAM_VIRTUALLY_FRAME" val="{&quot;height&quot;:90,&quot;left&quot;:60,&quot;top&quot;:140,&quot;width&quot;:840}"/>
</p:tagLst>
</file>

<file path=ppt/tags/tag13.xml><?xml version="1.0" encoding="utf-8"?>
<p:tagLst xmlns:p="http://schemas.openxmlformats.org/presentationml/2006/main">
  <p:tag name="KSO_WM_DIAGRAM_VIRTUALLY_FRAME" val="{&quot;height&quot;:333.2,&quot;left&quot;:460,&quot;top&quot;:140,&quot;width&quot;:466}"/>
</p:tagLst>
</file>

<file path=ppt/tags/tag14.xml><?xml version="1.0" encoding="utf-8"?>
<p:tagLst xmlns:p="http://schemas.openxmlformats.org/presentationml/2006/main">
  <p:tag name="KSO_WM_DIAGRAM_VIRTUALLY_FRAME" val="{&quot;height&quot;:333.2,&quot;left&quot;:460,&quot;top&quot;:140,&quot;width&quot;:466}"/>
</p:tagLst>
</file>

<file path=ppt/tags/tag15.xml><?xml version="1.0" encoding="utf-8"?>
<p:tagLst xmlns:p="http://schemas.openxmlformats.org/presentationml/2006/main">
  <p:tag name="KSO_WM_DIAGRAM_VIRTUALLY_FRAME" val="{&quot;height&quot;:333.2,&quot;left&quot;:460,&quot;top&quot;:140,&quot;width&quot;:466}"/>
</p:tagLst>
</file>

<file path=ppt/tags/tag16.xml><?xml version="1.0" encoding="utf-8"?>
<p:tagLst xmlns:p="http://schemas.openxmlformats.org/presentationml/2006/main">
  <p:tag name="KSO_WM_DIAGRAM_VIRTUALLY_FRAME" val="{&quot;height&quot;:333.2,&quot;left&quot;:460,&quot;top&quot;:140,&quot;width&quot;:466}"/>
</p:tagLst>
</file>

<file path=ppt/tags/tag17.xml><?xml version="1.0" encoding="utf-8"?>
<p:tagLst xmlns:p="http://schemas.openxmlformats.org/presentationml/2006/main">
  <p:tag name="KSO_WM_DIAGRAM_VIRTUALLY_FRAME" val="{&quot;height&quot;:333.2,&quot;left&quot;:460,&quot;top&quot;:140,&quot;width&quot;:466}"/>
</p:tagLst>
</file>

<file path=ppt/tags/tag18.xml><?xml version="1.0" encoding="utf-8"?>
<p:tagLst xmlns:p="http://schemas.openxmlformats.org/presentationml/2006/main">
  <p:tag name="KSO_WM_DIAGRAM_VIRTUALLY_FRAME" val="{&quot;height&quot;:333.2,&quot;left&quot;:460,&quot;top&quot;:140,&quot;width&quot;:466}"/>
</p:tagLst>
</file>

<file path=ppt/tags/tag19.xml><?xml version="1.0" encoding="utf-8"?>
<p:tagLst xmlns:p="http://schemas.openxmlformats.org/presentationml/2006/main">
  <p:tag name="KSO_WM_DIAGRAM_VIRTUALLY_FRAME" val="{&quot;height&quot;:333.2,&quot;left&quot;:460,&quot;top&quot;:140,&quot;width&quot;:466}"/>
</p:tagLst>
</file>

<file path=ppt/tags/tag20.xml><?xml version="1.0" encoding="utf-8"?>
<p:tagLst xmlns:p="http://schemas.openxmlformats.org/presentationml/2006/main">
  <p:tag name="KSO_WM_DIAGRAM_VIRTUALLY_FRAME" val="{&quot;height&quot;:333.2,&quot;left&quot;:460,&quot;top&quot;:140,&quot;width&quot;:466}"/>
</p:tagLst>
</file>

<file path=ppt/tags/tag21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22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23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24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25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ags/tag26.xml><?xml version="1.0" encoding="utf-8"?>
<p:tagLst xmlns:p="http://schemas.openxmlformats.org/presentationml/2006/main">
  <p:tag name="KSO_WM_DIAGRAM_VIRTUALLY_FRAME" val="{&quot;height&quot;:240,&quot;left&quot;:60,&quot;top&quot;:15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1081</Words>
  <Application>WPS 演示</Application>
  <PresentationFormat/>
  <Paragraphs>92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Arial</vt:lpstr>
      <vt:lpstr>方正小标宋</vt:lpstr>
      <vt:lpstr>Noto Serif SC</vt:lpstr>
      <vt:lpstr>华文行楷</vt:lpstr>
      <vt:lpstr>微软雅黑</vt:lpstr>
      <vt:lpstr>Arial Unicode MS</vt:lpstr>
      <vt:lpstr>方正小标宋</vt:lpstr>
      <vt:lpstr>方正小标宋简体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刘欣语</cp:lastModifiedBy>
  <cp:revision>6</cp:revision>
  <dcterms:created xsi:type="dcterms:W3CDTF">2026-05-14T08:11:00Z</dcterms:created>
  <dcterms:modified xsi:type="dcterms:W3CDTF">2026-05-19T12:15:00Z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83F06B11E37A410493244003E9476FB7_12</vt:lpwstr>
  </property>
</Properties>
</file>