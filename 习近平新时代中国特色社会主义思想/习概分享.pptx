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944AB-DC71-7B84-B7EE-F0A6693CF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020F1E-0AC9-2A6C-1E65-F69E05694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C87D2C-D308-8C7D-195D-54DD942D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65454-F63F-6F75-4A9C-481ADC31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550D08-D091-EC15-E4A2-6CE8218E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9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3542F-3BC2-B40B-F183-19109720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24244-8021-8D42-A3B5-B3A09821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183B18-B4FB-4680-3A62-8E04C41B7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CF585-456B-6A36-4F91-2E795AEAE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F6C4BF-82D3-1774-16A1-206FC39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24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779BE-7029-95C0-B8EC-BBDEF577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6BEC6-0CD5-86EC-6B34-2727B1138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078A28-35EC-826E-40C7-B4B0B300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35432D-08D1-EE70-B169-E9FF3FF1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9360D-CB81-C0F4-8B00-A8C9C0C1E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65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B1D96-4DEB-8AD6-C900-1590411F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9DA666-14CF-35B2-011C-0207E99CD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917D75-EB5C-C2E9-8853-0DB649A79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3869A9-B0DA-56E8-0784-554F2A47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B1D319-9020-6013-7B91-AD30D491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1FC707-110D-DF39-96E3-407EAD4A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40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ABC85-F79D-E367-8147-20973EF3B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72FCB6-799D-D764-BE59-54A954D7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5CFF2E-0C10-0756-FA2B-58BA96DED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E399F3-8E9D-CB84-3790-42D950043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CD9E86-4E13-EFC7-692A-79200047E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3A5D6B-18D3-A822-68CE-7AA3E84F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E5CD25-07F9-3E85-0B97-97291A5A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9BF185-C972-9BD7-DE94-567434F9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07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FF4A7-70D1-FB6F-2FBA-32C66E80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1FEF8B-293D-80E2-7C28-C186A3F54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7D7341-D76B-9DB2-6766-A9C1C6CF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DC74FB-2D76-98EA-F768-FA87A8BF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22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31051F-C5ED-4EF7-F9B8-B1193622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B319C8-3AA3-8DE1-2489-0DAEE198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A73D83-46C4-0425-4EE4-F2ED66E3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71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5C5A5-06EE-9F50-D4E1-1B5CCD7A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992216-6140-8A05-E6DE-CE22BD1DD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858FB4-E2C6-7440-4CF3-57F6A9D0F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D8AA1E-48A5-A802-0729-4B2C2A6B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C20467-8EC5-1FF6-605F-65194045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41AD86-A303-E884-C07A-B24D1A13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0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2D0DD-F118-18D3-FFED-269BCF14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E266E2-DA1F-2215-147D-62C6F8F52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FAA218-394F-5BDF-76F1-C59AA9F66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6C6FC1-DE1E-80F4-DDD6-973AA9E4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BFC74B-CA38-A356-BFEE-50E4A765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C4D696-07B8-1F3C-1CB6-ACFF22BB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43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373DA-556A-9190-B083-3F232AAC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3D0E53-CB7E-C10F-1A58-5D9FE6DAA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B471AA-70B1-B6C7-0F41-84539D35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6413E1-AEEE-1205-03A9-A1ABA2D0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FD8F68-D632-5C2E-2F6C-973036E3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13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E7D832-072C-55C0-6018-28C457E23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5364F5-13C5-099B-99E5-69A77880F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9B204-22B7-3E66-6489-7B98457F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3D8DCF-6AE5-D4E9-34DF-470D6F01F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F4203-FA0E-1DE4-ED5C-0223FA7D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78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177A42-4DE2-BF6E-9737-68ED2A53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50D39E-D706-DAC0-D9D4-38718D784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FE8F1-7F0F-3D6B-3021-6D4CE5589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A356D-B502-4ECD-8DCE-721C7CA007F5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2F55D6-53A1-4341-4780-FD8E5F891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814AA7-BB50-F170-6C84-5F17B961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A40A4-CFC6-4DE5-9912-23C84F4FB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06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CFEAD-94E1-C4AB-0A94-52465FCC2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习思想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118301-B32F-B326-6C6C-B26BC65AD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/>
              <a:t>——</a:t>
            </a:r>
            <a:r>
              <a:rPr lang="zh-CN" altLang="en-US" dirty="0"/>
              <a:t>期末复习分享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143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659D1-3C99-1778-B374-F0E2F9E6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导论（总览）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D2D3B20-D0D2-7923-8379-49E5216B7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69" y="1656967"/>
            <a:ext cx="3485867" cy="536673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C76F60EC-55B5-4237-2047-FA6E3487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924" y="1442176"/>
            <a:ext cx="3686714" cy="5630617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62C415D-68F8-E0D7-1FF2-11BC509CF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213" y="447994"/>
            <a:ext cx="4417671" cy="628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4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32F213-798F-B773-273D-F8C88B68A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48" y="170443"/>
            <a:ext cx="5298052" cy="6447919"/>
          </a:xfr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altLang="zh-CN" sz="1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1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习近平新时代中国特色社会主义思想回答了什么重大课题？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）新时代坚持和发展什么样的中国特色社会主义、怎样坚持和发展中国特色社会主义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）建设什么样的社会主义现代化强国、怎样建设社会主义现代化强国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）建设什么样的长期执政的马克思主义政党、怎样建设长期执政的马克思主义政党</a:t>
            </a:r>
            <a:endParaRPr lang="zh-CN" altLang="zh-CN" sz="16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1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习近平新时代中国特色社会主义思想主要包括哪些内容？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理论层面：“十个明确”包括：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①领导力量：中国共产党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②目标任务：中华民族伟大复兴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③发展理念：以人民为中心解决主要矛盾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④发展布局：“五位一体”总体布局“四个全面”战略布局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⑤发展动力：全面深化改革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⑥治国方略：全面依法治国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⑦战略重点：发展中国特色社会主义经济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⑧战略保证：建设一流军队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⑨外部条件：构建人类命运共同体</a:t>
            </a:r>
          </a:p>
          <a:p>
            <a:pPr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⑩政治保证：全面从严治党。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2C9EC7-064E-C800-2540-5CF5459F3E1E}"/>
              </a:ext>
            </a:extLst>
          </p:cNvPr>
          <p:cNvSpPr txBox="1"/>
          <p:nvPr/>
        </p:nvSpPr>
        <p:spPr>
          <a:xfrm>
            <a:off x="5613400" y="170442"/>
            <a:ext cx="633306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just">
              <a:buNone/>
            </a:pPr>
            <a:r>
              <a:rPr lang="zh-CN" altLang="zh-CN" sz="1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实践层面：“十四个坚持”：</a:t>
            </a:r>
            <a:endParaRPr lang="zh-CN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）坚持党对一切工作的领导；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）坚持以人民为中心；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）坚持全面深化改革；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）坚持新发展理念；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）坚持人民当家作主；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）坚持全面依法治国；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）坚持社会主义核心价值体系；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）坚持在发展中保障和改善民生；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）坚持人与自然和谐共生；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）坚持总体国家安全观；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）坚持党对人民军队的绝对领导；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）坚持“一国两制”和推进祖国统一；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）坚持推动构建人类命运共同体；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）坚持全面从严治党。</a:t>
            </a:r>
          </a:p>
          <a:p>
            <a:pPr marL="228600" algn="just">
              <a:buNone/>
            </a:pPr>
            <a:b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buNone/>
            </a:pPr>
            <a:r>
              <a:rPr lang="en-US" altLang="zh-CN" sz="1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16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如何理解习近平新时代中国特色社会主义思想的历史地位？</a:t>
            </a:r>
            <a:endParaRPr lang="zh-CN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）当代中国马克思主义、二十一世纪马克思主义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）中华文化和中国精神的时代精华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）马克思主义中国化新的飞跃</a:t>
            </a:r>
          </a:p>
          <a:p>
            <a:pPr marL="228600" algn="just">
              <a:buNone/>
            </a:pP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）深刻领悟</a:t>
            </a:r>
            <a:r>
              <a:rPr lang="zh-CN" altLang="zh-CN" sz="1600" kern="100" dirty="0">
                <a:highlight>
                  <a:srgbClr val="FFFF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“两个确立”</a:t>
            </a:r>
            <a:r>
              <a:rPr lang="zh-CN" altLang="zh-CN" sz="16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的决定性意义</a:t>
            </a:r>
          </a:p>
          <a:p>
            <a:pPr>
              <a:buNone/>
            </a:pPr>
            <a:br>
              <a:rPr lang="en-US" altLang="zh-CN" sz="1600" dirty="0">
                <a:latin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981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D8D06-DE71-2A51-9C44-FD6A0DB8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CE0D2F-3750-FBA0-44FA-08D5D44C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片包含 表格&#10;&#10;AI 生成的内容可能不正确。">
            <a:extLst>
              <a:ext uri="{FF2B5EF4-FFF2-40B4-BE49-F238E27FC236}">
                <a16:creationId xmlns:a16="http://schemas.microsoft.com/office/drawing/2014/main" id="{E575F0F0-F543-B180-A5E6-95F3EBD7D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8125090" cy="598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2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A167D-E1FD-F31B-8F08-36C4E3C5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110FAD-714D-8472-A262-DA5ED941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片包含 表格&#10;&#10;AI 生成的内容可能不正确。">
            <a:extLst>
              <a:ext uri="{FF2B5EF4-FFF2-40B4-BE49-F238E27FC236}">
                <a16:creationId xmlns:a16="http://schemas.microsoft.com/office/drawing/2014/main" id="{6CD7DF33-F120-46DD-4B81-F4C9E835C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96" y="228600"/>
            <a:ext cx="828760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7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B1855-DE9F-E00E-9AFA-E9D9443F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058E56-7624-C435-19C2-B7507C308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日程表&#10;&#10;AI 生成的内容可能不正确。">
            <a:extLst>
              <a:ext uri="{FF2B5EF4-FFF2-40B4-BE49-F238E27FC236}">
                <a16:creationId xmlns:a16="http://schemas.microsoft.com/office/drawing/2014/main" id="{EC783E87-CC3D-AD3D-CDAF-4039D1652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40" y="365125"/>
            <a:ext cx="8714300" cy="633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02332-F49F-EAC7-F139-303F9653E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72126F-AFE1-2132-86D5-E9EE2FEE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BAAC8F6-E322-29B2-9D51-28000B67C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77" y="125212"/>
            <a:ext cx="9831646" cy="660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7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572A0-C494-B7E7-CED4-5882097E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005C53-EAC4-ED1A-44A8-A85E6BA56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片包含 日程表&#10;&#10;AI 生成的内容可能不正确。">
            <a:extLst>
              <a:ext uri="{FF2B5EF4-FFF2-40B4-BE49-F238E27FC236}">
                <a16:creationId xmlns:a16="http://schemas.microsoft.com/office/drawing/2014/main" id="{277058B6-F396-C088-67E0-7FEA43C2A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16" y="0"/>
            <a:ext cx="10031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4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89B02-5FD1-A3E9-D755-A7CED490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3CFDA-4E87-F689-387B-C15CB278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片包含 表格&#10;&#10;AI 生成的内容可能不正确。">
            <a:extLst>
              <a:ext uri="{FF2B5EF4-FFF2-40B4-BE49-F238E27FC236}">
                <a16:creationId xmlns:a16="http://schemas.microsoft.com/office/drawing/2014/main" id="{D7268CBC-6197-2282-FDA4-5E556A392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345" y="0"/>
            <a:ext cx="7827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3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1083B-0B09-E9DC-7B9D-BF84BC42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E78DC7-7842-5CC6-A464-A5884B48F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片包含 图示&#10;&#10;AI 生成的内容可能不正确。">
            <a:extLst>
              <a:ext uri="{FF2B5EF4-FFF2-40B4-BE49-F238E27FC236}">
                <a16:creationId xmlns:a16="http://schemas.microsoft.com/office/drawing/2014/main" id="{EC8ECFEA-EC8A-A12E-206C-1A09B053B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113" y="0"/>
            <a:ext cx="8333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46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A97A5-F35E-2550-8C7A-E48818462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A2C591-20A7-E807-6DB8-870838A14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60DCA87B-5480-8D53-1819-69720A128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75" y="0"/>
            <a:ext cx="8146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79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E3CE5-2961-3838-4755-293D618BF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6BB821-3B93-28BF-A4DB-5734A3CEC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4CBEE52-F731-3F96-0C25-9513DFE14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320" y="0"/>
            <a:ext cx="81653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12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B10F0-2491-F597-5823-BBCFE31E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51F7BB-3A25-1ADB-1A2D-73593A6D8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片包含 表格&#10;&#10;AI 生成的内容可能不正确。">
            <a:extLst>
              <a:ext uri="{FF2B5EF4-FFF2-40B4-BE49-F238E27FC236}">
                <a16:creationId xmlns:a16="http://schemas.microsoft.com/office/drawing/2014/main" id="{98E40BF3-7944-B954-D317-016278971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72" y="0"/>
            <a:ext cx="8545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50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E7459-2850-14C4-8A43-7A242A77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DE0D0-4D4C-63E3-47DA-9890D524E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71E5382-3B8D-C108-5C4D-97DA2A006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84" y="0"/>
            <a:ext cx="7887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89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0585735-D22B-8203-3988-1A1A8725F791}"/>
              </a:ext>
            </a:extLst>
          </p:cNvPr>
          <p:cNvSpPr txBox="1"/>
          <p:nvPr/>
        </p:nvSpPr>
        <p:spPr>
          <a:xfrm>
            <a:off x="177799" y="286435"/>
            <a:ext cx="8255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>
                <a:solidFill>
                  <a:srgbClr val="FF0000"/>
                </a:solidFill>
                <a:effectLst/>
                <a:highlight>
                  <a:srgbClr val="FF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坚持党的全面领导是坚持和发展中国特色社会主义的必由之路</a:t>
            </a:r>
            <a:r>
              <a:rPr lang="zh-CN" altLang="zh-CN" sz="200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919CF3-D917-BB73-6935-B8CD27A2422F}"/>
              </a:ext>
            </a:extLst>
          </p:cNvPr>
          <p:cNvSpPr txBox="1"/>
          <p:nvPr/>
        </p:nvSpPr>
        <p:spPr>
          <a:xfrm>
            <a:off x="-59267" y="1089155"/>
            <a:ext cx="7092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buNone/>
            </a:pPr>
            <a:r>
              <a:rPr lang="zh-CN" altLang="zh-CN" sz="2000" kern="100" dirty="0"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中国共产党领导是中国特色社会主义最本质的特征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62F2A8-F495-B555-4E91-47E2A8534C4A}"/>
              </a:ext>
            </a:extLst>
          </p:cNvPr>
          <p:cNvSpPr txBox="1"/>
          <p:nvPr/>
        </p:nvSpPr>
        <p:spPr>
          <a:xfrm>
            <a:off x="9853" y="1884909"/>
            <a:ext cx="7127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buNone/>
            </a:pPr>
            <a:r>
              <a:rPr lang="zh-CN" altLang="zh-CN" sz="2000" kern="100" dirty="0"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中国最大的国情就是中国共产党的领导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3724B8-3C26-D47F-AC61-EA5D32DD8C17}"/>
              </a:ext>
            </a:extLst>
          </p:cNvPr>
          <p:cNvSpPr txBox="1"/>
          <p:nvPr/>
        </p:nvSpPr>
        <p:spPr>
          <a:xfrm>
            <a:off x="-93743" y="2880718"/>
            <a:ext cx="7127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buNone/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2000" kern="100" dirty="0"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中国共产党领导是中国特色社会主义制度的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最大优势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A61DF0-6FAE-D4C2-6DC0-E06328768EF6}"/>
              </a:ext>
            </a:extLst>
          </p:cNvPr>
          <p:cNvSpPr txBox="1"/>
          <p:nvPr/>
        </p:nvSpPr>
        <p:spPr>
          <a:xfrm>
            <a:off x="0" y="3752503"/>
            <a:ext cx="888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buNone/>
            </a:pPr>
            <a:r>
              <a:rPr lang="zh-CN" altLang="zh-CN" sz="2000" kern="100" dirty="0"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党的领导是全面的、系统的、整体的，必须贯穿到治国理政的方方面面。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DB61E7-E264-544A-BD42-21883D1717B3}"/>
              </a:ext>
            </a:extLst>
          </p:cNvPr>
          <p:cNvSpPr txBox="1"/>
          <p:nvPr/>
        </p:nvSpPr>
        <p:spPr>
          <a:xfrm>
            <a:off x="-93743" y="4748312"/>
            <a:ext cx="71369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buNone/>
            </a:pPr>
            <a:r>
              <a:rPr lang="zh-CN" altLang="zh-CN" sz="2000" kern="100" dirty="0">
                <a:effectLst/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党的领导制度是我国的根本领导制度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458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CE49B5-1350-C3EE-82CE-F93F59052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276225"/>
            <a:ext cx="10515600" cy="4351338"/>
          </a:xfrm>
        </p:spPr>
        <p:txBody>
          <a:bodyPr/>
          <a:lstStyle/>
          <a:p>
            <a:r>
              <a:rPr lang="en-US" altLang="zh-CN" dirty="0"/>
              <a:t>https://mp.weixin.qq.com/s/8s9yV8NYUIJGeUEe-tepVQ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7ECB04EA-F237-8E8D-F903-8C992FE41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90" y="728133"/>
            <a:ext cx="499410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0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459</Words>
  <Application>Microsoft Office PowerPoint</Application>
  <PresentationFormat>宽屏</PresentationFormat>
  <Paragraphs>48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习思想</vt:lpstr>
      <vt:lpstr>导论（总览）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欣瑶 董</dc:creator>
  <cp:lastModifiedBy>欣瑶 董</cp:lastModifiedBy>
  <cp:revision>1</cp:revision>
  <dcterms:created xsi:type="dcterms:W3CDTF">2025-12-27T09:41:08Z</dcterms:created>
  <dcterms:modified xsi:type="dcterms:W3CDTF">2025-12-27T10:07:34Z</dcterms:modified>
</cp:coreProperties>
</file>