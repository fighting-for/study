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embeddedFontLst>
    <p:embeddedFont>
      <p:font typeface="MiSans" panose="02010600030101010101" charset="-122"/>
      <p:regular r:id="rId3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9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907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3.jpe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7.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2.jpe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1-d2t81bdnfo2stf9din9g.jpg"/>
          <p:cNvPicPr>
            <a:picLocks noChangeAspect="1"/>
          </p:cNvPicPr>
          <p:nvPr/>
        </p:nvPicPr>
        <p:blipFill>
          <a:blip r:embed="rId3"/>
          <a:srcRect t="83" b="83"/>
          <a:stretch/>
        </p:blipFill>
        <p:spPr>
          <a:xfrm>
            <a:off x="-635" y="0"/>
            <a:ext cx="12192000" cy="6858000"/>
          </a:xfrm>
          <a:prstGeom prst="rect">
            <a:avLst/>
          </a:prstGeom>
        </p:spPr>
      </p:pic>
      <p:sp>
        <p:nvSpPr>
          <p:cNvPr id="3" name="Text 0"/>
          <p:cNvSpPr/>
          <p:nvPr/>
        </p:nvSpPr>
        <p:spPr>
          <a:xfrm>
            <a:off x="2080260" y="1455420"/>
            <a:ext cx="8031480" cy="3273425"/>
          </a:xfrm>
          <a:prstGeom prst="rect">
            <a:avLst/>
          </a:prstGeom>
          <a:noFill/>
          <a:ln/>
        </p:spPr>
        <p:txBody>
          <a:bodyPr wrap="square" lIns="99695" tIns="49784" rIns="99695" bIns="49784" rtlCol="0" anchor="t">
            <a:spAutoFit/>
          </a:bodyPr>
          <a:lstStyle/>
          <a:p>
            <a:pPr algn="ctr">
              <a:lnSpc>
                <a:spcPct val="100000"/>
              </a:lnSpc>
            </a:pPr>
            <a:r>
              <a:rPr lang="en-US" sz="6600" dirty="0">
                <a:solidFill>
                  <a:srgbClr val="FCF0C5"/>
                </a:solidFill>
                <a:latin typeface="MiSans" pitchFamily="34" charset="0"/>
                <a:ea typeface="MiSans" pitchFamily="34" charset="-122"/>
                <a:cs typeface="MiSans" pitchFamily="34" charset="-120"/>
              </a:rPr>
              <a:t>急剧变化时代背景下大学生成长与发展的挑战与应对</a:t>
            </a:r>
            <a:endParaRPr lang="en-US" sz="1600" dirty="0"/>
          </a:p>
        </p:txBody>
      </p:sp>
      <p:pic>
        <p:nvPicPr>
          <p:cNvPr id="4" name="Image 1" descr="https://kimi-img.moonshot.cn/pub/slides/slides_tmpl/image/25-09-05-14:18:18-d2t81alnfo2stf9din40.png"/>
          <p:cNvPicPr>
            <a:picLocks noChangeAspect="1"/>
          </p:cNvPicPr>
          <p:nvPr/>
        </p:nvPicPr>
        <p:blipFill>
          <a:blip r:embed="rId4"/>
          <a:srcRect t="76" b="76"/>
          <a:stretch/>
        </p:blipFill>
        <p:spPr>
          <a:xfrm>
            <a:off x="759460" y="2814955"/>
            <a:ext cx="838835" cy="3014980"/>
          </a:xfrm>
          <a:prstGeom prst="rect">
            <a:avLst/>
          </a:prstGeom>
        </p:spPr>
      </p:pic>
      <p:pic>
        <p:nvPicPr>
          <p:cNvPr id="5" name="Image 2" descr="https://kimi-img.moonshot.cn/pub/slides/slides_tmpl/image/25-09-05-14:18:18-d2t81alnfo2stf9din6g.png"/>
          <p:cNvPicPr>
            <a:picLocks noChangeAspect="1"/>
          </p:cNvPicPr>
          <p:nvPr/>
        </p:nvPicPr>
        <p:blipFill>
          <a:blip r:embed="rId5"/>
          <a:stretch>
            <a:fillRect/>
          </a:stretch>
        </p:blipFill>
        <p:spPr>
          <a:xfrm>
            <a:off x="9921240" y="4388485"/>
            <a:ext cx="1506855" cy="1449070"/>
          </a:xfrm>
          <a:prstGeom prst="rect">
            <a:avLst/>
          </a:prstGeom>
        </p:spPr>
      </p:pic>
      <p:pic>
        <p:nvPicPr>
          <p:cNvPr id="6" name="Image 3" descr="https://kimi-img.moonshot.cn/pub/slides/slides_tmpl/image/25-09-05-14:18:18-d2t81alnfo2stf9din5g.png"/>
          <p:cNvPicPr>
            <a:picLocks noChangeAspect="1"/>
          </p:cNvPicPr>
          <p:nvPr/>
        </p:nvPicPr>
        <p:blipFill>
          <a:blip r:embed="rId6"/>
          <a:stretch>
            <a:fillRect/>
          </a:stretch>
        </p:blipFill>
        <p:spPr>
          <a:xfrm>
            <a:off x="9705340" y="494665"/>
            <a:ext cx="1938655" cy="1195070"/>
          </a:xfrm>
          <a:prstGeom prst="rect">
            <a:avLst/>
          </a:prstGeom>
        </p:spPr>
      </p:pic>
      <p:pic>
        <p:nvPicPr>
          <p:cNvPr id="7" name="Image 4" descr="https://kimi-img.moonshot.cn/pub/slides/slides_tmpl/image/25-09-05-14:18:18-d2t81alnfo2stf9din4g.png"/>
          <p:cNvPicPr>
            <a:picLocks noChangeAspect="1"/>
          </p:cNvPicPr>
          <p:nvPr/>
        </p:nvPicPr>
        <p:blipFill>
          <a:blip r:embed="rId7"/>
          <a:srcRect l="5056" r="5056"/>
          <a:stretch/>
        </p:blipFill>
        <p:spPr>
          <a:xfrm>
            <a:off x="3516726" y="4547452"/>
            <a:ext cx="4486083" cy="1399216"/>
          </a:xfrm>
          <a:prstGeom prst="rect">
            <a:avLst/>
          </a:prstGeom>
        </p:spPr>
      </p:pic>
      <p:sp>
        <p:nvSpPr>
          <p:cNvPr id="8" name="Text 1"/>
          <p:cNvSpPr/>
          <p:nvPr/>
        </p:nvSpPr>
        <p:spPr>
          <a:xfrm>
            <a:off x="4520083" y="4931648"/>
            <a:ext cx="2666242" cy="861774"/>
          </a:xfrm>
          <a:prstGeom prst="rect">
            <a:avLst/>
          </a:prstGeom>
          <a:noFill/>
          <a:ln/>
        </p:spPr>
        <p:txBody>
          <a:bodyPr wrap="square" lIns="91440" tIns="45720" rIns="91440" bIns="45720" rtlCol="0" anchor="t">
            <a:spAutoFit/>
          </a:bodyPr>
          <a:lstStyle/>
          <a:p>
            <a:pPr algn="ctr">
              <a:lnSpc>
                <a:spcPct val="100000"/>
              </a:lnSpc>
            </a:pPr>
            <a:r>
              <a:rPr lang="en-US" sz="1800" dirty="0" err="1">
                <a:solidFill>
                  <a:srgbClr val="FDF1C5"/>
                </a:solidFill>
                <a:latin typeface="MiSans" pitchFamily="34" charset="0"/>
                <a:ea typeface="MiSans" pitchFamily="34" charset="-122"/>
                <a:cs typeface="MiSans" pitchFamily="34" charset="-120"/>
              </a:rPr>
              <a:t>汇报人</a:t>
            </a:r>
            <a:r>
              <a:rPr lang="en-US" sz="1800" dirty="0">
                <a:solidFill>
                  <a:srgbClr val="FDF1C5"/>
                </a:solidFill>
                <a:latin typeface="MiSans" pitchFamily="34" charset="0"/>
                <a:ea typeface="MiSans" pitchFamily="34" charset="-122"/>
                <a:cs typeface="MiSans" pitchFamily="34" charset="-120"/>
              </a:rPr>
              <a:t>：</a:t>
            </a:r>
            <a:r>
              <a:rPr lang="zh-CN" altLang="en-US" sz="1600" dirty="0">
                <a:solidFill>
                  <a:srgbClr val="FDF1C5"/>
                </a:solidFill>
                <a:latin typeface="MiSans" pitchFamily="34" charset="0"/>
                <a:ea typeface="MiSans" pitchFamily="34" charset="-122"/>
                <a:cs typeface="MiSans" pitchFamily="34" charset="-120"/>
              </a:rPr>
              <a:t>高若婷、岳湘惜</a:t>
            </a:r>
            <a:r>
              <a:rPr lang="zh-CN" altLang="en-US" sz="1600">
                <a:solidFill>
                  <a:srgbClr val="FDF1C5"/>
                </a:solidFill>
                <a:latin typeface="MiSans" pitchFamily="34" charset="0"/>
                <a:ea typeface="MiSans" pitchFamily="34" charset="-122"/>
                <a:cs typeface="MiSans" pitchFamily="34" charset="-120"/>
              </a:rPr>
              <a:t>、刘欣语、</a:t>
            </a:r>
            <a:r>
              <a:rPr lang="zh-CN" altLang="en-US" sz="1600" dirty="0">
                <a:solidFill>
                  <a:srgbClr val="FDF1C5"/>
                </a:solidFill>
                <a:latin typeface="MiSans" pitchFamily="34" charset="0"/>
                <a:ea typeface="MiSans" pitchFamily="34" charset="-122"/>
                <a:cs typeface="MiSans" pitchFamily="34" charset="-120"/>
              </a:rPr>
              <a:t>高济祺、蒋爱琳、郑迎</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7183120" y="700405"/>
            <a:ext cx="819785" cy="368300"/>
          </a:xfrm>
          <a:prstGeom prst="rect">
            <a:avLst/>
          </a:prstGeom>
          <a:noFill/>
          <a:ln/>
        </p:spPr>
        <p:txBody>
          <a:bodyPr wrap="square" lIns="91440" tIns="45720" rIns="91440" bIns="45720" rtlCol="0" anchor="t">
            <a:spAutoFit/>
          </a:bodyPr>
          <a:lstStyle/>
          <a:p>
            <a:pPr algn="just">
              <a:lnSpc>
                <a:spcPct val="100000"/>
              </a:lnSpc>
            </a:pPr>
            <a:r>
              <a:rPr lang="en-US" sz="2400" dirty="0">
                <a:solidFill>
                  <a:srgbClr val="C80405"/>
                </a:solidFill>
                <a:latin typeface="MiSans" pitchFamily="34" charset="0"/>
                <a:ea typeface="MiSans" pitchFamily="34" charset="-122"/>
                <a:cs typeface="MiSans" pitchFamily="34" charset="-120"/>
              </a:rPr>
              <a:t>目录</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flipH="1">
            <a:off x="1526540" y="915035"/>
            <a:ext cx="2663825" cy="79375"/>
          </a:xfrm>
          <a:prstGeom prst="rect">
            <a:avLst/>
          </a:prstGeom>
        </p:spPr>
      </p:pic>
      <p:sp>
        <p:nvSpPr>
          <p:cNvPr id="5" name="Text 1"/>
          <p:cNvSpPr/>
          <p:nvPr/>
        </p:nvSpPr>
        <p:spPr>
          <a:xfrm>
            <a:off x="4490720" y="706755"/>
            <a:ext cx="2692400" cy="499467"/>
          </a:xfrm>
          <a:prstGeom prst="rect">
            <a:avLst/>
          </a:prstGeom>
          <a:noFill/>
          <a:ln/>
        </p:spPr>
        <p:txBody>
          <a:bodyPr wrap="square" lIns="0" tIns="0" rIns="0" bIns="0" rtlCol="0" anchor="t">
            <a:spAutoFit/>
          </a:bodyPr>
          <a:lstStyle/>
          <a:p>
            <a:pPr algn="just">
              <a:lnSpc>
                <a:spcPct val="100000"/>
              </a:lnSpc>
            </a:pPr>
            <a:r>
              <a:rPr lang="en-US" sz="3200" dirty="0">
                <a:solidFill>
                  <a:srgbClr val="C80405"/>
                </a:solidFill>
                <a:latin typeface="MiSans" pitchFamily="34" charset="0"/>
                <a:ea typeface="MiSans" pitchFamily="34" charset="-122"/>
                <a:cs typeface="MiSans" pitchFamily="34" charset="-120"/>
              </a:rPr>
              <a:t>CONTENTS</a:t>
            </a:r>
            <a:endParaRPr lang="en-US" sz="1600" dirty="0"/>
          </a:p>
        </p:txBody>
      </p:sp>
      <p:pic>
        <p:nvPicPr>
          <p:cNvPr id="6" name="Image 2" descr="https://kimi-img.moonshot.cn/pub/slides/slides_tmpl/image/25-09-05-14:18:18-d2t81alnfo2stf9din70.png"/>
          <p:cNvPicPr>
            <a:picLocks noChangeAspect="1"/>
          </p:cNvPicPr>
          <p:nvPr/>
        </p:nvPicPr>
        <p:blipFill>
          <a:blip r:embed="rId5"/>
          <a:stretch>
            <a:fillRect/>
          </a:stretch>
        </p:blipFill>
        <p:spPr>
          <a:xfrm>
            <a:off x="8091805" y="915035"/>
            <a:ext cx="2663825" cy="79375"/>
          </a:xfrm>
          <a:prstGeom prst="rect">
            <a:avLst/>
          </a:prstGeom>
        </p:spPr>
      </p:pic>
      <p:pic>
        <p:nvPicPr>
          <p:cNvPr id="7" name="Image 3" descr="https://kimi-img.moonshot.cn/pub/slides/slides_tmpl/image/25-09-05-14:18:19-d2t81atnfo2stf9din7g.png"/>
          <p:cNvPicPr>
            <a:picLocks noChangeAspect="1"/>
          </p:cNvPicPr>
          <p:nvPr/>
        </p:nvPicPr>
        <p:blipFill>
          <a:blip r:embed="rId6"/>
          <a:stretch>
            <a:fillRect/>
          </a:stretch>
        </p:blipFill>
        <p:spPr>
          <a:xfrm>
            <a:off x="1593850" y="2056765"/>
            <a:ext cx="4234815" cy="732790"/>
          </a:xfrm>
          <a:prstGeom prst="rect">
            <a:avLst/>
          </a:prstGeom>
        </p:spPr>
      </p:pic>
      <p:pic>
        <p:nvPicPr>
          <p:cNvPr id="8" name="Image 4" descr="https://kimi-img.moonshot.cn/pub/slides/slides_tmpl/image/25-09-05-14:18:19-d2t81atnfo2stf9din8g.png"/>
          <p:cNvPicPr>
            <a:picLocks noChangeAspect="1"/>
          </p:cNvPicPr>
          <p:nvPr/>
        </p:nvPicPr>
        <p:blipFill>
          <a:blip r:embed="rId7"/>
          <a:stretch>
            <a:fillRect/>
          </a:stretch>
        </p:blipFill>
        <p:spPr>
          <a:xfrm>
            <a:off x="974566" y="1819275"/>
            <a:ext cx="1141095" cy="1143000"/>
          </a:xfrm>
          <a:prstGeom prst="rect">
            <a:avLst/>
          </a:prstGeom>
        </p:spPr>
      </p:pic>
      <p:pic>
        <p:nvPicPr>
          <p:cNvPr id="9" name="Image 5" descr="https://kimi-img.moonshot.cn/pub/slides/slides_tmpl/image/25-09-05-14:18:19-d2t81atnfo2stf9din7g.png"/>
          <p:cNvPicPr>
            <a:picLocks noChangeAspect="1"/>
          </p:cNvPicPr>
          <p:nvPr/>
        </p:nvPicPr>
        <p:blipFill>
          <a:blip r:embed="rId6"/>
          <a:stretch>
            <a:fillRect/>
          </a:stretch>
        </p:blipFill>
        <p:spPr>
          <a:xfrm>
            <a:off x="6960870" y="2056765"/>
            <a:ext cx="4177665" cy="732790"/>
          </a:xfrm>
          <a:prstGeom prst="rect">
            <a:avLst/>
          </a:prstGeom>
        </p:spPr>
      </p:pic>
      <p:pic>
        <p:nvPicPr>
          <p:cNvPr id="10" name="Image 6" descr="https://kimi-img.moonshot.cn/pub/slides/slides_tmpl/image/25-09-05-14:18:19-d2t81atnfo2stf9din8g.png"/>
          <p:cNvPicPr>
            <a:picLocks noChangeAspect="1"/>
          </p:cNvPicPr>
          <p:nvPr/>
        </p:nvPicPr>
        <p:blipFill>
          <a:blip r:embed="rId7"/>
          <a:stretch>
            <a:fillRect/>
          </a:stretch>
        </p:blipFill>
        <p:spPr>
          <a:xfrm>
            <a:off x="6196092" y="1796415"/>
            <a:ext cx="1141095" cy="1143000"/>
          </a:xfrm>
          <a:prstGeom prst="rect">
            <a:avLst/>
          </a:prstGeom>
        </p:spPr>
      </p:pic>
      <p:pic>
        <p:nvPicPr>
          <p:cNvPr id="11" name="Image 7" descr="https://kimi-img.moonshot.cn/pub/slides/slides_tmpl/image/25-09-05-14:18:19-d2t81atnfo2stf9din7g.png"/>
          <p:cNvPicPr>
            <a:picLocks noChangeAspect="1"/>
          </p:cNvPicPr>
          <p:nvPr/>
        </p:nvPicPr>
        <p:blipFill>
          <a:blip r:embed="rId6"/>
          <a:stretch>
            <a:fillRect/>
          </a:stretch>
        </p:blipFill>
        <p:spPr>
          <a:xfrm>
            <a:off x="1551940" y="3490595"/>
            <a:ext cx="4276090" cy="732790"/>
          </a:xfrm>
          <a:prstGeom prst="rect">
            <a:avLst/>
          </a:prstGeom>
        </p:spPr>
      </p:pic>
      <p:pic>
        <p:nvPicPr>
          <p:cNvPr id="12" name="Image 8" descr="https://kimi-img.moonshot.cn/pub/slides/slides_tmpl/image/25-09-05-14:18:19-d2t81atnfo2stf9din8g.png"/>
          <p:cNvPicPr>
            <a:picLocks noChangeAspect="1"/>
          </p:cNvPicPr>
          <p:nvPr/>
        </p:nvPicPr>
        <p:blipFill>
          <a:blip r:embed="rId7"/>
          <a:stretch>
            <a:fillRect/>
          </a:stretch>
        </p:blipFill>
        <p:spPr>
          <a:xfrm>
            <a:off x="974566" y="3220085"/>
            <a:ext cx="1141095" cy="1143000"/>
          </a:xfrm>
          <a:prstGeom prst="rect">
            <a:avLst/>
          </a:prstGeom>
        </p:spPr>
      </p:pic>
      <p:pic>
        <p:nvPicPr>
          <p:cNvPr id="13" name="Image 9" descr="https://kimi-img.moonshot.cn/pub/slides/slides_tmpl/image/25-09-05-14:18:19-d2t81atnfo2stf9din7g.png"/>
          <p:cNvPicPr>
            <a:picLocks noChangeAspect="1"/>
          </p:cNvPicPr>
          <p:nvPr/>
        </p:nvPicPr>
        <p:blipFill>
          <a:blip r:embed="rId6"/>
          <a:stretch>
            <a:fillRect/>
          </a:stretch>
        </p:blipFill>
        <p:spPr>
          <a:xfrm>
            <a:off x="6892290" y="3490595"/>
            <a:ext cx="4246880" cy="732790"/>
          </a:xfrm>
          <a:prstGeom prst="rect">
            <a:avLst/>
          </a:prstGeom>
        </p:spPr>
      </p:pic>
      <p:pic>
        <p:nvPicPr>
          <p:cNvPr id="14" name="Image 10" descr="https://kimi-img.moonshot.cn/pub/slides/slides_tmpl/image/25-09-05-14:18:19-d2t81atnfo2stf9din8g.png"/>
          <p:cNvPicPr>
            <a:picLocks noChangeAspect="1"/>
          </p:cNvPicPr>
          <p:nvPr/>
        </p:nvPicPr>
        <p:blipFill>
          <a:blip r:embed="rId7"/>
          <a:stretch>
            <a:fillRect/>
          </a:stretch>
        </p:blipFill>
        <p:spPr>
          <a:xfrm>
            <a:off x="6196092" y="3251835"/>
            <a:ext cx="1141095" cy="1143000"/>
          </a:xfrm>
          <a:prstGeom prst="rect">
            <a:avLst/>
          </a:prstGeom>
        </p:spPr>
      </p:pic>
      <p:pic>
        <p:nvPicPr>
          <p:cNvPr id="15" name="Image 11" descr="https://kimi-img.moonshot.cn/pub/slides/slides_tmpl/image/25-09-05-14:18:19-d2t81atnfo2stf9din7g.png"/>
          <p:cNvPicPr>
            <a:picLocks noChangeAspect="1"/>
          </p:cNvPicPr>
          <p:nvPr/>
        </p:nvPicPr>
        <p:blipFill>
          <a:blip r:embed="rId6"/>
          <a:stretch>
            <a:fillRect/>
          </a:stretch>
        </p:blipFill>
        <p:spPr>
          <a:xfrm>
            <a:off x="1551940" y="4961255"/>
            <a:ext cx="4276090" cy="732790"/>
          </a:xfrm>
          <a:prstGeom prst="rect">
            <a:avLst/>
          </a:prstGeom>
        </p:spPr>
      </p:pic>
      <p:pic>
        <p:nvPicPr>
          <p:cNvPr id="16" name="Image 12" descr="https://kimi-img.moonshot.cn/pub/slides/slides_tmpl/image/25-09-05-14:18:19-d2t81atnfo2stf9din8g.png"/>
          <p:cNvPicPr>
            <a:picLocks noChangeAspect="1"/>
          </p:cNvPicPr>
          <p:nvPr/>
        </p:nvPicPr>
        <p:blipFill>
          <a:blip r:embed="rId7"/>
          <a:stretch>
            <a:fillRect/>
          </a:stretch>
        </p:blipFill>
        <p:spPr>
          <a:xfrm>
            <a:off x="974566" y="4698365"/>
            <a:ext cx="1141095" cy="1143000"/>
          </a:xfrm>
          <a:prstGeom prst="rect">
            <a:avLst/>
          </a:prstGeom>
        </p:spPr>
      </p:pic>
      <p:pic>
        <p:nvPicPr>
          <p:cNvPr id="17" name="Image 13" descr="https://kimi-img.moonshot.cn/pub/slides/slides_tmpl/image/25-09-05-14:18:19-d2t81atnfo2stf9din7g.png"/>
          <p:cNvPicPr>
            <a:picLocks noChangeAspect="1"/>
          </p:cNvPicPr>
          <p:nvPr/>
        </p:nvPicPr>
        <p:blipFill>
          <a:blip r:embed="rId6"/>
          <a:stretch>
            <a:fillRect/>
          </a:stretch>
        </p:blipFill>
        <p:spPr>
          <a:xfrm>
            <a:off x="6892290" y="4913630"/>
            <a:ext cx="4246880" cy="732790"/>
          </a:xfrm>
          <a:prstGeom prst="rect">
            <a:avLst/>
          </a:prstGeom>
        </p:spPr>
      </p:pic>
      <p:pic>
        <p:nvPicPr>
          <p:cNvPr id="18" name="Image 14" descr="https://kimi-img.moonshot.cn/pub/slides/slides_tmpl/image/25-09-05-14:18:19-d2t81atnfo2stf9din8g.png"/>
          <p:cNvPicPr>
            <a:picLocks noChangeAspect="1"/>
          </p:cNvPicPr>
          <p:nvPr/>
        </p:nvPicPr>
        <p:blipFill>
          <a:blip r:embed="rId7"/>
          <a:stretch>
            <a:fillRect/>
          </a:stretch>
        </p:blipFill>
        <p:spPr>
          <a:xfrm>
            <a:off x="6196092" y="4698365"/>
            <a:ext cx="1141095" cy="1143000"/>
          </a:xfrm>
          <a:prstGeom prst="rect">
            <a:avLst/>
          </a:prstGeom>
        </p:spPr>
      </p:pic>
      <p:sp>
        <p:nvSpPr>
          <p:cNvPr id="19" name="Text 2"/>
          <p:cNvSpPr/>
          <p:nvPr/>
        </p:nvSpPr>
        <p:spPr>
          <a:xfrm>
            <a:off x="1299687" y="217551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01</a:t>
            </a:r>
            <a:endParaRPr lang="en-US" sz="1600" dirty="0"/>
          </a:p>
        </p:txBody>
      </p:sp>
      <p:sp>
        <p:nvSpPr>
          <p:cNvPr id="20" name="Text 3"/>
          <p:cNvSpPr/>
          <p:nvPr/>
        </p:nvSpPr>
        <p:spPr>
          <a:xfrm>
            <a:off x="2099945" y="2289175"/>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时代剧变</a:t>
            </a:r>
            <a:endParaRPr lang="en-US" sz="1600" dirty="0"/>
          </a:p>
        </p:txBody>
      </p:sp>
      <p:sp>
        <p:nvSpPr>
          <p:cNvPr id="21" name="Text 4"/>
          <p:cNvSpPr/>
          <p:nvPr/>
        </p:nvSpPr>
        <p:spPr>
          <a:xfrm>
            <a:off x="6521212" y="216408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02</a:t>
            </a:r>
            <a:endParaRPr lang="en-US" sz="1600" dirty="0"/>
          </a:p>
        </p:txBody>
      </p:sp>
      <p:sp>
        <p:nvSpPr>
          <p:cNvPr id="22" name="Text 5"/>
          <p:cNvSpPr/>
          <p:nvPr/>
        </p:nvSpPr>
        <p:spPr>
          <a:xfrm>
            <a:off x="7337425" y="2265680"/>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风险叠加</a:t>
            </a:r>
            <a:endParaRPr lang="en-US" sz="1600" dirty="0"/>
          </a:p>
        </p:txBody>
      </p:sp>
      <p:sp>
        <p:nvSpPr>
          <p:cNvPr id="23" name="Text 6"/>
          <p:cNvSpPr/>
          <p:nvPr/>
        </p:nvSpPr>
        <p:spPr>
          <a:xfrm>
            <a:off x="1299687" y="357632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03</a:t>
            </a:r>
            <a:endParaRPr lang="en-US" sz="1600" dirty="0"/>
          </a:p>
        </p:txBody>
      </p:sp>
      <p:sp>
        <p:nvSpPr>
          <p:cNvPr id="24" name="Text 7"/>
          <p:cNvSpPr/>
          <p:nvPr/>
        </p:nvSpPr>
        <p:spPr>
          <a:xfrm>
            <a:off x="2058035" y="3703320"/>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思想领航</a:t>
            </a:r>
            <a:endParaRPr lang="en-US" sz="1600" dirty="0"/>
          </a:p>
        </p:txBody>
      </p:sp>
      <p:sp>
        <p:nvSpPr>
          <p:cNvPr id="25" name="Text 8"/>
          <p:cNvSpPr/>
          <p:nvPr/>
        </p:nvSpPr>
        <p:spPr>
          <a:xfrm>
            <a:off x="6521212" y="360807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04</a:t>
            </a:r>
            <a:endParaRPr lang="en-US" sz="1600" dirty="0"/>
          </a:p>
        </p:txBody>
      </p:sp>
      <p:sp>
        <p:nvSpPr>
          <p:cNvPr id="26" name="Text 9"/>
          <p:cNvSpPr/>
          <p:nvPr/>
        </p:nvSpPr>
        <p:spPr>
          <a:xfrm>
            <a:off x="7337425" y="3684905"/>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能力重构</a:t>
            </a:r>
            <a:endParaRPr lang="en-US" sz="1600" dirty="0"/>
          </a:p>
        </p:txBody>
      </p:sp>
      <p:sp>
        <p:nvSpPr>
          <p:cNvPr id="27" name="Text 10"/>
          <p:cNvSpPr/>
          <p:nvPr/>
        </p:nvSpPr>
        <p:spPr>
          <a:xfrm>
            <a:off x="1299687" y="505460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05</a:t>
            </a:r>
            <a:endParaRPr lang="en-US" sz="1600" dirty="0"/>
          </a:p>
        </p:txBody>
      </p:sp>
      <p:sp>
        <p:nvSpPr>
          <p:cNvPr id="28" name="Text 11"/>
          <p:cNvSpPr/>
          <p:nvPr/>
        </p:nvSpPr>
        <p:spPr>
          <a:xfrm>
            <a:off x="2058035" y="5212080"/>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行动路径</a:t>
            </a:r>
            <a:endParaRPr lang="en-US" sz="1600" dirty="0"/>
          </a:p>
        </p:txBody>
      </p:sp>
      <p:sp>
        <p:nvSpPr>
          <p:cNvPr id="29" name="Text 12"/>
          <p:cNvSpPr/>
          <p:nvPr/>
        </p:nvSpPr>
        <p:spPr>
          <a:xfrm>
            <a:off x="6521212" y="5054600"/>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06</a:t>
            </a:r>
            <a:endParaRPr lang="en-US" sz="1600" dirty="0"/>
          </a:p>
        </p:txBody>
      </p:sp>
      <p:sp>
        <p:nvSpPr>
          <p:cNvPr id="30" name="Text 13"/>
          <p:cNvSpPr/>
          <p:nvPr/>
        </p:nvSpPr>
        <p:spPr>
          <a:xfrm>
            <a:off x="7296785" y="5146040"/>
            <a:ext cx="3519805" cy="306784"/>
          </a:xfrm>
          <a:prstGeom prst="rect">
            <a:avLst/>
          </a:prstGeom>
          <a:noFill/>
          <a:ln/>
        </p:spPr>
        <p:txBody>
          <a:bodyPr wrap="square" lIns="0" tIns="0" rIns="0" bIns="0" rtlCol="0" anchor="t">
            <a:spAutoFit/>
          </a:bodyPr>
          <a:lstStyle/>
          <a:p>
            <a:pPr>
              <a:lnSpc>
                <a:spcPct val="100000"/>
              </a:lnSpc>
            </a:pPr>
            <a:r>
              <a:rPr lang="en-US" sz="2000" dirty="0">
                <a:solidFill>
                  <a:srgbClr val="C80405"/>
                </a:solidFill>
                <a:latin typeface="MiSans" pitchFamily="34" charset="0"/>
                <a:ea typeface="MiSans" pitchFamily="34" charset="-122"/>
                <a:cs typeface="MiSans" pitchFamily="34" charset="-120"/>
              </a:rPr>
              <a:t>使命答卷</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01</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时代剧变</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26-d2t81rlnfo2stf9dinh0.png"/>
          <p:cNvPicPr>
            <a:picLocks noChangeAspect="1"/>
          </p:cNvPicPr>
          <p:nvPr/>
        </p:nvPicPr>
        <p:blipFill>
          <a:blip r:embed="rId5"/>
          <a:stretch>
            <a:fillRect/>
          </a:stretch>
        </p:blipFill>
        <p:spPr>
          <a:xfrm>
            <a:off x="866140" y="3403600"/>
            <a:ext cx="10475595" cy="1209040"/>
          </a:xfrm>
          <a:prstGeom prst="rect">
            <a:avLst/>
          </a:prstGeom>
        </p:spPr>
      </p:pic>
      <p:pic>
        <p:nvPicPr>
          <p:cNvPr id="4" name="Image 2" descr="https://kimi-img.moonshot.cn/pub/slides/slides_tmpl/image/25-09-05-14:19:26-d2t81rlnfo2stf9dinh0.png"/>
          <p:cNvPicPr>
            <a:picLocks noChangeAspect="1"/>
          </p:cNvPicPr>
          <p:nvPr/>
        </p:nvPicPr>
        <p:blipFill>
          <a:blip r:embed="rId5"/>
          <a:stretch>
            <a:fillRect/>
          </a:stretch>
        </p:blipFill>
        <p:spPr>
          <a:xfrm>
            <a:off x="866140" y="1772920"/>
            <a:ext cx="10475595" cy="1082675"/>
          </a:xfrm>
          <a:prstGeom prst="rect">
            <a:avLst/>
          </a:prstGeom>
        </p:spPr>
      </p:pic>
      <p:sp>
        <p:nvSpPr>
          <p:cNvPr id="5" name="Text 0"/>
          <p:cNvSpPr/>
          <p:nvPr/>
        </p:nvSpPr>
        <p:spPr>
          <a:xfrm>
            <a:off x="542290" y="672465"/>
            <a:ext cx="8152765" cy="59055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百年未有之大变局加速演进</a:t>
            </a:r>
            <a:endParaRPr lang="en-US" sz="1600" dirty="0"/>
          </a:p>
        </p:txBody>
      </p:sp>
      <p:pic>
        <p:nvPicPr>
          <p:cNvPr id="6" name="Image 3" descr="https://kimi-img.moonshot.cn/pub/slides/slides_tmpl/image/25-09-05-14:19:26-d2t81rlnfo2stf9dinhg.png"/>
          <p:cNvPicPr>
            <a:picLocks noChangeAspect="1"/>
          </p:cNvPicPr>
          <p:nvPr/>
        </p:nvPicPr>
        <p:blipFill>
          <a:blip r:embed="rId6"/>
          <a:stretch>
            <a:fillRect/>
          </a:stretch>
        </p:blipFill>
        <p:spPr>
          <a:xfrm>
            <a:off x="883285" y="1450975"/>
            <a:ext cx="3417570" cy="542925"/>
          </a:xfrm>
          <a:prstGeom prst="rect">
            <a:avLst/>
          </a:prstGeom>
        </p:spPr>
      </p:pic>
      <p:pic>
        <p:nvPicPr>
          <p:cNvPr id="7" name="Image 4" descr="https://kimi-img.moonshot.cn/pub/slides/slides_tmpl/image/25-09-05-14:19:26-d2t81rlnfo2stf9dinhg.png"/>
          <p:cNvPicPr>
            <a:picLocks noChangeAspect="1"/>
          </p:cNvPicPr>
          <p:nvPr/>
        </p:nvPicPr>
        <p:blipFill>
          <a:blip r:embed="rId6"/>
          <a:stretch>
            <a:fillRect/>
          </a:stretch>
        </p:blipFill>
        <p:spPr>
          <a:xfrm>
            <a:off x="7933055" y="3050540"/>
            <a:ext cx="3417570" cy="542925"/>
          </a:xfrm>
          <a:prstGeom prst="rect">
            <a:avLst/>
          </a:prstGeom>
        </p:spPr>
      </p:pic>
      <p:pic>
        <p:nvPicPr>
          <p:cNvPr id="8" name="Image 5" descr="https://kimi-img.moonshot.cn/pub/slides/slides_tmpl/image/25-09-05-14:19:26-d2t81rlnfo2stf9dinh0.png"/>
          <p:cNvPicPr>
            <a:picLocks noChangeAspect="1"/>
          </p:cNvPicPr>
          <p:nvPr/>
        </p:nvPicPr>
        <p:blipFill>
          <a:blip r:embed="rId5"/>
          <a:stretch>
            <a:fillRect/>
          </a:stretch>
        </p:blipFill>
        <p:spPr>
          <a:xfrm>
            <a:off x="866140" y="5120005"/>
            <a:ext cx="10475595" cy="1082675"/>
          </a:xfrm>
          <a:prstGeom prst="rect">
            <a:avLst/>
          </a:prstGeom>
        </p:spPr>
      </p:pic>
      <p:pic>
        <p:nvPicPr>
          <p:cNvPr id="9" name="Image 6" descr="https://kimi-img.moonshot.cn/pub/slides/slides_tmpl/image/25-09-05-14:19:26-d2t81rlnfo2stf9dinhg.png"/>
          <p:cNvPicPr>
            <a:picLocks noChangeAspect="1"/>
          </p:cNvPicPr>
          <p:nvPr/>
        </p:nvPicPr>
        <p:blipFill>
          <a:blip r:embed="rId6"/>
          <a:stretch>
            <a:fillRect/>
          </a:stretch>
        </p:blipFill>
        <p:spPr>
          <a:xfrm>
            <a:off x="883285" y="4798060"/>
            <a:ext cx="3417570" cy="542925"/>
          </a:xfrm>
          <a:prstGeom prst="rect">
            <a:avLst/>
          </a:prstGeom>
        </p:spPr>
      </p:pic>
      <p:pic>
        <p:nvPicPr>
          <p:cNvPr id="10" name="Image 7" descr="https://kimi-img.moonshot.cn/pub/slides/slides_tmpl/image/25-09-05-14:18:18-d2t81alnfo2stf9din70.png"/>
          <p:cNvPicPr>
            <a:picLocks noChangeAspect="1"/>
          </p:cNvPicPr>
          <p:nvPr/>
        </p:nvPicPr>
        <p:blipFill>
          <a:blip r:embed="rId7"/>
          <a:stretch>
            <a:fillRect/>
          </a:stretch>
        </p:blipFill>
        <p:spPr>
          <a:xfrm>
            <a:off x="8784590" y="949960"/>
            <a:ext cx="2663825" cy="79375"/>
          </a:xfrm>
          <a:prstGeom prst="rect">
            <a:avLst/>
          </a:prstGeom>
        </p:spPr>
      </p:pic>
      <p:sp>
        <p:nvSpPr>
          <p:cNvPr id="11" name="Text 1"/>
          <p:cNvSpPr/>
          <p:nvPr/>
        </p:nvSpPr>
        <p:spPr>
          <a:xfrm>
            <a:off x="1024255" y="1584325"/>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全球治理体系变革</a:t>
            </a:r>
            <a:endParaRPr lang="en-US" sz="1600" dirty="0"/>
          </a:p>
        </p:txBody>
      </p:sp>
      <p:sp>
        <p:nvSpPr>
          <p:cNvPr id="12" name="Text 2"/>
          <p:cNvSpPr/>
          <p:nvPr/>
        </p:nvSpPr>
        <p:spPr>
          <a:xfrm>
            <a:off x="1024255" y="1975485"/>
            <a:ext cx="10143490" cy="3198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全球治理体系正发生深刻变革，国际秩序面临调整。大学生需关注国际动态，理解中国在全球格局中的角色，把握时代机遇。</a:t>
            </a:r>
            <a:endParaRPr lang="en-US" sz="1600" dirty="0"/>
          </a:p>
        </p:txBody>
      </p:sp>
      <p:sp>
        <p:nvSpPr>
          <p:cNvPr id="13" name="Text 3"/>
          <p:cNvSpPr/>
          <p:nvPr/>
        </p:nvSpPr>
        <p:spPr>
          <a:xfrm>
            <a:off x="1024255" y="4931410"/>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科技革命重塑产业</a:t>
            </a:r>
            <a:endParaRPr lang="en-US" sz="1600" dirty="0"/>
          </a:p>
        </p:txBody>
      </p:sp>
      <p:sp>
        <p:nvSpPr>
          <p:cNvPr id="14" name="Text 4"/>
          <p:cNvSpPr/>
          <p:nvPr/>
        </p:nvSpPr>
        <p:spPr>
          <a:xfrm>
            <a:off x="1024255" y="5322570"/>
            <a:ext cx="10143490" cy="3198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科技革命推动产业升级，人工智能、大数据等技术广泛应用。大学生应积极学习新技术，提升自身竞争力，适应产业变革需求。</a:t>
            </a:r>
            <a:endParaRPr lang="en-US" sz="1600" dirty="0"/>
          </a:p>
        </p:txBody>
      </p:sp>
      <p:sp>
        <p:nvSpPr>
          <p:cNvPr id="15" name="Text 5"/>
          <p:cNvSpPr/>
          <p:nvPr/>
        </p:nvSpPr>
        <p:spPr>
          <a:xfrm>
            <a:off x="8074025" y="3183890"/>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疫情后经济复苏</a:t>
            </a:r>
            <a:endParaRPr lang="en-US" sz="1600" dirty="0"/>
          </a:p>
        </p:txBody>
      </p:sp>
      <p:sp>
        <p:nvSpPr>
          <p:cNvPr id="16" name="Text 6"/>
          <p:cNvSpPr/>
          <p:nvPr/>
        </p:nvSpPr>
        <p:spPr>
          <a:xfrm>
            <a:off x="1117600" y="3675380"/>
            <a:ext cx="9862820" cy="3198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疫情后世界经济复苏脆弱，不确定性增加。大学生要关注经济形势，培养应对风险的能力，为未来职业发展做好准备。</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59-d2t823tnfo2stf9dinkg.jpeg"/>
          <p:cNvPicPr>
            <a:picLocks noChangeAspect="1"/>
          </p:cNvPicPr>
          <p:nvPr/>
        </p:nvPicPr>
        <p:blipFill>
          <a:blip r:embed="rId5"/>
          <a:srcRect l="25374" r="25374"/>
          <a:stretch/>
        </p:blipFill>
        <p:spPr>
          <a:xfrm>
            <a:off x="7325995" y="434975"/>
            <a:ext cx="4451350" cy="6032500"/>
          </a:xfrm>
          <a:prstGeom prst="rect">
            <a:avLst/>
          </a:prstGeom>
        </p:spPr>
      </p:pic>
      <p:sp>
        <p:nvSpPr>
          <p:cNvPr id="4" name="Text 0"/>
          <p:cNvSpPr/>
          <p:nvPr/>
        </p:nvSpPr>
        <p:spPr>
          <a:xfrm>
            <a:off x="766445" y="699770"/>
            <a:ext cx="4595495" cy="124714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Z世代大学生的群体特质</a:t>
            </a:r>
            <a:endParaRPr lang="en-US" sz="1600" dirty="0"/>
          </a:p>
        </p:txBody>
      </p:sp>
      <p:pic>
        <p:nvPicPr>
          <p:cNvPr id="5" name="Image 2" descr="https://kimi-img.moonshot.cn/pub/slides/slides_tmpl/image/25-09-05-14:18:19-d2t81atnfo2stf9din90.png"/>
          <p:cNvPicPr>
            <a:picLocks noChangeAspect="1"/>
          </p:cNvPicPr>
          <p:nvPr/>
        </p:nvPicPr>
        <p:blipFill>
          <a:blip r:embed="rId6"/>
          <a:stretch>
            <a:fillRect/>
          </a:stretch>
        </p:blipFill>
        <p:spPr>
          <a:xfrm>
            <a:off x="835025" y="5930265"/>
            <a:ext cx="679450" cy="246380"/>
          </a:xfrm>
          <a:prstGeom prst="rect">
            <a:avLst/>
          </a:prstGeom>
        </p:spPr>
      </p:pic>
      <p:sp>
        <p:nvSpPr>
          <p:cNvPr id="6" name="Text 1"/>
          <p:cNvSpPr/>
          <p:nvPr/>
        </p:nvSpPr>
        <p:spPr>
          <a:xfrm>
            <a:off x="835025" y="3121660"/>
            <a:ext cx="4302760" cy="306784"/>
          </a:xfrm>
          <a:prstGeom prst="rect">
            <a:avLst/>
          </a:prstGeom>
          <a:noFill/>
          <a:ln/>
        </p:spPr>
        <p:txBody>
          <a:bodyPr wrap="square" lIns="0" tIns="0" rIns="0" bIns="0" rtlCol="0" anchor="t">
            <a:spAutoFit/>
          </a:bodyPr>
          <a:lstStyle/>
          <a:p>
            <a:pPr algn="just">
              <a:lnSpc>
                <a:spcPct val="100000"/>
              </a:lnSpc>
            </a:pPr>
            <a:r>
              <a:rPr lang="en-US" sz="2000" b="1" dirty="0">
                <a:solidFill>
                  <a:srgbClr val="C80405"/>
                </a:solidFill>
                <a:latin typeface="MiSans" pitchFamily="34" charset="0"/>
                <a:ea typeface="MiSans" pitchFamily="34" charset="-122"/>
                <a:cs typeface="MiSans" pitchFamily="34" charset="-120"/>
              </a:rPr>
              <a:t>数字原住民</a:t>
            </a:r>
            <a:endParaRPr lang="en-US" sz="1600" dirty="0"/>
          </a:p>
        </p:txBody>
      </p:sp>
      <p:sp>
        <p:nvSpPr>
          <p:cNvPr id="7" name="Text 2"/>
          <p:cNvSpPr/>
          <p:nvPr/>
        </p:nvSpPr>
        <p:spPr>
          <a:xfrm>
            <a:off x="766445" y="3589655"/>
            <a:ext cx="5945505" cy="63996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Z世代大学生是数字原住民，对新技术接受度高。他们思维活跃、个性鲜明，但需警惕碎片化信息对深度思考的影响，培养系统思维能力。</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26-d2t81rlnfo2stf9dinh0.png"/>
          <p:cNvPicPr>
            <a:picLocks noChangeAspect="1"/>
          </p:cNvPicPr>
          <p:nvPr/>
        </p:nvPicPr>
        <p:blipFill>
          <a:blip r:embed="rId5"/>
          <a:stretch>
            <a:fillRect/>
          </a:stretch>
        </p:blipFill>
        <p:spPr>
          <a:xfrm rot="5400000">
            <a:off x="7702550" y="2745105"/>
            <a:ext cx="2117725" cy="5045075"/>
          </a:xfrm>
          <a:prstGeom prst="rect">
            <a:avLst/>
          </a:prstGeom>
        </p:spPr>
      </p:pic>
      <p:pic>
        <p:nvPicPr>
          <p:cNvPr id="4" name="Image 2" descr="https://kimi-img.moonshot.cn/pub/slides/slides_tmpl/image/25-09-05-14:19:26-d2t81rlnfo2stf9dinh0.png"/>
          <p:cNvPicPr>
            <a:picLocks noChangeAspect="1"/>
          </p:cNvPicPr>
          <p:nvPr/>
        </p:nvPicPr>
        <p:blipFill>
          <a:blip r:embed="rId5"/>
          <a:stretch>
            <a:fillRect/>
          </a:stretch>
        </p:blipFill>
        <p:spPr>
          <a:xfrm rot="5400000">
            <a:off x="2303145" y="2761615"/>
            <a:ext cx="2117725" cy="5045075"/>
          </a:xfrm>
          <a:prstGeom prst="rect">
            <a:avLst/>
          </a:prstGeom>
        </p:spPr>
      </p:pic>
      <p:pic>
        <p:nvPicPr>
          <p:cNvPr id="5" name="Image 3" descr="https://kimi-img.moonshot.cn/pub/slides/slides_tmpl/image/25-09-05-14:19:26-d2t81rlnfo2stf9dinh0.png"/>
          <p:cNvPicPr>
            <a:picLocks noChangeAspect="1"/>
          </p:cNvPicPr>
          <p:nvPr/>
        </p:nvPicPr>
        <p:blipFill>
          <a:blip r:embed="rId5"/>
          <a:stretch>
            <a:fillRect/>
          </a:stretch>
        </p:blipFill>
        <p:spPr>
          <a:xfrm rot="5400000">
            <a:off x="7702550" y="109855"/>
            <a:ext cx="2117725" cy="5045075"/>
          </a:xfrm>
          <a:prstGeom prst="rect">
            <a:avLst/>
          </a:prstGeom>
        </p:spPr>
      </p:pic>
      <p:pic>
        <p:nvPicPr>
          <p:cNvPr id="6" name="Image 4" descr="https://kimi-img.moonshot.cn/pub/slides/slides_tmpl/image/25-09-05-14:19:26-d2t81rlnfo2stf9dinh0.png"/>
          <p:cNvPicPr>
            <a:picLocks noChangeAspect="1"/>
          </p:cNvPicPr>
          <p:nvPr/>
        </p:nvPicPr>
        <p:blipFill>
          <a:blip r:embed="rId5"/>
          <a:stretch>
            <a:fillRect/>
          </a:stretch>
        </p:blipFill>
        <p:spPr>
          <a:xfrm rot="5400000">
            <a:off x="2303145" y="126365"/>
            <a:ext cx="2117725" cy="5045075"/>
          </a:xfrm>
          <a:prstGeom prst="rect">
            <a:avLst/>
          </a:prstGeom>
        </p:spPr>
      </p:pic>
      <p:sp>
        <p:nvSpPr>
          <p:cNvPr id="7" name="Text 0"/>
          <p:cNvSpPr/>
          <p:nvPr/>
        </p:nvSpPr>
        <p:spPr>
          <a:xfrm>
            <a:off x="542290" y="617220"/>
            <a:ext cx="8152765" cy="602615"/>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青年发展面临的主要矛盾</a:t>
            </a:r>
            <a:endParaRPr lang="en-US" sz="1600" dirty="0"/>
          </a:p>
        </p:txBody>
      </p:sp>
      <p:sp>
        <p:nvSpPr>
          <p:cNvPr id="8" name="Text 1"/>
          <p:cNvSpPr/>
          <p:nvPr/>
        </p:nvSpPr>
        <p:spPr>
          <a:xfrm>
            <a:off x="23417530" y="1951990"/>
            <a:ext cx="4064000" cy="1746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Comic Book" pitchFamily="34" charset="0"/>
                <a:ea typeface="Comic Book" pitchFamily="34" charset="-122"/>
                <a:cs typeface="Comic Book" pitchFamily="34" charset="-120"/>
              </a:rPr>
              <a:t> </a:t>
            </a:r>
            <a:endParaRPr lang="en-US" sz="1600" dirty="0"/>
          </a:p>
        </p:txBody>
      </p:sp>
      <p:pic>
        <p:nvPicPr>
          <p:cNvPr id="9" name="Image 5" descr="https://kimi-img.moonshot.cn/pub/slides/slides_tmpl/image/25-09-05-14:19:26-d2t81rlnfo2stf9dinhg.png"/>
          <p:cNvPicPr>
            <a:picLocks noChangeAspect="1"/>
          </p:cNvPicPr>
          <p:nvPr/>
        </p:nvPicPr>
        <p:blipFill>
          <a:blip r:embed="rId6"/>
          <a:stretch>
            <a:fillRect/>
          </a:stretch>
        </p:blipFill>
        <p:spPr>
          <a:xfrm>
            <a:off x="1758950" y="1400810"/>
            <a:ext cx="3417570" cy="542925"/>
          </a:xfrm>
          <a:prstGeom prst="rect">
            <a:avLst/>
          </a:prstGeom>
        </p:spPr>
      </p:pic>
      <p:pic>
        <p:nvPicPr>
          <p:cNvPr id="10" name="Image 6" descr="https://kimi-img.moonshot.cn/pub/slides/slides_tmpl/image/25-09-05-14:19:26-d2t81rlnfo2stf9dinhg.png"/>
          <p:cNvPicPr>
            <a:picLocks noChangeAspect="1"/>
          </p:cNvPicPr>
          <p:nvPr/>
        </p:nvPicPr>
        <p:blipFill>
          <a:blip r:embed="rId6"/>
          <a:stretch>
            <a:fillRect/>
          </a:stretch>
        </p:blipFill>
        <p:spPr>
          <a:xfrm>
            <a:off x="7098030" y="1414145"/>
            <a:ext cx="3417570" cy="542925"/>
          </a:xfrm>
          <a:prstGeom prst="rect">
            <a:avLst/>
          </a:prstGeom>
        </p:spPr>
      </p:pic>
      <p:pic>
        <p:nvPicPr>
          <p:cNvPr id="11" name="Image 7" descr="https://kimi-img.moonshot.cn/pub/slides/slides_tmpl/image/25-09-05-14:19:26-d2t81rlnfo2stf9dinhg.png"/>
          <p:cNvPicPr>
            <a:picLocks noChangeAspect="1"/>
          </p:cNvPicPr>
          <p:nvPr/>
        </p:nvPicPr>
        <p:blipFill>
          <a:blip r:embed="rId6"/>
          <a:stretch>
            <a:fillRect/>
          </a:stretch>
        </p:blipFill>
        <p:spPr>
          <a:xfrm>
            <a:off x="1758950" y="3929380"/>
            <a:ext cx="3417570" cy="542925"/>
          </a:xfrm>
          <a:prstGeom prst="rect">
            <a:avLst/>
          </a:prstGeom>
        </p:spPr>
      </p:pic>
      <p:pic>
        <p:nvPicPr>
          <p:cNvPr id="12" name="Image 8" descr="https://kimi-img.moonshot.cn/pub/slides/slides_tmpl/image/25-09-05-14:19:26-d2t81rlnfo2stf9dinhg.png"/>
          <p:cNvPicPr>
            <a:picLocks noChangeAspect="1"/>
          </p:cNvPicPr>
          <p:nvPr/>
        </p:nvPicPr>
        <p:blipFill>
          <a:blip r:embed="rId6"/>
          <a:stretch>
            <a:fillRect/>
          </a:stretch>
        </p:blipFill>
        <p:spPr>
          <a:xfrm>
            <a:off x="7098030" y="3942715"/>
            <a:ext cx="3417570" cy="542925"/>
          </a:xfrm>
          <a:prstGeom prst="rect">
            <a:avLst/>
          </a:prstGeom>
        </p:spPr>
      </p:pic>
      <p:pic>
        <p:nvPicPr>
          <p:cNvPr id="13" name="Image 9" descr="https://kimi-img.moonshot.cn/pub/slides/slides_tmpl/image/25-09-05-14:18:19-d2t81atnfo2stf9din90.png"/>
          <p:cNvPicPr>
            <a:picLocks noChangeAspect="1"/>
          </p:cNvPicPr>
          <p:nvPr/>
        </p:nvPicPr>
        <p:blipFill>
          <a:blip r:embed="rId7"/>
          <a:stretch>
            <a:fillRect/>
          </a:stretch>
        </p:blipFill>
        <p:spPr>
          <a:xfrm>
            <a:off x="10742295" y="774700"/>
            <a:ext cx="679450" cy="246380"/>
          </a:xfrm>
          <a:prstGeom prst="rect">
            <a:avLst/>
          </a:prstGeom>
        </p:spPr>
      </p:pic>
      <p:sp>
        <p:nvSpPr>
          <p:cNvPr id="14" name="Text 2"/>
          <p:cNvSpPr/>
          <p:nvPr/>
        </p:nvSpPr>
        <p:spPr>
          <a:xfrm>
            <a:off x="1814195" y="1534160"/>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学历贬值与岗位竞争</a:t>
            </a:r>
            <a:endParaRPr lang="en-US" sz="1600" dirty="0"/>
          </a:p>
        </p:txBody>
      </p:sp>
      <p:sp>
        <p:nvSpPr>
          <p:cNvPr id="15" name="Text 3"/>
          <p:cNvSpPr/>
          <p:nvPr/>
        </p:nvSpPr>
        <p:spPr>
          <a:xfrm>
            <a:off x="973845" y="1979729"/>
            <a:ext cx="4741301" cy="63996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高等教育大众化使学历相对贬值，优质岗位竞争激烈。大学生需提升综合素质，增强就业竞争力，突破学历瓶颈。</a:t>
            </a:r>
            <a:endParaRPr lang="en-US" sz="1600" dirty="0"/>
          </a:p>
        </p:txBody>
      </p:sp>
      <p:sp>
        <p:nvSpPr>
          <p:cNvPr id="16" name="Text 4"/>
          <p:cNvSpPr/>
          <p:nvPr/>
        </p:nvSpPr>
        <p:spPr>
          <a:xfrm>
            <a:off x="1814195" y="4062730"/>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区域发展不平衡</a:t>
            </a:r>
            <a:endParaRPr lang="en-US" sz="1600" dirty="0"/>
          </a:p>
        </p:txBody>
      </p:sp>
      <p:sp>
        <p:nvSpPr>
          <p:cNvPr id="17" name="Text 5"/>
          <p:cNvSpPr/>
          <p:nvPr/>
        </p:nvSpPr>
        <p:spPr>
          <a:xfrm>
            <a:off x="973845" y="4508299"/>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城乡区域发展差距依然存在，大学生就业机会分布不均。应鼓励大学生到基层、到中西部地区发展，实现个人价值与社会价值的统一。</a:t>
            </a:r>
            <a:endParaRPr lang="en-US" sz="1600" dirty="0"/>
          </a:p>
        </p:txBody>
      </p:sp>
      <p:sp>
        <p:nvSpPr>
          <p:cNvPr id="18" name="Text 6"/>
          <p:cNvSpPr/>
          <p:nvPr/>
        </p:nvSpPr>
        <p:spPr>
          <a:xfrm>
            <a:off x="7256145" y="1547495"/>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个人期待与现实落差</a:t>
            </a:r>
            <a:endParaRPr lang="en-US" sz="1600" dirty="0"/>
          </a:p>
        </p:txBody>
      </p:sp>
      <p:sp>
        <p:nvSpPr>
          <p:cNvPr id="19" name="Text 7"/>
          <p:cNvSpPr/>
          <p:nvPr/>
        </p:nvSpPr>
        <p:spPr>
          <a:xfrm>
            <a:off x="6415795" y="1993064"/>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大学生对美好生活的期待与现实存在落差，易产生焦虑情绪。需引导学生树立正确价值观，理性看待个人发展与社会需求的关系。</a:t>
            </a:r>
            <a:endParaRPr lang="en-US" sz="1600" dirty="0"/>
          </a:p>
        </p:txBody>
      </p:sp>
      <p:sp>
        <p:nvSpPr>
          <p:cNvPr id="20" name="Text 8"/>
          <p:cNvSpPr/>
          <p:nvPr/>
        </p:nvSpPr>
        <p:spPr>
          <a:xfrm>
            <a:off x="7256145" y="4076065"/>
            <a:ext cx="3173730" cy="284559"/>
          </a:xfrm>
          <a:prstGeom prst="rect">
            <a:avLst/>
          </a:prstGeom>
          <a:noFill/>
          <a:ln/>
        </p:spPr>
        <p:txBody>
          <a:bodyPr wrap="square" lIns="0" tIns="0" rIns="0" bIns="0" rtlCol="0" anchor="t">
            <a:spAutoFit/>
          </a:bodyPr>
          <a:lstStyle/>
          <a:p>
            <a:pPr algn="just">
              <a:lnSpc>
                <a:spcPct val="100000"/>
              </a:lnSpc>
            </a:pPr>
            <a:r>
              <a:rPr lang="en-US" sz="1800" b="1" dirty="0">
                <a:solidFill>
                  <a:srgbClr val="C00000"/>
                </a:solidFill>
                <a:latin typeface="MiSans" pitchFamily="34" charset="0"/>
                <a:ea typeface="MiSans" pitchFamily="34" charset="-122"/>
                <a:cs typeface="MiSans" pitchFamily="34" charset="-120"/>
              </a:rPr>
              <a:t>时代责任与个人使命</a:t>
            </a:r>
            <a:endParaRPr lang="en-US" sz="1600" dirty="0"/>
          </a:p>
        </p:txBody>
      </p:sp>
      <p:sp>
        <p:nvSpPr>
          <p:cNvPr id="21" name="Text 9"/>
          <p:cNvSpPr/>
          <p:nvPr/>
        </p:nvSpPr>
        <p:spPr>
          <a:xfrm>
            <a:off x="6415795" y="4521634"/>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在时代大背景下，大学生肩负着推动民族复兴的使命。要将个人成长与国家发展紧密结合，积极投身社会实践，为国家发展贡献力量。</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02</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风险叠加</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42290" y="820420"/>
            <a:ext cx="7146290" cy="63754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AI替代与职业版图重塑</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rot="5400000">
            <a:off x="2464435" y="4380230"/>
            <a:ext cx="3318510" cy="99060"/>
          </a:xfrm>
          <a:prstGeom prst="rect">
            <a:avLst/>
          </a:prstGeom>
        </p:spPr>
      </p:pic>
      <p:pic>
        <p:nvPicPr>
          <p:cNvPr id="5" name="Image 2" descr="https://kimi-img.moonshot.cn/pub/slides/slides_tmpl/image/25-09-05-14:18:19-d2t81atnfo2stf9din8g.png"/>
          <p:cNvPicPr>
            <a:picLocks noChangeAspect="1"/>
          </p:cNvPicPr>
          <p:nvPr/>
        </p:nvPicPr>
        <p:blipFill>
          <a:blip r:embed="rId6"/>
          <a:stretch>
            <a:fillRect/>
          </a:stretch>
        </p:blipFill>
        <p:spPr>
          <a:xfrm>
            <a:off x="1812767" y="1604328"/>
            <a:ext cx="1141095" cy="1143000"/>
          </a:xfrm>
          <a:prstGeom prst="rect">
            <a:avLst/>
          </a:prstGeom>
        </p:spPr>
      </p:pic>
      <p:pic>
        <p:nvPicPr>
          <p:cNvPr id="6" name="Image 3" descr="https://kimi-img.moonshot.cn/pub/slides/slides_tmpl/image/25-09-05-14:18:19-d2t81atnfo2stf9din8g.png"/>
          <p:cNvPicPr>
            <a:picLocks noChangeAspect="1"/>
          </p:cNvPicPr>
          <p:nvPr/>
        </p:nvPicPr>
        <p:blipFill>
          <a:blip r:embed="rId6"/>
          <a:stretch>
            <a:fillRect/>
          </a:stretch>
        </p:blipFill>
        <p:spPr>
          <a:xfrm>
            <a:off x="5525612" y="1604328"/>
            <a:ext cx="1141095" cy="1143000"/>
          </a:xfrm>
          <a:prstGeom prst="rect">
            <a:avLst/>
          </a:prstGeom>
        </p:spPr>
      </p:pic>
      <p:pic>
        <p:nvPicPr>
          <p:cNvPr id="7" name="Image 4" descr="https://kimi-img.moonshot.cn/pub/slides/slides_tmpl/image/25-09-05-14:19:26-d2t81rlnfo2stf9dingg.png"/>
          <p:cNvPicPr>
            <a:picLocks noChangeAspect="1"/>
          </p:cNvPicPr>
          <p:nvPr/>
        </p:nvPicPr>
        <p:blipFill>
          <a:blip r:embed="rId7"/>
          <a:srcRect t="8" b="8"/>
          <a:stretch/>
        </p:blipFill>
        <p:spPr>
          <a:xfrm>
            <a:off x="7688580" y="2414270"/>
            <a:ext cx="4037330" cy="3502025"/>
          </a:xfrm>
          <a:prstGeom prst="rect">
            <a:avLst/>
          </a:prstGeom>
        </p:spPr>
      </p:pic>
      <p:pic>
        <p:nvPicPr>
          <p:cNvPr id="8" name="Image 5" descr="https://kimi-img.moonshot.cn/pub/slides/slides_tmpl/image/25-09-05-14:18:19-d2t81atnfo2stf9din90.png"/>
          <p:cNvPicPr>
            <a:picLocks noChangeAspect="1"/>
          </p:cNvPicPr>
          <p:nvPr/>
        </p:nvPicPr>
        <p:blipFill>
          <a:blip r:embed="rId8"/>
          <a:stretch>
            <a:fillRect/>
          </a:stretch>
        </p:blipFill>
        <p:spPr>
          <a:xfrm>
            <a:off x="10742295" y="1016000"/>
            <a:ext cx="679450" cy="246380"/>
          </a:xfrm>
          <a:prstGeom prst="rect">
            <a:avLst/>
          </a:prstGeom>
        </p:spPr>
      </p:pic>
      <p:sp>
        <p:nvSpPr>
          <p:cNvPr id="9" name="Text 1"/>
          <p:cNvSpPr/>
          <p:nvPr/>
        </p:nvSpPr>
        <p:spPr>
          <a:xfrm>
            <a:off x="2137887" y="1960563"/>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01</a:t>
            </a:r>
            <a:endParaRPr lang="en-US" sz="1600" dirty="0"/>
          </a:p>
        </p:txBody>
      </p:sp>
      <p:sp>
        <p:nvSpPr>
          <p:cNvPr id="10" name="Text 2"/>
          <p:cNvSpPr/>
          <p:nvPr/>
        </p:nvSpPr>
        <p:spPr>
          <a:xfrm>
            <a:off x="1049655" y="2723515"/>
            <a:ext cx="2667000" cy="306784"/>
          </a:xfrm>
          <a:prstGeom prst="rect">
            <a:avLst/>
          </a:prstGeom>
          <a:noFill/>
          <a:ln/>
        </p:spPr>
        <p:txBody>
          <a:bodyPr wrap="square" lIns="0" tIns="0" rIns="0" bIns="0" rtlCol="0" anchor="t">
            <a:spAutoFit/>
          </a:bodyPr>
          <a:lstStyle/>
          <a:p>
            <a:pPr algn="ctr">
              <a:lnSpc>
                <a:spcPct val="100000"/>
              </a:lnSpc>
            </a:pPr>
            <a:r>
              <a:rPr lang="en-US" sz="2000" b="1" dirty="0">
                <a:solidFill>
                  <a:srgbClr val="C80405"/>
                </a:solidFill>
                <a:latin typeface="MiSans" pitchFamily="34" charset="0"/>
                <a:ea typeface="MiSans" pitchFamily="34" charset="-122"/>
                <a:cs typeface="MiSans" pitchFamily="34" charset="-120"/>
              </a:rPr>
              <a:t>AI对就业的影响</a:t>
            </a:r>
            <a:endParaRPr lang="en-US" sz="1600" dirty="0"/>
          </a:p>
        </p:txBody>
      </p:sp>
      <p:sp>
        <p:nvSpPr>
          <p:cNvPr id="11" name="Text 3"/>
          <p:cNvSpPr/>
          <p:nvPr/>
        </p:nvSpPr>
        <p:spPr>
          <a:xfrm>
            <a:off x="914373" y="3471432"/>
            <a:ext cx="2859341" cy="19200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人工智能的快速发展对传统就业市场产生冲击，许多重复性、规律性的工作岗位面临被替代的风险。大学生需关注行业动态，提前规划职业发展路径，避免陷入被替代的困境。</a:t>
            </a:r>
            <a:endParaRPr lang="en-US" sz="1600" dirty="0"/>
          </a:p>
        </p:txBody>
      </p:sp>
      <p:sp>
        <p:nvSpPr>
          <p:cNvPr id="12" name="Text 4"/>
          <p:cNvSpPr/>
          <p:nvPr/>
        </p:nvSpPr>
        <p:spPr>
          <a:xfrm>
            <a:off x="5850732" y="1960563"/>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02</a:t>
            </a:r>
            <a:endParaRPr lang="en-US" sz="1600" dirty="0"/>
          </a:p>
        </p:txBody>
      </p:sp>
      <p:sp>
        <p:nvSpPr>
          <p:cNvPr id="13" name="Text 5"/>
          <p:cNvSpPr/>
          <p:nvPr/>
        </p:nvSpPr>
        <p:spPr>
          <a:xfrm>
            <a:off x="4659630" y="2724150"/>
            <a:ext cx="2779395" cy="306784"/>
          </a:xfrm>
          <a:prstGeom prst="rect">
            <a:avLst/>
          </a:prstGeom>
          <a:noFill/>
          <a:ln/>
        </p:spPr>
        <p:txBody>
          <a:bodyPr wrap="square" lIns="0" tIns="0" rIns="0" bIns="0" rtlCol="0" anchor="t">
            <a:spAutoFit/>
          </a:bodyPr>
          <a:lstStyle/>
          <a:p>
            <a:pPr algn="ctr">
              <a:lnSpc>
                <a:spcPct val="100000"/>
              </a:lnSpc>
            </a:pPr>
            <a:r>
              <a:rPr lang="en-US" sz="2000" b="1" dirty="0">
                <a:solidFill>
                  <a:srgbClr val="C80405"/>
                </a:solidFill>
                <a:latin typeface="MiSans" pitchFamily="34" charset="0"/>
                <a:ea typeface="MiSans" pitchFamily="34" charset="-122"/>
                <a:cs typeface="MiSans" pitchFamily="34" charset="-120"/>
              </a:rPr>
              <a:t>复合型人才需求</a:t>
            </a:r>
            <a:endParaRPr lang="en-US" sz="1600" dirty="0"/>
          </a:p>
        </p:txBody>
      </p:sp>
      <p:sp>
        <p:nvSpPr>
          <p:cNvPr id="14" name="Text 6"/>
          <p:cNvSpPr/>
          <p:nvPr/>
        </p:nvSpPr>
        <p:spPr>
          <a:xfrm>
            <a:off x="4579115" y="3471432"/>
            <a:ext cx="2859341"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企业对复合型人才的需求日益增长，单一专业技能已难以满足市场要求。大学生应拓宽知识面，培养跨学科思维，提升综合能力，以适应职业版图的重塑。</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42215" y="595306"/>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信息过载与认知碎片化</a:t>
            </a:r>
            <a:endParaRPr lang="en-US" sz="1600" dirty="0"/>
          </a:p>
        </p:txBody>
      </p:sp>
      <p:pic>
        <p:nvPicPr>
          <p:cNvPr id="4" name="Image 1" descr="https://kimi-img.moonshot.cn/pub/slides/slides_tmpl/image/25-09-05-14:19:59-d2t823tnfo2stf9dinkg.jpeg"/>
          <p:cNvPicPr>
            <a:picLocks noChangeAspect="1"/>
          </p:cNvPicPr>
          <p:nvPr/>
        </p:nvPicPr>
        <p:blipFill>
          <a:blip r:embed="rId5"/>
          <a:srcRect t="33911" b="33911"/>
          <a:stretch/>
        </p:blipFill>
        <p:spPr>
          <a:xfrm>
            <a:off x="635000" y="1337310"/>
            <a:ext cx="11033125" cy="2369820"/>
          </a:xfrm>
          <a:prstGeom prst="rect">
            <a:avLst/>
          </a:prstGeom>
        </p:spPr>
      </p:pic>
      <p:pic>
        <p:nvPicPr>
          <p:cNvPr id="5" name="Image 2" descr="https://kimi-img.moonshot.cn/pub/slides/slides_tmpl/image/25-09-05-14:18:18-d2t81alnfo2stf9din70.png"/>
          <p:cNvPicPr>
            <a:picLocks noChangeAspect="1"/>
          </p:cNvPicPr>
          <p:nvPr/>
        </p:nvPicPr>
        <p:blipFill>
          <a:blip r:embed="rId6"/>
          <a:stretch>
            <a:fillRect/>
          </a:stretch>
        </p:blipFill>
        <p:spPr>
          <a:xfrm rot="5400000" flipV="1">
            <a:off x="3437890" y="5039995"/>
            <a:ext cx="1972945" cy="76200"/>
          </a:xfrm>
          <a:prstGeom prst="rect">
            <a:avLst/>
          </a:prstGeom>
        </p:spPr>
      </p:pic>
      <p:pic>
        <p:nvPicPr>
          <p:cNvPr id="6" name="Image 3" descr="https://kimi-img.moonshot.cn/pub/slides/slides_tmpl/image/25-09-05-14:18:18-d2t81alnfo2stf9din60.jpg"/>
          <p:cNvPicPr>
            <a:picLocks noChangeAspect="1"/>
          </p:cNvPicPr>
          <p:nvPr/>
        </p:nvPicPr>
        <p:blipFill>
          <a:blip r:embed="rId7"/>
          <a:stretch>
            <a:fillRect/>
          </a:stretch>
        </p:blipFill>
        <p:spPr>
          <a:xfrm>
            <a:off x="635000" y="3246755"/>
            <a:ext cx="11033125" cy="538480"/>
          </a:xfrm>
          <a:prstGeom prst="rect">
            <a:avLst/>
          </a:prstGeom>
        </p:spPr>
      </p:pic>
      <p:pic>
        <p:nvPicPr>
          <p:cNvPr id="7" name="Image 4" descr="https://kimi-img.moonshot.cn/pub/slides/slides_tmpl/image/25-09-05-14:18:18-d2t81alnfo2stf9din70.png"/>
          <p:cNvPicPr>
            <a:picLocks noChangeAspect="1"/>
          </p:cNvPicPr>
          <p:nvPr/>
        </p:nvPicPr>
        <p:blipFill>
          <a:blip r:embed="rId6"/>
          <a:stretch>
            <a:fillRect/>
          </a:stretch>
        </p:blipFill>
        <p:spPr>
          <a:xfrm rot="5400000" flipV="1">
            <a:off x="7085965" y="5039995"/>
            <a:ext cx="1972945" cy="76200"/>
          </a:xfrm>
          <a:prstGeom prst="rect">
            <a:avLst/>
          </a:prstGeom>
        </p:spPr>
      </p:pic>
      <p:pic>
        <p:nvPicPr>
          <p:cNvPr id="8" name="Image 5" descr="https://kimi-img.moonshot.cn/pub/slides/slides_tmpl/image/25-09-05-14:18:19-d2t81atnfo2stf9din90.png"/>
          <p:cNvPicPr>
            <a:picLocks noChangeAspect="1"/>
          </p:cNvPicPr>
          <p:nvPr/>
        </p:nvPicPr>
        <p:blipFill>
          <a:blip r:embed="rId8"/>
          <a:stretch>
            <a:fillRect/>
          </a:stretch>
        </p:blipFill>
        <p:spPr>
          <a:xfrm>
            <a:off x="10742295" y="774700"/>
            <a:ext cx="679450" cy="246380"/>
          </a:xfrm>
          <a:prstGeom prst="rect">
            <a:avLst/>
          </a:prstGeom>
        </p:spPr>
      </p:pic>
      <p:sp>
        <p:nvSpPr>
          <p:cNvPr id="9" name="Text 1"/>
          <p:cNvSpPr/>
          <p:nvPr/>
        </p:nvSpPr>
        <p:spPr>
          <a:xfrm>
            <a:off x="786130" y="3385185"/>
            <a:ext cx="3402965" cy="284559"/>
          </a:xfrm>
          <a:prstGeom prst="rect">
            <a:avLst/>
          </a:prstGeom>
          <a:noFill/>
          <a:ln/>
        </p:spPr>
        <p:txBody>
          <a:bodyPr wrap="square" lIns="0" tIns="0" rIns="0" bIns="0" rtlCol="0" anchor="t">
            <a:spAutoFit/>
          </a:bodyPr>
          <a:lstStyle/>
          <a:p>
            <a:pPr algn="ctr">
              <a:lnSpc>
                <a:spcPct val="100000"/>
              </a:lnSpc>
            </a:pPr>
            <a:r>
              <a:rPr lang="en-US" sz="1800" b="1" dirty="0">
                <a:solidFill>
                  <a:srgbClr val="FEF8E2"/>
                </a:solidFill>
                <a:latin typeface="MiSans" pitchFamily="34" charset="0"/>
                <a:ea typeface="MiSans" pitchFamily="34" charset="-122"/>
                <a:cs typeface="MiSans" pitchFamily="34" charset="-120"/>
              </a:rPr>
              <a:t>信息过载现象</a:t>
            </a:r>
            <a:endParaRPr lang="en-US" sz="1600" dirty="0"/>
          </a:p>
        </p:txBody>
      </p:sp>
      <p:sp>
        <p:nvSpPr>
          <p:cNvPr id="10" name="Text 2"/>
          <p:cNvSpPr/>
          <p:nvPr/>
        </p:nvSpPr>
        <p:spPr>
          <a:xfrm>
            <a:off x="909955" y="3931920"/>
            <a:ext cx="3207385"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在信息爆炸的时代，大学生面临着海量信息的冲击，容易陷入信息过载的困境。这不仅分散了注意力，还影响了对知识的深度理解和吸收。</a:t>
            </a:r>
            <a:endParaRPr lang="en-US" sz="1600" dirty="0"/>
          </a:p>
        </p:txBody>
      </p:sp>
      <p:sp>
        <p:nvSpPr>
          <p:cNvPr id="11" name="Text 3"/>
          <p:cNvSpPr/>
          <p:nvPr/>
        </p:nvSpPr>
        <p:spPr>
          <a:xfrm>
            <a:off x="4398645" y="3385185"/>
            <a:ext cx="3402965" cy="284559"/>
          </a:xfrm>
          <a:prstGeom prst="rect">
            <a:avLst/>
          </a:prstGeom>
          <a:noFill/>
          <a:ln/>
        </p:spPr>
        <p:txBody>
          <a:bodyPr wrap="square" lIns="0" tIns="0" rIns="0" bIns="0" rtlCol="0" anchor="t">
            <a:spAutoFit/>
          </a:bodyPr>
          <a:lstStyle/>
          <a:p>
            <a:pPr algn="ctr">
              <a:lnSpc>
                <a:spcPct val="100000"/>
              </a:lnSpc>
            </a:pPr>
            <a:r>
              <a:rPr lang="en-US" sz="1800" b="1" dirty="0">
                <a:solidFill>
                  <a:srgbClr val="FEF8E2"/>
                </a:solidFill>
                <a:latin typeface="MiSans" pitchFamily="34" charset="0"/>
                <a:ea typeface="MiSans" pitchFamily="34" charset="-122"/>
                <a:cs typeface="MiSans" pitchFamily="34" charset="-120"/>
              </a:rPr>
              <a:t>认知碎片化问题</a:t>
            </a:r>
            <a:endParaRPr lang="en-US" sz="1600" dirty="0"/>
          </a:p>
        </p:txBody>
      </p:sp>
      <p:sp>
        <p:nvSpPr>
          <p:cNvPr id="12" name="Text 4"/>
          <p:cNvSpPr/>
          <p:nvPr/>
        </p:nvSpPr>
        <p:spPr>
          <a:xfrm>
            <a:off x="4548505" y="3931920"/>
            <a:ext cx="3253105"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碎片化信息的传播方式使大学生的认知结构趋于碎片化，缺乏系统性和连贯性。这可能导致价值观的漂浮和思维的浅薄化，不利于个人成长。</a:t>
            </a:r>
            <a:endParaRPr lang="en-US" sz="1600" dirty="0"/>
          </a:p>
        </p:txBody>
      </p:sp>
      <p:sp>
        <p:nvSpPr>
          <p:cNvPr id="13" name="Text 5"/>
          <p:cNvSpPr/>
          <p:nvPr/>
        </p:nvSpPr>
        <p:spPr>
          <a:xfrm>
            <a:off x="8085455" y="3385185"/>
            <a:ext cx="3402965" cy="284559"/>
          </a:xfrm>
          <a:prstGeom prst="rect">
            <a:avLst/>
          </a:prstGeom>
          <a:noFill/>
          <a:ln/>
        </p:spPr>
        <p:txBody>
          <a:bodyPr wrap="square" lIns="0" tIns="0" rIns="0" bIns="0" rtlCol="0" anchor="t">
            <a:spAutoFit/>
          </a:bodyPr>
          <a:lstStyle/>
          <a:p>
            <a:pPr algn="ctr">
              <a:lnSpc>
                <a:spcPct val="100000"/>
              </a:lnSpc>
            </a:pPr>
            <a:r>
              <a:rPr lang="en-US" sz="1800" b="1" dirty="0">
                <a:solidFill>
                  <a:srgbClr val="FEF8E2"/>
                </a:solidFill>
                <a:latin typeface="MiSans" pitchFamily="34" charset="0"/>
                <a:ea typeface="MiSans" pitchFamily="34" charset="-122"/>
                <a:cs typeface="MiSans" pitchFamily="34" charset="-120"/>
              </a:rPr>
              <a:t>应对策略</a:t>
            </a:r>
            <a:endParaRPr lang="en-US" sz="1600" dirty="0"/>
          </a:p>
        </p:txBody>
      </p:sp>
      <p:sp>
        <p:nvSpPr>
          <p:cNvPr id="14" name="Text 6"/>
          <p:cNvSpPr/>
          <p:nvPr/>
        </p:nvSpPr>
        <p:spPr>
          <a:xfrm>
            <a:off x="8285480" y="3931920"/>
            <a:ext cx="3208655"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大学生应学会筛选信息，培养深度阅读和批判性思维能力。通过系统学习和实践锻炼，提升认知水平，构建完整的知识体系，抵御认知碎片化的侵蚀。</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694055" y="1024255"/>
            <a:ext cx="5401310" cy="134239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心理高压与意义感流失</a:t>
            </a:r>
            <a:endParaRPr lang="en-US" sz="1600" dirty="0"/>
          </a:p>
        </p:txBody>
      </p:sp>
      <p:pic>
        <p:nvPicPr>
          <p:cNvPr id="4" name="Image 1" descr="https://kimi-img.moonshot.cn/pub/slides/slides_tmpl/image/25-09-05-14:19:14-d2t81olnfo2stf9dincg.jpeg"/>
          <p:cNvPicPr>
            <a:picLocks noChangeAspect="1"/>
          </p:cNvPicPr>
          <p:nvPr/>
        </p:nvPicPr>
        <p:blipFill>
          <a:blip r:embed="rId5"/>
          <a:srcRect l="19703" r="19703"/>
          <a:stretch/>
        </p:blipFill>
        <p:spPr>
          <a:xfrm>
            <a:off x="7301865" y="1024255"/>
            <a:ext cx="4269105" cy="4695825"/>
          </a:xfrm>
          <a:prstGeom prst="rect">
            <a:avLst/>
          </a:prstGeom>
        </p:spPr>
      </p:pic>
      <p:pic>
        <p:nvPicPr>
          <p:cNvPr id="5" name="Image 2" descr="https://kimi-img.moonshot.cn/pub/slides/slides_tmpl/image/25-09-05-14:18:19-d2t81atnfo2stf9din90.png"/>
          <p:cNvPicPr>
            <a:picLocks noChangeAspect="1"/>
          </p:cNvPicPr>
          <p:nvPr/>
        </p:nvPicPr>
        <p:blipFill>
          <a:blip r:embed="rId6"/>
          <a:stretch>
            <a:fillRect/>
          </a:stretch>
        </p:blipFill>
        <p:spPr>
          <a:xfrm>
            <a:off x="913130" y="5849620"/>
            <a:ext cx="679450" cy="246380"/>
          </a:xfrm>
          <a:prstGeom prst="rect">
            <a:avLst/>
          </a:prstGeom>
        </p:spPr>
      </p:pic>
      <p:pic>
        <p:nvPicPr>
          <p:cNvPr id="6" name="Image 3" descr="https://kimi-img.moonshot.cn/pub/slides/slides_tmpl/image/25-09-05-14:18:18-d2t81alnfo2stf9din70.png"/>
          <p:cNvPicPr>
            <a:picLocks noChangeAspect="1"/>
          </p:cNvPicPr>
          <p:nvPr/>
        </p:nvPicPr>
        <p:blipFill>
          <a:blip r:embed="rId7"/>
          <a:stretch>
            <a:fillRect/>
          </a:stretch>
        </p:blipFill>
        <p:spPr>
          <a:xfrm flipH="1">
            <a:off x="8826500" y="6016625"/>
            <a:ext cx="2663825" cy="79375"/>
          </a:xfrm>
          <a:prstGeom prst="rect">
            <a:avLst/>
          </a:prstGeom>
        </p:spPr>
      </p:pic>
      <p:sp>
        <p:nvSpPr>
          <p:cNvPr id="7" name="Text 1"/>
          <p:cNvSpPr/>
          <p:nvPr/>
        </p:nvSpPr>
        <p:spPr>
          <a:xfrm>
            <a:off x="817272" y="2985249"/>
            <a:ext cx="3894025" cy="306784"/>
          </a:xfrm>
          <a:prstGeom prst="rect">
            <a:avLst/>
          </a:prstGeom>
          <a:noFill/>
          <a:ln/>
        </p:spPr>
        <p:txBody>
          <a:bodyPr wrap="square" lIns="0" tIns="0" rIns="0" bIns="0" rtlCol="0" anchor="t">
            <a:spAutoFit/>
          </a:bodyPr>
          <a:lstStyle/>
          <a:p>
            <a:pPr algn="just">
              <a:lnSpc>
                <a:spcPct val="100000"/>
              </a:lnSpc>
            </a:pPr>
            <a:r>
              <a:rPr lang="en-US" sz="2000" b="1" dirty="0">
                <a:solidFill>
                  <a:srgbClr val="C80405"/>
                </a:solidFill>
                <a:latin typeface="MiSans" pitchFamily="34" charset="0"/>
                <a:ea typeface="MiSans" pitchFamily="34" charset="-122"/>
                <a:cs typeface="MiSans" pitchFamily="34" charset="-120"/>
              </a:rPr>
              <a:t>心理压力与应对</a:t>
            </a:r>
            <a:endParaRPr lang="en-US" sz="1600" dirty="0"/>
          </a:p>
        </p:txBody>
      </p:sp>
      <p:sp>
        <p:nvSpPr>
          <p:cNvPr id="8" name="Text 2"/>
          <p:cNvSpPr/>
          <p:nvPr/>
        </p:nvSpPr>
        <p:spPr>
          <a:xfrm>
            <a:off x="694055" y="3364865"/>
            <a:ext cx="6134735" cy="1909445"/>
          </a:xfrm>
          <a:prstGeom prst="rect">
            <a:avLst/>
          </a:prstGeom>
          <a:noFill/>
          <a:ln/>
        </p:spPr>
        <p:txBody>
          <a:bodyPr wrap="square" lIns="91440" tIns="45720" rIns="91440" bIns="45720" rtlCol="0" anchor="t"/>
          <a:lstStyle/>
          <a:p>
            <a:pPr algn="just">
              <a:lnSpc>
                <a:spcPct val="150000"/>
              </a:lnSpc>
            </a:pPr>
            <a:r>
              <a:rPr lang="en-US" sz="1400" dirty="0">
                <a:solidFill>
                  <a:srgbClr val="000000"/>
                </a:solidFill>
                <a:latin typeface="MiSans" pitchFamily="34" charset="0"/>
                <a:ea typeface="MiSans" pitchFamily="34" charset="-122"/>
                <a:cs typeface="MiSans" pitchFamily="34" charset="-120"/>
              </a:rPr>
              <a:t>考研、考公、就业等多重压力使大学生面临心理高压，容易产生焦虑和迷茫。需引导学生树立正确心态，增强心理韧性，积极应对挑战，寻找生活和学习的意义。</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03</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思想领航</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33-d2t81tdnfo2stf9dinig.png"/>
          <p:cNvPicPr>
            <a:picLocks noChangeAspect="1"/>
          </p:cNvPicPr>
          <p:nvPr/>
        </p:nvPicPr>
        <p:blipFill>
          <a:blip r:embed="rId5"/>
          <a:stretch>
            <a:fillRect/>
          </a:stretch>
        </p:blipFill>
        <p:spPr>
          <a:xfrm>
            <a:off x="542290" y="3834130"/>
            <a:ext cx="11191875" cy="2705735"/>
          </a:xfrm>
          <a:prstGeom prst="rect">
            <a:avLst/>
          </a:prstGeom>
        </p:spPr>
      </p:pic>
      <p:pic>
        <p:nvPicPr>
          <p:cNvPr id="4" name="Image 2" descr="https://kimi-img.moonshot.cn/pub/slides/slides_tmpl/image/25-09-05-14:19:33-d2t81tdnfo2stf9dinig.png"/>
          <p:cNvPicPr>
            <a:picLocks noChangeAspect="1"/>
          </p:cNvPicPr>
          <p:nvPr/>
        </p:nvPicPr>
        <p:blipFill>
          <a:blip r:embed="rId5"/>
          <a:stretch>
            <a:fillRect/>
          </a:stretch>
        </p:blipFill>
        <p:spPr>
          <a:xfrm>
            <a:off x="542290" y="1373505"/>
            <a:ext cx="11191875" cy="2549525"/>
          </a:xfrm>
          <a:prstGeom prst="rect">
            <a:avLst/>
          </a:prstGeom>
        </p:spPr>
      </p:pic>
      <p:sp>
        <p:nvSpPr>
          <p:cNvPr id="5" name="Text 0"/>
          <p:cNvSpPr/>
          <p:nvPr/>
        </p:nvSpPr>
        <p:spPr>
          <a:xfrm>
            <a:off x="542215" y="789616"/>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新思想照亮青年成长道路</a:t>
            </a:r>
            <a:endParaRPr lang="en-US" sz="1600" dirty="0"/>
          </a:p>
        </p:txBody>
      </p:sp>
      <p:pic>
        <p:nvPicPr>
          <p:cNvPr id="6" name="Image 3" descr="https://kimi-img.moonshot.cn/pub/slides/slides_tmpl/image/25-09-05-14:18:18-d2t81alnfo2stf9din70.png"/>
          <p:cNvPicPr>
            <a:picLocks noChangeAspect="1"/>
          </p:cNvPicPr>
          <p:nvPr/>
        </p:nvPicPr>
        <p:blipFill>
          <a:blip r:embed="rId6"/>
          <a:stretch>
            <a:fillRect/>
          </a:stretch>
        </p:blipFill>
        <p:spPr>
          <a:xfrm rot="5400000" flipV="1">
            <a:off x="4947920" y="2641600"/>
            <a:ext cx="1972945" cy="76200"/>
          </a:xfrm>
          <a:prstGeom prst="rect">
            <a:avLst/>
          </a:prstGeom>
        </p:spPr>
      </p:pic>
      <p:pic>
        <p:nvPicPr>
          <p:cNvPr id="7" name="Image 4" descr="https://kimi-img.moonshot.cn/pub/slides/slides_tmpl/image/25-09-05-14:18:18-d2t81alnfo2stf9din70.png"/>
          <p:cNvPicPr>
            <a:picLocks noChangeAspect="1"/>
          </p:cNvPicPr>
          <p:nvPr/>
        </p:nvPicPr>
        <p:blipFill>
          <a:blip r:embed="rId6"/>
          <a:stretch>
            <a:fillRect/>
          </a:stretch>
        </p:blipFill>
        <p:spPr>
          <a:xfrm rot="5400000" flipV="1">
            <a:off x="4947920" y="5179060"/>
            <a:ext cx="1972945" cy="76200"/>
          </a:xfrm>
          <a:prstGeom prst="rect">
            <a:avLst/>
          </a:prstGeom>
        </p:spPr>
      </p:pic>
      <p:pic>
        <p:nvPicPr>
          <p:cNvPr id="8" name="Image 5" descr="https://kimi-img.moonshot.cn/pub/slides/slides_tmpl/image/25-09-05-14:18:19-d2t81atnfo2stf9din90.png"/>
          <p:cNvPicPr>
            <a:picLocks noChangeAspect="1"/>
          </p:cNvPicPr>
          <p:nvPr/>
        </p:nvPicPr>
        <p:blipFill>
          <a:blip r:embed="rId7"/>
          <a:stretch>
            <a:fillRect/>
          </a:stretch>
        </p:blipFill>
        <p:spPr>
          <a:xfrm>
            <a:off x="10742295" y="843915"/>
            <a:ext cx="679450" cy="246380"/>
          </a:xfrm>
          <a:prstGeom prst="rect">
            <a:avLst/>
          </a:prstGeom>
        </p:spPr>
      </p:pic>
      <p:sp>
        <p:nvSpPr>
          <p:cNvPr id="9" name="Text 1"/>
          <p:cNvSpPr/>
          <p:nvPr/>
        </p:nvSpPr>
        <p:spPr>
          <a:xfrm>
            <a:off x="1107104" y="1726360"/>
            <a:ext cx="3865625" cy="284559"/>
          </a:xfrm>
          <a:prstGeom prst="rect">
            <a:avLst/>
          </a:prstGeom>
          <a:noFill/>
          <a:ln/>
        </p:spPr>
        <p:txBody>
          <a:bodyPr wrap="square" lIns="0" tIns="0" rIns="0" bIns="0" rtlCol="0" anchor="t">
            <a:spAutoFit/>
          </a:bodyPr>
          <a:lstStyle/>
          <a:p>
            <a:pPr algn="just">
              <a:lnSpc>
                <a:spcPct val="100000"/>
              </a:lnSpc>
            </a:pPr>
            <a:r>
              <a:rPr lang="en-US" sz="1800" b="1" dirty="0">
                <a:solidFill>
                  <a:srgbClr val="C80405"/>
                </a:solidFill>
                <a:latin typeface="MiSans" pitchFamily="34" charset="0"/>
                <a:ea typeface="MiSans" pitchFamily="34" charset="-122"/>
                <a:cs typeface="MiSans" pitchFamily="34" charset="-120"/>
              </a:rPr>
              <a:t>新思想的核心要义</a:t>
            </a:r>
            <a:endParaRPr lang="en-US" sz="1600" dirty="0"/>
          </a:p>
        </p:txBody>
      </p:sp>
      <p:sp>
        <p:nvSpPr>
          <p:cNvPr id="10" name="Text 2"/>
          <p:cNvSpPr/>
          <p:nvPr/>
        </p:nvSpPr>
        <p:spPr>
          <a:xfrm>
            <a:off x="1025525" y="1986280"/>
            <a:ext cx="4678680"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习近平新时代中国特色社会主义思想为青年成长提供了科学指引，强调理想信念、家国情怀和责任担当，引导大学生树立正确的世界观、人生观和价值观。</a:t>
            </a:r>
            <a:endParaRPr lang="en-US" sz="1600" dirty="0"/>
          </a:p>
        </p:txBody>
      </p:sp>
      <p:sp>
        <p:nvSpPr>
          <p:cNvPr id="11" name="Text 3"/>
          <p:cNvSpPr/>
          <p:nvPr/>
        </p:nvSpPr>
        <p:spPr>
          <a:xfrm>
            <a:off x="1107104" y="4253660"/>
            <a:ext cx="3865625" cy="284559"/>
          </a:xfrm>
          <a:prstGeom prst="rect">
            <a:avLst/>
          </a:prstGeom>
          <a:noFill/>
          <a:ln/>
        </p:spPr>
        <p:txBody>
          <a:bodyPr wrap="square" lIns="0" tIns="0" rIns="0" bIns="0" rtlCol="0" anchor="t">
            <a:spAutoFit/>
          </a:bodyPr>
          <a:lstStyle/>
          <a:p>
            <a:pPr algn="just">
              <a:lnSpc>
                <a:spcPct val="100000"/>
              </a:lnSpc>
            </a:pPr>
            <a:r>
              <a:rPr lang="en-US" sz="1800" b="1" dirty="0">
                <a:solidFill>
                  <a:srgbClr val="C80405"/>
                </a:solidFill>
                <a:latin typeface="MiSans" pitchFamily="34" charset="0"/>
                <a:ea typeface="MiSans" pitchFamily="34" charset="-122"/>
                <a:cs typeface="MiSans" pitchFamily="34" charset="-120"/>
              </a:rPr>
              <a:t>历史连续感的建立</a:t>
            </a:r>
            <a:endParaRPr lang="en-US" sz="1600" dirty="0"/>
          </a:p>
        </p:txBody>
      </p:sp>
      <p:sp>
        <p:nvSpPr>
          <p:cNvPr id="12" name="Text 4"/>
          <p:cNvSpPr/>
          <p:nvPr/>
        </p:nvSpPr>
        <p:spPr>
          <a:xfrm>
            <a:off x="1025775" y="4564248"/>
            <a:ext cx="4676526"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通过思想概论课的学习，大学生能够从站起来、富起来到强起来的历史脉络中，深刻理解国家发展的艰辛历程和伟大成就，增强民族自豪感。</a:t>
            </a:r>
            <a:endParaRPr lang="en-US" sz="1600" dirty="0"/>
          </a:p>
        </p:txBody>
      </p:sp>
      <p:sp>
        <p:nvSpPr>
          <p:cNvPr id="13" name="Text 5"/>
          <p:cNvSpPr/>
          <p:nvPr/>
        </p:nvSpPr>
        <p:spPr>
          <a:xfrm>
            <a:off x="6286500" y="1726360"/>
            <a:ext cx="3865625" cy="284559"/>
          </a:xfrm>
          <a:prstGeom prst="rect">
            <a:avLst/>
          </a:prstGeom>
          <a:noFill/>
          <a:ln/>
        </p:spPr>
        <p:txBody>
          <a:bodyPr wrap="square" lIns="0" tIns="0" rIns="0" bIns="0" rtlCol="0" anchor="t">
            <a:spAutoFit/>
          </a:bodyPr>
          <a:lstStyle/>
          <a:p>
            <a:pPr algn="just">
              <a:lnSpc>
                <a:spcPct val="100000"/>
              </a:lnSpc>
            </a:pPr>
            <a:r>
              <a:rPr lang="en-US" sz="1800" b="1" dirty="0">
                <a:solidFill>
                  <a:srgbClr val="C80405"/>
                </a:solidFill>
                <a:latin typeface="MiSans" pitchFamily="34" charset="0"/>
                <a:ea typeface="MiSans" pitchFamily="34" charset="-122"/>
                <a:cs typeface="MiSans" pitchFamily="34" charset="-120"/>
              </a:rPr>
              <a:t>分析时代问题的方法论</a:t>
            </a:r>
            <a:endParaRPr lang="en-US" sz="1600" dirty="0"/>
          </a:p>
        </p:txBody>
      </p:sp>
      <p:sp>
        <p:nvSpPr>
          <p:cNvPr id="14" name="Text 6"/>
          <p:cNvSpPr/>
          <p:nvPr/>
        </p:nvSpPr>
        <p:spPr>
          <a:xfrm>
            <a:off x="6205220" y="1986280"/>
            <a:ext cx="4323715"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掌握新思想不仅是学习理论知识，更是获得分析和解决时代问题的方法论。大学生要学会运用新思想指导实践，应对复杂多变的社会挑战。</a:t>
            </a:r>
            <a:endParaRPr lang="en-US" sz="1600" dirty="0"/>
          </a:p>
        </p:txBody>
      </p:sp>
      <p:sp>
        <p:nvSpPr>
          <p:cNvPr id="15" name="Text 7"/>
          <p:cNvSpPr/>
          <p:nvPr/>
        </p:nvSpPr>
        <p:spPr>
          <a:xfrm>
            <a:off x="6286500" y="4253660"/>
            <a:ext cx="3865625" cy="284559"/>
          </a:xfrm>
          <a:prstGeom prst="rect">
            <a:avLst/>
          </a:prstGeom>
          <a:noFill/>
          <a:ln/>
        </p:spPr>
        <p:txBody>
          <a:bodyPr wrap="square" lIns="0" tIns="0" rIns="0" bIns="0" rtlCol="0" anchor="t">
            <a:spAutoFit/>
          </a:bodyPr>
          <a:lstStyle/>
          <a:p>
            <a:pPr algn="just">
              <a:lnSpc>
                <a:spcPct val="100000"/>
              </a:lnSpc>
            </a:pPr>
            <a:r>
              <a:rPr lang="en-US" sz="1800" b="1" dirty="0">
                <a:solidFill>
                  <a:srgbClr val="C80405"/>
                </a:solidFill>
                <a:latin typeface="MiSans" pitchFamily="34" charset="0"/>
                <a:ea typeface="MiSans" pitchFamily="34" charset="-122"/>
                <a:cs typeface="MiSans" pitchFamily="34" charset="-120"/>
              </a:rPr>
              <a:t>个人成长与时代同频</a:t>
            </a:r>
            <a:endParaRPr lang="en-US" sz="1600" dirty="0"/>
          </a:p>
        </p:txBody>
      </p:sp>
      <p:sp>
        <p:nvSpPr>
          <p:cNvPr id="16" name="Text 8"/>
          <p:cNvSpPr/>
          <p:nvPr/>
        </p:nvSpPr>
        <p:spPr>
          <a:xfrm>
            <a:off x="6205220" y="4530725"/>
            <a:ext cx="4314825"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将个人成长融入时代发展，把变局压力转化为成长动力。大学生要在民族复兴的伟大征程中找准定位，实现个人价值与社会价值的有机统一。</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42570"/>
            <a:ext cx="11669395" cy="6372860"/>
          </a:xfrm>
          <a:prstGeom prst="rect">
            <a:avLst/>
          </a:prstGeom>
        </p:spPr>
      </p:pic>
      <p:sp>
        <p:nvSpPr>
          <p:cNvPr id="3" name="Text 0"/>
          <p:cNvSpPr/>
          <p:nvPr/>
        </p:nvSpPr>
        <p:spPr>
          <a:xfrm>
            <a:off x="592455" y="1000125"/>
            <a:ext cx="8928100" cy="83312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社会主义核心价值观的涵养路径</a:t>
            </a:r>
            <a:endParaRPr lang="en-US" sz="1600" dirty="0"/>
          </a:p>
        </p:txBody>
      </p:sp>
      <p:pic>
        <p:nvPicPr>
          <p:cNvPr id="4" name="Image 1" descr="https://kimi-img.moonshot.cn/pub/slides/slides_tmpl/image/25-09-05-14:19:17-d2t81pdnfo2stf9dineg.png"/>
          <p:cNvPicPr>
            <a:picLocks noChangeAspect="1"/>
          </p:cNvPicPr>
          <p:nvPr/>
        </p:nvPicPr>
        <p:blipFill>
          <a:blip r:embed="rId5"/>
          <a:srcRect l="14" r="14"/>
          <a:stretch/>
        </p:blipFill>
        <p:spPr>
          <a:xfrm>
            <a:off x="4212590" y="1628775"/>
            <a:ext cx="3502025" cy="4552950"/>
          </a:xfrm>
          <a:prstGeom prst="rect">
            <a:avLst/>
          </a:prstGeom>
        </p:spPr>
      </p:pic>
      <p:sp>
        <p:nvSpPr>
          <p:cNvPr id="5" name="Text 1"/>
          <p:cNvSpPr/>
          <p:nvPr/>
        </p:nvSpPr>
        <p:spPr>
          <a:xfrm>
            <a:off x="1092835" y="1942465"/>
            <a:ext cx="2329815"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价值观与日常选择</a:t>
            </a:r>
            <a:endParaRPr lang="en-US" sz="1600" dirty="0"/>
          </a:p>
        </p:txBody>
      </p:sp>
      <p:sp>
        <p:nvSpPr>
          <p:cNvPr id="6" name="Text 2"/>
          <p:cNvSpPr/>
          <p:nvPr/>
        </p:nvSpPr>
        <p:spPr>
          <a:xfrm>
            <a:off x="1012825" y="2642235"/>
            <a:ext cx="2586355" cy="3187065"/>
          </a:xfrm>
          <a:prstGeom prst="rect">
            <a:avLst/>
          </a:prstGeom>
          <a:noFill/>
          <a:ln/>
        </p:spPr>
        <p:txBody>
          <a:bodyPr wrap="square" lIns="91440" tIns="45720" rIns="91440" bIns="45720" rtlCol="0" anchor="t"/>
          <a:lstStyle/>
          <a:p>
            <a:pPr algn="just">
              <a:lnSpc>
                <a:spcPct val="150000"/>
              </a:lnSpc>
            </a:pPr>
            <a:r>
              <a:rPr lang="en-US" sz="1400" dirty="0">
                <a:solidFill>
                  <a:srgbClr val="000000"/>
                </a:solidFill>
                <a:latin typeface="MiSans" pitchFamily="34" charset="0"/>
                <a:ea typeface="MiSans" pitchFamily="34" charset="-122"/>
                <a:cs typeface="MiSans" pitchFamily="34" charset="-120"/>
              </a:rPr>
              <a:t>社会主义核心价值观是大学生日常选择的重要依据，影响着职业选择、生活方式和社会交往。大学生应将价值观内化于心、外化于行，使其成为行动的指南。</a:t>
            </a:r>
            <a:endParaRPr lang="en-US" sz="1600" dirty="0"/>
          </a:p>
        </p:txBody>
      </p:sp>
      <p:sp>
        <p:nvSpPr>
          <p:cNvPr id="7" name="Text 3"/>
          <p:cNvSpPr/>
          <p:nvPr/>
        </p:nvSpPr>
        <p:spPr>
          <a:xfrm>
            <a:off x="8328025" y="1942465"/>
            <a:ext cx="2329815"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培育体系的构建</a:t>
            </a:r>
            <a:endParaRPr lang="en-US" sz="1600" dirty="0"/>
          </a:p>
        </p:txBody>
      </p:sp>
      <p:sp>
        <p:nvSpPr>
          <p:cNvPr id="8" name="Text 4"/>
          <p:cNvSpPr/>
          <p:nvPr/>
        </p:nvSpPr>
        <p:spPr>
          <a:xfrm>
            <a:off x="8248015" y="2642235"/>
            <a:ext cx="2586355" cy="3187065"/>
          </a:xfrm>
          <a:prstGeom prst="rect">
            <a:avLst/>
          </a:prstGeom>
          <a:noFill/>
          <a:ln/>
        </p:spPr>
        <p:txBody>
          <a:bodyPr wrap="square" lIns="91440" tIns="45720" rIns="91440" bIns="45720" rtlCol="0" anchor="t"/>
          <a:lstStyle/>
          <a:p>
            <a:pPr algn="just">
              <a:lnSpc>
                <a:spcPct val="150000"/>
              </a:lnSpc>
            </a:pPr>
            <a:r>
              <a:rPr lang="en-US" sz="1400" dirty="0">
                <a:solidFill>
                  <a:srgbClr val="000000"/>
                </a:solidFill>
                <a:latin typeface="MiSans" pitchFamily="34" charset="0"/>
                <a:ea typeface="MiSans" pitchFamily="34" charset="-122"/>
                <a:cs typeface="MiSans" pitchFamily="34" charset="-120"/>
              </a:rPr>
              <a:t>高校通过课程思政、校园文化建设和网络素养教育，构建全方位的培育体系，引导大学生树立正确的价值观，增强价值判断力和社会责任感。</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26-d2t81rlnfo2stf9dinh0.png"/>
          <p:cNvPicPr>
            <a:picLocks noChangeAspect="1"/>
          </p:cNvPicPr>
          <p:nvPr/>
        </p:nvPicPr>
        <p:blipFill>
          <a:blip r:embed="rId5"/>
          <a:stretch>
            <a:fillRect/>
          </a:stretch>
        </p:blipFill>
        <p:spPr>
          <a:xfrm>
            <a:off x="838835" y="1931035"/>
            <a:ext cx="3169920" cy="4178300"/>
          </a:xfrm>
          <a:prstGeom prst="rect">
            <a:avLst/>
          </a:prstGeom>
        </p:spPr>
      </p:pic>
      <p:sp>
        <p:nvSpPr>
          <p:cNvPr id="4" name="Text 0"/>
          <p:cNvSpPr/>
          <p:nvPr/>
        </p:nvSpPr>
        <p:spPr>
          <a:xfrm>
            <a:off x="542215" y="789616"/>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坚定四个自信抵御历史虚无</a:t>
            </a:r>
            <a:endParaRPr lang="en-US" sz="1600" dirty="0"/>
          </a:p>
        </p:txBody>
      </p:sp>
      <p:pic>
        <p:nvPicPr>
          <p:cNvPr id="5" name="Image 2" descr="https://kimi-img.moonshot.cn/pub/slides/slides_tmpl/image/25-09-05-14:20:00-d2t8245nfo2stf9dinlg.jpeg"/>
          <p:cNvPicPr>
            <a:picLocks noChangeAspect="1"/>
          </p:cNvPicPr>
          <p:nvPr/>
        </p:nvPicPr>
        <p:blipFill>
          <a:blip r:embed="rId6"/>
          <a:srcRect t="13279" b="13279"/>
          <a:stretch/>
        </p:blipFill>
        <p:spPr>
          <a:xfrm>
            <a:off x="7886700" y="4288155"/>
            <a:ext cx="3598545" cy="1762125"/>
          </a:xfrm>
          <a:prstGeom prst="rect">
            <a:avLst/>
          </a:prstGeom>
        </p:spPr>
      </p:pic>
      <p:pic>
        <p:nvPicPr>
          <p:cNvPr id="6" name="Image 3" descr="https://kimi-img.moonshot.cn/pub/slides/slides_tmpl/image/25-09-05-14:19:26-d2t81rlnfo2stf9dinh0.png"/>
          <p:cNvPicPr>
            <a:picLocks noChangeAspect="1"/>
          </p:cNvPicPr>
          <p:nvPr/>
        </p:nvPicPr>
        <p:blipFill>
          <a:blip r:embed="rId5"/>
          <a:stretch>
            <a:fillRect/>
          </a:stretch>
        </p:blipFill>
        <p:spPr>
          <a:xfrm>
            <a:off x="4324350" y="1924685"/>
            <a:ext cx="3169920" cy="4178300"/>
          </a:xfrm>
          <a:prstGeom prst="rect">
            <a:avLst/>
          </a:prstGeom>
        </p:spPr>
      </p:pic>
      <p:pic>
        <p:nvPicPr>
          <p:cNvPr id="7" name="Image 4" descr="https://kimi-img.moonshot.cn/pub/slides/slides_tmpl/image/25-09-05-14:18:18-d2t81alnfo2stf9din70.png"/>
          <p:cNvPicPr>
            <a:picLocks noChangeAspect="1"/>
          </p:cNvPicPr>
          <p:nvPr/>
        </p:nvPicPr>
        <p:blipFill>
          <a:blip r:embed="rId7"/>
          <a:stretch>
            <a:fillRect/>
          </a:stretch>
        </p:blipFill>
        <p:spPr>
          <a:xfrm>
            <a:off x="8784590" y="949960"/>
            <a:ext cx="2663825" cy="79375"/>
          </a:xfrm>
          <a:prstGeom prst="rect">
            <a:avLst/>
          </a:prstGeom>
        </p:spPr>
      </p:pic>
      <p:sp>
        <p:nvSpPr>
          <p:cNvPr id="8" name="Text 1"/>
          <p:cNvSpPr/>
          <p:nvPr/>
        </p:nvSpPr>
        <p:spPr>
          <a:xfrm>
            <a:off x="1160145" y="2237105"/>
            <a:ext cx="2552065" cy="306784"/>
          </a:xfrm>
          <a:prstGeom prst="rect">
            <a:avLst/>
          </a:prstGeom>
          <a:noFill/>
          <a:ln/>
        </p:spPr>
        <p:txBody>
          <a:bodyPr wrap="square" lIns="0" tIns="0" rIns="0" bIns="0" rtlCol="0" anchor="t">
            <a:spAutoFit/>
          </a:bodyPr>
          <a:lstStyle/>
          <a:p>
            <a:pPr algn="ctr">
              <a:lnSpc>
                <a:spcPct val="100000"/>
              </a:lnSpc>
            </a:pPr>
            <a:r>
              <a:rPr lang="en-US" sz="2000" b="1" dirty="0">
                <a:solidFill>
                  <a:srgbClr val="C00000"/>
                </a:solidFill>
                <a:latin typeface="MiSans" pitchFamily="34" charset="0"/>
                <a:ea typeface="MiSans" pitchFamily="34" charset="-122"/>
                <a:cs typeface="MiSans" pitchFamily="34" charset="-120"/>
              </a:rPr>
              <a:t>网络舆论场的挑战</a:t>
            </a:r>
            <a:endParaRPr lang="en-US" sz="1600" dirty="0"/>
          </a:p>
        </p:txBody>
      </p:sp>
      <p:sp>
        <p:nvSpPr>
          <p:cNvPr id="9" name="Text 2"/>
          <p:cNvSpPr/>
          <p:nvPr/>
        </p:nvSpPr>
        <p:spPr>
          <a:xfrm>
            <a:off x="1087755" y="2975928"/>
            <a:ext cx="2624455" cy="19200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网络舆论场中存在贬损中国道路和制度的错误论调，易对大学生的价值观产生误导。大学生需增强辨别能力，坚定四个自信，抵御历史虚无主义的侵蚀。</a:t>
            </a:r>
            <a:endParaRPr lang="en-US" sz="1600" dirty="0"/>
          </a:p>
        </p:txBody>
      </p:sp>
      <p:sp>
        <p:nvSpPr>
          <p:cNvPr id="10" name="Text 3"/>
          <p:cNvSpPr/>
          <p:nvPr/>
        </p:nvSpPr>
        <p:spPr>
          <a:xfrm>
            <a:off x="4645660" y="2230755"/>
            <a:ext cx="2552065" cy="306784"/>
          </a:xfrm>
          <a:prstGeom prst="rect">
            <a:avLst/>
          </a:prstGeom>
          <a:noFill/>
          <a:ln/>
        </p:spPr>
        <p:txBody>
          <a:bodyPr wrap="square" lIns="0" tIns="0" rIns="0" bIns="0" rtlCol="0" anchor="t">
            <a:spAutoFit/>
          </a:bodyPr>
          <a:lstStyle/>
          <a:p>
            <a:pPr algn="ctr">
              <a:lnSpc>
                <a:spcPct val="100000"/>
              </a:lnSpc>
            </a:pPr>
            <a:r>
              <a:rPr lang="en-US" sz="2000" b="1" dirty="0">
                <a:solidFill>
                  <a:srgbClr val="C00000"/>
                </a:solidFill>
                <a:latin typeface="MiSans" pitchFamily="34" charset="0"/>
                <a:ea typeface="MiSans" pitchFamily="34" charset="-122"/>
                <a:cs typeface="MiSans" pitchFamily="34" charset="-120"/>
              </a:rPr>
              <a:t>四个自信的重要性</a:t>
            </a:r>
            <a:endParaRPr lang="en-US" sz="1600" dirty="0"/>
          </a:p>
        </p:txBody>
      </p:sp>
      <p:sp>
        <p:nvSpPr>
          <p:cNvPr id="11" name="Text 4"/>
          <p:cNvSpPr/>
          <p:nvPr/>
        </p:nvSpPr>
        <p:spPr>
          <a:xfrm>
            <a:off x="4573270" y="2969578"/>
            <a:ext cx="2624455" cy="19200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四个自信是大学生抵御精神瓦解的疫苗，能够增强民族自豪感和自信心。通过学习中国的发展成就和制度优势，大学生能够更加坚定地走中国特色社会主义道路。</a:t>
            </a:r>
            <a:endParaRPr lang="en-US" sz="1600" dirty="0"/>
          </a:p>
        </p:txBody>
      </p:sp>
      <p:sp>
        <p:nvSpPr>
          <p:cNvPr id="12" name="Text 5"/>
          <p:cNvSpPr/>
          <p:nvPr/>
        </p:nvSpPr>
        <p:spPr>
          <a:xfrm>
            <a:off x="7887954" y="1930919"/>
            <a:ext cx="3583956" cy="306784"/>
          </a:xfrm>
          <a:prstGeom prst="rect">
            <a:avLst/>
          </a:prstGeom>
          <a:noFill/>
          <a:ln/>
        </p:spPr>
        <p:txBody>
          <a:bodyPr wrap="square" lIns="0" tIns="0" rIns="0" bIns="0" rtlCol="0" anchor="t">
            <a:spAutoFit/>
          </a:bodyPr>
          <a:lstStyle/>
          <a:p>
            <a:pPr algn="just">
              <a:lnSpc>
                <a:spcPct val="100000"/>
              </a:lnSpc>
            </a:pPr>
            <a:r>
              <a:rPr lang="en-US" sz="2000" b="1" dirty="0">
                <a:solidFill>
                  <a:srgbClr val="A80303"/>
                </a:solidFill>
                <a:latin typeface="MiSans" pitchFamily="34" charset="0"/>
                <a:ea typeface="MiSans" pitchFamily="34" charset="-122"/>
                <a:cs typeface="MiSans" pitchFamily="34" charset="-120"/>
              </a:rPr>
              <a:t>案例教学的作用</a:t>
            </a:r>
            <a:endParaRPr lang="en-US" sz="1600" dirty="0"/>
          </a:p>
        </p:txBody>
      </p:sp>
      <p:sp>
        <p:nvSpPr>
          <p:cNvPr id="13" name="Text 6"/>
          <p:cNvSpPr/>
          <p:nvPr/>
        </p:nvSpPr>
        <p:spPr>
          <a:xfrm>
            <a:off x="7809865" y="2230755"/>
            <a:ext cx="3697605"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通过脱贫攻坚、疫情防控等鲜活案例，大学生能够直观地感受到中国特色社会主义制度的优越性。这些案例为大学生提供了生动的教材，帮助他们增强制度自信和文化自信。</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04</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能力重构</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864225" y="748030"/>
            <a:ext cx="5592445" cy="1235075"/>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从专业到跨界复合成长</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a:off x="8442325" y="1601470"/>
            <a:ext cx="2663825" cy="79375"/>
          </a:xfrm>
          <a:prstGeom prst="rect">
            <a:avLst/>
          </a:prstGeom>
        </p:spPr>
      </p:pic>
      <p:pic>
        <p:nvPicPr>
          <p:cNvPr id="5" name="Image 2" descr="https://kimi-img.moonshot.cn/pub/slides/slides_tmpl/image/25-09-05-14:18:19-d2t81atnfo2stf9din90.png"/>
          <p:cNvPicPr>
            <a:picLocks noChangeAspect="1"/>
          </p:cNvPicPr>
          <p:nvPr/>
        </p:nvPicPr>
        <p:blipFill>
          <a:blip r:embed="rId6"/>
          <a:stretch>
            <a:fillRect/>
          </a:stretch>
        </p:blipFill>
        <p:spPr>
          <a:xfrm>
            <a:off x="10742295" y="5930265"/>
            <a:ext cx="679450" cy="246380"/>
          </a:xfrm>
          <a:prstGeom prst="rect">
            <a:avLst/>
          </a:prstGeom>
        </p:spPr>
      </p:pic>
      <p:pic>
        <p:nvPicPr>
          <p:cNvPr id="6" name="Image 3" descr="https://kimi-img.moonshot.cn/pub/slides/slides_tmpl/image/25-09-05-14:19:14-d2t81olnfo2stf9dinc0.png"/>
          <p:cNvPicPr>
            <a:picLocks noChangeAspect="1"/>
          </p:cNvPicPr>
          <p:nvPr/>
        </p:nvPicPr>
        <p:blipFill>
          <a:blip r:embed="rId7"/>
          <a:srcRect l="11" r="11"/>
          <a:stretch/>
        </p:blipFill>
        <p:spPr>
          <a:xfrm>
            <a:off x="836930" y="431165"/>
            <a:ext cx="4612005" cy="5995670"/>
          </a:xfrm>
          <a:prstGeom prst="rect">
            <a:avLst/>
          </a:prstGeom>
        </p:spPr>
      </p:pic>
      <p:sp>
        <p:nvSpPr>
          <p:cNvPr id="7" name="Text 1"/>
          <p:cNvSpPr/>
          <p:nvPr/>
        </p:nvSpPr>
        <p:spPr>
          <a:xfrm>
            <a:off x="6054725" y="3421380"/>
            <a:ext cx="4302760"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跨界复合能力的重要性</a:t>
            </a:r>
            <a:endParaRPr lang="en-US" sz="1600" dirty="0"/>
          </a:p>
        </p:txBody>
      </p:sp>
      <p:sp>
        <p:nvSpPr>
          <p:cNvPr id="8" name="Text 2"/>
          <p:cNvSpPr/>
          <p:nvPr/>
        </p:nvSpPr>
        <p:spPr>
          <a:xfrm>
            <a:off x="5974715" y="3909695"/>
            <a:ext cx="5481955"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在新技术交叉融合的时代背景下，单一专业能力已难以满足市场需求。大学生应积极拓展知识边界，培养跨界复合能力，提升自身的竞争力和适应性。</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26-d2t81rlnfo2stf9dinh0.png"/>
          <p:cNvPicPr>
            <a:picLocks noChangeAspect="1"/>
          </p:cNvPicPr>
          <p:nvPr/>
        </p:nvPicPr>
        <p:blipFill>
          <a:blip r:embed="rId5"/>
          <a:stretch>
            <a:fillRect/>
          </a:stretch>
        </p:blipFill>
        <p:spPr>
          <a:xfrm rot="5400000">
            <a:off x="7850505" y="2472690"/>
            <a:ext cx="2117725" cy="5045075"/>
          </a:xfrm>
          <a:prstGeom prst="rect">
            <a:avLst/>
          </a:prstGeom>
        </p:spPr>
      </p:pic>
      <p:pic>
        <p:nvPicPr>
          <p:cNvPr id="4" name="Image 2" descr="https://kimi-img.moonshot.cn/pub/slides/slides_tmpl/image/25-09-05-14:19:26-d2t81rlnfo2stf9dinh0.png"/>
          <p:cNvPicPr>
            <a:picLocks noChangeAspect="1"/>
          </p:cNvPicPr>
          <p:nvPr/>
        </p:nvPicPr>
        <p:blipFill>
          <a:blip r:embed="rId5"/>
          <a:stretch>
            <a:fillRect/>
          </a:stretch>
        </p:blipFill>
        <p:spPr>
          <a:xfrm rot="5400000">
            <a:off x="2303145" y="2472690"/>
            <a:ext cx="2117725" cy="5045075"/>
          </a:xfrm>
          <a:prstGeom prst="rect">
            <a:avLst/>
          </a:prstGeom>
        </p:spPr>
      </p:pic>
      <p:pic>
        <p:nvPicPr>
          <p:cNvPr id="5" name="Image 3" descr="https://kimi-img.moonshot.cn/pub/slides/slides_tmpl/image/25-09-05-14:19:26-d2t81rlnfo2stf9dinh0.png"/>
          <p:cNvPicPr>
            <a:picLocks noChangeAspect="1"/>
          </p:cNvPicPr>
          <p:nvPr/>
        </p:nvPicPr>
        <p:blipFill>
          <a:blip r:embed="rId5"/>
          <a:stretch>
            <a:fillRect/>
          </a:stretch>
        </p:blipFill>
        <p:spPr>
          <a:xfrm rot="5400000">
            <a:off x="7850505" y="126365"/>
            <a:ext cx="2117725" cy="5045075"/>
          </a:xfrm>
          <a:prstGeom prst="rect">
            <a:avLst/>
          </a:prstGeom>
        </p:spPr>
      </p:pic>
      <p:pic>
        <p:nvPicPr>
          <p:cNvPr id="6" name="Image 4" descr="https://kimi-img.moonshot.cn/pub/slides/slides_tmpl/image/25-09-05-14:19:26-d2t81rlnfo2stf9dinh0.png"/>
          <p:cNvPicPr>
            <a:picLocks noChangeAspect="1"/>
          </p:cNvPicPr>
          <p:nvPr/>
        </p:nvPicPr>
        <p:blipFill>
          <a:blip r:embed="rId5"/>
          <a:stretch>
            <a:fillRect/>
          </a:stretch>
        </p:blipFill>
        <p:spPr>
          <a:xfrm rot="5400000">
            <a:off x="2303145" y="126365"/>
            <a:ext cx="2117725" cy="5045075"/>
          </a:xfrm>
          <a:prstGeom prst="rect">
            <a:avLst/>
          </a:prstGeom>
        </p:spPr>
      </p:pic>
      <p:sp>
        <p:nvSpPr>
          <p:cNvPr id="7" name="Text 0"/>
          <p:cNvSpPr/>
          <p:nvPr/>
        </p:nvSpPr>
        <p:spPr>
          <a:xfrm>
            <a:off x="542215" y="703891"/>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数字素养与伦理责任并重</a:t>
            </a:r>
            <a:endParaRPr lang="en-US" sz="1600" dirty="0"/>
          </a:p>
        </p:txBody>
      </p:sp>
      <p:pic>
        <p:nvPicPr>
          <p:cNvPr id="8" name="Image 5" descr="https://kimi-img.moonshot.cn/pub/slides/slides_tmpl/image/25-09-05-14:18:19-d2t81atnfo2stf9din90.png"/>
          <p:cNvPicPr>
            <a:picLocks noChangeAspect="1"/>
          </p:cNvPicPr>
          <p:nvPr/>
        </p:nvPicPr>
        <p:blipFill>
          <a:blip r:embed="rId6"/>
          <a:stretch>
            <a:fillRect/>
          </a:stretch>
        </p:blipFill>
        <p:spPr>
          <a:xfrm>
            <a:off x="10742295" y="774700"/>
            <a:ext cx="679450" cy="246380"/>
          </a:xfrm>
          <a:prstGeom prst="rect">
            <a:avLst/>
          </a:prstGeom>
        </p:spPr>
      </p:pic>
      <p:sp>
        <p:nvSpPr>
          <p:cNvPr id="9" name="Text 1"/>
          <p:cNvSpPr/>
          <p:nvPr/>
        </p:nvSpPr>
        <p:spPr>
          <a:xfrm>
            <a:off x="1156064" y="1735284"/>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数字素养的基础性</a:t>
            </a:r>
            <a:endParaRPr lang="en-US" sz="1600" dirty="0"/>
          </a:p>
        </p:txBody>
      </p:sp>
      <p:sp>
        <p:nvSpPr>
          <p:cNvPr id="10" name="Text 2"/>
          <p:cNvSpPr/>
          <p:nvPr/>
        </p:nvSpPr>
        <p:spPr>
          <a:xfrm>
            <a:off x="1059570" y="1987349"/>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在数字化时代，数字素养成为大学生必备的基础能力。熟练掌握数字工具和技能，能够提升学习效率和创新能力，更好地适应社会发展的需求。</a:t>
            </a:r>
            <a:endParaRPr lang="en-US" sz="1600" dirty="0"/>
          </a:p>
        </p:txBody>
      </p:sp>
      <p:sp>
        <p:nvSpPr>
          <p:cNvPr id="11" name="Text 3"/>
          <p:cNvSpPr/>
          <p:nvPr/>
        </p:nvSpPr>
        <p:spPr>
          <a:xfrm>
            <a:off x="1156064" y="4045875"/>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技术滥用的风险</a:t>
            </a:r>
            <a:endParaRPr lang="en-US" sz="1600" dirty="0"/>
          </a:p>
        </p:txBody>
      </p:sp>
      <p:sp>
        <p:nvSpPr>
          <p:cNvPr id="12" name="Text 4"/>
          <p:cNvSpPr/>
          <p:nvPr/>
        </p:nvSpPr>
        <p:spPr>
          <a:xfrm>
            <a:off x="1059570" y="4297940"/>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技术的广泛应用也带来了隐私泄露和算法歧视等风险。大学生需增强伦理意识，正确使用技术，避免技术滥用对个人和社会造成负面影响。</a:t>
            </a:r>
            <a:endParaRPr lang="en-US" sz="1600" dirty="0"/>
          </a:p>
        </p:txBody>
      </p:sp>
      <p:sp>
        <p:nvSpPr>
          <p:cNvPr id="13" name="Text 5"/>
          <p:cNvSpPr/>
          <p:nvPr/>
        </p:nvSpPr>
        <p:spPr>
          <a:xfrm>
            <a:off x="6641681" y="1735284"/>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新时代好网民标准</a:t>
            </a:r>
            <a:endParaRPr lang="en-US" sz="1600" dirty="0"/>
          </a:p>
        </p:txBody>
      </p:sp>
      <p:sp>
        <p:nvSpPr>
          <p:cNvPr id="14" name="Text 6"/>
          <p:cNvSpPr/>
          <p:nvPr/>
        </p:nvSpPr>
        <p:spPr>
          <a:xfrm>
            <a:off x="6557887" y="1987349"/>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新时代好网民不仅要有高效的数字技能，更要有正确的价值观。大学生应自觉遵守网络道德和法律法规，传播正能量，营造良好的网络环境。</a:t>
            </a:r>
            <a:endParaRPr lang="en-US" sz="1600" dirty="0"/>
          </a:p>
        </p:txBody>
      </p:sp>
      <p:sp>
        <p:nvSpPr>
          <p:cNvPr id="15" name="Text 7"/>
          <p:cNvSpPr/>
          <p:nvPr/>
        </p:nvSpPr>
        <p:spPr>
          <a:xfrm>
            <a:off x="6641681" y="4045875"/>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伦理教育的必要性</a:t>
            </a:r>
            <a:endParaRPr lang="en-US" sz="1600" dirty="0"/>
          </a:p>
        </p:txBody>
      </p:sp>
      <p:sp>
        <p:nvSpPr>
          <p:cNvPr id="16" name="Text 8"/>
          <p:cNvSpPr/>
          <p:nvPr/>
        </p:nvSpPr>
        <p:spPr>
          <a:xfrm>
            <a:off x="6557887" y="4297940"/>
            <a:ext cx="47413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在专业课程中融入伦理教育，通过案例讨论等方式，引导大学生树立正确的技术伦理观，培养既有技术能力又有道德责任感的复合型人才。</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42215" y="867447"/>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全球胜任力与中国立场</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rot="5400000">
            <a:off x="4499610" y="3963035"/>
            <a:ext cx="3318510" cy="99060"/>
          </a:xfrm>
          <a:prstGeom prst="rect">
            <a:avLst/>
          </a:prstGeom>
        </p:spPr>
      </p:pic>
      <p:pic>
        <p:nvPicPr>
          <p:cNvPr id="5" name="Image 2" descr="https://kimi-img.moonshot.cn/pub/slides/slides_tmpl/image/25-09-05-14:18:19-d2t81atnfo2stf9din8g.png"/>
          <p:cNvPicPr>
            <a:picLocks noChangeAspect="1"/>
          </p:cNvPicPr>
          <p:nvPr/>
        </p:nvPicPr>
        <p:blipFill>
          <a:blip r:embed="rId6"/>
          <a:stretch>
            <a:fillRect/>
          </a:stretch>
        </p:blipFill>
        <p:spPr>
          <a:xfrm>
            <a:off x="2341722" y="1972310"/>
            <a:ext cx="1141095" cy="1143000"/>
          </a:xfrm>
          <a:prstGeom prst="rect">
            <a:avLst/>
          </a:prstGeom>
        </p:spPr>
      </p:pic>
      <p:pic>
        <p:nvPicPr>
          <p:cNvPr id="6" name="Image 3" descr="https://kimi-img.moonshot.cn/pub/slides/slides_tmpl/image/25-09-05-14:18:19-d2t81atnfo2stf9din8g.png"/>
          <p:cNvPicPr>
            <a:picLocks noChangeAspect="1"/>
          </p:cNvPicPr>
          <p:nvPr/>
        </p:nvPicPr>
        <p:blipFill>
          <a:blip r:embed="rId6"/>
          <a:stretch>
            <a:fillRect/>
          </a:stretch>
        </p:blipFill>
        <p:spPr>
          <a:xfrm>
            <a:off x="8574882" y="1972310"/>
            <a:ext cx="1141095" cy="1143000"/>
          </a:xfrm>
          <a:prstGeom prst="rect">
            <a:avLst/>
          </a:prstGeom>
        </p:spPr>
      </p:pic>
      <p:pic>
        <p:nvPicPr>
          <p:cNvPr id="7" name="Image 4" descr="https://kimi-img.moonshot.cn/pub/slides/slides_tmpl/image/25-09-05-14:18:19-d2t81atnfo2stf9din90.png"/>
          <p:cNvPicPr>
            <a:picLocks noChangeAspect="1"/>
          </p:cNvPicPr>
          <p:nvPr/>
        </p:nvPicPr>
        <p:blipFill>
          <a:blip r:embed="rId7"/>
          <a:stretch>
            <a:fillRect/>
          </a:stretch>
        </p:blipFill>
        <p:spPr>
          <a:xfrm>
            <a:off x="10742295" y="1055370"/>
            <a:ext cx="679450" cy="246380"/>
          </a:xfrm>
          <a:prstGeom prst="rect">
            <a:avLst/>
          </a:prstGeom>
        </p:spPr>
      </p:pic>
      <p:sp>
        <p:nvSpPr>
          <p:cNvPr id="8" name="Text 1"/>
          <p:cNvSpPr/>
          <p:nvPr/>
        </p:nvSpPr>
        <p:spPr>
          <a:xfrm>
            <a:off x="2666842" y="2328545"/>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01</a:t>
            </a:r>
            <a:endParaRPr lang="en-US" sz="1600" dirty="0"/>
          </a:p>
        </p:txBody>
      </p:sp>
      <p:sp>
        <p:nvSpPr>
          <p:cNvPr id="9" name="Text 2"/>
          <p:cNvSpPr/>
          <p:nvPr/>
        </p:nvSpPr>
        <p:spPr>
          <a:xfrm>
            <a:off x="1205955" y="3343817"/>
            <a:ext cx="3593465"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全球胜任力的需求</a:t>
            </a:r>
            <a:endParaRPr lang="en-US" sz="1600" dirty="0"/>
          </a:p>
        </p:txBody>
      </p:sp>
      <p:sp>
        <p:nvSpPr>
          <p:cNvPr id="10" name="Text 3"/>
          <p:cNvSpPr/>
          <p:nvPr/>
        </p:nvSpPr>
        <p:spPr>
          <a:xfrm>
            <a:off x="1119104" y="3673039"/>
            <a:ext cx="3875101" cy="127992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在双循环格局下，中国企业加速出海，对具有全球胜任力的人才需求迫切。大学生应具备跨文化沟通能力和全球视野，能够在全球范围内开展合作与交流。</a:t>
            </a:r>
            <a:endParaRPr lang="en-US" sz="1600" dirty="0"/>
          </a:p>
        </p:txBody>
      </p:sp>
      <p:sp>
        <p:nvSpPr>
          <p:cNvPr id="11" name="Text 4"/>
          <p:cNvSpPr/>
          <p:nvPr/>
        </p:nvSpPr>
        <p:spPr>
          <a:xfrm>
            <a:off x="8900002" y="2328545"/>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02</a:t>
            </a:r>
            <a:endParaRPr lang="en-US" sz="1600" dirty="0"/>
          </a:p>
        </p:txBody>
      </p:sp>
      <p:sp>
        <p:nvSpPr>
          <p:cNvPr id="12" name="Text 5"/>
          <p:cNvSpPr/>
          <p:nvPr/>
        </p:nvSpPr>
        <p:spPr>
          <a:xfrm>
            <a:off x="7349038" y="3343817"/>
            <a:ext cx="3593465"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坚守中国立场</a:t>
            </a:r>
            <a:endParaRPr lang="en-US" sz="1600" dirty="0"/>
          </a:p>
        </p:txBody>
      </p:sp>
      <p:sp>
        <p:nvSpPr>
          <p:cNvPr id="13" name="Text 6"/>
          <p:cNvSpPr/>
          <p:nvPr/>
        </p:nvSpPr>
        <p:spPr>
          <a:xfrm>
            <a:off x="7262187" y="3673039"/>
            <a:ext cx="3875101"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全球胜任力不等于西方化，大学生在学习和实践中要坚守中国立场，用中国话语讲好中国故事，传播中国声音，增强国家的文化软实力。</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05</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行动路径</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646430" y="789305"/>
            <a:ext cx="7734935" cy="624840"/>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学业与职业一体化规划</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a:off x="8855710" y="1029335"/>
            <a:ext cx="2663825" cy="79375"/>
          </a:xfrm>
          <a:prstGeom prst="rect">
            <a:avLst/>
          </a:prstGeom>
        </p:spPr>
      </p:pic>
      <p:sp>
        <p:nvSpPr>
          <p:cNvPr id="5" name="Text 1"/>
          <p:cNvSpPr/>
          <p:nvPr/>
        </p:nvSpPr>
        <p:spPr>
          <a:xfrm>
            <a:off x="1213485" y="2289493"/>
            <a:ext cx="2343150" cy="645517"/>
          </a:xfrm>
          <a:prstGeom prst="rect">
            <a:avLst/>
          </a:prstGeom>
          <a:noFill/>
          <a:ln/>
        </p:spPr>
        <p:txBody>
          <a:bodyPr wrap="square" lIns="0" tIns="0" rIns="0" bIns="0" rtlCol="0" anchor="t">
            <a:spAutoFit/>
          </a:bodyPr>
          <a:lstStyle/>
          <a:p>
            <a:pPr algn="r">
              <a:lnSpc>
                <a:spcPct val="100000"/>
              </a:lnSpc>
            </a:pPr>
            <a:r>
              <a:rPr lang="en-US" sz="2000" b="1" dirty="0">
                <a:solidFill>
                  <a:srgbClr val="C00000"/>
                </a:solidFill>
                <a:latin typeface="MiSans" pitchFamily="34" charset="0"/>
                <a:ea typeface="MiSans" pitchFamily="34" charset="-122"/>
                <a:cs typeface="MiSans" pitchFamily="34" charset="-120"/>
              </a:rPr>
              <a:t>项目化规划大学生活</a:t>
            </a:r>
            <a:endParaRPr lang="en-US" sz="1600" dirty="0"/>
          </a:p>
        </p:txBody>
      </p:sp>
      <p:sp>
        <p:nvSpPr>
          <p:cNvPr id="6" name="Text 2"/>
          <p:cNvSpPr/>
          <p:nvPr/>
        </p:nvSpPr>
        <p:spPr>
          <a:xfrm>
            <a:off x="1004570" y="2881948"/>
            <a:ext cx="2624455"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将大学四年视为一个复杂项目，通过倒推法将毕业目标分解为每学期的关键成果，制定清晰的学业与职业规划，提升目标达成的效率。</a:t>
            </a:r>
            <a:endParaRPr lang="en-US" sz="1600" dirty="0"/>
          </a:p>
        </p:txBody>
      </p:sp>
      <p:sp>
        <p:nvSpPr>
          <p:cNvPr id="7" name="Text 3"/>
          <p:cNvSpPr/>
          <p:nvPr/>
        </p:nvSpPr>
        <p:spPr>
          <a:xfrm>
            <a:off x="5027295" y="2289493"/>
            <a:ext cx="2343150" cy="306784"/>
          </a:xfrm>
          <a:prstGeom prst="rect">
            <a:avLst/>
          </a:prstGeom>
          <a:noFill/>
          <a:ln/>
        </p:spPr>
        <p:txBody>
          <a:bodyPr wrap="square" lIns="0" tIns="0" rIns="0" bIns="0" rtlCol="0" anchor="t">
            <a:spAutoFit/>
          </a:bodyPr>
          <a:lstStyle/>
          <a:p>
            <a:pPr algn="r">
              <a:lnSpc>
                <a:spcPct val="100000"/>
              </a:lnSpc>
            </a:pPr>
            <a:r>
              <a:rPr lang="en-US" sz="2000" b="1" dirty="0">
                <a:solidFill>
                  <a:srgbClr val="C00000"/>
                </a:solidFill>
                <a:latin typeface="MiSans" pitchFamily="34" charset="0"/>
                <a:ea typeface="MiSans" pitchFamily="34" charset="-122"/>
                <a:cs typeface="MiSans" pitchFamily="34" charset="-120"/>
              </a:rPr>
              <a:t>实践经验的重要性</a:t>
            </a:r>
            <a:endParaRPr lang="en-US" sz="1600" dirty="0"/>
          </a:p>
        </p:txBody>
      </p:sp>
      <p:sp>
        <p:nvSpPr>
          <p:cNvPr id="8" name="Text 4"/>
          <p:cNvSpPr/>
          <p:nvPr/>
        </p:nvSpPr>
        <p:spPr>
          <a:xfrm>
            <a:off x="4818380" y="2881948"/>
            <a:ext cx="2624455"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实习、科研、竞赛和证书是验证市场需求的低成本实验。大学生应积极参与实践活动，积累经验，提升综合素质，增强就业竞争力。</a:t>
            </a:r>
            <a:endParaRPr lang="en-US" sz="1600" dirty="0"/>
          </a:p>
        </p:txBody>
      </p:sp>
      <p:sp>
        <p:nvSpPr>
          <p:cNvPr id="9" name="Text 5"/>
          <p:cNvSpPr/>
          <p:nvPr/>
        </p:nvSpPr>
        <p:spPr>
          <a:xfrm>
            <a:off x="8855710" y="2289493"/>
            <a:ext cx="2343150" cy="306784"/>
          </a:xfrm>
          <a:prstGeom prst="rect">
            <a:avLst/>
          </a:prstGeom>
          <a:noFill/>
          <a:ln/>
        </p:spPr>
        <p:txBody>
          <a:bodyPr wrap="square" lIns="0" tIns="0" rIns="0" bIns="0" rtlCol="0" anchor="t">
            <a:spAutoFit/>
          </a:bodyPr>
          <a:lstStyle/>
          <a:p>
            <a:pPr algn="r">
              <a:lnSpc>
                <a:spcPct val="100000"/>
              </a:lnSpc>
            </a:pPr>
            <a:r>
              <a:rPr lang="en-US" sz="2000" b="1" dirty="0">
                <a:solidFill>
                  <a:srgbClr val="C00000"/>
                </a:solidFill>
                <a:latin typeface="MiSans" pitchFamily="34" charset="0"/>
                <a:ea typeface="MiSans" pitchFamily="34" charset="-122"/>
                <a:cs typeface="MiSans" pitchFamily="34" charset="-120"/>
              </a:rPr>
              <a:t>动态调整规划</a:t>
            </a:r>
            <a:endParaRPr lang="en-US" sz="1600" dirty="0"/>
          </a:p>
        </p:txBody>
      </p:sp>
      <p:sp>
        <p:nvSpPr>
          <p:cNvPr id="10" name="Text 6"/>
          <p:cNvSpPr/>
          <p:nvPr/>
        </p:nvSpPr>
        <p:spPr>
          <a:xfrm>
            <a:off x="8646795" y="2881948"/>
            <a:ext cx="2624455"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依据国家战略需求和个人兴趣，大学生应建立滚动复盘机制，动态调整学业与职业规划，确保个人发展与时代需求紧密结合。</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06-d2t81mlnfo2stf9dinbg.jpeg"/>
          <p:cNvPicPr>
            <a:picLocks noChangeAspect="1"/>
          </p:cNvPicPr>
          <p:nvPr/>
        </p:nvPicPr>
        <p:blipFill>
          <a:blip r:embed="rId5"/>
          <a:srcRect t="31935" b="31935"/>
          <a:stretch/>
        </p:blipFill>
        <p:spPr>
          <a:xfrm>
            <a:off x="452755" y="1497330"/>
            <a:ext cx="11258550" cy="2714625"/>
          </a:xfrm>
          <a:prstGeom prst="rect">
            <a:avLst/>
          </a:prstGeom>
        </p:spPr>
      </p:pic>
      <p:sp>
        <p:nvSpPr>
          <p:cNvPr id="4" name="Text 0"/>
          <p:cNvSpPr/>
          <p:nvPr/>
        </p:nvSpPr>
        <p:spPr>
          <a:xfrm>
            <a:off x="478715" y="645197"/>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韧性心理与习惯系统建设</a:t>
            </a:r>
            <a:endParaRPr lang="en-US" sz="1600" dirty="0"/>
          </a:p>
        </p:txBody>
      </p:sp>
      <p:pic>
        <p:nvPicPr>
          <p:cNvPr id="5" name="Image 2" descr="https://kimi-img.moonshot.cn/pub/slides/slides_tmpl/image/25-09-05-14:18:18-d2t81alnfo2stf9din70.png"/>
          <p:cNvPicPr>
            <a:picLocks noChangeAspect="1"/>
          </p:cNvPicPr>
          <p:nvPr/>
        </p:nvPicPr>
        <p:blipFill>
          <a:blip r:embed="rId6"/>
          <a:stretch>
            <a:fillRect/>
          </a:stretch>
        </p:blipFill>
        <p:spPr>
          <a:xfrm>
            <a:off x="9047480" y="949960"/>
            <a:ext cx="2663825" cy="79375"/>
          </a:xfrm>
          <a:prstGeom prst="rect">
            <a:avLst/>
          </a:prstGeom>
        </p:spPr>
      </p:pic>
      <p:pic>
        <p:nvPicPr>
          <p:cNvPr id="6" name="Image 3" descr="https://kimi-img.moonshot.cn/pub/slides/slides_tmpl/image/25-09-05-14:18:19-d2t81atnfo2stf9din90.png"/>
          <p:cNvPicPr>
            <a:picLocks noChangeAspect="1"/>
          </p:cNvPicPr>
          <p:nvPr/>
        </p:nvPicPr>
        <p:blipFill>
          <a:blip r:embed="rId7"/>
          <a:stretch>
            <a:fillRect/>
          </a:stretch>
        </p:blipFill>
        <p:spPr>
          <a:xfrm>
            <a:off x="10742295" y="5930265"/>
            <a:ext cx="679450" cy="246380"/>
          </a:xfrm>
          <a:prstGeom prst="rect">
            <a:avLst/>
          </a:prstGeom>
        </p:spPr>
      </p:pic>
      <p:sp>
        <p:nvSpPr>
          <p:cNvPr id="7" name="Text 1"/>
          <p:cNvSpPr/>
          <p:nvPr/>
        </p:nvSpPr>
        <p:spPr>
          <a:xfrm>
            <a:off x="648970" y="4658995"/>
            <a:ext cx="5083810" cy="306784"/>
          </a:xfrm>
          <a:prstGeom prst="rect">
            <a:avLst/>
          </a:prstGeom>
          <a:noFill/>
          <a:ln/>
        </p:spPr>
        <p:txBody>
          <a:bodyPr wrap="square" lIns="0" tIns="0" rIns="0" bIns="0" rtlCol="0" anchor="t">
            <a:spAutoFit/>
          </a:bodyPr>
          <a:lstStyle/>
          <a:p>
            <a:pPr algn="just">
              <a:lnSpc>
                <a:spcPct val="100000"/>
              </a:lnSpc>
            </a:pPr>
            <a:r>
              <a:rPr lang="en-US" sz="2000" b="1" dirty="0">
                <a:solidFill>
                  <a:srgbClr val="C80405"/>
                </a:solidFill>
                <a:latin typeface="MiSans" pitchFamily="34" charset="0"/>
                <a:ea typeface="MiSans" pitchFamily="34" charset="-122"/>
                <a:cs typeface="MiSans" pitchFamily="34" charset="-120"/>
              </a:rPr>
              <a:t>心理韧性和习惯养成</a:t>
            </a:r>
            <a:endParaRPr lang="en-US" sz="1600" dirty="0"/>
          </a:p>
        </p:txBody>
      </p:sp>
      <p:sp>
        <p:nvSpPr>
          <p:cNvPr id="8" name="Text 2"/>
          <p:cNvSpPr/>
          <p:nvPr/>
        </p:nvSpPr>
        <p:spPr>
          <a:xfrm>
            <a:off x="542290" y="5060950"/>
            <a:ext cx="8370570" cy="63996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通过心理训练和微习惯养成，大学生可以提升心理韧性，增强应对不确定性的能力。良好的生活习惯和学习习惯有助于实现长期目标，促进个人成长。</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19:26-d2t81rlnfo2stf9dinh0.png"/>
          <p:cNvPicPr>
            <a:picLocks noChangeAspect="1"/>
          </p:cNvPicPr>
          <p:nvPr/>
        </p:nvPicPr>
        <p:blipFill>
          <a:blip r:embed="rId5"/>
          <a:stretch>
            <a:fillRect/>
          </a:stretch>
        </p:blipFill>
        <p:spPr>
          <a:xfrm rot="5400000">
            <a:off x="5481320" y="514985"/>
            <a:ext cx="1181100" cy="10402570"/>
          </a:xfrm>
          <a:prstGeom prst="rect">
            <a:avLst/>
          </a:prstGeom>
        </p:spPr>
      </p:pic>
      <p:pic>
        <p:nvPicPr>
          <p:cNvPr id="4" name="Image 2" descr="https://kimi-img.moonshot.cn/pub/slides/slides_tmpl/image/25-09-05-14:19:26-d2t81rlnfo2stf9dinh0.png"/>
          <p:cNvPicPr>
            <a:picLocks noChangeAspect="1"/>
          </p:cNvPicPr>
          <p:nvPr/>
        </p:nvPicPr>
        <p:blipFill>
          <a:blip r:embed="rId5"/>
          <a:stretch>
            <a:fillRect/>
          </a:stretch>
        </p:blipFill>
        <p:spPr>
          <a:xfrm rot="5400000">
            <a:off x="5481320" y="-761365"/>
            <a:ext cx="1181100" cy="10402570"/>
          </a:xfrm>
          <a:prstGeom prst="rect">
            <a:avLst/>
          </a:prstGeom>
        </p:spPr>
      </p:pic>
      <p:pic>
        <p:nvPicPr>
          <p:cNvPr id="5" name="Image 3" descr="https://kimi-img.moonshot.cn/pub/slides/slides_tmpl/image/25-09-05-14:19:26-d2t81rlnfo2stf9dinh0.png"/>
          <p:cNvPicPr>
            <a:picLocks noChangeAspect="1"/>
          </p:cNvPicPr>
          <p:nvPr/>
        </p:nvPicPr>
        <p:blipFill>
          <a:blip r:embed="rId5"/>
          <a:stretch>
            <a:fillRect/>
          </a:stretch>
        </p:blipFill>
        <p:spPr>
          <a:xfrm rot="5400000">
            <a:off x="5481320" y="-2012315"/>
            <a:ext cx="1181100" cy="10402570"/>
          </a:xfrm>
          <a:prstGeom prst="rect">
            <a:avLst/>
          </a:prstGeom>
        </p:spPr>
      </p:pic>
      <p:pic>
        <p:nvPicPr>
          <p:cNvPr id="6" name="Image 4" descr="https://kimi-img.moonshot.cn/pub/slides/slides_tmpl/image/25-09-05-14:19:26-d2t81rlnfo2stf9dinh0.png"/>
          <p:cNvPicPr>
            <a:picLocks noChangeAspect="1"/>
          </p:cNvPicPr>
          <p:nvPr/>
        </p:nvPicPr>
        <p:blipFill>
          <a:blip r:embed="rId5"/>
          <a:stretch>
            <a:fillRect/>
          </a:stretch>
        </p:blipFill>
        <p:spPr>
          <a:xfrm rot="5400000">
            <a:off x="5481320" y="-3281680"/>
            <a:ext cx="1181100" cy="10402570"/>
          </a:xfrm>
          <a:prstGeom prst="rect">
            <a:avLst/>
          </a:prstGeom>
        </p:spPr>
      </p:pic>
      <p:sp>
        <p:nvSpPr>
          <p:cNvPr id="7" name="Text 0"/>
          <p:cNvSpPr/>
          <p:nvPr/>
        </p:nvSpPr>
        <p:spPr>
          <a:xfrm>
            <a:off x="542215" y="535616"/>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在一线实践中读懂国情</a:t>
            </a:r>
            <a:endParaRPr lang="en-US" sz="1600" dirty="0"/>
          </a:p>
        </p:txBody>
      </p:sp>
      <p:pic>
        <p:nvPicPr>
          <p:cNvPr id="8" name="Image 5" descr="https://kimi-img.moonshot.cn/pub/slides/slides_tmpl/image/25-09-05-14:18:19-d2t81atnfo2stf9din90.png"/>
          <p:cNvPicPr>
            <a:picLocks noChangeAspect="1"/>
          </p:cNvPicPr>
          <p:nvPr/>
        </p:nvPicPr>
        <p:blipFill>
          <a:blip r:embed="rId6"/>
          <a:stretch>
            <a:fillRect/>
          </a:stretch>
        </p:blipFill>
        <p:spPr>
          <a:xfrm>
            <a:off x="10682605" y="758825"/>
            <a:ext cx="679450" cy="246380"/>
          </a:xfrm>
          <a:prstGeom prst="rect">
            <a:avLst/>
          </a:prstGeom>
        </p:spPr>
      </p:pic>
      <p:sp>
        <p:nvSpPr>
          <p:cNvPr id="9" name="Text 1"/>
          <p:cNvSpPr/>
          <p:nvPr/>
        </p:nvSpPr>
        <p:spPr>
          <a:xfrm>
            <a:off x="1135744" y="1456519"/>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基层实践的意义</a:t>
            </a:r>
            <a:endParaRPr lang="en-US" sz="1600" dirty="0"/>
          </a:p>
        </p:txBody>
      </p:sp>
      <p:sp>
        <p:nvSpPr>
          <p:cNvPr id="10" name="Text 2"/>
          <p:cNvSpPr/>
          <p:nvPr/>
        </p:nvSpPr>
        <p:spPr>
          <a:xfrm>
            <a:off x="1059570" y="1670484"/>
            <a:ext cx="10065630" cy="63996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乡村振兴、社区治理等基层实践为大学生提供了了解国情的窗口。通过亲身参与，大学生能够深刻理解国家政策和群众需求，增强社会责任感。</a:t>
            </a:r>
            <a:endParaRPr lang="en-US" sz="1600" dirty="0"/>
          </a:p>
        </p:txBody>
      </p:sp>
      <p:sp>
        <p:nvSpPr>
          <p:cNvPr id="11" name="Text 3"/>
          <p:cNvSpPr/>
          <p:nvPr/>
        </p:nvSpPr>
        <p:spPr>
          <a:xfrm>
            <a:off x="1139554" y="2762079"/>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问题导向的学习</a:t>
            </a:r>
            <a:endParaRPr lang="en-US" sz="1600" dirty="0"/>
          </a:p>
        </p:txBody>
      </p:sp>
      <p:sp>
        <p:nvSpPr>
          <p:cNvPr id="12" name="Text 4"/>
          <p:cNvSpPr/>
          <p:nvPr/>
        </p:nvSpPr>
        <p:spPr>
          <a:xfrm>
            <a:off x="1063380" y="2976044"/>
            <a:ext cx="10065630" cy="3198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基层实践中的真实问题能够激发大学生的探索欲望，引导他们开展问题导向的学习和研究，提升解决实际问题的能力。</a:t>
            </a:r>
            <a:endParaRPr lang="en-US" sz="1600" dirty="0"/>
          </a:p>
        </p:txBody>
      </p:sp>
      <p:sp>
        <p:nvSpPr>
          <p:cNvPr id="13" name="Text 5"/>
          <p:cNvSpPr/>
          <p:nvPr/>
        </p:nvSpPr>
        <p:spPr>
          <a:xfrm>
            <a:off x="1135744" y="3992074"/>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实践与理论的结合</a:t>
            </a:r>
            <a:endParaRPr lang="en-US" sz="1600" dirty="0"/>
          </a:p>
        </p:txBody>
      </p:sp>
      <p:sp>
        <p:nvSpPr>
          <p:cNvPr id="14" name="Text 6"/>
          <p:cNvSpPr/>
          <p:nvPr/>
        </p:nvSpPr>
        <p:spPr>
          <a:xfrm>
            <a:off x="1059570" y="4206039"/>
            <a:ext cx="10065630" cy="31988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将实践与理论相结合，大学生能够更好地理解专业知识，深化对国情的认识，为未来的职业发展奠定坚实的基础。</a:t>
            </a:r>
            <a:endParaRPr lang="en-US" sz="1600" dirty="0"/>
          </a:p>
        </p:txBody>
      </p:sp>
      <p:sp>
        <p:nvSpPr>
          <p:cNvPr id="15" name="Text 7"/>
          <p:cNvSpPr/>
          <p:nvPr/>
        </p:nvSpPr>
        <p:spPr>
          <a:xfrm>
            <a:off x="1135744" y="5274774"/>
            <a:ext cx="4370705" cy="284559"/>
          </a:xfrm>
          <a:prstGeom prst="rect">
            <a:avLst/>
          </a:prstGeom>
          <a:noFill/>
          <a:ln/>
        </p:spPr>
        <p:txBody>
          <a:bodyPr wrap="square" lIns="0" tIns="0" rIns="0" bIns="0" rtlCol="0" anchor="t">
            <a:spAutoFit/>
          </a:bodyPr>
          <a:lstStyle/>
          <a:p>
            <a:pPr algn="just">
              <a:lnSpc>
                <a:spcPct val="100000"/>
              </a:lnSpc>
            </a:pPr>
            <a:r>
              <a:rPr lang="en-US" sz="1800" b="1" dirty="0">
                <a:solidFill>
                  <a:srgbClr val="A80303"/>
                </a:solidFill>
                <a:latin typeface="MiSans" pitchFamily="34" charset="0"/>
                <a:ea typeface="MiSans" pitchFamily="34" charset="-122"/>
                <a:cs typeface="MiSans" pitchFamily="34" charset="-120"/>
              </a:rPr>
              <a:t>融入国家发展大局</a:t>
            </a:r>
            <a:endParaRPr lang="en-US" sz="1600" dirty="0"/>
          </a:p>
        </p:txBody>
      </p:sp>
      <p:sp>
        <p:nvSpPr>
          <p:cNvPr id="16" name="Text 8"/>
          <p:cNvSpPr/>
          <p:nvPr/>
        </p:nvSpPr>
        <p:spPr>
          <a:xfrm>
            <a:off x="1059570" y="5488739"/>
            <a:ext cx="10065630" cy="63996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通过基层实践，大学生能够将自己的成长融入国家发展的大局中，为乡村振兴、社区治理等贡献力量，实现个人价值与社会价值的统一。</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24-d2t81c5nfo2stf9dina0.png"/>
          <p:cNvPicPr>
            <a:picLocks noChangeAspect="1"/>
          </p:cNvPicPr>
          <p:nvPr/>
        </p:nvPicPr>
        <p:blipFill>
          <a:blip r:embed="rId4"/>
          <a:srcRect l="5" r="5"/>
          <a:stretch/>
        </p:blipFill>
        <p:spPr>
          <a:xfrm>
            <a:off x="20320" y="0"/>
            <a:ext cx="12171680" cy="6858000"/>
          </a:xfrm>
          <a:prstGeom prst="rect">
            <a:avLst/>
          </a:prstGeom>
        </p:spPr>
      </p:pic>
      <p:sp>
        <p:nvSpPr>
          <p:cNvPr id="3" name="Text 0"/>
          <p:cNvSpPr/>
          <p:nvPr/>
        </p:nvSpPr>
        <p:spPr>
          <a:xfrm>
            <a:off x="4711682" y="1621932"/>
            <a:ext cx="2872142" cy="2126059"/>
          </a:xfrm>
          <a:prstGeom prst="rect">
            <a:avLst/>
          </a:prstGeom>
          <a:noFill/>
          <a:ln/>
        </p:spPr>
        <p:txBody>
          <a:bodyPr wrap="square" lIns="91440" tIns="45720" rIns="91440" bIns="45720" rtlCol="0" anchor="t">
            <a:spAutoFit/>
          </a:bodyPr>
          <a:lstStyle/>
          <a:p>
            <a:pPr algn="ctr">
              <a:lnSpc>
                <a:spcPct val="100000"/>
              </a:lnSpc>
            </a:pPr>
            <a:r>
              <a:rPr lang="en-US" sz="13800" dirty="0">
                <a:solidFill>
                  <a:srgbClr val="FDF1C5"/>
                </a:solidFill>
                <a:latin typeface="MiSans" pitchFamily="34" charset="0"/>
                <a:ea typeface="MiSans" pitchFamily="34" charset="-122"/>
                <a:cs typeface="MiSans" pitchFamily="34" charset="-120"/>
              </a:rPr>
              <a:t>06</a:t>
            </a:r>
            <a:endParaRPr lang="en-US" sz="1600" dirty="0"/>
          </a:p>
        </p:txBody>
      </p:sp>
      <p:sp>
        <p:nvSpPr>
          <p:cNvPr id="4" name="Text 1"/>
          <p:cNvSpPr/>
          <p:nvPr/>
        </p:nvSpPr>
        <p:spPr>
          <a:xfrm>
            <a:off x="3305175" y="3838118"/>
            <a:ext cx="5685155" cy="499467"/>
          </a:xfrm>
          <a:prstGeom prst="rect">
            <a:avLst/>
          </a:prstGeom>
          <a:noFill/>
          <a:ln/>
        </p:spPr>
        <p:txBody>
          <a:bodyPr wrap="square" lIns="0" tIns="0" rIns="0" bIns="0" rtlCol="0" anchor="t">
            <a:spAutoFit/>
          </a:bodyPr>
          <a:lstStyle/>
          <a:p>
            <a:pPr algn="ctr">
              <a:lnSpc>
                <a:spcPct val="100000"/>
              </a:lnSpc>
            </a:pPr>
            <a:r>
              <a:rPr lang="en-US" sz="3200" dirty="0">
                <a:solidFill>
                  <a:srgbClr val="FDF1C5"/>
                </a:solidFill>
                <a:latin typeface="MiSans" pitchFamily="34" charset="0"/>
                <a:ea typeface="MiSans" pitchFamily="34" charset="-122"/>
                <a:cs typeface="MiSans" pitchFamily="34" charset="-120"/>
              </a:rPr>
              <a:t>使命答卷</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pic>
        <p:nvPicPr>
          <p:cNvPr id="3" name="Image 1" descr="https://kimi-img.moonshot.cn/pub/slides/slides_tmpl/image/25-09-05-14:20:08-d2t8265nfo2stf9dinm0.jpeg"/>
          <p:cNvPicPr>
            <a:picLocks noChangeAspect="1"/>
          </p:cNvPicPr>
          <p:nvPr/>
        </p:nvPicPr>
        <p:blipFill>
          <a:blip r:embed="rId5"/>
          <a:srcRect l="17244" r="17244"/>
          <a:stretch/>
        </p:blipFill>
        <p:spPr>
          <a:xfrm>
            <a:off x="760095" y="1973580"/>
            <a:ext cx="4010025" cy="4085590"/>
          </a:xfrm>
          <a:prstGeom prst="rect">
            <a:avLst/>
          </a:prstGeom>
        </p:spPr>
      </p:pic>
      <p:sp>
        <p:nvSpPr>
          <p:cNvPr id="4" name="Text 0"/>
          <p:cNvSpPr/>
          <p:nvPr/>
        </p:nvSpPr>
        <p:spPr>
          <a:xfrm>
            <a:off x="542215" y="867447"/>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把青春播撒在民族复兴征程</a:t>
            </a:r>
            <a:endParaRPr lang="en-US" sz="1600" dirty="0"/>
          </a:p>
        </p:txBody>
      </p:sp>
      <p:sp>
        <p:nvSpPr>
          <p:cNvPr id="5" name="Shape 1"/>
          <p:cNvSpPr/>
          <p:nvPr/>
        </p:nvSpPr>
        <p:spPr>
          <a:xfrm>
            <a:off x="10603506" y="1758731"/>
            <a:ext cx="684530" cy="638765"/>
          </a:xfrm>
          <a:prstGeom prst="rect">
            <a:avLst/>
          </a:prstGeom>
          <a:solidFill>
            <a:srgbClr val="000000">
              <a:alpha val="0"/>
            </a:srgbClr>
          </a:solidFill>
          <a:ln/>
        </p:spPr>
      </p:sp>
      <p:sp>
        <p:nvSpPr>
          <p:cNvPr id="6" name="Text 2"/>
          <p:cNvSpPr/>
          <p:nvPr/>
        </p:nvSpPr>
        <p:spPr>
          <a:xfrm>
            <a:off x="10603506" y="1758731"/>
            <a:ext cx="684530" cy="638765"/>
          </a:xfrm>
          <a:prstGeom prst="rect">
            <a:avLst/>
          </a:prstGeom>
          <a:noFill/>
          <a:ln/>
        </p:spPr>
        <p:txBody>
          <a:bodyPr wrap="square" lIns="0" tIns="0" rIns="0" bIns="0" rtlCol="0" anchor="t"/>
          <a:lstStyle/>
          <a:p>
            <a:pPr algn="just">
              <a:lnSpc>
                <a:spcPct val="110000"/>
              </a:lnSpc>
            </a:pPr>
            <a:r>
              <a:rPr lang="en-US" sz="4000" dirty="0">
                <a:solidFill>
                  <a:srgbClr val="C00000"/>
                </a:solidFill>
                <a:latin typeface="MiSans" pitchFamily="34" charset="0"/>
                <a:ea typeface="MiSans" pitchFamily="34" charset="-122"/>
                <a:cs typeface="MiSans" pitchFamily="34" charset="-120"/>
              </a:rPr>
              <a:t>01</a:t>
            </a:r>
            <a:endParaRPr lang="en-US" sz="1600" dirty="0"/>
          </a:p>
        </p:txBody>
      </p:sp>
      <p:sp>
        <p:nvSpPr>
          <p:cNvPr id="7" name="Text 3"/>
          <p:cNvSpPr/>
          <p:nvPr/>
        </p:nvSpPr>
        <p:spPr>
          <a:xfrm>
            <a:off x="5575300" y="1973580"/>
            <a:ext cx="4077970" cy="306784"/>
          </a:xfrm>
          <a:prstGeom prst="rect">
            <a:avLst/>
          </a:prstGeom>
          <a:noFill/>
          <a:ln/>
        </p:spPr>
        <p:txBody>
          <a:bodyPr wrap="square" lIns="0" tIns="0" rIns="0" bIns="0" rtlCol="0" anchor="t">
            <a:spAutoFit/>
          </a:bodyPr>
          <a:lstStyle/>
          <a:p>
            <a:pPr algn="just">
              <a:lnSpc>
                <a:spcPct val="100000"/>
              </a:lnSpc>
            </a:pPr>
            <a:r>
              <a:rPr lang="en-US" sz="2000" b="1" dirty="0">
                <a:solidFill>
                  <a:srgbClr val="C80405"/>
                </a:solidFill>
                <a:latin typeface="MiSans" pitchFamily="34" charset="0"/>
                <a:ea typeface="MiSans" pitchFamily="34" charset="-122"/>
                <a:cs typeface="MiSans" pitchFamily="34" charset="-120"/>
              </a:rPr>
              <a:t>时代主题与青年使命</a:t>
            </a:r>
            <a:endParaRPr lang="en-US" sz="1600" dirty="0"/>
          </a:p>
        </p:txBody>
      </p:sp>
      <p:sp>
        <p:nvSpPr>
          <p:cNvPr id="8" name="Text 4"/>
          <p:cNvSpPr/>
          <p:nvPr/>
        </p:nvSpPr>
        <p:spPr>
          <a:xfrm>
            <a:off x="5443855" y="2397760"/>
            <a:ext cx="5908040"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习近平总书记强调，中国青年运动的时代主题是为实现中华民族伟大复兴的中国梦而奋斗。大学生应将个人理想融入民族复兴的征程中，肩负起时代赋予的使命。</a:t>
            </a:r>
            <a:endParaRPr lang="en-US" sz="1600" dirty="0"/>
          </a:p>
        </p:txBody>
      </p:sp>
      <p:sp>
        <p:nvSpPr>
          <p:cNvPr id="9" name="Shape 5"/>
          <p:cNvSpPr/>
          <p:nvPr/>
        </p:nvSpPr>
        <p:spPr>
          <a:xfrm>
            <a:off x="10649861" y="3917731"/>
            <a:ext cx="684530" cy="676910"/>
          </a:xfrm>
          <a:prstGeom prst="rect">
            <a:avLst/>
          </a:prstGeom>
          <a:solidFill>
            <a:srgbClr val="000000">
              <a:alpha val="0"/>
            </a:srgbClr>
          </a:solidFill>
          <a:ln/>
        </p:spPr>
      </p:sp>
      <p:sp>
        <p:nvSpPr>
          <p:cNvPr id="10" name="Text 6"/>
          <p:cNvSpPr/>
          <p:nvPr/>
        </p:nvSpPr>
        <p:spPr>
          <a:xfrm>
            <a:off x="10649861" y="3917731"/>
            <a:ext cx="684530" cy="676910"/>
          </a:xfrm>
          <a:prstGeom prst="rect">
            <a:avLst/>
          </a:prstGeom>
          <a:noFill/>
          <a:ln/>
        </p:spPr>
        <p:txBody>
          <a:bodyPr wrap="square" lIns="0" tIns="0" rIns="0" bIns="0" rtlCol="0" anchor="t"/>
          <a:lstStyle/>
          <a:p>
            <a:pPr algn="just">
              <a:lnSpc>
                <a:spcPct val="110000"/>
              </a:lnSpc>
            </a:pPr>
            <a:r>
              <a:rPr lang="en-US" sz="4000" dirty="0">
                <a:solidFill>
                  <a:srgbClr val="C00000"/>
                </a:solidFill>
                <a:latin typeface="MiSans" pitchFamily="34" charset="0"/>
                <a:ea typeface="MiSans" pitchFamily="34" charset="-122"/>
                <a:cs typeface="MiSans" pitchFamily="34" charset="-120"/>
              </a:rPr>
              <a:t>02</a:t>
            </a:r>
            <a:endParaRPr lang="en-US" sz="1600" dirty="0"/>
          </a:p>
        </p:txBody>
      </p:sp>
      <p:sp>
        <p:nvSpPr>
          <p:cNvPr id="11" name="Text 7"/>
          <p:cNvSpPr/>
          <p:nvPr/>
        </p:nvSpPr>
        <p:spPr>
          <a:xfrm>
            <a:off x="5621655" y="4102735"/>
            <a:ext cx="4077970" cy="306784"/>
          </a:xfrm>
          <a:prstGeom prst="rect">
            <a:avLst/>
          </a:prstGeom>
          <a:noFill/>
          <a:ln/>
        </p:spPr>
        <p:txBody>
          <a:bodyPr wrap="square" lIns="0" tIns="0" rIns="0" bIns="0" rtlCol="0" anchor="t">
            <a:spAutoFit/>
          </a:bodyPr>
          <a:lstStyle/>
          <a:p>
            <a:pPr algn="just">
              <a:lnSpc>
                <a:spcPct val="100000"/>
              </a:lnSpc>
            </a:pPr>
            <a:r>
              <a:rPr lang="en-US" sz="2000" b="1" dirty="0">
                <a:solidFill>
                  <a:srgbClr val="C80405"/>
                </a:solidFill>
                <a:latin typeface="MiSans" pitchFamily="34" charset="0"/>
                <a:ea typeface="MiSans" pitchFamily="34" charset="-122"/>
                <a:cs typeface="MiSans" pitchFamily="34" charset="-120"/>
              </a:rPr>
              <a:t>个人成长与国家需求的结合</a:t>
            </a:r>
            <a:endParaRPr lang="en-US" sz="1600" dirty="0"/>
          </a:p>
        </p:txBody>
      </p:sp>
      <p:sp>
        <p:nvSpPr>
          <p:cNvPr id="12" name="Text 8"/>
          <p:cNvSpPr/>
          <p:nvPr/>
        </p:nvSpPr>
        <p:spPr>
          <a:xfrm>
            <a:off x="5490210" y="4556760"/>
            <a:ext cx="5861685"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个人成就与时代需求相结合，能够产生强大的动力。大学生应以专业所长服务国家发展，在国家重大工程和基层治理中找到自己的位置，实现人生价值。</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42215" y="622972"/>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做堪当大任的时代新人</a:t>
            </a:r>
            <a:endParaRPr lang="en-US" sz="1600" dirty="0"/>
          </a:p>
        </p:txBody>
      </p:sp>
      <p:pic>
        <p:nvPicPr>
          <p:cNvPr id="4" name="Image 1" descr="https://kimi-img.moonshot.cn/pub/slides/slides_tmpl/image/25-09-05-14:18:18-d2t81alnfo2stf9din70.png"/>
          <p:cNvPicPr>
            <a:picLocks noChangeAspect="1"/>
          </p:cNvPicPr>
          <p:nvPr/>
        </p:nvPicPr>
        <p:blipFill>
          <a:blip r:embed="rId5"/>
          <a:stretch>
            <a:fillRect/>
          </a:stretch>
        </p:blipFill>
        <p:spPr>
          <a:xfrm rot="5400000">
            <a:off x="1724660" y="3902075"/>
            <a:ext cx="4662170" cy="139065"/>
          </a:xfrm>
          <a:prstGeom prst="rect">
            <a:avLst/>
          </a:prstGeom>
        </p:spPr>
      </p:pic>
      <p:pic>
        <p:nvPicPr>
          <p:cNvPr id="5" name="Image 2" descr="https://kimi-img.moonshot.cn/pub/slides/slides_tmpl/image/25-09-05-14:18:18-d2t81alnfo2stf9din70.png"/>
          <p:cNvPicPr>
            <a:picLocks noChangeAspect="1"/>
          </p:cNvPicPr>
          <p:nvPr/>
        </p:nvPicPr>
        <p:blipFill>
          <a:blip r:embed="rId5"/>
          <a:stretch>
            <a:fillRect/>
          </a:stretch>
        </p:blipFill>
        <p:spPr>
          <a:xfrm rot="5400000">
            <a:off x="5602605" y="3902075"/>
            <a:ext cx="4662170" cy="139065"/>
          </a:xfrm>
          <a:prstGeom prst="rect">
            <a:avLst/>
          </a:prstGeom>
        </p:spPr>
      </p:pic>
      <p:pic>
        <p:nvPicPr>
          <p:cNvPr id="6" name="Image 3" descr="https://kimi-img.moonshot.cn/pub/slides/slides_tmpl/image/25-09-05-14:18:19-d2t81atnfo2stf9din8g.png"/>
          <p:cNvPicPr>
            <a:picLocks noChangeAspect="1"/>
          </p:cNvPicPr>
          <p:nvPr/>
        </p:nvPicPr>
        <p:blipFill>
          <a:blip r:embed="rId6"/>
          <a:stretch>
            <a:fillRect/>
          </a:stretch>
        </p:blipFill>
        <p:spPr>
          <a:xfrm>
            <a:off x="1605122" y="1500823"/>
            <a:ext cx="1141095" cy="1143000"/>
          </a:xfrm>
          <a:prstGeom prst="rect">
            <a:avLst/>
          </a:prstGeom>
        </p:spPr>
      </p:pic>
      <p:pic>
        <p:nvPicPr>
          <p:cNvPr id="7" name="Image 4" descr="https://kimi-img.moonshot.cn/pub/slides/slides_tmpl/image/25-09-05-14:18:19-d2t81atnfo2stf9din8g.png"/>
          <p:cNvPicPr>
            <a:picLocks noChangeAspect="1"/>
          </p:cNvPicPr>
          <p:nvPr/>
        </p:nvPicPr>
        <p:blipFill>
          <a:blip r:embed="rId6"/>
          <a:stretch>
            <a:fillRect/>
          </a:stretch>
        </p:blipFill>
        <p:spPr>
          <a:xfrm>
            <a:off x="5424012" y="1500823"/>
            <a:ext cx="1141095" cy="1143000"/>
          </a:xfrm>
          <a:prstGeom prst="rect">
            <a:avLst/>
          </a:prstGeom>
        </p:spPr>
      </p:pic>
      <p:pic>
        <p:nvPicPr>
          <p:cNvPr id="8" name="Image 5" descr="https://kimi-img.moonshot.cn/pub/slides/slides_tmpl/image/25-09-05-14:18:19-d2t81atnfo2stf9din8g.png"/>
          <p:cNvPicPr>
            <a:picLocks noChangeAspect="1"/>
          </p:cNvPicPr>
          <p:nvPr/>
        </p:nvPicPr>
        <p:blipFill>
          <a:blip r:embed="rId6"/>
          <a:stretch>
            <a:fillRect/>
          </a:stretch>
        </p:blipFill>
        <p:spPr>
          <a:xfrm>
            <a:off x="9302592" y="1500823"/>
            <a:ext cx="1141095" cy="1143000"/>
          </a:xfrm>
          <a:prstGeom prst="rect">
            <a:avLst/>
          </a:prstGeom>
        </p:spPr>
      </p:pic>
      <p:pic>
        <p:nvPicPr>
          <p:cNvPr id="9" name="Image 6" descr="https://kimi-img.moonshot.cn/pub/slides/slides_tmpl/image/25-09-05-14:18:19-d2t81atnfo2stf9din90.png"/>
          <p:cNvPicPr>
            <a:picLocks noChangeAspect="1"/>
          </p:cNvPicPr>
          <p:nvPr/>
        </p:nvPicPr>
        <p:blipFill>
          <a:blip r:embed="rId7"/>
          <a:stretch>
            <a:fillRect/>
          </a:stretch>
        </p:blipFill>
        <p:spPr>
          <a:xfrm>
            <a:off x="10742295" y="774700"/>
            <a:ext cx="679450" cy="246380"/>
          </a:xfrm>
          <a:prstGeom prst="rect">
            <a:avLst/>
          </a:prstGeom>
        </p:spPr>
      </p:pic>
      <p:sp>
        <p:nvSpPr>
          <p:cNvPr id="10" name="Text 1"/>
          <p:cNvSpPr/>
          <p:nvPr/>
        </p:nvSpPr>
        <p:spPr>
          <a:xfrm>
            <a:off x="1930242" y="1857058"/>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01</a:t>
            </a:r>
            <a:endParaRPr lang="en-US" sz="1600" dirty="0"/>
          </a:p>
        </p:txBody>
      </p:sp>
      <p:sp>
        <p:nvSpPr>
          <p:cNvPr id="11" name="Text 2"/>
          <p:cNvSpPr/>
          <p:nvPr/>
        </p:nvSpPr>
        <p:spPr>
          <a:xfrm>
            <a:off x="1057593" y="2661920"/>
            <a:ext cx="2235835" cy="645517"/>
          </a:xfrm>
          <a:prstGeom prst="rect">
            <a:avLst/>
          </a:prstGeom>
          <a:noFill/>
          <a:ln/>
        </p:spPr>
        <p:txBody>
          <a:bodyPr wrap="square" lIns="0" tIns="0" rIns="0" bIns="0" rtlCol="0" anchor="t">
            <a:spAutoFit/>
          </a:bodyPr>
          <a:lstStyle/>
          <a:p>
            <a:pPr algn="ctr">
              <a:lnSpc>
                <a:spcPct val="100000"/>
              </a:lnSpc>
            </a:pPr>
            <a:r>
              <a:rPr lang="en-US" sz="2000" b="1" dirty="0">
                <a:solidFill>
                  <a:srgbClr val="C00000"/>
                </a:solidFill>
                <a:latin typeface="MiSans" pitchFamily="34" charset="0"/>
                <a:ea typeface="MiSans" pitchFamily="34" charset="-122"/>
                <a:cs typeface="MiSans" pitchFamily="34" charset="-120"/>
              </a:rPr>
              <a:t>新时代好青年的标准</a:t>
            </a:r>
            <a:endParaRPr lang="en-US" sz="1600" dirty="0"/>
          </a:p>
        </p:txBody>
      </p:sp>
      <p:sp>
        <p:nvSpPr>
          <p:cNvPr id="12" name="Text 3"/>
          <p:cNvSpPr/>
          <p:nvPr/>
        </p:nvSpPr>
        <p:spPr>
          <a:xfrm>
            <a:off x="904875" y="3302635"/>
            <a:ext cx="2541270"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新时代好青年应具备坚定的理想信念、广博的知识见识、过硬的心理素质和恒久的奋斗精神。这些标准是大学生应对未来挑战的重要装备。</a:t>
            </a:r>
            <a:endParaRPr lang="en-US" sz="1600" dirty="0"/>
          </a:p>
        </p:txBody>
      </p:sp>
      <p:sp>
        <p:nvSpPr>
          <p:cNvPr id="13" name="Text 4"/>
          <p:cNvSpPr/>
          <p:nvPr/>
        </p:nvSpPr>
        <p:spPr>
          <a:xfrm>
            <a:off x="5749132" y="1857058"/>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02</a:t>
            </a:r>
            <a:endParaRPr lang="en-US" sz="1600" dirty="0"/>
          </a:p>
        </p:txBody>
      </p:sp>
      <p:sp>
        <p:nvSpPr>
          <p:cNvPr id="14" name="Text 5"/>
          <p:cNvSpPr/>
          <p:nvPr/>
        </p:nvSpPr>
        <p:spPr>
          <a:xfrm>
            <a:off x="4831398" y="2661920"/>
            <a:ext cx="2235835" cy="645517"/>
          </a:xfrm>
          <a:prstGeom prst="rect">
            <a:avLst/>
          </a:prstGeom>
          <a:noFill/>
          <a:ln/>
        </p:spPr>
        <p:txBody>
          <a:bodyPr wrap="square" lIns="0" tIns="0" rIns="0" bIns="0" rtlCol="0" anchor="t">
            <a:spAutoFit/>
          </a:bodyPr>
          <a:lstStyle/>
          <a:p>
            <a:pPr algn="ctr">
              <a:lnSpc>
                <a:spcPct val="100000"/>
              </a:lnSpc>
            </a:pPr>
            <a:r>
              <a:rPr lang="en-US" sz="2000" b="1" dirty="0">
                <a:solidFill>
                  <a:srgbClr val="C00000"/>
                </a:solidFill>
                <a:latin typeface="MiSans" pitchFamily="34" charset="0"/>
                <a:ea typeface="MiSans" pitchFamily="34" charset="-122"/>
                <a:cs typeface="MiSans" pitchFamily="34" charset="-120"/>
              </a:rPr>
              <a:t>终身学习与自我提升</a:t>
            </a:r>
            <a:endParaRPr lang="en-US" sz="1600" dirty="0"/>
          </a:p>
        </p:txBody>
      </p:sp>
      <p:sp>
        <p:nvSpPr>
          <p:cNvPr id="15" name="Text 6"/>
          <p:cNvSpPr/>
          <p:nvPr/>
        </p:nvSpPr>
        <p:spPr>
          <a:xfrm>
            <a:off x="4678680" y="3302635"/>
            <a:ext cx="2541270"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思想概论课的学习只是起点，大学生应将课堂所学转化为终身学习的动力，不断提升自我，以适应时代的发展和国家的需求。</a:t>
            </a:r>
            <a:endParaRPr lang="en-US" sz="1600" dirty="0"/>
          </a:p>
        </p:txBody>
      </p:sp>
      <p:sp>
        <p:nvSpPr>
          <p:cNvPr id="16" name="Text 7"/>
          <p:cNvSpPr/>
          <p:nvPr/>
        </p:nvSpPr>
        <p:spPr>
          <a:xfrm>
            <a:off x="9627712" y="1857058"/>
            <a:ext cx="490855" cy="429617"/>
          </a:xfrm>
          <a:prstGeom prst="rect">
            <a:avLst/>
          </a:prstGeom>
          <a:noFill/>
          <a:ln/>
        </p:spPr>
        <p:txBody>
          <a:bodyPr wrap="square" lIns="0" tIns="0" rIns="0" bIns="0" rtlCol="0" anchor="t">
            <a:spAutoFit/>
          </a:bodyPr>
          <a:lstStyle/>
          <a:p>
            <a:pPr algn="ctr">
              <a:lnSpc>
                <a:spcPct val="100000"/>
              </a:lnSpc>
            </a:pPr>
            <a:r>
              <a:rPr lang="en-US" sz="2800" dirty="0">
                <a:solidFill>
                  <a:srgbClr val="FEF8E2"/>
                </a:solidFill>
                <a:latin typeface="MiSans" pitchFamily="34" charset="0"/>
                <a:ea typeface="MiSans" pitchFamily="34" charset="-122"/>
                <a:cs typeface="MiSans" pitchFamily="34" charset="-120"/>
              </a:rPr>
              <a:t>03</a:t>
            </a:r>
            <a:endParaRPr lang="en-US" sz="1600" dirty="0"/>
          </a:p>
        </p:txBody>
      </p:sp>
      <p:sp>
        <p:nvSpPr>
          <p:cNvPr id="17" name="Text 8"/>
          <p:cNvSpPr/>
          <p:nvPr/>
        </p:nvSpPr>
        <p:spPr>
          <a:xfrm>
            <a:off x="8768398" y="2675255"/>
            <a:ext cx="2235835" cy="306784"/>
          </a:xfrm>
          <a:prstGeom prst="rect">
            <a:avLst/>
          </a:prstGeom>
          <a:noFill/>
          <a:ln/>
        </p:spPr>
        <p:txBody>
          <a:bodyPr wrap="square" lIns="0" tIns="0" rIns="0" bIns="0" rtlCol="0" anchor="t">
            <a:spAutoFit/>
          </a:bodyPr>
          <a:lstStyle/>
          <a:p>
            <a:pPr algn="ctr">
              <a:lnSpc>
                <a:spcPct val="100000"/>
              </a:lnSpc>
            </a:pPr>
            <a:r>
              <a:rPr lang="en-US" sz="2000" b="1" dirty="0">
                <a:solidFill>
                  <a:srgbClr val="C00000"/>
                </a:solidFill>
                <a:latin typeface="MiSans" pitchFamily="34" charset="0"/>
                <a:ea typeface="MiSans" pitchFamily="34" charset="-122"/>
                <a:cs typeface="MiSans" pitchFamily="34" charset="-120"/>
              </a:rPr>
              <a:t>青年的责任与担当</a:t>
            </a:r>
            <a:endParaRPr lang="en-US" sz="1600" dirty="0"/>
          </a:p>
        </p:txBody>
      </p:sp>
      <p:sp>
        <p:nvSpPr>
          <p:cNvPr id="18" name="Text 9"/>
          <p:cNvSpPr/>
          <p:nvPr/>
        </p:nvSpPr>
        <p:spPr>
          <a:xfrm>
            <a:off x="8615680" y="3315970"/>
            <a:ext cx="2541270" cy="1600002"/>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在下一个技术浪潮到来之前，大学生应先把自己升级为不可替代的版本，以青年之我回应强国之问，为国家的发展贡献自己的力量。</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05-14:18:18-d2t81alnfo2stf9din50.png"/>
          <p:cNvPicPr>
            <a:picLocks noChangeAspect="1"/>
          </p:cNvPicPr>
          <p:nvPr/>
        </p:nvPicPr>
        <p:blipFill>
          <a:blip r:embed="rId4">
            <a:alphaModFix amt="93000"/>
          </a:blip>
          <a:stretch>
            <a:fillRect/>
          </a:stretch>
        </p:blipFill>
        <p:spPr>
          <a:xfrm>
            <a:off x="261303" y="259715"/>
            <a:ext cx="11669395" cy="6372860"/>
          </a:xfrm>
          <a:prstGeom prst="rect">
            <a:avLst/>
          </a:prstGeom>
        </p:spPr>
      </p:pic>
      <p:sp>
        <p:nvSpPr>
          <p:cNvPr id="3" name="Text 0"/>
          <p:cNvSpPr/>
          <p:nvPr/>
        </p:nvSpPr>
        <p:spPr>
          <a:xfrm>
            <a:off x="542215" y="758862"/>
            <a:ext cx="8152877" cy="833184"/>
          </a:xfrm>
          <a:prstGeom prst="rect">
            <a:avLst/>
          </a:prstGeom>
          <a:noFill/>
          <a:ln/>
        </p:spPr>
        <p:txBody>
          <a:bodyPr wrap="square" lIns="91440" tIns="45720" rIns="91440" bIns="45720" rtlCol="0" anchor="t"/>
          <a:lstStyle/>
          <a:p>
            <a:pPr algn="just">
              <a:lnSpc>
                <a:spcPct val="100000"/>
              </a:lnSpc>
            </a:pPr>
            <a:r>
              <a:rPr lang="en-US" sz="3600" b="1" dirty="0">
                <a:solidFill>
                  <a:srgbClr val="000000"/>
                </a:solidFill>
                <a:latin typeface="MiSans" pitchFamily="34" charset="0"/>
                <a:ea typeface="MiSans" pitchFamily="34" charset="-122"/>
                <a:cs typeface="MiSans" pitchFamily="34" charset="-120"/>
              </a:rPr>
              <a:t>以中国式现代化书写青春答案</a:t>
            </a:r>
            <a:endParaRPr lang="en-US" sz="1600" dirty="0"/>
          </a:p>
        </p:txBody>
      </p:sp>
      <p:pic>
        <p:nvPicPr>
          <p:cNvPr id="4" name="Image 1" descr="https://kimi-img.moonshot.cn/pub/slides/slides_tmpl/image/25-09-05-14:19:59-d2t823tnfo2stf9dinkg.jpeg"/>
          <p:cNvPicPr>
            <a:picLocks noChangeAspect="1"/>
          </p:cNvPicPr>
          <p:nvPr/>
        </p:nvPicPr>
        <p:blipFill>
          <a:blip r:embed="rId5"/>
          <a:srcRect t="31637" b="31637"/>
          <a:stretch/>
        </p:blipFill>
        <p:spPr>
          <a:xfrm>
            <a:off x="567690" y="3007995"/>
            <a:ext cx="10948035" cy="2684145"/>
          </a:xfrm>
          <a:prstGeom prst="rect">
            <a:avLst/>
          </a:prstGeom>
        </p:spPr>
      </p:pic>
      <p:pic>
        <p:nvPicPr>
          <p:cNvPr id="5" name="Image 2" descr="https://kimi-img.moonshot.cn/pub/slides/slides_tmpl/image/25-09-05-14:18:19-d2t81atnfo2stf9din90.png"/>
          <p:cNvPicPr>
            <a:picLocks noChangeAspect="1"/>
          </p:cNvPicPr>
          <p:nvPr/>
        </p:nvPicPr>
        <p:blipFill>
          <a:blip r:embed="rId6"/>
          <a:stretch>
            <a:fillRect/>
          </a:stretch>
        </p:blipFill>
        <p:spPr>
          <a:xfrm>
            <a:off x="680720" y="6024880"/>
            <a:ext cx="679450" cy="246380"/>
          </a:xfrm>
          <a:prstGeom prst="rect">
            <a:avLst/>
          </a:prstGeom>
        </p:spPr>
      </p:pic>
      <p:pic>
        <p:nvPicPr>
          <p:cNvPr id="6" name="Image 3" descr="https://kimi-img.moonshot.cn/pub/slides/slides_tmpl/image/25-09-05-14:18:18-d2t81alnfo2stf9din70.png"/>
          <p:cNvPicPr>
            <a:picLocks noChangeAspect="1"/>
          </p:cNvPicPr>
          <p:nvPr/>
        </p:nvPicPr>
        <p:blipFill>
          <a:blip r:embed="rId7"/>
          <a:stretch>
            <a:fillRect/>
          </a:stretch>
        </p:blipFill>
        <p:spPr>
          <a:xfrm flipH="1">
            <a:off x="8851900" y="6016625"/>
            <a:ext cx="2663825" cy="79375"/>
          </a:xfrm>
          <a:prstGeom prst="rect">
            <a:avLst/>
          </a:prstGeom>
        </p:spPr>
      </p:pic>
      <p:sp>
        <p:nvSpPr>
          <p:cNvPr id="7" name="Text 1"/>
          <p:cNvSpPr/>
          <p:nvPr/>
        </p:nvSpPr>
        <p:spPr>
          <a:xfrm>
            <a:off x="610926" y="1592259"/>
            <a:ext cx="4790148" cy="306784"/>
          </a:xfrm>
          <a:prstGeom prst="rect">
            <a:avLst/>
          </a:prstGeom>
          <a:noFill/>
          <a:ln/>
        </p:spPr>
        <p:txBody>
          <a:bodyPr wrap="square" lIns="0" tIns="0" rIns="0" bIns="0" rtlCol="0" anchor="t">
            <a:spAutoFit/>
          </a:bodyPr>
          <a:lstStyle/>
          <a:p>
            <a:pPr algn="just">
              <a:lnSpc>
                <a:spcPct val="100000"/>
              </a:lnSpc>
            </a:pPr>
            <a:r>
              <a:rPr lang="en-US" sz="2000" b="1" dirty="0">
                <a:solidFill>
                  <a:srgbClr val="C00000"/>
                </a:solidFill>
                <a:latin typeface="MiSans" pitchFamily="34" charset="0"/>
                <a:ea typeface="MiSans" pitchFamily="34" charset="-122"/>
                <a:cs typeface="MiSans" pitchFamily="34" charset="-120"/>
              </a:rPr>
              <a:t>中国式现代化的内涵</a:t>
            </a:r>
            <a:endParaRPr lang="en-US" sz="1600" dirty="0"/>
          </a:p>
        </p:txBody>
      </p:sp>
      <p:sp>
        <p:nvSpPr>
          <p:cNvPr id="8" name="Text 2"/>
          <p:cNvSpPr/>
          <p:nvPr/>
        </p:nvSpPr>
        <p:spPr>
          <a:xfrm>
            <a:off x="502285" y="1938655"/>
            <a:ext cx="11207115" cy="960041"/>
          </a:xfrm>
          <a:prstGeom prst="rect">
            <a:avLst/>
          </a:prstGeom>
          <a:noFill/>
          <a:ln/>
        </p:spPr>
        <p:txBody>
          <a:bodyPr wrap="square" lIns="91440" tIns="45720" rIns="91440" bIns="45720" rtlCol="0" anchor="t">
            <a:spAutoFit/>
          </a:bodyPr>
          <a:lstStyle/>
          <a:p>
            <a:pPr algn="just">
              <a:lnSpc>
                <a:spcPct val="150000"/>
              </a:lnSpc>
            </a:pPr>
            <a:r>
              <a:rPr lang="en-US" sz="1400" dirty="0">
                <a:solidFill>
                  <a:srgbClr val="000000"/>
                </a:solidFill>
                <a:latin typeface="MiSans" pitchFamily="34" charset="0"/>
                <a:ea typeface="MiSans" pitchFamily="34" charset="-122"/>
                <a:cs typeface="MiSans" pitchFamily="34" charset="-120"/>
              </a:rPr>
              <a:t>中国式现代化立足人口规模巨大、共同富裕、物质精神协调、人与自然和谐、和平发展，为大学生的成长提供了广阔的空间和确定性。大学生应以新思想为笔，以真才实学为墨，在乡村振兴、科技自立、文化繁荣、绿色转型等答卷上书写属于自己的青春答案，向历史和人民交出高分考卷。</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861820" y="1671320"/>
            <a:ext cx="8703310" cy="1210667"/>
          </a:xfrm>
          <a:prstGeom prst="rect">
            <a:avLst/>
          </a:prstGeom>
          <a:noFill/>
          <a:ln/>
        </p:spPr>
        <p:txBody>
          <a:bodyPr wrap="square" lIns="99695" tIns="49784" rIns="99695" bIns="49784" rtlCol="0" anchor="t">
            <a:spAutoFit/>
          </a:bodyPr>
          <a:lstStyle/>
          <a:p>
            <a:pPr algn="ctr">
              <a:lnSpc>
                <a:spcPct val="100000"/>
              </a:lnSpc>
            </a:pPr>
            <a:r>
              <a:rPr lang="en-US" sz="8000" dirty="0">
                <a:solidFill>
                  <a:srgbClr val="FDF1C5"/>
                </a:solidFill>
                <a:latin typeface="Comic Book" pitchFamily="34" charset="0"/>
                <a:ea typeface="Comic Book" pitchFamily="34" charset="-122"/>
                <a:cs typeface="Comic Book" pitchFamily="34" charset="-120"/>
              </a:rPr>
              <a:t>THANK YOU</a:t>
            </a:r>
            <a:endParaRPr lang="en-US" sz="1600" dirty="0"/>
          </a:p>
        </p:txBody>
      </p:sp>
      <p:sp>
        <p:nvSpPr>
          <p:cNvPr id="3" name="Text 1"/>
          <p:cNvSpPr/>
          <p:nvPr/>
        </p:nvSpPr>
        <p:spPr>
          <a:xfrm>
            <a:off x="4074160" y="2785745"/>
            <a:ext cx="4302125" cy="736600"/>
          </a:xfrm>
          <a:prstGeom prst="rect">
            <a:avLst/>
          </a:prstGeom>
          <a:noFill/>
          <a:ln/>
        </p:spPr>
        <p:txBody>
          <a:bodyPr wrap="square" lIns="99695" tIns="49784" rIns="99695" bIns="49784" rtlCol="0" anchor="t">
            <a:spAutoFit/>
          </a:bodyPr>
          <a:lstStyle/>
          <a:p>
            <a:pPr algn="ctr">
              <a:lnSpc>
                <a:spcPct val="100000"/>
              </a:lnSpc>
            </a:pPr>
            <a:r>
              <a:rPr lang="en-US" sz="4800" dirty="0">
                <a:solidFill>
                  <a:srgbClr val="FDF1C5"/>
                </a:solidFill>
                <a:latin typeface="MiSans" pitchFamily="34" charset="0"/>
                <a:ea typeface="MiSans" pitchFamily="34" charset="-122"/>
                <a:cs typeface="MiSans" pitchFamily="34" charset="-120"/>
              </a:rPr>
              <a:t>感谢大家观看</a:t>
            </a:r>
            <a:endParaRPr lang="en-US" sz="1600" dirty="0"/>
          </a:p>
        </p:txBody>
      </p:sp>
      <p:pic>
        <p:nvPicPr>
          <p:cNvPr id="4" name="Image 0" descr="https://kimi-img.moonshot.cn/pub/slides/slides_tmpl/image/25-09-05-14:18:18-d2t81alnfo2stf9din5g.png"/>
          <p:cNvPicPr>
            <a:picLocks noChangeAspect="1"/>
          </p:cNvPicPr>
          <p:nvPr/>
        </p:nvPicPr>
        <p:blipFill>
          <a:blip r:embed="rId4"/>
          <a:stretch>
            <a:fillRect/>
          </a:stretch>
        </p:blipFill>
        <p:spPr>
          <a:xfrm>
            <a:off x="9352280" y="708660"/>
            <a:ext cx="1961515" cy="1209675"/>
          </a:xfrm>
          <a:prstGeom prst="rect">
            <a:avLst/>
          </a:prstGeom>
        </p:spPr>
      </p:pic>
      <p:pic>
        <p:nvPicPr>
          <p:cNvPr id="7" name="Image 2" descr="https://kimi-img.moonshot.cn/pub/slides/slides_tmpl/image/25-09-05-14:18:18-d2t81alnfo2stf9din4g.png"/>
          <p:cNvPicPr>
            <a:picLocks noChangeAspect="1"/>
          </p:cNvPicPr>
          <p:nvPr/>
        </p:nvPicPr>
        <p:blipFill>
          <a:blip r:embed="rId5"/>
          <a:srcRect l="5056" r="5056"/>
          <a:stretch/>
        </p:blipFill>
        <p:spPr>
          <a:xfrm>
            <a:off x="4625657" y="4244020"/>
            <a:ext cx="2775585" cy="974090"/>
          </a:xfrm>
          <a:prstGeom prst="rect">
            <a:avLst/>
          </a:prstGeom>
        </p:spPr>
      </p:pic>
      <p:sp>
        <p:nvSpPr>
          <p:cNvPr id="8" name="Text 3"/>
          <p:cNvSpPr/>
          <p:nvPr/>
        </p:nvSpPr>
        <p:spPr>
          <a:xfrm>
            <a:off x="4832031" y="4582199"/>
            <a:ext cx="2362835" cy="369332"/>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FDF1C5"/>
                </a:solidFill>
                <a:latin typeface="MiSans" pitchFamily="34" charset="0"/>
                <a:ea typeface="MiSans" pitchFamily="34" charset="-122"/>
                <a:cs typeface="MiSans" pitchFamily="34" charset="-120"/>
              </a:rPr>
              <a:t>时间：2025/12/04</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FAF26E"/>
      </a:accent1>
      <a:accent2>
        <a:srgbClr val="F9DB6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597</Words>
  <Application>Microsoft Office PowerPoint</Application>
  <PresentationFormat>宽屏</PresentationFormat>
  <Paragraphs>174</Paragraphs>
  <Slides>27</Slides>
  <Notes>27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MiSans</vt:lpstr>
      <vt:lpstr>Comic Book</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急剧变化时代背景下大学生成长与发展的挑战与应对</dc:title>
  <dc:subject>急剧变化时代背景下大学生成长与发展的挑战与应对</dc:subject>
  <dc:creator>Kimi</dc:creator>
  <cp:lastModifiedBy>若婷 高</cp:lastModifiedBy>
  <cp:revision>4</cp:revision>
  <dcterms:created xsi:type="dcterms:W3CDTF">2025-11-27T06:18:45Z</dcterms:created>
  <dcterms:modified xsi:type="dcterms:W3CDTF">2025-11-27T06:24:47Z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急剧变化时代背景下大学生成长与发展的挑战与应对","ContentProducer":"001191110108MACG2KBH8F10000","ProduceID":"d4jup5nqmogpjclsnru0","ReservedCode1":"","ContentPropagator":"001191110108MACG2KBH8F20000","PropagateID":"d4jup5nqmogpjclsnru0","ReservedCode2":""}</vt:lpwstr>
  </property>
</Properties>
</file>