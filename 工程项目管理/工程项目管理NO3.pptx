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7"/>
  </p:notesMasterIdLst>
  <p:sldIdLst>
    <p:sldId id="316" r:id="rId2"/>
    <p:sldId id="318" r:id="rId3"/>
    <p:sldId id="387" r:id="rId4"/>
    <p:sldId id="386" r:id="rId5"/>
    <p:sldId id="383" r:id="rId6"/>
    <p:sldId id="334" r:id="rId7"/>
    <p:sldId id="335" r:id="rId8"/>
    <p:sldId id="336" r:id="rId9"/>
    <p:sldId id="337" r:id="rId10"/>
    <p:sldId id="338" r:id="rId11"/>
    <p:sldId id="339" r:id="rId12"/>
    <p:sldId id="330" r:id="rId13"/>
    <p:sldId id="340" r:id="rId14"/>
    <p:sldId id="341" r:id="rId15"/>
    <p:sldId id="342" r:id="rId16"/>
    <p:sldId id="343" r:id="rId17"/>
    <p:sldId id="344" r:id="rId18"/>
    <p:sldId id="345" r:id="rId19"/>
    <p:sldId id="331" r:id="rId20"/>
    <p:sldId id="346" r:id="rId21"/>
    <p:sldId id="347" r:id="rId22"/>
    <p:sldId id="348" r:id="rId23"/>
    <p:sldId id="349" r:id="rId24"/>
    <p:sldId id="350" r:id="rId25"/>
    <p:sldId id="351" r:id="rId26"/>
    <p:sldId id="352" r:id="rId27"/>
    <p:sldId id="353" r:id="rId28"/>
    <p:sldId id="354" r:id="rId29"/>
    <p:sldId id="332" r:id="rId30"/>
    <p:sldId id="385" r:id="rId31"/>
    <p:sldId id="356" r:id="rId32"/>
    <p:sldId id="355" r:id="rId33"/>
    <p:sldId id="357" r:id="rId34"/>
    <p:sldId id="358" r:id="rId35"/>
    <p:sldId id="359" r:id="rId36"/>
    <p:sldId id="360" r:id="rId37"/>
    <p:sldId id="333" r:id="rId38"/>
    <p:sldId id="361" r:id="rId39"/>
    <p:sldId id="362" r:id="rId40"/>
    <p:sldId id="363" r:id="rId41"/>
    <p:sldId id="364" r:id="rId42"/>
    <p:sldId id="365" r:id="rId43"/>
    <p:sldId id="366" r:id="rId44"/>
    <p:sldId id="367" r:id="rId45"/>
    <p:sldId id="368" r:id="rId46"/>
    <p:sldId id="369" r:id="rId47"/>
    <p:sldId id="370" r:id="rId48"/>
    <p:sldId id="371" r:id="rId49"/>
    <p:sldId id="372" r:id="rId50"/>
    <p:sldId id="373" r:id="rId51"/>
    <p:sldId id="389" r:id="rId52"/>
    <p:sldId id="374" r:id="rId53"/>
    <p:sldId id="375" r:id="rId54"/>
    <p:sldId id="376" r:id="rId55"/>
    <p:sldId id="377" r:id="rId5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449" autoAdjust="0"/>
  </p:normalViewPr>
  <p:slideViewPr>
    <p:cSldViewPr>
      <p:cViewPr varScale="1">
        <p:scale>
          <a:sx n="77" d="100"/>
          <a:sy n="77" d="100"/>
        </p:scale>
        <p:origin x="12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6348581-5202-4275-ABDD-0FC49F9D2617}" type="datetimeFigureOut">
              <a:rPr lang="zh-CN" altLang="en-US"/>
              <a:pPr>
                <a:defRPr/>
              </a:pPr>
              <a:t>2025/4/6</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CDB9CF-61DB-4B30-B3D9-4988FB9CFD9F}" type="slidenum">
              <a:rPr lang="zh-CN" altLang="en-US"/>
              <a:pPr>
                <a:defRPr/>
              </a:pPr>
              <a:t>‹#›</a:t>
            </a:fld>
            <a:endParaRPr lang="zh-CN" altLang="en-US"/>
          </a:p>
        </p:txBody>
      </p:sp>
    </p:spTree>
    <p:extLst>
      <p:ext uri="{BB962C8B-B14F-4D97-AF65-F5344CB8AC3E}">
        <p14:creationId xmlns:p14="http://schemas.microsoft.com/office/powerpoint/2010/main" val="1895565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50825" y="2636838"/>
            <a:ext cx="8610600" cy="201612"/>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5122" name="Rectangle 2"/>
          <p:cNvSpPr>
            <a:spLocks noGrp="1" noChangeArrowheads="1"/>
          </p:cNvSpPr>
          <p:nvPr>
            <p:ph type="ctrTitle"/>
          </p:nvPr>
        </p:nvSpPr>
        <p:spPr>
          <a:xfrm>
            <a:off x="611188" y="1412875"/>
            <a:ext cx="7772400" cy="504825"/>
          </a:xfrm>
        </p:spPr>
        <p:txBody>
          <a:bodyPr/>
          <a:lstStyle>
            <a:lvl1pPr algn="ctr">
              <a:defRPr sz="3200" b="0"/>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zh-CN" altLang="en-US" noProof="0"/>
              <a:t>单击此处编辑母版副标题样式</a:t>
            </a:r>
          </a:p>
        </p:txBody>
      </p:sp>
      <p:sp>
        <p:nvSpPr>
          <p:cNvPr id="8" name="Rectangle 4"/>
          <p:cNvSpPr>
            <a:spLocks noGrp="1" noChangeArrowheads="1"/>
          </p:cNvSpPr>
          <p:nvPr>
            <p:ph type="dt" sz="half" idx="10"/>
          </p:nvPr>
        </p:nvSpPr>
        <p:spPr/>
        <p:txBody>
          <a:bodyPr/>
          <a:lstStyle>
            <a:lvl1pPr>
              <a:defRPr/>
            </a:lvl1pPr>
          </a:lstStyle>
          <a:p>
            <a:pPr>
              <a:defRPr/>
            </a:pPr>
            <a:endParaRPr lang="en-US" altLang="zh-CN"/>
          </a:p>
        </p:txBody>
      </p:sp>
      <p:sp>
        <p:nvSpPr>
          <p:cNvPr id="9" name="Rectangle 5"/>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p:cNvSpPr>
            <a:spLocks noGrp="1" noChangeArrowheads="1"/>
          </p:cNvSpPr>
          <p:nvPr>
            <p:ph type="sldNum" sz="quarter" idx="12"/>
          </p:nvPr>
        </p:nvSpPr>
        <p:spPr/>
        <p:txBody>
          <a:bodyPr/>
          <a:lstStyle>
            <a:lvl1pPr>
              <a:defRPr/>
            </a:lvl1pPr>
          </a:lstStyle>
          <a:p>
            <a:pPr>
              <a:defRPr/>
            </a:pPr>
            <a:fld id="{C4CE33EF-006C-48B0-A755-EEDE811ECC6F}" type="slidenum">
              <a:rPr lang="en-US" altLang="zh-CN"/>
              <a:pPr>
                <a:defRPr/>
              </a:pPr>
              <a:t>‹#›</a:t>
            </a:fld>
            <a:endParaRPr lang="en-US" altLang="zh-CN"/>
          </a:p>
        </p:txBody>
      </p:sp>
    </p:spTree>
    <p:extLst>
      <p:ext uri="{BB962C8B-B14F-4D97-AF65-F5344CB8AC3E}">
        <p14:creationId xmlns:p14="http://schemas.microsoft.com/office/powerpoint/2010/main" val="330227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F0731-65F4-4030-9CF3-96EA562700E3}" type="slidenum">
              <a:rPr lang="en-US" altLang="zh-CN"/>
              <a:pPr>
                <a:defRPr/>
              </a:pPr>
              <a:t>‹#›</a:t>
            </a:fld>
            <a:endParaRPr lang="en-US" altLang="zh-CN"/>
          </a:p>
        </p:txBody>
      </p:sp>
    </p:spTree>
    <p:extLst>
      <p:ext uri="{BB962C8B-B14F-4D97-AF65-F5344CB8AC3E}">
        <p14:creationId xmlns:p14="http://schemas.microsoft.com/office/powerpoint/2010/main" val="354747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C275EE-1F4C-4F7F-94EE-B83118088784}" type="slidenum">
              <a:rPr lang="en-US" altLang="zh-CN"/>
              <a:pPr>
                <a:defRPr/>
              </a:pPr>
              <a:t>‹#›</a:t>
            </a:fld>
            <a:endParaRPr lang="en-US" altLang="zh-CN"/>
          </a:p>
        </p:txBody>
      </p:sp>
    </p:spTree>
    <p:extLst>
      <p:ext uri="{BB962C8B-B14F-4D97-AF65-F5344CB8AC3E}">
        <p14:creationId xmlns:p14="http://schemas.microsoft.com/office/powerpoint/2010/main" val="8663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DA970D5-AC73-48BB-AAB5-9BFF7800E66A}" type="slidenum">
              <a:rPr lang="en-US" altLang="zh-CN"/>
              <a:pPr>
                <a:defRPr/>
              </a:pPr>
              <a:t>‹#›</a:t>
            </a:fld>
            <a:endParaRPr lang="en-US" altLang="zh-CN"/>
          </a:p>
        </p:txBody>
      </p:sp>
    </p:spTree>
    <p:extLst>
      <p:ext uri="{BB962C8B-B14F-4D97-AF65-F5344CB8AC3E}">
        <p14:creationId xmlns:p14="http://schemas.microsoft.com/office/powerpoint/2010/main" val="395405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2FE4E81-B935-4A3B-8D5F-BCA3161AAEE3}" type="slidenum">
              <a:rPr lang="en-US" altLang="zh-CN"/>
              <a:pPr>
                <a:defRPr/>
              </a:pPr>
              <a:t>‹#›</a:t>
            </a:fld>
            <a:endParaRPr lang="en-US" altLang="zh-CN"/>
          </a:p>
        </p:txBody>
      </p:sp>
    </p:spTree>
    <p:extLst>
      <p:ext uri="{BB962C8B-B14F-4D97-AF65-F5344CB8AC3E}">
        <p14:creationId xmlns:p14="http://schemas.microsoft.com/office/powerpoint/2010/main" val="282483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817DB37-7409-40EF-A4D6-F18A92D0D7BE}" type="slidenum">
              <a:rPr lang="en-US" altLang="zh-CN"/>
              <a:pPr>
                <a:defRPr/>
              </a:pPr>
              <a:t>‹#›</a:t>
            </a:fld>
            <a:endParaRPr lang="en-US" altLang="zh-CN"/>
          </a:p>
        </p:txBody>
      </p:sp>
    </p:spTree>
    <p:extLst>
      <p:ext uri="{BB962C8B-B14F-4D97-AF65-F5344CB8AC3E}">
        <p14:creationId xmlns:p14="http://schemas.microsoft.com/office/powerpoint/2010/main" val="254929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4F241AB-D07B-4947-9D32-75BA7680117C}" type="slidenum">
              <a:rPr lang="en-US" altLang="zh-CN"/>
              <a:pPr>
                <a:defRPr/>
              </a:pPr>
              <a:t>‹#›</a:t>
            </a:fld>
            <a:endParaRPr lang="en-US" altLang="zh-CN"/>
          </a:p>
        </p:txBody>
      </p:sp>
    </p:spTree>
    <p:extLst>
      <p:ext uri="{BB962C8B-B14F-4D97-AF65-F5344CB8AC3E}">
        <p14:creationId xmlns:p14="http://schemas.microsoft.com/office/powerpoint/2010/main" val="182466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A4B461-33EC-416C-B6BD-76AF586A5F5B}" type="slidenum">
              <a:rPr lang="en-US" altLang="zh-CN"/>
              <a:pPr>
                <a:defRPr/>
              </a:pPr>
              <a:t>‹#›</a:t>
            </a:fld>
            <a:endParaRPr lang="en-US" altLang="zh-CN"/>
          </a:p>
        </p:txBody>
      </p:sp>
    </p:spTree>
    <p:extLst>
      <p:ext uri="{BB962C8B-B14F-4D97-AF65-F5344CB8AC3E}">
        <p14:creationId xmlns:p14="http://schemas.microsoft.com/office/powerpoint/2010/main" val="391582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F728CC6-330F-4E99-B09F-E1BB96A7BD3D}" type="slidenum">
              <a:rPr lang="en-US" altLang="zh-CN"/>
              <a:pPr>
                <a:defRPr/>
              </a:pPr>
              <a:t>‹#›</a:t>
            </a:fld>
            <a:endParaRPr lang="en-US" altLang="zh-CN"/>
          </a:p>
        </p:txBody>
      </p:sp>
    </p:spTree>
    <p:extLst>
      <p:ext uri="{BB962C8B-B14F-4D97-AF65-F5344CB8AC3E}">
        <p14:creationId xmlns:p14="http://schemas.microsoft.com/office/powerpoint/2010/main" val="254078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6112EFE-3B78-4525-8AB6-FD949C0C33BA}" type="slidenum">
              <a:rPr lang="en-US" altLang="zh-CN"/>
              <a:pPr>
                <a:defRPr/>
              </a:pPr>
              <a:t>‹#›</a:t>
            </a:fld>
            <a:endParaRPr lang="en-US" altLang="zh-CN"/>
          </a:p>
        </p:txBody>
      </p:sp>
    </p:spTree>
    <p:extLst>
      <p:ext uri="{BB962C8B-B14F-4D97-AF65-F5344CB8AC3E}">
        <p14:creationId xmlns:p14="http://schemas.microsoft.com/office/powerpoint/2010/main" val="2365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C1B8D-6BCF-4EE4-88B4-39EE4581137E}" type="slidenum">
              <a:rPr lang="en-US" altLang="zh-CN"/>
              <a:pPr>
                <a:defRPr/>
              </a:pPr>
              <a:t>‹#›</a:t>
            </a:fld>
            <a:endParaRPr lang="en-US" altLang="zh-CN"/>
          </a:p>
        </p:txBody>
      </p:sp>
    </p:spTree>
    <p:extLst>
      <p:ext uri="{BB962C8B-B14F-4D97-AF65-F5344CB8AC3E}">
        <p14:creationId xmlns:p14="http://schemas.microsoft.com/office/powerpoint/2010/main" val="365750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ltLang="zh-CN"/>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FA687D4-88A7-41E7-8A13-76CEC74FBD66}" type="slidenum">
              <a:rPr lang="en-US" altLang="zh-CN"/>
              <a:pPr>
                <a:defRPr/>
              </a:pPr>
              <a:t>‹#›</a:t>
            </a:fld>
            <a:endParaRPr lang="en-US" altLang="zh-CN"/>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Garamond" pitchFamily="18" charset="0"/>
          <a:ea typeface="宋体" pitchFamily="2" charset="-122"/>
        </a:defRPr>
      </a:lvl2pPr>
      <a:lvl3pPr algn="l" rtl="0" eaLnBrk="0" fontAlgn="base" hangingPunct="0">
        <a:spcBef>
          <a:spcPct val="0"/>
        </a:spcBef>
        <a:spcAft>
          <a:spcPct val="0"/>
        </a:spcAft>
        <a:defRPr sz="4400" b="1">
          <a:solidFill>
            <a:schemeClr val="tx2"/>
          </a:solidFill>
          <a:latin typeface="Garamond" pitchFamily="18" charset="0"/>
          <a:ea typeface="宋体" pitchFamily="2" charset="-122"/>
        </a:defRPr>
      </a:lvl3pPr>
      <a:lvl4pPr algn="l" rtl="0" eaLnBrk="0" fontAlgn="base" hangingPunct="0">
        <a:spcBef>
          <a:spcPct val="0"/>
        </a:spcBef>
        <a:spcAft>
          <a:spcPct val="0"/>
        </a:spcAft>
        <a:defRPr sz="4400" b="1">
          <a:solidFill>
            <a:schemeClr val="tx2"/>
          </a:solidFill>
          <a:latin typeface="Garamond" pitchFamily="18" charset="0"/>
          <a:ea typeface="宋体" pitchFamily="2" charset="-122"/>
        </a:defRPr>
      </a:lvl4pPr>
      <a:lvl5pPr algn="l" rtl="0" eaLnBrk="0" fontAlgn="base" hangingPunct="0">
        <a:spcBef>
          <a:spcPct val="0"/>
        </a:spcBef>
        <a:spcAft>
          <a:spcPct val="0"/>
        </a:spcAft>
        <a:defRPr sz="4400" b="1">
          <a:solidFill>
            <a:schemeClr val="tx2"/>
          </a:solidFill>
          <a:latin typeface="Garamond" pitchFamily="18" charset="0"/>
          <a:ea typeface="宋体" pitchFamily="2" charset="-122"/>
        </a:defRPr>
      </a:lvl5pPr>
      <a:lvl6pPr marL="457200" algn="l" rtl="0" fontAlgn="base">
        <a:spcBef>
          <a:spcPct val="0"/>
        </a:spcBef>
        <a:spcAft>
          <a:spcPct val="0"/>
        </a:spcAft>
        <a:defRPr sz="4400" b="1">
          <a:solidFill>
            <a:schemeClr val="tx2"/>
          </a:solidFill>
          <a:latin typeface="Garamond" pitchFamily="18" charset="0"/>
          <a:ea typeface="宋体" pitchFamily="2" charset="-122"/>
        </a:defRPr>
      </a:lvl6pPr>
      <a:lvl7pPr marL="914400" algn="l" rtl="0" fontAlgn="base">
        <a:spcBef>
          <a:spcPct val="0"/>
        </a:spcBef>
        <a:spcAft>
          <a:spcPct val="0"/>
        </a:spcAft>
        <a:defRPr sz="4400" b="1">
          <a:solidFill>
            <a:schemeClr val="tx2"/>
          </a:solidFill>
          <a:latin typeface="Garamond" pitchFamily="18" charset="0"/>
          <a:ea typeface="宋体" pitchFamily="2" charset="-122"/>
        </a:defRPr>
      </a:lvl7pPr>
      <a:lvl8pPr marL="1371600" algn="l" rtl="0" fontAlgn="base">
        <a:spcBef>
          <a:spcPct val="0"/>
        </a:spcBef>
        <a:spcAft>
          <a:spcPct val="0"/>
        </a:spcAft>
        <a:defRPr sz="4400" b="1">
          <a:solidFill>
            <a:schemeClr val="tx2"/>
          </a:solidFill>
          <a:latin typeface="Garamond" pitchFamily="18" charset="0"/>
          <a:ea typeface="宋体" pitchFamily="2" charset="-122"/>
        </a:defRPr>
      </a:lvl8pPr>
      <a:lvl9pPr marL="1828800" algn="l" rtl="0" fontAlgn="base">
        <a:spcBef>
          <a:spcPct val="0"/>
        </a:spcBef>
        <a:spcAft>
          <a:spcPct val="0"/>
        </a:spcAft>
        <a:defRPr sz="44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pPr eaLnBrk="1" hangingPunct="1"/>
            <a:r>
              <a:rPr lang="zh-CN" altLang="en-US" dirty="0"/>
              <a:t>第</a:t>
            </a:r>
            <a:r>
              <a:rPr lang="en-US" altLang="zh-CN" dirty="0"/>
              <a:t>3</a:t>
            </a:r>
            <a:r>
              <a:rPr lang="zh-CN" altLang="en-US" dirty="0"/>
              <a:t>章</a:t>
            </a:r>
            <a:r>
              <a:rPr lang="zh-CN" altLang="zh-CN" dirty="0"/>
              <a:t> 项目采购与合同管理</a:t>
            </a:r>
            <a:endParaRPr lang="zh-CN" altLang="en-US" dirty="0"/>
          </a:p>
        </p:txBody>
      </p:sp>
      <p:sp>
        <p:nvSpPr>
          <p:cNvPr id="2" name="矩形 1">
            <a:extLst>
              <a:ext uri="{FF2B5EF4-FFF2-40B4-BE49-F238E27FC236}">
                <a16:creationId xmlns:a16="http://schemas.microsoft.com/office/drawing/2014/main" id="{56C447A9-3CDC-4CE1-A397-667280D68A5D}"/>
              </a:ext>
            </a:extLst>
          </p:cNvPr>
          <p:cNvSpPr/>
          <p:nvPr/>
        </p:nvSpPr>
        <p:spPr>
          <a:xfrm>
            <a:off x="611560" y="1916832"/>
            <a:ext cx="8686800" cy="3170099"/>
          </a:xfrm>
          <a:prstGeom prst="rect">
            <a:avLst/>
          </a:prstGeom>
        </p:spPr>
        <p:txBody>
          <a:bodyPr wrap="square">
            <a:spAutoFit/>
          </a:bodyPr>
          <a:lstStyle/>
          <a:p>
            <a:r>
              <a:rPr lang="en-US" altLang="zh-CN" sz="4000" dirty="0"/>
              <a:t>3.1 </a:t>
            </a:r>
            <a:r>
              <a:rPr lang="zh-CN" altLang="zh-CN" sz="4000" dirty="0"/>
              <a:t>项目采购一般常识</a:t>
            </a:r>
          </a:p>
          <a:p>
            <a:r>
              <a:rPr lang="en-US" altLang="zh-CN" sz="4000" dirty="0"/>
              <a:t>3.2</a:t>
            </a:r>
            <a:r>
              <a:rPr lang="zh-CN" altLang="zh-CN" sz="4000" dirty="0"/>
              <a:t> 项目招标采购制度与项目采购</a:t>
            </a:r>
          </a:p>
          <a:p>
            <a:r>
              <a:rPr lang="en-US" altLang="zh-CN" sz="4000" dirty="0"/>
              <a:t>3.3 </a:t>
            </a:r>
            <a:r>
              <a:rPr lang="zh-CN" altLang="zh-CN" sz="4000" dirty="0"/>
              <a:t>项目招标采购管理要点</a:t>
            </a:r>
            <a:endParaRPr lang="en-US" altLang="zh-CN" sz="4000" dirty="0"/>
          </a:p>
          <a:p>
            <a:r>
              <a:rPr lang="en-US" altLang="zh-CN" sz="4000" dirty="0"/>
              <a:t>3.4 </a:t>
            </a:r>
            <a:r>
              <a:rPr lang="zh-CN" altLang="en-US" sz="4000" dirty="0"/>
              <a:t>合同管理</a:t>
            </a:r>
            <a:endParaRPr lang="zh-CN" altLang="zh-CN" sz="4000" dirty="0"/>
          </a:p>
          <a:p>
            <a:endParaRPr lang="zh-CN" altLang="zh-CN"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r>
              <a:rPr lang="en-US" altLang="zh-CN" dirty="0"/>
              <a:t>3.1 </a:t>
            </a:r>
            <a:r>
              <a:rPr lang="zh-CN" altLang="zh-CN" dirty="0"/>
              <a:t>项目采购一般常识</a:t>
            </a:r>
          </a:p>
        </p:txBody>
      </p:sp>
      <p:sp>
        <p:nvSpPr>
          <p:cNvPr id="2" name="矩形 1">
            <a:extLst>
              <a:ext uri="{FF2B5EF4-FFF2-40B4-BE49-F238E27FC236}">
                <a16:creationId xmlns:a16="http://schemas.microsoft.com/office/drawing/2014/main" id="{56C447A9-3CDC-4CE1-A397-667280D68A5D}"/>
              </a:ext>
            </a:extLst>
          </p:cNvPr>
          <p:cNvSpPr/>
          <p:nvPr/>
        </p:nvSpPr>
        <p:spPr>
          <a:xfrm>
            <a:off x="107504" y="1556792"/>
            <a:ext cx="9036496" cy="3477875"/>
          </a:xfrm>
          <a:prstGeom prst="rect">
            <a:avLst/>
          </a:prstGeom>
        </p:spPr>
        <p:txBody>
          <a:bodyPr wrap="square">
            <a:spAutoFit/>
          </a:bodyPr>
          <a:lstStyle/>
          <a:p>
            <a:r>
              <a:rPr lang="zh-CN" altLang="en-US" sz="4000" b="1" dirty="0">
                <a:solidFill>
                  <a:srgbClr val="7030A0"/>
                </a:solidFill>
              </a:rPr>
              <a:t>一、项目采购</a:t>
            </a:r>
            <a:r>
              <a:rPr lang="zh-CN" altLang="zh-CN" sz="4000" b="1" dirty="0">
                <a:solidFill>
                  <a:srgbClr val="7030A0"/>
                </a:solidFill>
              </a:rPr>
              <a:t>的含义</a:t>
            </a:r>
            <a:endParaRPr lang="en-US" altLang="zh-CN" sz="4000" b="1" dirty="0">
              <a:solidFill>
                <a:srgbClr val="7030A0"/>
              </a:solidFill>
            </a:endParaRPr>
          </a:p>
          <a:p>
            <a:pPr marL="571500" indent="-571500">
              <a:buFont typeface="Arial" panose="020B0604020202020204" pitchFamily="34" charset="0"/>
              <a:buChar char="•"/>
            </a:pPr>
            <a:r>
              <a:rPr lang="en-US" altLang="zh-CN" sz="3600" dirty="0"/>
              <a:t>1</a:t>
            </a:r>
            <a:r>
              <a:rPr lang="zh-CN" altLang="en-US" sz="3600" dirty="0"/>
              <a:t>、采购</a:t>
            </a:r>
            <a:endParaRPr lang="en-US" altLang="zh-CN" sz="3600" dirty="0"/>
          </a:p>
          <a:p>
            <a:pPr marL="571500" indent="-571500">
              <a:buFont typeface="Arial" panose="020B0604020202020204" pitchFamily="34" charset="0"/>
              <a:buChar char="•"/>
            </a:pPr>
            <a:r>
              <a:rPr lang="zh-CN" altLang="en-US" sz="3600" dirty="0"/>
              <a:t>是指个人或企业为满足个人需要或保证企业生产及经营活动正常开展，在一定的条件下从供应市场获取产品或服务作为个人或企业所需资源的系列行为及活动。</a:t>
            </a:r>
            <a:endParaRPr lang="zh-CN" altLang="zh-CN" sz="3600" b="1" dirty="0">
              <a:solidFill>
                <a:srgbClr val="0070C0"/>
              </a:solidFill>
            </a:endParaRPr>
          </a:p>
        </p:txBody>
      </p:sp>
    </p:spTree>
    <p:extLst>
      <p:ext uri="{BB962C8B-B14F-4D97-AF65-F5344CB8AC3E}">
        <p14:creationId xmlns:p14="http://schemas.microsoft.com/office/powerpoint/2010/main" val="2166633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p:txBody>
          <a:bodyPr/>
          <a:lstStyle/>
          <a:p>
            <a:r>
              <a:rPr lang="en-US" altLang="zh-CN" dirty="0"/>
              <a:t>3.1 </a:t>
            </a:r>
            <a:r>
              <a:rPr lang="zh-CN" altLang="zh-CN" dirty="0"/>
              <a:t>项目采购一般常识</a:t>
            </a:r>
          </a:p>
        </p:txBody>
      </p:sp>
      <p:sp>
        <p:nvSpPr>
          <p:cNvPr id="2" name="矩形 1">
            <a:extLst>
              <a:ext uri="{FF2B5EF4-FFF2-40B4-BE49-F238E27FC236}">
                <a16:creationId xmlns:a16="http://schemas.microsoft.com/office/drawing/2014/main" id="{56C447A9-3CDC-4CE1-A397-667280D68A5D}"/>
              </a:ext>
            </a:extLst>
          </p:cNvPr>
          <p:cNvSpPr/>
          <p:nvPr/>
        </p:nvSpPr>
        <p:spPr>
          <a:xfrm>
            <a:off x="0" y="1556792"/>
            <a:ext cx="9144000" cy="3970318"/>
          </a:xfrm>
          <a:prstGeom prst="rect">
            <a:avLst/>
          </a:prstGeom>
        </p:spPr>
        <p:txBody>
          <a:bodyPr wrap="square">
            <a:spAutoFit/>
          </a:bodyPr>
          <a:lstStyle/>
          <a:p>
            <a:pPr marL="571500" indent="-571500">
              <a:buFont typeface="Arial" panose="020B0604020202020204" pitchFamily="34" charset="0"/>
              <a:buChar char="•"/>
            </a:pPr>
            <a:r>
              <a:rPr lang="en-US" altLang="zh-CN" sz="3600" dirty="0"/>
              <a:t>2</a:t>
            </a:r>
            <a:r>
              <a:rPr lang="zh-CN" altLang="en-US" sz="3600" dirty="0"/>
              <a:t>、项目采购</a:t>
            </a:r>
            <a:r>
              <a:rPr lang="en-US" altLang="zh-CN" sz="3600" dirty="0"/>
              <a:t>——</a:t>
            </a:r>
            <a:r>
              <a:rPr lang="zh-CN" altLang="en-US" sz="3600" dirty="0"/>
              <a:t>是指在项目管理过程中，为了实现项目目标，对所需物资、设备、服务等进行的一系列购买行为。</a:t>
            </a:r>
            <a:endParaRPr lang="en-US" altLang="zh-CN" sz="3600" dirty="0"/>
          </a:p>
          <a:p>
            <a:pPr marL="571500" indent="-571500">
              <a:buFont typeface="Arial" panose="020B0604020202020204" pitchFamily="34" charset="0"/>
              <a:buChar char="•"/>
            </a:pPr>
            <a:r>
              <a:rPr lang="zh-CN" altLang="en-US" sz="3600" dirty="0">
                <a:solidFill>
                  <a:srgbClr val="0070C0"/>
                </a:solidFill>
              </a:rPr>
              <a:t>项目采购不仅包括传统的货物和服务购买，还涵盖了合同的签订、执行和监控等全过程‌。</a:t>
            </a:r>
            <a:endParaRPr lang="en-US" altLang="zh-CN" sz="3600" dirty="0">
              <a:solidFill>
                <a:srgbClr val="0070C0"/>
              </a:solidFill>
            </a:endParaRPr>
          </a:p>
          <a:p>
            <a:pPr marL="571500" indent="-571500">
              <a:buFont typeface="Arial" panose="020B0604020202020204" pitchFamily="34" charset="0"/>
              <a:buChar char="•"/>
            </a:pPr>
            <a:r>
              <a:rPr lang="zh-CN" altLang="en-US" sz="3600" b="1" dirty="0">
                <a:solidFill>
                  <a:srgbClr val="7030A0"/>
                </a:solidFill>
                <a:latin typeface="-apple-system"/>
              </a:rPr>
              <a:t>与采购有关的词有哪些？</a:t>
            </a:r>
            <a:endParaRPr lang="zh-CN" altLang="zh-CN" sz="3600" b="1" dirty="0">
              <a:solidFill>
                <a:srgbClr val="0070C0"/>
              </a:solidFill>
            </a:endParaRPr>
          </a:p>
        </p:txBody>
      </p:sp>
    </p:spTree>
    <p:extLst>
      <p:ext uri="{BB962C8B-B14F-4D97-AF65-F5344CB8AC3E}">
        <p14:creationId xmlns:p14="http://schemas.microsoft.com/office/powerpoint/2010/main" val="307408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1CA08CF-8ECC-4F6C-8E31-BEFEFC8EB580}"/>
              </a:ext>
            </a:extLst>
          </p:cNvPr>
          <p:cNvSpPr/>
          <p:nvPr/>
        </p:nvSpPr>
        <p:spPr>
          <a:xfrm>
            <a:off x="611560" y="1844824"/>
            <a:ext cx="7776864" cy="2062103"/>
          </a:xfrm>
          <a:prstGeom prst="rect">
            <a:avLst/>
          </a:prstGeom>
        </p:spPr>
        <p:txBody>
          <a:bodyPr wrap="square">
            <a:spAutoFit/>
          </a:bodyPr>
          <a:lstStyle/>
          <a:p>
            <a:pPr algn="just"/>
            <a:r>
              <a:rPr lang="zh-CN" altLang="en-US" sz="3200" b="1" dirty="0">
                <a:solidFill>
                  <a:srgbClr val="7030A0"/>
                </a:solidFill>
                <a:latin typeface="-apple-system"/>
              </a:rPr>
              <a:t>与采购有关的词有：</a:t>
            </a:r>
            <a:r>
              <a:rPr lang="en-US" altLang="zh-CN" sz="3200" b="1" dirty="0">
                <a:solidFill>
                  <a:srgbClr val="7030A0"/>
                </a:solidFill>
                <a:latin typeface="-apple-system"/>
              </a:rPr>
              <a:t>Buyer</a:t>
            </a:r>
            <a:r>
              <a:rPr lang="zh-CN" altLang="en-US" sz="3200" b="1" dirty="0">
                <a:solidFill>
                  <a:srgbClr val="7030A0"/>
                </a:solidFill>
                <a:latin typeface="-apple-system"/>
              </a:rPr>
              <a:t>、</a:t>
            </a:r>
            <a:r>
              <a:rPr lang="en-US" altLang="zh-CN" sz="3200" b="1" dirty="0">
                <a:solidFill>
                  <a:srgbClr val="7030A0"/>
                </a:solidFill>
                <a:latin typeface="-apple-system"/>
              </a:rPr>
              <a:t>Purchasing</a:t>
            </a:r>
            <a:r>
              <a:rPr lang="zh-CN" altLang="en-US" sz="3200" b="1" dirty="0">
                <a:solidFill>
                  <a:srgbClr val="7030A0"/>
                </a:solidFill>
                <a:latin typeface="-apple-system"/>
              </a:rPr>
              <a:t>、</a:t>
            </a:r>
            <a:r>
              <a:rPr lang="en-US" altLang="zh-CN" sz="3200" b="1" dirty="0">
                <a:solidFill>
                  <a:srgbClr val="7030A0"/>
                </a:solidFill>
                <a:latin typeface="-apple-system"/>
              </a:rPr>
              <a:t>Procurement</a:t>
            </a:r>
            <a:r>
              <a:rPr lang="zh-CN" altLang="en-US" sz="3200" b="1" dirty="0">
                <a:solidFill>
                  <a:srgbClr val="7030A0"/>
                </a:solidFill>
                <a:latin typeface="-apple-system"/>
              </a:rPr>
              <a:t>和</a:t>
            </a:r>
            <a:r>
              <a:rPr lang="en-US" altLang="zh-CN" sz="3200" b="1" dirty="0">
                <a:solidFill>
                  <a:srgbClr val="7030A0"/>
                </a:solidFill>
                <a:latin typeface="-apple-system"/>
              </a:rPr>
              <a:t>Sourcing</a:t>
            </a:r>
            <a:r>
              <a:rPr lang="zh-CN" altLang="en-US" sz="3200" b="1" dirty="0">
                <a:solidFill>
                  <a:srgbClr val="7030A0"/>
                </a:solidFill>
                <a:latin typeface="-apple-system"/>
              </a:rPr>
              <a:t>。即：买、采购、获取（或资源获取）、寻源与货源组织。</a:t>
            </a:r>
            <a:endParaRPr lang="en-US" altLang="zh-CN" sz="3200" b="1" dirty="0">
              <a:solidFill>
                <a:srgbClr val="7030A0"/>
              </a:solidFill>
              <a:latin typeface="-apple-system"/>
            </a:endParaRPr>
          </a:p>
          <a:p>
            <a:pPr algn="just"/>
            <a:endParaRPr lang="zh-CN" altLang="en-US" sz="3200" b="1" dirty="0">
              <a:solidFill>
                <a:srgbClr val="7030A0"/>
              </a:solidFill>
              <a:latin typeface="-apple-system"/>
            </a:endParaRPr>
          </a:p>
        </p:txBody>
      </p:sp>
    </p:spTree>
    <p:extLst>
      <p:ext uri="{BB962C8B-B14F-4D97-AF65-F5344CB8AC3E}">
        <p14:creationId xmlns:p14="http://schemas.microsoft.com/office/powerpoint/2010/main" val="295027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604FCDD-8E24-4893-92C8-8FEFB26663D9}"/>
              </a:ext>
            </a:extLst>
          </p:cNvPr>
          <p:cNvSpPr/>
          <p:nvPr/>
        </p:nvSpPr>
        <p:spPr>
          <a:xfrm>
            <a:off x="236445" y="548680"/>
            <a:ext cx="8892480" cy="5262979"/>
          </a:xfrm>
          <a:prstGeom prst="rect">
            <a:avLst/>
          </a:prstGeom>
        </p:spPr>
        <p:txBody>
          <a:bodyPr wrap="square">
            <a:spAutoFit/>
          </a:bodyPr>
          <a:lstStyle/>
          <a:p>
            <a:pPr algn="just"/>
            <a:r>
              <a:rPr lang="en-US" altLang="zh-CN" sz="2800" dirty="0">
                <a:solidFill>
                  <a:srgbClr val="191B1F"/>
                </a:solidFill>
                <a:latin typeface="-apple-system"/>
              </a:rPr>
              <a:t>1</a:t>
            </a:r>
            <a:r>
              <a:rPr lang="zh-CN" altLang="en-US" sz="2800" dirty="0">
                <a:solidFill>
                  <a:srgbClr val="191B1F"/>
                </a:solidFill>
                <a:latin typeface="-apple-system"/>
              </a:rPr>
              <a:t>）</a:t>
            </a:r>
            <a:r>
              <a:rPr lang="en-US" altLang="zh-CN" sz="2800" dirty="0">
                <a:solidFill>
                  <a:srgbClr val="191B1F"/>
                </a:solidFill>
                <a:latin typeface="-apple-system"/>
              </a:rPr>
              <a:t>Buyer</a:t>
            </a:r>
            <a:r>
              <a:rPr lang="zh-CN" altLang="en-US" sz="2800" dirty="0">
                <a:solidFill>
                  <a:srgbClr val="191B1F"/>
                </a:solidFill>
                <a:latin typeface="-apple-system"/>
              </a:rPr>
              <a:t>只是简单的买，完成了“买”的动作和买入了某样物资或服务，侧重于下单，并跟踪订单；</a:t>
            </a:r>
          </a:p>
          <a:p>
            <a:pPr algn="just"/>
            <a:r>
              <a:rPr lang="en-US" altLang="zh-CN" sz="2800" dirty="0">
                <a:solidFill>
                  <a:srgbClr val="191B1F"/>
                </a:solidFill>
                <a:latin typeface="-apple-system"/>
              </a:rPr>
              <a:t>2</a:t>
            </a:r>
            <a:r>
              <a:rPr lang="zh-CN" altLang="en-US" sz="2800" dirty="0">
                <a:solidFill>
                  <a:srgbClr val="191B1F"/>
                </a:solidFill>
                <a:latin typeface="-apple-system"/>
              </a:rPr>
              <a:t> ） </a:t>
            </a:r>
            <a:r>
              <a:rPr lang="en-US" altLang="zh-CN" sz="2800" dirty="0">
                <a:solidFill>
                  <a:srgbClr val="191B1F"/>
                </a:solidFill>
                <a:latin typeface="-apple-system"/>
              </a:rPr>
              <a:t>Purchasing</a:t>
            </a:r>
            <a:r>
              <a:rPr lang="zh-CN" altLang="en-US" sz="2800" dirty="0">
                <a:solidFill>
                  <a:srgbClr val="191B1F"/>
                </a:solidFill>
                <a:latin typeface="-apple-system"/>
              </a:rPr>
              <a:t>则有采购的意思，即先要采，再买进；</a:t>
            </a:r>
          </a:p>
          <a:p>
            <a:pPr algn="just"/>
            <a:r>
              <a:rPr lang="en-US" altLang="zh-CN" sz="2800" dirty="0">
                <a:solidFill>
                  <a:srgbClr val="191B1F"/>
                </a:solidFill>
                <a:latin typeface="-apple-system"/>
              </a:rPr>
              <a:t>3</a:t>
            </a:r>
            <a:r>
              <a:rPr lang="zh-CN" altLang="en-US" sz="2800" dirty="0">
                <a:solidFill>
                  <a:srgbClr val="191B1F"/>
                </a:solidFill>
                <a:latin typeface="-apple-system"/>
              </a:rPr>
              <a:t> ） </a:t>
            </a:r>
            <a:r>
              <a:rPr lang="en-US" altLang="zh-CN" sz="2800" dirty="0">
                <a:solidFill>
                  <a:srgbClr val="191B1F"/>
                </a:solidFill>
                <a:latin typeface="-apple-system"/>
              </a:rPr>
              <a:t>Procurement</a:t>
            </a:r>
            <a:r>
              <a:rPr lang="zh-CN" altLang="en-US" sz="2800" dirty="0">
                <a:solidFill>
                  <a:srgbClr val="191B1F"/>
                </a:solidFill>
                <a:latin typeface="-apple-system"/>
              </a:rPr>
              <a:t>是实现了资源获取，有整合与更好的获得资源的意思；</a:t>
            </a:r>
          </a:p>
          <a:p>
            <a:pPr algn="just"/>
            <a:r>
              <a:rPr lang="en-US" altLang="zh-CN" sz="2800" dirty="0">
                <a:solidFill>
                  <a:srgbClr val="191B1F"/>
                </a:solidFill>
                <a:latin typeface="-apple-system"/>
              </a:rPr>
              <a:t>4</a:t>
            </a:r>
            <a:r>
              <a:rPr lang="zh-CN" altLang="en-US" sz="2800" dirty="0">
                <a:solidFill>
                  <a:srgbClr val="191B1F"/>
                </a:solidFill>
                <a:latin typeface="-apple-system"/>
              </a:rPr>
              <a:t> ） </a:t>
            </a:r>
            <a:r>
              <a:rPr lang="en-US" altLang="zh-CN" sz="2800" dirty="0">
                <a:solidFill>
                  <a:srgbClr val="191B1F"/>
                </a:solidFill>
                <a:latin typeface="-apple-system"/>
              </a:rPr>
              <a:t>Sourcing</a:t>
            </a:r>
            <a:r>
              <a:rPr lang="zh-CN" altLang="en-US" sz="2800" dirty="0">
                <a:solidFill>
                  <a:srgbClr val="191B1F"/>
                </a:solidFill>
                <a:latin typeface="-apple-system"/>
              </a:rPr>
              <a:t>一般是制造型企业用的，要求有很强的理工知识和商业感觉，是要去在全球范围内找到最好的资源、然后将找到的货源和资源组合在一起来更好地加以利用，侧重于物料和供应商的开发，开发完成后交给</a:t>
            </a:r>
            <a:r>
              <a:rPr lang="en-US" altLang="zh-CN" sz="2800" dirty="0">
                <a:solidFill>
                  <a:srgbClr val="191B1F"/>
                </a:solidFill>
                <a:latin typeface="-apple-system"/>
              </a:rPr>
              <a:t>buyer</a:t>
            </a:r>
            <a:r>
              <a:rPr lang="zh-CN" altLang="en-US" sz="2800" dirty="0">
                <a:solidFill>
                  <a:srgbClr val="191B1F"/>
                </a:solidFill>
                <a:latin typeface="-apple-system"/>
              </a:rPr>
              <a:t>下单跟踪。</a:t>
            </a:r>
            <a:endParaRPr lang="en-US" altLang="zh-CN" sz="2800" dirty="0">
              <a:solidFill>
                <a:srgbClr val="191B1F"/>
              </a:solidFill>
              <a:latin typeface="-apple-system"/>
            </a:endParaRPr>
          </a:p>
          <a:p>
            <a:pPr algn="just"/>
            <a:r>
              <a:rPr lang="zh-CN" altLang="en-US" sz="2800" dirty="0">
                <a:solidFill>
                  <a:srgbClr val="191B1F"/>
                </a:solidFill>
                <a:latin typeface="-apple-system"/>
              </a:rPr>
              <a:t>它们的演变是随着采购业务不断发展的需求而出现和扩展而来的。</a:t>
            </a:r>
            <a:endParaRPr lang="zh-CN" altLang="en-US" sz="2800" b="0" i="0" dirty="0">
              <a:solidFill>
                <a:srgbClr val="191B1F"/>
              </a:solidFill>
              <a:effectLst/>
              <a:latin typeface="-apple-system"/>
            </a:endParaRPr>
          </a:p>
        </p:txBody>
      </p:sp>
    </p:spTree>
    <p:extLst>
      <p:ext uri="{BB962C8B-B14F-4D97-AF65-F5344CB8AC3E}">
        <p14:creationId xmlns:p14="http://schemas.microsoft.com/office/powerpoint/2010/main" val="2271274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5CB105-7B65-4048-B66F-5E6AE1904EFE}"/>
              </a:ext>
            </a:extLst>
          </p:cNvPr>
          <p:cNvSpPr/>
          <p:nvPr/>
        </p:nvSpPr>
        <p:spPr>
          <a:xfrm>
            <a:off x="251520" y="856357"/>
            <a:ext cx="8892480" cy="6001643"/>
          </a:xfrm>
          <a:prstGeom prst="rect">
            <a:avLst/>
          </a:prstGeom>
        </p:spPr>
        <p:txBody>
          <a:bodyPr wrap="square">
            <a:spAutoFit/>
          </a:bodyPr>
          <a:lstStyle/>
          <a:p>
            <a:pPr algn="just"/>
            <a:r>
              <a:rPr lang="zh-CN" altLang="en-US" sz="3200" b="1" dirty="0">
                <a:solidFill>
                  <a:srgbClr val="7030A0"/>
                </a:solidFill>
                <a:latin typeface="PingFang SC"/>
              </a:rPr>
              <a:t>以下是对项目采购含义的详细解释：</a:t>
            </a:r>
          </a:p>
          <a:p>
            <a:pPr algn="just"/>
            <a:r>
              <a:rPr lang="en-US" altLang="zh-CN" sz="3200" b="1" dirty="0">
                <a:solidFill>
                  <a:srgbClr val="333333"/>
                </a:solidFill>
                <a:latin typeface="PingFang SC"/>
              </a:rPr>
              <a:t>1</a:t>
            </a:r>
            <a:r>
              <a:rPr lang="zh-CN" altLang="en-US" sz="3200" dirty="0">
                <a:solidFill>
                  <a:srgbClr val="191B1F"/>
                </a:solidFill>
                <a:latin typeface="-apple-system"/>
              </a:rPr>
              <a:t> ）</a:t>
            </a:r>
            <a:r>
              <a:rPr lang="zh-CN" altLang="en-US" sz="3200" b="1" dirty="0">
                <a:solidFill>
                  <a:srgbClr val="333333"/>
                </a:solidFill>
                <a:latin typeface="PingFang SC"/>
              </a:rPr>
              <a:t>目的</a:t>
            </a:r>
            <a:r>
              <a:rPr lang="zh-CN" altLang="en-US" sz="3200" dirty="0">
                <a:solidFill>
                  <a:srgbClr val="333333"/>
                </a:solidFill>
                <a:latin typeface="PingFang SC"/>
              </a:rPr>
              <a:t>‌：确保项目所需资源的供应，以满足项目的进度、成本和质量要求‌。</a:t>
            </a:r>
            <a:endParaRPr lang="en-US" altLang="zh-CN" sz="3200" dirty="0">
              <a:solidFill>
                <a:srgbClr val="333333"/>
              </a:solidFill>
              <a:latin typeface="PingFang SC"/>
            </a:endParaRPr>
          </a:p>
          <a:p>
            <a:pPr algn="just"/>
            <a:endParaRPr lang="en-US" altLang="zh-CN" sz="3200" dirty="0">
              <a:solidFill>
                <a:srgbClr val="333333"/>
              </a:solidFill>
              <a:latin typeface="PingFang SC"/>
            </a:endParaRPr>
          </a:p>
          <a:p>
            <a:pPr algn="just"/>
            <a:r>
              <a:rPr lang="en-US" altLang="zh-CN" sz="3200" b="1" dirty="0">
                <a:solidFill>
                  <a:srgbClr val="333333"/>
                </a:solidFill>
                <a:latin typeface="PingFang SC"/>
              </a:rPr>
              <a:t>2</a:t>
            </a:r>
            <a:r>
              <a:rPr lang="zh-CN" altLang="en-US" sz="3200" dirty="0">
                <a:solidFill>
                  <a:srgbClr val="191B1F"/>
                </a:solidFill>
                <a:latin typeface="-apple-system"/>
              </a:rPr>
              <a:t> ）</a:t>
            </a:r>
            <a:r>
              <a:rPr lang="zh-CN" altLang="en-US" sz="3200" b="1" dirty="0">
                <a:solidFill>
                  <a:srgbClr val="333333"/>
                </a:solidFill>
                <a:latin typeface="PingFang SC"/>
              </a:rPr>
              <a:t>过程</a:t>
            </a:r>
            <a:r>
              <a:rPr lang="zh-CN" altLang="en-US" sz="3200" dirty="0">
                <a:solidFill>
                  <a:srgbClr val="333333"/>
                </a:solidFill>
                <a:latin typeface="PingFang SC"/>
              </a:rPr>
              <a:t>‌：项目采购涉及从项目组织外部获得货物和服务的过程。</a:t>
            </a:r>
            <a:r>
              <a:rPr lang="zh-CN" altLang="en-US" sz="3200" dirty="0">
                <a:solidFill>
                  <a:srgbClr val="0070C0"/>
                </a:solidFill>
                <a:latin typeface="PingFang SC"/>
              </a:rPr>
              <a:t>这包括规划采购管理、实施采购、控制采购和结束采购四个主要阶段‌。</a:t>
            </a:r>
            <a:endParaRPr lang="en-US" altLang="zh-CN" sz="3200" dirty="0">
              <a:solidFill>
                <a:srgbClr val="0070C0"/>
              </a:solidFill>
              <a:latin typeface="PingFang SC"/>
            </a:endParaRPr>
          </a:p>
          <a:p>
            <a:pPr algn="just"/>
            <a:endParaRPr lang="en-US" altLang="zh-CN" sz="3200" dirty="0">
              <a:solidFill>
                <a:srgbClr val="0070C0"/>
              </a:solidFill>
              <a:latin typeface="PingFang SC"/>
            </a:endParaRPr>
          </a:p>
          <a:p>
            <a:pPr algn="just"/>
            <a:r>
              <a:rPr lang="zh-CN" altLang="en-US" sz="3200" dirty="0">
                <a:solidFill>
                  <a:srgbClr val="333333"/>
                </a:solidFill>
                <a:latin typeface="PingFang SC"/>
              </a:rPr>
              <a:t>其中，规划采购管理主要是确定采购需求、制定采购计划；实施采购包括询价、选择供应商、签订合同等；控制采购涉及对合同执行情况的监控和管理；结束采购则包括合同的收尾工作。</a:t>
            </a:r>
            <a:endParaRPr lang="zh-CN" altLang="en-US" sz="3200" b="0" i="0" dirty="0">
              <a:solidFill>
                <a:srgbClr val="333333"/>
              </a:solidFill>
              <a:effectLst/>
              <a:latin typeface="PingFang SC"/>
            </a:endParaRPr>
          </a:p>
        </p:txBody>
      </p:sp>
    </p:spTree>
    <p:extLst>
      <p:ext uri="{BB962C8B-B14F-4D97-AF65-F5344CB8AC3E}">
        <p14:creationId xmlns:p14="http://schemas.microsoft.com/office/powerpoint/2010/main" val="818959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D6FDC68-059B-4B0B-A7F1-6AF90165BD91}"/>
              </a:ext>
            </a:extLst>
          </p:cNvPr>
          <p:cNvSpPr/>
          <p:nvPr/>
        </p:nvSpPr>
        <p:spPr>
          <a:xfrm>
            <a:off x="628034" y="1340768"/>
            <a:ext cx="8496944" cy="4524315"/>
          </a:xfrm>
          <a:prstGeom prst="rect">
            <a:avLst/>
          </a:prstGeom>
        </p:spPr>
        <p:txBody>
          <a:bodyPr wrap="square">
            <a:spAutoFit/>
          </a:bodyPr>
          <a:lstStyle/>
          <a:p>
            <a:pPr>
              <a:buFont typeface="+mj-lt"/>
              <a:buAutoNum type="arabicPeriod"/>
            </a:pPr>
            <a:endParaRPr lang="zh-CN" altLang="en-US" sz="3200" dirty="0">
              <a:solidFill>
                <a:srgbClr val="333333"/>
              </a:solidFill>
              <a:latin typeface="PingFang SC"/>
            </a:endParaRPr>
          </a:p>
          <a:p>
            <a:r>
              <a:rPr lang="en-US" altLang="zh-CN" sz="3200" b="1" dirty="0">
                <a:solidFill>
                  <a:srgbClr val="333333"/>
                </a:solidFill>
                <a:latin typeface="PingFang SC"/>
              </a:rPr>
              <a:t>3</a:t>
            </a:r>
            <a:r>
              <a:rPr lang="zh-CN" altLang="en-US" sz="3200" dirty="0">
                <a:solidFill>
                  <a:srgbClr val="191B1F"/>
                </a:solidFill>
                <a:latin typeface="-apple-system"/>
              </a:rPr>
              <a:t> ）</a:t>
            </a:r>
            <a:r>
              <a:rPr lang="zh-CN" altLang="en-US" sz="3200" b="1" dirty="0">
                <a:solidFill>
                  <a:srgbClr val="333333"/>
                </a:solidFill>
                <a:latin typeface="PingFang SC"/>
              </a:rPr>
              <a:t>买卖双方</a:t>
            </a:r>
            <a:r>
              <a:rPr lang="zh-CN" altLang="en-US" sz="3200" dirty="0">
                <a:solidFill>
                  <a:srgbClr val="333333"/>
                </a:solidFill>
                <a:latin typeface="PingFang SC"/>
              </a:rPr>
              <a:t>‌：在项目采购中，买方通常是项目执行组织，而卖方则是提供货物或服务的承包商或供应商。买卖双方各有自己的目的，并在既定的市场中相互作用。</a:t>
            </a:r>
            <a:endParaRPr lang="en-US" altLang="zh-CN" sz="3200" dirty="0">
              <a:solidFill>
                <a:srgbClr val="333333"/>
              </a:solidFill>
              <a:latin typeface="PingFang SC"/>
            </a:endParaRPr>
          </a:p>
          <a:p>
            <a:endParaRPr lang="zh-CN" altLang="en-US" sz="3200" dirty="0">
              <a:solidFill>
                <a:srgbClr val="333333"/>
              </a:solidFill>
              <a:latin typeface="PingFang SC"/>
            </a:endParaRPr>
          </a:p>
          <a:p>
            <a:r>
              <a:rPr lang="en-US" altLang="zh-CN" sz="3200" b="1" dirty="0">
                <a:solidFill>
                  <a:srgbClr val="333333"/>
                </a:solidFill>
                <a:latin typeface="PingFang SC"/>
              </a:rPr>
              <a:t>4</a:t>
            </a:r>
            <a:r>
              <a:rPr lang="zh-CN" altLang="en-US" sz="3200" dirty="0">
                <a:solidFill>
                  <a:srgbClr val="191B1F"/>
                </a:solidFill>
                <a:latin typeface="-apple-system"/>
              </a:rPr>
              <a:t> ）</a:t>
            </a:r>
            <a:r>
              <a:rPr lang="zh-CN" altLang="en-US" sz="3200" b="1" dirty="0">
                <a:solidFill>
                  <a:srgbClr val="333333"/>
                </a:solidFill>
                <a:latin typeface="PingFang SC"/>
              </a:rPr>
              <a:t>合同</a:t>
            </a:r>
            <a:r>
              <a:rPr lang="zh-CN" altLang="en-US" sz="3200" dirty="0">
                <a:solidFill>
                  <a:srgbClr val="333333"/>
                </a:solidFill>
                <a:latin typeface="PingFang SC"/>
              </a:rPr>
              <a:t>‌：项目采购是以合同为媒介的交易行为。一方按合同规定提供货物或服务，另一方则按合同规定支付金钱或其他形式的报酬‌。</a:t>
            </a:r>
          </a:p>
        </p:txBody>
      </p:sp>
    </p:spTree>
    <p:extLst>
      <p:ext uri="{BB962C8B-B14F-4D97-AF65-F5344CB8AC3E}">
        <p14:creationId xmlns:p14="http://schemas.microsoft.com/office/powerpoint/2010/main" val="3181816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047879E-78DC-475D-AD24-CEC0F7B33C52}"/>
              </a:ext>
            </a:extLst>
          </p:cNvPr>
          <p:cNvSpPr/>
          <p:nvPr/>
        </p:nvSpPr>
        <p:spPr>
          <a:xfrm>
            <a:off x="467544" y="116632"/>
            <a:ext cx="8496944" cy="6186309"/>
          </a:xfrm>
          <a:prstGeom prst="rect">
            <a:avLst/>
          </a:prstGeom>
        </p:spPr>
        <p:txBody>
          <a:bodyPr wrap="square">
            <a:spAutoFit/>
          </a:bodyPr>
          <a:lstStyle/>
          <a:p>
            <a:pPr>
              <a:buFont typeface="+mj-lt"/>
              <a:buAutoNum type="arabicPeriod"/>
            </a:pPr>
            <a:endParaRPr lang="zh-CN" altLang="en-US" sz="3600" dirty="0">
              <a:solidFill>
                <a:srgbClr val="333333"/>
              </a:solidFill>
              <a:latin typeface="PingFang SC"/>
            </a:endParaRPr>
          </a:p>
          <a:p>
            <a:r>
              <a:rPr lang="en-US" altLang="zh-CN" sz="3600" b="1" dirty="0">
                <a:solidFill>
                  <a:srgbClr val="333333"/>
                </a:solidFill>
                <a:latin typeface="PingFang SC"/>
              </a:rPr>
              <a:t>5</a:t>
            </a:r>
            <a:r>
              <a:rPr lang="zh-CN" altLang="en-US" sz="3600" dirty="0">
                <a:solidFill>
                  <a:srgbClr val="191B1F"/>
                </a:solidFill>
                <a:latin typeface="-apple-system"/>
              </a:rPr>
              <a:t> ）</a:t>
            </a:r>
            <a:r>
              <a:rPr lang="zh-CN" altLang="en-US" sz="3600" b="1" dirty="0">
                <a:solidFill>
                  <a:srgbClr val="333333"/>
                </a:solidFill>
                <a:latin typeface="PingFang SC"/>
              </a:rPr>
              <a:t>应用场景</a:t>
            </a:r>
            <a:r>
              <a:rPr lang="zh-CN" altLang="en-US" sz="3600" dirty="0">
                <a:solidFill>
                  <a:srgbClr val="333333"/>
                </a:solidFill>
                <a:latin typeface="PingFang SC"/>
              </a:rPr>
              <a:t>‌：</a:t>
            </a:r>
            <a:endParaRPr lang="en-US" altLang="zh-CN" sz="3600" dirty="0">
              <a:solidFill>
                <a:srgbClr val="333333"/>
              </a:solidFill>
              <a:latin typeface="PingFang SC"/>
            </a:endParaRPr>
          </a:p>
          <a:p>
            <a:endParaRPr lang="en-US" altLang="zh-CN" sz="3600" dirty="0">
              <a:solidFill>
                <a:srgbClr val="333333"/>
              </a:solidFill>
              <a:latin typeface="PingFang SC"/>
            </a:endParaRPr>
          </a:p>
          <a:p>
            <a:r>
              <a:rPr lang="zh-CN" altLang="en-US" sz="3600" dirty="0">
                <a:solidFill>
                  <a:srgbClr val="333333"/>
                </a:solidFill>
                <a:latin typeface="PingFang SC"/>
              </a:rPr>
              <a:t>项目采购广泛应用于各个行业和领域，如工程项目、建筑项目、建设项目等。在这些项目中，项目采购是确保项目顺利进行和资源有效配置的关键环节‌。</a:t>
            </a:r>
          </a:p>
          <a:p>
            <a:r>
              <a:rPr lang="zh-CN" altLang="en-US" sz="3600" dirty="0">
                <a:solidFill>
                  <a:srgbClr val="333333"/>
                </a:solidFill>
                <a:latin typeface="PingFang SC"/>
              </a:rPr>
              <a:t>综上所述，</a:t>
            </a:r>
            <a:r>
              <a:rPr lang="zh-CN" altLang="en-US" sz="3600" b="1" dirty="0">
                <a:solidFill>
                  <a:srgbClr val="002060"/>
                </a:solidFill>
                <a:latin typeface="PingFang SC"/>
              </a:rPr>
              <a:t>项目采购是项目管理中的一个重要组成部分，它涉及从项目组织外部获得所需资源的过程，包括合同的签订、执行和监控等关键环节。</a:t>
            </a:r>
          </a:p>
        </p:txBody>
      </p:sp>
    </p:spTree>
    <p:extLst>
      <p:ext uri="{BB962C8B-B14F-4D97-AF65-F5344CB8AC3E}">
        <p14:creationId xmlns:p14="http://schemas.microsoft.com/office/powerpoint/2010/main" val="1010803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FE5D292-A22D-4501-8BA2-CFCD8912AC23}"/>
              </a:ext>
            </a:extLst>
          </p:cNvPr>
          <p:cNvSpPr/>
          <p:nvPr/>
        </p:nvSpPr>
        <p:spPr>
          <a:xfrm>
            <a:off x="251520" y="428178"/>
            <a:ext cx="8640960" cy="6001643"/>
          </a:xfrm>
          <a:prstGeom prst="rect">
            <a:avLst/>
          </a:prstGeom>
        </p:spPr>
        <p:txBody>
          <a:bodyPr wrap="square">
            <a:spAutoFit/>
          </a:bodyPr>
          <a:lstStyle/>
          <a:p>
            <a:pPr algn="just">
              <a:spcAft>
                <a:spcPts val="0"/>
              </a:spcAft>
            </a:pPr>
            <a:r>
              <a:rPr lang="zh-CN" altLang="en-US"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二、特点</a:t>
            </a:r>
            <a:endParaRPr lang="en-US"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en-US"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r>
              <a:rPr lang="zh-CN" altLang="zh-CN" sz="3200" b="1" kern="100" dirty="0">
                <a:latin typeface="+mj-ea"/>
                <a:ea typeface="+mj-ea"/>
                <a:cs typeface="Times New Roman" panose="02020603050405020304" pitchFamily="18" charset="0"/>
              </a:rPr>
              <a:t>项目采购的特点主要包括以下几个方面：</a:t>
            </a: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1</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独特性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：每个项目都是独一无二的，因此项目采购也具有独特性。每个项目的需求、目标、范围和时间表都不同，需要量身定制的采购策略。</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2</a:t>
            </a:r>
            <a:r>
              <a:rPr lang="zh-CN" altLang="en-US" sz="3200" kern="100" dirty="0">
                <a:latin typeface="华文仿宋" panose="02010600040101010101" pitchFamily="2" charset="-122"/>
                <a:ea typeface="等线" panose="02010600030101010101" pitchFamily="2" charset="-122"/>
                <a:cs typeface="Times New Roman" panose="02020603050405020304" pitchFamily="18" charset="0"/>
              </a:rPr>
              <a:t>、</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临时性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：项目是暂时的，具有明确的开始和结束时间。项目采购也因此具有临时性，采购活动会随着项目的完成而结束。</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0060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4F1AC7B-91DB-4584-A0D6-71B4F9020DE4}"/>
              </a:ext>
            </a:extLst>
          </p:cNvPr>
          <p:cNvSpPr/>
          <p:nvPr/>
        </p:nvSpPr>
        <p:spPr>
          <a:xfrm>
            <a:off x="215516" y="1413063"/>
            <a:ext cx="8712968" cy="5016758"/>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3</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不确定性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项目环境中存在许多不确定因素，如需求变化、预算限制和时间压力。这些不确定性要求项目采购具有灵活性和应变能力。</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4</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复杂性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项目采购涉及多个利益相关者，包括供应商、承包商、项目团队和业主等。协调这些利益相关者的需求和期望，确保各方利益得到平衡，增加了项目采购的复杂性。</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1251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E849C5-872E-4E83-9CB3-AB299254BE98}"/>
              </a:ext>
            </a:extLst>
          </p:cNvPr>
          <p:cNvSpPr/>
          <p:nvPr/>
        </p:nvSpPr>
        <p:spPr>
          <a:xfrm>
            <a:off x="323528" y="476672"/>
            <a:ext cx="8640960" cy="6001643"/>
          </a:xfrm>
          <a:prstGeom prst="rect">
            <a:avLst/>
          </a:prstGeom>
        </p:spPr>
        <p:txBody>
          <a:bodyPr wrap="square">
            <a:spAutoFit/>
          </a:bodyPr>
          <a:lstStyle/>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5</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高风险性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：项目采购决策对项目成功至关重要，错误的采购决策可能导致项目延期、成本超支或质量不达标，因此项目采购具有高风险的特性。</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6</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战略性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：项目采购不仅仅是购买商品或服务，更是实现项目战略目标的重要手段。通过有效采购</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，可以提升项目的整体绩效和价值。</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7</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过程导向</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：项目采购注重过程管理，强调采购计划的制定、采购文件的管理、供应商的选择与评价、合同的签订与执行等各个环节的协调和控制。</a:t>
            </a: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21445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F6EC71D-B95F-4730-865E-D12F4361BBD4}"/>
              </a:ext>
            </a:extLst>
          </p:cNvPr>
          <p:cNvSpPr/>
          <p:nvPr/>
        </p:nvSpPr>
        <p:spPr>
          <a:xfrm>
            <a:off x="251520" y="692696"/>
            <a:ext cx="8892480" cy="5693866"/>
          </a:xfrm>
          <a:prstGeom prst="rect">
            <a:avLst/>
          </a:prstGeom>
        </p:spPr>
        <p:txBody>
          <a:bodyPr wrap="square">
            <a:spAutoFit/>
          </a:bodyPr>
          <a:lstStyle/>
          <a:p>
            <a:pPr algn="just"/>
            <a:r>
              <a:rPr lang="zh-CN" altLang="en-US" sz="2800" b="1" dirty="0">
                <a:solidFill>
                  <a:srgbClr val="0070C0"/>
                </a:solidFill>
                <a:latin typeface="PingFang SC"/>
              </a:rPr>
              <a:t>               三、项目采购的过程：</a:t>
            </a:r>
            <a:endParaRPr lang="en-US" altLang="zh-CN" sz="2800" b="1" dirty="0">
              <a:solidFill>
                <a:srgbClr val="0070C0"/>
              </a:solidFill>
              <a:latin typeface="PingFang SC"/>
            </a:endParaRPr>
          </a:p>
          <a:p>
            <a:pPr algn="just"/>
            <a:endParaRPr lang="zh-CN" altLang="en-US" sz="2800" b="1" dirty="0">
              <a:solidFill>
                <a:srgbClr val="0070C0"/>
              </a:solidFill>
              <a:latin typeface="PingFang SC"/>
            </a:endParaRPr>
          </a:p>
          <a:p>
            <a:pPr algn="just"/>
            <a:r>
              <a:rPr lang="zh-CN" altLang="zh-CN" sz="2800" dirty="0"/>
              <a:t>项目采购是指为完成项目所需资源的获取过程，通常包括以下几个主要阶段：</a:t>
            </a:r>
          </a:p>
          <a:p>
            <a:pPr algn="just"/>
            <a:r>
              <a:rPr lang="en-US" altLang="zh-CN" sz="2800" b="1" dirty="0">
                <a:solidFill>
                  <a:srgbClr val="0070C0"/>
                </a:solidFill>
              </a:rPr>
              <a:t>1. </a:t>
            </a:r>
            <a:r>
              <a:rPr lang="zh-CN" altLang="zh-CN" sz="2800" b="1" dirty="0">
                <a:solidFill>
                  <a:srgbClr val="0070C0"/>
                </a:solidFill>
              </a:rPr>
              <a:t>采购规划</a:t>
            </a:r>
          </a:p>
          <a:p>
            <a:pPr marL="514350" indent="-514350" algn="just">
              <a:buFont typeface="+mj-ea"/>
              <a:buAutoNum type="circleNumDbPlain"/>
            </a:pPr>
            <a:r>
              <a:rPr lang="zh-CN" altLang="zh-CN" sz="2800" dirty="0"/>
              <a:t>定义需求：明确项目需要采购的物资、服务或工程的具体内容，包括数量、规格、质量标准等。</a:t>
            </a:r>
          </a:p>
          <a:p>
            <a:pPr marL="514350" indent="-514350" algn="just">
              <a:buFont typeface="+mj-ea"/>
              <a:buAutoNum type="circleNumDbPlain"/>
            </a:pPr>
            <a:r>
              <a:rPr lang="zh-CN" altLang="zh-CN" sz="2800" dirty="0"/>
              <a:t>预算编制：根据项目需求估算采购成本，制定采购预算。</a:t>
            </a:r>
          </a:p>
          <a:p>
            <a:pPr marL="514350" indent="-514350" algn="just">
              <a:buFont typeface="+mj-ea"/>
              <a:buAutoNum type="circleNumDbPlain"/>
            </a:pPr>
            <a:r>
              <a:rPr lang="zh-CN" altLang="zh-CN" sz="2800" dirty="0"/>
              <a:t>供应商选择策略：确定是通过公开招标、邀请招标、询价采购还是直接采购等方式获取资源。</a:t>
            </a:r>
          </a:p>
          <a:p>
            <a:pPr marL="514350" indent="-514350" algn="just">
              <a:buFont typeface="+mj-ea"/>
              <a:buAutoNum type="circleNumDbPlain"/>
            </a:pPr>
            <a:r>
              <a:rPr lang="zh-CN" altLang="zh-CN" sz="2800" dirty="0"/>
              <a:t>风险评估：识别采购过程中可能遇到的风险，如供应商违约、价格波动等，并制定相应的风险应对措施。</a:t>
            </a:r>
            <a:endParaRPr lang="en-US" altLang="zh-CN" sz="2800" b="1" dirty="0">
              <a:solidFill>
                <a:srgbClr val="333333"/>
              </a:solidFill>
              <a:latin typeface="PingFang SC"/>
            </a:endParaRPr>
          </a:p>
        </p:txBody>
      </p:sp>
    </p:spTree>
    <p:extLst>
      <p:ext uri="{BB962C8B-B14F-4D97-AF65-F5344CB8AC3E}">
        <p14:creationId xmlns:p14="http://schemas.microsoft.com/office/powerpoint/2010/main" val="1902087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E5DE1A0-E112-4784-A896-057619A696C8}"/>
              </a:ext>
            </a:extLst>
          </p:cNvPr>
          <p:cNvSpPr/>
          <p:nvPr/>
        </p:nvSpPr>
        <p:spPr>
          <a:xfrm>
            <a:off x="467544" y="620688"/>
            <a:ext cx="8496944" cy="6124754"/>
          </a:xfrm>
          <a:prstGeom prst="rect">
            <a:avLst/>
          </a:prstGeom>
        </p:spPr>
        <p:txBody>
          <a:bodyPr wrap="square">
            <a:spAutoFit/>
          </a:bodyPr>
          <a:lstStyle/>
          <a:p>
            <a:pPr algn="just">
              <a:spcAft>
                <a:spcPts val="0"/>
              </a:spcAft>
            </a:pPr>
            <a:r>
              <a:rPr lang="en-US" altLang="zh-CN" sz="28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2. </a:t>
            </a:r>
            <a:r>
              <a:rPr lang="zh-CN" altLang="zh-CN" sz="28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供应商选择</a:t>
            </a:r>
            <a:endParaRPr lang="zh-CN" altLang="zh-CN" sz="28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市场调研：寻找潜在的供应商，了解市场情况、供应商的信誉、产品质量和价格水平。</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资质审核：对潜在供应商的资质进行审查，包括营业执照、资质证书、财务状况、业绩等。</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招标或询价：</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公开招标：发布招标公告，邀请所有符合条件的供应商参与投标。</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邀请招标：向特定的几家供应商发出投标邀请。</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询价采购：向多家供应商发出询价函，比较报价后选择供应商。</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评标与选择：根据既定的评标标准（如价格、质量、交货期、售后服务等）对供应商进行评估，选择最合适的供应商。</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19450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38BF98E-614D-42EF-A885-DB457D999E78}"/>
              </a:ext>
            </a:extLst>
          </p:cNvPr>
          <p:cNvSpPr/>
          <p:nvPr/>
        </p:nvSpPr>
        <p:spPr>
          <a:xfrm>
            <a:off x="395536" y="1700808"/>
            <a:ext cx="8424936" cy="4031873"/>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3.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合同签订</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合同条款协商：与选定的供应商就合同条款进行详细协商，包括价格、交货时间、质量标准、付款方式、违约责任等。</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合同签订：双方达成一致后，签订正式的采购合同，明确双方的权利和义务。</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合同备案：将合同副本提交给相关部门备案，以便后续的监督和管理。</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504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2A2C26-070D-4D92-A795-149534CF1057}"/>
              </a:ext>
            </a:extLst>
          </p:cNvPr>
          <p:cNvSpPr/>
          <p:nvPr/>
        </p:nvSpPr>
        <p:spPr>
          <a:xfrm>
            <a:off x="395536" y="908720"/>
            <a:ext cx="8136904" cy="5016758"/>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4.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采购执行</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订单下达：根据合同约定向供应商下达采购订单，明确采购的具体内容和要求。</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供应商管理：与供应商保持密切沟通，监督供应商的生产和交付进度，确保按时交货。</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物流与仓储：安排货物的运输和仓储，确保货物安全、及时地到达项目现场。</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质量检验：对到货的物资或服务进行质量检验，确保符合合同约定的标准。</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17707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E7045D-A18F-45EA-A7C7-87999AD007C4}"/>
              </a:ext>
            </a:extLst>
          </p:cNvPr>
          <p:cNvSpPr/>
          <p:nvPr/>
        </p:nvSpPr>
        <p:spPr>
          <a:xfrm>
            <a:off x="179512" y="920621"/>
            <a:ext cx="8964488" cy="4524315"/>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5.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采购监控</a:t>
            </a:r>
            <a:endParaRPr lang="en-US"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进度监控：跟踪采购项目的整体进度，确保采购活动按计划进行。</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成本控制：监控采购成本，确保不超出预算。</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质量监督：对供应商提供的产品或服务进行持续的质量监督，及时发现并解决质量问题。</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合同履行监督：确保供应商按照合同约定履行义务，对违约行为及时采取措施。</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8129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EA65D87-9F5F-4268-8A30-38AF9C6D4ECD}"/>
              </a:ext>
            </a:extLst>
          </p:cNvPr>
          <p:cNvSpPr/>
          <p:nvPr/>
        </p:nvSpPr>
        <p:spPr>
          <a:xfrm>
            <a:off x="107504" y="836712"/>
            <a:ext cx="8856984" cy="5509200"/>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6.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采购收尾</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验收与结算：对采购的物资或服务进行最终验收，验收合格后办理结算手续，支付尾款。</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文档整理：整理采购过程中的所有文件和资料，包括合同、订单、发票、验收报告等，归档保存。</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供应商评价：对供应商在本次采购中的表现进行评价，记录其优点和不足，为今后的采购活动提供参考。</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项目总结：对整个采购项目进行总结，分析经验教训，提出改进建议。</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3111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473809F-B247-43B2-B378-F8803F6BF80B}"/>
              </a:ext>
            </a:extLst>
          </p:cNvPr>
          <p:cNvSpPr/>
          <p:nvPr/>
        </p:nvSpPr>
        <p:spPr>
          <a:xfrm>
            <a:off x="251520" y="1628800"/>
            <a:ext cx="8712968" cy="4031873"/>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7.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后续服务与支持</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售后服务：确保供应商按照合同约定提供售后服务，如维修、保养、技术支持等。</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关系维护：与优质供应商保持良好合作关系，为未来的采购活动奠定基础。</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marL="514350" indent="-514350" algn="just">
              <a:spcAft>
                <a:spcPts val="0"/>
              </a:spcAft>
              <a:buFont typeface="+mj-ea"/>
              <a:buAutoNum type="circleNumDbPlain"/>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以上是项目采购的主要过程，不同项目的具体采购流程可能会根据项目的规模、复杂程度、行业特点等因素有所不同。</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0434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D4C70E-0FF6-474A-97B3-0ADC26F04780}"/>
              </a:ext>
            </a:extLst>
          </p:cNvPr>
          <p:cNvSpPr/>
          <p:nvPr/>
        </p:nvSpPr>
        <p:spPr>
          <a:xfrm>
            <a:off x="251520" y="548680"/>
            <a:ext cx="8892480" cy="6001643"/>
          </a:xfrm>
          <a:prstGeom prst="rect">
            <a:avLst/>
          </a:prstGeom>
        </p:spPr>
        <p:txBody>
          <a:bodyPr wrap="square">
            <a:spAutoFit/>
          </a:bodyPr>
          <a:lstStyle/>
          <a:p>
            <a:r>
              <a:rPr lang="zh-CN" altLang="en-US" sz="3200" b="1" dirty="0">
                <a:solidFill>
                  <a:srgbClr val="0070C0"/>
                </a:solidFill>
                <a:latin typeface="PingFang SC"/>
              </a:rPr>
              <a:t>四、项目采购的基本原则</a:t>
            </a:r>
            <a:r>
              <a:rPr lang="zh-CN" altLang="en-US" sz="3200" dirty="0">
                <a:solidFill>
                  <a:srgbClr val="0070C0"/>
                </a:solidFill>
                <a:latin typeface="PingFang SC"/>
              </a:rPr>
              <a:t>：</a:t>
            </a:r>
          </a:p>
          <a:p>
            <a:r>
              <a:rPr lang="zh-CN" altLang="zh-CN" sz="3200" dirty="0"/>
              <a:t>项目采购的基本原则是确保采购活动高效、透明、合规和公平的基础。</a:t>
            </a:r>
          </a:p>
          <a:p>
            <a:r>
              <a:rPr lang="en-US" altLang="zh-CN" sz="3200" dirty="0">
                <a:solidFill>
                  <a:srgbClr val="0070C0"/>
                </a:solidFill>
              </a:rPr>
              <a:t>1. </a:t>
            </a:r>
            <a:r>
              <a:rPr lang="zh-CN" altLang="zh-CN" sz="3200" dirty="0">
                <a:solidFill>
                  <a:srgbClr val="0070C0"/>
                </a:solidFill>
              </a:rPr>
              <a:t>公开透明原则</a:t>
            </a:r>
          </a:p>
          <a:p>
            <a:r>
              <a:rPr lang="zh-CN" altLang="zh-CN" sz="3200" dirty="0"/>
              <a:t>定义：采购过程应公开透明，确保所有参与方都能获取相关信息。</a:t>
            </a:r>
          </a:p>
          <a:p>
            <a:r>
              <a:rPr lang="zh-CN" altLang="zh-CN" sz="3200" dirty="0"/>
              <a:t>体现：公开招标信息，包括招标公告、招标文件、评标标准等。</a:t>
            </a:r>
          </a:p>
          <a:p>
            <a:r>
              <a:rPr lang="zh-CN" altLang="zh-CN" sz="3200" dirty="0"/>
              <a:t>采购过程中的关键环节（如开标、评标）应有记录并可追溯。</a:t>
            </a:r>
          </a:p>
          <a:p>
            <a:r>
              <a:rPr lang="zh-CN" altLang="zh-CN" sz="3200" dirty="0"/>
              <a:t>对于供应商的质疑和投诉，应给予公正、透明的处理。</a:t>
            </a:r>
          </a:p>
        </p:txBody>
      </p:sp>
    </p:spTree>
    <p:extLst>
      <p:ext uri="{BB962C8B-B14F-4D97-AF65-F5344CB8AC3E}">
        <p14:creationId xmlns:p14="http://schemas.microsoft.com/office/powerpoint/2010/main" val="3853547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CC3FC9-0290-4F31-ACD4-78E0AD2F2053}"/>
              </a:ext>
            </a:extLst>
          </p:cNvPr>
          <p:cNvSpPr/>
          <p:nvPr/>
        </p:nvSpPr>
        <p:spPr>
          <a:xfrm>
            <a:off x="467544" y="908720"/>
            <a:ext cx="8496944" cy="4031873"/>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2.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公平竞争原则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定义：为所有潜在供应商提供公平竞争的机会，避免任何形式的歧视或偏袒。</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体现：招标文件应明确、公正，不设置不合理的技术或商务门槛。</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评标过程应严格按照既定标准进行，不偏袒任何供应商。</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确保所有供应商在同等条件下参与竞争。</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6253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2B08C7B-DEC1-4B80-8793-A3F5C97312A6}"/>
              </a:ext>
            </a:extLst>
          </p:cNvPr>
          <p:cNvSpPr/>
          <p:nvPr/>
        </p:nvSpPr>
        <p:spPr>
          <a:xfrm>
            <a:off x="467544" y="836712"/>
            <a:ext cx="8064896" cy="5509200"/>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3.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公正原则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采购活动应以客观、公正的方式进行，确保结果的合理性。</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评标委员会成员应独立、客观地履行职责，不受外界干扰。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对供应商的评审应基于明确的标准，避免主观臆断。</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确保采购决策的公正性，避免利益冲突。</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94573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6F362D-AF7B-4C3B-B3FC-21E4A5C4E768}"/>
              </a:ext>
            </a:extLst>
          </p:cNvPr>
          <p:cNvSpPr/>
          <p:nvPr/>
        </p:nvSpPr>
        <p:spPr>
          <a:xfrm>
            <a:off x="251520" y="920621"/>
            <a:ext cx="8784976" cy="5016758"/>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4.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诚实信用原则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定义：采购双方应遵循诚实守信的原则，遵守合同约定，履行各自义务。</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采购方应如实提供项目需求信息，不隐瞒或误导供应商。</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供应商应如实提供产品或服务信息，不虚假宣传或隐瞒缺陷。</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双方应严格履行合同，按时交付货物或服务，按时支付款项。</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83390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40BF5E9-40C1-4895-A185-D58D39926C2D}"/>
              </a:ext>
            </a:extLst>
          </p:cNvPr>
          <p:cNvSpPr/>
          <p:nvPr/>
        </p:nvSpPr>
        <p:spPr>
          <a:xfrm>
            <a:off x="323528" y="980728"/>
            <a:ext cx="8820472" cy="4031873"/>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5.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经济性原则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定义：采购活动应以最低的成本获取满足项目需求的物资或服务。</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在满足质量、技术和服务要求的前提下，优先选择价格合理的供应商。</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优化采购流程，降低采购成本，提高采购效率。</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合理规划采购规模，避免过度采购或浪费。</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60522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6F163EB-6FA3-4D3A-B51B-A2785E4C2704}"/>
              </a:ext>
            </a:extLst>
          </p:cNvPr>
          <p:cNvSpPr/>
          <p:nvPr/>
        </p:nvSpPr>
        <p:spPr>
          <a:xfrm>
            <a:off x="323528" y="920621"/>
            <a:ext cx="8820472" cy="4031873"/>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6.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质量优先原则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定义：采购的物资或服务应满足项目的技术和质量要求。</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在评标过程中，质量标准应作为重要评审因素。</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供应商应提供符合质量标准的样品或认证文件。</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采购方应对到货物资或服务进行严格的质量检验，不符合要求的应拒收。</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33330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B44BF8-1FA8-4149-B336-AEE3FE6CB0FA}"/>
              </a:ext>
            </a:extLst>
          </p:cNvPr>
          <p:cNvSpPr/>
          <p:nvPr/>
        </p:nvSpPr>
        <p:spPr>
          <a:xfrm>
            <a:off x="287524" y="920621"/>
            <a:ext cx="8568952" cy="5016758"/>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7.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合法性原则</a:t>
            </a: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定义：采购活动应严格遵守国家法律法规和行业规范。</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采购合同应符合法律法规要求，不得签订无效或违法合同。</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采购过程应遵循法定程序，如招标、投标、评标等环节应合法合规。</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供应商应具备合法资质，采购方应对其资质进行严格审核。</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80159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461765F-8482-4988-8DF3-C35FDA5E83BC}"/>
              </a:ext>
            </a:extLst>
          </p:cNvPr>
          <p:cNvSpPr/>
          <p:nvPr/>
        </p:nvSpPr>
        <p:spPr>
          <a:xfrm>
            <a:off x="287524" y="476672"/>
            <a:ext cx="8568952" cy="5509200"/>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8.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效益原则</a:t>
            </a:r>
            <a:endParaRPr lang="en-US"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定义：采购活动应为项目带来最大的经济效益和社会效益。</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采购决策应综合考虑项目需求、成本、质量、风险等多方面因素。</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通过合理规划采购策略，提高采购资源的利用效率。</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采购活动应与项目整体目标一致，为项目成功提供有力支持。</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16384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B80EDA-E3DD-4A3E-8BDD-FF901F6D5354}"/>
              </a:ext>
            </a:extLst>
          </p:cNvPr>
          <p:cNvSpPr/>
          <p:nvPr/>
        </p:nvSpPr>
        <p:spPr>
          <a:xfrm>
            <a:off x="467544" y="620688"/>
            <a:ext cx="8208912" cy="5509200"/>
          </a:xfrm>
          <a:prstGeom prst="rect">
            <a:avLst/>
          </a:prstGeom>
        </p:spPr>
        <p:txBody>
          <a:bodyPr wrap="square">
            <a:spAutoFit/>
          </a:bodyPr>
          <a:lstStyle/>
          <a:p>
            <a:pPr algn="just">
              <a:spcAft>
                <a:spcPts val="0"/>
              </a:spcAft>
            </a:pPr>
            <a:r>
              <a:rPr lang="en-US" altLang="zh-CN" sz="32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9. </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风险可控原则</a:t>
            </a:r>
            <a:endParaRPr lang="en-US"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定义：采购过程中应识别、评估并控制各类风险，确保采购活动的顺利进行。</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在采购规划阶段，识别潜在风险（如供应商违约、价格波动、质量风险等）。</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制定风险应对措施，如选择信誉良好的供应商、签订完善的合同条款、购买保险等。</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在采购执行过程中，持续监控风险，及时调整应对策略。</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95727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F893D94-F04B-4B70-A685-55C3C7C08CA8}"/>
              </a:ext>
            </a:extLst>
          </p:cNvPr>
          <p:cNvSpPr/>
          <p:nvPr/>
        </p:nvSpPr>
        <p:spPr>
          <a:xfrm>
            <a:off x="179512" y="188640"/>
            <a:ext cx="8784976" cy="5693866"/>
          </a:xfrm>
          <a:prstGeom prst="rect">
            <a:avLst/>
          </a:prstGeom>
        </p:spPr>
        <p:txBody>
          <a:bodyPr wrap="square">
            <a:spAutoFit/>
          </a:bodyPr>
          <a:lstStyle/>
          <a:p>
            <a:pPr algn="just">
              <a:spcAft>
                <a:spcPts val="0"/>
              </a:spcAft>
            </a:pPr>
            <a:r>
              <a:rPr lang="en-US" altLang="zh-CN" sz="2800" b="1" kern="100" dirty="0">
                <a:solidFill>
                  <a:srgbClr val="0070C0"/>
                </a:solidFill>
                <a:latin typeface="华文仿宋" panose="02010600040101010101" pitchFamily="2" charset="-122"/>
                <a:ea typeface="等线" panose="02010600030101010101" pitchFamily="2" charset="-122"/>
                <a:cs typeface="Times New Roman" panose="02020603050405020304" pitchFamily="18" charset="0"/>
              </a:rPr>
              <a:t>10. </a:t>
            </a:r>
            <a:r>
              <a:rPr lang="zh-CN" altLang="zh-CN" sz="28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可持续性原则</a:t>
            </a:r>
            <a:endParaRPr lang="zh-CN" altLang="zh-CN" sz="28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定义：采购活动应考虑环境和社会的可持续性，支持环保和可持续发展的供应商。</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体现：</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优先选择环保产品或服务，支持绿色采购。</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在供应商选择中，考虑其社会责任履行情况，如劳动权益保护、环保措施等。</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推动供应商可持续发展，促进整个供应链绿色转型。</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latin typeface="等线" panose="02010600030101010101" pitchFamily="2" charset="-122"/>
                <a:ea typeface="华文仿宋" panose="02010600040101010101" pitchFamily="2" charset="-122"/>
                <a:cs typeface="Times New Roman" panose="02020603050405020304" pitchFamily="18" charset="0"/>
              </a:rPr>
              <a:t>总结</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2800"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这些原则相互关联，共同构成了项目采购的基本准则。采购方在实施采购活动时，应严格遵循这些原则，确保采购过程合法、合规、高效，并为项目目标的实现提供有力支持。</a:t>
            </a:r>
            <a:endParaRPr lang="zh-CN" altLang="zh-CN" sz="2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9604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068EE40-824D-40B8-ABAB-7D0E56F51969}"/>
              </a:ext>
            </a:extLst>
          </p:cNvPr>
          <p:cNvSpPr/>
          <p:nvPr/>
        </p:nvSpPr>
        <p:spPr>
          <a:xfrm>
            <a:off x="395536" y="836712"/>
            <a:ext cx="8352928" cy="5078313"/>
          </a:xfrm>
          <a:prstGeom prst="rect">
            <a:avLst/>
          </a:prstGeom>
        </p:spPr>
        <p:txBody>
          <a:bodyPr wrap="square">
            <a:spAutoFit/>
          </a:bodyPr>
          <a:lstStyle/>
          <a:p>
            <a:r>
              <a:rPr lang="zh-CN" altLang="en-US" sz="3600" b="1" dirty="0">
                <a:solidFill>
                  <a:srgbClr val="C00000"/>
                </a:solidFill>
                <a:latin typeface="PingFang SC"/>
              </a:rPr>
              <a:t>五、项目采购方式</a:t>
            </a:r>
            <a:r>
              <a:rPr lang="zh-CN" altLang="en-US" sz="3600" dirty="0">
                <a:solidFill>
                  <a:srgbClr val="C00000"/>
                </a:solidFill>
                <a:latin typeface="PingFang SC"/>
              </a:rPr>
              <a:t>‌：</a:t>
            </a:r>
          </a:p>
          <a:p>
            <a:r>
              <a:rPr lang="zh-CN" altLang="en-US" sz="3600" dirty="0">
                <a:solidFill>
                  <a:srgbClr val="002060"/>
                </a:solidFill>
                <a:latin typeface="PingFang SC"/>
              </a:rPr>
              <a:t>‌</a:t>
            </a:r>
            <a:endParaRPr lang="en-US" altLang="zh-CN" sz="3600" dirty="0">
              <a:solidFill>
                <a:srgbClr val="002060"/>
              </a:solidFill>
              <a:latin typeface="PingFang SC"/>
            </a:endParaRPr>
          </a:p>
          <a:p>
            <a:r>
              <a:rPr lang="zh-CN" altLang="en-US" sz="3600" dirty="0">
                <a:solidFill>
                  <a:srgbClr val="002060"/>
                </a:solidFill>
              </a:rPr>
              <a:t>项目采购的采购方式主要依据《中华人民共和国政府采购法》的相关规定。</a:t>
            </a:r>
            <a:endParaRPr lang="en-US" altLang="zh-CN" sz="3600" dirty="0">
              <a:solidFill>
                <a:srgbClr val="002060"/>
              </a:solidFill>
            </a:endParaRPr>
          </a:p>
          <a:p>
            <a:endParaRPr lang="en-US" altLang="zh-CN" sz="3600" dirty="0">
              <a:solidFill>
                <a:srgbClr val="002060"/>
              </a:solidFill>
            </a:endParaRPr>
          </a:p>
          <a:p>
            <a:r>
              <a:rPr lang="zh-CN" altLang="en-US" sz="3600" dirty="0">
                <a:solidFill>
                  <a:srgbClr val="002060"/>
                </a:solidFill>
              </a:rPr>
              <a:t>根据该法第二十六条，政府采购采用以下七种项目采购方式。</a:t>
            </a:r>
            <a:endParaRPr lang="en-US" altLang="zh-CN" sz="3600" dirty="0">
              <a:solidFill>
                <a:srgbClr val="002060"/>
              </a:solidFill>
            </a:endParaRPr>
          </a:p>
          <a:p>
            <a:endParaRPr lang="zh-CN" altLang="en-US" sz="3600" dirty="0">
              <a:solidFill>
                <a:srgbClr val="002060"/>
              </a:solidFill>
            </a:endParaRPr>
          </a:p>
          <a:p>
            <a:r>
              <a:rPr lang="en-US" altLang="zh-CN" sz="3600" dirty="0">
                <a:solidFill>
                  <a:srgbClr val="002060"/>
                </a:solidFill>
              </a:rPr>
              <a:t> </a:t>
            </a:r>
            <a:endParaRPr lang="zh-CN" altLang="zh-CN" sz="3600" dirty="0">
              <a:solidFill>
                <a:srgbClr val="002060"/>
              </a:solidFill>
            </a:endParaRPr>
          </a:p>
        </p:txBody>
      </p:sp>
    </p:spTree>
    <p:extLst>
      <p:ext uri="{BB962C8B-B14F-4D97-AF65-F5344CB8AC3E}">
        <p14:creationId xmlns:p14="http://schemas.microsoft.com/office/powerpoint/2010/main" val="3141688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068EE40-824D-40B8-ABAB-7D0E56F51969}"/>
              </a:ext>
            </a:extLst>
          </p:cNvPr>
          <p:cNvSpPr/>
          <p:nvPr/>
        </p:nvSpPr>
        <p:spPr>
          <a:xfrm>
            <a:off x="395536" y="836712"/>
            <a:ext cx="8496944" cy="4524315"/>
          </a:xfrm>
          <a:prstGeom prst="rect">
            <a:avLst/>
          </a:prstGeom>
        </p:spPr>
        <p:txBody>
          <a:bodyPr wrap="square">
            <a:spAutoFit/>
          </a:bodyPr>
          <a:lstStyle/>
          <a:p>
            <a:endParaRPr lang="zh-CN" altLang="zh-CN" sz="3600" dirty="0"/>
          </a:p>
          <a:p>
            <a:r>
              <a:rPr lang="en-US" altLang="zh-CN" sz="3600" dirty="0"/>
              <a:t>1</a:t>
            </a:r>
            <a:r>
              <a:rPr lang="zh-CN" altLang="en-US" sz="3600" dirty="0"/>
              <a:t>、</a:t>
            </a:r>
            <a:r>
              <a:rPr lang="zh-CN" altLang="zh-CN" sz="3600" dirty="0"/>
              <a:t>‌公开招标‌：</a:t>
            </a:r>
            <a:endParaRPr lang="en-US" altLang="zh-CN" sz="3600" dirty="0"/>
          </a:p>
          <a:p>
            <a:r>
              <a:rPr lang="zh-CN" altLang="zh-CN" sz="3600" dirty="0"/>
              <a:t>这是政府采购的主要方式，通过发布招标公告邀请所有符合条件的供应商参与投标，过程公开透明，有利于竞争和公正性。</a:t>
            </a:r>
            <a:endParaRPr lang="en-US" altLang="zh-CN" sz="3600" dirty="0"/>
          </a:p>
          <a:p>
            <a:r>
              <a:rPr lang="zh-CN" altLang="zh-CN" sz="3600" dirty="0"/>
              <a:t>适用于采购需求明确、核心边界条件和技术经济参数清晰且不作更改的项目。</a:t>
            </a:r>
          </a:p>
          <a:p>
            <a:r>
              <a:rPr lang="en-US" altLang="zh-CN" sz="3600" dirty="0"/>
              <a:t> </a:t>
            </a:r>
            <a:endParaRPr lang="zh-CN" altLang="zh-CN" sz="3600" dirty="0"/>
          </a:p>
        </p:txBody>
      </p:sp>
    </p:spTree>
    <p:extLst>
      <p:ext uri="{BB962C8B-B14F-4D97-AF65-F5344CB8AC3E}">
        <p14:creationId xmlns:p14="http://schemas.microsoft.com/office/powerpoint/2010/main" val="1086877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C0759D8-F04C-419A-A440-29D31108A22A}"/>
              </a:ext>
            </a:extLst>
          </p:cNvPr>
          <p:cNvSpPr/>
          <p:nvPr/>
        </p:nvSpPr>
        <p:spPr>
          <a:xfrm>
            <a:off x="323528" y="1844824"/>
            <a:ext cx="8676456" cy="255454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2</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邀请招标</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采购人从符合资格条件的供应商中随机邀请</a:t>
            </a: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3</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家以上供应商参与投标，不需要发布招标公告，适用于技术复杂或有特殊要求的项目，以及公开招标费用占项目总价值比例过大的情况。</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47650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677A43A-C94A-4CE8-A333-21DDA76A5977}"/>
              </a:ext>
            </a:extLst>
          </p:cNvPr>
          <p:cNvSpPr/>
          <p:nvPr/>
        </p:nvSpPr>
        <p:spPr>
          <a:xfrm>
            <a:off x="395536" y="1772816"/>
            <a:ext cx="7920880" cy="3539430"/>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3</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竞争性谈判</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采购人与符合条件的供应商进行谈判，适用于招标后没有合格投标人、技术复杂或性质特殊、紧急需求等情况。谈判结束后，供</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应商提交响应文件和报价，采购人根据符合采购需求、质量和服务相等且报价最低的原则确定成交供应商。</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3573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B6C1DA4-B873-4FBD-8160-0F590D728748}"/>
              </a:ext>
            </a:extLst>
          </p:cNvPr>
          <p:cNvSpPr/>
          <p:nvPr/>
        </p:nvSpPr>
        <p:spPr>
          <a:xfrm>
            <a:off x="323528" y="1700808"/>
            <a:ext cx="8496944" cy="3046988"/>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4</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单一来源采购</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从唯一供应商处采购，适用于只能从唯一供应商处采购、发生不可预见的紧急情况等情况。适用于从原供应商处添购且添购资金总额不超过原合同采购金额</a:t>
            </a: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10%</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的情况。</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7805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92255A1-36EE-450E-9025-B0D0250F36BC}"/>
              </a:ext>
            </a:extLst>
          </p:cNvPr>
          <p:cNvSpPr/>
          <p:nvPr/>
        </p:nvSpPr>
        <p:spPr>
          <a:xfrm>
            <a:off x="323528" y="1720840"/>
            <a:ext cx="8208912" cy="3416320"/>
          </a:xfrm>
          <a:prstGeom prst="rect">
            <a:avLst/>
          </a:prstGeom>
        </p:spPr>
        <p:txBody>
          <a:bodyPr wrap="square">
            <a:spAutoFit/>
          </a:bodyPr>
          <a:lstStyle/>
          <a:p>
            <a:pPr algn="just">
              <a:spcAft>
                <a:spcPts val="0"/>
              </a:spcAft>
            </a:pPr>
            <a:r>
              <a:rPr lang="en-US" altLang="zh-CN" sz="36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600" kern="100" dirty="0">
                <a:latin typeface="等线" panose="02010600030101010101" pitchFamily="2" charset="-122"/>
                <a:ea typeface="MS Gothic" panose="020B0609070205080204" pitchFamily="49" charset="-128"/>
                <a:cs typeface="MS Gothic" panose="020B0609070205080204" pitchFamily="49" charset="-128"/>
              </a:rPr>
              <a:t>5</a:t>
            </a:r>
            <a:r>
              <a:rPr lang="zh-CN" altLang="en-US"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Times New Roman" panose="02020603050405020304" pitchFamily="18" charset="0"/>
              </a:rPr>
              <a:t>询价</a:t>
            </a: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6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适用于货物规格统一、现货货源充足且价格变化幅度小的项目。供应商按照询价文件的要求提交报价，采购人根据报价最低的原则确定成交供应商。</a:t>
            </a:r>
            <a:endParaRPr lang="zh-CN" altLang="zh-CN" sz="3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6127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83E122-75B6-497D-B71C-AD5FBF58316A}"/>
              </a:ext>
            </a:extLst>
          </p:cNvPr>
          <p:cNvSpPr/>
          <p:nvPr/>
        </p:nvSpPr>
        <p:spPr>
          <a:xfrm>
            <a:off x="467544" y="1844824"/>
            <a:ext cx="8208912" cy="3046988"/>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6</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竞争性磋商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采购人与符合条件的供应商进行磋商，适用于政府购买服务项目、技术复杂或性质特殊、市场竞争不充分的科研项目等。磋商结束后，采购人从磋商小组评审后提出的候选供应商名单中确定成交供应商。</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93772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F59CD51-9F56-488D-ABA7-4C2047997E7B}"/>
              </a:ext>
            </a:extLst>
          </p:cNvPr>
          <p:cNvSpPr/>
          <p:nvPr/>
        </p:nvSpPr>
        <p:spPr>
          <a:xfrm>
            <a:off x="467544" y="1772816"/>
            <a:ext cx="7992888" cy="452431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7</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框架协议采购</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适用于集中采购目录以内品目及配套耗材、小额零星采购等。采购人确定</a:t>
            </a: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2</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家以上供应商由服务对象自主选择。</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这些采购方式各有适用范围和操作流程，具体选择应根据项目的需求、复杂性和紧急程度等因素综合考虑。</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1509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93B7C1-F9AE-4E3B-A470-59EA932DB82F}"/>
              </a:ext>
            </a:extLst>
          </p:cNvPr>
          <p:cNvSpPr/>
          <p:nvPr/>
        </p:nvSpPr>
        <p:spPr>
          <a:xfrm>
            <a:off x="220971" y="889843"/>
            <a:ext cx="8892480" cy="5078313"/>
          </a:xfrm>
          <a:prstGeom prst="rect">
            <a:avLst/>
          </a:prstGeom>
        </p:spPr>
        <p:txBody>
          <a:bodyPr wrap="square">
            <a:spAutoFit/>
          </a:bodyPr>
          <a:lstStyle/>
          <a:p>
            <a:pPr lvl="1"/>
            <a:r>
              <a:rPr lang="en-US" altLang="zh-CN" sz="3600" b="1" dirty="0">
                <a:solidFill>
                  <a:srgbClr val="002060"/>
                </a:solidFill>
              </a:rPr>
              <a:t>3.2</a:t>
            </a:r>
            <a:r>
              <a:rPr lang="zh-CN" altLang="zh-CN" sz="3600" b="1" dirty="0">
                <a:solidFill>
                  <a:srgbClr val="002060"/>
                </a:solidFill>
              </a:rPr>
              <a:t> </a:t>
            </a:r>
            <a:r>
              <a:rPr lang="en-US" altLang="zh-CN" sz="3600" b="1" dirty="0">
                <a:solidFill>
                  <a:srgbClr val="002060"/>
                </a:solidFill>
              </a:rPr>
              <a:t> </a:t>
            </a:r>
            <a:r>
              <a:rPr lang="zh-CN" altLang="zh-CN" sz="3600" b="1" dirty="0">
                <a:solidFill>
                  <a:srgbClr val="002060"/>
                </a:solidFill>
              </a:rPr>
              <a:t>项目招标采购制度与项目采购</a:t>
            </a:r>
          </a:p>
          <a:p>
            <a:pPr lvl="1"/>
            <a:endParaRPr lang="zh-CN" altLang="en-US" sz="3600" dirty="0">
              <a:solidFill>
                <a:srgbClr val="333333"/>
              </a:solidFill>
              <a:latin typeface="PingFang SC"/>
            </a:endParaRPr>
          </a:p>
          <a:p>
            <a:r>
              <a:rPr lang="zh-CN" altLang="zh-CN" sz="3600" dirty="0"/>
              <a:t>项目招标采购制度‌主要包括以下几个方面：</a:t>
            </a:r>
          </a:p>
          <a:p>
            <a:r>
              <a:rPr lang="en-US" altLang="zh-CN" sz="3600" dirty="0"/>
              <a:t> 1</a:t>
            </a:r>
            <a:r>
              <a:rPr lang="zh-CN" altLang="en-US" sz="3600" dirty="0"/>
              <a:t>、</a:t>
            </a:r>
            <a:r>
              <a:rPr lang="zh-CN" altLang="zh-CN" sz="3600" dirty="0"/>
              <a:t>‌评标专家和评审专家库管理办法‌：</a:t>
            </a:r>
            <a:endParaRPr lang="en-US" altLang="zh-CN" sz="3600" dirty="0"/>
          </a:p>
          <a:p>
            <a:r>
              <a:rPr lang="zh-CN" altLang="zh-CN" sz="3600" dirty="0"/>
              <a:t>国家发改委发布了《评标专家和评审专家库管理办法》，明确了评标专家的基本要求、入库方式、专业分类标准和评标组织形式。该办法强调了评标专家的终身责任，确保评标行为的公正性和专业性‌</a:t>
            </a:r>
          </a:p>
        </p:txBody>
      </p:sp>
    </p:spTree>
    <p:extLst>
      <p:ext uri="{BB962C8B-B14F-4D97-AF65-F5344CB8AC3E}">
        <p14:creationId xmlns:p14="http://schemas.microsoft.com/office/powerpoint/2010/main" val="1685924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A202128-2F19-4EBB-BFA6-45F653B80ECD}"/>
              </a:ext>
            </a:extLst>
          </p:cNvPr>
          <p:cNvSpPr/>
          <p:nvPr/>
        </p:nvSpPr>
        <p:spPr>
          <a:xfrm>
            <a:off x="611560" y="1700808"/>
            <a:ext cx="8136904" cy="4031873"/>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2</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政府采购代理机构监督检查办法</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财政部发布了《政府采购代理机构监督检查暂行办法》，列出了四种情形下的代理机构将被列为重点检查对象，包括未进行名录登记、多次被投诉且查证属实、因政府采购行为受到行政处罚以及存在重大违法违规线索等。此外，还规定了具体的检查内容和标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7843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6B197F-2471-4A85-B24B-48564CCEA1AD}"/>
              </a:ext>
            </a:extLst>
          </p:cNvPr>
          <p:cNvSpPr/>
          <p:nvPr/>
        </p:nvSpPr>
        <p:spPr>
          <a:xfrm>
            <a:off x="395536" y="1556792"/>
            <a:ext cx="8568952" cy="4524315"/>
          </a:xfrm>
          <a:prstGeom prst="rect">
            <a:avLst/>
          </a:prstGeom>
        </p:spPr>
        <p:txBody>
          <a:bodyPr wrap="square">
            <a:spAutoFit/>
          </a:bodyPr>
          <a:lstStyle/>
          <a:p>
            <a:pPr algn="just">
              <a:spcAft>
                <a:spcPts val="0"/>
              </a:spcAft>
            </a:pP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600" kern="100" dirty="0">
                <a:latin typeface="等线" panose="02010600030101010101" pitchFamily="2" charset="-122"/>
                <a:ea typeface="MS Gothic" panose="020B0609070205080204" pitchFamily="49" charset="-128"/>
                <a:cs typeface="MS Gothic" panose="020B0609070205080204" pitchFamily="49" charset="-128"/>
              </a:rPr>
              <a:t>3</a:t>
            </a:r>
            <a:r>
              <a:rPr lang="zh-CN" altLang="en-US"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Times New Roman" panose="02020603050405020304" pitchFamily="18" charset="0"/>
              </a:rPr>
              <a:t>政府采购货物和服务招标投标管理办法</a:t>
            </a: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6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6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财政部制定了《政府采购货物和服务招标投标管理办法》，明确了政府采购货物和服务的招标投标活动的管理规定，包括公开招标和邀请招标的定义、适用范围、招标程序、评标标准和合同签订等</a:t>
            </a: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15676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D3FE2E2-E4F3-45F0-A792-6B5739420468}"/>
              </a:ext>
            </a:extLst>
          </p:cNvPr>
          <p:cNvSpPr/>
          <p:nvPr/>
        </p:nvSpPr>
        <p:spPr>
          <a:xfrm>
            <a:off x="218756" y="620688"/>
            <a:ext cx="8928992" cy="452431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4</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工程项目招标采购制度</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适用于各类新建、改建、扩建、维修、加固等工程项目，包括房屋建筑、市政基础设施、交通设施、水利设施、能源设施等。招标方式包括公开招标、邀请招标、竞争性谈判、单一来源采购和询价采购等。招标程序包括项目审批、编制招标文件、发布招标公告、资格审查、开标、评标和中标公示等</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步骤</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2537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A3EDF08-14E1-4165-852D-E8C96AEF5522}"/>
              </a:ext>
            </a:extLst>
          </p:cNvPr>
          <p:cNvSpPr/>
          <p:nvPr/>
        </p:nvSpPr>
        <p:spPr>
          <a:xfrm>
            <a:off x="395536" y="1700808"/>
            <a:ext cx="8748464" cy="5047536"/>
          </a:xfrm>
          <a:prstGeom prst="rect">
            <a:avLst/>
          </a:prstGeom>
        </p:spPr>
        <p:txBody>
          <a:bodyPr wrap="square">
            <a:spAutoFit/>
          </a:bodyPr>
          <a:lstStyle/>
          <a:p>
            <a:r>
              <a:rPr lang="en-US" altLang="zh-CN" sz="4000" dirty="0"/>
              <a:t>3.3 </a:t>
            </a:r>
            <a:r>
              <a:rPr lang="zh-CN" altLang="zh-CN" sz="4000" dirty="0"/>
              <a:t>项目招标采购管理要点</a:t>
            </a:r>
            <a:endParaRPr lang="en-US" altLang="zh-CN" sz="4000" dirty="0"/>
          </a:p>
          <a:p>
            <a:r>
              <a:rPr lang="zh-CN" altLang="zh-CN" sz="2800" dirty="0">
                <a:solidFill>
                  <a:srgbClr val="0070C0"/>
                </a:solidFill>
              </a:rPr>
              <a:t>项目招标采购管理的要点包括以下几个方面‌：</a:t>
            </a:r>
          </a:p>
          <a:p>
            <a:r>
              <a:rPr lang="en-US" altLang="zh-CN" sz="2800" dirty="0">
                <a:solidFill>
                  <a:srgbClr val="0070C0"/>
                </a:solidFill>
              </a:rPr>
              <a:t> </a:t>
            </a:r>
            <a:endParaRPr lang="zh-CN" altLang="zh-CN" sz="2800" dirty="0">
              <a:solidFill>
                <a:srgbClr val="0070C0"/>
              </a:solidFill>
            </a:endParaRPr>
          </a:p>
          <a:p>
            <a:r>
              <a:rPr lang="zh-CN" altLang="zh-CN" sz="2800" dirty="0">
                <a:solidFill>
                  <a:srgbClr val="0070C0"/>
                </a:solidFill>
              </a:rPr>
              <a:t>‌</a:t>
            </a:r>
            <a:r>
              <a:rPr lang="en-US" altLang="zh-CN" sz="2800" dirty="0">
                <a:solidFill>
                  <a:srgbClr val="0070C0"/>
                </a:solidFill>
              </a:rPr>
              <a:t>1</a:t>
            </a:r>
            <a:r>
              <a:rPr lang="zh-CN" altLang="en-US" sz="2800" dirty="0">
                <a:solidFill>
                  <a:srgbClr val="0070C0"/>
                </a:solidFill>
              </a:rPr>
              <a:t>、</a:t>
            </a:r>
            <a:r>
              <a:rPr lang="zh-CN" altLang="zh-CN" sz="2800" dirty="0">
                <a:solidFill>
                  <a:srgbClr val="0070C0"/>
                </a:solidFill>
              </a:rPr>
              <a:t>明确招标采购目标和策略‌：</a:t>
            </a:r>
            <a:endParaRPr lang="en-US" altLang="zh-CN" sz="2800" dirty="0">
              <a:solidFill>
                <a:srgbClr val="0070C0"/>
              </a:solidFill>
            </a:endParaRPr>
          </a:p>
          <a:p>
            <a:r>
              <a:rPr lang="zh-CN" altLang="zh-CN" sz="2800" dirty="0">
                <a:solidFill>
                  <a:srgbClr val="0070C0"/>
                </a:solidFill>
              </a:rPr>
              <a:t>首先，需要明确项目的需求和目标，确定所需采购的物资、服务或工程。根据项目需求和采购市场状况，制定相应的招标采购策略和计划，明确招标方式、招标范围、评标标准和合同管理要求，确保招标采购过程的公开、透明和公正‌。</a:t>
            </a:r>
          </a:p>
          <a:p>
            <a:r>
              <a:rPr lang="en-US" altLang="zh-CN" dirty="0"/>
              <a:t> </a:t>
            </a:r>
            <a:endParaRPr lang="zh-CN" altLang="zh-CN" dirty="0"/>
          </a:p>
          <a:p>
            <a:endParaRPr lang="en-US" altLang="zh-CN" sz="4000" dirty="0"/>
          </a:p>
        </p:txBody>
      </p:sp>
    </p:spTree>
    <p:extLst>
      <p:ext uri="{BB962C8B-B14F-4D97-AF65-F5344CB8AC3E}">
        <p14:creationId xmlns:p14="http://schemas.microsoft.com/office/powerpoint/2010/main" val="2623734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82E34B-42C5-4501-B7BD-B629581FD3F3}"/>
              </a:ext>
            </a:extLst>
          </p:cNvPr>
          <p:cNvSpPr/>
          <p:nvPr/>
        </p:nvSpPr>
        <p:spPr>
          <a:xfrm>
            <a:off x="323528" y="1659285"/>
            <a:ext cx="8424936" cy="4031873"/>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2</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建立完善的招标采购管理制度和流程</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制定招标采购管理制度，明确工作职责和权限，确保工作的规范运作。</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建立招标采购管理流程，分工明确，环节清晰，确保招标采购工作按照规定程序进行。</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同时，建立文件、资料和信息的管理体系，确保文件的保存、传递和查询的便捷性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907972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3A37955-B873-4440-9DD2-723ED6DE0AD1}"/>
              </a:ext>
            </a:extLst>
          </p:cNvPr>
          <p:cNvSpPr/>
          <p:nvPr/>
        </p:nvSpPr>
        <p:spPr>
          <a:xfrm>
            <a:off x="197768" y="1628800"/>
            <a:ext cx="8748464" cy="3046988"/>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3</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严格的供应商资格审查和招标文件准备</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制定并严格执行供应商资格审查标准，确保供应商的合法、合规性和信誉度。准确、全面地编制招标文件，包括技术要求、量化指标、合同条款等，确保文件的准确性和完整性</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549457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4F499EF-BC96-47EC-BDA2-D529C0563BBF}"/>
              </a:ext>
            </a:extLst>
          </p:cNvPr>
          <p:cNvSpPr/>
          <p:nvPr/>
        </p:nvSpPr>
        <p:spPr>
          <a:xfrm>
            <a:off x="251520" y="2551837"/>
            <a:ext cx="8712968" cy="3539430"/>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4</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公开、公正、公平的招标评标过程</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建立招标评标委员会，成员应包括有关专业人员和项目负责人，确保评标的客观性和专业性。严格按照评标标准进行评标，对评标结果进行合理、透明的公示，确保供应商和其他相关方对评标结果的了解和监督</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18957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DAA4708-5D97-41FF-A8D8-86F279E1C292}"/>
              </a:ext>
            </a:extLst>
          </p:cNvPr>
          <p:cNvSpPr/>
          <p:nvPr/>
        </p:nvSpPr>
        <p:spPr>
          <a:xfrm>
            <a:off x="467544" y="2551837"/>
            <a:ext cx="8676456" cy="3539430"/>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5</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严格合同履行和结算管理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签订明确、具备法律效力的合同，明确双方权利和责任，确保供应商按合同要求履行义务。建立合同履行的监督和检查机制，及时发现和解决合同履行过程中的问题，确保合同结算的及时、准确和合规</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75749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07C083-5459-46D1-9CD4-88E594EDB457}"/>
              </a:ext>
            </a:extLst>
          </p:cNvPr>
          <p:cNvSpPr/>
          <p:nvPr/>
        </p:nvSpPr>
        <p:spPr>
          <a:xfrm>
            <a:off x="395536" y="2551837"/>
            <a:ext cx="8568952" cy="3539430"/>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6</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加强招标采购管理人员培训和技能提升</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定期组织招标采购管理人</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员培训，提升他们的专业素质和工作能力。关注招标采购法律法规和市场的最新动态，及时更新知识和方法。借鉴和推广其他项目的成功经验，不断提升招标采购管理水平</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27278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2F6B98D-2952-4AC9-974A-8AD4889F1F8B}"/>
              </a:ext>
            </a:extLst>
          </p:cNvPr>
          <p:cNvSpPr/>
          <p:nvPr/>
        </p:nvSpPr>
        <p:spPr>
          <a:xfrm>
            <a:off x="539552" y="1720840"/>
            <a:ext cx="8064896" cy="3416320"/>
          </a:xfrm>
          <a:prstGeom prst="rect">
            <a:avLst/>
          </a:prstGeom>
        </p:spPr>
        <p:txBody>
          <a:bodyPr wrap="square">
            <a:spAutoFit/>
          </a:bodyPr>
          <a:lstStyle/>
          <a:p>
            <a:pPr algn="just">
              <a:spcAft>
                <a:spcPts val="0"/>
              </a:spcAft>
            </a:pP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600" kern="100" dirty="0">
                <a:latin typeface="等线" panose="02010600030101010101" pitchFamily="2" charset="-122"/>
                <a:ea typeface="MS Gothic" panose="020B0609070205080204" pitchFamily="49" charset="-128"/>
                <a:cs typeface="MS Gothic" panose="020B0609070205080204" pitchFamily="49" charset="-128"/>
              </a:rPr>
              <a:t>7</a:t>
            </a:r>
            <a:r>
              <a:rPr lang="zh-CN" altLang="en-US"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Times New Roman" panose="02020603050405020304" pitchFamily="18" charset="0"/>
              </a:rPr>
              <a:t>遵循法律原则</a:t>
            </a: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6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6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600" kern="100" dirty="0">
                <a:latin typeface="等线" panose="02010600030101010101" pitchFamily="2" charset="-122"/>
                <a:ea typeface="华文仿宋" panose="02010600040101010101" pitchFamily="2" charset="-122"/>
                <a:cs typeface="华文仿宋" panose="02010600040101010101" pitchFamily="2" charset="-122"/>
              </a:rPr>
              <a:t>招标采购应遵循公开、公平、公正原则，确保过程的公正性和有效性。参加投标的供应商必须有三家及三家以上，遵循同质低价、同价质优的选择标准</a:t>
            </a:r>
            <a:r>
              <a:rPr lang="zh-CN" altLang="zh-CN" sz="36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6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686282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E669ADE-6311-4CCA-AFFD-FF49113355DA}"/>
              </a:ext>
            </a:extLst>
          </p:cNvPr>
          <p:cNvSpPr/>
          <p:nvPr/>
        </p:nvSpPr>
        <p:spPr>
          <a:xfrm>
            <a:off x="323528" y="1772816"/>
            <a:ext cx="8280920" cy="255454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8</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市场分析和供应商邀请</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招标前要进行市场产品与服务价格分析，避免预算金额过高或过低。供方邀请要适度分散，让供方之间始终处于一种竞争关系</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093058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5FB3E40-EC58-41E1-B072-F578F033992B}"/>
              </a:ext>
            </a:extLst>
          </p:cNvPr>
          <p:cNvSpPr/>
          <p:nvPr/>
        </p:nvSpPr>
        <p:spPr>
          <a:xfrm>
            <a:off x="467544" y="1844824"/>
            <a:ext cx="7992888" cy="255454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9</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招标文件的编制与确认</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采购小组</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根据政府采购有关法规和项目特殊要求，在采购执行计划要求的采购时限内拟定具体采购项目的招标方案、编制招标文件</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33281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9708A7F-9ADF-4BC5-A63B-0568ACD43180}"/>
              </a:ext>
            </a:extLst>
          </p:cNvPr>
          <p:cNvSpPr/>
          <p:nvPr/>
        </p:nvSpPr>
        <p:spPr>
          <a:xfrm>
            <a:off x="323528" y="1674674"/>
            <a:ext cx="8496944" cy="255454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10</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备案与发布</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招标文件在定稿前须经采购确认，并报市采招监管办备案后方可刊登招标公告或发出投标邀请函</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296939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9708A7F-9ADF-4BC5-A63B-0568ACD43180}"/>
              </a:ext>
            </a:extLst>
          </p:cNvPr>
          <p:cNvSpPr/>
          <p:nvPr/>
        </p:nvSpPr>
        <p:spPr>
          <a:xfrm>
            <a:off x="323528" y="1674674"/>
            <a:ext cx="8496944" cy="2554545"/>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11</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信息收集和投标报名</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通过查阅供应商信息库和市场调查等途径进一步了解价格信息和其他市场动态。公开招标方式采购的，应在政府采购监督管理部门指定的媒体上发布招标公告</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05291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A556DD3-C731-4B8E-8B00-23F82C088845}"/>
              </a:ext>
            </a:extLst>
          </p:cNvPr>
          <p:cNvSpPr/>
          <p:nvPr/>
        </p:nvSpPr>
        <p:spPr>
          <a:xfrm>
            <a:off x="323528" y="764704"/>
            <a:ext cx="8820472" cy="5509200"/>
          </a:xfrm>
          <a:prstGeom prst="rect">
            <a:avLst/>
          </a:prstGeom>
        </p:spPr>
        <p:txBody>
          <a:bodyPr wrap="square">
            <a:spAutoFit/>
          </a:bodyPr>
          <a:lstStyle/>
          <a:p>
            <a:r>
              <a:rPr lang="en-US" altLang="zh-CN" sz="3200" b="1" dirty="0">
                <a:solidFill>
                  <a:srgbClr val="0070C0"/>
                </a:solidFill>
              </a:rPr>
              <a:t>3.4 </a:t>
            </a:r>
            <a:r>
              <a:rPr lang="zh-CN" altLang="en-US" sz="3200" b="1" dirty="0">
                <a:solidFill>
                  <a:srgbClr val="0070C0"/>
                </a:solidFill>
              </a:rPr>
              <a:t>合同管理</a:t>
            </a:r>
            <a:endParaRPr lang="en-US" altLang="zh-CN" sz="3200" b="1" dirty="0">
              <a:solidFill>
                <a:srgbClr val="0070C0"/>
              </a:solidFill>
            </a:endParaRPr>
          </a:p>
          <a:p>
            <a:endParaRPr lang="en-US" altLang="zh-CN" sz="3200" dirty="0"/>
          </a:p>
          <a:p>
            <a:r>
              <a:rPr lang="zh-CN" altLang="zh-CN" sz="3200" dirty="0"/>
              <a:t>合同管理‌是指对合同的缔结、履行、变动、解除及终止全过程的管控。</a:t>
            </a:r>
            <a:endParaRPr lang="en-US" altLang="zh-CN" sz="3200" dirty="0"/>
          </a:p>
          <a:p>
            <a:r>
              <a:rPr lang="zh-CN" altLang="zh-CN" sz="3200" dirty="0"/>
              <a:t>其主要范畴通常涵盖以下几个方面：</a:t>
            </a:r>
            <a:r>
              <a:rPr lang="en-US" altLang="zh-CN" sz="3200" dirty="0"/>
              <a:t> </a:t>
            </a:r>
            <a:endParaRPr lang="zh-CN" altLang="zh-CN" sz="3200" dirty="0"/>
          </a:p>
          <a:p>
            <a:r>
              <a:rPr lang="zh-CN" altLang="zh-CN" sz="3200" dirty="0"/>
              <a:t>‌</a:t>
            </a:r>
            <a:r>
              <a:rPr lang="en-US" altLang="zh-CN" sz="3200" dirty="0"/>
              <a:t>1</a:t>
            </a:r>
            <a:r>
              <a:rPr lang="zh-CN" altLang="en-US" sz="3200" dirty="0"/>
              <a:t>、</a:t>
            </a:r>
            <a:r>
              <a:rPr lang="zh-CN" altLang="zh-CN" sz="3200" dirty="0"/>
              <a:t>合同签订管理‌：包括合同签订前的筹备工作，如对合作伙伴进行资信评估、合规性审验，对合同项目的可行性进行深入研究，确定合同类别，拟定合同文本等。此外，还包括合同磋商与签署，即与合同相对方进行协商，就合同条款达成共识，并正式签署合同‌</a:t>
            </a:r>
            <a:r>
              <a:rPr lang="zh-CN" altLang="en-US" sz="3200" dirty="0"/>
              <a:t>。</a:t>
            </a:r>
            <a:endParaRPr lang="zh-CN" altLang="zh-CN" sz="3200" dirty="0"/>
          </a:p>
        </p:txBody>
      </p:sp>
    </p:spTree>
    <p:extLst>
      <p:ext uri="{BB962C8B-B14F-4D97-AF65-F5344CB8AC3E}">
        <p14:creationId xmlns:p14="http://schemas.microsoft.com/office/powerpoint/2010/main" val="13269718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4CFA623-A10D-4CA9-A48A-64611F0C440C}"/>
              </a:ext>
            </a:extLst>
          </p:cNvPr>
          <p:cNvSpPr/>
          <p:nvPr/>
        </p:nvSpPr>
        <p:spPr>
          <a:xfrm>
            <a:off x="287016" y="1556792"/>
            <a:ext cx="8856984" cy="3539430"/>
          </a:xfrm>
          <a:prstGeom prst="rect">
            <a:avLst/>
          </a:prstGeom>
        </p:spPr>
        <p:txBody>
          <a:bodyPr wrap="square">
            <a:spAutoFit/>
          </a:bodyPr>
          <a:lstStyle/>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b="1" kern="100" dirty="0">
                <a:solidFill>
                  <a:srgbClr val="0070C0"/>
                </a:solidFill>
                <a:latin typeface="等线" panose="02010600030101010101" pitchFamily="2" charset="-122"/>
                <a:ea typeface="MS Gothic" panose="020B0609070205080204" pitchFamily="49" charset="-128"/>
                <a:cs typeface="MS Gothic" panose="020B0609070205080204" pitchFamily="49" charset="-128"/>
              </a:rPr>
              <a:t>2</a:t>
            </a:r>
            <a:r>
              <a:rPr lang="zh-CN" altLang="en-US" sz="3200" b="1" kern="100" dirty="0">
                <a:solidFill>
                  <a:srgbClr val="0070C0"/>
                </a:solidFill>
                <a:latin typeface="等线" panose="02010600030101010101" pitchFamily="2" charset="-122"/>
                <a:ea typeface="MS Gothic" panose="020B0609070205080204" pitchFamily="49" charset="-128"/>
                <a:cs typeface="MS Gothic" panose="020B0609070205080204" pitchFamily="49" charset="-128"/>
              </a:rPr>
              <a:t>、</a:t>
            </a:r>
            <a:r>
              <a:rPr lang="zh-CN" altLang="zh-CN" sz="3200" b="1" kern="100" dirty="0">
                <a:solidFill>
                  <a:srgbClr val="0070C0"/>
                </a:solidFill>
                <a:latin typeface="等线" panose="02010600030101010101" pitchFamily="2" charset="-122"/>
                <a:ea typeface="华文仿宋" panose="02010600040101010101" pitchFamily="2" charset="-122"/>
                <a:cs typeface="Times New Roman" panose="02020603050405020304" pitchFamily="18" charset="0"/>
              </a:rPr>
              <a:t>合同履行管理</a:t>
            </a:r>
            <a:r>
              <a:rPr lang="zh-CN" altLang="zh-CN" sz="3200" b="1" kern="100" dirty="0">
                <a:solidFill>
                  <a:srgbClr val="0070C0"/>
                </a:solidFill>
                <a:latin typeface="等线" panose="02010600030101010101" pitchFamily="2" charset="-122"/>
                <a:ea typeface="MS Gothic" panose="020B0609070205080204" pitchFamily="49" charset="-128"/>
                <a:cs typeface="MS Gothic" panose="020B0609070205080204" pitchFamily="49" charset="-128"/>
              </a:rPr>
              <a:t>‌</a:t>
            </a:r>
            <a:r>
              <a:rPr lang="zh-CN" altLang="zh-CN" sz="3200" b="1" kern="100" dirty="0">
                <a:solidFill>
                  <a:srgbClr val="0070C0"/>
                </a:solidFill>
                <a:latin typeface="等线" panose="02010600030101010101" pitchFamily="2" charset="-122"/>
                <a:ea typeface="华文仿宋" panose="02010600040101010101" pitchFamily="2" charset="-122"/>
                <a:cs typeface="华文仿宋" panose="02010600040101010101" pitchFamily="2" charset="-122"/>
              </a:rPr>
              <a:t>：</a:t>
            </a:r>
            <a:endParaRPr lang="en-US" altLang="zh-CN" sz="3200" b="1" kern="100" dirty="0">
              <a:solidFill>
                <a:srgbClr val="0070C0"/>
              </a:solidFill>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endParaRPr lang="en-US" altLang="zh-CN" sz="3200" b="1" kern="100" dirty="0">
              <a:solidFill>
                <a:srgbClr val="0070C0"/>
              </a:solidFill>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监控合同履行状况，确保双方依照合同约定准确、全面、及时地履行各自的权利和义务。在履行过程中，可能会出现合同纠纷，需要通过和解、调解、仲裁或诉讼等途径解决</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951958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79920A6-009C-4900-9418-A46F8E7B8FD8}"/>
              </a:ext>
            </a:extLst>
          </p:cNvPr>
          <p:cNvSpPr/>
          <p:nvPr/>
        </p:nvSpPr>
        <p:spPr>
          <a:xfrm>
            <a:off x="395536" y="1700808"/>
            <a:ext cx="8352928" cy="4031873"/>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3</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合同变更与解除管理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在合同履行过程中，若发生情势变更或其他需变动、解除合同的情形，应按照法定程序进行合同变动或解除</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4</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合同档案管理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合同及相关资料应妥善保存，以便日后的查询、审计或法律诉讼</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75913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3C7AAC4-F5A6-4D64-B7B2-19C3F8D69C52}"/>
              </a:ext>
            </a:extLst>
          </p:cNvPr>
          <p:cNvSpPr/>
          <p:nvPr/>
        </p:nvSpPr>
        <p:spPr>
          <a:xfrm>
            <a:off x="251520" y="1628800"/>
            <a:ext cx="8640960" cy="4031873"/>
          </a:xfrm>
          <a:prstGeom prst="rect">
            <a:avLst/>
          </a:prstGeom>
        </p:spPr>
        <p:txBody>
          <a:bodyPr wrap="square">
            <a:spAutoFit/>
          </a:bodyPr>
          <a:lstStyle/>
          <a:p>
            <a:pPr algn="just">
              <a:spcAft>
                <a:spcPts val="0"/>
              </a:spcAft>
            </a:pP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5</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合同风险管理</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识别、评估合同履行过程中可能出现的风险，并采取相应的风险控制措施</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a:t>
            </a:r>
            <a:endParaRPr lang="en-US" altLang="zh-CN" sz="3200" kern="100" dirty="0">
              <a:latin typeface="等线" panose="02010600030101010101" pitchFamily="2" charset="-122"/>
              <a:ea typeface="华文仿宋" panose="02010600040101010101" pitchFamily="2" charset="-122"/>
              <a:cs typeface="Times New Roman" panose="02020603050405020304" pitchFamily="18" charset="0"/>
            </a:endParaRPr>
          </a:p>
          <a:p>
            <a:pPr algn="just">
              <a:spcAft>
                <a:spcPts val="0"/>
              </a:spcAft>
            </a:pPr>
            <a:endParaRPr lang="zh-CN" altLang="zh-CN" sz="32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3200" kern="100" dirty="0">
                <a:latin typeface="华文仿宋" panose="02010600040101010101" pitchFamily="2" charset="-122"/>
                <a:ea typeface="等线" panose="02010600030101010101" pitchFamily="2" charset="-122"/>
                <a:cs typeface="Times New Roman" panose="02020603050405020304" pitchFamily="18" charset="0"/>
              </a:rPr>
              <a:t> </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en-US" altLang="zh-CN" sz="3200" kern="100" dirty="0">
                <a:latin typeface="等线" panose="02010600030101010101" pitchFamily="2" charset="-122"/>
                <a:ea typeface="MS Gothic" panose="020B0609070205080204" pitchFamily="49" charset="-128"/>
                <a:cs typeface="MS Gothic" panose="020B0609070205080204" pitchFamily="49" charset="-128"/>
              </a:rPr>
              <a:t>6</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Times New Roman" panose="02020603050405020304" pitchFamily="18" charset="0"/>
              </a:rPr>
              <a:t>合同评价与总结</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a:t>
            </a:r>
            <a:endParaRPr lang="en-US" altLang="zh-CN" sz="3200" kern="100" dirty="0">
              <a:latin typeface="等线" panose="02010600030101010101" pitchFamily="2" charset="-122"/>
              <a:ea typeface="华文仿宋" panose="02010600040101010101" pitchFamily="2" charset="-122"/>
              <a:cs typeface="华文仿宋" panose="02010600040101010101" pitchFamily="2" charset="-122"/>
            </a:endParaRPr>
          </a:p>
          <a:p>
            <a:pPr algn="just">
              <a:spcAft>
                <a:spcPts val="0"/>
              </a:spcAft>
            </a:pPr>
            <a:r>
              <a:rPr lang="zh-CN" altLang="zh-CN" sz="3200" kern="100" dirty="0">
                <a:latin typeface="等线" panose="02010600030101010101" pitchFamily="2" charset="-122"/>
                <a:ea typeface="华文仿宋" panose="02010600040101010101" pitchFamily="2" charset="-122"/>
                <a:cs typeface="华文仿宋" panose="02010600040101010101" pitchFamily="2" charset="-122"/>
              </a:rPr>
              <a:t>合同履行完毕后，对合同的缔结和履行情况进行评价，总结经验教训，为未来合同的签订和履行提供参考</a:t>
            </a:r>
            <a:r>
              <a:rPr lang="zh-CN" altLang="zh-CN" sz="3200" kern="100" dirty="0">
                <a:latin typeface="等线" panose="02010600030101010101" pitchFamily="2" charset="-122"/>
                <a:ea typeface="MS Gothic" panose="020B0609070205080204" pitchFamily="49" charset="-128"/>
                <a:cs typeface="MS Gothic" panose="020B0609070205080204" pitchFamily="49" charset="-128"/>
              </a:rPr>
              <a:t>‌</a:t>
            </a:r>
            <a:r>
              <a:rPr lang="zh-CN" altLang="en-US" sz="3200" kern="100" dirty="0">
                <a:latin typeface="等线" panose="02010600030101010101" pitchFamily="2" charset="-122"/>
                <a:ea typeface="MS Gothic" panose="020B0609070205080204" pitchFamily="49" charset="-128"/>
                <a:cs typeface="MS Gothic" panose="020B0609070205080204" pitchFamily="49" charset="-128"/>
              </a:rPr>
              <a:t>。</a:t>
            </a:r>
            <a:endPar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16143"/>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3233</TotalTime>
  <Words>4135</Words>
  <Application>Microsoft Office PowerPoint</Application>
  <PresentationFormat>全屏显示(4:3)</PresentationFormat>
  <Paragraphs>255</Paragraphs>
  <Slides>55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55</vt:i4>
      </vt:variant>
    </vt:vector>
  </HeadingPairs>
  <TitlesOfParts>
    <vt:vector size="68" baseType="lpstr">
      <vt:lpstr>-apple-system</vt:lpstr>
      <vt:lpstr>MS Gothic</vt:lpstr>
      <vt:lpstr>PingFang SC</vt:lpstr>
      <vt:lpstr>等线</vt:lpstr>
      <vt:lpstr>华文仿宋</vt:lpstr>
      <vt:lpstr>宋体</vt:lpstr>
      <vt:lpstr>Arial</vt:lpstr>
      <vt:lpstr>Calibri</vt:lpstr>
      <vt:lpstr>Garamond</vt:lpstr>
      <vt:lpstr>Times New Roman</vt:lpstr>
      <vt:lpstr>Verdana</vt:lpstr>
      <vt:lpstr>Wingdings</vt:lpstr>
      <vt:lpstr>Level</vt:lpstr>
      <vt:lpstr>第3章 项目采购与合同管理</vt:lpstr>
      <vt:lpstr>3.1 项目采购一般常识</vt:lpstr>
      <vt:lpstr>3.1 项目采购一般常识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xhhe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供应链设计与管理</dc:title>
  <dc:creator>xinhuahe</dc:creator>
  <cp:lastModifiedBy>Rachel</cp:lastModifiedBy>
  <cp:revision>106</cp:revision>
  <dcterms:created xsi:type="dcterms:W3CDTF">2010-09-06T01:34:01Z</dcterms:created>
  <dcterms:modified xsi:type="dcterms:W3CDTF">2025-04-06T08:36:23Z</dcterms:modified>
</cp:coreProperties>
</file>