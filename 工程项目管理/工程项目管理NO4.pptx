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7"/>
  </p:notesMasterIdLst>
  <p:sldIdLst>
    <p:sldId id="316" r:id="rId2"/>
    <p:sldId id="318" r:id="rId3"/>
    <p:sldId id="389" r:id="rId4"/>
    <p:sldId id="390" r:id="rId5"/>
    <p:sldId id="392" r:id="rId6"/>
    <p:sldId id="393" r:id="rId7"/>
    <p:sldId id="394" r:id="rId8"/>
    <p:sldId id="395" r:id="rId9"/>
    <p:sldId id="396" r:id="rId10"/>
    <p:sldId id="397" r:id="rId11"/>
    <p:sldId id="398" r:id="rId12"/>
    <p:sldId id="399" r:id="rId13"/>
    <p:sldId id="387" r:id="rId14"/>
    <p:sldId id="400" r:id="rId15"/>
    <p:sldId id="386" r:id="rId16"/>
    <p:sldId id="401" r:id="rId17"/>
    <p:sldId id="402" r:id="rId18"/>
    <p:sldId id="382" r:id="rId19"/>
    <p:sldId id="403" r:id="rId20"/>
    <p:sldId id="404" r:id="rId21"/>
    <p:sldId id="405" r:id="rId22"/>
    <p:sldId id="407" r:id="rId23"/>
    <p:sldId id="406" r:id="rId24"/>
    <p:sldId id="409" r:id="rId25"/>
    <p:sldId id="408" r:id="rId2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8" autoAdjust="0"/>
    <p:restoredTop sz="86449" autoAdjust="0"/>
  </p:normalViewPr>
  <p:slideViewPr>
    <p:cSldViewPr>
      <p:cViewPr varScale="1">
        <p:scale>
          <a:sx n="77" d="100"/>
          <a:sy n="77" d="100"/>
        </p:scale>
        <p:origin x="123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6348581-5202-4275-ABDD-0FC49F9D2617}" type="datetimeFigureOut">
              <a:rPr lang="zh-CN" altLang="en-US"/>
              <a:pPr>
                <a:defRPr/>
              </a:pPr>
              <a:t>2025/4/6</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6CDB9CF-61DB-4B30-B3D9-4988FB9CFD9F}" type="slidenum">
              <a:rPr lang="zh-CN" altLang="en-US"/>
              <a:pPr>
                <a:defRPr/>
              </a:pPr>
              <a:t>‹#›</a:t>
            </a:fld>
            <a:endParaRPr lang="zh-CN" altLang="en-US"/>
          </a:p>
        </p:txBody>
      </p:sp>
    </p:spTree>
    <p:extLst>
      <p:ext uri="{BB962C8B-B14F-4D97-AF65-F5344CB8AC3E}">
        <p14:creationId xmlns:p14="http://schemas.microsoft.com/office/powerpoint/2010/main" val="18955655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50825" y="2636838"/>
            <a:ext cx="8610600" cy="201612"/>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grpSp>
      <p:sp>
        <p:nvSpPr>
          <p:cNvPr id="5122" name="Rectangle 2"/>
          <p:cNvSpPr>
            <a:spLocks noGrp="1" noChangeArrowheads="1"/>
          </p:cNvSpPr>
          <p:nvPr>
            <p:ph type="ctrTitle"/>
          </p:nvPr>
        </p:nvSpPr>
        <p:spPr>
          <a:xfrm>
            <a:off x="611188" y="1412875"/>
            <a:ext cx="7772400" cy="504825"/>
          </a:xfrm>
        </p:spPr>
        <p:txBody>
          <a:bodyPr/>
          <a:lstStyle>
            <a:lvl1pPr algn="ctr">
              <a:defRPr sz="3200" b="0"/>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pPr lvl="0"/>
            <a:r>
              <a:rPr lang="zh-CN" altLang="en-US" noProof="0"/>
              <a:t>单击此处编辑母版副标题样式</a:t>
            </a:r>
          </a:p>
        </p:txBody>
      </p:sp>
      <p:sp>
        <p:nvSpPr>
          <p:cNvPr id="8" name="Rectangle 4"/>
          <p:cNvSpPr>
            <a:spLocks noGrp="1" noChangeArrowheads="1"/>
          </p:cNvSpPr>
          <p:nvPr>
            <p:ph type="dt" sz="half" idx="10"/>
          </p:nvPr>
        </p:nvSpPr>
        <p:spPr/>
        <p:txBody>
          <a:bodyPr/>
          <a:lstStyle>
            <a:lvl1pPr>
              <a:defRPr/>
            </a:lvl1pPr>
          </a:lstStyle>
          <a:p>
            <a:pPr>
              <a:defRPr/>
            </a:pPr>
            <a:endParaRPr lang="en-US" altLang="zh-CN"/>
          </a:p>
        </p:txBody>
      </p:sp>
      <p:sp>
        <p:nvSpPr>
          <p:cNvPr id="9" name="Rectangle 5"/>
          <p:cNvSpPr>
            <a:spLocks noGrp="1" noChangeArrowheads="1"/>
          </p:cNvSpPr>
          <p:nvPr>
            <p:ph type="ftr" sz="quarter" idx="11"/>
          </p:nvPr>
        </p:nvSpPr>
        <p:spPr/>
        <p:txBody>
          <a:bodyPr/>
          <a:lstStyle>
            <a:lvl1pPr>
              <a:defRPr/>
            </a:lvl1pPr>
          </a:lstStyle>
          <a:p>
            <a:pPr>
              <a:defRPr/>
            </a:pPr>
            <a:endParaRPr lang="en-US" altLang="zh-CN"/>
          </a:p>
        </p:txBody>
      </p:sp>
      <p:sp>
        <p:nvSpPr>
          <p:cNvPr id="10" name="Rectangle 6"/>
          <p:cNvSpPr>
            <a:spLocks noGrp="1" noChangeArrowheads="1"/>
          </p:cNvSpPr>
          <p:nvPr>
            <p:ph type="sldNum" sz="quarter" idx="12"/>
          </p:nvPr>
        </p:nvSpPr>
        <p:spPr/>
        <p:txBody>
          <a:bodyPr/>
          <a:lstStyle>
            <a:lvl1pPr>
              <a:defRPr/>
            </a:lvl1pPr>
          </a:lstStyle>
          <a:p>
            <a:pPr>
              <a:defRPr/>
            </a:pPr>
            <a:fld id="{C4CE33EF-006C-48B0-A755-EEDE811ECC6F}" type="slidenum">
              <a:rPr lang="en-US" altLang="zh-CN"/>
              <a:pPr>
                <a:defRPr/>
              </a:pPr>
              <a:t>‹#›</a:t>
            </a:fld>
            <a:endParaRPr lang="en-US" altLang="zh-CN"/>
          </a:p>
        </p:txBody>
      </p:sp>
    </p:spTree>
    <p:extLst>
      <p:ext uri="{BB962C8B-B14F-4D97-AF65-F5344CB8AC3E}">
        <p14:creationId xmlns:p14="http://schemas.microsoft.com/office/powerpoint/2010/main" val="330227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D7F0731-65F4-4030-9CF3-96EA562700E3}" type="slidenum">
              <a:rPr lang="en-US" altLang="zh-CN"/>
              <a:pPr>
                <a:defRPr/>
              </a:pPr>
              <a:t>‹#›</a:t>
            </a:fld>
            <a:endParaRPr lang="en-US" altLang="zh-CN"/>
          </a:p>
        </p:txBody>
      </p:sp>
    </p:spTree>
    <p:extLst>
      <p:ext uri="{BB962C8B-B14F-4D97-AF65-F5344CB8AC3E}">
        <p14:creationId xmlns:p14="http://schemas.microsoft.com/office/powerpoint/2010/main" val="3547470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1C275EE-1F4C-4F7F-94EE-B83118088784}" type="slidenum">
              <a:rPr lang="en-US" altLang="zh-CN"/>
              <a:pPr>
                <a:defRPr/>
              </a:pPr>
              <a:t>‹#›</a:t>
            </a:fld>
            <a:endParaRPr lang="en-US" altLang="zh-CN"/>
          </a:p>
        </p:txBody>
      </p:sp>
    </p:spTree>
    <p:extLst>
      <p:ext uri="{BB962C8B-B14F-4D97-AF65-F5344CB8AC3E}">
        <p14:creationId xmlns:p14="http://schemas.microsoft.com/office/powerpoint/2010/main" val="86632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DA970D5-AC73-48BB-AAB5-9BFF7800E66A}" type="slidenum">
              <a:rPr lang="en-US" altLang="zh-CN"/>
              <a:pPr>
                <a:defRPr/>
              </a:pPr>
              <a:t>‹#›</a:t>
            </a:fld>
            <a:endParaRPr lang="en-US" altLang="zh-CN"/>
          </a:p>
        </p:txBody>
      </p:sp>
    </p:spTree>
    <p:extLst>
      <p:ext uri="{BB962C8B-B14F-4D97-AF65-F5344CB8AC3E}">
        <p14:creationId xmlns:p14="http://schemas.microsoft.com/office/powerpoint/2010/main" val="395405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92FE4E81-B935-4A3B-8D5F-BCA3161AAEE3}" type="slidenum">
              <a:rPr lang="en-US" altLang="zh-CN"/>
              <a:pPr>
                <a:defRPr/>
              </a:pPr>
              <a:t>‹#›</a:t>
            </a:fld>
            <a:endParaRPr lang="en-US" altLang="zh-CN"/>
          </a:p>
        </p:txBody>
      </p:sp>
    </p:spTree>
    <p:extLst>
      <p:ext uri="{BB962C8B-B14F-4D97-AF65-F5344CB8AC3E}">
        <p14:creationId xmlns:p14="http://schemas.microsoft.com/office/powerpoint/2010/main" val="2824832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817DB37-7409-40EF-A4D6-F18A92D0D7BE}" type="slidenum">
              <a:rPr lang="en-US" altLang="zh-CN"/>
              <a:pPr>
                <a:defRPr/>
              </a:pPr>
              <a:t>‹#›</a:t>
            </a:fld>
            <a:endParaRPr lang="en-US" altLang="zh-CN"/>
          </a:p>
        </p:txBody>
      </p:sp>
    </p:spTree>
    <p:extLst>
      <p:ext uri="{BB962C8B-B14F-4D97-AF65-F5344CB8AC3E}">
        <p14:creationId xmlns:p14="http://schemas.microsoft.com/office/powerpoint/2010/main" val="2549290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4F241AB-D07B-4947-9D32-75BA7680117C}" type="slidenum">
              <a:rPr lang="en-US" altLang="zh-CN"/>
              <a:pPr>
                <a:defRPr/>
              </a:pPr>
              <a:t>‹#›</a:t>
            </a:fld>
            <a:endParaRPr lang="en-US" altLang="zh-CN"/>
          </a:p>
        </p:txBody>
      </p:sp>
    </p:spTree>
    <p:extLst>
      <p:ext uri="{BB962C8B-B14F-4D97-AF65-F5344CB8AC3E}">
        <p14:creationId xmlns:p14="http://schemas.microsoft.com/office/powerpoint/2010/main" val="182466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A4B461-33EC-416C-B6BD-76AF586A5F5B}" type="slidenum">
              <a:rPr lang="en-US" altLang="zh-CN"/>
              <a:pPr>
                <a:defRPr/>
              </a:pPr>
              <a:t>‹#›</a:t>
            </a:fld>
            <a:endParaRPr lang="en-US" altLang="zh-CN"/>
          </a:p>
        </p:txBody>
      </p:sp>
    </p:spTree>
    <p:extLst>
      <p:ext uri="{BB962C8B-B14F-4D97-AF65-F5344CB8AC3E}">
        <p14:creationId xmlns:p14="http://schemas.microsoft.com/office/powerpoint/2010/main" val="391582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F728CC6-330F-4E99-B09F-E1BB96A7BD3D}" type="slidenum">
              <a:rPr lang="en-US" altLang="zh-CN"/>
              <a:pPr>
                <a:defRPr/>
              </a:pPr>
              <a:t>‹#›</a:t>
            </a:fld>
            <a:endParaRPr lang="en-US" altLang="zh-CN"/>
          </a:p>
        </p:txBody>
      </p:sp>
    </p:spTree>
    <p:extLst>
      <p:ext uri="{BB962C8B-B14F-4D97-AF65-F5344CB8AC3E}">
        <p14:creationId xmlns:p14="http://schemas.microsoft.com/office/powerpoint/2010/main" val="254078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6112EFE-3B78-4525-8AB6-FD949C0C33BA}" type="slidenum">
              <a:rPr lang="en-US" altLang="zh-CN"/>
              <a:pPr>
                <a:defRPr/>
              </a:pPr>
              <a:t>‹#›</a:t>
            </a:fld>
            <a:endParaRPr lang="en-US" altLang="zh-CN"/>
          </a:p>
        </p:txBody>
      </p:sp>
    </p:spTree>
    <p:extLst>
      <p:ext uri="{BB962C8B-B14F-4D97-AF65-F5344CB8AC3E}">
        <p14:creationId xmlns:p14="http://schemas.microsoft.com/office/powerpoint/2010/main" val="23651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92C1B8D-6BCF-4EE4-88B4-39EE4581137E}" type="slidenum">
              <a:rPr lang="en-US" altLang="zh-CN"/>
              <a:pPr>
                <a:defRPr/>
              </a:pPr>
              <a:t>‹#›</a:t>
            </a:fld>
            <a:endParaRPr lang="en-US" altLang="zh-CN"/>
          </a:p>
        </p:txBody>
      </p:sp>
    </p:spTree>
    <p:extLst>
      <p:ext uri="{BB962C8B-B14F-4D97-AF65-F5344CB8AC3E}">
        <p14:creationId xmlns:p14="http://schemas.microsoft.com/office/powerpoint/2010/main" val="365750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ltLang="zh-CN"/>
          </a:p>
        </p:txBody>
      </p:sp>
      <p:sp>
        <p:nvSpPr>
          <p:cNvPr id="4102" name="Rectangle 6"/>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1FA687D4-88A7-41E7-8A13-76CEC74FBD66}" type="slidenum">
              <a:rPr lang="en-US" altLang="zh-CN"/>
              <a:pPr>
                <a:defRPr/>
              </a:pPr>
              <a:t>‹#›</a:t>
            </a:fld>
            <a:endParaRPr lang="en-US" altLang="zh-CN"/>
          </a:p>
        </p:txBody>
      </p:sp>
      <p:sp>
        <p:nvSpPr>
          <p:cNvPr id="1031" name="Rectangle 7"/>
          <p:cNvSpPr>
            <a:spLocks noChangeArrowheads="1"/>
          </p:cNvSpPr>
          <p:nvPr/>
        </p:nvSpPr>
        <p:spPr bwMode="auto">
          <a:xfrm>
            <a:off x="0" y="0"/>
            <a:ext cx="2286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Garamond" pitchFamily="18" charset="0"/>
          <a:ea typeface="宋体" pitchFamily="2" charset="-122"/>
        </a:defRPr>
      </a:lvl2pPr>
      <a:lvl3pPr algn="l" rtl="0" eaLnBrk="0" fontAlgn="base" hangingPunct="0">
        <a:spcBef>
          <a:spcPct val="0"/>
        </a:spcBef>
        <a:spcAft>
          <a:spcPct val="0"/>
        </a:spcAft>
        <a:defRPr sz="4400" b="1">
          <a:solidFill>
            <a:schemeClr val="tx2"/>
          </a:solidFill>
          <a:latin typeface="Garamond" pitchFamily="18" charset="0"/>
          <a:ea typeface="宋体" pitchFamily="2" charset="-122"/>
        </a:defRPr>
      </a:lvl3pPr>
      <a:lvl4pPr algn="l" rtl="0" eaLnBrk="0" fontAlgn="base" hangingPunct="0">
        <a:spcBef>
          <a:spcPct val="0"/>
        </a:spcBef>
        <a:spcAft>
          <a:spcPct val="0"/>
        </a:spcAft>
        <a:defRPr sz="4400" b="1">
          <a:solidFill>
            <a:schemeClr val="tx2"/>
          </a:solidFill>
          <a:latin typeface="Garamond" pitchFamily="18" charset="0"/>
          <a:ea typeface="宋体" pitchFamily="2" charset="-122"/>
        </a:defRPr>
      </a:lvl4pPr>
      <a:lvl5pPr algn="l" rtl="0" eaLnBrk="0" fontAlgn="base" hangingPunct="0">
        <a:spcBef>
          <a:spcPct val="0"/>
        </a:spcBef>
        <a:spcAft>
          <a:spcPct val="0"/>
        </a:spcAft>
        <a:defRPr sz="4400" b="1">
          <a:solidFill>
            <a:schemeClr val="tx2"/>
          </a:solidFill>
          <a:latin typeface="Garamond" pitchFamily="18" charset="0"/>
          <a:ea typeface="宋体" pitchFamily="2" charset="-122"/>
        </a:defRPr>
      </a:lvl5pPr>
      <a:lvl6pPr marL="457200" algn="l" rtl="0" fontAlgn="base">
        <a:spcBef>
          <a:spcPct val="0"/>
        </a:spcBef>
        <a:spcAft>
          <a:spcPct val="0"/>
        </a:spcAft>
        <a:defRPr sz="4400" b="1">
          <a:solidFill>
            <a:schemeClr val="tx2"/>
          </a:solidFill>
          <a:latin typeface="Garamond" pitchFamily="18" charset="0"/>
          <a:ea typeface="宋体" pitchFamily="2" charset="-122"/>
        </a:defRPr>
      </a:lvl6pPr>
      <a:lvl7pPr marL="914400" algn="l" rtl="0" fontAlgn="base">
        <a:spcBef>
          <a:spcPct val="0"/>
        </a:spcBef>
        <a:spcAft>
          <a:spcPct val="0"/>
        </a:spcAft>
        <a:defRPr sz="4400" b="1">
          <a:solidFill>
            <a:schemeClr val="tx2"/>
          </a:solidFill>
          <a:latin typeface="Garamond" pitchFamily="18" charset="0"/>
          <a:ea typeface="宋体" pitchFamily="2" charset="-122"/>
        </a:defRPr>
      </a:lvl7pPr>
      <a:lvl8pPr marL="1371600" algn="l" rtl="0" fontAlgn="base">
        <a:spcBef>
          <a:spcPct val="0"/>
        </a:spcBef>
        <a:spcAft>
          <a:spcPct val="0"/>
        </a:spcAft>
        <a:defRPr sz="4400" b="1">
          <a:solidFill>
            <a:schemeClr val="tx2"/>
          </a:solidFill>
          <a:latin typeface="Garamond" pitchFamily="18" charset="0"/>
          <a:ea typeface="宋体" pitchFamily="2" charset="-122"/>
        </a:defRPr>
      </a:lvl8pPr>
      <a:lvl9pPr marL="1828800" algn="l" rtl="0" fontAlgn="base">
        <a:spcBef>
          <a:spcPct val="0"/>
        </a:spcBef>
        <a:spcAft>
          <a:spcPct val="0"/>
        </a:spcAft>
        <a:defRPr sz="44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p:txBody>
          <a:bodyPr/>
          <a:lstStyle/>
          <a:p>
            <a:pPr eaLnBrk="1" hangingPunct="1"/>
            <a:r>
              <a:rPr lang="zh-CN" altLang="en-US" dirty="0"/>
              <a:t>第</a:t>
            </a:r>
            <a:r>
              <a:rPr lang="en-US" altLang="zh-CN" dirty="0"/>
              <a:t>4</a:t>
            </a:r>
            <a:r>
              <a:rPr lang="zh-CN" altLang="en-US" dirty="0"/>
              <a:t>章</a:t>
            </a:r>
            <a:r>
              <a:rPr lang="zh-CN" altLang="zh-CN" dirty="0"/>
              <a:t> 项目管理</a:t>
            </a:r>
            <a:r>
              <a:rPr lang="zh-CN" altLang="en-US" dirty="0"/>
              <a:t>目标</a:t>
            </a:r>
          </a:p>
        </p:txBody>
      </p:sp>
      <p:sp>
        <p:nvSpPr>
          <p:cNvPr id="2" name="矩形 1">
            <a:extLst>
              <a:ext uri="{FF2B5EF4-FFF2-40B4-BE49-F238E27FC236}">
                <a16:creationId xmlns:a16="http://schemas.microsoft.com/office/drawing/2014/main" id="{56C447A9-3CDC-4CE1-A397-667280D68A5D}"/>
              </a:ext>
            </a:extLst>
          </p:cNvPr>
          <p:cNvSpPr/>
          <p:nvPr/>
        </p:nvSpPr>
        <p:spPr>
          <a:xfrm>
            <a:off x="611560" y="1916832"/>
            <a:ext cx="8686800" cy="2554545"/>
          </a:xfrm>
          <a:prstGeom prst="rect">
            <a:avLst/>
          </a:prstGeom>
        </p:spPr>
        <p:txBody>
          <a:bodyPr wrap="square">
            <a:spAutoFit/>
          </a:bodyPr>
          <a:lstStyle/>
          <a:p>
            <a:r>
              <a:rPr lang="en-US" altLang="zh-CN" sz="4000" dirty="0"/>
              <a:t>4.1 </a:t>
            </a:r>
            <a:r>
              <a:rPr lang="zh-CN" altLang="zh-CN" sz="4000" dirty="0"/>
              <a:t>项目</a:t>
            </a:r>
            <a:r>
              <a:rPr lang="zh-CN" altLang="en-US" sz="4000" dirty="0"/>
              <a:t>目标</a:t>
            </a:r>
            <a:endParaRPr lang="en-US" altLang="zh-CN" sz="4000" dirty="0"/>
          </a:p>
          <a:p>
            <a:endParaRPr lang="zh-CN" altLang="zh-CN" sz="4000" dirty="0"/>
          </a:p>
          <a:p>
            <a:r>
              <a:rPr lang="en-US" altLang="zh-CN" sz="4000" dirty="0"/>
              <a:t>4.2</a:t>
            </a:r>
            <a:r>
              <a:rPr lang="zh-CN" altLang="zh-CN" sz="4000" dirty="0"/>
              <a:t> 项目</a:t>
            </a:r>
            <a:r>
              <a:rPr lang="zh-CN" altLang="en-US" sz="4000" dirty="0"/>
              <a:t>管理目标</a:t>
            </a:r>
            <a:endParaRPr lang="zh-CN" altLang="zh-CN" sz="4000" dirty="0"/>
          </a:p>
          <a:p>
            <a:endParaRPr lang="zh-CN" altLang="zh-CN"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p:txBody>
          <a:bodyPr/>
          <a:lstStyle/>
          <a:p>
            <a:r>
              <a:rPr lang="en-US" altLang="zh-CN" dirty="0"/>
              <a:t>4.1  </a:t>
            </a:r>
            <a:r>
              <a:rPr lang="zh-CN" altLang="zh-CN" dirty="0"/>
              <a:t>项目</a:t>
            </a:r>
            <a:r>
              <a:rPr lang="zh-CN" altLang="en-US" dirty="0"/>
              <a:t>目标</a:t>
            </a:r>
            <a:endParaRPr lang="zh-CN" altLang="zh-CN" dirty="0"/>
          </a:p>
        </p:txBody>
      </p:sp>
      <p:sp>
        <p:nvSpPr>
          <p:cNvPr id="2" name="矩形 1">
            <a:extLst>
              <a:ext uri="{FF2B5EF4-FFF2-40B4-BE49-F238E27FC236}">
                <a16:creationId xmlns:a16="http://schemas.microsoft.com/office/drawing/2014/main" id="{56C447A9-3CDC-4CE1-A397-667280D68A5D}"/>
              </a:ext>
            </a:extLst>
          </p:cNvPr>
          <p:cNvSpPr/>
          <p:nvPr/>
        </p:nvSpPr>
        <p:spPr>
          <a:xfrm>
            <a:off x="107504" y="1556792"/>
            <a:ext cx="9036496" cy="4585871"/>
          </a:xfrm>
          <a:prstGeom prst="rect">
            <a:avLst/>
          </a:prstGeom>
        </p:spPr>
        <p:txBody>
          <a:bodyPr wrap="square">
            <a:spAutoFit/>
          </a:bodyPr>
          <a:lstStyle/>
          <a:p>
            <a:r>
              <a:rPr lang="zh-CN" altLang="en-US" sz="4000" b="1" dirty="0">
                <a:solidFill>
                  <a:srgbClr val="7030A0"/>
                </a:solidFill>
              </a:rPr>
              <a:t>一、项目目标</a:t>
            </a:r>
            <a:r>
              <a:rPr lang="zh-CN" altLang="zh-CN" sz="4000" b="1" dirty="0">
                <a:solidFill>
                  <a:srgbClr val="7030A0"/>
                </a:solidFill>
              </a:rPr>
              <a:t>的含义</a:t>
            </a:r>
            <a:endParaRPr lang="en-US" altLang="zh-CN" sz="4000" b="1" dirty="0">
              <a:solidFill>
                <a:srgbClr val="7030A0"/>
              </a:solidFill>
            </a:endParaRPr>
          </a:p>
          <a:p>
            <a:pPr marL="571500" indent="-571500">
              <a:buFont typeface="Arial" panose="020B0604020202020204" pitchFamily="34" charset="0"/>
              <a:buChar char="•"/>
            </a:pPr>
            <a:r>
              <a:rPr lang="zh-CN" altLang="en-US" sz="3600" dirty="0"/>
              <a:t>项目目标是项目执行和完成所期望达到的最终结果。</a:t>
            </a:r>
            <a:endParaRPr lang="en-US" altLang="zh-CN" sz="3600" dirty="0"/>
          </a:p>
          <a:p>
            <a:pPr marL="571500" indent="-571500">
              <a:buFont typeface="Arial" panose="020B0604020202020204" pitchFamily="34" charset="0"/>
              <a:buChar char="•"/>
            </a:pPr>
            <a:r>
              <a:rPr lang="zh-CN" altLang="en-US" sz="3600" dirty="0"/>
              <a:t>它通常是具体、可度量的，并与项目的目的和愿景紧密相关。</a:t>
            </a:r>
            <a:endParaRPr lang="en-US" altLang="zh-CN" sz="3600" dirty="0"/>
          </a:p>
          <a:p>
            <a:pPr marL="571500" indent="-571500">
              <a:buFont typeface="Arial" panose="020B0604020202020204" pitchFamily="34" charset="0"/>
              <a:buChar char="•"/>
            </a:pPr>
            <a:r>
              <a:rPr lang="zh-CN" altLang="en-US" sz="3600" dirty="0"/>
              <a:t>项目目标的确立有助于明确项目方向，指导项目团队的工作，并确保所有相关方对项目期望有共同的理解。</a:t>
            </a:r>
            <a:endParaRPr lang="zh-CN" altLang="zh-CN" sz="3600" b="1" dirty="0">
              <a:solidFill>
                <a:srgbClr val="0070C0"/>
              </a:solidFill>
            </a:endParaRPr>
          </a:p>
        </p:txBody>
      </p:sp>
    </p:spTree>
    <p:extLst>
      <p:ext uri="{BB962C8B-B14F-4D97-AF65-F5344CB8AC3E}">
        <p14:creationId xmlns:p14="http://schemas.microsoft.com/office/powerpoint/2010/main" val="2166633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6CAFA04-93AC-473F-8133-20D74E27CB97}"/>
              </a:ext>
            </a:extLst>
          </p:cNvPr>
          <p:cNvSpPr/>
          <p:nvPr/>
        </p:nvSpPr>
        <p:spPr>
          <a:xfrm>
            <a:off x="179512" y="908720"/>
            <a:ext cx="8964488" cy="4524315"/>
          </a:xfrm>
          <a:prstGeom prst="rect">
            <a:avLst/>
          </a:prstGeom>
        </p:spPr>
        <p:txBody>
          <a:bodyPr wrap="square">
            <a:spAutoFit/>
          </a:bodyPr>
          <a:lstStyle/>
          <a:p>
            <a:r>
              <a:rPr lang="zh-CN" altLang="en-US" sz="2800" dirty="0">
                <a:solidFill>
                  <a:srgbClr val="333333"/>
                </a:solidFill>
                <a:latin typeface="PingFang SC"/>
              </a:rPr>
              <a:t>‌</a:t>
            </a:r>
            <a:r>
              <a:rPr lang="zh-CN" altLang="en-US" sz="3600" dirty="0">
                <a:solidFill>
                  <a:srgbClr val="333333"/>
                </a:solidFill>
                <a:latin typeface="PingFang SC"/>
              </a:rPr>
              <a:t>二、</a:t>
            </a:r>
            <a:r>
              <a:rPr lang="zh-CN" altLang="en-US" sz="3600" b="1" dirty="0">
                <a:solidFill>
                  <a:srgbClr val="333333"/>
                </a:solidFill>
                <a:latin typeface="PingFang SC"/>
              </a:rPr>
              <a:t>项目目标的特点</a:t>
            </a:r>
            <a:r>
              <a:rPr lang="zh-CN" altLang="en-US" sz="3600" dirty="0">
                <a:solidFill>
                  <a:srgbClr val="333333"/>
                </a:solidFill>
                <a:latin typeface="PingFang SC"/>
              </a:rPr>
              <a:t>‌：</a:t>
            </a:r>
            <a:endParaRPr lang="en-US" altLang="zh-CN" sz="3600" dirty="0">
              <a:solidFill>
                <a:srgbClr val="333333"/>
              </a:solidFill>
              <a:latin typeface="PingFang SC"/>
            </a:endParaRPr>
          </a:p>
          <a:p>
            <a:endParaRPr lang="zh-CN" altLang="en-US" sz="2800" dirty="0">
              <a:solidFill>
                <a:srgbClr val="333333"/>
              </a:solidFill>
              <a:latin typeface="PingFang SC"/>
            </a:endParaRP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多目标性‌：</a:t>
            </a:r>
            <a:r>
              <a:rPr lang="zh-CN" altLang="en-US" sz="2800" dirty="0">
                <a:solidFill>
                  <a:srgbClr val="333333"/>
                </a:solidFill>
                <a:latin typeface="PingFang SC"/>
              </a:rPr>
              <a:t>比如质量、时间、成本等，项目目标应是明确的、具体的，避免模糊和笼统的表述。</a:t>
            </a:r>
            <a:endParaRPr lang="en-US" altLang="zh-CN" sz="2800" dirty="0">
              <a:solidFill>
                <a:srgbClr val="333333"/>
              </a:solidFill>
              <a:latin typeface="PingFang SC"/>
            </a:endParaRPr>
          </a:p>
          <a:p>
            <a:pPr>
              <a:buFont typeface="+mj-lt"/>
              <a:buAutoNum type="arabicPeriod"/>
            </a:pPr>
            <a:endParaRPr lang="zh-CN" altLang="en-US" sz="2800" dirty="0">
              <a:solidFill>
                <a:srgbClr val="333333"/>
              </a:solidFill>
              <a:latin typeface="PingFang SC"/>
            </a:endParaRP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优先性</a:t>
            </a:r>
            <a:r>
              <a:rPr lang="zh-CN" altLang="en-US" sz="2800" dirty="0">
                <a:solidFill>
                  <a:srgbClr val="333333"/>
                </a:solidFill>
                <a:latin typeface="PingFang SC"/>
              </a:rPr>
              <a:t>‌：不同重要性的目标是可以度量和评估的，以便在项目执行过程中进行监控和控制。</a:t>
            </a:r>
            <a:endParaRPr lang="en-US" altLang="zh-CN" sz="2800" dirty="0">
              <a:solidFill>
                <a:srgbClr val="333333"/>
              </a:solidFill>
              <a:latin typeface="PingFang SC"/>
            </a:endParaRPr>
          </a:p>
          <a:p>
            <a:pPr>
              <a:buFont typeface="+mj-lt"/>
              <a:buAutoNum type="arabicPeriod"/>
            </a:pPr>
            <a:endParaRPr lang="zh-CN" altLang="en-US" sz="2800" dirty="0">
              <a:solidFill>
                <a:srgbClr val="333333"/>
              </a:solidFill>
              <a:latin typeface="PingFang SC"/>
            </a:endParaRP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层次性</a:t>
            </a:r>
            <a:r>
              <a:rPr lang="zh-CN" altLang="en-US" sz="2800" dirty="0">
                <a:solidFill>
                  <a:srgbClr val="333333"/>
                </a:solidFill>
                <a:latin typeface="PingFang SC"/>
              </a:rPr>
              <a:t>‌：目标应基于现实情况，避免设定过高或过低的目标。</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3681985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EA6DFAE-79FF-42CC-B5CB-A2BD0D0309DB}"/>
              </a:ext>
            </a:extLst>
          </p:cNvPr>
          <p:cNvSpPr/>
          <p:nvPr/>
        </p:nvSpPr>
        <p:spPr>
          <a:xfrm>
            <a:off x="755576" y="1628800"/>
            <a:ext cx="7272808" cy="3970318"/>
          </a:xfrm>
          <a:prstGeom prst="rect">
            <a:avLst/>
          </a:prstGeom>
        </p:spPr>
        <p:txBody>
          <a:bodyPr wrap="square">
            <a:spAutoFit/>
          </a:bodyPr>
          <a:lstStyle/>
          <a:p>
            <a:r>
              <a:rPr lang="zh-CN" altLang="en-US" sz="3600" dirty="0">
                <a:solidFill>
                  <a:srgbClr val="333333"/>
                </a:solidFill>
                <a:latin typeface="PingFang SC"/>
              </a:rPr>
              <a:t>三、</a:t>
            </a:r>
            <a:r>
              <a:rPr lang="zh-CN" altLang="en-US" sz="3600" b="1" dirty="0">
                <a:solidFill>
                  <a:srgbClr val="333333"/>
                </a:solidFill>
                <a:latin typeface="PingFang SC"/>
              </a:rPr>
              <a:t>项目目标的确定过程</a:t>
            </a:r>
            <a:endParaRPr lang="en-US" altLang="zh-CN" sz="3600" b="1" dirty="0">
              <a:solidFill>
                <a:srgbClr val="333333"/>
              </a:solidFill>
              <a:latin typeface="PingFang SC"/>
            </a:endParaRPr>
          </a:p>
          <a:p>
            <a:r>
              <a:rPr lang="en-US" altLang="zh-CN" sz="3600" b="1" dirty="0">
                <a:solidFill>
                  <a:srgbClr val="002060"/>
                </a:solidFill>
                <a:latin typeface="PingFang SC"/>
              </a:rPr>
              <a:t>1 </a:t>
            </a:r>
            <a:r>
              <a:rPr lang="zh-CN" altLang="en-US" sz="3600" b="1" dirty="0">
                <a:solidFill>
                  <a:srgbClr val="002060"/>
                </a:solidFill>
                <a:latin typeface="PingFang SC"/>
              </a:rPr>
              <a:t>项目情况分析</a:t>
            </a:r>
            <a:endParaRPr lang="en-US" altLang="zh-CN" sz="3600" b="1" dirty="0">
              <a:solidFill>
                <a:srgbClr val="002060"/>
              </a:solidFill>
              <a:latin typeface="PingFang SC"/>
            </a:endParaRPr>
          </a:p>
          <a:p>
            <a:r>
              <a:rPr lang="en-US" altLang="zh-CN" sz="3600" b="1" dirty="0">
                <a:solidFill>
                  <a:srgbClr val="002060"/>
                </a:solidFill>
                <a:latin typeface="PingFang SC"/>
              </a:rPr>
              <a:t>2</a:t>
            </a:r>
            <a:r>
              <a:rPr lang="zh-CN" altLang="en-US" sz="3600" b="1" dirty="0">
                <a:solidFill>
                  <a:srgbClr val="002060"/>
                </a:solidFill>
                <a:latin typeface="PingFang SC"/>
              </a:rPr>
              <a:t>项目问题界定</a:t>
            </a:r>
            <a:endParaRPr lang="en-US" altLang="zh-CN" sz="3600" b="1" dirty="0">
              <a:solidFill>
                <a:srgbClr val="002060"/>
              </a:solidFill>
              <a:latin typeface="PingFang SC"/>
            </a:endParaRPr>
          </a:p>
          <a:p>
            <a:r>
              <a:rPr lang="en-US" altLang="zh-CN" sz="3600" b="1" dirty="0">
                <a:solidFill>
                  <a:srgbClr val="002060"/>
                </a:solidFill>
                <a:latin typeface="PingFang SC"/>
              </a:rPr>
              <a:t>3 </a:t>
            </a:r>
            <a:r>
              <a:rPr lang="zh-CN" altLang="en-US" sz="3600" b="1" dirty="0">
                <a:solidFill>
                  <a:srgbClr val="002060"/>
                </a:solidFill>
                <a:latin typeface="PingFang SC"/>
              </a:rPr>
              <a:t>确定项目目标因素</a:t>
            </a:r>
            <a:endParaRPr lang="en-US" altLang="zh-CN" sz="3600" b="1" dirty="0">
              <a:solidFill>
                <a:srgbClr val="002060"/>
              </a:solidFill>
              <a:latin typeface="PingFang SC"/>
            </a:endParaRPr>
          </a:p>
          <a:p>
            <a:r>
              <a:rPr lang="en-US" altLang="zh-CN" sz="3600" b="1" dirty="0">
                <a:solidFill>
                  <a:srgbClr val="002060"/>
                </a:solidFill>
                <a:latin typeface="PingFang SC"/>
              </a:rPr>
              <a:t>4 </a:t>
            </a:r>
            <a:r>
              <a:rPr lang="zh-CN" altLang="en-US" sz="3600" b="1" dirty="0">
                <a:solidFill>
                  <a:srgbClr val="002060"/>
                </a:solidFill>
                <a:latin typeface="PingFang SC"/>
              </a:rPr>
              <a:t>建立项目目标体系</a:t>
            </a:r>
            <a:endParaRPr lang="en-US" altLang="zh-CN" sz="3600" b="1" dirty="0">
              <a:solidFill>
                <a:srgbClr val="002060"/>
              </a:solidFill>
              <a:latin typeface="PingFang SC"/>
            </a:endParaRPr>
          </a:p>
          <a:p>
            <a:r>
              <a:rPr lang="en-US" altLang="zh-CN" sz="3600" b="1" dirty="0">
                <a:solidFill>
                  <a:srgbClr val="002060"/>
                </a:solidFill>
                <a:latin typeface="PingFang SC"/>
              </a:rPr>
              <a:t>5 </a:t>
            </a:r>
            <a:r>
              <a:rPr lang="zh-CN" altLang="en-US" sz="3600" b="1" dirty="0">
                <a:solidFill>
                  <a:srgbClr val="002060"/>
                </a:solidFill>
                <a:latin typeface="PingFang SC"/>
              </a:rPr>
              <a:t>各目标的关系确认</a:t>
            </a:r>
            <a:endParaRPr lang="en-US" altLang="zh-CN" sz="3600" b="1" dirty="0">
              <a:solidFill>
                <a:srgbClr val="002060"/>
              </a:solidFill>
              <a:latin typeface="PingFang SC"/>
            </a:endParaRPr>
          </a:p>
          <a:p>
            <a:r>
              <a:rPr lang="en-US" altLang="zh-CN" sz="3600" b="1" dirty="0">
                <a:solidFill>
                  <a:srgbClr val="002060"/>
                </a:solidFill>
                <a:latin typeface="PingFang SC"/>
              </a:rPr>
              <a:t>——SMART</a:t>
            </a:r>
            <a:r>
              <a:rPr lang="zh-CN" altLang="en-US" sz="3600" b="1" dirty="0">
                <a:solidFill>
                  <a:srgbClr val="002060"/>
                </a:solidFill>
                <a:latin typeface="PingFang SC"/>
              </a:rPr>
              <a:t>原则</a:t>
            </a:r>
            <a:endParaRPr lang="en-US" altLang="zh-CN" sz="3600" dirty="0">
              <a:solidFill>
                <a:srgbClr val="002060"/>
              </a:solidFill>
              <a:latin typeface="PingFang SC"/>
            </a:endParaRPr>
          </a:p>
        </p:txBody>
      </p:sp>
    </p:spTree>
    <p:extLst>
      <p:ext uri="{BB962C8B-B14F-4D97-AF65-F5344CB8AC3E}">
        <p14:creationId xmlns:p14="http://schemas.microsoft.com/office/powerpoint/2010/main" val="3959423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F7B28AE-9E15-4D90-9875-6A195AB0EA99}"/>
              </a:ext>
            </a:extLst>
          </p:cNvPr>
          <p:cNvSpPr/>
          <p:nvPr/>
        </p:nvSpPr>
        <p:spPr>
          <a:xfrm>
            <a:off x="453536" y="1905506"/>
            <a:ext cx="8712968" cy="3046988"/>
          </a:xfrm>
          <a:prstGeom prst="rect">
            <a:avLst/>
          </a:prstGeom>
        </p:spPr>
        <p:txBody>
          <a:bodyPr wrap="square">
            <a:spAutoFit/>
          </a:bodyPr>
          <a:lstStyle/>
          <a:p>
            <a:r>
              <a:rPr lang="zh-CN" altLang="en-US" sz="3200" b="1" dirty="0">
                <a:solidFill>
                  <a:srgbClr val="002060"/>
                </a:solidFill>
                <a:latin typeface="PingFang SC"/>
              </a:rPr>
              <a:t>举例说明项目目标的确定过程</a:t>
            </a:r>
          </a:p>
          <a:p>
            <a:endParaRPr lang="en-US" altLang="zh-CN" sz="3200" b="1" dirty="0">
              <a:solidFill>
                <a:srgbClr val="002060"/>
              </a:solidFill>
              <a:latin typeface="PingFang SC"/>
            </a:endParaRPr>
          </a:p>
          <a:p>
            <a:r>
              <a:rPr lang="zh-CN" altLang="en-US" sz="3200" b="1" dirty="0">
                <a:solidFill>
                  <a:srgbClr val="002060"/>
                </a:solidFill>
                <a:latin typeface="PingFang SC"/>
              </a:rPr>
              <a:t>项目：某企业客户管理系统开发</a:t>
            </a:r>
          </a:p>
          <a:p>
            <a:r>
              <a:rPr lang="zh-CN" altLang="en-US" sz="3200" dirty="0">
                <a:solidFill>
                  <a:srgbClr val="002060"/>
                </a:solidFill>
                <a:latin typeface="PingFang SC"/>
              </a:rPr>
              <a:t>‌</a:t>
            </a:r>
            <a:endParaRPr lang="en-US" altLang="zh-CN" sz="3200" dirty="0">
              <a:solidFill>
                <a:srgbClr val="002060"/>
              </a:solidFill>
              <a:latin typeface="PingFang SC"/>
            </a:endParaRPr>
          </a:p>
          <a:p>
            <a:r>
              <a:rPr lang="zh-CN" altLang="en-US" sz="3200" b="1" dirty="0">
                <a:solidFill>
                  <a:srgbClr val="002060"/>
                </a:solidFill>
                <a:latin typeface="PingFang SC"/>
              </a:rPr>
              <a:t>项目背景</a:t>
            </a:r>
            <a:r>
              <a:rPr lang="zh-CN" altLang="en-US" sz="3200" dirty="0">
                <a:solidFill>
                  <a:srgbClr val="002060"/>
                </a:solidFill>
                <a:latin typeface="PingFang SC"/>
              </a:rPr>
              <a:t>‌：某企业希望开发一套客户管理系统，以提升客户服务效率和数据分析能力。</a:t>
            </a:r>
            <a:endParaRPr lang="zh-CN" altLang="en-US" sz="3200" b="0" i="0" dirty="0">
              <a:solidFill>
                <a:srgbClr val="002060"/>
              </a:solidFill>
              <a:effectLst/>
              <a:latin typeface="PingFang SC"/>
            </a:endParaRPr>
          </a:p>
        </p:txBody>
      </p:sp>
    </p:spTree>
    <p:extLst>
      <p:ext uri="{BB962C8B-B14F-4D97-AF65-F5344CB8AC3E}">
        <p14:creationId xmlns:p14="http://schemas.microsoft.com/office/powerpoint/2010/main" val="1994140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7265DBE-E014-4CC8-A39C-C6C5779E97A0}"/>
              </a:ext>
            </a:extLst>
          </p:cNvPr>
          <p:cNvSpPr/>
          <p:nvPr/>
        </p:nvSpPr>
        <p:spPr>
          <a:xfrm>
            <a:off x="539552" y="1720840"/>
            <a:ext cx="8064896" cy="3785652"/>
          </a:xfrm>
          <a:prstGeom prst="rect">
            <a:avLst/>
          </a:prstGeom>
        </p:spPr>
        <p:txBody>
          <a:bodyPr wrap="square">
            <a:spAutoFit/>
          </a:bodyPr>
          <a:lstStyle/>
          <a:p>
            <a:r>
              <a:rPr lang="en-US" altLang="zh-CN" sz="2400" b="1" dirty="0">
                <a:solidFill>
                  <a:srgbClr val="333333"/>
                </a:solidFill>
                <a:latin typeface="PingFang SC"/>
              </a:rPr>
              <a:t>1. ‌</a:t>
            </a:r>
            <a:r>
              <a:rPr lang="zh-CN" altLang="en-US" sz="2400" b="1" dirty="0">
                <a:solidFill>
                  <a:srgbClr val="333333"/>
                </a:solidFill>
                <a:latin typeface="PingFang SC"/>
              </a:rPr>
              <a:t>情况分析与环境调研</a:t>
            </a:r>
            <a:endParaRPr lang="en-US" altLang="zh-CN" sz="2400" b="1" dirty="0">
              <a:solidFill>
                <a:srgbClr val="333333"/>
              </a:solidFill>
              <a:latin typeface="PingFang SC"/>
            </a:endParaRP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分析内容</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技术环境</a:t>
            </a:r>
            <a:r>
              <a:rPr lang="zh-CN" altLang="en-US" sz="2400" dirty="0">
                <a:solidFill>
                  <a:srgbClr val="333333"/>
                </a:solidFill>
                <a:latin typeface="PingFang SC"/>
              </a:rPr>
              <a:t>‌：现有</a:t>
            </a:r>
            <a:r>
              <a:rPr lang="en-US" altLang="zh-CN" sz="2400" dirty="0">
                <a:solidFill>
                  <a:srgbClr val="333333"/>
                </a:solidFill>
                <a:latin typeface="PingFang SC"/>
              </a:rPr>
              <a:t>IT</a:t>
            </a:r>
            <a:r>
              <a:rPr lang="zh-CN" altLang="en-US" sz="2400" dirty="0">
                <a:solidFill>
                  <a:srgbClr val="333333"/>
                </a:solidFill>
                <a:latin typeface="PingFang SC"/>
              </a:rPr>
              <a:t>基础设施是否支持系统开发（如数据库兼容性、接口对接能力）。</a:t>
            </a:r>
          </a:p>
          <a:p>
            <a:pPr marL="742950" lvl="1" indent="-285750">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市场环境</a:t>
            </a:r>
            <a:r>
              <a:rPr lang="zh-CN" altLang="en-US" sz="2400" dirty="0">
                <a:solidFill>
                  <a:srgbClr val="333333"/>
                </a:solidFill>
                <a:latin typeface="PingFang SC"/>
              </a:rPr>
              <a:t>‌：竞争对手已上线类似系统，需确保功能差异化。</a:t>
            </a:r>
          </a:p>
          <a:p>
            <a:pPr marL="742950" lvl="1" indent="-285750">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相关方需求</a:t>
            </a:r>
            <a:r>
              <a:rPr lang="zh-CN" altLang="en-US" sz="2400" dirty="0">
                <a:solidFill>
                  <a:srgbClr val="333333"/>
                </a:solidFill>
                <a:latin typeface="PingFang SC"/>
              </a:rPr>
              <a:t>‌：销售部门要求实时客户数据追踪，客服部门需工单管理功能。</a:t>
            </a: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输出</a:t>
            </a:r>
            <a:r>
              <a:rPr lang="zh-CN" altLang="en-US" sz="2400" dirty="0">
                <a:solidFill>
                  <a:srgbClr val="333333"/>
                </a:solidFill>
                <a:latin typeface="PingFang SC"/>
              </a:rPr>
              <a:t>‌：明确项目需解决的核心问题（如数据分散、人工操作效率低）。</a:t>
            </a:r>
            <a:endParaRPr lang="zh-CN" altLang="en-US" sz="2400" b="0" i="0" dirty="0">
              <a:solidFill>
                <a:srgbClr val="333333"/>
              </a:solidFill>
              <a:effectLst/>
              <a:latin typeface="PingFang SC"/>
            </a:endParaRPr>
          </a:p>
        </p:txBody>
      </p:sp>
    </p:spTree>
    <p:extLst>
      <p:ext uri="{BB962C8B-B14F-4D97-AF65-F5344CB8AC3E}">
        <p14:creationId xmlns:p14="http://schemas.microsoft.com/office/powerpoint/2010/main" val="1047650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EF72EB1-B2D4-4DC8-8AA3-143269FCCBBD}"/>
              </a:ext>
            </a:extLst>
          </p:cNvPr>
          <p:cNvSpPr/>
          <p:nvPr/>
        </p:nvSpPr>
        <p:spPr>
          <a:xfrm>
            <a:off x="179512" y="1443841"/>
            <a:ext cx="9073008" cy="3785652"/>
          </a:xfrm>
          <a:prstGeom prst="rect">
            <a:avLst/>
          </a:prstGeom>
        </p:spPr>
        <p:txBody>
          <a:bodyPr wrap="square">
            <a:spAutoFit/>
          </a:bodyPr>
          <a:lstStyle/>
          <a:p>
            <a:r>
              <a:rPr lang="en-US" altLang="zh-CN" sz="2400" b="1" dirty="0">
                <a:solidFill>
                  <a:srgbClr val="333333"/>
                </a:solidFill>
                <a:latin typeface="PingFang SC"/>
              </a:rPr>
              <a:t>2. ‌</a:t>
            </a:r>
            <a:r>
              <a:rPr lang="zh-CN" altLang="en-US" sz="2400" b="1" dirty="0">
                <a:solidFill>
                  <a:srgbClr val="333333"/>
                </a:solidFill>
                <a:latin typeface="PingFang SC"/>
              </a:rPr>
              <a:t>需求分析与目标因素提出</a:t>
            </a:r>
            <a:endParaRPr lang="en-US" altLang="zh-CN" sz="2400" b="1" dirty="0">
              <a:solidFill>
                <a:srgbClr val="333333"/>
              </a:solidFill>
              <a:latin typeface="PingFang SC"/>
            </a:endParaRP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需求收集</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通过访谈和问卷收集部门需求，例如：</a:t>
            </a:r>
          </a:p>
          <a:p>
            <a:pPr marL="1143000" lvl="2" indent="-228600">
              <a:buFont typeface="Arial" panose="020B0604020202020204" pitchFamily="34" charset="0"/>
              <a:buChar char="•"/>
            </a:pPr>
            <a:r>
              <a:rPr lang="zh-CN" altLang="en-US" sz="2400" dirty="0">
                <a:solidFill>
                  <a:srgbClr val="333333"/>
                </a:solidFill>
                <a:latin typeface="PingFang SC"/>
              </a:rPr>
              <a:t>销售团队：“系统需支持移动端访问，便于外出时查看客户信息。”</a:t>
            </a:r>
          </a:p>
          <a:p>
            <a:pPr marL="1143000" lvl="2" indent="-228600">
              <a:buFont typeface="Arial" panose="020B0604020202020204" pitchFamily="34" charset="0"/>
              <a:buChar char="•"/>
            </a:pPr>
            <a:r>
              <a:rPr lang="zh-CN" altLang="en-US" sz="2400" dirty="0">
                <a:solidFill>
                  <a:srgbClr val="333333"/>
                </a:solidFill>
                <a:latin typeface="PingFang SC"/>
              </a:rPr>
              <a:t>管理层：“成本控制在</a:t>
            </a:r>
            <a:r>
              <a:rPr lang="en-US" altLang="zh-CN" sz="2400" dirty="0">
                <a:solidFill>
                  <a:srgbClr val="333333"/>
                </a:solidFill>
                <a:latin typeface="PingFang SC"/>
              </a:rPr>
              <a:t>50</a:t>
            </a:r>
            <a:r>
              <a:rPr lang="zh-CN" altLang="en-US" sz="2400" dirty="0">
                <a:solidFill>
                  <a:srgbClr val="333333"/>
                </a:solidFill>
                <a:latin typeface="PingFang SC"/>
              </a:rPr>
              <a:t>万元内，</a:t>
            </a:r>
            <a:r>
              <a:rPr lang="en-US" altLang="zh-CN" sz="2400" dirty="0">
                <a:solidFill>
                  <a:srgbClr val="333333"/>
                </a:solidFill>
                <a:latin typeface="PingFang SC"/>
              </a:rPr>
              <a:t>6</a:t>
            </a:r>
            <a:r>
              <a:rPr lang="zh-CN" altLang="en-US" sz="2400" dirty="0">
                <a:solidFill>
                  <a:srgbClr val="333333"/>
                </a:solidFill>
                <a:latin typeface="PingFang SC"/>
              </a:rPr>
              <a:t>个月内上线。”</a:t>
            </a: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目标因素</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功能性目标</a:t>
            </a:r>
            <a:r>
              <a:rPr lang="zh-CN" altLang="en-US" sz="2400" dirty="0">
                <a:solidFill>
                  <a:srgbClr val="333333"/>
                </a:solidFill>
                <a:latin typeface="PingFang SC"/>
              </a:rPr>
              <a:t>‌：实现客户信息管理、工单流转、数据分析三大模块。</a:t>
            </a:r>
          </a:p>
          <a:p>
            <a:pPr marL="742950" lvl="1" indent="-285750">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非功能性目标</a:t>
            </a:r>
            <a:r>
              <a:rPr lang="zh-CN" altLang="en-US" sz="2400" dirty="0">
                <a:solidFill>
                  <a:srgbClr val="333333"/>
                </a:solidFill>
                <a:latin typeface="PingFang SC"/>
              </a:rPr>
              <a:t>‌：系统响应时间≤</a:t>
            </a:r>
            <a:r>
              <a:rPr lang="en-US" altLang="zh-CN" sz="2400" dirty="0">
                <a:solidFill>
                  <a:srgbClr val="333333"/>
                </a:solidFill>
                <a:latin typeface="PingFang SC"/>
              </a:rPr>
              <a:t>2</a:t>
            </a:r>
            <a:r>
              <a:rPr lang="zh-CN" altLang="en-US" sz="2400" dirty="0">
                <a:solidFill>
                  <a:srgbClr val="333333"/>
                </a:solidFill>
                <a:latin typeface="PingFang SC"/>
              </a:rPr>
              <a:t>秒，支持</a:t>
            </a:r>
            <a:r>
              <a:rPr lang="en-US" altLang="zh-CN" sz="2400" dirty="0">
                <a:solidFill>
                  <a:srgbClr val="333333"/>
                </a:solidFill>
                <a:latin typeface="PingFang SC"/>
              </a:rPr>
              <a:t>500</a:t>
            </a:r>
            <a:r>
              <a:rPr lang="zh-CN" altLang="en-US" sz="2400" dirty="0">
                <a:solidFill>
                  <a:srgbClr val="333333"/>
                </a:solidFill>
                <a:latin typeface="PingFang SC"/>
              </a:rPr>
              <a:t>用户并发访问‌。</a:t>
            </a:r>
            <a:endParaRPr lang="zh-CN" altLang="en-US" sz="2400" b="0" i="0" dirty="0">
              <a:solidFill>
                <a:srgbClr val="333333"/>
              </a:solidFill>
              <a:effectLst/>
              <a:latin typeface="PingFang SC"/>
            </a:endParaRPr>
          </a:p>
        </p:txBody>
      </p:sp>
    </p:spTree>
    <p:extLst>
      <p:ext uri="{BB962C8B-B14F-4D97-AF65-F5344CB8AC3E}">
        <p14:creationId xmlns:p14="http://schemas.microsoft.com/office/powerpoint/2010/main" val="1430566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F54E676-F277-4732-92F6-5EAA5D61E382}"/>
              </a:ext>
            </a:extLst>
          </p:cNvPr>
          <p:cNvSpPr/>
          <p:nvPr/>
        </p:nvSpPr>
        <p:spPr>
          <a:xfrm>
            <a:off x="251520" y="751344"/>
            <a:ext cx="9001000" cy="5632311"/>
          </a:xfrm>
          <a:prstGeom prst="rect">
            <a:avLst/>
          </a:prstGeom>
        </p:spPr>
        <p:txBody>
          <a:bodyPr wrap="square">
            <a:spAutoFit/>
          </a:bodyPr>
          <a:lstStyle/>
          <a:p>
            <a:r>
              <a:rPr lang="en-US" altLang="zh-CN" sz="2400" b="1" dirty="0">
                <a:solidFill>
                  <a:srgbClr val="333333"/>
                </a:solidFill>
                <a:latin typeface="PingFang SC"/>
              </a:rPr>
              <a:t>3. ‌</a:t>
            </a:r>
            <a:r>
              <a:rPr lang="zh-CN" altLang="en-US" sz="2400" b="1" dirty="0">
                <a:solidFill>
                  <a:srgbClr val="333333"/>
                </a:solidFill>
                <a:latin typeface="PingFang SC"/>
              </a:rPr>
              <a:t>应用</a:t>
            </a:r>
            <a:r>
              <a:rPr lang="en-US" altLang="zh-CN" sz="2400" b="1" dirty="0">
                <a:solidFill>
                  <a:srgbClr val="333333"/>
                </a:solidFill>
                <a:latin typeface="PingFang SC"/>
              </a:rPr>
              <a:t>SMART</a:t>
            </a:r>
            <a:r>
              <a:rPr lang="zh-CN" altLang="en-US" sz="2400" b="1" dirty="0">
                <a:solidFill>
                  <a:srgbClr val="333333"/>
                </a:solidFill>
                <a:latin typeface="PingFang SC"/>
              </a:rPr>
              <a:t>原则细化目标‌‌</a:t>
            </a:r>
            <a:endParaRPr lang="en-US" altLang="zh-CN" sz="2400" b="1" dirty="0">
              <a:solidFill>
                <a:srgbClr val="333333"/>
              </a:solidFill>
              <a:latin typeface="PingFang SC"/>
            </a:endParaRP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具体（</a:t>
            </a:r>
            <a:r>
              <a:rPr lang="en-US" altLang="zh-CN" sz="2400" b="1" dirty="0">
                <a:solidFill>
                  <a:srgbClr val="333333"/>
                </a:solidFill>
                <a:latin typeface="PingFang SC"/>
              </a:rPr>
              <a:t>Specific</a:t>
            </a:r>
            <a:r>
              <a:rPr lang="zh-CN" altLang="en-US" sz="2400" b="1" dirty="0">
                <a:solidFill>
                  <a:srgbClr val="333333"/>
                </a:solidFill>
                <a:latin typeface="PingFang SC"/>
              </a:rPr>
              <a:t>）</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原目标：“提升客户服务效率”→ 修正为：“工单平均处理时间从</a:t>
            </a:r>
            <a:r>
              <a:rPr lang="en-US" altLang="zh-CN" sz="2400" dirty="0">
                <a:solidFill>
                  <a:srgbClr val="333333"/>
                </a:solidFill>
                <a:latin typeface="PingFang SC"/>
              </a:rPr>
              <a:t>24</a:t>
            </a:r>
            <a:r>
              <a:rPr lang="zh-CN" altLang="en-US" sz="2400" dirty="0">
                <a:solidFill>
                  <a:srgbClr val="333333"/>
                </a:solidFill>
                <a:latin typeface="PingFang SC"/>
              </a:rPr>
              <a:t>小时缩短至</a:t>
            </a:r>
            <a:r>
              <a:rPr lang="en-US" altLang="zh-CN" sz="2400" dirty="0">
                <a:solidFill>
                  <a:srgbClr val="333333"/>
                </a:solidFill>
                <a:latin typeface="PingFang SC"/>
              </a:rPr>
              <a:t>8</a:t>
            </a:r>
            <a:r>
              <a:rPr lang="zh-CN" altLang="en-US" sz="2400" dirty="0">
                <a:solidFill>
                  <a:srgbClr val="333333"/>
                </a:solidFill>
                <a:latin typeface="PingFang SC"/>
              </a:rPr>
              <a:t>小时”。</a:t>
            </a: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可衡量（</a:t>
            </a:r>
            <a:r>
              <a:rPr lang="en-US" altLang="zh-CN" sz="2400" b="1" dirty="0">
                <a:solidFill>
                  <a:srgbClr val="333333"/>
                </a:solidFill>
                <a:latin typeface="PingFang SC"/>
              </a:rPr>
              <a:t>Measurable</a:t>
            </a:r>
            <a:r>
              <a:rPr lang="zh-CN" altLang="en-US" sz="2400" b="1" dirty="0">
                <a:solidFill>
                  <a:srgbClr val="333333"/>
                </a:solidFill>
                <a:latin typeface="PingFang SC"/>
              </a:rPr>
              <a:t>）</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定义验收标准：“客户信息录入错误率低于</a:t>
            </a:r>
            <a:r>
              <a:rPr lang="en-US" altLang="zh-CN" sz="2400" dirty="0">
                <a:solidFill>
                  <a:srgbClr val="333333"/>
                </a:solidFill>
                <a:latin typeface="PingFang SC"/>
              </a:rPr>
              <a:t>0.5%”</a:t>
            </a:r>
            <a:r>
              <a:rPr lang="zh-CN" altLang="en-US" sz="2400" dirty="0">
                <a:solidFill>
                  <a:srgbClr val="333333"/>
                </a:solidFill>
                <a:latin typeface="PingFang SC"/>
              </a:rPr>
              <a:t>。</a:t>
            </a: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可实现（</a:t>
            </a:r>
            <a:r>
              <a:rPr lang="en-US" altLang="zh-CN" sz="2400" b="1" dirty="0">
                <a:solidFill>
                  <a:srgbClr val="333333"/>
                </a:solidFill>
                <a:latin typeface="PingFang SC"/>
              </a:rPr>
              <a:t>Attainable</a:t>
            </a:r>
            <a:r>
              <a:rPr lang="zh-CN" altLang="en-US" sz="2400" b="1" dirty="0">
                <a:solidFill>
                  <a:srgbClr val="333333"/>
                </a:solidFill>
                <a:latin typeface="PingFang SC"/>
              </a:rPr>
              <a:t>）</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评估开发团队能力后，将“</a:t>
            </a:r>
            <a:r>
              <a:rPr lang="en-US" altLang="zh-CN" sz="2400" dirty="0">
                <a:solidFill>
                  <a:srgbClr val="333333"/>
                </a:solidFill>
                <a:latin typeface="PingFang SC"/>
              </a:rPr>
              <a:t>AI</a:t>
            </a:r>
            <a:r>
              <a:rPr lang="zh-CN" altLang="en-US" sz="2400" dirty="0">
                <a:solidFill>
                  <a:srgbClr val="333333"/>
                </a:solidFill>
                <a:latin typeface="PingFang SC"/>
              </a:rPr>
              <a:t>智能推荐功能”调整为二期目标。</a:t>
            </a: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相关性（</a:t>
            </a:r>
            <a:r>
              <a:rPr lang="en-US" altLang="zh-CN" sz="2400" b="1" dirty="0">
                <a:solidFill>
                  <a:srgbClr val="333333"/>
                </a:solidFill>
                <a:latin typeface="PingFang SC"/>
              </a:rPr>
              <a:t>Relevant</a:t>
            </a:r>
            <a:r>
              <a:rPr lang="zh-CN" altLang="en-US" sz="2400" b="1" dirty="0">
                <a:solidFill>
                  <a:srgbClr val="333333"/>
                </a:solidFill>
                <a:latin typeface="PingFang SC"/>
              </a:rPr>
              <a:t>）</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数据分析模块需支持企业年度战略中“客户复购率提升</a:t>
            </a:r>
            <a:r>
              <a:rPr lang="en-US" altLang="zh-CN" sz="2400" dirty="0">
                <a:solidFill>
                  <a:srgbClr val="333333"/>
                </a:solidFill>
                <a:latin typeface="PingFang SC"/>
              </a:rPr>
              <a:t>10%”</a:t>
            </a:r>
            <a:r>
              <a:rPr lang="zh-CN" altLang="en-US" sz="2400" dirty="0">
                <a:solidFill>
                  <a:srgbClr val="333333"/>
                </a:solidFill>
                <a:latin typeface="PingFang SC"/>
              </a:rPr>
              <a:t>的考核要求。</a:t>
            </a: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时限性（</a:t>
            </a:r>
            <a:r>
              <a:rPr lang="en-US" altLang="zh-CN" sz="2400" b="1" dirty="0">
                <a:solidFill>
                  <a:srgbClr val="333333"/>
                </a:solidFill>
                <a:latin typeface="PingFang SC"/>
              </a:rPr>
              <a:t>Time-bound</a:t>
            </a:r>
            <a:r>
              <a:rPr lang="zh-CN" altLang="en-US" sz="2400" b="1" dirty="0">
                <a:solidFill>
                  <a:srgbClr val="333333"/>
                </a:solidFill>
                <a:latin typeface="PingFang SC"/>
              </a:rPr>
              <a:t>）</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设定阶段性里程碑，如“需求确认：</a:t>
            </a:r>
            <a:r>
              <a:rPr lang="en-US" altLang="zh-CN" sz="2400" dirty="0">
                <a:solidFill>
                  <a:srgbClr val="333333"/>
                </a:solidFill>
                <a:latin typeface="PingFang SC"/>
              </a:rPr>
              <a:t>1</a:t>
            </a:r>
            <a:r>
              <a:rPr lang="zh-CN" altLang="en-US" sz="2400" dirty="0">
                <a:solidFill>
                  <a:srgbClr val="333333"/>
                </a:solidFill>
                <a:latin typeface="PingFang SC"/>
              </a:rPr>
              <a:t>个月；开发：</a:t>
            </a:r>
            <a:r>
              <a:rPr lang="en-US" altLang="zh-CN" sz="2400" dirty="0">
                <a:solidFill>
                  <a:srgbClr val="333333"/>
                </a:solidFill>
                <a:latin typeface="PingFang SC"/>
              </a:rPr>
              <a:t>3</a:t>
            </a:r>
            <a:r>
              <a:rPr lang="zh-CN" altLang="en-US" sz="2400" dirty="0">
                <a:solidFill>
                  <a:srgbClr val="333333"/>
                </a:solidFill>
                <a:latin typeface="PingFang SC"/>
              </a:rPr>
              <a:t>个月；测试：</a:t>
            </a:r>
            <a:r>
              <a:rPr lang="en-US" altLang="zh-CN" sz="2400" dirty="0">
                <a:solidFill>
                  <a:srgbClr val="333333"/>
                </a:solidFill>
                <a:latin typeface="PingFang SC"/>
              </a:rPr>
              <a:t>2</a:t>
            </a:r>
            <a:r>
              <a:rPr lang="zh-CN" altLang="en-US" sz="2400" dirty="0">
                <a:solidFill>
                  <a:srgbClr val="333333"/>
                </a:solidFill>
                <a:latin typeface="PingFang SC"/>
              </a:rPr>
              <a:t>个月”‌</a:t>
            </a:r>
            <a:r>
              <a:rPr lang="en-US" altLang="zh-CN" sz="2400" dirty="0">
                <a:solidFill>
                  <a:srgbClr val="333333"/>
                </a:solidFill>
                <a:latin typeface="PingFang SC"/>
              </a:rPr>
              <a:t>5</a:t>
            </a:r>
            <a:r>
              <a:rPr lang="zh-CN" altLang="en-US" sz="2400" dirty="0">
                <a:solidFill>
                  <a:srgbClr val="333333"/>
                </a:solidFill>
                <a:latin typeface="PingFang SC"/>
              </a:rPr>
              <a:t>。</a:t>
            </a:r>
            <a:endParaRPr lang="zh-CN" altLang="en-US" sz="2400" b="0" i="0" dirty="0">
              <a:solidFill>
                <a:srgbClr val="333333"/>
              </a:solidFill>
              <a:effectLst/>
              <a:latin typeface="PingFang SC"/>
            </a:endParaRPr>
          </a:p>
        </p:txBody>
      </p:sp>
    </p:spTree>
    <p:extLst>
      <p:ext uri="{BB962C8B-B14F-4D97-AF65-F5344CB8AC3E}">
        <p14:creationId xmlns:p14="http://schemas.microsoft.com/office/powerpoint/2010/main" val="3616625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55C4B8B-585B-4AD6-8CE2-DDEBC7B8A12A}"/>
              </a:ext>
            </a:extLst>
          </p:cNvPr>
          <p:cNvSpPr/>
          <p:nvPr/>
        </p:nvSpPr>
        <p:spPr>
          <a:xfrm>
            <a:off x="611560" y="1412776"/>
            <a:ext cx="8352928" cy="3785652"/>
          </a:xfrm>
          <a:prstGeom prst="rect">
            <a:avLst/>
          </a:prstGeom>
        </p:spPr>
        <p:txBody>
          <a:bodyPr wrap="square">
            <a:spAutoFit/>
          </a:bodyPr>
          <a:lstStyle/>
          <a:p>
            <a:r>
              <a:rPr lang="en-US" altLang="zh-CN" sz="2400" b="1" dirty="0">
                <a:solidFill>
                  <a:srgbClr val="333333"/>
                </a:solidFill>
                <a:latin typeface="PingFang SC"/>
              </a:rPr>
              <a:t>4. ‌</a:t>
            </a:r>
            <a:r>
              <a:rPr lang="zh-CN" altLang="en-US" sz="2400" b="1" dirty="0">
                <a:solidFill>
                  <a:srgbClr val="333333"/>
                </a:solidFill>
                <a:latin typeface="PingFang SC"/>
              </a:rPr>
              <a:t>目标分解与优先级排序</a:t>
            </a:r>
            <a:endParaRPr lang="en-US" altLang="zh-CN" sz="2400" b="1" dirty="0">
              <a:solidFill>
                <a:srgbClr val="333333"/>
              </a:solidFill>
              <a:latin typeface="PingFang SC"/>
            </a:endParaRP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分解任务</a:t>
            </a:r>
            <a:r>
              <a:rPr lang="zh-CN" altLang="en-US" sz="2400" dirty="0">
                <a:solidFill>
                  <a:srgbClr val="333333"/>
                </a:solidFill>
                <a:latin typeface="PingFang SC"/>
              </a:rPr>
              <a:t>‌：</a:t>
            </a:r>
          </a:p>
          <a:p>
            <a:pPr marL="742950" lvl="1" indent="-285750">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一级目标</a:t>
            </a:r>
            <a:r>
              <a:rPr lang="zh-CN" altLang="en-US" sz="2400" dirty="0">
                <a:solidFill>
                  <a:srgbClr val="333333"/>
                </a:solidFill>
                <a:latin typeface="PingFang SC"/>
              </a:rPr>
              <a:t>‌：系统开发与上线。</a:t>
            </a:r>
          </a:p>
          <a:p>
            <a:pPr marL="742950" lvl="1" indent="-285750">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二级目标</a:t>
            </a:r>
            <a:r>
              <a:rPr lang="zh-CN" altLang="en-US" sz="2400" dirty="0">
                <a:solidFill>
                  <a:srgbClr val="333333"/>
                </a:solidFill>
                <a:latin typeface="PingFang SC"/>
              </a:rPr>
              <a:t>‌：</a:t>
            </a:r>
          </a:p>
          <a:p>
            <a:pPr marL="1143000" lvl="2" indent="-228600">
              <a:buFont typeface="Arial" panose="020B0604020202020204" pitchFamily="34" charset="0"/>
              <a:buChar char="•"/>
            </a:pPr>
            <a:r>
              <a:rPr lang="zh-CN" altLang="en-US" sz="2400" dirty="0">
                <a:solidFill>
                  <a:srgbClr val="333333"/>
                </a:solidFill>
                <a:latin typeface="PingFang SC"/>
              </a:rPr>
              <a:t>客户信息管理模块（核心功能，优先级高）。</a:t>
            </a:r>
          </a:p>
          <a:p>
            <a:pPr marL="1143000" lvl="2" indent="-228600">
              <a:buFont typeface="Arial" panose="020B0604020202020204" pitchFamily="34" charset="0"/>
              <a:buChar char="•"/>
            </a:pPr>
            <a:r>
              <a:rPr lang="zh-CN" altLang="en-US" sz="2400" dirty="0">
                <a:solidFill>
                  <a:srgbClr val="333333"/>
                </a:solidFill>
                <a:latin typeface="PingFang SC"/>
              </a:rPr>
              <a:t>工单流转模块（与客服部门相关）。</a:t>
            </a:r>
          </a:p>
          <a:p>
            <a:pPr marL="1143000" lvl="2" indent="-228600">
              <a:buFont typeface="Arial" panose="020B0604020202020204" pitchFamily="34" charset="0"/>
              <a:buChar char="•"/>
            </a:pPr>
            <a:r>
              <a:rPr lang="zh-CN" altLang="en-US" sz="2400" dirty="0">
                <a:solidFill>
                  <a:srgbClr val="333333"/>
                </a:solidFill>
                <a:latin typeface="PingFang SC"/>
              </a:rPr>
              <a:t>数据分析模块（依赖前两个模块数据，优先级中）。</a:t>
            </a:r>
          </a:p>
          <a:p>
            <a:pPr>
              <a:buFont typeface="Arial" panose="020B0604020202020204" pitchFamily="34" charset="0"/>
              <a:buChar char="•"/>
            </a:pPr>
            <a:r>
              <a:rPr lang="zh-CN" altLang="en-US" sz="2400" dirty="0">
                <a:solidFill>
                  <a:srgbClr val="333333"/>
                </a:solidFill>
                <a:latin typeface="PingFang SC"/>
              </a:rPr>
              <a:t>‌</a:t>
            </a:r>
            <a:r>
              <a:rPr lang="zh-CN" altLang="en-US" sz="2400" b="1" dirty="0">
                <a:solidFill>
                  <a:srgbClr val="333333"/>
                </a:solidFill>
                <a:latin typeface="PingFang SC"/>
              </a:rPr>
              <a:t>工具应用</a:t>
            </a:r>
            <a:r>
              <a:rPr lang="zh-CN" altLang="en-US" sz="2400" dirty="0">
                <a:solidFill>
                  <a:srgbClr val="333333"/>
                </a:solidFill>
                <a:latin typeface="PingFang SC"/>
              </a:rPr>
              <a:t>‌：</a:t>
            </a:r>
            <a:br>
              <a:rPr lang="zh-CN" altLang="en-US" sz="2400" dirty="0">
                <a:solidFill>
                  <a:srgbClr val="333333"/>
                </a:solidFill>
                <a:latin typeface="PingFang SC"/>
              </a:rPr>
            </a:br>
            <a:r>
              <a:rPr lang="zh-CN" altLang="en-US" sz="2400" dirty="0">
                <a:solidFill>
                  <a:srgbClr val="333333"/>
                </a:solidFill>
                <a:latin typeface="PingFang SC"/>
              </a:rPr>
              <a:t>使用</a:t>
            </a:r>
            <a:r>
              <a:rPr lang="en-US" altLang="zh-CN" sz="2400" dirty="0">
                <a:solidFill>
                  <a:srgbClr val="333333"/>
                </a:solidFill>
                <a:latin typeface="PingFang SC"/>
              </a:rPr>
              <a:t>WBS</a:t>
            </a:r>
            <a:r>
              <a:rPr lang="zh-CN" altLang="en-US" sz="2400" dirty="0">
                <a:solidFill>
                  <a:srgbClr val="333333"/>
                </a:solidFill>
                <a:latin typeface="PingFang SC"/>
              </a:rPr>
              <a:t>（工作分解结构）将模块拆分为具体任务，如“数据库设计：</a:t>
            </a:r>
            <a:r>
              <a:rPr lang="en-US" altLang="zh-CN" sz="2400" dirty="0">
                <a:solidFill>
                  <a:srgbClr val="333333"/>
                </a:solidFill>
                <a:latin typeface="PingFang SC"/>
              </a:rPr>
              <a:t>2</a:t>
            </a:r>
            <a:r>
              <a:rPr lang="zh-CN" altLang="en-US" sz="2400" dirty="0">
                <a:solidFill>
                  <a:srgbClr val="333333"/>
                </a:solidFill>
                <a:latin typeface="PingFang SC"/>
              </a:rPr>
              <a:t>周；接口开发：</a:t>
            </a:r>
            <a:r>
              <a:rPr lang="en-US" altLang="zh-CN" sz="2400" dirty="0">
                <a:solidFill>
                  <a:srgbClr val="333333"/>
                </a:solidFill>
                <a:latin typeface="PingFang SC"/>
              </a:rPr>
              <a:t>3</a:t>
            </a:r>
            <a:r>
              <a:rPr lang="zh-CN" altLang="en-US" sz="2400" dirty="0">
                <a:solidFill>
                  <a:srgbClr val="333333"/>
                </a:solidFill>
                <a:latin typeface="PingFang SC"/>
              </a:rPr>
              <a:t>周”‌。</a:t>
            </a:r>
            <a:endParaRPr lang="zh-CN" altLang="en-US" sz="2400" b="0" i="0" dirty="0">
              <a:solidFill>
                <a:srgbClr val="333333"/>
              </a:solidFill>
              <a:effectLst/>
              <a:latin typeface="PingFang SC"/>
            </a:endParaRPr>
          </a:p>
        </p:txBody>
      </p:sp>
    </p:spTree>
    <p:extLst>
      <p:ext uri="{BB962C8B-B14F-4D97-AF65-F5344CB8AC3E}">
        <p14:creationId xmlns:p14="http://schemas.microsoft.com/office/powerpoint/2010/main" val="2383424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9605D80-3E51-4DB8-9B44-0E33B69C5E7F}"/>
              </a:ext>
            </a:extLst>
          </p:cNvPr>
          <p:cNvSpPr/>
          <p:nvPr/>
        </p:nvSpPr>
        <p:spPr>
          <a:xfrm>
            <a:off x="323528" y="1859340"/>
            <a:ext cx="8820472" cy="4401205"/>
          </a:xfrm>
          <a:prstGeom prst="rect">
            <a:avLst/>
          </a:prstGeom>
        </p:spPr>
        <p:txBody>
          <a:bodyPr wrap="square">
            <a:spAutoFit/>
          </a:bodyPr>
          <a:lstStyle/>
          <a:p>
            <a:r>
              <a:rPr lang="en-US" altLang="zh-CN" sz="2800" b="1" dirty="0">
                <a:solidFill>
                  <a:srgbClr val="333333"/>
                </a:solidFill>
                <a:latin typeface="PingFang SC"/>
              </a:rPr>
              <a:t>5. ‌</a:t>
            </a:r>
            <a:r>
              <a:rPr lang="zh-CN" altLang="en-US" sz="2800" b="1" dirty="0">
                <a:solidFill>
                  <a:srgbClr val="333333"/>
                </a:solidFill>
                <a:latin typeface="PingFang SC"/>
              </a:rPr>
              <a:t>可行性评估与风险预判‌‌</a:t>
            </a:r>
            <a:endParaRPr lang="en-US" altLang="zh-CN" sz="2800" b="1" dirty="0">
              <a:solidFill>
                <a:srgbClr val="333333"/>
              </a:solidFill>
              <a:latin typeface="PingFang SC"/>
            </a:endParaRPr>
          </a:p>
          <a:p>
            <a:pPr>
              <a:buFont typeface="Arial" panose="020B0604020202020204" pitchFamily="34" charset="0"/>
              <a:buChar char="•"/>
            </a:pPr>
            <a:r>
              <a:rPr lang="zh-CN" altLang="en-US" sz="2800" dirty="0">
                <a:solidFill>
                  <a:srgbClr val="333333"/>
                </a:solidFill>
                <a:latin typeface="PingFang SC"/>
              </a:rPr>
              <a:t>‌</a:t>
            </a:r>
            <a:r>
              <a:rPr lang="zh-CN" altLang="en-US" sz="2800" b="1" dirty="0">
                <a:solidFill>
                  <a:srgbClr val="333333"/>
                </a:solidFill>
                <a:latin typeface="PingFang SC"/>
              </a:rPr>
              <a:t>资源评估</a:t>
            </a:r>
            <a:r>
              <a:rPr lang="zh-CN" altLang="en-US" sz="2800" dirty="0">
                <a:solidFill>
                  <a:srgbClr val="333333"/>
                </a:solidFill>
                <a:latin typeface="PingFang SC"/>
              </a:rPr>
              <a:t>‌：</a:t>
            </a:r>
          </a:p>
          <a:p>
            <a:pPr marL="742950" lvl="1" indent="-285750">
              <a:buFont typeface="Arial" panose="020B0604020202020204" pitchFamily="34" charset="0"/>
              <a:buChar char="•"/>
            </a:pPr>
            <a:r>
              <a:rPr lang="zh-CN" altLang="en-US" sz="2800" dirty="0">
                <a:solidFill>
                  <a:srgbClr val="333333"/>
                </a:solidFill>
                <a:latin typeface="PingFang SC"/>
              </a:rPr>
              <a:t>开发团队人力不足，需外包部分非核心功能（如</a:t>
            </a:r>
            <a:r>
              <a:rPr lang="en-US" altLang="zh-CN" sz="2800" dirty="0">
                <a:solidFill>
                  <a:srgbClr val="333333"/>
                </a:solidFill>
                <a:latin typeface="PingFang SC"/>
              </a:rPr>
              <a:t>UI</a:t>
            </a:r>
            <a:r>
              <a:rPr lang="zh-CN" altLang="en-US" sz="2800" dirty="0">
                <a:solidFill>
                  <a:srgbClr val="333333"/>
                </a:solidFill>
                <a:latin typeface="PingFang SC"/>
              </a:rPr>
              <a:t>设计）。</a:t>
            </a:r>
          </a:p>
          <a:p>
            <a:pPr>
              <a:buFont typeface="Arial" panose="020B0604020202020204" pitchFamily="34" charset="0"/>
              <a:buChar char="•"/>
            </a:pPr>
            <a:r>
              <a:rPr lang="zh-CN" altLang="en-US" sz="2800" dirty="0">
                <a:solidFill>
                  <a:srgbClr val="333333"/>
                </a:solidFill>
                <a:latin typeface="PingFang SC"/>
              </a:rPr>
              <a:t>‌</a:t>
            </a:r>
            <a:r>
              <a:rPr lang="zh-CN" altLang="en-US" sz="2800" b="1" dirty="0">
                <a:solidFill>
                  <a:srgbClr val="333333"/>
                </a:solidFill>
                <a:latin typeface="PingFang SC"/>
              </a:rPr>
              <a:t>风险识别</a:t>
            </a:r>
            <a:r>
              <a:rPr lang="zh-CN" altLang="en-US" sz="2800" dirty="0">
                <a:solidFill>
                  <a:srgbClr val="333333"/>
                </a:solidFill>
                <a:latin typeface="PingFang SC"/>
              </a:rPr>
              <a:t>‌：</a:t>
            </a:r>
          </a:p>
          <a:p>
            <a:pPr marL="742950" lvl="1" indent="-285750">
              <a:buFont typeface="Arial" panose="020B0604020202020204" pitchFamily="34" charset="0"/>
              <a:buChar char="•"/>
            </a:pPr>
            <a:r>
              <a:rPr lang="zh-CN" altLang="en-US" sz="2800" dirty="0">
                <a:solidFill>
                  <a:srgbClr val="333333"/>
                </a:solidFill>
                <a:latin typeface="PingFang SC"/>
              </a:rPr>
              <a:t>潜在风险：第三方接口延迟交付 → 应对措施：预留</a:t>
            </a:r>
            <a:r>
              <a:rPr lang="en-US" altLang="zh-CN" sz="2800" dirty="0">
                <a:solidFill>
                  <a:srgbClr val="333333"/>
                </a:solidFill>
                <a:latin typeface="PingFang SC"/>
              </a:rPr>
              <a:t>2</a:t>
            </a:r>
            <a:r>
              <a:rPr lang="zh-CN" altLang="en-US" sz="2800" dirty="0">
                <a:solidFill>
                  <a:srgbClr val="333333"/>
                </a:solidFill>
                <a:latin typeface="PingFang SC"/>
              </a:rPr>
              <a:t>周缓冲期。</a:t>
            </a:r>
          </a:p>
          <a:p>
            <a:pPr>
              <a:buFont typeface="Arial" panose="020B0604020202020204" pitchFamily="34" charset="0"/>
              <a:buChar char="•"/>
            </a:pPr>
            <a:r>
              <a:rPr lang="zh-CN" altLang="en-US" sz="2800" dirty="0">
                <a:solidFill>
                  <a:srgbClr val="333333"/>
                </a:solidFill>
                <a:latin typeface="PingFang SC"/>
              </a:rPr>
              <a:t>‌</a:t>
            </a:r>
            <a:r>
              <a:rPr lang="zh-CN" altLang="en-US" sz="2800" b="1" dirty="0">
                <a:solidFill>
                  <a:srgbClr val="333333"/>
                </a:solidFill>
                <a:latin typeface="PingFang SC"/>
              </a:rPr>
              <a:t>目标调整</a:t>
            </a:r>
            <a:r>
              <a:rPr lang="zh-CN" altLang="en-US" sz="2800" dirty="0">
                <a:solidFill>
                  <a:srgbClr val="333333"/>
                </a:solidFill>
                <a:latin typeface="PingFang SC"/>
              </a:rPr>
              <a:t>‌：</a:t>
            </a:r>
          </a:p>
          <a:p>
            <a:pPr marL="742950" lvl="1" indent="-285750">
              <a:buFont typeface="Arial" panose="020B0604020202020204" pitchFamily="34" charset="0"/>
              <a:buChar char="•"/>
            </a:pPr>
            <a:r>
              <a:rPr lang="zh-CN" altLang="en-US" sz="2800" dirty="0">
                <a:solidFill>
                  <a:srgbClr val="333333"/>
                </a:solidFill>
                <a:latin typeface="PingFang SC"/>
              </a:rPr>
              <a:t>原计划“全功能一次性上线”改为“分阶段交付”，优先保证核心模块按时完成‌。</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3371729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2EF656B-8D2D-4EE5-8BBA-3A193F2BB2E1}"/>
              </a:ext>
            </a:extLst>
          </p:cNvPr>
          <p:cNvSpPr/>
          <p:nvPr/>
        </p:nvSpPr>
        <p:spPr>
          <a:xfrm>
            <a:off x="323528" y="2136339"/>
            <a:ext cx="8424936" cy="3970318"/>
          </a:xfrm>
          <a:prstGeom prst="rect">
            <a:avLst/>
          </a:prstGeom>
        </p:spPr>
        <p:txBody>
          <a:bodyPr wrap="square">
            <a:spAutoFit/>
          </a:bodyPr>
          <a:lstStyle/>
          <a:p>
            <a:r>
              <a:rPr lang="en-US" altLang="zh-CN" sz="2800" b="1" dirty="0">
                <a:solidFill>
                  <a:srgbClr val="333333"/>
                </a:solidFill>
                <a:latin typeface="PingFang SC"/>
              </a:rPr>
              <a:t>6. ‌</a:t>
            </a:r>
            <a:r>
              <a:rPr lang="zh-CN" altLang="en-US" sz="2800" b="1" dirty="0">
                <a:solidFill>
                  <a:srgbClr val="333333"/>
                </a:solidFill>
                <a:latin typeface="PingFang SC"/>
              </a:rPr>
              <a:t>目标确认与计划制定‌‌</a:t>
            </a:r>
            <a:endParaRPr lang="en-US" altLang="zh-CN" sz="2800" b="1" dirty="0">
              <a:solidFill>
                <a:srgbClr val="333333"/>
              </a:solidFill>
              <a:latin typeface="PingFang SC"/>
            </a:endParaRPr>
          </a:p>
          <a:p>
            <a:pPr>
              <a:buFont typeface="Arial" panose="020B0604020202020204" pitchFamily="34" charset="0"/>
              <a:buChar char="•"/>
            </a:pPr>
            <a:r>
              <a:rPr lang="zh-CN" altLang="en-US" sz="2800" dirty="0">
                <a:solidFill>
                  <a:srgbClr val="333333"/>
                </a:solidFill>
                <a:latin typeface="PingFang SC"/>
              </a:rPr>
              <a:t>‌</a:t>
            </a:r>
            <a:r>
              <a:rPr lang="zh-CN" altLang="en-US" sz="2800" b="1" dirty="0">
                <a:solidFill>
                  <a:srgbClr val="333333"/>
                </a:solidFill>
                <a:latin typeface="PingFang SC"/>
              </a:rPr>
              <a:t>目标系统建立</a:t>
            </a:r>
            <a:r>
              <a:rPr lang="zh-CN" altLang="en-US" sz="2800" dirty="0">
                <a:solidFill>
                  <a:srgbClr val="333333"/>
                </a:solidFill>
                <a:latin typeface="PingFang SC"/>
              </a:rPr>
              <a:t>‌：</a:t>
            </a:r>
          </a:p>
          <a:p>
            <a:pPr marL="742950" lvl="1" indent="-285750">
              <a:buFont typeface="Arial" panose="020B0604020202020204" pitchFamily="34" charset="0"/>
              <a:buChar char="•"/>
            </a:pPr>
            <a:r>
              <a:rPr lang="zh-CN" altLang="en-US" sz="2800" dirty="0">
                <a:solidFill>
                  <a:srgbClr val="333333"/>
                </a:solidFill>
                <a:latin typeface="PingFang SC"/>
              </a:rPr>
              <a:t>强制性目标：系统需通过</a:t>
            </a:r>
            <a:r>
              <a:rPr lang="en-US" altLang="zh-CN" sz="2800" dirty="0">
                <a:solidFill>
                  <a:srgbClr val="333333"/>
                </a:solidFill>
                <a:latin typeface="PingFang SC"/>
              </a:rPr>
              <a:t>ISO 27001</a:t>
            </a:r>
            <a:r>
              <a:rPr lang="zh-CN" altLang="en-US" sz="2800" dirty="0">
                <a:solidFill>
                  <a:srgbClr val="333333"/>
                </a:solidFill>
                <a:latin typeface="PingFang SC"/>
              </a:rPr>
              <a:t>信息安全认证。</a:t>
            </a:r>
          </a:p>
          <a:p>
            <a:pPr marL="742950" lvl="1" indent="-285750">
              <a:buFont typeface="Arial" panose="020B0604020202020204" pitchFamily="34" charset="0"/>
              <a:buChar char="•"/>
            </a:pPr>
            <a:r>
              <a:rPr lang="zh-CN" altLang="en-US" sz="2800" dirty="0">
                <a:solidFill>
                  <a:srgbClr val="333333"/>
                </a:solidFill>
                <a:latin typeface="PingFang SC"/>
              </a:rPr>
              <a:t>期望目标：用户培训覆盖率达</a:t>
            </a:r>
            <a:r>
              <a:rPr lang="en-US" altLang="zh-CN" sz="2800" dirty="0">
                <a:solidFill>
                  <a:srgbClr val="333333"/>
                </a:solidFill>
                <a:latin typeface="PingFang SC"/>
              </a:rPr>
              <a:t>90%</a:t>
            </a:r>
            <a:r>
              <a:rPr lang="zh-CN" altLang="en-US" sz="2800" dirty="0">
                <a:solidFill>
                  <a:srgbClr val="333333"/>
                </a:solidFill>
                <a:latin typeface="PingFang SC"/>
              </a:rPr>
              <a:t>。</a:t>
            </a:r>
          </a:p>
          <a:p>
            <a:pPr>
              <a:buFont typeface="Arial" panose="020B0604020202020204" pitchFamily="34" charset="0"/>
              <a:buChar char="•"/>
            </a:pPr>
            <a:r>
              <a:rPr lang="zh-CN" altLang="en-US" sz="2800" dirty="0">
                <a:solidFill>
                  <a:srgbClr val="333333"/>
                </a:solidFill>
                <a:latin typeface="PingFang SC"/>
              </a:rPr>
              <a:t>‌</a:t>
            </a:r>
            <a:r>
              <a:rPr lang="zh-CN" altLang="en-US" sz="2800" b="1" dirty="0">
                <a:solidFill>
                  <a:srgbClr val="333333"/>
                </a:solidFill>
                <a:latin typeface="PingFang SC"/>
              </a:rPr>
              <a:t>计划输出</a:t>
            </a:r>
            <a:r>
              <a:rPr lang="zh-CN" altLang="en-US" sz="2800" dirty="0">
                <a:solidFill>
                  <a:srgbClr val="333333"/>
                </a:solidFill>
                <a:latin typeface="PingFang SC"/>
              </a:rPr>
              <a:t>‌：</a:t>
            </a:r>
          </a:p>
          <a:p>
            <a:pPr marL="742950" lvl="1" indent="-285750">
              <a:buFont typeface="Arial" panose="020B0604020202020204" pitchFamily="34" charset="0"/>
              <a:buChar char="•"/>
            </a:pPr>
            <a:r>
              <a:rPr lang="zh-CN" altLang="en-US" sz="2800" dirty="0">
                <a:solidFill>
                  <a:srgbClr val="333333"/>
                </a:solidFill>
                <a:latin typeface="PingFang SC"/>
              </a:rPr>
              <a:t>甘特图明确各任务责任人及时间节点，如“测试阶段：</a:t>
            </a:r>
            <a:r>
              <a:rPr lang="en-US" altLang="zh-CN" sz="2800" dirty="0">
                <a:solidFill>
                  <a:srgbClr val="333333"/>
                </a:solidFill>
                <a:latin typeface="PingFang SC"/>
              </a:rPr>
              <a:t>2025</a:t>
            </a:r>
            <a:r>
              <a:rPr lang="zh-CN" altLang="en-US" sz="2800" dirty="0">
                <a:solidFill>
                  <a:srgbClr val="333333"/>
                </a:solidFill>
                <a:latin typeface="PingFang SC"/>
              </a:rPr>
              <a:t>年</a:t>
            </a:r>
            <a:r>
              <a:rPr lang="en-US" altLang="zh-CN" sz="2800" dirty="0">
                <a:solidFill>
                  <a:srgbClr val="333333"/>
                </a:solidFill>
                <a:latin typeface="PingFang SC"/>
              </a:rPr>
              <a:t>9</a:t>
            </a:r>
            <a:r>
              <a:rPr lang="zh-CN" altLang="en-US" sz="2800" dirty="0">
                <a:solidFill>
                  <a:srgbClr val="333333"/>
                </a:solidFill>
                <a:latin typeface="PingFang SC"/>
              </a:rPr>
              <a:t>月</a:t>
            </a:r>
            <a:r>
              <a:rPr lang="en-US" altLang="zh-CN" sz="2800" dirty="0">
                <a:solidFill>
                  <a:srgbClr val="333333"/>
                </a:solidFill>
                <a:latin typeface="PingFang SC"/>
              </a:rPr>
              <a:t>1</a:t>
            </a:r>
            <a:r>
              <a:rPr lang="zh-CN" altLang="en-US" sz="2800" dirty="0">
                <a:solidFill>
                  <a:srgbClr val="333333"/>
                </a:solidFill>
                <a:latin typeface="PingFang SC"/>
              </a:rPr>
              <a:t>日</a:t>
            </a:r>
            <a:r>
              <a:rPr lang="en-US" altLang="zh-CN" sz="2800" dirty="0">
                <a:solidFill>
                  <a:srgbClr val="333333"/>
                </a:solidFill>
                <a:latin typeface="PingFang SC"/>
              </a:rPr>
              <a:t>-10</a:t>
            </a:r>
            <a:r>
              <a:rPr lang="zh-CN" altLang="en-US" sz="2800" dirty="0">
                <a:solidFill>
                  <a:srgbClr val="333333"/>
                </a:solidFill>
                <a:latin typeface="PingFang SC"/>
              </a:rPr>
              <a:t>月</a:t>
            </a:r>
            <a:r>
              <a:rPr lang="en-US" altLang="zh-CN" sz="2800" dirty="0">
                <a:solidFill>
                  <a:srgbClr val="333333"/>
                </a:solidFill>
                <a:latin typeface="PingFang SC"/>
              </a:rPr>
              <a:t>30</a:t>
            </a:r>
            <a:r>
              <a:rPr lang="zh-CN" altLang="en-US" sz="2800" dirty="0">
                <a:solidFill>
                  <a:srgbClr val="333333"/>
                </a:solidFill>
                <a:latin typeface="PingFang SC"/>
              </a:rPr>
              <a:t>日，负责人：</a:t>
            </a:r>
            <a:r>
              <a:rPr lang="en-US" altLang="zh-CN" sz="2800" dirty="0">
                <a:solidFill>
                  <a:srgbClr val="333333"/>
                </a:solidFill>
                <a:latin typeface="PingFang SC"/>
              </a:rPr>
              <a:t>QA</a:t>
            </a:r>
            <a:r>
              <a:rPr lang="zh-CN" altLang="en-US" sz="2800" dirty="0">
                <a:solidFill>
                  <a:srgbClr val="333333"/>
                </a:solidFill>
                <a:latin typeface="PingFang SC"/>
              </a:rPr>
              <a:t>团队</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206876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C614A29-FE6A-40BD-BED6-618BE5CBB6C0}"/>
              </a:ext>
            </a:extLst>
          </p:cNvPr>
          <p:cNvSpPr/>
          <p:nvPr/>
        </p:nvSpPr>
        <p:spPr>
          <a:xfrm>
            <a:off x="395536" y="2136339"/>
            <a:ext cx="8424936" cy="3539430"/>
          </a:xfrm>
          <a:prstGeom prst="rect">
            <a:avLst/>
          </a:prstGeom>
        </p:spPr>
        <p:txBody>
          <a:bodyPr wrap="square">
            <a:spAutoFit/>
          </a:bodyPr>
          <a:lstStyle/>
          <a:p>
            <a:r>
              <a:rPr lang="en-US" altLang="zh-CN" sz="2800" b="1" dirty="0">
                <a:solidFill>
                  <a:srgbClr val="333333"/>
                </a:solidFill>
                <a:latin typeface="PingFang SC"/>
              </a:rPr>
              <a:t>7. ‌</a:t>
            </a:r>
            <a:r>
              <a:rPr lang="zh-CN" altLang="en-US" sz="2800" b="1" dirty="0">
                <a:solidFill>
                  <a:srgbClr val="333333"/>
                </a:solidFill>
                <a:latin typeface="PingFang SC"/>
              </a:rPr>
              <a:t>监控与动态调整</a:t>
            </a:r>
            <a:endParaRPr lang="en-US" altLang="zh-CN" sz="2800" b="1" dirty="0">
              <a:solidFill>
                <a:srgbClr val="333333"/>
              </a:solidFill>
              <a:latin typeface="PingFang SC"/>
            </a:endParaRPr>
          </a:p>
          <a:p>
            <a:pPr>
              <a:buFont typeface="Arial" panose="020B0604020202020204" pitchFamily="34" charset="0"/>
              <a:buChar char="•"/>
            </a:pPr>
            <a:r>
              <a:rPr lang="zh-CN" altLang="en-US" sz="2800" dirty="0">
                <a:solidFill>
                  <a:srgbClr val="333333"/>
                </a:solidFill>
                <a:latin typeface="PingFang SC"/>
              </a:rPr>
              <a:t>‌</a:t>
            </a:r>
            <a:r>
              <a:rPr lang="zh-CN" altLang="en-US" sz="2800" b="1" dirty="0">
                <a:solidFill>
                  <a:srgbClr val="333333"/>
                </a:solidFill>
                <a:latin typeface="PingFang SC"/>
              </a:rPr>
              <a:t>执行过程</a:t>
            </a:r>
            <a:r>
              <a:rPr lang="zh-CN" altLang="en-US" sz="2800" dirty="0">
                <a:solidFill>
                  <a:srgbClr val="333333"/>
                </a:solidFill>
                <a:latin typeface="PingFang SC"/>
              </a:rPr>
              <a:t>‌：</a:t>
            </a:r>
          </a:p>
          <a:p>
            <a:pPr marL="742950" lvl="1" indent="-285750">
              <a:buFont typeface="Arial" panose="020B0604020202020204" pitchFamily="34" charset="0"/>
              <a:buChar char="•"/>
            </a:pPr>
            <a:r>
              <a:rPr lang="zh-CN" altLang="en-US" sz="2800" dirty="0">
                <a:solidFill>
                  <a:srgbClr val="333333"/>
                </a:solidFill>
                <a:latin typeface="PingFang SC"/>
              </a:rPr>
              <a:t>每月召开进度评审会，比对实际进度与计划（如开发进度延迟</a:t>
            </a:r>
            <a:r>
              <a:rPr lang="en-US" altLang="zh-CN" sz="2800" dirty="0">
                <a:solidFill>
                  <a:srgbClr val="333333"/>
                </a:solidFill>
                <a:latin typeface="PingFang SC"/>
              </a:rPr>
              <a:t>10% → </a:t>
            </a:r>
            <a:r>
              <a:rPr lang="zh-CN" altLang="en-US" sz="2800" dirty="0">
                <a:solidFill>
                  <a:srgbClr val="333333"/>
                </a:solidFill>
                <a:latin typeface="PingFang SC"/>
              </a:rPr>
              <a:t>追加资源）。</a:t>
            </a:r>
            <a:endParaRPr lang="en-US" altLang="zh-CN" sz="2800" dirty="0">
              <a:solidFill>
                <a:srgbClr val="333333"/>
              </a:solidFill>
              <a:latin typeface="PingFang SC"/>
            </a:endParaRPr>
          </a:p>
          <a:p>
            <a:pPr marL="742950" lvl="1" indent="-285750">
              <a:buFont typeface="Arial" panose="020B0604020202020204" pitchFamily="34" charset="0"/>
              <a:buChar char="•"/>
            </a:pPr>
            <a:endParaRPr lang="zh-CN" altLang="en-US" sz="2800" dirty="0">
              <a:solidFill>
                <a:srgbClr val="333333"/>
              </a:solidFill>
              <a:latin typeface="PingFang SC"/>
            </a:endParaRPr>
          </a:p>
          <a:p>
            <a:pPr>
              <a:buFont typeface="Arial" panose="020B0604020202020204" pitchFamily="34" charset="0"/>
              <a:buChar char="•"/>
            </a:pPr>
            <a:r>
              <a:rPr lang="zh-CN" altLang="en-US" sz="2800" dirty="0">
                <a:solidFill>
                  <a:srgbClr val="333333"/>
                </a:solidFill>
                <a:latin typeface="PingFang SC"/>
              </a:rPr>
              <a:t>‌</a:t>
            </a:r>
            <a:r>
              <a:rPr lang="zh-CN" altLang="en-US" sz="2800" b="1" dirty="0">
                <a:solidFill>
                  <a:srgbClr val="333333"/>
                </a:solidFill>
                <a:latin typeface="PingFang SC"/>
              </a:rPr>
              <a:t>目标修正</a:t>
            </a:r>
            <a:r>
              <a:rPr lang="zh-CN" altLang="en-US" sz="2800" dirty="0">
                <a:solidFill>
                  <a:srgbClr val="333333"/>
                </a:solidFill>
                <a:latin typeface="PingFang SC"/>
              </a:rPr>
              <a:t>‌：</a:t>
            </a:r>
          </a:p>
          <a:p>
            <a:pPr marL="742950" lvl="1" indent="-285750">
              <a:buFont typeface="Arial" panose="020B0604020202020204" pitchFamily="34" charset="0"/>
              <a:buChar char="•"/>
            </a:pPr>
            <a:r>
              <a:rPr lang="zh-CN" altLang="en-US" sz="2800" dirty="0">
                <a:solidFill>
                  <a:srgbClr val="333333"/>
                </a:solidFill>
                <a:latin typeface="PingFang SC"/>
              </a:rPr>
              <a:t>客户临时新增“多语言支持”需求 → 评估后纳入二期开发，不影响一期目标‌。</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174840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p:txBody>
          <a:bodyPr/>
          <a:lstStyle/>
          <a:p>
            <a:r>
              <a:rPr lang="en-US" altLang="zh-CN" dirty="0"/>
              <a:t>4.1  </a:t>
            </a:r>
            <a:r>
              <a:rPr lang="zh-CN" altLang="zh-CN" dirty="0"/>
              <a:t>项目</a:t>
            </a:r>
            <a:r>
              <a:rPr lang="zh-CN" altLang="en-US" dirty="0"/>
              <a:t>管理目标</a:t>
            </a:r>
            <a:endParaRPr lang="zh-CN" altLang="zh-CN" dirty="0"/>
          </a:p>
        </p:txBody>
      </p:sp>
      <p:sp>
        <p:nvSpPr>
          <p:cNvPr id="2" name="矩形 1">
            <a:extLst>
              <a:ext uri="{FF2B5EF4-FFF2-40B4-BE49-F238E27FC236}">
                <a16:creationId xmlns:a16="http://schemas.microsoft.com/office/drawing/2014/main" id="{56C447A9-3CDC-4CE1-A397-667280D68A5D}"/>
              </a:ext>
            </a:extLst>
          </p:cNvPr>
          <p:cNvSpPr/>
          <p:nvPr/>
        </p:nvSpPr>
        <p:spPr>
          <a:xfrm>
            <a:off x="0" y="1556792"/>
            <a:ext cx="8820472" cy="2862322"/>
          </a:xfrm>
          <a:prstGeom prst="rect">
            <a:avLst/>
          </a:prstGeom>
        </p:spPr>
        <p:txBody>
          <a:bodyPr wrap="square">
            <a:spAutoFit/>
          </a:bodyPr>
          <a:lstStyle/>
          <a:p>
            <a:pPr marL="571500" indent="-571500">
              <a:buFont typeface="Arial" panose="020B0604020202020204" pitchFamily="34" charset="0"/>
              <a:buChar char="•"/>
            </a:pPr>
            <a:r>
              <a:rPr lang="zh-CN" altLang="en-US" sz="3600" dirty="0"/>
              <a:t>一、项目管理目标的内涵</a:t>
            </a:r>
            <a:endParaRPr lang="en-US" altLang="zh-CN" sz="3600" dirty="0"/>
          </a:p>
          <a:p>
            <a:pPr marL="571500" indent="-571500">
              <a:buFont typeface="Arial" panose="020B0604020202020204" pitchFamily="34" charset="0"/>
              <a:buChar char="•"/>
            </a:pPr>
            <a:r>
              <a:rPr lang="zh-CN" altLang="en-US" sz="3600" dirty="0"/>
              <a:t>项目管理目标是将项目需求中的所有要求都完成。</a:t>
            </a:r>
            <a:endParaRPr lang="en-US" altLang="zh-CN" sz="3600" dirty="0"/>
          </a:p>
          <a:p>
            <a:pPr marL="571500" indent="-571500">
              <a:buFont typeface="Arial" panose="020B0604020202020204" pitchFamily="34" charset="0"/>
              <a:buChar char="•"/>
            </a:pPr>
            <a:r>
              <a:rPr lang="zh-CN" altLang="en-US" sz="3600" dirty="0"/>
              <a:t>项目管理的五大目标是：项目的质量、进度、成本、范围和风险‌。</a:t>
            </a:r>
            <a:endParaRPr lang="zh-CN" altLang="zh-CN" sz="3600" b="1" dirty="0">
              <a:solidFill>
                <a:srgbClr val="0070C0"/>
              </a:solidFill>
            </a:endParaRPr>
          </a:p>
        </p:txBody>
      </p:sp>
    </p:spTree>
    <p:extLst>
      <p:ext uri="{BB962C8B-B14F-4D97-AF65-F5344CB8AC3E}">
        <p14:creationId xmlns:p14="http://schemas.microsoft.com/office/powerpoint/2010/main" val="3074086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4B75658-A9BC-4BA9-8DED-BD9FE6347F04}"/>
              </a:ext>
            </a:extLst>
          </p:cNvPr>
          <p:cNvSpPr/>
          <p:nvPr/>
        </p:nvSpPr>
        <p:spPr>
          <a:xfrm>
            <a:off x="287016" y="980728"/>
            <a:ext cx="8856984" cy="5509200"/>
          </a:xfrm>
          <a:prstGeom prst="rect">
            <a:avLst/>
          </a:prstGeom>
        </p:spPr>
        <p:txBody>
          <a:bodyPr wrap="square">
            <a:spAutoFit/>
          </a:bodyPr>
          <a:lstStyle/>
          <a:p>
            <a:endParaRPr lang="zh-CN" altLang="en-US" sz="3200" dirty="0"/>
          </a:p>
          <a:p>
            <a:r>
              <a:rPr lang="zh-CN" altLang="en-US" sz="3200" dirty="0"/>
              <a:t>‌</a:t>
            </a:r>
            <a:r>
              <a:rPr lang="zh-CN" altLang="en-US" sz="3200" b="1" dirty="0"/>
              <a:t>质量目标</a:t>
            </a:r>
            <a:r>
              <a:rPr lang="zh-CN" altLang="en-US" sz="3200" dirty="0"/>
              <a:t>‌：确保项目交付物的质量满足或超出项目利益相关方的要求。</a:t>
            </a:r>
          </a:p>
          <a:p>
            <a:r>
              <a:rPr lang="zh-CN" altLang="en-US" sz="3200" dirty="0"/>
              <a:t>‌</a:t>
            </a:r>
            <a:r>
              <a:rPr lang="zh-CN" altLang="en-US" sz="3200" b="1" dirty="0"/>
              <a:t>进度目标</a:t>
            </a:r>
            <a:r>
              <a:rPr lang="zh-CN" altLang="en-US" sz="3200" dirty="0"/>
              <a:t>‌：确保项目在规定的时间内完成。</a:t>
            </a:r>
          </a:p>
          <a:p>
            <a:r>
              <a:rPr lang="zh-CN" altLang="en-US" sz="3200" dirty="0"/>
              <a:t>‌</a:t>
            </a:r>
            <a:r>
              <a:rPr lang="zh-CN" altLang="en-US" sz="3200" b="1" dirty="0"/>
              <a:t>成本目标</a:t>
            </a:r>
            <a:r>
              <a:rPr lang="zh-CN" altLang="en-US" sz="3200" dirty="0"/>
              <a:t>‌：确保项目的成本控制在预算范围内‌。</a:t>
            </a:r>
          </a:p>
          <a:p>
            <a:r>
              <a:rPr lang="zh-CN" altLang="en-US" sz="3200" dirty="0"/>
              <a:t>‌</a:t>
            </a:r>
            <a:r>
              <a:rPr lang="zh-CN" altLang="en-US" sz="3200" b="1" dirty="0"/>
              <a:t>范围目标</a:t>
            </a:r>
            <a:r>
              <a:rPr lang="zh-CN" altLang="en-US" sz="3200" dirty="0"/>
              <a:t>‌：确保项目交付物的内容和功能满足项目利益相关方的需求和期望‌。</a:t>
            </a:r>
          </a:p>
          <a:p>
            <a:r>
              <a:rPr lang="zh-CN" altLang="en-US" sz="3200" dirty="0"/>
              <a:t>‌</a:t>
            </a:r>
            <a:r>
              <a:rPr lang="zh-CN" altLang="en-US" sz="3200" b="1" dirty="0"/>
              <a:t>风险目标</a:t>
            </a:r>
            <a:r>
              <a:rPr lang="zh-CN" altLang="en-US" sz="3200" dirty="0"/>
              <a:t>‌：确保项目在面临各种风险时能够做出相应的应对措施，保证项目的成功‌。</a:t>
            </a:r>
            <a:br>
              <a:rPr lang="zh-CN" altLang="en-US" sz="3200" dirty="0"/>
            </a:br>
            <a:endParaRPr lang="en-US" altLang="zh-CN" sz="3200" dirty="0"/>
          </a:p>
          <a:p>
            <a:pPr marL="571500" indent="-571500">
              <a:buFont typeface="Arial" panose="020B0604020202020204" pitchFamily="34" charset="0"/>
              <a:buChar char="•"/>
            </a:pPr>
            <a:endParaRPr lang="en-US" altLang="zh-CN" sz="3200" b="1" dirty="0">
              <a:solidFill>
                <a:srgbClr val="0070C0"/>
              </a:solidFill>
            </a:endParaRPr>
          </a:p>
        </p:txBody>
      </p:sp>
    </p:spTree>
    <p:extLst>
      <p:ext uri="{BB962C8B-B14F-4D97-AF65-F5344CB8AC3E}">
        <p14:creationId xmlns:p14="http://schemas.microsoft.com/office/powerpoint/2010/main" val="3633679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1CA08CF-8ECC-4F6C-8E31-BEFEFC8EB580}"/>
              </a:ext>
            </a:extLst>
          </p:cNvPr>
          <p:cNvSpPr/>
          <p:nvPr/>
        </p:nvSpPr>
        <p:spPr>
          <a:xfrm>
            <a:off x="611560" y="1844824"/>
            <a:ext cx="7776864" cy="3170099"/>
          </a:xfrm>
          <a:prstGeom prst="rect">
            <a:avLst/>
          </a:prstGeom>
        </p:spPr>
        <p:txBody>
          <a:bodyPr wrap="square">
            <a:spAutoFit/>
          </a:bodyPr>
          <a:lstStyle/>
          <a:p>
            <a:pPr algn="just"/>
            <a:r>
              <a:rPr lang="zh-CN" altLang="en-US" sz="4000" b="1" dirty="0">
                <a:latin typeface="-apple-system"/>
              </a:rPr>
              <a:t>二、项目管理目标的特点</a:t>
            </a:r>
            <a:endParaRPr lang="en-US" altLang="zh-CN" sz="4000" b="1" dirty="0">
              <a:latin typeface="-apple-system"/>
            </a:endParaRPr>
          </a:p>
          <a:p>
            <a:pPr marL="514350" indent="-514350" algn="just">
              <a:buFont typeface="+mj-lt"/>
              <a:buAutoNum type="arabicPeriod"/>
            </a:pPr>
            <a:r>
              <a:rPr lang="zh-CN" altLang="en-US" sz="3200" b="1" dirty="0">
                <a:solidFill>
                  <a:srgbClr val="7030A0"/>
                </a:solidFill>
                <a:latin typeface="-apple-system"/>
              </a:rPr>
              <a:t>项目管理目标的明确性</a:t>
            </a:r>
            <a:endParaRPr lang="en-US" altLang="zh-CN" sz="3200" b="1" dirty="0">
              <a:solidFill>
                <a:srgbClr val="7030A0"/>
              </a:solidFill>
              <a:latin typeface="-apple-system"/>
            </a:endParaRPr>
          </a:p>
          <a:p>
            <a:pPr marL="514350" indent="-514350" algn="just">
              <a:buFont typeface="+mj-lt"/>
              <a:buAutoNum type="arabicPeriod"/>
            </a:pPr>
            <a:r>
              <a:rPr lang="zh-CN" altLang="en-US" sz="3200" b="1" dirty="0">
                <a:solidFill>
                  <a:srgbClr val="7030A0"/>
                </a:solidFill>
                <a:latin typeface="-apple-system"/>
              </a:rPr>
              <a:t>项目管理目标的多阶段性</a:t>
            </a:r>
            <a:endParaRPr lang="en-US" altLang="zh-CN" sz="3200" b="1" dirty="0">
              <a:solidFill>
                <a:srgbClr val="7030A0"/>
              </a:solidFill>
              <a:latin typeface="-apple-system"/>
            </a:endParaRPr>
          </a:p>
          <a:p>
            <a:pPr marL="514350" indent="-514350" algn="just">
              <a:buFont typeface="+mj-lt"/>
              <a:buAutoNum type="arabicPeriod"/>
            </a:pPr>
            <a:r>
              <a:rPr lang="zh-CN" altLang="en-US" sz="3200" b="1" dirty="0">
                <a:solidFill>
                  <a:srgbClr val="7030A0"/>
                </a:solidFill>
                <a:latin typeface="-apple-system"/>
              </a:rPr>
              <a:t>项目管理目标的统一性</a:t>
            </a:r>
            <a:endParaRPr lang="en-US" altLang="zh-CN" sz="3200" b="1" dirty="0">
              <a:solidFill>
                <a:srgbClr val="7030A0"/>
              </a:solidFill>
              <a:latin typeface="-apple-system"/>
            </a:endParaRPr>
          </a:p>
          <a:p>
            <a:pPr marL="514350" indent="-514350" algn="just">
              <a:buFont typeface="+mj-lt"/>
              <a:buAutoNum type="arabicPeriod"/>
            </a:pPr>
            <a:r>
              <a:rPr lang="zh-CN" altLang="en-US" sz="3200" b="1" dirty="0">
                <a:solidFill>
                  <a:srgbClr val="7030A0"/>
                </a:solidFill>
                <a:latin typeface="-apple-system"/>
              </a:rPr>
              <a:t>项目管理目标的冲突性</a:t>
            </a:r>
            <a:endParaRPr lang="en-US" altLang="zh-CN" sz="3200" b="1" dirty="0">
              <a:solidFill>
                <a:srgbClr val="7030A0"/>
              </a:solidFill>
              <a:latin typeface="-apple-system"/>
            </a:endParaRPr>
          </a:p>
          <a:p>
            <a:pPr marL="514350" indent="-514350" algn="just">
              <a:buFont typeface="+mj-lt"/>
              <a:buAutoNum type="arabicPeriod"/>
            </a:pPr>
            <a:r>
              <a:rPr lang="zh-CN" altLang="en-US" sz="3200" b="1" dirty="0">
                <a:solidFill>
                  <a:srgbClr val="7030A0"/>
                </a:solidFill>
                <a:latin typeface="-apple-system"/>
              </a:rPr>
              <a:t>项目管理目标的层次性</a:t>
            </a:r>
          </a:p>
        </p:txBody>
      </p:sp>
    </p:spTree>
    <p:extLst>
      <p:ext uri="{BB962C8B-B14F-4D97-AF65-F5344CB8AC3E}">
        <p14:creationId xmlns:p14="http://schemas.microsoft.com/office/powerpoint/2010/main" val="295027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1CA08CF-8ECC-4F6C-8E31-BEFEFC8EB580}"/>
              </a:ext>
            </a:extLst>
          </p:cNvPr>
          <p:cNvSpPr/>
          <p:nvPr/>
        </p:nvSpPr>
        <p:spPr>
          <a:xfrm>
            <a:off x="611560" y="1844824"/>
            <a:ext cx="7776864" cy="5139869"/>
          </a:xfrm>
          <a:prstGeom prst="rect">
            <a:avLst/>
          </a:prstGeom>
        </p:spPr>
        <p:txBody>
          <a:bodyPr wrap="square">
            <a:spAutoFit/>
          </a:bodyPr>
          <a:lstStyle/>
          <a:p>
            <a:pPr algn="just"/>
            <a:r>
              <a:rPr lang="zh-CN" altLang="en-US" sz="4000" b="1" dirty="0">
                <a:latin typeface="-apple-system"/>
              </a:rPr>
              <a:t>第</a:t>
            </a:r>
            <a:r>
              <a:rPr lang="en-US" altLang="zh-CN" sz="4000" b="1" dirty="0">
                <a:latin typeface="-apple-system"/>
              </a:rPr>
              <a:t>5</a:t>
            </a:r>
            <a:r>
              <a:rPr lang="zh-CN" altLang="en-US" sz="4000" b="1" dirty="0">
                <a:latin typeface="-apple-system"/>
              </a:rPr>
              <a:t>章、项目范围管理</a:t>
            </a:r>
            <a:endParaRPr lang="en-US" altLang="zh-CN" sz="4000" b="1" dirty="0">
              <a:latin typeface="-apple-system"/>
            </a:endParaRPr>
          </a:p>
          <a:p>
            <a:pPr algn="just"/>
            <a:r>
              <a:rPr lang="en-US" altLang="zh-CN" sz="3200" b="1" dirty="0">
                <a:solidFill>
                  <a:srgbClr val="7030A0"/>
                </a:solidFill>
                <a:latin typeface="-apple-system"/>
              </a:rPr>
              <a:t>5.1 </a:t>
            </a:r>
            <a:r>
              <a:rPr lang="zh-CN" altLang="en-US" sz="3200" b="1" dirty="0">
                <a:solidFill>
                  <a:srgbClr val="7030A0"/>
                </a:solidFill>
                <a:latin typeface="-apple-system"/>
              </a:rPr>
              <a:t>项目范围与项目范围管理概念</a:t>
            </a:r>
            <a:endParaRPr lang="en-US" altLang="zh-CN" sz="3200" b="1" dirty="0">
              <a:solidFill>
                <a:srgbClr val="7030A0"/>
              </a:solidFill>
              <a:latin typeface="-apple-system"/>
            </a:endParaRPr>
          </a:p>
          <a:p>
            <a:pPr algn="just"/>
            <a:r>
              <a:rPr lang="zh-CN" altLang="en-US" sz="3200" b="1" dirty="0">
                <a:solidFill>
                  <a:srgbClr val="7030A0"/>
                </a:solidFill>
                <a:latin typeface="-apple-system"/>
              </a:rPr>
              <a:t>一、项目范围</a:t>
            </a:r>
            <a:endParaRPr lang="en-US" altLang="zh-CN" sz="3200" b="1" dirty="0">
              <a:solidFill>
                <a:srgbClr val="7030A0"/>
              </a:solidFill>
              <a:latin typeface="-apple-system"/>
            </a:endParaRPr>
          </a:p>
          <a:p>
            <a:pPr algn="just"/>
            <a:endParaRPr lang="en-US" altLang="zh-CN" sz="3200" b="1" dirty="0">
              <a:solidFill>
                <a:srgbClr val="7030A0"/>
              </a:solidFill>
              <a:latin typeface="-apple-system"/>
            </a:endParaRPr>
          </a:p>
          <a:p>
            <a:pPr algn="just"/>
            <a:r>
              <a:rPr lang="zh-CN" altLang="en-US" sz="3200" dirty="0"/>
              <a:t>项目范围是指在项目中需要完成的工作和任务，以及这些工作和任务的边界和限制。项目范围定义了项目目标和主要可交付成果，明确了项目需要做什么，以及不需要做什么。</a:t>
            </a:r>
            <a:endParaRPr lang="en-US" altLang="zh-CN" sz="3200" b="1" dirty="0">
              <a:solidFill>
                <a:srgbClr val="7030A0"/>
              </a:solidFill>
              <a:latin typeface="-apple-system"/>
            </a:endParaRPr>
          </a:p>
          <a:p>
            <a:pPr algn="just"/>
            <a:endParaRPr lang="zh-CN" altLang="en-US" sz="3200" b="1" dirty="0">
              <a:solidFill>
                <a:srgbClr val="7030A0"/>
              </a:solidFill>
              <a:latin typeface="-apple-system"/>
            </a:endParaRPr>
          </a:p>
        </p:txBody>
      </p:sp>
    </p:spTree>
    <p:extLst>
      <p:ext uri="{BB962C8B-B14F-4D97-AF65-F5344CB8AC3E}">
        <p14:creationId xmlns:p14="http://schemas.microsoft.com/office/powerpoint/2010/main" val="3328345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E00A240-7887-41FB-A38C-A38006EE3A58}"/>
              </a:ext>
            </a:extLst>
          </p:cNvPr>
          <p:cNvSpPr/>
          <p:nvPr/>
        </p:nvSpPr>
        <p:spPr>
          <a:xfrm>
            <a:off x="755576" y="1556792"/>
            <a:ext cx="7560840" cy="4031873"/>
          </a:xfrm>
          <a:prstGeom prst="rect">
            <a:avLst/>
          </a:prstGeom>
        </p:spPr>
        <p:txBody>
          <a:bodyPr wrap="square">
            <a:spAutoFit/>
          </a:bodyPr>
          <a:lstStyle/>
          <a:p>
            <a:r>
              <a:rPr lang="zh-CN" altLang="en-US" sz="3200" dirty="0">
                <a:solidFill>
                  <a:srgbClr val="333333"/>
                </a:solidFill>
                <a:latin typeface="PingFang SC"/>
              </a:rPr>
              <a:t>二、项目范围管理</a:t>
            </a:r>
            <a:endParaRPr lang="en-US" altLang="zh-CN" sz="3200" dirty="0">
              <a:solidFill>
                <a:srgbClr val="333333"/>
              </a:solidFill>
              <a:latin typeface="PingFang SC"/>
            </a:endParaRPr>
          </a:p>
          <a:p>
            <a:endParaRPr lang="en-US" altLang="zh-CN" sz="3200" dirty="0">
              <a:solidFill>
                <a:srgbClr val="333333"/>
              </a:solidFill>
              <a:latin typeface="PingFang SC"/>
            </a:endParaRPr>
          </a:p>
          <a:p>
            <a:r>
              <a:rPr lang="en-US" altLang="zh-CN" sz="3200" dirty="0">
                <a:solidFill>
                  <a:srgbClr val="333333"/>
                </a:solidFill>
                <a:latin typeface="PingFang SC"/>
              </a:rPr>
              <a:t>——</a:t>
            </a:r>
            <a:r>
              <a:rPr lang="zh-CN" altLang="en-US" sz="3200" dirty="0">
                <a:solidFill>
                  <a:srgbClr val="333333"/>
                </a:solidFill>
                <a:latin typeface="PingFang SC"/>
              </a:rPr>
              <a:t>是指在项目生命周期中通过规划、定义、控制、确认和终止等过程来确保项目范围得到正确管理和控制的一系列活动和过程。项目范围管理的目标是确保项目能够按时、按预算和按要求交付预期的可交付成果，同时避免范围蔓延和范围遗漏。</a:t>
            </a:r>
            <a:endParaRPr lang="zh-CN" altLang="en-US" sz="3200" dirty="0"/>
          </a:p>
        </p:txBody>
      </p:sp>
    </p:spTree>
    <p:extLst>
      <p:ext uri="{BB962C8B-B14F-4D97-AF65-F5344CB8AC3E}">
        <p14:creationId xmlns:p14="http://schemas.microsoft.com/office/powerpoint/2010/main" val="18683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AB80C2F-192B-4D45-B6F9-9DAC2969CE37}"/>
              </a:ext>
            </a:extLst>
          </p:cNvPr>
          <p:cNvSpPr/>
          <p:nvPr/>
        </p:nvSpPr>
        <p:spPr>
          <a:xfrm>
            <a:off x="179512" y="366623"/>
            <a:ext cx="8964488" cy="6186309"/>
          </a:xfrm>
          <a:prstGeom prst="rect">
            <a:avLst/>
          </a:prstGeom>
        </p:spPr>
        <p:txBody>
          <a:bodyPr wrap="square">
            <a:spAutoFit/>
          </a:bodyPr>
          <a:lstStyle/>
          <a:p>
            <a:pPr algn="ctr"/>
            <a:r>
              <a:rPr lang="en-US" altLang="zh-CN" sz="3200" b="1" dirty="0">
                <a:solidFill>
                  <a:srgbClr val="002060"/>
                </a:solidFill>
                <a:latin typeface="PingFang SC"/>
              </a:rPr>
              <a:t>5.2 </a:t>
            </a:r>
            <a:r>
              <a:rPr lang="zh-CN" altLang="en-US" sz="3200" b="1" dirty="0">
                <a:solidFill>
                  <a:srgbClr val="002060"/>
                </a:solidFill>
                <a:latin typeface="PingFang SC"/>
              </a:rPr>
              <a:t>确定项目范围</a:t>
            </a:r>
            <a:endParaRPr lang="en-US" altLang="zh-CN" sz="3200" b="1" dirty="0">
              <a:solidFill>
                <a:srgbClr val="002060"/>
              </a:solidFill>
              <a:latin typeface="PingFang SC"/>
            </a:endParaRPr>
          </a:p>
          <a:p>
            <a:r>
              <a:rPr lang="zh-CN" altLang="en-US" sz="2800" dirty="0">
                <a:solidFill>
                  <a:srgbClr val="333333"/>
                </a:solidFill>
                <a:latin typeface="PingFang SC"/>
              </a:rPr>
              <a:t>项目范围管理的主要过程包括：</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范围规划</a:t>
            </a:r>
            <a:r>
              <a:rPr lang="zh-CN" altLang="en-US" sz="2800" dirty="0">
                <a:solidFill>
                  <a:srgbClr val="333333"/>
                </a:solidFill>
                <a:latin typeface="PingFang SC"/>
              </a:rPr>
              <a:t>‌：制定项目范围管理计划，明确如何定义、确认和控制项目范围。</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范围定义</a:t>
            </a:r>
            <a:r>
              <a:rPr lang="zh-CN" altLang="en-US" sz="2800" dirty="0">
                <a:solidFill>
                  <a:srgbClr val="333333"/>
                </a:solidFill>
                <a:latin typeface="PingFang SC"/>
              </a:rPr>
              <a:t>‌：创建项目范围说明书，详细描述项目的可交付成果及其边界。</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创建工作分解结构（</a:t>
            </a:r>
            <a:r>
              <a:rPr lang="en-US" altLang="zh-CN" sz="2800" b="1" dirty="0">
                <a:solidFill>
                  <a:srgbClr val="333333"/>
                </a:solidFill>
                <a:latin typeface="PingFang SC"/>
              </a:rPr>
              <a:t>WBS</a:t>
            </a:r>
            <a:r>
              <a:rPr lang="zh-CN" altLang="en-US" sz="2800" b="1" dirty="0">
                <a:solidFill>
                  <a:srgbClr val="333333"/>
                </a:solidFill>
                <a:latin typeface="PingFang SC"/>
              </a:rPr>
              <a:t>）</a:t>
            </a:r>
            <a:r>
              <a:rPr lang="zh-CN" altLang="en-US" sz="2800" dirty="0">
                <a:solidFill>
                  <a:srgbClr val="333333"/>
                </a:solidFill>
                <a:latin typeface="PingFang SC"/>
              </a:rPr>
              <a:t>‌：将项目可交付成果分解为更小、更易管理的任务和工作包。</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范围确认</a:t>
            </a:r>
            <a:r>
              <a:rPr lang="zh-CN" altLang="en-US" sz="2800" dirty="0">
                <a:solidFill>
                  <a:srgbClr val="333333"/>
                </a:solidFill>
                <a:latin typeface="PingFang SC"/>
              </a:rPr>
              <a:t>‌：与客户或利益相关者确认项目范围和可交付成果，确保双方对项目要求有共同的理解。</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范围控制</a:t>
            </a:r>
            <a:r>
              <a:rPr lang="zh-CN" altLang="en-US" sz="2800" dirty="0">
                <a:solidFill>
                  <a:srgbClr val="333333"/>
                </a:solidFill>
                <a:latin typeface="PingFang SC"/>
              </a:rPr>
              <a:t>‌：监控项目范围的状态，管理范围变更，确保变更得到适当处理和记录。</a:t>
            </a:r>
          </a:p>
          <a:p>
            <a:r>
              <a:rPr lang="zh-CN" altLang="en-US" sz="2800" dirty="0">
                <a:solidFill>
                  <a:srgbClr val="333333"/>
                </a:solidFill>
                <a:latin typeface="PingFang SC"/>
              </a:rPr>
              <a:t>通过有效的项目范围管理，项目团队可以更好地控制项目进度、成本和资源，确保项目成功完成。</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3553961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1088C24-B1B2-49E7-9224-C357F9768DCA}"/>
              </a:ext>
            </a:extLst>
          </p:cNvPr>
          <p:cNvSpPr/>
          <p:nvPr/>
        </p:nvSpPr>
        <p:spPr>
          <a:xfrm>
            <a:off x="251520" y="476672"/>
            <a:ext cx="8784976" cy="5693866"/>
          </a:xfrm>
          <a:prstGeom prst="rect">
            <a:avLst/>
          </a:prstGeom>
        </p:spPr>
        <p:txBody>
          <a:bodyPr wrap="square">
            <a:spAutoFit/>
          </a:bodyPr>
          <a:lstStyle/>
          <a:p>
            <a:pPr algn="ctr"/>
            <a:r>
              <a:rPr lang="en-US" altLang="zh-CN" sz="2800" b="1" dirty="0">
                <a:solidFill>
                  <a:srgbClr val="002060"/>
                </a:solidFill>
                <a:latin typeface="PingFang SC"/>
              </a:rPr>
              <a:t>5.3 </a:t>
            </a:r>
            <a:r>
              <a:rPr lang="zh-CN" altLang="en-US" sz="2800" b="1" dirty="0">
                <a:solidFill>
                  <a:srgbClr val="002060"/>
                </a:solidFill>
                <a:latin typeface="PingFang SC"/>
              </a:rPr>
              <a:t>项目工作分解结构</a:t>
            </a:r>
            <a:endParaRPr lang="en-US" altLang="zh-CN" sz="2800" b="1" dirty="0">
              <a:solidFill>
                <a:srgbClr val="002060"/>
              </a:solidFill>
              <a:latin typeface="PingFang SC"/>
            </a:endParaRPr>
          </a:p>
          <a:p>
            <a:r>
              <a:rPr lang="zh-CN" altLang="en-US" sz="2800" b="1" dirty="0">
                <a:solidFill>
                  <a:srgbClr val="333333"/>
                </a:solidFill>
                <a:latin typeface="PingFang SC"/>
              </a:rPr>
              <a:t>一、定义‌</a:t>
            </a:r>
          </a:p>
          <a:p>
            <a:r>
              <a:rPr lang="zh-CN" altLang="en-US" sz="2800" dirty="0">
                <a:solidFill>
                  <a:srgbClr val="333333"/>
                </a:solidFill>
                <a:latin typeface="PingFang SC"/>
              </a:rPr>
              <a:t>‌</a:t>
            </a:r>
            <a:r>
              <a:rPr lang="zh-CN" altLang="en-US" sz="2800" b="1" dirty="0">
                <a:solidFill>
                  <a:srgbClr val="333333"/>
                </a:solidFill>
                <a:latin typeface="PingFang SC"/>
              </a:rPr>
              <a:t>项目工作分解结构（</a:t>
            </a:r>
            <a:r>
              <a:rPr lang="en-US" altLang="zh-CN" sz="2800" b="1" dirty="0">
                <a:solidFill>
                  <a:srgbClr val="333333"/>
                </a:solidFill>
                <a:latin typeface="PingFang SC"/>
              </a:rPr>
              <a:t>WBS</a:t>
            </a:r>
            <a:r>
              <a:rPr lang="zh-CN" altLang="en-US" sz="2800" b="1" dirty="0">
                <a:solidFill>
                  <a:srgbClr val="333333"/>
                </a:solidFill>
                <a:latin typeface="PingFang SC"/>
              </a:rPr>
              <a:t>）</a:t>
            </a:r>
            <a:r>
              <a:rPr lang="zh-CN" altLang="en-US" sz="2800" dirty="0">
                <a:solidFill>
                  <a:srgbClr val="333333"/>
                </a:solidFill>
                <a:latin typeface="PingFang SC"/>
              </a:rPr>
              <a:t>‌是一种以可交付成果为导向的层次化树状结构，通过将项目整体任务逐层分解为更小、更易管理的单元（如任务、工作包或活动），从而明确项目的全部工作范围和边界‌。</a:t>
            </a:r>
            <a:endParaRPr lang="en-US" altLang="zh-CN" sz="2800" dirty="0">
              <a:solidFill>
                <a:srgbClr val="333333"/>
              </a:solidFill>
              <a:latin typeface="PingFang SC"/>
            </a:endParaRPr>
          </a:p>
          <a:p>
            <a:r>
              <a:rPr lang="zh-CN" altLang="en-US" sz="2800" dirty="0">
                <a:solidFill>
                  <a:srgbClr val="002060"/>
                </a:solidFill>
                <a:latin typeface="PingFang SC"/>
              </a:rPr>
              <a:t>其核心特征包括：</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可交付成果导向</a:t>
            </a:r>
            <a:r>
              <a:rPr lang="zh-CN" altLang="en-US" sz="2800" dirty="0">
                <a:solidFill>
                  <a:srgbClr val="333333"/>
                </a:solidFill>
                <a:latin typeface="PingFang SC"/>
              </a:rPr>
              <a:t>‌：以最终产出物为目标，分解所有必要的工作内容‌。</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层级递进</a:t>
            </a:r>
            <a:r>
              <a:rPr lang="zh-CN" altLang="en-US" sz="2800" dirty="0">
                <a:solidFill>
                  <a:srgbClr val="333333"/>
                </a:solidFill>
                <a:latin typeface="PingFang SC"/>
              </a:rPr>
              <a:t>‌：从项目总目标逐层细化，每下降一级代表更详细的工作定义‌。</a:t>
            </a:r>
          </a:p>
          <a:p>
            <a:pPr>
              <a:buFont typeface="+mj-lt"/>
              <a:buAutoNum type="arabicPeriod"/>
            </a:pPr>
            <a:r>
              <a:rPr lang="zh-CN" altLang="en-US" sz="2800" dirty="0">
                <a:solidFill>
                  <a:srgbClr val="333333"/>
                </a:solidFill>
                <a:latin typeface="PingFang SC"/>
              </a:rPr>
              <a:t>‌</a:t>
            </a:r>
            <a:r>
              <a:rPr lang="zh-CN" altLang="en-US" sz="2800" b="1" dirty="0">
                <a:solidFill>
                  <a:srgbClr val="333333"/>
                </a:solidFill>
                <a:latin typeface="PingFang SC"/>
              </a:rPr>
              <a:t>全面覆盖</a:t>
            </a:r>
            <a:r>
              <a:rPr lang="zh-CN" altLang="en-US" sz="2800" dirty="0">
                <a:solidFill>
                  <a:srgbClr val="333333"/>
                </a:solidFill>
                <a:latin typeface="PingFang SC"/>
              </a:rPr>
              <a:t>‌：底层工作包涵盖所有需完成的任务，确保无遗漏‌。</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3700515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13D0617-3302-4039-9753-AB0994F7FC62}"/>
              </a:ext>
            </a:extLst>
          </p:cNvPr>
          <p:cNvSpPr/>
          <p:nvPr/>
        </p:nvSpPr>
        <p:spPr>
          <a:xfrm>
            <a:off x="287524" y="908720"/>
            <a:ext cx="8856476" cy="5262979"/>
          </a:xfrm>
          <a:prstGeom prst="rect">
            <a:avLst/>
          </a:prstGeom>
        </p:spPr>
        <p:txBody>
          <a:bodyPr wrap="square">
            <a:spAutoFit/>
          </a:bodyPr>
          <a:lstStyle/>
          <a:p>
            <a:r>
              <a:rPr lang="zh-CN" altLang="en-US" sz="2800" b="1" dirty="0">
                <a:latin typeface="PingFang SC"/>
              </a:rPr>
              <a:t>二、意义</a:t>
            </a:r>
            <a:r>
              <a:rPr lang="zh-CN" altLang="en-US" sz="2800" b="1" dirty="0"/>
              <a:t>‌</a:t>
            </a:r>
          </a:p>
          <a:p>
            <a:r>
              <a:rPr lang="en-US" altLang="zh-CN" sz="2800" dirty="0">
                <a:latin typeface="PingFang SC"/>
              </a:rPr>
              <a:t>WBS</a:t>
            </a:r>
            <a:r>
              <a:rPr lang="zh-CN" altLang="en-US" sz="2800" dirty="0">
                <a:latin typeface="PingFang SC"/>
              </a:rPr>
              <a:t>对项目管理的关键作用体现在以下方面：</a:t>
            </a:r>
          </a:p>
          <a:p>
            <a:pPr>
              <a:buFont typeface="+mj-lt"/>
              <a:buAutoNum type="arabicPeriod"/>
            </a:pPr>
            <a:r>
              <a:rPr lang="zh-CN" altLang="en-US" sz="2800" dirty="0"/>
              <a:t>‌</a:t>
            </a:r>
            <a:r>
              <a:rPr lang="zh-CN" altLang="en-US" sz="2800" b="1" dirty="0">
                <a:latin typeface="PingFang SC"/>
              </a:rPr>
              <a:t>规划与控制的基础</a:t>
            </a:r>
            <a:r>
              <a:rPr lang="zh-CN" altLang="en-US" sz="2800" dirty="0"/>
              <a:t>‌：为进度计划、资源分配、成本估算及风险管理提供结构化依据‌。</a:t>
            </a:r>
          </a:p>
          <a:p>
            <a:pPr>
              <a:buFont typeface="+mj-lt"/>
              <a:buAutoNum type="arabicPeriod"/>
            </a:pPr>
            <a:r>
              <a:rPr lang="zh-CN" altLang="en-US" sz="2800" dirty="0"/>
              <a:t>‌</a:t>
            </a:r>
            <a:r>
              <a:rPr lang="zh-CN" altLang="en-US" sz="2800" b="1" dirty="0">
                <a:latin typeface="PingFang SC"/>
              </a:rPr>
              <a:t>范围明确化</a:t>
            </a:r>
            <a:r>
              <a:rPr lang="zh-CN" altLang="en-US" sz="2800" dirty="0"/>
              <a:t>‌：清晰界定项目边界，避免范围蔓延或遗漏‌。</a:t>
            </a:r>
          </a:p>
          <a:p>
            <a:pPr>
              <a:buFont typeface="+mj-lt"/>
              <a:buAutoNum type="arabicPeriod"/>
            </a:pPr>
            <a:r>
              <a:rPr lang="zh-CN" altLang="en-US" sz="2800" dirty="0"/>
              <a:t>‌</a:t>
            </a:r>
            <a:r>
              <a:rPr lang="zh-CN" altLang="en-US" sz="2800" b="1" dirty="0">
                <a:latin typeface="PingFang SC"/>
              </a:rPr>
              <a:t>责任分配</a:t>
            </a:r>
            <a:r>
              <a:rPr lang="zh-CN" altLang="en-US" sz="2800" dirty="0"/>
              <a:t>‌：将任务细化到可执行的单元，便于分配给团队或个人并明确职责‌。</a:t>
            </a:r>
          </a:p>
          <a:p>
            <a:pPr>
              <a:buFont typeface="+mj-lt"/>
              <a:buAutoNum type="arabicPeriod"/>
            </a:pPr>
            <a:r>
              <a:rPr lang="zh-CN" altLang="en-US" sz="2800" dirty="0"/>
              <a:t>‌</a:t>
            </a:r>
            <a:r>
              <a:rPr lang="zh-CN" altLang="en-US" sz="2800" b="1" dirty="0">
                <a:latin typeface="PingFang SC"/>
              </a:rPr>
              <a:t>沟通工具</a:t>
            </a:r>
            <a:r>
              <a:rPr lang="zh-CN" altLang="en-US" sz="2800" dirty="0"/>
              <a:t>‌：通过可视化结构展现项目全貌，促进干系人对目标的理解和共识‌。</a:t>
            </a:r>
          </a:p>
          <a:p>
            <a:r>
              <a:rPr lang="zh-CN" altLang="en-US" sz="2800" dirty="0"/>
              <a:t>‌</a:t>
            </a:r>
            <a:r>
              <a:rPr lang="zh-CN" altLang="en-US" sz="2800" b="1" dirty="0">
                <a:latin typeface="PingFang SC"/>
              </a:rPr>
              <a:t>里程碑定义</a:t>
            </a:r>
            <a:r>
              <a:rPr lang="zh-CN" altLang="en-US" sz="2800" dirty="0"/>
              <a:t>‌</a:t>
            </a:r>
            <a:r>
              <a:rPr lang="zh-CN" altLang="en-US" sz="2800" dirty="0">
                <a:solidFill>
                  <a:srgbClr val="333333"/>
                </a:solidFill>
                <a:latin typeface="PingFang SC"/>
              </a:rPr>
              <a:t>：帮助识别关键节点，便于进度监控和报告‌</a:t>
            </a:r>
            <a:br>
              <a:rPr lang="zh-CN" altLang="en-US" sz="2800" dirty="0">
                <a:solidFill>
                  <a:srgbClr val="333333"/>
                </a:solidFill>
                <a:latin typeface="PingFang SC"/>
              </a:rPr>
            </a:br>
            <a:endParaRPr lang="zh-CN" altLang="en-US" sz="2800" dirty="0"/>
          </a:p>
        </p:txBody>
      </p:sp>
    </p:spTree>
    <p:extLst>
      <p:ext uri="{BB962C8B-B14F-4D97-AF65-F5344CB8AC3E}">
        <p14:creationId xmlns:p14="http://schemas.microsoft.com/office/powerpoint/2010/main" val="11310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E51451B-E609-4358-9C65-93AD9A633EB5}"/>
              </a:ext>
            </a:extLst>
          </p:cNvPr>
          <p:cNvSpPr/>
          <p:nvPr/>
        </p:nvSpPr>
        <p:spPr>
          <a:xfrm>
            <a:off x="215516" y="34713"/>
            <a:ext cx="8712968" cy="6986528"/>
          </a:xfrm>
          <a:prstGeom prst="rect">
            <a:avLst/>
          </a:prstGeom>
        </p:spPr>
        <p:txBody>
          <a:bodyPr wrap="square">
            <a:spAutoFit/>
          </a:bodyPr>
          <a:lstStyle/>
          <a:p>
            <a:r>
              <a:rPr lang="zh-CN" altLang="en-US" sz="2800" b="1" dirty="0">
                <a:latin typeface="PingFang SC"/>
              </a:rPr>
              <a:t>三、创建过程</a:t>
            </a:r>
            <a:r>
              <a:rPr lang="zh-CN" altLang="en-US" sz="2800" b="1" dirty="0"/>
              <a:t>‌</a:t>
            </a:r>
          </a:p>
          <a:p>
            <a:r>
              <a:rPr lang="en-US" altLang="zh-CN" sz="2800" dirty="0">
                <a:latin typeface="PingFang SC"/>
              </a:rPr>
              <a:t>WBS</a:t>
            </a:r>
            <a:r>
              <a:rPr lang="zh-CN" altLang="en-US" sz="2800" dirty="0">
                <a:latin typeface="PingFang SC"/>
              </a:rPr>
              <a:t>的制定通常遵循以下步骤：</a:t>
            </a:r>
          </a:p>
          <a:p>
            <a:pPr>
              <a:buFont typeface="+mj-lt"/>
              <a:buAutoNum type="arabicPeriod"/>
            </a:pPr>
            <a:r>
              <a:rPr lang="zh-CN" altLang="en-US" sz="2800" dirty="0"/>
              <a:t>‌</a:t>
            </a:r>
            <a:r>
              <a:rPr lang="zh-CN" altLang="en-US" sz="2800" b="1" dirty="0">
                <a:latin typeface="PingFang SC"/>
              </a:rPr>
              <a:t>明确项目目标与范围</a:t>
            </a:r>
            <a:r>
              <a:rPr lang="zh-CN" altLang="en-US" sz="2800" dirty="0"/>
              <a:t>‌：基于需求文档和范围说明书，确定项目最终交付成果‌。</a:t>
            </a:r>
          </a:p>
          <a:p>
            <a:pPr>
              <a:buFont typeface="+mj-lt"/>
              <a:buAutoNum type="arabicPeriod"/>
            </a:pPr>
            <a:r>
              <a:rPr lang="zh-CN" altLang="en-US" sz="2800" dirty="0"/>
              <a:t>‌</a:t>
            </a:r>
            <a:r>
              <a:rPr lang="zh-CN" altLang="en-US" sz="2800" b="1" dirty="0">
                <a:latin typeface="PingFang SC"/>
              </a:rPr>
              <a:t>需求收集与分析</a:t>
            </a:r>
            <a:r>
              <a:rPr lang="zh-CN" altLang="en-US" sz="2800" dirty="0"/>
              <a:t>‌。</a:t>
            </a:r>
          </a:p>
          <a:p>
            <a:pPr>
              <a:buFont typeface="+mj-lt"/>
              <a:buAutoNum type="arabicPeriod"/>
            </a:pPr>
            <a:r>
              <a:rPr lang="zh-CN" altLang="en-US" sz="2800" dirty="0"/>
              <a:t>‌</a:t>
            </a:r>
            <a:r>
              <a:rPr lang="zh-CN" altLang="en-US" sz="2800" b="1" dirty="0">
                <a:latin typeface="PingFang SC"/>
              </a:rPr>
              <a:t>层级分解</a:t>
            </a:r>
            <a:r>
              <a:rPr lang="zh-CN" altLang="en-US" sz="2800" dirty="0"/>
              <a:t>‌：</a:t>
            </a:r>
          </a:p>
          <a:p>
            <a:pPr lvl="1"/>
            <a:r>
              <a:rPr lang="zh-CN" altLang="en-US" sz="2800" b="1" dirty="0">
                <a:solidFill>
                  <a:srgbClr val="002060"/>
                </a:solidFill>
                <a:latin typeface="PingFang SC"/>
              </a:rPr>
              <a:t>第一层</a:t>
            </a:r>
            <a:r>
              <a:rPr lang="zh-CN" altLang="en-US" sz="2800" dirty="0">
                <a:solidFill>
                  <a:srgbClr val="002060"/>
                </a:solidFill>
              </a:rPr>
              <a:t>‌：项目总目标（如“开发新产品”）。</a:t>
            </a:r>
          </a:p>
          <a:p>
            <a:pPr lvl="1"/>
            <a:r>
              <a:rPr lang="zh-CN" altLang="en-US" sz="2800" b="1" dirty="0">
                <a:solidFill>
                  <a:srgbClr val="002060"/>
                </a:solidFill>
                <a:latin typeface="PingFang SC"/>
              </a:rPr>
              <a:t>第二层</a:t>
            </a:r>
            <a:r>
              <a:rPr lang="zh-CN" altLang="en-US" sz="2800" dirty="0">
                <a:solidFill>
                  <a:srgbClr val="002060"/>
                </a:solidFill>
              </a:rPr>
              <a:t>‌：主要交付成果或阶段（如“设计、开发、测试”）‌。</a:t>
            </a:r>
          </a:p>
          <a:p>
            <a:pPr lvl="1"/>
            <a:r>
              <a:rPr lang="zh-CN" altLang="en-US" sz="2800" b="1" dirty="0">
                <a:solidFill>
                  <a:srgbClr val="002060"/>
                </a:solidFill>
                <a:latin typeface="PingFang SC"/>
              </a:rPr>
              <a:t>后续层级</a:t>
            </a:r>
            <a:r>
              <a:rPr lang="zh-CN" altLang="en-US" sz="2800" dirty="0">
                <a:solidFill>
                  <a:srgbClr val="002060"/>
                </a:solidFill>
              </a:rPr>
              <a:t>‌：逐级细化至可独立管理的工作包（如“编写代码”“用户测试”）‌。</a:t>
            </a:r>
          </a:p>
          <a:p>
            <a:pPr>
              <a:buFont typeface="+mj-lt"/>
              <a:buAutoNum type="arabicPeriod"/>
            </a:pPr>
            <a:r>
              <a:rPr lang="zh-CN" altLang="en-US" sz="2800" dirty="0"/>
              <a:t>‌</a:t>
            </a:r>
            <a:r>
              <a:rPr lang="zh-CN" altLang="en-US" sz="2800" b="1" dirty="0">
                <a:latin typeface="PingFang SC"/>
              </a:rPr>
              <a:t>编码与确认</a:t>
            </a:r>
            <a:r>
              <a:rPr lang="zh-CN" altLang="en-US" sz="2800" dirty="0"/>
              <a:t>‌：为每个工作单元分配唯一标识符，确保可追溯性，并获得干系人批准‌。</a:t>
            </a:r>
          </a:p>
          <a:p>
            <a:r>
              <a:rPr lang="zh-CN" altLang="en-US" sz="2800" dirty="0"/>
              <a:t>‌</a:t>
            </a:r>
            <a:r>
              <a:rPr lang="zh-CN" altLang="en-US" sz="2800" b="1" dirty="0">
                <a:latin typeface="PingFang SC"/>
              </a:rPr>
              <a:t>维护与更新</a:t>
            </a:r>
            <a:r>
              <a:rPr lang="zh-CN" altLang="en-US" sz="2800" dirty="0"/>
              <a:t>‌</a:t>
            </a:r>
            <a:r>
              <a:rPr lang="zh-CN" altLang="en-US" sz="2800" dirty="0">
                <a:solidFill>
                  <a:srgbClr val="333333"/>
                </a:solidFill>
                <a:latin typeface="PingFang SC"/>
              </a:rPr>
              <a:t>：在项目执行中定期审查和调整</a:t>
            </a:r>
            <a:r>
              <a:rPr lang="en-US" altLang="zh-CN" sz="2800" dirty="0">
                <a:solidFill>
                  <a:srgbClr val="333333"/>
                </a:solidFill>
                <a:latin typeface="PingFang SC"/>
              </a:rPr>
              <a:t>WBS</a:t>
            </a:r>
            <a:r>
              <a:rPr lang="zh-CN" altLang="en-US" sz="2800" dirty="0">
                <a:solidFill>
                  <a:srgbClr val="333333"/>
                </a:solidFill>
                <a:latin typeface="PingFang SC"/>
              </a:rPr>
              <a:t>，以应对变更或新需求‌</a:t>
            </a:r>
            <a:br>
              <a:rPr lang="zh-CN" altLang="en-US" sz="2800" dirty="0">
                <a:solidFill>
                  <a:srgbClr val="333333"/>
                </a:solidFill>
                <a:latin typeface="PingFang SC"/>
              </a:rPr>
            </a:br>
            <a:endParaRPr lang="zh-CN" altLang="en-US" sz="2800" dirty="0"/>
          </a:p>
        </p:txBody>
      </p:sp>
    </p:spTree>
    <p:extLst>
      <p:ext uri="{BB962C8B-B14F-4D97-AF65-F5344CB8AC3E}">
        <p14:creationId xmlns:p14="http://schemas.microsoft.com/office/powerpoint/2010/main" val="214218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14ABB70-7FA4-434D-BCF4-ED652E5A37FD}"/>
              </a:ext>
            </a:extLst>
          </p:cNvPr>
          <p:cNvSpPr/>
          <p:nvPr/>
        </p:nvSpPr>
        <p:spPr>
          <a:xfrm>
            <a:off x="539552" y="1700808"/>
            <a:ext cx="8496944" cy="2308324"/>
          </a:xfrm>
          <a:prstGeom prst="rect">
            <a:avLst/>
          </a:prstGeom>
        </p:spPr>
        <p:txBody>
          <a:bodyPr wrap="square">
            <a:spAutoFit/>
          </a:bodyPr>
          <a:lstStyle/>
          <a:p>
            <a:r>
              <a:rPr lang="zh-CN" altLang="en-US" sz="3600" dirty="0">
                <a:solidFill>
                  <a:srgbClr val="333333"/>
                </a:solidFill>
                <a:latin typeface="PingFang SC"/>
              </a:rPr>
              <a:t>案例：</a:t>
            </a:r>
            <a:endParaRPr lang="en-US" altLang="zh-CN" sz="3600" dirty="0">
              <a:solidFill>
                <a:srgbClr val="333333"/>
              </a:solidFill>
              <a:latin typeface="PingFang SC"/>
            </a:endParaRPr>
          </a:p>
          <a:p>
            <a:r>
              <a:rPr lang="zh-CN" altLang="en-US" sz="3600" dirty="0">
                <a:solidFill>
                  <a:srgbClr val="333333"/>
                </a:solidFill>
                <a:latin typeface="PingFang SC"/>
              </a:rPr>
              <a:t>开发一套完整的智能家居系统，包括硬件设备、控制软件和用户交互界面，实现远程控制、自动化场景及数据安全功能‌。</a:t>
            </a:r>
            <a:endParaRPr lang="zh-CN" altLang="en-US" sz="3600" dirty="0"/>
          </a:p>
        </p:txBody>
      </p:sp>
    </p:spTree>
    <p:extLst>
      <p:ext uri="{BB962C8B-B14F-4D97-AF65-F5344CB8AC3E}">
        <p14:creationId xmlns:p14="http://schemas.microsoft.com/office/powerpoint/2010/main" val="2822297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3A0D1B2-1666-4038-ABC9-FCFE342C7C07}"/>
              </a:ext>
            </a:extLst>
          </p:cNvPr>
          <p:cNvSpPr/>
          <p:nvPr/>
        </p:nvSpPr>
        <p:spPr>
          <a:xfrm>
            <a:off x="1331640" y="332656"/>
            <a:ext cx="6264696" cy="6001643"/>
          </a:xfrm>
          <a:prstGeom prst="rect">
            <a:avLst/>
          </a:prstGeom>
        </p:spPr>
        <p:txBody>
          <a:bodyPr wrap="square">
            <a:spAutoFit/>
          </a:bodyPr>
          <a:lstStyle/>
          <a:p>
            <a:r>
              <a:rPr lang="zh-CN" altLang="en-US" sz="3200" b="1" dirty="0">
                <a:solidFill>
                  <a:srgbClr val="002060"/>
                </a:solidFill>
                <a:latin typeface="Courier New" panose="02070309020205020404" pitchFamily="49" charset="0"/>
              </a:rPr>
              <a:t>智能家居系统开发（</a:t>
            </a:r>
            <a:r>
              <a:rPr lang="en-US" altLang="zh-CN" sz="3200" b="1" dirty="0">
                <a:solidFill>
                  <a:srgbClr val="002060"/>
                </a:solidFill>
                <a:latin typeface="Courier New" panose="02070309020205020404" pitchFamily="49" charset="0"/>
              </a:rPr>
              <a:t>1</a:t>
            </a:r>
            <a:r>
              <a:rPr lang="zh-CN" altLang="en-US" sz="3200" b="1" dirty="0">
                <a:solidFill>
                  <a:srgbClr val="002060"/>
                </a:solidFill>
                <a:latin typeface="Courier New" panose="02070309020205020404" pitchFamily="49" charset="0"/>
              </a:rPr>
              <a:t>级） </a:t>
            </a:r>
            <a:endParaRPr lang="en-US" altLang="zh-CN" sz="3200" b="1" dirty="0">
              <a:solidFill>
                <a:srgbClr val="002060"/>
              </a:solidFill>
              <a:latin typeface="Courier New" panose="02070309020205020404" pitchFamily="49" charset="0"/>
            </a:endParaRPr>
          </a:p>
          <a:p>
            <a:r>
              <a:rPr lang="zh-CN" altLang="en-US" sz="3200" dirty="0">
                <a:solidFill>
                  <a:srgbClr val="333333"/>
                </a:solidFill>
                <a:latin typeface="Courier New" panose="02070309020205020404" pitchFamily="49" charset="0"/>
              </a:rPr>
              <a:t>├─ 项目管理（</a:t>
            </a:r>
            <a:r>
              <a:rPr lang="en-US" altLang="zh-CN" sz="3200" dirty="0">
                <a:solidFill>
                  <a:srgbClr val="333333"/>
                </a:solidFill>
                <a:latin typeface="Courier New" panose="02070309020205020404" pitchFamily="49" charset="0"/>
              </a:rPr>
              <a:t>2</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需求分析（</a:t>
            </a:r>
            <a:r>
              <a:rPr lang="en-US" altLang="zh-CN" sz="3200" dirty="0">
                <a:solidFill>
                  <a:srgbClr val="333333"/>
                </a:solidFill>
                <a:latin typeface="Courier New" panose="02070309020205020404" pitchFamily="49" charset="0"/>
              </a:rPr>
              <a:t>2</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系统设计（</a:t>
            </a:r>
            <a:r>
              <a:rPr lang="en-US" altLang="zh-CN" sz="3200" dirty="0">
                <a:solidFill>
                  <a:srgbClr val="333333"/>
                </a:solidFill>
                <a:latin typeface="Courier New" panose="02070309020205020404" pitchFamily="49" charset="0"/>
              </a:rPr>
              <a:t>2</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 硬件架构设计（</a:t>
            </a:r>
            <a:r>
              <a:rPr lang="en-US" altLang="zh-CN" sz="3200" dirty="0">
                <a:solidFill>
                  <a:srgbClr val="333333"/>
                </a:solidFill>
                <a:latin typeface="Courier New" panose="02070309020205020404" pitchFamily="49" charset="0"/>
              </a:rPr>
              <a:t>3</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 软件架构设计（</a:t>
            </a:r>
            <a:r>
              <a:rPr lang="en-US" altLang="zh-CN" sz="3200" dirty="0">
                <a:solidFill>
                  <a:srgbClr val="333333"/>
                </a:solidFill>
                <a:latin typeface="Courier New" panose="02070309020205020404" pitchFamily="49" charset="0"/>
              </a:rPr>
              <a:t>3</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开发与集成（</a:t>
            </a:r>
            <a:r>
              <a:rPr lang="en-US" altLang="zh-CN" sz="3200" dirty="0">
                <a:solidFill>
                  <a:srgbClr val="333333"/>
                </a:solidFill>
                <a:latin typeface="Courier New" panose="02070309020205020404" pitchFamily="49" charset="0"/>
              </a:rPr>
              <a:t>2</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 硬件开发（</a:t>
            </a:r>
            <a:r>
              <a:rPr lang="en-US" altLang="zh-CN" sz="3200" dirty="0">
                <a:solidFill>
                  <a:srgbClr val="333333"/>
                </a:solidFill>
                <a:latin typeface="Courier New" panose="02070309020205020404" pitchFamily="49" charset="0"/>
              </a:rPr>
              <a:t>3</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 软件开发（</a:t>
            </a:r>
            <a:r>
              <a:rPr lang="en-US" altLang="zh-CN" sz="3200" dirty="0">
                <a:solidFill>
                  <a:srgbClr val="333333"/>
                </a:solidFill>
                <a:latin typeface="Courier New" panose="02070309020205020404" pitchFamily="49" charset="0"/>
              </a:rPr>
              <a:t>3</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 系统集成（</a:t>
            </a:r>
            <a:r>
              <a:rPr lang="en-US" altLang="zh-CN" sz="3200" dirty="0">
                <a:solidFill>
                  <a:srgbClr val="333333"/>
                </a:solidFill>
                <a:latin typeface="Courier New" panose="02070309020205020404" pitchFamily="49" charset="0"/>
              </a:rPr>
              <a:t>3</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测试与优化（</a:t>
            </a:r>
            <a:r>
              <a:rPr lang="en-US" altLang="zh-CN" sz="3200" dirty="0">
                <a:solidFill>
                  <a:srgbClr val="333333"/>
                </a:solidFill>
                <a:latin typeface="Courier New" panose="02070309020205020404" pitchFamily="49" charset="0"/>
              </a:rPr>
              <a:t>2</a:t>
            </a:r>
            <a:r>
              <a:rPr lang="zh-CN" altLang="en-US" sz="3200" dirty="0">
                <a:solidFill>
                  <a:srgbClr val="333333"/>
                </a:solidFill>
                <a:latin typeface="Courier New" panose="02070309020205020404" pitchFamily="49" charset="0"/>
              </a:rPr>
              <a:t>级） </a:t>
            </a:r>
            <a:endParaRPr lang="en-US" altLang="zh-CN" sz="3200" dirty="0">
              <a:solidFill>
                <a:srgbClr val="333333"/>
              </a:solidFill>
              <a:latin typeface="Courier New" panose="02070309020205020404" pitchFamily="49" charset="0"/>
            </a:endParaRPr>
          </a:p>
          <a:p>
            <a:r>
              <a:rPr lang="zh-CN" altLang="en-US" sz="3200" dirty="0">
                <a:solidFill>
                  <a:srgbClr val="333333"/>
                </a:solidFill>
                <a:latin typeface="Courier New" panose="02070309020205020404" pitchFamily="49" charset="0"/>
              </a:rPr>
              <a:t>└─ 部署与交付（</a:t>
            </a:r>
            <a:r>
              <a:rPr lang="en-US" altLang="zh-CN" sz="3200" dirty="0">
                <a:solidFill>
                  <a:srgbClr val="333333"/>
                </a:solidFill>
                <a:latin typeface="Courier New" panose="02070309020205020404" pitchFamily="49" charset="0"/>
              </a:rPr>
              <a:t>2</a:t>
            </a:r>
            <a:r>
              <a:rPr lang="zh-CN" altLang="en-US" sz="3200" dirty="0">
                <a:solidFill>
                  <a:srgbClr val="333333"/>
                </a:solidFill>
                <a:latin typeface="Courier New" panose="02070309020205020404" pitchFamily="49" charset="0"/>
              </a:rPr>
              <a:t>级） </a:t>
            </a:r>
            <a:endParaRPr lang="zh-CN" altLang="en-US" sz="3200" dirty="0"/>
          </a:p>
        </p:txBody>
      </p:sp>
    </p:spTree>
    <p:extLst>
      <p:ext uri="{BB962C8B-B14F-4D97-AF65-F5344CB8AC3E}">
        <p14:creationId xmlns:p14="http://schemas.microsoft.com/office/powerpoint/2010/main" val="2156408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14ABB70-7FA4-434D-BCF4-ED652E5A37FD}"/>
              </a:ext>
            </a:extLst>
          </p:cNvPr>
          <p:cNvSpPr/>
          <p:nvPr/>
        </p:nvSpPr>
        <p:spPr>
          <a:xfrm>
            <a:off x="321446" y="836712"/>
            <a:ext cx="8839228" cy="5078313"/>
          </a:xfrm>
          <a:prstGeom prst="rect">
            <a:avLst/>
          </a:prstGeom>
        </p:spPr>
        <p:txBody>
          <a:bodyPr wrap="square">
            <a:spAutoFit/>
          </a:bodyPr>
          <a:lstStyle/>
          <a:p>
            <a:r>
              <a:rPr lang="en-US" altLang="zh-CN" sz="3600" b="1" dirty="0">
                <a:solidFill>
                  <a:srgbClr val="002060"/>
                </a:solidFill>
                <a:latin typeface="PingFang SC"/>
              </a:rPr>
              <a:t>5.4 </a:t>
            </a:r>
            <a:r>
              <a:rPr lang="zh-CN" altLang="en-US" sz="3600" b="1" dirty="0">
                <a:solidFill>
                  <a:srgbClr val="002060"/>
                </a:solidFill>
                <a:latin typeface="PingFang SC"/>
              </a:rPr>
              <a:t>项目范围控制与管理</a:t>
            </a:r>
            <a:endParaRPr lang="en-US" altLang="zh-CN" sz="3600" b="1" dirty="0">
              <a:solidFill>
                <a:srgbClr val="002060"/>
              </a:solidFill>
              <a:latin typeface="PingFang SC"/>
            </a:endParaRPr>
          </a:p>
          <a:p>
            <a:r>
              <a:rPr lang="zh-CN" altLang="en-US" sz="3600" b="1" dirty="0">
                <a:solidFill>
                  <a:srgbClr val="002060"/>
                </a:solidFill>
                <a:latin typeface="PingFang SC"/>
              </a:rPr>
              <a:t>变更的主要原因</a:t>
            </a:r>
          </a:p>
          <a:p>
            <a:r>
              <a:rPr lang="zh-CN" altLang="en-US" sz="3600" dirty="0">
                <a:solidFill>
                  <a:srgbClr val="333333"/>
                </a:solidFill>
                <a:latin typeface="PingFang SC"/>
              </a:rPr>
              <a:t>‌一、需求相关因素‌</a:t>
            </a:r>
          </a:p>
          <a:p>
            <a:r>
              <a:rPr lang="zh-CN" altLang="en-US" sz="3600" dirty="0">
                <a:solidFill>
                  <a:srgbClr val="333333"/>
                </a:solidFill>
                <a:latin typeface="PingFang SC"/>
              </a:rPr>
              <a:t>‌</a:t>
            </a:r>
            <a:r>
              <a:rPr lang="en-US" altLang="zh-CN" sz="3600" dirty="0">
                <a:solidFill>
                  <a:srgbClr val="333333"/>
                </a:solidFill>
                <a:latin typeface="PingFang SC"/>
              </a:rPr>
              <a:t>1</a:t>
            </a:r>
            <a:r>
              <a:rPr lang="zh-CN" altLang="en-US" sz="3600" dirty="0">
                <a:solidFill>
                  <a:srgbClr val="333333"/>
                </a:solidFill>
                <a:latin typeface="PingFang SC"/>
              </a:rPr>
              <a:t>客户或利益相关者需求变动‌：新增、修改或删除需求，常见于客户对项目理解的深化或市场环境变化‌。</a:t>
            </a:r>
            <a:endParaRPr lang="en-US" altLang="zh-CN" sz="3600" dirty="0">
              <a:solidFill>
                <a:srgbClr val="333333"/>
              </a:solidFill>
              <a:latin typeface="PingFang SC"/>
            </a:endParaRPr>
          </a:p>
          <a:p>
            <a:endParaRPr lang="zh-CN" altLang="en-US" sz="3600" dirty="0">
              <a:solidFill>
                <a:srgbClr val="333333"/>
              </a:solidFill>
              <a:latin typeface="PingFang SC"/>
            </a:endParaRPr>
          </a:p>
          <a:p>
            <a:r>
              <a:rPr lang="zh-CN" altLang="en-US" sz="3600" dirty="0">
                <a:solidFill>
                  <a:srgbClr val="333333"/>
                </a:solidFill>
                <a:latin typeface="PingFang SC"/>
              </a:rPr>
              <a:t>‌</a:t>
            </a:r>
            <a:r>
              <a:rPr lang="en-US" altLang="zh-CN" sz="3600" dirty="0">
                <a:solidFill>
                  <a:srgbClr val="333333"/>
                </a:solidFill>
                <a:latin typeface="PingFang SC"/>
              </a:rPr>
              <a:t>2</a:t>
            </a:r>
            <a:r>
              <a:rPr lang="zh-CN" altLang="en-US" sz="3600" dirty="0">
                <a:solidFill>
                  <a:srgbClr val="333333"/>
                </a:solidFill>
                <a:latin typeface="PingFang SC"/>
              </a:rPr>
              <a:t>市场需求调整‌：竞争压力、消费者偏好变化或行业趋势更新导致目标调整‌</a:t>
            </a:r>
            <a:endParaRPr lang="zh-CN" altLang="en-US" sz="3600" dirty="0"/>
          </a:p>
        </p:txBody>
      </p:sp>
    </p:spTree>
    <p:extLst>
      <p:ext uri="{BB962C8B-B14F-4D97-AF65-F5344CB8AC3E}">
        <p14:creationId xmlns:p14="http://schemas.microsoft.com/office/powerpoint/2010/main" val="2457141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D6F2570-8680-43CB-8AEA-1EAAA503B54E}"/>
              </a:ext>
            </a:extLst>
          </p:cNvPr>
          <p:cNvSpPr/>
          <p:nvPr/>
        </p:nvSpPr>
        <p:spPr>
          <a:xfrm>
            <a:off x="683568" y="2551837"/>
            <a:ext cx="7992888" cy="4524315"/>
          </a:xfrm>
          <a:prstGeom prst="rect">
            <a:avLst/>
          </a:prstGeom>
        </p:spPr>
        <p:txBody>
          <a:bodyPr wrap="square">
            <a:spAutoFit/>
          </a:bodyPr>
          <a:lstStyle/>
          <a:p>
            <a:r>
              <a:rPr lang="zh-CN" altLang="en-US" sz="3600" b="1" dirty="0">
                <a:solidFill>
                  <a:srgbClr val="002060"/>
                </a:solidFill>
                <a:latin typeface="PingFang SC"/>
              </a:rPr>
              <a:t>二、技术实施问题</a:t>
            </a:r>
            <a:r>
              <a:rPr lang="zh-CN" altLang="en-US" sz="3600" b="1" dirty="0">
                <a:solidFill>
                  <a:srgbClr val="002060"/>
                </a:solidFill>
              </a:rPr>
              <a:t>‌</a:t>
            </a:r>
          </a:p>
          <a:p>
            <a:pPr>
              <a:buFont typeface="+mj-lt"/>
              <a:buAutoNum type="arabicPeriod"/>
            </a:pPr>
            <a:r>
              <a:rPr lang="zh-CN" altLang="en-US" sz="3600" dirty="0"/>
              <a:t>‌</a:t>
            </a:r>
            <a:r>
              <a:rPr lang="zh-CN" altLang="en-US" sz="3600" b="1" dirty="0">
                <a:latin typeface="PingFang SC"/>
              </a:rPr>
              <a:t>技术难题与优化</a:t>
            </a:r>
            <a:r>
              <a:rPr lang="zh-CN" altLang="en-US" sz="3600" dirty="0"/>
              <a:t>‌：原技术方案不可行，或出现更高效的技术替代方案‌。</a:t>
            </a:r>
            <a:endParaRPr lang="en-US" altLang="zh-CN" sz="3600" dirty="0"/>
          </a:p>
          <a:p>
            <a:pPr>
              <a:buFont typeface="+mj-lt"/>
              <a:buAutoNum type="arabicPeriod"/>
            </a:pPr>
            <a:endParaRPr lang="zh-CN" altLang="en-US" sz="3600" dirty="0"/>
          </a:p>
          <a:p>
            <a:r>
              <a:rPr lang="zh-CN" altLang="en-US" sz="3600" dirty="0"/>
              <a:t>‌</a:t>
            </a:r>
            <a:r>
              <a:rPr lang="en-US" altLang="zh-CN" sz="3600" dirty="0"/>
              <a:t>2.</a:t>
            </a:r>
            <a:r>
              <a:rPr lang="zh-CN" altLang="en-US" sz="3600" b="1" dirty="0">
                <a:latin typeface="PingFang SC"/>
              </a:rPr>
              <a:t>设计与执行偏差</a:t>
            </a:r>
            <a:r>
              <a:rPr lang="zh-CN" altLang="en-US" sz="3600" dirty="0"/>
              <a:t>‌</a:t>
            </a:r>
            <a:r>
              <a:rPr lang="zh-CN" altLang="en-US" sz="3600" dirty="0">
                <a:solidFill>
                  <a:srgbClr val="333333"/>
                </a:solidFill>
                <a:latin typeface="PingFang SC"/>
              </a:rPr>
              <a:t>：初期技术理解错误或实施中暴露缺陷（如接口不兼容、性能不足）‌。</a:t>
            </a:r>
            <a:br>
              <a:rPr lang="zh-CN" altLang="en-US" sz="3600" dirty="0">
                <a:solidFill>
                  <a:srgbClr val="333333"/>
                </a:solidFill>
                <a:latin typeface="PingFang SC"/>
              </a:rPr>
            </a:br>
            <a:endParaRPr lang="zh-CN" altLang="en-US" sz="3600" dirty="0"/>
          </a:p>
        </p:txBody>
      </p:sp>
    </p:spTree>
    <p:extLst>
      <p:ext uri="{BB962C8B-B14F-4D97-AF65-F5344CB8AC3E}">
        <p14:creationId xmlns:p14="http://schemas.microsoft.com/office/powerpoint/2010/main" val="3183147565"/>
      </p:ext>
    </p:extLst>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3311</TotalTime>
  <Words>2034</Words>
  <Application>Microsoft Office PowerPoint</Application>
  <PresentationFormat>全屏显示(4:3)</PresentationFormat>
  <Paragraphs>160</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-apple-system</vt:lpstr>
      <vt:lpstr>PingFang SC</vt:lpstr>
      <vt:lpstr>宋体</vt:lpstr>
      <vt:lpstr>Arial</vt:lpstr>
      <vt:lpstr>Calibri</vt:lpstr>
      <vt:lpstr>Courier New</vt:lpstr>
      <vt:lpstr>Garamond</vt:lpstr>
      <vt:lpstr>Times New Roman</vt:lpstr>
      <vt:lpstr>Verdana</vt:lpstr>
      <vt:lpstr>Wingdings</vt:lpstr>
      <vt:lpstr>Level</vt:lpstr>
      <vt:lpstr>第4章 项目管理目标</vt:lpstr>
      <vt:lpstr>4.1  项目目标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  项目管理目标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xhhe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供应链设计与管理</dc:title>
  <dc:creator>xinhuahe</dc:creator>
  <cp:lastModifiedBy>Rachel</cp:lastModifiedBy>
  <cp:revision>118</cp:revision>
  <dcterms:created xsi:type="dcterms:W3CDTF">2010-09-06T01:34:01Z</dcterms:created>
  <dcterms:modified xsi:type="dcterms:W3CDTF">2025-04-06T08:37:06Z</dcterms:modified>
</cp:coreProperties>
</file>