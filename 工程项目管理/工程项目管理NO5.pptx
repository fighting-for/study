
<file path=[Content_Types].xml><?xml version="1.0" encoding="utf-8"?>
<Types xmlns="http://schemas.openxmlformats.org/package/2006/content-types">
  <Default Extension="wmf" ContentType="image/x-wm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7"/>
  </p:notesMasterIdLst>
  <p:sldIdLst>
    <p:sldId id="316" r:id="rId2"/>
    <p:sldId id="360" r:id="rId3"/>
    <p:sldId id="361" r:id="rId4"/>
    <p:sldId id="363" r:id="rId5"/>
    <p:sldId id="362" r:id="rId6"/>
    <p:sldId id="365" r:id="rId7"/>
    <p:sldId id="364" r:id="rId8"/>
    <p:sldId id="366" r:id="rId9"/>
    <p:sldId id="367" r:id="rId10"/>
    <p:sldId id="368" r:id="rId11"/>
    <p:sldId id="369" r:id="rId12"/>
    <p:sldId id="370" r:id="rId13"/>
    <p:sldId id="359" r:id="rId14"/>
    <p:sldId id="371" r:id="rId15"/>
    <p:sldId id="257" r:id="rId16"/>
    <p:sldId id="258" r:id="rId17"/>
    <p:sldId id="260" r:id="rId18"/>
    <p:sldId id="261" r:id="rId19"/>
    <p:sldId id="262" r:id="rId20"/>
    <p:sldId id="263" r:id="rId21"/>
    <p:sldId id="264" r:id="rId22"/>
    <p:sldId id="265" r:id="rId23"/>
    <p:sldId id="266" r:id="rId24"/>
    <p:sldId id="267" r:id="rId25"/>
    <p:sldId id="269" r:id="rId26"/>
    <p:sldId id="270" r:id="rId27"/>
    <p:sldId id="271" r:id="rId28"/>
    <p:sldId id="272" r:id="rId29"/>
    <p:sldId id="273" r:id="rId30"/>
    <p:sldId id="275" r:id="rId31"/>
    <p:sldId id="276" r:id="rId32"/>
    <p:sldId id="277" r:id="rId33"/>
    <p:sldId id="278" r:id="rId34"/>
    <p:sldId id="279" r:id="rId35"/>
    <p:sldId id="280" r:id="rId3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449" autoAdjust="0"/>
  </p:normalViewPr>
  <p:slideViewPr>
    <p:cSldViewPr>
      <p:cViewPr varScale="1">
        <p:scale>
          <a:sx n="77" d="100"/>
          <a:sy n="77" d="100"/>
        </p:scale>
        <p:origin x="123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6348581-5202-4275-ABDD-0FC49F9D2617}" type="datetimeFigureOut">
              <a:rPr lang="zh-CN" altLang="en-US"/>
              <a:pPr>
                <a:defRPr/>
              </a:pPr>
              <a:t>2025/4/6</a:t>
            </a:fld>
            <a:endParaRPr lang="zh-CN"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6CDB9CF-61DB-4B30-B3D9-4988FB9CFD9F}" type="slidenum">
              <a:rPr lang="zh-CN" altLang="en-US"/>
              <a:pPr>
                <a:defRPr/>
              </a:pPr>
              <a:t>‹#›</a:t>
            </a:fld>
            <a:endParaRPr lang="zh-CN" altLang="en-US"/>
          </a:p>
        </p:txBody>
      </p:sp>
    </p:spTree>
    <p:extLst>
      <p:ext uri="{BB962C8B-B14F-4D97-AF65-F5344CB8AC3E}">
        <p14:creationId xmlns:p14="http://schemas.microsoft.com/office/powerpoint/2010/main" val="18955655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6CDB9CF-61DB-4B30-B3D9-4988FB9CFD9F}" type="slidenum">
              <a:rPr lang="zh-CN" altLang="en-US" smtClean="0"/>
              <a:pPr>
                <a:defRPr/>
              </a:pPr>
              <a:t>6</a:t>
            </a:fld>
            <a:endParaRPr lang="zh-CN" altLang="en-US"/>
          </a:p>
        </p:txBody>
      </p:sp>
    </p:spTree>
    <p:extLst>
      <p:ext uri="{BB962C8B-B14F-4D97-AF65-F5344CB8AC3E}">
        <p14:creationId xmlns:p14="http://schemas.microsoft.com/office/powerpoint/2010/main" val="987103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615B0BAC-B16F-439E-BEF2-7B8F49FC2D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2BA8F3F3-C4E6-430A-B4CA-7F066854C9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latin typeface="Arial" panose="020B0604020202020204" pitchFamily="34" charset="0"/>
            </a:endParaRPr>
          </a:p>
        </p:txBody>
      </p:sp>
      <p:sp>
        <p:nvSpPr>
          <p:cNvPr id="36868" name="灯片编号占位符 3">
            <a:extLst>
              <a:ext uri="{FF2B5EF4-FFF2-40B4-BE49-F238E27FC236}">
                <a16:creationId xmlns:a16="http://schemas.microsoft.com/office/drawing/2014/main" id="{DD38AC14-D7DB-4C34-BDED-27D9CBC4C60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8026C4-10F5-4206-9D82-E6A8B9F84CC4}" type="slidenum">
              <a:rPr lang="zh-CN" altLang="en-US"/>
              <a:pPr eaLnBrk="1" hangingPunct="1"/>
              <a:t>16</a:t>
            </a:fld>
            <a:endParaRPr lang="en-US" altLang="zh-CN"/>
          </a:p>
        </p:txBody>
      </p:sp>
    </p:spTree>
    <p:extLst>
      <p:ext uri="{BB962C8B-B14F-4D97-AF65-F5344CB8AC3E}">
        <p14:creationId xmlns:p14="http://schemas.microsoft.com/office/powerpoint/2010/main" val="4282823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50825" y="2636838"/>
            <a:ext cx="8610600" cy="201612"/>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defRPr/>
              </a:pPr>
              <a:endParaRPr lang="zh-CN" altLang="en-US"/>
            </a:p>
          </p:txBody>
        </p:sp>
      </p:grpSp>
      <p:sp>
        <p:nvSpPr>
          <p:cNvPr id="5122" name="Rectangle 2"/>
          <p:cNvSpPr>
            <a:spLocks noGrp="1" noChangeArrowheads="1"/>
          </p:cNvSpPr>
          <p:nvPr>
            <p:ph type="ctrTitle"/>
          </p:nvPr>
        </p:nvSpPr>
        <p:spPr>
          <a:xfrm>
            <a:off x="611188" y="1412875"/>
            <a:ext cx="7772400" cy="504825"/>
          </a:xfrm>
        </p:spPr>
        <p:txBody>
          <a:bodyPr/>
          <a:lstStyle>
            <a:lvl1pPr algn="ctr">
              <a:defRPr sz="3200" b="0"/>
            </a:lvl1pPr>
          </a:lstStyle>
          <a:p>
            <a:pPr lvl="0"/>
            <a:r>
              <a:rPr lang="zh-CN" altLang="en-US" noProof="0"/>
              <a:t>单击此处编辑母版标题样式</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zh-CN" altLang="en-US" noProof="0"/>
              <a:t>单击此处编辑母版副标题样式</a:t>
            </a:r>
          </a:p>
        </p:txBody>
      </p:sp>
      <p:sp>
        <p:nvSpPr>
          <p:cNvPr id="8" name="Rectangle 4"/>
          <p:cNvSpPr>
            <a:spLocks noGrp="1" noChangeArrowheads="1"/>
          </p:cNvSpPr>
          <p:nvPr>
            <p:ph type="dt" sz="half" idx="10"/>
          </p:nvPr>
        </p:nvSpPr>
        <p:spPr/>
        <p:txBody>
          <a:bodyPr/>
          <a:lstStyle>
            <a:lvl1pPr>
              <a:defRPr/>
            </a:lvl1pPr>
          </a:lstStyle>
          <a:p>
            <a:pPr>
              <a:defRPr/>
            </a:pPr>
            <a:endParaRPr lang="en-US" altLang="zh-CN"/>
          </a:p>
        </p:txBody>
      </p:sp>
      <p:sp>
        <p:nvSpPr>
          <p:cNvPr id="9" name="Rectangle 5"/>
          <p:cNvSpPr>
            <a:spLocks noGrp="1" noChangeArrowheads="1"/>
          </p:cNvSpPr>
          <p:nvPr>
            <p:ph type="ftr" sz="quarter" idx="11"/>
          </p:nvPr>
        </p:nvSpPr>
        <p:spPr/>
        <p:txBody>
          <a:bodyPr/>
          <a:lstStyle>
            <a:lvl1pPr>
              <a:defRPr/>
            </a:lvl1pPr>
          </a:lstStyle>
          <a:p>
            <a:pPr>
              <a:defRPr/>
            </a:pPr>
            <a:endParaRPr lang="en-US" altLang="zh-CN"/>
          </a:p>
        </p:txBody>
      </p:sp>
      <p:sp>
        <p:nvSpPr>
          <p:cNvPr id="10" name="Rectangle 6"/>
          <p:cNvSpPr>
            <a:spLocks noGrp="1" noChangeArrowheads="1"/>
          </p:cNvSpPr>
          <p:nvPr>
            <p:ph type="sldNum" sz="quarter" idx="12"/>
          </p:nvPr>
        </p:nvSpPr>
        <p:spPr/>
        <p:txBody>
          <a:bodyPr/>
          <a:lstStyle>
            <a:lvl1pPr>
              <a:defRPr/>
            </a:lvl1pPr>
          </a:lstStyle>
          <a:p>
            <a:pPr>
              <a:defRPr/>
            </a:pPr>
            <a:fld id="{C4CE33EF-006C-48B0-A755-EEDE811ECC6F}" type="slidenum">
              <a:rPr lang="en-US" altLang="zh-CN"/>
              <a:pPr>
                <a:defRPr/>
              </a:pPr>
              <a:t>‹#›</a:t>
            </a:fld>
            <a:endParaRPr lang="en-US" altLang="zh-CN"/>
          </a:p>
        </p:txBody>
      </p:sp>
    </p:spTree>
    <p:extLst>
      <p:ext uri="{BB962C8B-B14F-4D97-AF65-F5344CB8AC3E}">
        <p14:creationId xmlns:p14="http://schemas.microsoft.com/office/powerpoint/2010/main" val="3302270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7F0731-65F4-4030-9CF3-96EA562700E3}" type="slidenum">
              <a:rPr lang="en-US" altLang="zh-CN"/>
              <a:pPr>
                <a:defRPr/>
              </a:pPr>
              <a:t>‹#›</a:t>
            </a:fld>
            <a:endParaRPr lang="en-US" altLang="zh-CN"/>
          </a:p>
        </p:txBody>
      </p:sp>
    </p:spTree>
    <p:extLst>
      <p:ext uri="{BB962C8B-B14F-4D97-AF65-F5344CB8AC3E}">
        <p14:creationId xmlns:p14="http://schemas.microsoft.com/office/powerpoint/2010/main" val="354747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C275EE-1F4C-4F7F-94EE-B83118088784}" type="slidenum">
              <a:rPr lang="en-US" altLang="zh-CN"/>
              <a:pPr>
                <a:defRPr/>
              </a:pPr>
              <a:t>‹#›</a:t>
            </a:fld>
            <a:endParaRPr lang="en-US" altLang="zh-CN"/>
          </a:p>
        </p:txBody>
      </p:sp>
    </p:spTree>
    <p:extLst>
      <p:ext uri="{BB962C8B-B14F-4D97-AF65-F5344CB8AC3E}">
        <p14:creationId xmlns:p14="http://schemas.microsoft.com/office/powerpoint/2010/main" val="86632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DA970D5-AC73-48BB-AAB5-9BFF7800E66A}" type="slidenum">
              <a:rPr lang="en-US" altLang="zh-CN"/>
              <a:pPr>
                <a:defRPr/>
              </a:pPr>
              <a:t>‹#›</a:t>
            </a:fld>
            <a:endParaRPr lang="en-US" altLang="zh-CN"/>
          </a:p>
        </p:txBody>
      </p:sp>
    </p:spTree>
    <p:extLst>
      <p:ext uri="{BB962C8B-B14F-4D97-AF65-F5344CB8AC3E}">
        <p14:creationId xmlns:p14="http://schemas.microsoft.com/office/powerpoint/2010/main" val="395405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92FE4E81-B935-4A3B-8D5F-BCA3161AAEE3}" type="slidenum">
              <a:rPr lang="en-US" altLang="zh-CN"/>
              <a:pPr>
                <a:defRPr/>
              </a:pPr>
              <a:t>‹#›</a:t>
            </a:fld>
            <a:endParaRPr lang="en-US" altLang="zh-CN"/>
          </a:p>
        </p:txBody>
      </p:sp>
    </p:spTree>
    <p:extLst>
      <p:ext uri="{BB962C8B-B14F-4D97-AF65-F5344CB8AC3E}">
        <p14:creationId xmlns:p14="http://schemas.microsoft.com/office/powerpoint/2010/main" val="2824832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817DB37-7409-40EF-A4D6-F18A92D0D7BE}" type="slidenum">
              <a:rPr lang="en-US" altLang="zh-CN"/>
              <a:pPr>
                <a:defRPr/>
              </a:pPr>
              <a:t>‹#›</a:t>
            </a:fld>
            <a:endParaRPr lang="en-US" altLang="zh-CN"/>
          </a:p>
        </p:txBody>
      </p:sp>
    </p:spTree>
    <p:extLst>
      <p:ext uri="{BB962C8B-B14F-4D97-AF65-F5344CB8AC3E}">
        <p14:creationId xmlns:p14="http://schemas.microsoft.com/office/powerpoint/2010/main" val="2549290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4F241AB-D07B-4947-9D32-75BA7680117C}" type="slidenum">
              <a:rPr lang="en-US" altLang="zh-CN"/>
              <a:pPr>
                <a:defRPr/>
              </a:pPr>
              <a:t>‹#›</a:t>
            </a:fld>
            <a:endParaRPr lang="en-US" altLang="zh-CN"/>
          </a:p>
        </p:txBody>
      </p:sp>
    </p:spTree>
    <p:extLst>
      <p:ext uri="{BB962C8B-B14F-4D97-AF65-F5344CB8AC3E}">
        <p14:creationId xmlns:p14="http://schemas.microsoft.com/office/powerpoint/2010/main" val="182466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2A4B461-33EC-416C-B6BD-76AF586A5F5B}" type="slidenum">
              <a:rPr lang="en-US" altLang="zh-CN"/>
              <a:pPr>
                <a:defRPr/>
              </a:pPr>
              <a:t>‹#›</a:t>
            </a:fld>
            <a:endParaRPr lang="en-US" altLang="zh-CN"/>
          </a:p>
        </p:txBody>
      </p:sp>
    </p:spTree>
    <p:extLst>
      <p:ext uri="{BB962C8B-B14F-4D97-AF65-F5344CB8AC3E}">
        <p14:creationId xmlns:p14="http://schemas.microsoft.com/office/powerpoint/2010/main" val="391582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F728CC6-330F-4E99-B09F-E1BB96A7BD3D}" type="slidenum">
              <a:rPr lang="en-US" altLang="zh-CN"/>
              <a:pPr>
                <a:defRPr/>
              </a:pPr>
              <a:t>‹#›</a:t>
            </a:fld>
            <a:endParaRPr lang="en-US" altLang="zh-CN"/>
          </a:p>
        </p:txBody>
      </p:sp>
    </p:spTree>
    <p:extLst>
      <p:ext uri="{BB962C8B-B14F-4D97-AF65-F5344CB8AC3E}">
        <p14:creationId xmlns:p14="http://schemas.microsoft.com/office/powerpoint/2010/main" val="2540785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6112EFE-3B78-4525-8AB6-FD949C0C33BA}" type="slidenum">
              <a:rPr lang="en-US" altLang="zh-CN"/>
              <a:pPr>
                <a:defRPr/>
              </a:pPr>
              <a:t>‹#›</a:t>
            </a:fld>
            <a:endParaRPr lang="en-US" altLang="zh-CN"/>
          </a:p>
        </p:txBody>
      </p:sp>
    </p:spTree>
    <p:extLst>
      <p:ext uri="{BB962C8B-B14F-4D97-AF65-F5344CB8AC3E}">
        <p14:creationId xmlns:p14="http://schemas.microsoft.com/office/powerpoint/2010/main" val="236513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2C1B8D-6BCF-4EE4-88B4-39EE4581137E}" type="slidenum">
              <a:rPr lang="en-US" altLang="zh-CN"/>
              <a:pPr>
                <a:defRPr/>
              </a:pPr>
              <a:t>‹#›</a:t>
            </a:fld>
            <a:endParaRPr lang="en-US" altLang="zh-CN"/>
          </a:p>
        </p:txBody>
      </p:sp>
    </p:spTree>
    <p:extLst>
      <p:ext uri="{BB962C8B-B14F-4D97-AF65-F5344CB8AC3E}">
        <p14:creationId xmlns:p14="http://schemas.microsoft.com/office/powerpoint/2010/main" val="36575014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519113" y="1484313"/>
            <a:ext cx="8229600" cy="4537075"/>
          </a:xfrm>
        </p:spPr>
        <p:txBody>
          <a:bodyPr>
            <a:normAutofit/>
          </a:bodyPr>
          <a:lstStyle/>
          <a:p>
            <a:pPr lvl="0"/>
            <a:endParaRPr lang="zh-CN" altLang="en-US" noProof="0"/>
          </a:p>
        </p:txBody>
      </p:sp>
      <p:sp>
        <p:nvSpPr>
          <p:cNvPr id="4" name="页脚占位符 3">
            <a:extLst>
              <a:ext uri="{FF2B5EF4-FFF2-40B4-BE49-F238E27FC236}">
                <a16:creationId xmlns:a16="http://schemas.microsoft.com/office/drawing/2014/main" id="{00ECDEF5-0967-4A51-A5B4-315B3253E483}"/>
              </a:ext>
            </a:extLst>
          </p:cNvPr>
          <p:cNvSpPr>
            <a:spLocks noGrp="1"/>
          </p:cNvSpPr>
          <p:nvPr>
            <p:ph type="ftr" sz="quarter" idx="10"/>
          </p:nvPr>
        </p:nvSpPr>
        <p:spPr>
          <a:xfrm>
            <a:off x="5753100" y="6457950"/>
            <a:ext cx="2895600" cy="320675"/>
          </a:xfrm>
        </p:spPr>
        <p:txBody>
          <a:bodyPr/>
          <a:lstStyle>
            <a:lvl1pPr>
              <a:defRPr/>
            </a:lvl1pPr>
          </a:lstStyle>
          <a:p>
            <a:pPr>
              <a:defRPr/>
            </a:pPr>
            <a:endParaRPr lang="zh-CN" altLang="en-US"/>
          </a:p>
        </p:txBody>
      </p:sp>
      <p:sp>
        <p:nvSpPr>
          <p:cNvPr id="5" name="灯片编号占位符 4">
            <a:extLst>
              <a:ext uri="{FF2B5EF4-FFF2-40B4-BE49-F238E27FC236}">
                <a16:creationId xmlns:a16="http://schemas.microsoft.com/office/drawing/2014/main" id="{AE89E172-5393-4C05-A9E0-1357BC6D1382}"/>
              </a:ext>
            </a:extLst>
          </p:cNvPr>
          <p:cNvSpPr>
            <a:spLocks noGrp="1"/>
          </p:cNvSpPr>
          <p:nvPr>
            <p:ph type="sldNum" sz="quarter" idx="11"/>
          </p:nvPr>
        </p:nvSpPr>
        <p:spPr>
          <a:xfrm>
            <a:off x="3471863" y="6443663"/>
            <a:ext cx="2133600" cy="320675"/>
          </a:xfrm>
        </p:spPr>
        <p:txBody>
          <a:bodyPr/>
          <a:lstStyle>
            <a:lvl1pPr>
              <a:defRPr/>
            </a:lvl1pPr>
          </a:lstStyle>
          <a:p>
            <a:fld id="{3E4F6118-DCD2-42A9-9012-B6D6C2AA39E5}" type="slidenum">
              <a:rPr lang="zh-CN" altLang="en-US"/>
              <a:pPr/>
              <a:t>‹#›</a:t>
            </a:fld>
            <a:endParaRPr lang="en-US" altLang="zh-CN"/>
          </a:p>
        </p:txBody>
      </p:sp>
    </p:spTree>
    <p:extLst>
      <p:ext uri="{BB962C8B-B14F-4D97-AF65-F5344CB8AC3E}">
        <p14:creationId xmlns:p14="http://schemas.microsoft.com/office/powerpoint/2010/main" val="786397230"/>
      </p:ext>
    </p:extLst>
  </p:cSld>
  <p:clrMapOvr>
    <a:masterClrMapping/>
  </p:clrMapOvr>
  <p:transition>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ltLang="zh-CN"/>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ltLang="zh-CN"/>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1FA687D4-88A7-41E7-8A13-76CEC74FBD66}" type="slidenum">
              <a:rPr lang="en-US" altLang="zh-CN"/>
              <a:pPr>
                <a:defRPr/>
              </a:pPr>
              <a:t>‹#›</a:t>
            </a:fld>
            <a:endParaRPr lang="en-US" altLang="zh-CN"/>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Lst>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Garamond" pitchFamily="18" charset="0"/>
          <a:ea typeface="宋体" pitchFamily="2" charset="-122"/>
        </a:defRPr>
      </a:lvl2pPr>
      <a:lvl3pPr algn="l" rtl="0" eaLnBrk="0" fontAlgn="base" hangingPunct="0">
        <a:spcBef>
          <a:spcPct val="0"/>
        </a:spcBef>
        <a:spcAft>
          <a:spcPct val="0"/>
        </a:spcAft>
        <a:defRPr sz="4400" b="1">
          <a:solidFill>
            <a:schemeClr val="tx2"/>
          </a:solidFill>
          <a:latin typeface="Garamond" pitchFamily="18" charset="0"/>
          <a:ea typeface="宋体" pitchFamily="2" charset="-122"/>
        </a:defRPr>
      </a:lvl3pPr>
      <a:lvl4pPr algn="l" rtl="0" eaLnBrk="0" fontAlgn="base" hangingPunct="0">
        <a:spcBef>
          <a:spcPct val="0"/>
        </a:spcBef>
        <a:spcAft>
          <a:spcPct val="0"/>
        </a:spcAft>
        <a:defRPr sz="4400" b="1">
          <a:solidFill>
            <a:schemeClr val="tx2"/>
          </a:solidFill>
          <a:latin typeface="Garamond" pitchFamily="18" charset="0"/>
          <a:ea typeface="宋体" pitchFamily="2" charset="-122"/>
        </a:defRPr>
      </a:lvl4pPr>
      <a:lvl5pPr algn="l" rtl="0" eaLnBrk="0" fontAlgn="base" hangingPunct="0">
        <a:spcBef>
          <a:spcPct val="0"/>
        </a:spcBef>
        <a:spcAft>
          <a:spcPct val="0"/>
        </a:spcAft>
        <a:defRPr sz="4400" b="1">
          <a:solidFill>
            <a:schemeClr val="tx2"/>
          </a:solidFill>
          <a:latin typeface="Garamond" pitchFamily="18" charset="0"/>
          <a:ea typeface="宋体" pitchFamily="2" charset="-122"/>
        </a:defRPr>
      </a:lvl5pPr>
      <a:lvl6pPr marL="457200" algn="l" rtl="0" fontAlgn="base">
        <a:spcBef>
          <a:spcPct val="0"/>
        </a:spcBef>
        <a:spcAft>
          <a:spcPct val="0"/>
        </a:spcAft>
        <a:defRPr sz="4400" b="1">
          <a:solidFill>
            <a:schemeClr val="tx2"/>
          </a:solidFill>
          <a:latin typeface="Garamond" pitchFamily="18" charset="0"/>
          <a:ea typeface="宋体" pitchFamily="2" charset="-122"/>
        </a:defRPr>
      </a:lvl6pPr>
      <a:lvl7pPr marL="914400" algn="l" rtl="0" fontAlgn="base">
        <a:spcBef>
          <a:spcPct val="0"/>
        </a:spcBef>
        <a:spcAft>
          <a:spcPct val="0"/>
        </a:spcAft>
        <a:defRPr sz="4400" b="1">
          <a:solidFill>
            <a:schemeClr val="tx2"/>
          </a:solidFill>
          <a:latin typeface="Garamond" pitchFamily="18" charset="0"/>
          <a:ea typeface="宋体" pitchFamily="2" charset="-122"/>
        </a:defRPr>
      </a:lvl7pPr>
      <a:lvl8pPr marL="1371600" algn="l" rtl="0" fontAlgn="base">
        <a:spcBef>
          <a:spcPct val="0"/>
        </a:spcBef>
        <a:spcAft>
          <a:spcPct val="0"/>
        </a:spcAft>
        <a:defRPr sz="4400" b="1">
          <a:solidFill>
            <a:schemeClr val="tx2"/>
          </a:solidFill>
          <a:latin typeface="Garamond" pitchFamily="18" charset="0"/>
          <a:ea typeface="宋体" pitchFamily="2" charset="-122"/>
        </a:defRPr>
      </a:lvl8pPr>
      <a:lvl9pPr marL="1828800" algn="l" rtl="0" fontAlgn="base">
        <a:spcBef>
          <a:spcPct val="0"/>
        </a:spcBef>
        <a:spcAft>
          <a:spcPct val="0"/>
        </a:spcAft>
        <a:defRPr sz="44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idx="4294967295"/>
          </p:nvPr>
        </p:nvSpPr>
        <p:spPr>
          <a:xfrm>
            <a:off x="683568" y="4509120"/>
            <a:ext cx="8579296" cy="1139825"/>
          </a:xfrm>
        </p:spPr>
        <p:txBody>
          <a:bodyPr/>
          <a:lstStyle/>
          <a:p>
            <a:r>
              <a:rPr lang="zh-CN" altLang="en-US" sz="4000" dirty="0"/>
              <a:t>第</a:t>
            </a:r>
            <a:r>
              <a:rPr lang="zh-CN" altLang="zh-CN" sz="4000" dirty="0"/>
              <a:t>六</a:t>
            </a:r>
            <a:r>
              <a:rPr lang="zh-CN" altLang="en-US" sz="4000" dirty="0"/>
              <a:t>章</a:t>
            </a:r>
            <a:r>
              <a:rPr lang="zh-CN" altLang="zh-CN" sz="4000" dirty="0"/>
              <a:t> 项目管理环境</a:t>
            </a:r>
            <a:br>
              <a:rPr lang="en-US" altLang="zh-CN" sz="4000" dirty="0"/>
            </a:br>
            <a:br>
              <a:rPr lang="zh-CN" altLang="zh-CN" sz="4000" dirty="0"/>
            </a:br>
            <a:r>
              <a:rPr lang="en-US" altLang="zh-CN" sz="4000" dirty="0"/>
              <a:t>6. 1</a:t>
            </a:r>
            <a:r>
              <a:rPr lang="zh-CN" altLang="zh-CN" sz="4000" dirty="0"/>
              <a:t> </a:t>
            </a:r>
            <a:r>
              <a:rPr lang="en-US" altLang="zh-CN" sz="4000" dirty="0"/>
              <a:t> </a:t>
            </a:r>
            <a:r>
              <a:rPr lang="zh-CN" altLang="zh-CN" sz="4000" dirty="0"/>
              <a:t>项目外部环境</a:t>
            </a:r>
            <a:br>
              <a:rPr lang="zh-CN" altLang="zh-CN" sz="4000" dirty="0"/>
            </a:br>
            <a:r>
              <a:rPr lang="en-US" altLang="zh-CN" sz="4000" dirty="0"/>
              <a:t>6.2 </a:t>
            </a:r>
            <a:r>
              <a:rPr lang="zh-CN" altLang="zh-CN" sz="4000" dirty="0"/>
              <a:t> </a:t>
            </a:r>
            <a:r>
              <a:rPr lang="en-US" altLang="zh-CN" sz="4000" dirty="0"/>
              <a:t> </a:t>
            </a:r>
            <a:r>
              <a:rPr lang="zh-CN" altLang="zh-CN" sz="4000" dirty="0"/>
              <a:t>项目内部环境</a:t>
            </a:r>
            <a:br>
              <a:rPr lang="zh-CN" altLang="zh-CN" sz="4000" dirty="0"/>
            </a:br>
            <a:r>
              <a:rPr lang="en-US" altLang="zh-CN" sz="4000" dirty="0"/>
              <a:t>6.3  </a:t>
            </a:r>
            <a:r>
              <a:rPr lang="zh-CN" altLang="zh-CN" sz="4000" dirty="0"/>
              <a:t>项目环境的全局管理方法</a:t>
            </a:r>
            <a:br>
              <a:rPr lang="zh-CN" altLang="zh-CN" sz="4000" dirty="0"/>
            </a:br>
            <a:endParaRPr lang="zh-CN" alt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272CB9-2171-4944-BF17-A79BA0EF7B87}"/>
              </a:ext>
            </a:extLst>
          </p:cNvPr>
          <p:cNvSpPr/>
          <p:nvPr/>
        </p:nvSpPr>
        <p:spPr>
          <a:xfrm>
            <a:off x="467544" y="836712"/>
            <a:ext cx="8280920" cy="5509200"/>
          </a:xfrm>
          <a:prstGeom prst="rect">
            <a:avLst/>
          </a:prstGeom>
        </p:spPr>
        <p:txBody>
          <a:bodyPr wrap="square">
            <a:spAutoFit/>
          </a:bodyPr>
          <a:lstStyle/>
          <a:p>
            <a:r>
              <a:rPr lang="en-US" altLang="zh-CN" sz="3200" b="1" dirty="0">
                <a:solidFill>
                  <a:schemeClr val="accent6">
                    <a:lumMod val="75000"/>
                  </a:schemeClr>
                </a:solidFill>
              </a:rPr>
              <a:t>6. 1</a:t>
            </a:r>
            <a:r>
              <a:rPr lang="zh-CN" altLang="zh-CN" sz="3200" b="1" dirty="0">
                <a:solidFill>
                  <a:schemeClr val="accent6">
                    <a:lumMod val="75000"/>
                  </a:schemeClr>
                </a:solidFill>
              </a:rPr>
              <a:t> </a:t>
            </a:r>
            <a:r>
              <a:rPr lang="en-US" altLang="zh-CN" sz="3200" b="1" dirty="0">
                <a:solidFill>
                  <a:schemeClr val="accent6">
                    <a:lumMod val="75000"/>
                  </a:schemeClr>
                </a:solidFill>
              </a:rPr>
              <a:t> </a:t>
            </a:r>
            <a:r>
              <a:rPr lang="zh-CN" altLang="zh-CN" sz="3200" b="1" dirty="0">
                <a:solidFill>
                  <a:schemeClr val="accent6">
                    <a:lumMod val="75000"/>
                  </a:schemeClr>
                </a:solidFill>
              </a:rPr>
              <a:t>项目外部环境</a:t>
            </a:r>
            <a:endParaRPr lang="en-US" altLang="zh-CN" sz="3200" b="1" dirty="0">
              <a:solidFill>
                <a:schemeClr val="accent6">
                  <a:lumMod val="75000"/>
                </a:schemeClr>
              </a:solidFill>
            </a:endParaRPr>
          </a:p>
          <a:p>
            <a:endParaRPr lang="en-US" altLang="zh-CN" sz="3200" dirty="0"/>
          </a:p>
          <a:p>
            <a:r>
              <a:rPr lang="en-US" altLang="zh-CN" sz="3200" b="1" dirty="0">
                <a:solidFill>
                  <a:schemeClr val="accent6">
                    <a:lumMod val="75000"/>
                  </a:schemeClr>
                </a:solidFill>
              </a:rPr>
              <a:t>1</a:t>
            </a:r>
            <a:r>
              <a:rPr lang="zh-CN" altLang="en-US" sz="3200" b="1" dirty="0">
                <a:solidFill>
                  <a:schemeClr val="accent6">
                    <a:lumMod val="75000"/>
                  </a:schemeClr>
                </a:solidFill>
              </a:rPr>
              <a:t>、项目外部环境分析</a:t>
            </a:r>
            <a:endParaRPr lang="en-US" altLang="zh-CN" sz="3200" b="1" dirty="0">
              <a:solidFill>
                <a:schemeClr val="accent6">
                  <a:lumMod val="75000"/>
                </a:schemeClr>
              </a:solidFill>
            </a:endParaRPr>
          </a:p>
          <a:p>
            <a:r>
              <a:rPr lang="en-US" altLang="zh-CN" sz="3200" dirty="0"/>
              <a:t>——</a:t>
            </a:r>
            <a:r>
              <a:rPr lang="zh-CN" altLang="en-US" sz="3200" dirty="0"/>
              <a:t>‌宏观环境分析（</a:t>
            </a:r>
            <a:r>
              <a:rPr lang="en-US" altLang="zh-CN" sz="3200" dirty="0"/>
              <a:t>PEST</a:t>
            </a:r>
            <a:r>
              <a:rPr lang="zh-CN" altLang="en-US" sz="3200" dirty="0"/>
              <a:t>）‌：</a:t>
            </a:r>
          </a:p>
          <a:p>
            <a:r>
              <a:rPr lang="zh-CN" altLang="en-US" sz="3200" dirty="0"/>
              <a:t>（</a:t>
            </a:r>
            <a:r>
              <a:rPr lang="en-US" altLang="zh-CN" sz="3200" dirty="0"/>
              <a:t>1</a:t>
            </a:r>
            <a:r>
              <a:rPr lang="zh-CN" altLang="en-US" sz="3200" dirty="0"/>
              <a:t>）政治、经济、社会、技术环境的变化对项目的影响，例如行业政策调整或技术迭代带来的风险与机遇‌。</a:t>
            </a:r>
            <a:endParaRPr lang="en-US" altLang="zh-CN" sz="3200" dirty="0"/>
          </a:p>
          <a:p>
            <a:endParaRPr lang="zh-CN" altLang="en-US" sz="3200" dirty="0"/>
          </a:p>
          <a:p>
            <a:r>
              <a:rPr lang="zh-CN" altLang="en-US" sz="3200" dirty="0"/>
              <a:t>（</a:t>
            </a:r>
            <a:r>
              <a:rPr lang="en-US" altLang="zh-CN" sz="3200" dirty="0"/>
              <a:t>2</a:t>
            </a:r>
            <a:r>
              <a:rPr lang="zh-CN" altLang="en-US" sz="3200" dirty="0"/>
              <a:t>）通过行业数据库和专题研讨输出外部关键成功要素。</a:t>
            </a:r>
          </a:p>
          <a:p>
            <a:r>
              <a:rPr lang="zh-CN" altLang="en-US" sz="3200" dirty="0"/>
              <a:t>‌</a:t>
            </a:r>
          </a:p>
        </p:txBody>
      </p:sp>
    </p:spTree>
    <p:extLst>
      <p:ext uri="{BB962C8B-B14F-4D97-AF65-F5344CB8AC3E}">
        <p14:creationId xmlns:p14="http://schemas.microsoft.com/office/powerpoint/2010/main" val="364836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13A26D5-FBF8-4F3E-8D0C-12E7026A6A80}"/>
              </a:ext>
            </a:extLst>
          </p:cNvPr>
          <p:cNvSpPr/>
          <p:nvPr/>
        </p:nvSpPr>
        <p:spPr>
          <a:xfrm>
            <a:off x="453444" y="379339"/>
            <a:ext cx="8640452" cy="6001643"/>
          </a:xfrm>
          <a:prstGeom prst="rect">
            <a:avLst/>
          </a:prstGeom>
        </p:spPr>
        <p:txBody>
          <a:bodyPr wrap="square">
            <a:spAutoFit/>
          </a:bodyPr>
          <a:lstStyle/>
          <a:p>
            <a:r>
              <a:rPr lang="en-US" altLang="zh-CN" sz="3200" b="1" dirty="0">
                <a:solidFill>
                  <a:schemeClr val="accent6">
                    <a:lumMod val="75000"/>
                  </a:schemeClr>
                </a:solidFill>
              </a:rPr>
              <a:t>2</a:t>
            </a:r>
            <a:r>
              <a:rPr lang="zh-CN" altLang="en-US" sz="3200" b="1" dirty="0">
                <a:solidFill>
                  <a:schemeClr val="accent6">
                    <a:lumMod val="75000"/>
                  </a:schemeClr>
                </a:solidFill>
              </a:rPr>
              <a:t>、市场与竞争分析‌：</a:t>
            </a:r>
            <a:endParaRPr lang="en-US" altLang="zh-CN" sz="3200" b="1" dirty="0">
              <a:solidFill>
                <a:schemeClr val="accent6">
                  <a:lumMod val="75000"/>
                </a:schemeClr>
              </a:solidFill>
            </a:endParaRPr>
          </a:p>
          <a:p>
            <a:r>
              <a:rPr lang="zh-CN" altLang="en-US" sz="3200" dirty="0"/>
              <a:t>（</a:t>
            </a:r>
            <a:r>
              <a:rPr lang="en-US" altLang="zh-CN" sz="3200" dirty="0"/>
              <a:t>1</a:t>
            </a:r>
            <a:r>
              <a:rPr lang="zh-CN" altLang="en-US" sz="3200" dirty="0"/>
              <a:t>）行业发展趋势、客户需求点挖掘，使用波特五力模型评估行业竞争程度。</a:t>
            </a:r>
            <a:endParaRPr lang="en-US" altLang="zh-CN" sz="3200" dirty="0"/>
          </a:p>
          <a:p>
            <a:endParaRPr lang="zh-CN" altLang="en-US" sz="3200" dirty="0"/>
          </a:p>
          <a:p>
            <a:r>
              <a:rPr lang="zh-CN" altLang="en-US" sz="3200" dirty="0"/>
              <a:t>（</a:t>
            </a:r>
            <a:r>
              <a:rPr lang="en-US" altLang="zh-CN" sz="3200" dirty="0"/>
              <a:t>2</a:t>
            </a:r>
            <a:r>
              <a:rPr lang="zh-CN" altLang="en-US" sz="3200" dirty="0"/>
              <a:t>）关注新兴技术（如</a:t>
            </a:r>
            <a:r>
              <a:rPr lang="en-US" altLang="zh-CN" sz="3200" dirty="0"/>
              <a:t>AI</a:t>
            </a:r>
            <a:r>
              <a:rPr lang="zh-CN" altLang="en-US" sz="3200" dirty="0"/>
              <a:t>、区块链）和创新商业模式对项目的影响‌。</a:t>
            </a:r>
            <a:endParaRPr lang="en-US" altLang="zh-CN" sz="3200" dirty="0"/>
          </a:p>
          <a:p>
            <a:endParaRPr lang="zh-CN" altLang="en-US" sz="3200" dirty="0"/>
          </a:p>
          <a:p>
            <a:r>
              <a:rPr lang="zh-CN" altLang="en-US" sz="3200" dirty="0"/>
              <a:t>‌</a:t>
            </a:r>
            <a:r>
              <a:rPr lang="en-US" altLang="zh-CN" sz="3200" b="1" dirty="0">
                <a:solidFill>
                  <a:schemeClr val="accent6">
                    <a:lumMod val="75000"/>
                  </a:schemeClr>
                </a:solidFill>
              </a:rPr>
              <a:t>3</a:t>
            </a:r>
            <a:r>
              <a:rPr lang="zh-CN" altLang="en-US" sz="3200" b="1" dirty="0">
                <a:solidFill>
                  <a:schemeClr val="accent6">
                    <a:lumMod val="75000"/>
                  </a:schemeClr>
                </a:solidFill>
              </a:rPr>
              <a:t>、利益相关方管理‌：</a:t>
            </a:r>
            <a:endParaRPr lang="en-US" altLang="zh-CN" sz="3200" b="1" dirty="0">
              <a:solidFill>
                <a:schemeClr val="accent6">
                  <a:lumMod val="75000"/>
                </a:schemeClr>
              </a:solidFill>
            </a:endParaRPr>
          </a:p>
          <a:p>
            <a:endParaRPr lang="zh-CN" altLang="en-US" sz="3200" dirty="0"/>
          </a:p>
          <a:p>
            <a:r>
              <a:rPr lang="zh-CN" altLang="en-US" sz="3200" dirty="0"/>
              <a:t>识别外部利益相关方（如客户、供应商、建设单位、施工单位、投资单位、监管部门等），分析其需求和潜在冲突，建立沟通机制‌。</a:t>
            </a:r>
          </a:p>
        </p:txBody>
      </p:sp>
    </p:spTree>
    <p:extLst>
      <p:ext uri="{BB962C8B-B14F-4D97-AF65-F5344CB8AC3E}">
        <p14:creationId xmlns:p14="http://schemas.microsoft.com/office/powerpoint/2010/main" val="114856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272CB9-2171-4944-BF17-A79BA0EF7B87}"/>
              </a:ext>
            </a:extLst>
          </p:cNvPr>
          <p:cNvSpPr/>
          <p:nvPr/>
        </p:nvSpPr>
        <p:spPr>
          <a:xfrm>
            <a:off x="467544" y="836712"/>
            <a:ext cx="8280920" cy="5016758"/>
          </a:xfrm>
          <a:prstGeom prst="rect">
            <a:avLst/>
          </a:prstGeom>
        </p:spPr>
        <p:txBody>
          <a:bodyPr wrap="square">
            <a:spAutoFit/>
          </a:bodyPr>
          <a:lstStyle/>
          <a:p>
            <a:r>
              <a:rPr lang="en-US" altLang="zh-CN" sz="3200" b="1" dirty="0">
                <a:solidFill>
                  <a:schemeClr val="accent6">
                    <a:lumMod val="75000"/>
                  </a:schemeClr>
                </a:solidFill>
              </a:rPr>
              <a:t>6. 2</a:t>
            </a:r>
            <a:r>
              <a:rPr lang="zh-CN" altLang="zh-CN" sz="3200" b="1" dirty="0">
                <a:solidFill>
                  <a:schemeClr val="accent6">
                    <a:lumMod val="75000"/>
                  </a:schemeClr>
                </a:solidFill>
              </a:rPr>
              <a:t> </a:t>
            </a:r>
            <a:r>
              <a:rPr lang="en-US" altLang="zh-CN" sz="3200" b="1" dirty="0">
                <a:solidFill>
                  <a:schemeClr val="accent6">
                    <a:lumMod val="75000"/>
                  </a:schemeClr>
                </a:solidFill>
              </a:rPr>
              <a:t> </a:t>
            </a:r>
            <a:r>
              <a:rPr lang="zh-CN" altLang="zh-CN" sz="3200" b="1" dirty="0">
                <a:solidFill>
                  <a:schemeClr val="accent6">
                    <a:lumMod val="75000"/>
                  </a:schemeClr>
                </a:solidFill>
              </a:rPr>
              <a:t>项目</a:t>
            </a:r>
            <a:r>
              <a:rPr lang="zh-CN" altLang="en-US" sz="3200" b="1" dirty="0">
                <a:solidFill>
                  <a:schemeClr val="accent6">
                    <a:lumMod val="75000"/>
                  </a:schemeClr>
                </a:solidFill>
              </a:rPr>
              <a:t>内</a:t>
            </a:r>
            <a:r>
              <a:rPr lang="zh-CN" altLang="zh-CN" sz="3200" b="1" dirty="0">
                <a:solidFill>
                  <a:schemeClr val="accent6">
                    <a:lumMod val="75000"/>
                  </a:schemeClr>
                </a:solidFill>
              </a:rPr>
              <a:t>部环境</a:t>
            </a:r>
            <a:endParaRPr lang="en-US" altLang="zh-CN" sz="3200" b="1" dirty="0">
              <a:solidFill>
                <a:schemeClr val="accent6">
                  <a:lumMod val="75000"/>
                </a:schemeClr>
              </a:solidFill>
            </a:endParaRPr>
          </a:p>
          <a:p>
            <a:endParaRPr lang="en-US" altLang="zh-CN" sz="3200" dirty="0"/>
          </a:p>
          <a:p>
            <a:r>
              <a:rPr lang="en-US" altLang="zh-CN" sz="3200" b="1" dirty="0">
                <a:solidFill>
                  <a:schemeClr val="accent6">
                    <a:lumMod val="75000"/>
                  </a:schemeClr>
                </a:solidFill>
              </a:rPr>
              <a:t>1</a:t>
            </a:r>
            <a:r>
              <a:rPr lang="zh-CN" altLang="en-US" sz="3200" b="1" dirty="0">
                <a:solidFill>
                  <a:schemeClr val="accent6">
                    <a:lumMod val="75000"/>
                  </a:schemeClr>
                </a:solidFill>
              </a:rPr>
              <a:t>、</a:t>
            </a:r>
            <a:r>
              <a:rPr lang="zh-CN" altLang="en-US" sz="3200" dirty="0"/>
              <a:t>‌</a:t>
            </a:r>
            <a:r>
              <a:rPr lang="zh-CN" altLang="en-US" sz="3200" b="1" dirty="0"/>
              <a:t>组织与团队能力</a:t>
            </a:r>
            <a:r>
              <a:rPr lang="zh-CN" altLang="en-US" sz="3200" dirty="0"/>
              <a:t>‌：</a:t>
            </a:r>
            <a:endParaRPr lang="en-US" altLang="zh-CN" sz="3200" dirty="0"/>
          </a:p>
          <a:p>
            <a:endParaRPr lang="zh-CN" altLang="en-US" sz="3200" dirty="0"/>
          </a:p>
          <a:p>
            <a:r>
              <a:rPr lang="zh-CN" altLang="en-US" sz="3200" dirty="0"/>
              <a:t>（</a:t>
            </a:r>
            <a:r>
              <a:rPr lang="en-US" altLang="zh-CN" sz="3200" dirty="0"/>
              <a:t>1</a:t>
            </a:r>
            <a:r>
              <a:rPr lang="zh-CN" altLang="en-US" sz="3200" dirty="0"/>
              <a:t>）评估团队成员的技能、经验及协作效率，建立明确的职责分配机制。</a:t>
            </a:r>
          </a:p>
          <a:p>
            <a:endParaRPr lang="en-US" altLang="zh-CN" sz="3200" dirty="0"/>
          </a:p>
          <a:p>
            <a:r>
              <a:rPr lang="zh-CN" altLang="en-US" sz="3200" dirty="0"/>
              <a:t>（</a:t>
            </a:r>
            <a:r>
              <a:rPr lang="en-US" altLang="zh-CN" sz="3200" dirty="0"/>
              <a:t>2</a:t>
            </a:r>
            <a:r>
              <a:rPr lang="zh-CN" altLang="en-US" sz="3200" dirty="0"/>
              <a:t>）分析组织结构与管理模式，优化决策流程和资源调配方式‌。</a:t>
            </a:r>
            <a:br>
              <a:rPr lang="zh-CN" altLang="en-US" sz="3200" dirty="0"/>
            </a:br>
            <a:r>
              <a:rPr lang="zh-CN" altLang="en-US" sz="3200" dirty="0"/>
              <a:t>‌</a:t>
            </a:r>
          </a:p>
        </p:txBody>
      </p:sp>
    </p:spTree>
    <p:extLst>
      <p:ext uri="{BB962C8B-B14F-4D97-AF65-F5344CB8AC3E}">
        <p14:creationId xmlns:p14="http://schemas.microsoft.com/office/powerpoint/2010/main" val="1418571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5573748-D149-4463-B5C0-5AC4958DE5FB}"/>
              </a:ext>
            </a:extLst>
          </p:cNvPr>
          <p:cNvSpPr/>
          <p:nvPr/>
        </p:nvSpPr>
        <p:spPr>
          <a:xfrm>
            <a:off x="179512" y="980728"/>
            <a:ext cx="8964488" cy="4832092"/>
          </a:xfrm>
          <a:prstGeom prst="rect">
            <a:avLst/>
          </a:prstGeom>
        </p:spPr>
        <p:txBody>
          <a:bodyPr wrap="square">
            <a:spAutoFit/>
          </a:bodyPr>
          <a:lstStyle/>
          <a:p>
            <a:r>
              <a:rPr lang="en-US" altLang="zh-CN" sz="2800" b="1" dirty="0">
                <a:solidFill>
                  <a:srgbClr val="333333"/>
                </a:solidFill>
                <a:latin typeface="PingFang SC"/>
              </a:rPr>
              <a:t>2</a:t>
            </a:r>
            <a:r>
              <a:rPr lang="zh-CN" altLang="en-US" sz="2800" b="1" dirty="0">
                <a:solidFill>
                  <a:srgbClr val="333333"/>
                </a:solidFill>
                <a:latin typeface="PingFang SC"/>
              </a:rPr>
              <a:t>、资源与约束条件</a:t>
            </a:r>
            <a:r>
              <a:rPr lang="zh-CN" altLang="en-US" sz="2800" dirty="0">
                <a:solidFill>
                  <a:srgbClr val="333333"/>
                </a:solidFill>
                <a:latin typeface="PingFang SC"/>
              </a:rPr>
              <a:t>‌：</a:t>
            </a:r>
            <a:endParaRPr lang="en-US" altLang="zh-CN" sz="2800" dirty="0">
              <a:solidFill>
                <a:srgbClr val="333333"/>
              </a:solidFill>
              <a:latin typeface="PingFang SC"/>
            </a:endParaRPr>
          </a:p>
          <a:p>
            <a:endParaRPr lang="zh-CN" altLang="en-US" sz="2800" dirty="0">
              <a:solidFill>
                <a:srgbClr val="333333"/>
              </a:solidFill>
              <a:latin typeface="PingFang SC"/>
            </a:endParaRPr>
          </a:p>
          <a:p>
            <a:pPr lvl="1"/>
            <a:r>
              <a:rPr lang="zh-CN" altLang="en-US" sz="2800" dirty="0">
                <a:solidFill>
                  <a:srgbClr val="333333"/>
                </a:solidFill>
                <a:latin typeface="PingFang SC"/>
              </a:rPr>
              <a:t>（</a:t>
            </a:r>
            <a:r>
              <a:rPr lang="en-US" altLang="zh-CN" sz="2800" dirty="0">
                <a:solidFill>
                  <a:srgbClr val="333333"/>
                </a:solidFill>
                <a:latin typeface="PingFang SC"/>
              </a:rPr>
              <a:t>1</a:t>
            </a:r>
            <a:r>
              <a:rPr lang="zh-CN" altLang="en-US" sz="2800" dirty="0">
                <a:solidFill>
                  <a:srgbClr val="333333"/>
                </a:solidFill>
                <a:latin typeface="PingFang SC"/>
              </a:rPr>
              <a:t>）明确项目预算、周期和技术需求，关注成本效益原则与关键路径任务的时间控制‌。</a:t>
            </a:r>
          </a:p>
          <a:p>
            <a:pPr lvl="1"/>
            <a:r>
              <a:rPr lang="zh-CN" altLang="en-US" sz="2800" dirty="0">
                <a:solidFill>
                  <a:srgbClr val="333333"/>
                </a:solidFill>
                <a:latin typeface="PingFang SC"/>
              </a:rPr>
              <a:t>（</a:t>
            </a:r>
            <a:r>
              <a:rPr lang="en-US" altLang="zh-CN" sz="2800" dirty="0">
                <a:solidFill>
                  <a:srgbClr val="333333"/>
                </a:solidFill>
                <a:latin typeface="PingFang SC"/>
              </a:rPr>
              <a:t>2</a:t>
            </a:r>
            <a:r>
              <a:rPr lang="zh-CN" altLang="en-US" sz="2800" dirty="0">
                <a:solidFill>
                  <a:srgbClr val="333333"/>
                </a:solidFill>
                <a:latin typeface="PingFang SC"/>
              </a:rPr>
              <a:t>）总结企业核心能力（如研发优势、资金实力）与劣势（如流程冗余）。</a:t>
            </a:r>
            <a:endParaRPr lang="en-US" altLang="zh-CN" sz="2800" dirty="0">
              <a:solidFill>
                <a:srgbClr val="333333"/>
              </a:solidFill>
              <a:latin typeface="PingFang SC"/>
            </a:endParaRPr>
          </a:p>
          <a:p>
            <a:pPr lvl="1"/>
            <a:endParaRPr lang="zh-CN" altLang="en-US" sz="2800" dirty="0">
              <a:solidFill>
                <a:srgbClr val="333333"/>
              </a:solidFill>
              <a:latin typeface="PingFang SC"/>
            </a:endParaRPr>
          </a:p>
          <a:p>
            <a:r>
              <a:rPr lang="en-US" altLang="zh-CN" sz="2800" b="1" dirty="0">
                <a:solidFill>
                  <a:srgbClr val="333333"/>
                </a:solidFill>
                <a:latin typeface="PingFang SC"/>
              </a:rPr>
              <a:t>3</a:t>
            </a:r>
            <a:r>
              <a:rPr lang="zh-CN" altLang="en-US" sz="2800" b="1" dirty="0">
                <a:solidFill>
                  <a:srgbClr val="333333"/>
                </a:solidFill>
                <a:latin typeface="PingFang SC"/>
              </a:rPr>
              <a:t>、制度与文化</a:t>
            </a:r>
            <a:r>
              <a:rPr lang="zh-CN" altLang="en-US" sz="2800" dirty="0">
                <a:solidFill>
                  <a:srgbClr val="333333"/>
                </a:solidFill>
                <a:latin typeface="PingFang SC"/>
              </a:rPr>
              <a:t>‌：</a:t>
            </a:r>
            <a:endParaRPr lang="en-US" altLang="zh-CN" sz="2800" dirty="0">
              <a:solidFill>
                <a:srgbClr val="333333"/>
              </a:solidFill>
              <a:latin typeface="PingFang SC"/>
            </a:endParaRPr>
          </a:p>
          <a:p>
            <a:endParaRPr lang="zh-CN" altLang="en-US" sz="2800" dirty="0">
              <a:solidFill>
                <a:srgbClr val="333333"/>
              </a:solidFill>
              <a:latin typeface="PingFang SC"/>
            </a:endParaRPr>
          </a:p>
          <a:p>
            <a:pPr lvl="1"/>
            <a:r>
              <a:rPr lang="zh-CN" altLang="en-US" sz="2800" dirty="0">
                <a:solidFill>
                  <a:srgbClr val="333333"/>
                </a:solidFill>
                <a:latin typeface="PingFang SC"/>
              </a:rPr>
              <a:t>通过战略文件研读和案例研究，提炼组织文化对项目执行的影响（如创新导向或风险规避型文化）。</a:t>
            </a:r>
            <a:endParaRPr lang="zh-CN" altLang="en-US" sz="2800" b="0" i="0" dirty="0">
              <a:solidFill>
                <a:srgbClr val="333333"/>
              </a:solidFill>
              <a:effectLst/>
              <a:latin typeface="PingFang SC"/>
            </a:endParaRPr>
          </a:p>
        </p:txBody>
      </p:sp>
    </p:spTree>
    <p:extLst>
      <p:ext uri="{BB962C8B-B14F-4D97-AF65-F5344CB8AC3E}">
        <p14:creationId xmlns:p14="http://schemas.microsoft.com/office/powerpoint/2010/main" val="127219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272CB9-2171-4944-BF17-A79BA0EF7B87}"/>
              </a:ext>
            </a:extLst>
          </p:cNvPr>
          <p:cNvSpPr/>
          <p:nvPr/>
        </p:nvSpPr>
        <p:spPr>
          <a:xfrm>
            <a:off x="467544" y="836712"/>
            <a:ext cx="8280920" cy="3046988"/>
          </a:xfrm>
          <a:prstGeom prst="rect">
            <a:avLst/>
          </a:prstGeom>
        </p:spPr>
        <p:txBody>
          <a:bodyPr wrap="square">
            <a:spAutoFit/>
          </a:bodyPr>
          <a:lstStyle/>
          <a:p>
            <a:r>
              <a:rPr lang="en-US" altLang="zh-CN" sz="3200" b="1" dirty="0">
                <a:solidFill>
                  <a:schemeClr val="accent6">
                    <a:lumMod val="75000"/>
                  </a:schemeClr>
                </a:solidFill>
              </a:rPr>
              <a:t>6.3  </a:t>
            </a:r>
            <a:r>
              <a:rPr lang="zh-CN" altLang="zh-CN" sz="3200" b="1" dirty="0">
                <a:solidFill>
                  <a:schemeClr val="accent6">
                    <a:lumMod val="75000"/>
                  </a:schemeClr>
                </a:solidFill>
              </a:rPr>
              <a:t>项目环境的全局管理方法</a:t>
            </a:r>
            <a:br>
              <a:rPr lang="zh-CN" altLang="zh-CN" sz="3200" dirty="0"/>
            </a:br>
            <a:endParaRPr lang="en-US" altLang="zh-CN" sz="3200" dirty="0"/>
          </a:p>
          <a:p>
            <a:r>
              <a:rPr lang="en-US" altLang="zh-CN" sz="3200" b="1" dirty="0">
                <a:solidFill>
                  <a:schemeClr val="accent6">
                    <a:lumMod val="75000"/>
                  </a:schemeClr>
                </a:solidFill>
              </a:rPr>
              <a:t>1</a:t>
            </a:r>
            <a:r>
              <a:rPr lang="zh-CN" altLang="en-US" sz="3200" b="1" dirty="0">
                <a:solidFill>
                  <a:schemeClr val="accent6">
                    <a:lumMod val="75000"/>
                  </a:schemeClr>
                </a:solidFill>
              </a:rPr>
              <a:t>、</a:t>
            </a:r>
            <a:r>
              <a:rPr lang="zh-CN" altLang="zh-CN" sz="3200" b="1" dirty="0">
                <a:solidFill>
                  <a:schemeClr val="accent6">
                    <a:lumMod val="75000"/>
                  </a:schemeClr>
                </a:solidFill>
              </a:rPr>
              <a:t>项目环境的全局管理方法</a:t>
            </a:r>
            <a:r>
              <a:rPr lang="zh-CN" altLang="en-US" sz="3200" b="1" dirty="0">
                <a:solidFill>
                  <a:schemeClr val="accent6">
                    <a:lumMod val="75000"/>
                  </a:schemeClr>
                </a:solidFill>
              </a:rPr>
              <a:t>是</a:t>
            </a:r>
            <a:r>
              <a:rPr lang="zh-CN" altLang="en-US" sz="3200" dirty="0"/>
              <a:t>通过整合内外部环境因素，系统性规划、执行和监控项目活动，实现资源优化与风险可控‌。</a:t>
            </a:r>
            <a:br>
              <a:rPr lang="zh-CN" altLang="en-US" sz="3200" dirty="0"/>
            </a:br>
            <a:r>
              <a:rPr lang="zh-CN" altLang="en-US" sz="3200" dirty="0"/>
              <a:t>‌</a:t>
            </a:r>
          </a:p>
        </p:txBody>
      </p:sp>
    </p:spTree>
    <p:extLst>
      <p:ext uri="{BB962C8B-B14F-4D97-AF65-F5344CB8AC3E}">
        <p14:creationId xmlns:p14="http://schemas.microsoft.com/office/powerpoint/2010/main" val="1253141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3CDCCAF-C40A-4D1F-99D2-27B4A7F516F4}"/>
              </a:ext>
            </a:extLst>
          </p:cNvPr>
          <p:cNvSpPr/>
          <p:nvPr/>
        </p:nvSpPr>
        <p:spPr>
          <a:xfrm>
            <a:off x="395536" y="1646824"/>
            <a:ext cx="8604448" cy="5016758"/>
          </a:xfrm>
          <a:prstGeom prst="rect">
            <a:avLst/>
          </a:prstGeom>
        </p:spPr>
        <p:txBody>
          <a:bodyPr wrap="square">
            <a:spAutoFit/>
          </a:bodyPr>
          <a:lstStyle/>
          <a:p>
            <a:r>
              <a:rPr lang="en-US" altLang="zh-CN" sz="3200" b="1" dirty="0">
                <a:solidFill>
                  <a:srgbClr val="333333"/>
                </a:solidFill>
                <a:latin typeface="PingFang SC"/>
              </a:rPr>
              <a:t>2</a:t>
            </a:r>
            <a:r>
              <a:rPr lang="zh-CN" altLang="en-US" sz="3200" b="1" dirty="0">
                <a:solidFill>
                  <a:srgbClr val="333333"/>
                </a:solidFill>
                <a:latin typeface="PingFang SC"/>
              </a:rPr>
              <a:t>、项目环境全局管理方法</a:t>
            </a:r>
            <a:r>
              <a:rPr lang="zh-CN" altLang="en-US" sz="3200" dirty="0">
                <a:solidFill>
                  <a:srgbClr val="333333"/>
                </a:solidFill>
                <a:latin typeface="PingFang SC"/>
              </a:rPr>
              <a:t>‌主要包括以下几个方面：</a:t>
            </a:r>
          </a:p>
          <a:p>
            <a:r>
              <a:rPr lang="zh-CN" altLang="en-US" sz="3200" b="1" dirty="0">
                <a:solidFill>
                  <a:srgbClr val="333333"/>
                </a:solidFill>
                <a:latin typeface="PingFang SC"/>
              </a:rPr>
              <a:t>（</a:t>
            </a:r>
            <a:r>
              <a:rPr lang="en-US" altLang="zh-CN" sz="3200" b="1" dirty="0">
                <a:solidFill>
                  <a:srgbClr val="333333"/>
                </a:solidFill>
                <a:latin typeface="PingFang SC"/>
              </a:rPr>
              <a:t>1</a:t>
            </a:r>
            <a:r>
              <a:rPr lang="zh-CN" altLang="en-US" sz="3200" b="1" dirty="0">
                <a:solidFill>
                  <a:srgbClr val="333333"/>
                </a:solidFill>
                <a:latin typeface="PingFang SC"/>
              </a:rPr>
              <a:t>）明确项目目标并制定完善的项目计划</a:t>
            </a:r>
            <a:r>
              <a:rPr lang="zh-CN" altLang="en-US" sz="3200" dirty="0">
                <a:solidFill>
                  <a:srgbClr val="333333"/>
                </a:solidFill>
                <a:latin typeface="PingFang SC"/>
              </a:rPr>
              <a:t>‌：</a:t>
            </a:r>
            <a:endParaRPr lang="en-US" altLang="zh-CN" sz="3200" dirty="0">
              <a:solidFill>
                <a:srgbClr val="333333"/>
              </a:solidFill>
              <a:latin typeface="PingFang SC"/>
            </a:endParaRPr>
          </a:p>
          <a:p>
            <a:r>
              <a:rPr lang="zh-CN" altLang="en-US" sz="3200" dirty="0">
                <a:solidFill>
                  <a:srgbClr val="333333"/>
                </a:solidFill>
                <a:latin typeface="PingFang SC"/>
              </a:rPr>
              <a:t>项目目标应该是具体的、明确的、可衡量的、可实现的，并且有时限性。</a:t>
            </a:r>
            <a:endParaRPr lang="en-US" altLang="zh-CN" sz="3200" dirty="0">
              <a:solidFill>
                <a:srgbClr val="333333"/>
              </a:solidFill>
              <a:latin typeface="PingFang SC"/>
            </a:endParaRPr>
          </a:p>
          <a:p>
            <a:r>
              <a:rPr lang="zh-CN" altLang="en-US" sz="3200" dirty="0">
                <a:solidFill>
                  <a:srgbClr val="333333"/>
                </a:solidFill>
                <a:latin typeface="PingFang SC"/>
              </a:rPr>
              <a:t>制定项目计划时，应包括项目的时间表、预算、资源和风险等方面的考虑，并且计划应该是灵活的，可以根据项目进展进行调整。</a:t>
            </a:r>
            <a:endParaRPr lang="en-US" altLang="zh-CN" sz="3200" dirty="0">
              <a:solidFill>
                <a:srgbClr val="333333"/>
              </a:solidFill>
              <a:latin typeface="PingFang SC"/>
            </a:endParaRPr>
          </a:p>
          <a:p>
            <a:br>
              <a:rPr lang="zh-CN" altLang="en-US" sz="3200" dirty="0"/>
            </a:br>
            <a:endParaRPr lang="zh-CN" altLang="en-US" sz="3200" dirty="0"/>
          </a:p>
        </p:txBody>
      </p:sp>
    </p:spTree>
    <p:extLst>
      <p:ext uri="{BB962C8B-B14F-4D97-AF65-F5344CB8AC3E}">
        <p14:creationId xmlns:p14="http://schemas.microsoft.com/office/powerpoint/2010/main" val="4131512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213FD06-0B96-4DB6-BA3B-DEC56AD5E503}"/>
              </a:ext>
            </a:extLst>
          </p:cNvPr>
          <p:cNvSpPr/>
          <p:nvPr/>
        </p:nvSpPr>
        <p:spPr>
          <a:xfrm>
            <a:off x="395536" y="1484784"/>
            <a:ext cx="8496944" cy="5797293"/>
          </a:xfrm>
          <a:prstGeom prst="rect">
            <a:avLst/>
          </a:prstGeom>
        </p:spPr>
        <p:txBody>
          <a:bodyPr wrap="square">
            <a:spAutoFit/>
          </a:bodyPr>
          <a:lstStyle/>
          <a:p>
            <a:pPr>
              <a:lnSpc>
                <a:spcPct val="150000"/>
              </a:lnSpc>
            </a:pPr>
            <a:r>
              <a:rPr lang="zh-CN" altLang="en-US" sz="3600" b="1" dirty="0">
                <a:solidFill>
                  <a:srgbClr val="333333"/>
                </a:solidFill>
                <a:latin typeface="PingFang SC"/>
              </a:rPr>
              <a:t>（</a:t>
            </a:r>
            <a:r>
              <a:rPr lang="en-US" altLang="zh-CN" sz="3600" b="1" dirty="0">
                <a:solidFill>
                  <a:srgbClr val="333333"/>
                </a:solidFill>
                <a:latin typeface="PingFang SC"/>
              </a:rPr>
              <a:t>2</a:t>
            </a:r>
            <a:r>
              <a:rPr lang="zh-CN" altLang="en-US" sz="3600" b="1" dirty="0">
                <a:solidFill>
                  <a:srgbClr val="333333"/>
                </a:solidFill>
                <a:latin typeface="PingFang SC"/>
              </a:rPr>
              <a:t>）有效的团队协作和沟通</a:t>
            </a:r>
            <a:r>
              <a:rPr lang="zh-CN" altLang="en-US" sz="3600" dirty="0">
                <a:solidFill>
                  <a:srgbClr val="333333"/>
                </a:solidFill>
                <a:latin typeface="PingFang SC"/>
              </a:rPr>
              <a:t>‌：</a:t>
            </a:r>
            <a:endParaRPr lang="en-US" altLang="zh-CN" sz="3600" dirty="0">
              <a:solidFill>
                <a:srgbClr val="333333"/>
              </a:solidFill>
              <a:latin typeface="PingFang SC"/>
            </a:endParaRPr>
          </a:p>
          <a:p>
            <a:pPr>
              <a:lnSpc>
                <a:spcPct val="150000"/>
              </a:lnSpc>
            </a:pPr>
            <a:endParaRPr lang="en-US" altLang="zh-CN" sz="3600" dirty="0">
              <a:solidFill>
                <a:srgbClr val="333333"/>
              </a:solidFill>
              <a:latin typeface="PingFang SC"/>
            </a:endParaRPr>
          </a:p>
          <a:p>
            <a:pPr>
              <a:lnSpc>
                <a:spcPct val="150000"/>
              </a:lnSpc>
            </a:pPr>
            <a:r>
              <a:rPr lang="zh-CN" altLang="en-US" sz="3600" dirty="0">
                <a:solidFill>
                  <a:srgbClr val="333333"/>
                </a:solidFill>
                <a:latin typeface="PingFang SC"/>
              </a:rPr>
              <a:t>  建立一个开放的沟通环境，鼓励团队成员积极沟通，及时解决问题。定期召开项目会议，了解项目进展情况，解决出现的问题‌</a:t>
            </a:r>
            <a:br>
              <a:rPr lang="zh-CN" altLang="en-US" sz="3600" dirty="0">
                <a:solidFill>
                  <a:srgbClr val="333333"/>
                </a:solidFill>
                <a:latin typeface="PingFang SC"/>
              </a:rPr>
            </a:br>
            <a:endParaRPr lang="zh-CN" altLang="en-US" sz="3600" dirty="0"/>
          </a:p>
        </p:txBody>
      </p:sp>
    </p:spTree>
    <p:extLst>
      <p:ext uri="{BB962C8B-B14F-4D97-AF65-F5344CB8AC3E}">
        <p14:creationId xmlns:p14="http://schemas.microsoft.com/office/powerpoint/2010/main" val="426285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CDF0ED0-0A66-4A24-AEFF-C8D24EEA5CC4}"/>
              </a:ext>
            </a:extLst>
          </p:cNvPr>
          <p:cNvSpPr/>
          <p:nvPr/>
        </p:nvSpPr>
        <p:spPr>
          <a:xfrm>
            <a:off x="683568" y="764704"/>
            <a:ext cx="8280920" cy="4992457"/>
          </a:xfrm>
          <a:prstGeom prst="rect">
            <a:avLst/>
          </a:prstGeom>
        </p:spPr>
        <p:txBody>
          <a:bodyPr wrap="square">
            <a:spAutoFit/>
          </a:bodyPr>
          <a:lstStyle/>
          <a:p>
            <a:pPr>
              <a:lnSpc>
                <a:spcPct val="150000"/>
              </a:lnSpc>
            </a:pPr>
            <a:r>
              <a:rPr lang="zh-CN" altLang="en-US" sz="3600" b="1" dirty="0">
                <a:solidFill>
                  <a:srgbClr val="333333"/>
                </a:solidFill>
                <a:latin typeface="PingFang SC"/>
              </a:rPr>
              <a:t>（</a:t>
            </a:r>
            <a:r>
              <a:rPr lang="en-US" altLang="zh-CN" sz="3600" b="1" dirty="0">
                <a:solidFill>
                  <a:srgbClr val="333333"/>
                </a:solidFill>
                <a:latin typeface="PingFang SC"/>
              </a:rPr>
              <a:t>3</a:t>
            </a:r>
            <a:r>
              <a:rPr lang="zh-CN" altLang="en-US" sz="3600" b="1" dirty="0">
                <a:solidFill>
                  <a:srgbClr val="333333"/>
                </a:solidFill>
                <a:latin typeface="PingFang SC"/>
              </a:rPr>
              <a:t>）使用科技工具提升项目管理效率‌：</a:t>
            </a:r>
            <a:endParaRPr lang="en-US" altLang="zh-CN" sz="3600" b="1" dirty="0">
              <a:solidFill>
                <a:srgbClr val="333333"/>
              </a:solidFill>
              <a:latin typeface="PingFang SC"/>
            </a:endParaRPr>
          </a:p>
          <a:p>
            <a:pPr>
              <a:lnSpc>
                <a:spcPct val="150000"/>
              </a:lnSpc>
            </a:pPr>
            <a:r>
              <a:rPr lang="en-US" altLang="zh-CN" sz="3600" b="1" dirty="0">
                <a:solidFill>
                  <a:srgbClr val="333333"/>
                </a:solidFill>
                <a:latin typeface="PingFang SC"/>
              </a:rPr>
              <a:t>          </a:t>
            </a:r>
            <a:r>
              <a:rPr lang="zh-CN" altLang="en-US" sz="3600" b="1" dirty="0">
                <a:solidFill>
                  <a:srgbClr val="333333"/>
                </a:solidFill>
                <a:latin typeface="PingFang SC"/>
              </a:rPr>
              <a:t>使用项目管理工具如</a:t>
            </a:r>
            <a:r>
              <a:rPr lang="en-US" altLang="zh-CN" sz="3600" b="1" dirty="0" err="1">
                <a:solidFill>
                  <a:srgbClr val="333333"/>
                </a:solidFill>
                <a:latin typeface="PingFang SC"/>
              </a:rPr>
              <a:t>PingCode</a:t>
            </a:r>
            <a:r>
              <a:rPr lang="zh-CN" altLang="en-US" sz="3600" b="1" dirty="0">
                <a:solidFill>
                  <a:srgbClr val="333333"/>
                </a:solidFill>
                <a:latin typeface="PingFang SC"/>
              </a:rPr>
              <a:t>和</a:t>
            </a:r>
            <a:r>
              <a:rPr lang="en-US" altLang="zh-CN" sz="3600" b="1" dirty="0" err="1">
                <a:solidFill>
                  <a:srgbClr val="333333"/>
                </a:solidFill>
                <a:latin typeface="PingFang SC"/>
              </a:rPr>
              <a:t>Worktile</a:t>
            </a:r>
            <a:r>
              <a:rPr lang="zh-CN" altLang="en-US" sz="3600" b="1" dirty="0">
                <a:solidFill>
                  <a:srgbClr val="333333"/>
                </a:solidFill>
                <a:latin typeface="PingFang SC"/>
              </a:rPr>
              <a:t>可以帮助项目经理有效地管理任务分配、进度跟踪、资源管理和风险控制等‌</a:t>
            </a:r>
            <a:br>
              <a:rPr lang="zh-CN" altLang="en-US" sz="3600" b="1" dirty="0">
                <a:solidFill>
                  <a:srgbClr val="333333"/>
                </a:solidFill>
                <a:latin typeface="PingFang SC"/>
              </a:rPr>
            </a:br>
            <a:endParaRPr lang="zh-CN" altLang="en-US" sz="3600" b="1" dirty="0">
              <a:solidFill>
                <a:srgbClr val="333333"/>
              </a:solidFill>
              <a:latin typeface="PingFang SC"/>
            </a:endParaRPr>
          </a:p>
        </p:txBody>
      </p:sp>
    </p:spTree>
    <p:extLst>
      <p:ext uri="{BB962C8B-B14F-4D97-AF65-F5344CB8AC3E}">
        <p14:creationId xmlns:p14="http://schemas.microsoft.com/office/powerpoint/2010/main" val="1092981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9346BDF-FEDC-4D3D-B0E9-8AF3B72E41C8}"/>
              </a:ext>
            </a:extLst>
          </p:cNvPr>
          <p:cNvSpPr/>
          <p:nvPr/>
        </p:nvSpPr>
        <p:spPr>
          <a:xfrm>
            <a:off x="755576" y="188640"/>
            <a:ext cx="8388424" cy="5823454"/>
          </a:xfrm>
          <a:prstGeom prst="rect">
            <a:avLst/>
          </a:prstGeom>
        </p:spPr>
        <p:txBody>
          <a:bodyPr wrap="square">
            <a:spAutoFit/>
          </a:bodyPr>
          <a:lstStyle/>
          <a:p>
            <a:pPr>
              <a:lnSpc>
                <a:spcPct val="150000"/>
              </a:lnSpc>
            </a:pPr>
            <a:r>
              <a:rPr lang="zh-CN" altLang="en-US" sz="3600" b="1" dirty="0">
                <a:solidFill>
                  <a:srgbClr val="333333"/>
                </a:solidFill>
                <a:latin typeface="PingFang SC"/>
              </a:rPr>
              <a:t>（</a:t>
            </a:r>
            <a:r>
              <a:rPr lang="en-US" altLang="zh-CN" sz="3600" b="1" dirty="0">
                <a:solidFill>
                  <a:srgbClr val="333333"/>
                </a:solidFill>
                <a:latin typeface="PingFang SC"/>
              </a:rPr>
              <a:t>4</a:t>
            </a:r>
            <a:r>
              <a:rPr lang="zh-CN" altLang="en-US" sz="3600" b="1" dirty="0">
                <a:solidFill>
                  <a:srgbClr val="333333"/>
                </a:solidFill>
                <a:latin typeface="PingFang SC"/>
              </a:rPr>
              <a:t>）定期监控和调整项目‌：</a:t>
            </a:r>
            <a:endParaRPr lang="en-US" altLang="zh-CN" sz="3600" b="1" dirty="0">
              <a:solidFill>
                <a:srgbClr val="333333"/>
              </a:solidFill>
              <a:latin typeface="PingFang SC"/>
            </a:endParaRPr>
          </a:p>
          <a:p>
            <a:pPr>
              <a:lnSpc>
                <a:spcPct val="150000"/>
              </a:lnSpc>
            </a:pPr>
            <a:endParaRPr lang="en-US" altLang="zh-CN" sz="3600" b="1" dirty="0">
              <a:solidFill>
                <a:srgbClr val="333333"/>
              </a:solidFill>
              <a:latin typeface="PingFang SC"/>
            </a:endParaRPr>
          </a:p>
          <a:p>
            <a:pPr>
              <a:lnSpc>
                <a:spcPct val="150000"/>
              </a:lnSpc>
            </a:pPr>
            <a:r>
              <a:rPr lang="zh-CN" altLang="en-US" sz="3600" b="1" dirty="0">
                <a:solidFill>
                  <a:srgbClr val="333333"/>
                </a:solidFill>
                <a:latin typeface="PingFang SC"/>
              </a:rPr>
              <a:t>  定期对项目进行监控，了解进度情况，发现问题并及时调整。这需要项目经理具备敏锐的观察力和判断力，能够及时发现并解决问题‌。</a:t>
            </a:r>
            <a:br>
              <a:rPr lang="zh-CN" altLang="en-US" sz="3600" b="1" dirty="0">
                <a:solidFill>
                  <a:srgbClr val="333333"/>
                </a:solidFill>
                <a:latin typeface="PingFang SC"/>
              </a:rPr>
            </a:br>
            <a:endParaRPr lang="zh-CN" altLang="en-US" sz="3600" b="1" dirty="0">
              <a:solidFill>
                <a:srgbClr val="333333"/>
              </a:solidFill>
              <a:latin typeface="PingFang SC"/>
            </a:endParaRPr>
          </a:p>
        </p:txBody>
      </p:sp>
    </p:spTree>
    <p:extLst>
      <p:ext uri="{BB962C8B-B14F-4D97-AF65-F5344CB8AC3E}">
        <p14:creationId xmlns:p14="http://schemas.microsoft.com/office/powerpoint/2010/main" val="1974926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AF89B5F-7420-4D81-8713-AAD00744129F}"/>
              </a:ext>
            </a:extLst>
          </p:cNvPr>
          <p:cNvSpPr/>
          <p:nvPr/>
        </p:nvSpPr>
        <p:spPr>
          <a:xfrm>
            <a:off x="1043608" y="-315416"/>
            <a:ext cx="7776864" cy="7485447"/>
          </a:xfrm>
          <a:prstGeom prst="rect">
            <a:avLst/>
          </a:prstGeom>
        </p:spPr>
        <p:txBody>
          <a:bodyPr wrap="square">
            <a:spAutoFit/>
          </a:bodyPr>
          <a:lstStyle/>
          <a:p>
            <a:pPr>
              <a:lnSpc>
                <a:spcPct val="150000"/>
              </a:lnSpc>
            </a:pPr>
            <a:endParaRPr lang="zh-CN" altLang="en-US" sz="3600" b="1" dirty="0">
              <a:solidFill>
                <a:srgbClr val="333333"/>
              </a:solidFill>
              <a:latin typeface="PingFang SC"/>
            </a:endParaRPr>
          </a:p>
          <a:p>
            <a:pPr>
              <a:lnSpc>
                <a:spcPct val="150000"/>
              </a:lnSpc>
            </a:pPr>
            <a:r>
              <a:rPr lang="zh-CN" altLang="en-US" sz="3600" b="1" dirty="0">
                <a:solidFill>
                  <a:srgbClr val="333333"/>
                </a:solidFill>
                <a:latin typeface="PingFang SC"/>
              </a:rPr>
              <a:t>‌（</a:t>
            </a:r>
            <a:r>
              <a:rPr lang="en-US" altLang="zh-CN" sz="3600" b="1" dirty="0">
                <a:solidFill>
                  <a:srgbClr val="333333"/>
                </a:solidFill>
                <a:latin typeface="PingFang SC"/>
              </a:rPr>
              <a:t>5</a:t>
            </a:r>
            <a:r>
              <a:rPr lang="zh-CN" altLang="en-US" sz="3600" b="1" dirty="0">
                <a:solidFill>
                  <a:srgbClr val="333333"/>
                </a:solidFill>
                <a:latin typeface="PingFang SC"/>
              </a:rPr>
              <a:t>）控制项目风险‌：</a:t>
            </a:r>
            <a:endParaRPr lang="en-US" altLang="zh-CN" sz="3600" b="1" dirty="0">
              <a:solidFill>
                <a:srgbClr val="333333"/>
              </a:solidFill>
              <a:latin typeface="PingFang SC"/>
            </a:endParaRPr>
          </a:p>
          <a:p>
            <a:pPr>
              <a:lnSpc>
                <a:spcPct val="150000"/>
              </a:lnSpc>
            </a:pPr>
            <a:endParaRPr lang="en-US" altLang="zh-CN" sz="3600" b="1" dirty="0">
              <a:solidFill>
                <a:srgbClr val="333333"/>
              </a:solidFill>
              <a:latin typeface="PingFang SC"/>
            </a:endParaRPr>
          </a:p>
          <a:p>
            <a:pPr>
              <a:lnSpc>
                <a:spcPct val="150000"/>
              </a:lnSpc>
            </a:pPr>
            <a:r>
              <a:rPr lang="en-US" altLang="zh-CN" sz="3600" b="1" dirty="0">
                <a:solidFill>
                  <a:srgbClr val="333333"/>
                </a:solidFill>
                <a:latin typeface="PingFang SC"/>
              </a:rPr>
              <a:t>    </a:t>
            </a:r>
            <a:r>
              <a:rPr lang="zh-CN" altLang="en-US" sz="3600" b="1" dirty="0">
                <a:solidFill>
                  <a:srgbClr val="333333"/>
                </a:solidFill>
                <a:latin typeface="PingFang SC"/>
              </a:rPr>
              <a:t>建立有效的风险管理系统，识别和评估可能影响项目的风险，并制定应对措施。风险管理应贯穿项目的始终，确保项目顺利进行‌。</a:t>
            </a:r>
          </a:p>
          <a:p>
            <a:pPr>
              <a:lnSpc>
                <a:spcPct val="150000"/>
              </a:lnSpc>
            </a:pPr>
            <a:r>
              <a:rPr lang="zh-CN" altLang="en-US" sz="3600" b="1" dirty="0">
                <a:solidFill>
                  <a:srgbClr val="333333"/>
                </a:solidFill>
                <a:latin typeface="PingFang SC"/>
              </a:rPr>
              <a:t>‌</a:t>
            </a:r>
            <a:br>
              <a:rPr lang="zh-CN" altLang="en-US" sz="3600" b="1" dirty="0">
                <a:solidFill>
                  <a:srgbClr val="333333"/>
                </a:solidFill>
                <a:latin typeface="PingFang SC"/>
              </a:rPr>
            </a:br>
            <a:endParaRPr lang="zh-CN" altLang="en-US" sz="3600" b="1" dirty="0">
              <a:solidFill>
                <a:srgbClr val="333333"/>
              </a:solidFill>
              <a:latin typeface="PingFang SC"/>
            </a:endParaRPr>
          </a:p>
        </p:txBody>
      </p:sp>
    </p:spTree>
    <p:extLst>
      <p:ext uri="{BB962C8B-B14F-4D97-AF65-F5344CB8AC3E}">
        <p14:creationId xmlns:p14="http://schemas.microsoft.com/office/powerpoint/2010/main" val="1946662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7DF4C06-7FB3-4A60-8B7C-3B8C3B3395D5}"/>
              </a:ext>
            </a:extLst>
          </p:cNvPr>
          <p:cNvSpPr/>
          <p:nvPr/>
        </p:nvSpPr>
        <p:spPr>
          <a:xfrm>
            <a:off x="1115616" y="332656"/>
            <a:ext cx="7632848" cy="4152483"/>
          </a:xfrm>
          <a:prstGeom prst="rect">
            <a:avLst/>
          </a:prstGeom>
        </p:spPr>
        <p:txBody>
          <a:bodyPr wrap="square">
            <a:spAutoFit/>
          </a:bodyPr>
          <a:lstStyle/>
          <a:p>
            <a:pPr>
              <a:lnSpc>
                <a:spcPct val="150000"/>
              </a:lnSpc>
            </a:pPr>
            <a:r>
              <a:rPr lang="zh-CN" altLang="en-US" sz="3600" b="1" dirty="0">
                <a:solidFill>
                  <a:srgbClr val="333333"/>
                </a:solidFill>
                <a:latin typeface="PingFang SC"/>
              </a:rPr>
              <a:t>（</a:t>
            </a:r>
            <a:r>
              <a:rPr lang="en-US" altLang="zh-CN" sz="3600" b="1" dirty="0">
                <a:solidFill>
                  <a:srgbClr val="333333"/>
                </a:solidFill>
                <a:latin typeface="PingFang SC"/>
              </a:rPr>
              <a:t>6</a:t>
            </a:r>
            <a:r>
              <a:rPr lang="zh-CN" altLang="en-US" sz="3600" b="1" dirty="0">
                <a:solidFill>
                  <a:srgbClr val="333333"/>
                </a:solidFill>
                <a:latin typeface="PingFang SC"/>
              </a:rPr>
              <a:t>）关注项目质量和持续改进‌：</a:t>
            </a:r>
            <a:endParaRPr lang="en-US" altLang="zh-CN" sz="3600" b="1" dirty="0">
              <a:solidFill>
                <a:srgbClr val="333333"/>
              </a:solidFill>
              <a:latin typeface="PingFang SC"/>
            </a:endParaRPr>
          </a:p>
          <a:p>
            <a:pPr>
              <a:lnSpc>
                <a:spcPct val="150000"/>
              </a:lnSpc>
            </a:pPr>
            <a:endParaRPr lang="en-US" altLang="zh-CN" sz="3600" b="1" dirty="0">
              <a:solidFill>
                <a:srgbClr val="333333"/>
              </a:solidFill>
              <a:latin typeface="PingFang SC"/>
            </a:endParaRPr>
          </a:p>
          <a:p>
            <a:pPr>
              <a:lnSpc>
                <a:spcPct val="150000"/>
              </a:lnSpc>
            </a:pPr>
            <a:r>
              <a:rPr lang="zh-CN" altLang="en-US" sz="3600" b="1" dirty="0">
                <a:solidFill>
                  <a:srgbClr val="333333"/>
                </a:solidFill>
                <a:latin typeface="PingFang SC"/>
              </a:rPr>
              <a:t>    注重质量管理，确保项目输出结果达到预期质量标准。同时，关注项目的持续改进，提高管理效率和质量。‌</a:t>
            </a:r>
          </a:p>
        </p:txBody>
      </p:sp>
    </p:spTree>
    <p:extLst>
      <p:ext uri="{BB962C8B-B14F-4D97-AF65-F5344CB8AC3E}">
        <p14:creationId xmlns:p14="http://schemas.microsoft.com/office/powerpoint/2010/main" val="339384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51079-949E-4EAB-AA90-04ECEBAE6148}"/>
              </a:ext>
            </a:extLst>
          </p:cNvPr>
          <p:cNvSpPr>
            <a:spLocks noGrp="1"/>
          </p:cNvSpPr>
          <p:nvPr>
            <p:ph type="title"/>
          </p:nvPr>
        </p:nvSpPr>
        <p:spPr/>
        <p:txBody>
          <a:bodyPr/>
          <a:lstStyle/>
          <a:p>
            <a:r>
              <a:rPr lang="zh-CN" altLang="en-US" dirty="0"/>
              <a:t>第七章</a:t>
            </a:r>
            <a:r>
              <a:rPr lang="zh-CN" altLang="zh-CN" dirty="0"/>
              <a:t> 项目管理组织</a:t>
            </a:r>
            <a:endParaRPr lang="zh-CN" altLang="en-US" dirty="0"/>
          </a:p>
        </p:txBody>
      </p:sp>
      <p:sp>
        <p:nvSpPr>
          <p:cNvPr id="3" name="内容占位符 2">
            <a:extLst>
              <a:ext uri="{FF2B5EF4-FFF2-40B4-BE49-F238E27FC236}">
                <a16:creationId xmlns:a16="http://schemas.microsoft.com/office/drawing/2014/main" id="{D28E0B8C-8F70-4EFE-9AFF-87731D254447}"/>
              </a:ext>
            </a:extLst>
          </p:cNvPr>
          <p:cNvSpPr>
            <a:spLocks noGrp="1"/>
          </p:cNvSpPr>
          <p:nvPr>
            <p:ph idx="1"/>
          </p:nvPr>
        </p:nvSpPr>
        <p:spPr>
          <a:xfrm>
            <a:off x="457200" y="1417638"/>
            <a:ext cx="8229600" cy="4530725"/>
          </a:xfrm>
        </p:spPr>
        <p:txBody>
          <a:bodyPr/>
          <a:lstStyle/>
          <a:p>
            <a:r>
              <a:rPr lang="en-US" altLang="zh-CN" sz="2400" dirty="0"/>
              <a:t>7.1</a:t>
            </a:r>
            <a:r>
              <a:rPr lang="zh-CN" altLang="zh-CN" sz="2400" dirty="0"/>
              <a:t> 掌握项目组织类型与作用</a:t>
            </a:r>
          </a:p>
          <a:p>
            <a:r>
              <a:rPr lang="en-US" altLang="zh-CN" sz="2400" dirty="0"/>
              <a:t>7.2</a:t>
            </a:r>
            <a:r>
              <a:rPr lang="zh-CN" altLang="zh-CN" sz="2400" dirty="0"/>
              <a:t> 有效进行项目组织设计</a:t>
            </a:r>
          </a:p>
          <a:p>
            <a:r>
              <a:rPr lang="en-US" altLang="zh-CN" sz="2400" dirty="0"/>
              <a:t>7.3</a:t>
            </a:r>
            <a:r>
              <a:rPr lang="zh-CN" altLang="zh-CN" sz="2400" dirty="0"/>
              <a:t> 如何胜任项目经理与组建项目团队</a:t>
            </a:r>
          </a:p>
          <a:p>
            <a:r>
              <a:rPr lang="en-US" altLang="zh-CN" sz="2400" dirty="0"/>
              <a:t>7.4</a:t>
            </a:r>
            <a:r>
              <a:rPr lang="zh-CN" altLang="zh-CN" sz="2400" dirty="0"/>
              <a:t>了解项目人力资源管理</a:t>
            </a:r>
          </a:p>
          <a:p>
            <a:r>
              <a:rPr lang="en-US" altLang="zh-CN" sz="2400" dirty="0"/>
              <a:t>7.5</a:t>
            </a:r>
            <a:r>
              <a:rPr lang="zh-CN" altLang="zh-CN" sz="2400" dirty="0"/>
              <a:t> 项目人力资源管理的载体策划</a:t>
            </a:r>
          </a:p>
          <a:p>
            <a:r>
              <a:rPr lang="en-US" altLang="zh-CN" sz="2400" dirty="0"/>
              <a:t>7.6</a:t>
            </a:r>
            <a:r>
              <a:rPr lang="zh-CN" altLang="zh-CN" sz="2400" dirty="0"/>
              <a:t> 项目人员组织建设</a:t>
            </a:r>
          </a:p>
          <a:p>
            <a:r>
              <a:rPr lang="en-US" altLang="zh-CN" sz="2400" dirty="0"/>
              <a:t>7.7 </a:t>
            </a:r>
            <a:r>
              <a:rPr lang="zh-CN" altLang="zh-CN" sz="2400" dirty="0"/>
              <a:t>项目管理的核心</a:t>
            </a:r>
            <a:r>
              <a:rPr lang="en-US" altLang="zh-CN" sz="2400" dirty="0"/>
              <a:t>——</a:t>
            </a:r>
            <a:r>
              <a:rPr lang="zh-CN" altLang="zh-CN" sz="2400" dirty="0"/>
              <a:t>人力资源绩效管理</a:t>
            </a:r>
          </a:p>
          <a:p>
            <a:r>
              <a:rPr lang="en-US" altLang="zh-CN" sz="2400" dirty="0"/>
              <a:t>7.8</a:t>
            </a:r>
            <a:r>
              <a:rPr lang="zh-CN" altLang="zh-CN" sz="2400" dirty="0"/>
              <a:t> 明确沟通的基本概念</a:t>
            </a:r>
          </a:p>
          <a:p>
            <a:r>
              <a:rPr lang="en-US" altLang="zh-CN" sz="2400" dirty="0"/>
              <a:t>7.9</a:t>
            </a:r>
            <a:r>
              <a:rPr lang="zh-CN" altLang="zh-CN" sz="2400" dirty="0"/>
              <a:t> 掌握规范的项目沟通计划</a:t>
            </a:r>
          </a:p>
          <a:p>
            <a:r>
              <a:rPr lang="en-US" altLang="zh-CN" sz="2400" dirty="0"/>
              <a:t>7.10</a:t>
            </a:r>
            <a:r>
              <a:rPr lang="zh-CN" altLang="zh-CN" sz="2400" dirty="0"/>
              <a:t>增进沟通效果的技巧</a:t>
            </a:r>
          </a:p>
          <a:p>
            <a:r>
              <a:rPr lang="en-US" altLang="zh-CN" sz="2400" dirty="0"/>
              <a:t>7.11</a:t>
            </a:r>
            <a:r>
              <a:rPr lang="zh-CN" altLang="zh-CN" sz="2400" dirty="0"/>
              <a:t>确保项目会议的有效性</a:t>
            </a:r>
          </a:p>
          <a:p>
            <a:endParaRPr lang="zh-CN" altLang="en-US" sz="2400" dirty="0"/>
          </a:p>
        </p:txBody>
      </p:sp>
    </p:spTree>
    <p:extLst>
      <p:ext uri="{BB962C8B-B14F-4D97-AF65-F5344CB8AC3E}">
        <p14:creationId xmlns:p14="http://schemas.microsoft.com/office/powerpoint/2010/main" val="3502984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7DF4C06-7FB3-4A60-8B7C-3B8C3B3395D5}"/>
              </a:ext>
            </a:extLst>
          </p:cNvPr>
          <p:cNvSpPr/>
          <p:nvPr/>
        </p:nvSpPr>
        <p:spPr>
          <a:xfrm>
            <a:off x="395536" y="332656"/>
            <a:ext cx="8748464" cy="5620065"/>
          </a:xfrm>
          <a:prstGeom prst="rect">
            <a:avLst/>
          </a:prstGeom>
        </p:spPr>
        <p:txBody>
          <a:bodyPr wrap="square">
            <a:spAutoFit/>
          </a:bodyPr>
          <a:lstStyle/>
          <a:p>
            <a:r>
              <a:rPr lang="en-US" altLang="zh-CN" sz="2800" dirty="0">
                <a:solidFill>
                  <a:schemeClr val="accent6">
                    <a:lumMod val="75000"/>
                  </a:schemeClr>
                </a:solidFill>
              </a:rPr>
              <a:t>7.1</a:t>
            </a:r>
            <a:r>
              <a:rPr lang="zh-CN" altLang="zh-CN" sz="2800" dirty="0">
                <a:solidFill>
                  <a:schemeClr val="accent6">
                    <a:lumMod val="75000"/>
                  </a:schemeClr>
                </a:solidFill>
              </a:rPr>
              <a:t> 掌握项目组织类型与作用</a:t>
            </a:r>
          </a:p>
          <a:p>
            <a:pPr>
              <a:lnSpc>
                <a:spcPct val="150000"/>
              </a:lnSpc>
            </a:pPr>
            <a:endParaRPr lang="en-US" altLang="zh-CN" sz="2800" b="1" dirty="0">
              <a:solidFill>
                <a:srgbClr val="333333"/>
              </a:solidFill>
              <a:latin typeface="PingFang SC"/>
            </a:endParaRPr>
          </a:p>
          <a:p>
            <a:pPr>
              <a:lnSpc>
                <a:spcPct val="150000"/>
              </a:lnSpc>
            </a:pPr>
            <a:r>
              <a:rPr lang="zh-CN" altLang="en-US" sz="2800" b="1" dirty="0">
                <a:solidFill>
                  <a:srgbClr val="333333"/>
                </a:solidFill>
                <a:latin typeface="PingFang SC"/>
              </a:rPr>
              <a:t> </a:t>
            </a:r>
            <a:r>
              <a:rPr lang="zh-CN" altLang="en-US" sz="2800" dirty="0"/>
              <a:t>‌</a:t>
            </a:r>
            <a:r>
              <a:rPr lang="en-US" altLang="zh-CN" sz="2800" dirty="0"/>
              <a:t>1</a:t>
            </a:r>
            <a:r>
              <a:rPr lang="zh-CN" altLang="en-US" sz="2800" dirty="0"/>
              <a:t>、项目组织的定义</a:t>
            </a:r>
            <a:endParaRPr lang="en-US" altLang="zh-CN" sz="2800" dirty="0"/>
          </a:p>
          <a:p>
            <a:pPr>
              <a:lnSpc>
                <a:spcPct val="150000"/>
              </a:lnSpc>
            </a:pPr>
            <a:r>
              <a:rPr lang="zh-CN" altLang="en-US" sz="2800" b="1" dirty="0"/>
              <a:t>项目组织</a:t>
            </a:r>
            <a:r>
              <a:rPr lang="zh-CN" altLang="en-US" sz="2800" dirty="0"/>
              <a:t>‌是指为实施项目、完成具体项目目标而建立起来的协同工作的队伍。</a:t>
            </a:r>
            <a:endParaRPr lang="en-US" altLang="zh-CN" sz="2800" dirty="0"/>
          </a:p>
          <a:p>
            <a:pPr>
              <a:lnSpc>
                <a:spcPct val="150000"/>
              </a:lnSpc>
            </a:pPr>
            <a:r>
              <a:rPr lang="zh-CN" altLang="en-US" sz="2800" dirty="0"/>
              <a:t>它是一种临时性的组织，通常在项目结束后解散‌。项目组织可以按照项目的目标以一定的形式组建起来，由组织各部门调集专业人才，并指派项目负责人在特定时间内完成任务。</a:t>
            </a:r>
            <a:r>
              <a:rPr lang="zh-CN" altLang="en-US" sz="2800" b="1" dirty="0">
                <a:solidFill>
                  <a:srgbClr val="333333"/>
                </a:solidFill>
                <a:latin typeface="PingFang SC"/>
              </a:rPr>
              <a:t>‌</a:t>
            </a:r>
          </a:p>
        </p:txBody>
      </p:sp>
    </p:spTree>
    <p:extLst>
      <p:ext uri="{BB962C8B-B14F-4D97-AF65-F5344CB8AC3E}">
        <p14:creationId xmlns:p14="http://schemas.microsoft.com/office/powerpoint/2010/main" val="328529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B979E7A9-F706-4B17-8A0A-BB0CAFB67789}"/>
              </a:ext>
            </a:extLst>
          </p:cNvPr>
          <p:cNvSpPr>
            <a:spLocks noGrp="1" noChangeArrowheads="1"/>
          </p:cNvSpPr>
          <p:nvPr>
            <p:ph type="title"/>
          </p:nvPr>
        </p:nvSpPr>
        <p:spPr/>
        <p:txBody>
          <a:bodyPr/>
          <a:lstStyle/>
          <a:p>
            <a:pPr eaLnBrk="1" fontAlgn="auto" hangingPunct="1">
              <a:spcAft>
                <a:spcPts val="0"/>
              </a:spcAft>
              <a:defRPr/>
            </a:pPr>
            <a:r>
              <a:rPr lang="en-US" altLang="zh-CN" dirty="0"/>
              <a:t>2</a:t>
            </a:r>
            <a:r>
              <a:rPr lang="zh-CN" altLang="en-US" dirty="0"/>
              <a:t>、项目组织的特点</a:t>
            </a:r>
          </a:p>
        </p:txBody>
      </p:sp>
      <p:sp>
        <p:nvSpPr>
          <p:cNvPr id="113670" name="AutoShape 6">
            <a:extLst>
              <a:ext uri="{FF2B5EF4-FFF2-40B4-BE49-F238E27FC236}">
                <a16:creationId xmlns:a16="http://schemas.microsoft.com/office/drawing/2014/main" id="{0F08E3F5-51DD-43BD-8B37-B2E3BB1F40CB}"/>
              </a:ext>
            </a:extLst>
          </p:cNvPr>
          <p:cNvSpPr>
            <a:spLocks noChangeArrowheads="1"/>
          </p:cNvSpPr>
          <p:nvPr/>
        </p:nvSpPr>
        <p:spPr bwMode="gray">
          <a:xfrm rot="5400000">
            <a:off x="3779045" y="2205831"/>
            <a:ext cx="360362" cy="358775"/>
          </a:xfrm>
          <a:prstGeom prst="chevron">
            <a:avLst>
              <a:gd name="adj" fmla="val 52746"/>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13671" name="AutoShape 7">
            <a:extLst>
              <a:ext uri="{FF2B5EF4-FFF2-40B4-BE49-F238E27FC236}">
                <a16:creationId xmlns:a16="http://schemas.microsoft.com/office/drawing/2014/main" id="{8F596208-E57B-4599-9DA7-23E813401AD8}"/>
              </a:ext>
            </a:extLst>
          </p:cNvPr>
          <p:cNvSpPr>
            <a:spLocks noChangeArrowheads="1"/>
          </p:cNvSpPr>
          <p:nvPr/>
        </p:nvSpPr>
        <p:spPr bwMode="gray">
          <a:xfrm>
            <a:off x="2771775" y="2997200"/>
            <a:ext cx="576263" cy="215900"/>
          </a:xfrm>
          <a:prstGeom prst="chevron">
            <a:avLst>
              <a:gd name="adj" fmla="val 140166"/>
            </a:avLst>
          </a:prstGeom>
          <a:solidFill>
            <a:schemeClr val="hlink"/>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2" name="Group 30">
            <a:extLst>
              <a:ext uri="{FF2B5EF4-FFF2-40B4-BE49-F238E27FC236}">
                <a16:creationId xmlns:a16="http://schemas.microsoft.com/office/drawing/2014/main" id="{0D13476C-6B1B-463F-A66D-B8EBB3F211CA}"/>
              </a:ext>
            </a:extLst>
          </p:cNvPr>
          <p:cNvGrpSpPr>
            <a:grpSpLocks/>
          </p:cNvGrpSpPr>
          <p:nvPr/>
        </p:nvGrpSpPr>
        <p:grpSpPr bwMode="auto">
          <a:xfrm>
            <a:off x="3419475" y="2636838"/>
            <a:ext cx="1008063" cy="1008062"/>
            <a:chOff x="771" y="1961"/>
            <a:chExt cx="1073" cy="1063"/>
          </a:xfrm>
        </p:grpSpPr>
        <p:sp>
          <p:nvSpPr>
            <p:cNvPr id="113672" name="Oval 8">
              <a:extLst>
                <a:ext uri="{FF2B5EF4-FFF2-40B4-BE49-F238E27FC236}">
                  <a16:creationId xmlns:a16="http://schemas.microsoft.com/office/drawing/2014/main" id="{A81FB4FB-A17D-4E07-99FF-213355948D73}"/>
                </a:ext>
              </a:extLst>
            </p:cNvPr>
            <p:cNvSpPr>
              <a:spLocks noChangeArrowheads="1"/>
            </p:cNvSpPr>
            <p:nvPr/>
          </p:nvSpPr>
          <p:spPr bwMode="gray">
            <a:xfrm>
              <a:off x="771" y="1961"/>
              <a:ext cx="1073" cy="1063"/>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13673" name="Oval 9">
              <a:extLst>
                <a:ext uri="{FF2B5EF4-FFF2-40B4-BE49-F238E27FC236}">
                  <a16:creationId xmlns:a16="http://schemas.microsoft.com/office/drawing/2014/main" id="{48BC6DF9-A791-41DD-9DCD-AAADC5696512}"/>
                </a:ext>
              </a:extLst>
            </p:cNvPr>
            <p:cNvSpPr>
              <a:spLocks noChangeArrowheads="1"/>
            </p:cNvSpPr>
            <p:nvPr/>
          </p:nvSpPr>
          <p:spPr bwMode="gray">
            <a:xfrm>
              <a:off x="771" y="1961"/>
              <a:ext cx="1073" cy="1063"/>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13674" name="Oval 10">
              <a:extLst>
                <a:ext uri="{FF2B5EF4-FFF2-40B4-BE49-F238E27FC236}">
                  <a16:creationId xmlns:a16="http://schemas.microsoft.com/office/drawing/2014/main" id="{6B300590-EE45-492D-B56F-5F7666D3B4DF}"/>
                </a:ext>
              </a:extLst>
            </p:cNvPr>
            <p:cNvSpPr>
              <a:spLocks noChangeArrowheads="1"/>
            </p:cNvSpPr>
            <p:nvPr/>
          </p:nvSpPr>
          <p:spPr bwMode="gray">
            <a:xfrm>
              <a:off x="840" y="2030"/>
              <a:ext cx="934" cy="924"/>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13675" name="Oval 11">
              <a:extLst>
                <a:ext uri="{FF2B5EF4-FFF2-40B4-BE49-F238E27FC236}">
                  <a16:creationId xmlns:a16="http://schemas.microsoft.com/office/drawing/2014/main" id="{6F5578D4-0098-416D-BAF7-65B93DD8A303}"/>
                </a:ext>
              </a:extLst>
            </p:cNvPr>
            <p:cNvSpPr>
              <a:spLocks noChangeArrowheads="1"/>
            </p:cNvSpPr>
            <p:nvPr/>
          </p:nvSpPr>
          <p:spPr bwMode="gray">
            <a:xfrm>
              <a:off x="842" y="2031"/>
              <a:ext cx="933" cy="924"/>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2319" name="Oval 12">
              <a:extLst>
                <a:ext uri="{FF2B5EF4-FFF2-40B4-BE49-F238E27FC236}">
                  <a16:creationId xmlns:a16="http://schemas.microsoft.com/office/drawing/2014/main" id="{3F402419-2769-415D-988D-4501C245F17B}"/>
                </a:ext>
              </a:extLst>
            </p:cNvPr>
            <p:cNvSpPr>
              <a:spLocks noChangeArrowheads="1"/>
            </p:cNvSpPr>
            <p:nvPr/>
          </p:nvSpPr>
          <p:spPr bwMode="gray">
            <a:xfrm>
              <a:off x="888" y="2077"/>
              <a:ext cx="840" cy="832"/>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12320" name="Group 13">
              <a:extLst>
                <a:ext uri="{FF2B5EF4-FFF2-40B4-BE49-F238E27FC236}">
                  <a16:creationId xmlns:a16="http://schemas.microsoft.com/office/drawing/2014/main" id="{0A419D73-C04B-4EB6-9652-A0ACAB96CE4B}"/>
                </a:ext>
              </a:extLst>
            </p:cNvPr>
            <p:cNvGrpSpPr>
              <a:grpSpLocks/>
            </p:cNvGrpSpPr>
            <p:nvPr/>
          </p:nvGrpSpPr>
          <p:grpSpPr bwMode="auto">
            <a:xfrm>
              <a:off x="901" y="2089"/>
              <a:ext cx="813" cy="805"/>
              <a:chOff x="4166" y="1706"/>
              <a:chExt cx="1252" cy="1252"/>
            </a:xfrm>
          </p:grpSpPr>
          <p:sp>
            <p:nvSpPr>
              <p:cNvPr id="12322" name="Oval 14">
                <a:extLst>
                  <a:ext uri="{FF2B5EF4-FFF2-40B4-BE49-F238E27FC236}">
                    <a16:creationId xmlns:a16="http://schemas.microsoft.com/office/drawing/2014/main" id="{E86C5F66-45DF-4E6C-8743-1F4780C64427}"/>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23" name="Oval 15">
                <a:extLst>
                  <a:ext uri="{FF2B5EF4-FFF2-40B4-BE49-F238E27FC236}">
                    <a16:creationId xmlns:a16="http://schemas.microsoft.com/office/drawing/2014/main" id="{D745F7F2-7A7F-4DFB-98EE-FBF13CCEA93F}"/>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24" name="Oval 16">
                <a:extLst>
                  <a:ext uri="{FF2B5EF4-FFF2-40B4-BE49-F238E27FC236}">
                    <a16:creationId xmlns:a16="http://schemas.microsoft.com/office/drawing/2014/main" id="{B2AF80F7-6B9E-4A4D-826D-5753A6A35C74}"/>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25" name="Oval 17">
                <a:extLst>
                  <a:ext uri="{FF2B5EF4-FFF2-40B4-BE49-F238E27FC236}">
                    <a16:creationId xmlns:a16="http://schemas.microsoft.com/office/drawing/2014/main" id="{7698CF6B-6C05-4C3E-86FF-1D0DC164F982}"/>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13692" name="Text Box 28">
              <a:extLst>
                <a:ext uri="{FF2B5EF4-FFF2-40B4-BE49-F238E27FC236}">
                  <a16:creationId xmlns:a16="http://schemas.microsoft.com/office/drawing/2014/main" id="{D265E87A-7569-4187-9F8B-5FA20B864530}"/>
                </a:ext>
              </a:extLst>
            </p:cNvPr>
            <p:cNvSpPr txBox="1">
              <a:spLocks noChangeArrowheads="1"/>
            </p:cNvSpPr>
            <p:nvPr/>
          </p:nvSpPr>
          <p:spPr bwMode="gray">
            <a:xfrm>
              <a:off x="888" y="2453"/>
              <a:ext cx="850" cy="355"/>
            </a:xfrm>
            <a:prstGeom prst="rect">
              <a:avLst/>
            </a:prstGeom>
            <a:noFill/>
            <a:ln w="9525" algn="ctr">
              <a:noFill/>
              <a:miter lim="800000"/>
              <a:headEnd/>
              <a:tailEnd/>
            </a:ln>
            <a:effectLst/>
          </p:spPr>
          <p:txBody>
            <a:bodyPr wrap="none">
              <a:spAutoFit/>
            </a:bodyPr>
            <a:lstStyle/>
            <a:p>
              <a:pPr eaLnBrk="0" fontAlgn="auto" hangingPunct="0">
                <a:spcBef>
                  <a:spcPts val="0"/>
                </a:spcBef>
                <a:spcAft>
                  <a:spcPts val="0"/>
                </a:spcAft>
                <a:defRPr/>
              </a:pPr>
              <a:r>
                <a:rPr lang="zh-CN" altLang="en-US" sz="1600">
                  <a:solidFill>
                    <a:schemeClr val="tx2"/>
                  </a:solidFill>
                  <a:effectLst>
                    <a:outerShdw blurRad="38100" dist="38100" dir="2700000" algn="tl">
                      <a:srgbClr val="C0C0C0"/>
                    </a:outerShdw>
                  </a:effectLst>
                </a:rPr>
                <a:t>临时性</a:t>
              </a:r>
              <a:endParaRPr lang="en-US" altLang="zh-CN" sz="1600">
                <a:solidFill>
                  <a:schemeClr val="tx2"/>
                </a:solidFill>
                <a:effectLst>
                  <a:outerShdw blurRad="38100" dist="38100" dir="2700000" algn="tl">
                    <a:srgbClr val="C0C0C0"/>
                  </a:outerShdw>
                </a:effectLst>
              </a:endParaRPr>
            </a:p>
          </p:txBody>
        </p:sp>
      </p:grpSp>
      <p:grpSp>
        <p:nvGrpSpPr>
          <p:cNvPr id="4" name="Group 32">
            <a:extLst>
              <a:ext uri="{FF2B5EF4-FFF2-40B4-BE49-F238E27FC236}">
                <a16:creationId xmlns:a16="http://schemas.microsoft.com/office/drawing/2014/main" id="{B3B4F74F-8866-43D3-B716-A4B6A10D2E2E}"/>
              </a:ext>
            </a:extLst>
          </p:cNvPr>
          <p:cNvGrpSpPr>
            <a:grpSpLocks/>
          </p:cNvGrpSpPr>
          <p:nvPr/>
        </p:nvGrpSpPr>
        <p:grpSpPr bwMode="auto">
          <a:xfrm>
            <a:off x="3419475" y="3933825"/>
            <a:ext cx="1008063" cy="1008063"/>
            <a:chOff x="2323" y="1964"/>
            <a:chExt cx="1073" cy="1063"/>
          </a:xfrm>
        </p:grpSpPr>
        <p:sp>
          <p:nvSpPr>
            <p:cNvPr id="113682" name="Oval 18">
              <a:extLst>
                <a:ext uri="{FF2B5EF4-FFF2-40B4-BE49-F238E27FC236}">
                  <a16:creationId xmlns:a16="http://schemas.microsoft.com/office/drawing/2014/main" id="{F5C64D1C-2E29-4403-AF47-8002B9EBE555}"/>
                </a:ext>
              </a:extLst>
            </p:cNvPr>
            <p:cNvSpPr>
              <a:spLocks noChangeArrowheads="1"/>
            </p:cNvSpPr>
            <p:nvPr/>
          </p:nvSpPr>
          <p:spPr bwMode="gray">
            <a:xfrm>
              <a:off x="2323" y="1964"/>
              <a:ext cx="1073" cy="1063"/>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13683" name="Oval 19">
              <a:extLst>
                <a:ext uri="{FF2B5EF4-FFF2-40B4-BE49-F238E27FC236}">
                  <a16:creationId xmlns:a16="http://schemas.microsoft.com/office/drawing/2014/main" id="{752F07C8-4D62-4271-B5D9-E5C834532B4E}"/>
                </a:ext>
              </a:extLst>
            </p:cNvPr>
            <p:cNvSpPr>
              <a:spLocks noChangeArrowheads="1"/>
            </p:cNvSpPr>
            <p:nvPr/>
          </p:nvSpPr>
          <p:spPr bwMode="gray">
            <a:xfrm>
              <a:off x="2323" y="1964"/>
              <a:ext cx="1073" cy="1063"/>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13684" name="Oval 20">
              <a:extLst>
                <a:ext uri="{FF2B5EF4-FFF2-40B4-BE49-F238E27FC236}">
                  <a16:creationId xmlns:a16="http://schemas.microsoft.com/office/drawing/2014/main" id="{388FAA45-774B-4E62-AE8C-74D7B2488C21}"/>
                </a:ext>
              </a:extLst>
            </p:cNvPr>
            <p:cNvSpPr>
              <a:spLocks noChangeArrowheads="1"/>
            </p:cNvSpPr>
            <p:nvPr/>
          </p:nvSpPr>
          <p:spPr bwMode="gray">
            <a:xfrm>
              <a:off x="2392" y="2034"/>
              <a:ext cx="934" cy="924"/>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13685" name="Oval 21">
              <a:extLst>
                <a:ext uri="{FF2B5EF4-FFF2-40B4-BE49-F238E27FC236}">
                  <a16:creationId xmlns:a16="http://schemas.microsoft.com/office/drawing/2014/main" id="{FCB1959A-BE55-4D51-98B1-AE7B88E7D897}"/>
                </a:ext>
              </a:extLst>
            </p:cNvPr>
            <p:cNvSpPr>
              <a:spLocks noChangeArrowheads="1"/>
            </p:cNvSpPr>
            <p:nvPr/>
          </p:nvSpPr>
          <p:spPr bwMode="gray">
            <a:xfrm>
              <a:off x="2394" y="2034"/>
              <a:ext cx="933" cy="924"/>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2308" name="Oval 22">
              <a:extLst>
                <a:ext uri="{FF2B5EF4-FFF2-40B4-BE49-F238E27FC236}">
                  <a16:creationId xmlns:a16="http://schemas.microsoft.com/office/drawing/2014/main" id="{56FC132F-7473-406C-8F7E-7A20033B5D25}"/>
                </a:ext>
              </a:extLst>
            </p:cNvPr>
            <p:cNvSpPr>
              <a:spLocks noChangeArrowheads="1"/>
            </p:cNvSpPr>
            <p:nvPr/>
          </p:nvSpPr>
          <p:spPr bwMode="gray">
            <a:xfrm>
              <a:off x="2439" y="2079"/>
              <a:ext cx="840" cy="832"/>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12309" name="Group 23">
              <a:extLst>
                <a:ext uri="{FF2B5EF4-FFF2-40B4-BE49-F238E27FC236}">
                  <a16:creationId xmlns:a16="http://schemas.microsoft.com/office/drawing/2014/main" id="{B1C85590-76FE-4332-9905-79B9450CE1B4}"/>
                </a:ext>
              </a:extLst>
            </p:cNvPr>
            <p:cNvGrpSpPr>
              <a:grpSpLocks/>
            </p:cNvGrpSpPr>
            <p:nvPr/>
          </p:nvGrpSpPr>
          <p:grpSpPr bwMode="auto">
            <a:xfrm>
              <a:off x="2453" y="2089"/>
              <a:ext cx="813" cy="805"/>
              <a:chOff x="4166" y="1706"/>
              <a:chExt cx="1252" cy="1252"/>
            </a:xfrm>
          </p:grpSpPr>
          <p:sp>
            <p:nvSpPr>
              <p:cNvPr id="12311" name="Oval 24">
                <a:extLst>
                  <a:ext uri="{FF2B5EF4-FFF2-40B4-BE49-F238E27FC236}">
                    <a16:creationId xmlns:a16="http://schemas.microsoft.com/office/drawing/2014/main" id="{C45E7FD7-4DC0-4166-805E-D947ECD4986C}"/>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12" name="Oval 25">
                <a:extLst>
                  <a:ext uri="{FF2B5EF4-FFF2-40B4-BE49-F238E27FC236}">
                    <a16:creationId xmlns:a16="http://schemas.microsoft.com/office/drawing/2014/main" id="{00310BD8-B5F4-47FC-9998-18C0A9C0C4C9}"/>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13" name="Oval 26">
                <a:extLst>
                  <a:ext uri="{FF2B5EF4-FFF2-40B4-BE49-F238E27FC236}">
                    <a16:creationId xmlns:a16="http://schemas.microsoft.com/office/drawing/2014/main" id="{CA11E4F8-DEB7-4687-8D86-19F707A945E6}"/>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2314" name="Oval 27">
                <a:extLst>
                  <a:ext uri="{FF2B5EF4-FFF2-40B4-BE49-F238E27FC236}">
                    <a16:creationId xmlns:a16="http://schemas.microsoft.com/office/drawing/2014/main" id="{D2A7A239-8B0B-4D8E-A8A3-BA97794D79D9}"/>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13693" name="Text Box 29">
              <a:extLst>
                <a:ext uri="{FF2B5EF4-FFF2-40B4-BE49-F238E27FC236}">
                  <a16:creationId xmlns:a16="http://schemas.microsoft.com/office/drawing/2014/main" id="{2328909F-00E0-4FDA-8244-73AD2EBADB7A}"/>
                </a:ext>
              </a:extLst>
            </p:cNvPr>
            <p:cNvSpPr txBox="1">
              <a:spLocks noChangeArrowheads="1"/>
            </p:cNvSpPr>
            <p:nvPr/>
          </p:nvSpPr>
          <p:spPr bwMode="gray">
            <a:xfrm>
              <a:off x="2443" y="2453"/>
              <a:ext cx="850" cy="355"/>
            </a:xfrm>
            <a:prstGeom prst="rect">
              <a:avLst/>
            </a:prstGeom>
            <a:noFill/>
            <a:ln w="9525" algn="ctr">
              <a:noFill/>
              <a:miter lim="800000"/>
              <a:headEnd/>
              <a:tailEnd/>
            </a:ln>
            <a:effectLst/>
          </p:spPr>
          <p:txBody>
            <a:bodyPr wrap="none">
              <a:spAutoFit/>
            </a:bodyPr>
            <a:lstStyle/>
            <a:p>
              <a:pPr eaLnBrk="0" fontAlgn="auto" hangingPunct="0">
                <a:spcBef>
                  <a:spcPts val="0"/>
                </a:spcBef>
                <a:spcAft>
                  <a:spcPts val="0"/>
                </a:spcAft>
                <a:defRPr/>
              </a:pPr>
              <a:r>
                <a:rPr lang="zh-CN" altLang="en-US" sz="1600">
                  <a:solidFill>
                    <a:schemeClr val="tx2"/>
                  </a:solidFill>
                  <a:effectLst>
                    <a:outerShdw blurRad="38100" dist="38100" dir="2700000" algn="tl">
                      <a:srgbClr val="C0C0C0"/>
                    </a:outerShdw>
                  </a:effectLst>
                </a:rPr>
                <a:t>动态性</a:t>
              </a:r>
              <a:endParaRPr lang="en-US" altLang="zh-CN" sz="1600">
                <a:solidFill>
                  <a:schemeClr val="tx2"/>
                </a:solidFill>
                <a:effectLst>
                  <a:outerShdw blurRad="38100" dist="38100" dir="2700000" algn="tl">
                    <a:srgbClr val="C0C0C0"/>
                  </a:outerShdw>
                </a:effectLst>
              </a:endParaRPr>
            </a:p>
          </p:txBody>
        </p:sp>
      </p:grpSp>
      <p:grpSp>
        <p:nvGrpSpPr>
          <p:cNvPr id="6" name="Group 34">
            <a:extLst>
              <a:ext uri="{FF2B5EF4-FFF2-40B4-BE49-F238E27FC236}">
                <a16:creationId xmlns:a16="http://schemas.microsoft.com/office/drawing/2014/main" id="{BABFFEA0-1D76-4777-8DBC-282DD35A373C}"/>
              </a:ext>
            </a:extLst>
          </p:cNvPr>
          <p:cNvGrpSpPr>
            <a:grpSpLocks/>
          </p:cNvGrpSpPr>
          <p:nvPr/>
        </p:nvGrpSpPr>
        <p:grpSpPr bwMode="auto">
          <a:xfrm>
            <a:off x="971550" y="2062163"/>
            <a:ext cx="1655763" cy="3311525"/>
            <a:chOff x="748" y="1117"/>
            <a:chExt cx="1043" cy="2086"/>
          </a:xfrm>
        </p:grpSpPr>
        <p:sp>
          <p:nvSpPr>
            <p:cNvPr id="113669" name="AutoShape 5">
              <a:extLst>
                <a:ext uri="{FF2B5EF4-FFF2-40B4-BE49-F238E27FC236}">
                  <a16:creationId xmlns:a16="http://schemas.microsoft.com/office/drawing/2014/main" id="{FEB19621-1726-4089-80E4-36F38508C455}"/>
                </a:ext>
              </a:extLst>
            </p:cNvPr>
            <p:cNvSpPr>
              <a:spLocks noChangeArrowheads="1"/>
            </p:cNvSpPr>
            <p:nvPr/>
          </p:nvSpPr>
          <p:spPr bwMode="gray">
            <a:xfrm>
              <a:off x="748" y="1117"/>
              <a:ext cx="1043" cy="2086"/>
            </a:xfrm>
            <a:prstGeom prst="roundRect">
              <a:avLst>
                <a:gd name="adj" fmla="val 50000"/>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fontAlgn="auto">
                <a:spcBef>
                  <a:spcPts val="0"/>
                </a:spcBef>
                <a:spcAft>
                  <a:spcPts val="0"/>
                </a:spcAft>
                <a:defRPr/>
              </a:pPr>
              <a:endParaRPr lang="en-US" altLang="zh-CN" sz="2400">
                <a:solidFill>
                  <a:schemeClr val="tx2"/>
                </a:solidFill>
                <a:effectLst>
                  <a:outerShdw blurRad="38100" dist="38100" dir="2700000" algn="tl">
                    <a:srgbClr val="FFFFFF"/>
                  </a:outerShdw>
                </a:effectLst>
                <a:latin typeface="Arial" pitchFamily="34" charset="0"/>
              </a:endParaRPr>
            </a:p>
          </p:txBody>
        </p:sp>
        <p:sp>
          <p:nvSpPr>
            <p:cNvPr id="12303" name="Rectangle 33">
              <a:extLst>
                <a:ext uri="{FF2B5EF4-FFF2-40B4-BE49-F238E27FC236}">
                  <a16:creationId xmlns:a16="http://schemas.microsoft.com/office/drawing/2014/main" id="{B44C93B1-6ED8-4F68-AC44-A970EDB72ED7}"/>
                </a:ext>
              </a:extLst>
            </p:cNvPr>
            <p:cNvSpPr>
              <a:spLocks noChangeArrowheads="1"/>
            </p:cNvSpPr>
            <p:nvPr/>
          </p:nvSpPr>
          <p:spPr bwMode="gray">
            <a:xfrm>
              <a:off x="811" y="1438"/>
              <a:ext cx="952" cy="1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solidFill>
                    <a:schemeClr val="tx2"/>
                  </a:solidFill>
                  <a:latin typeface="Lucida Sans Unicode" panose="020B0602030504020204" pitchFamily="34" charset="0"/>
                </a:rPr>
                <a:t>项目组织结构是指项目参与者</a:t>
              </a:r>
              <a:r>
                <a:rPr lang="en-US" altLang="zh-CN" sz="1600" dirty="0">
                  <a:solidFill>
                    <a:schemeClr val="tx2"/>
                  </a:solidFill>
                  <a:latin typeface="Lucida Sans Unicode" panose="020B0602030504020204" pitchFamily="34" charset="0"/>
                </a:rPr>
                <a:t>(</a:t>
              </a:r>
              <a:r>
                <a:rPr lang="zh-CN" altLang="en-US" sz="1600" dirty="0">
                  <a:solidFill>
                    <a:schemeClr val="tx2"/>
                  </a:solidFill>
                  <a:latin typeface="Lucida Sans Unicode" panose="020B0602030504020204" pitchFamily="34" charset="0"/>
                </a:rPr>
                <a:t>公司或企业等组织</a:t>
              </a:r>
              <a:r>
                <a:rPr lang="en-US" altLang="zh-CN" sz="1600" dirty="0">
                  <a:solidFill>
                    <a:schemeClr val="tx2"/>
                  </a:solidFill>
                  <a:latin typeface="Lucida Sans Unicode" panose="020B0602030504020204" pitchFamily="34" charset="0"/>
                </a:rPr>
                <a:t>)</a:t>
              </a:r>
              <a:r>
                <a:rPr lang="zh-CN" altLang="en-US" sz="1600" dirty="0">
                  <a:solidFill>
                    <a:schemeClr val="tx2"/>
                  </a:solidFill>
                  <a:latin typeface="Lucida Sans Unicode" panose="020B0602030504020204" pitchFamily="34" charset="0"/>
                </a:rPr>
                <a:t>内部在管理项目时所采用的组织结构形式，而不指项目参与者之间的关系。</a:t>
              </a:r>
            </a:p>
          </p:txBody>
        </p:sp>
      </p:grpSp>
      <p:sp>
        <p:nvSpPr>
          <p:cNvPr id="113699" name="AutoShape 35">
            <a:extLst>
              <a:ext uri="{FF2B5EF4-FFF2-40B4-BE49-F238E27FC236}">
                <a16:creationId xmlns:a16="http://schemas.microsoft.com/office/drawing/2014/main" id="{423CD1DC-45AD-430F-AE83-EEE9D43FA11D}"/>
              </a:ext>
            </a:extLst>
          </p:cNvPr>
          <p:cNvSpPr>
            <a:spLocks noChangeArrowheads="1"/>
          </p:cNvSpPr>
          <p:nvPr/>
        </p:nvSpPr>
        <p:spPr bwMode="gray">
          <a:xfrm>
            <a:off x="2771775" y="4292600"/>
            <a:ext cx="576263" cy="215900"/>
          </a:xfrm>
          <a:prstGeom prst="chevron">
            <a:avLst>
              <a:gd name="adj" fmla="val 140166"/>
            </a:avLst>
          </a:prstGeom>
          <a:solidFill>
            <a:schemeClr val="hlink"/>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13700" name="AutoShape 36">
            <a:extLst>
              <a:ext uri="{FF2B5EF4-FFF2-40B4-BE49-F238E27FC236}">
                <a16:creationId xmlns:a16="http://schemas.microsoft.com/office/drawing/2014/main" id="{2B44DF32-98E9-4CFF-8B57-D4A099ABD5A6}"/>
              </a:ext>
            </a:extLst>
          </p:cNvPr>
          <p:cNvSpPr>
            <a:spLocks noChangeArrowheads="1"/>
          </p:cNvSpPr>
          <p:nvPr/>
        </p:nvSpPr>
        <p:spPr bwMode="gray">
          <a:xfrm rot="16200000" flipV="1">
            <a:off x="3779044" y="5014119"/>
            <a:ext cx="360363" cy="358775"/>
          </a:xfrm>
          <a:prstGeom prst="chevron">
            <a:avLst>
              <a:gd name="adj" fmla="val 52746"/>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13701" name="AutoShape 37">
            <a:extLst>
              <a:ext uri="{FF2B5EF4-FFF2-40B4-BE49-F238E27FC236}">
                <a16:creationId xmlns:a16="http://schemas.microsoft.com/office/drawing/2014/main" id="{8E42067A-F287-4613-B5E4-5A3CDB3C0314}"/>
              </a:ext>
            </a:extLst>
          </p:cNvPr>
          <p:cNvSpPr>
            <a:spLocks/>
          </p:cNvSpPr>
          <p:nvPr/>
        </p:nvSpPr>
        <p:spPr bwMode="gray">
          <a:xfrm>
            <a:off x="4643438" y="2924175"/>
            <a:ext cx="647700" cy="1727200"/>
          </a:xfrm>
          <a:prstGeom prst="rightBrace">
            <a:avLst>
              <a:gd name="adj1" fmla="val 22222"/>
              <a:gd name="adj2" fmla="val 50000"/>
            </a:avLst>
          </a:prstGeom>
          <a:noFill/>
          <a:ln w="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13702" name="Rectangle 38">
            <a:extLst>
              <a:ext uri="{FF2B5EF4-FFF2-40B4-BE49-F238E27FC236}">
                <a16:creationId xmlns:a16="http://schemas.microsoft.com/office/drawing/2014/main" id="{3CE2A671-4E5F-4591-845F-8E9E72C56635}"/>
              </a:ext>
            </a:extLst>
          </p:cNvPr>
          <p:cNvSpPr>
            <a:spLocks noChangeArrowheads="1"/>
          </p:cNvSpPr>
          <p:nvPr/>
        </p:nvSpPr>
        <p:spPr bwMode="gray">
          <a:xfrm>
            <a:off x="5507038" y="3357563"/>
            <a:ext cx="2881312" cy="641350"/>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defRPr/>
            </a:pPr>
            <a:r>
              <a:rPr lang="zh-CN" altLang="en-US" dirty="0">
                <a:solidFill>
                  <a:schemeClr val="tx2"/>
                </a:solidFill>
              </a:rPr>
              <a:t>项目组织较难建立稳定的规章制度和组织文化</a:t>
            </a:r>
          </a:p>
        </p:txBody>
      </p:sp>
      <p:sp>
        <p:nvSpPr>
          <p:cNvPr id="113703" name="Rectangle 39">
            <a:extLst>
              <a:ext uri="{FF2B5EF4-FFF2-40B4-BE49-F238E27FC236}">
                <a16:creationId xmlns:a16="http://schemas.microsoft.com/office/drawing/2014/main" id="{555051D9-C1DA-415C-899E-7845E13CBDB6}"/>
              </a:ext>
            </a:extLst>
          </p:cNvPr>
          <p:cNvSpPr>
            <a:spLocks noChangeArrowheads="1"/>
          </p:cNvSpPr>
          <p:nvPr/>
        </p:nvSpPr>
        <p:spPr bwMode="gray">
          <a:xfrm>
            <a:off x="2806700" y="1773238"/>
            <a:ext cx="2486025" cy="366712"/>
          </a:xfrm>
          <a:prstGeom prst="rect">
            <a:avLst/>
          </a:prstGeom>
          <a:solidFill>
            <a:schemeClr val="bg1">
              <a:alpha val="72156"/>
            </a:schemeClr>
          </a:solidFill>
          <a:ln w="0" algn="ctr">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Lucida Sans Unicode" panose="020B0602030504020204" pitchFamily="34" charset="0"/>
              </a:rPr>
              <a:t>项目的一次性与独特性</a:t>
            </a:r>
          </a:p>
        </p:txBody>
      </p:sp>
      <p:sp>
        <p:nvSpPr>
          <p:cNvPr id="113704" name="Rectangle 40">
            <a:extLst>
              <a:ext uri="{FF2B5EF4-FFF2-40B4-BE49-F238E27FC236}">
                <a16:creationId xmlns:a16="http://schemas.microsoft.com/office/drawing/2014/main" id="{11836C46-8D03-438F-AA28-5600E8867A6B}"/>
              </a:ext>
            </a:extLst>
          </p:cNvPr>
          <p:cNvSpPr>
            <a:spLocks noChangeArrowheads="1"/>
          </p:cNvSpPr>
          <p:nvPr/>
        </p:nvSpPr>
        <p:spPr bwMode="gray">
          <a:xfrm>
            <a:off x="3271838" y="5589588"/>
            <a:ext cx="1335087" cy="366712"/>
          </a:xfrm>
          <a:prstGeom prst="rect">
            <a:avLst/>
          </a:prstGeom>
          <a:solidFill>
            <a:schemeClr val="bg1">
              <a:alpha val="72156"/>
            </a:schemeClr>
          </a:solidFill>
          <a:ln w="0" algn="ctr">
            <a:solidFill>
              <a:schemeClr val="tx1"/>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Lucida Sans Unicode" panose="020B0602030504020204" pitchFamily="34" charset="0"/>
              </a:rPr>
              <a:t>项目阶段性</a:t>
            </a:r>
          </a:p>
        </p:txBody>
      </p:sp>
    </p:spTree>
    <p:extLst>
      <p:ext uri="{BB962C8B-B14F-4D97-AF65-F5344CB8AC3E}">
        <p14:creationId xmlns:p14="http://schemas.microsoft.com/office/powerpoint/2010/main" val="1504625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113671"/>
                                        </p:tgtEl>
                                        <p:attrNameLst>
                                          <p:attrName>style.visibility</p:attrName>
                                        </p:attrNameLst>
                                      </p:cBhvr>
                                      <p:to>
                                        <p:strVal val="visible"/>
                                      </p:to>
                                    </p:set>
                                    <p:animEffect transition="in" filter="wipe(left)">
                                      <p:cBhvr>
                                        <p:cTn id="12" dur="500"/>
                                        <p:tgtEl>
                                          <p:spTgt spid="113671"/>
                                        </p:tgtEl>
                                      </p:cBhvr>
                                    </p:animEffect>
                                  </p:childTnLst>
                                </p:cTn>
                              </p:par>
                            </p:childTnLst>
                          </p:cTn>
                        </p:par>
                        <p:par>
                          <p:cTn id="13" fill="hold" nodeType="afterGroup">
                            <p:stCondLst>
                              <p:cond delay="10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par>
                          <p:cTn id="17" fill="hold" nodeType="afterGroup">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13703"/>
                                        </p:tgtEl>
                                        <p:attrNameLst>
                                          <p:attrName>style.visibility</p:attrName>
                                        </p:attrNameLst>
                                      </p:cBhvr>
                                      <p:to>
                                        <p:strVal val="visible"/>
                                      </p:to>
                                    </p:set>
                                    <p:animEffect transition="in" filter="wipe(up)">
                                      <p:cBhvr>
                                        <p:cTn id="20" dur="500"/>
                                        <p:tgtEl>
                                          <p:spTgt spid="113703"/>
                                        </p:tgtEl>
                                      </p:cBhvr>
                                    </p:animEffect>
                                  </p:childTnLst>
                                </p:cTn>
                              </p:par>
                            </p:childTnLst>
                          </p:cTn>
                        </p:par>
                        <p:par>
                          <p:cTn id="21" fill="hold" nodeType="afterGroup">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113670"/>
                                        </p:tgtEl>
                                        <p:attrNameLst>
                                          <p:attrName>style.visibility</p:attrName>
                                        </p:attrNameLst>
                                      </p:cBhvr>
                                      <p:to>
                                        <p:strVal val="visible"/>
                                      </p:to>
                                    </p:set>
                                    <p:animEffect transition="in" filter="wipe(up)">
                                      <p:cBhvr>
                                        <p:cTn id="24" dur="500"/>
                                        <p:tgtEl>
                                          <p:spTgt spid="113670"/>
                                        </p:tgtEl>
                                      </p:cBhvr>
                                    </p:animEffect>
                                  </p:childTnLst>
                                </p:cTn>
                              </p:par>
                            </p:childTnLst>
                          </p:cTn>
                        </p:par>
                        <p:par>
                          <p:cTn id="25" fill="hold" nodeType="afterGroup">
                            <p:stCondLst>
                              <p:cond delay="2500"/>
                            </p:stCondLst>
                            <p:childTnLst>
                              <p:par>
                                <p:cTn id="26" presetID="22" presetClass="entr" presetSubtype="8" fill="hold" grpId="0" nodeType="afterEffect">
                                  <p:stCondLst>
                                    <p:cond delay="0"/>
                                  </p:stCondLst>
                                  <p:childTnLst>
                                    <p:set>
                                      <p:cBhvr>
                                        <p:cTn id="27" dur="1" fill="hold">
                                          <p:stCondLst>
                                            <p:cond delay="0"/>
                                          </p:stCondLst>
                                        </p:cTn>
                                        <p:tgtEl>
                                          <p:spTgt spid="113699"/>
                                        </p:tgtEl>
                                        <p:attrNameLst>
                                          <p:attrName>style.visibility</p:attrName>
                                        </p:attrNameLst>
                                      </p:cBhvr>
                                      <p:to>
                                        <p:strVal val="visible"/>
                                      </p:to>
                                    </p:set>
                                    <p:animEffect transition="in" filter="wipe(left)">
                                      <p:cBhvr>
                                        <p:cTn id="28" dur="500"/>
                                        <p:tgtEl>
                                          <p:spTgt spid="113699"/>
                                        </p:tgtEl>
                                      </p:cBhvr>
                                    </p:animEffect>
                                  </p:childTnLst>
                                </p:cTn>
                              </p:par>
                            </p:childTnLst>
                          </p:cTn>
                        </p:par>
                        <p:par>
                          <p:cTn id="29" fill="hold" nodeType="afterGroup">
                            <p:stCondLst>
                              <p:cond delay="3000"/>
                            </p:stCondLst>
                            <p:childTnLst>
                              <p:par>
                                <p:cTn id="30" presetID="22" presetClass="entr" presetSubtype="8"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nodeType="afterGroup">
                            <p:stCondLst>
                              <p:cond delay="4000"/>
                            </p:stCondLst>
                            <p:childTnLst>
                              <p:par>
                                <p:cTn id="34" presetID="22" presetClass="entr" presetSubtype="4" fill="hold" grpId="0" nodeType="afterEffect">
                                  <p:stCondLst>
                                    <p:cond delay="0"/>
                                  </p:stCondLst>
                                  <p:childTnLst>
                                    <p:set>
                                      <p:cBhvr>
                                        <p:cTn id="35" dur="1" fill="hold">
                                          <p:stCondLst>
                                            <p:cond delay="0"/>
                                          </p:stCondLst>
                                        </p:cTn>
                                        <p:tgtEl>
                                          <p:spTgt spid="113704"/>
                                        </p:tgtEl>
                                        <p:attrNameLst>
                                          <p:attrName>style.visibility</p:attrName>
                                        </p:attrNameLst>
                                      </p:cBhvr>
                                      <p:to>
                                        <p:strVal val="visible"/>
                                      </p:to>
                                    </p:set>
                                    <p:animEffect transition="in" filter="wipe(down)">
                                      <p:cBhvr>
                                        <p:cTn id="36" dur="500"/>
                                        <p:tgtEl>
                                          <p:spTgt spid="113704"/>
                                        </p:tgtEl>
                                      </p:cBhvr>
                                    </p:animEffect>
                                  </p:childTnLst>
                                </p:cTn>
                              </p:par>
                            </p:childTnLst>
                          </p:cTn>
                        </p:par>
                        <p:par>
                          <p:cTn id="37" fill="hold" nodeType="afterGroup">
                            <p:stCondLst>
                              <p:cond delay="4500"/>
                            </p:stCondLst>
                            <p:childTnLst>
                              <p:par>
                                <p:cTn id="38" presetID="22" presetClass="entr" presetSubtype="4" fill="hold" grpId="0" nodeType="afterEffect">
                                  <p:stCondLst>
                                    <p:cond delay="0"/>
                                  </p:stCondLst>
                                  <p:childTnLst>
                                    <p:set>
                                      <p:cBhvr>
                                        <p:cTn id="39" dur="1" fill="hold">
                                          <p:stCondLst>
                                            <p:cond delay="0"/>
                                          </p:stCondLst>
                                        </p:cTn>
                                        <p:tgtEl>
                                          <p:spTgt spid="113700"/>
                                        </p:tgtEl>
                                        <p:attrNameLst>
                                          <p:attrName>style.visibility</p:attrName>
                                        </p:attrNameLst>
                                      </p:cBhvr>
                                      <p:to>
                                        <p:strVal val="visible"/>
                                      </p:to>
                                    </p:set>
                                    <p:animEffect transition="in" filter="wipe(down)">
                                      <p:cBhvr>
                                        <p:cTn id="40" dur="500"/>
                                        <p:tgtEl>
                                          <p:spTgt spid="113700"/>
                                        </p:tgtEl>
                                      </p:cBhvr>
                                    </p:animEffect>
                                  </p:childTnLst>
                                </p:cTn>
                              </p:par>
                            </p:childTnLst>
                          </p:cTn>
                        </p:par>
                        <p:par>
                          <p:cTn id="41" fill="hold" nodeType="afterGroup">
                            <p:stCondLst>
                              <p:cond delay="5000"/>
                            </p:stCondLst>
                            <p:childTnLst>
                              <p:par>
                                <p:cTn id="42" presetID="22" presetClass="entr" presetSubtype="8" fill="hold" grpId="0" nodeType="afterEffect">
                                  <p:stCondLst>
                                    <p:cond delay="0"/>
                                  </p:stCondLst>
                                  <p:childTnLst>
                                    <p:set>
                                      <p:cBhvr>
                                        <p:cTn id="43" dur="1" fill="hold">
                                          <p:stCondLst>
                                            <p:cond delay="0"/>
                                          </p:stCondLst>
                                        </p:cTn>
                                        <p:tgtEl>
                                          <p:spTgt spid="113701"/>
                                        </p:tgtEl>
                                        <p:attrNameLst>
                                          <p:attrName>style.visibility</p:attrName>
                                        </p:attrNameLst>
                                      </p:cBhvr>
                                      <p:to>
                                        <p:strVal val="visible"/>
                                      </p:to>
                                    </p:set>
                                    <p:animEffect transition="in" filter="wipe(left)">
                                      <p:cBhvr>
                                        <p:cTn id="44" dur="500"/>
                                        <p:tgtEl>
                                          <p:spTgt spid="113701"/>
                                        </p:tgtEl>
                                      </p:cBhvr>
                                    </p:animEffect>
                                  </p:childTnLst>
                                </p:cTn>
                              </p:par>
                            </p:childTnLst>
                          </p:cTn>
                        </p:par>
                        <p:par>
                          <p:cTn id="45" fill="hold" nodeType="afterGroup">
                            <p:stCondLst>
                              <p:cond delay="5500"/>
                            </p:stCondLst>
                            <p:childTnLst>
                              <p:par>
                                <p:cTn id="46" presetID="22" presetClass="entr" presetSubtype="8" fill="hold" grpId="0" nodeType="afterEffect">
                                  <p:stCondLst>
                                    <p:cond delay="0"/>
                                  </p:stCondLst>
                                  <p:childTnLst>
                                    <p:set>
                                      <p:cBhvr>
                                        <p:cTn id="47" dur="1" fill="hold">
                                          <p:stCondLst>
                                            <p:cond delay="0"/>
                                          </p:stCondLst>
                                        </p:cTn>
                                        <p:tgtEl>
                                          <p:spTgt spid="113702"/>
                                        </p:tgtEl>
                                        <p:attrNameLst>
                                          <p:attrName>style.visibility</p:attrName>
                                        </p:attrNameLst>
                                      </p:cBhvr>
                                      <p:to>
                                        <p:strVal val="visible"/>
                                      </p:to>
                                    </p:set>
                                    <p:animEffect transition="in" filter="wipe(left)">
                                      <p:cBhvr>
                                        <p:cTn id="48" dur="500"/>
                                        <p:tgtEl>
                                          <p:spTgt spid="113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0" grpId="0" animBg="1"/>
      <p:bldP spid="113671" grpId="0" animBg="1"/>
      <p:bldP spid="113699" grpId="0" animBg="1"/>
      <p:bldP spid="113700" grpId="0" animBg="1"/>
      <p:bldP spid="113701" grpId="0" animBg="1"/>
      <p:bldP spid="113702" grpId="0" animBg="1"/>
      <p:bldP spid="113703" grpId="0" animBg="1"/>
      <p:bldP spid="11370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30E4C745-D90D-469E-9111-0E58C358C8BA}"/>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r>
              <a:rPr lang="en-US" altLang="zh-CN" sz="2800" dirty="0">
                <a:solidFill>
                  <a:schemeClr val="accent6">
                    <a:lumMod val="75000"/>
                  </a:schemeClr>
                </a:solidFill>
                <a:latin typeface="PingFang SC"/>
              </a:rPr>
              <a:t>3</a:t>
            </a:r>
            <a:r>
              <a:rPr lang="zh-CN" altLang="en-US" sz="2800" dirty="0">
                <a:solidFill>
                  <a:schemeClr val="accent6">
                    <a:lumMod val="75000"/>
                  </a:schemeClr>
                </a:solidFill>
                <a:latin typeface="PingFang SC"/>
              </a:rPr>
              <a:t>、项目组织的类型</a:t>
            </a:r>
            <a:endParaRPr lang="zh-CN" altLang="en-US" sz="2800" dirty="0"/>
          </a:p>
        </p:txBody>
      </p:sp>
      <p:sp>
        <p:nvSpPr>
          <p:cNvPr id="115718" name="AutoShape 6">
            <a:extLst>
              <a:ext uri="{FF2B5EF4-FFF2-40B4-BE49-F238E27FC236}">
                <a16:creationId xmlns:a16="http://schemas.microsoft.com/office/drawing/2014/main" id="{EA9B4D20-C976-41C4-81B0-84EAAAAE81EC}"/>
              </a:ext>
            </a:extLst>
          </p:cNvPr>
          <p:cNvSpPr>
            <a:spLocks noChangeArrowheads="1"/>
          </p:cNvSpPr>
          <p:nvPr/>
        </p:nvSpPr>
        <p:spPr bwMode="gray">
          <a:xfrm flipV="1">
            <a:off x="1835150" y="2060575"/>
            <a:ext cx="5545138" cy="1944688"/>
          </a:xfrm>
          <a:prstGeom prst="upArrow">
            <a:avLst>
              <a:gd name="adj1" fmla="val 57824"/>
              <a:gd name="adj2" fmla="val 54398"/>
            </a:avLst>
          </a:prstGeom>
          <a:gradFill rotWithShape="1">
            <a:gsLst>
              <a:gs pos="0">
                <a:schemeClr val="folHlink"/>
              </a:gs>
              <a:gs pos="100000">
                <a:schemeClr val="folHlink">
                  <a:gamma/>
                  <a:tint val="0"/>
                  <a:invGamma/>
                </a:schemeClr>
              </a:gs>
            </a:gsLst>
            <a:lin ang="5400000" scaled="1"/>
          </a:gradFill>
          <a:ln w="9525" algn="ctr">
            <a:noFill/>
            <a:miter lim="800000"/>
            <a:headEnd/>
            <a:tailEnd/>
          </a:ln>
          <a:effectLst/>
        </p:spPr>
        <p:txBody>
          <a:bodyPr wrap="none" anchor="ctr"/>
          <a:lstStyle/>
          <a:p>
            <a:pPr fontAlgn="auto">
              <a:spcBef>
                <a:spcPts val="0"/>
              </a:spcBef>
              <a:spcAft>
                <a:spcPts val="0"/>
              </a:spcAft>
              <a:defRPr/>
            </a:pPr>
            <a:endParaRPr lang="zh-CN" altLang="en-US">
              <a:ea typeface="+mn-ea"/>
            </a:endParaRPr>
          </a:p>
        </p:txBody>
      </p:sp>
      <p:sp>
        <p:nvSpPr>
          <p:cNvPr id="115719" name="AutoShape 7">
            <a:extLst>
              <a:ext uri="{FF2B5EF4-FFF2-40B4-BE49-F238E27FC236}">
                <a16:creationId xmlns:a16="http://schemas.microsoft.com/office/drawing/2014/main" id="{BD9173E0-FB7D-43A4-BD06-CC9712DAD08A}"/>
              </a:ext>
            </a:extLst>
          </p:cNvPr>
          <p:cNvSpPr>
            <a:spLocks noChangeArrowheads="1"/>
          </p:cNvSpPr>
          <p:nvPr/>
        </p:nvSpPr>
        <p:spPr bwMode="gray">
          <a:xfrm>
            <a:off x="1833563" y="1700213"/>
            <a:ext cx="5451475" cy="649287"/>
          </a:xfrm>
          <a:prstGeom prst="roundRect">
            <a:avLst>
              <a:gd name="adj" fmla="val 50000"/>
            </a:avLst>
          </a:prstGeom>
          <a:gradFill rotWithShape="1">
            <a:gsLst>
              <a:gs pos="0">
                <a:schemeClr val="hlink">
                  <a:gamma/>
                  <a:shade val="48627"/>
                  <a:invGamma/>
                </a:schemeClr>
              </a:gs>
              <a:gs pos="50000">
                <a:schemeClr val="hlink"/>
              </a:gs>
              <a:gs pos="100000">
                <a:schemeClr val="hlink">
                  <a:gamma/>
                  <a:shade val="48627"/>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algn="ctr" eaLnBrk="0" fontAlgn="auto" hangingPunct="0">
              <a:spcBef>
                <a:spcPts val="0"/>
              </a:spcBef>
              <a:spcAft>
                <a:spcPts val="0"/>
              </a:spcAft>
              <a:defRPr/>
            </a:pPr>
            <a:r>
              <a:rPr lang="zh-CN" altLang="en-US" sz="2400" b="1" dirty="0">
                <a:solidFill>
                  <a:schemeClr val="tx2"/>
                </a:solidFill>
                <a:effectLst>
                  <a:outerShdw blurRad="38100" dist="38100" dir="2700000" algn="tl">
                    <a:srgbClr val="FFFFFF"/>
                  </a:outerShdw>
                </a:effectLst>
              </a:rPr>
              <a:t>项目管理的企业内部组织结构</a:t>
            </a:r>
            <a:endParaRPr lang="en-US" altLang="zh-CN" sz="2400" b="1" dirty="0">
              <a:solidFill>
                <a:schemeClr val="tx2"/>
              </a:solidFill>
              <a:effectLst>
                <a:outerShdw blurRad="38100" dist="38100" dir="2700000" algn="tl">
                  <a:srgbClr val="FFFFFF"/>
                </a:outerShdw>
              </a:effectLst>
            </a:endParaRPr>
          </a:p>
        </p:txBody>
      </p:sp>
      <p:grpSp>
        <p:nvGrpSpPr>
          <p:cNvPr id="2" name="Group 35">
            <a:extLst>
              <a:ext uri="{FF2B5EF4-FFF2-40B4-BE49-F238E27FC236}">
                <a16:creationId xmlns:a16="http://schemas.microsoft.com/office/drawing/2014/main" id="{A92D7C06-605E-48B9-A4C9-13557ACAB937}"/>
              </a:ext>
            </a:extLst>
          </p:cNvPr>
          <p:cNvGrpSpPr>
            <a:grpSpLocks/>
          </p:cNvGrpSpPr>
          <p:nvPr/>
        </p:nvGrpSpPr>
        <p:grpSpPr bwMode="auto">
          <a:xfrm>
            <a:off x="2114550" y="4076700"/>
            <a:ext cx="1487488" cy="1944688"/>
            <a:chOff x="1332" y="2568"/>
            <a:chExt cx="937" cy="1225"/>
          </a:xfrm>
        </p:grpSpPr>
        <p:grpSp>
          <p:nvGrpSpPr>
            <p:cNvPr id="13330" name="Group 11">
              <a:extLst>
                <a:ext uri="{FF2B5EF4-FFF2-40B4-BE49-F238E27FC236}">
                  <a16:creationId xmlns:a16="http://schemas.microsoft.com/office/drawing/2014/main" id="{704AB851-CB61-488C-94B5-7818A82E9BA2}"/>
                </a:ext>
              </a:extLst>
            </p:cNvPr>
            <p:cNvGrpSpPr>
              <a:grpSpLocks/>
            </p:cNvGrpSpPr>
            <p:nvPr/>
          </p:nvGrpSpPr>
          <p:grpSpPr bwMode="auto">
            <a:xfrm>
              <a:off x="1332" y="2568"/>
              <a:ext cx="881" cy="896"/>
              <a:chOff x="2016" y="1920"/>
              <a:chExt cx="1680" cy="1680"/>
            </a:xfrm>
          </p:grpSpPr>
          <p:sp>
            <p:nvSpPr>
              <p:cNvPr id="115724" name="Oval 12">
                <a:extLst>
                  <a:ext uri="{FF2B5EF4-FFF2-40B4-BE49-F238E27FC236}">
                    <a16:creationId xmlns:a16="http://schemas.microsoft.com/office/drawing/2014/main" id="{2D3F4658-F5EF-4CF4-91E0-EF6C209BEC5A}"/>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63529"/>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334" name="Freeform 13">
                <a:extLst>
                  <a:ext uri="{FF2B5EF4-FFF2-40B4-BE49-F238E27FC236}">
                    <a16:creationId xmlns:a16="http://schemas.microsoft.com/office/drawing/2014/main" id="{EBC00FCB-D60F-4C8A-8E69-B00E91F5CE05}"/>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331" name="Text Box 14">
              <a:extLst>
                <a:ext uri="{FF2B5EF4-FFF2-40B4-BE49-F238E27FC236}">
                  <a16:creationId xmlns:a16="http://schemas.microsoft.com/office/drawing/2014/main" id="{0705C281-D854-4FC8-8F59-6E64643A8F3B}"/>
                </a:ext>
              </a:extLst>
            </p:cNvPr>
            <p:cNvSpPr txBox="1">
              <a:spLocks noChangeArrowheads="1"/>
            </p:cNvSpPr>
            <p:nvPr/>
          </p:nvSpPr>
          <p:spPr bwMode="gray">
            <a:xfrm>
              <a:off x="1422" y="2807"/>
              <a:ext cx="69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chemeClr val="tx2"/>
                  </a:solidFill>
                  <a:latin typeface="Lucida Sans Unicode" panose="020B0602030504020204" pitchFamily="34" charset="0"/>
                </a:rPr>
                <a:t>职能式</a:t>
              </a:r>
            </a:p>
            <a:p>
              <a:pPr algn="ctr"/>
              <a:r>
                <a:rPr lang="zh-CN" altLang="en-US" b="1">
                  <a:solidFill>
                    <a:schemeClr val="tx2"/>
                  </a:solidFill>
                  <a:latin typeface="Lucida Sans Unicode" panose="020B0602030504020204" pitchFamily="34" charset="0"/>
                </a:rPr>
                <a:t>组织结构</a:t>
              </a:r>
              <a:endParaRPr lang="en-US" altLang="zh-CN" b="1">
                <a:solidFill>
                  <a:schemeClr val="tx2"/>
                </a:solidFill>
                <a:latin typeface="Lucida Sans Unicode" panose="020B0602030504020204" pitchFamily="34" charset="0"/>
              </a:endParaRPr>
            </a:p>
          </p:txBody>
        </p:sp>
        <p:sp>
          <p:nvSpPr>
            <p:cNvPr id="13332" name="Oval 15">
              <a:extLst>
                <a:ext uri="{FF2B5EF4-FFF2-40B4-BE49-F238E27FC236}">
                  <a16:creationId xmlns:a16="http://schemas.microsoft.com/office/drawing/2014/main" id="{393C6007-0868-44BC-8A8D-6BD68BA68BCA}"/>
                </a:ext>
              </a:extLst>
            </p:cNvPr>
            <p:cNvSpPr>
              <a:spLocks noChangeArrowheads="1"/>
            </p:cNvSpPr>
            <p:nvPr/>
          </p:nvSpPr>
          <p:spPr bwMode="gray">
            <a:xfrm>
              <a:off x="1332" y="3534"/>
              <a:ext cx="937" cy="259"/>
            </a:xfrm>
            <a:prstGeom prst="ellipse">
              <a:avLst/>
            </a:prstGeom>
            <a:gradFill rotWithShape="1">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ndParaRPr>
            </a:p>
          </p:txBody>
        </p:sp>
      </p:grpSp>
      <p:grpSp>
        <p:nvGrpSpPr>
          <p:cNvPr id="4" name="Group 36">
            <a:extLst>
              <a:ext uri="{FF2B5EF4-FFF2-40B4-BE49-F238E27FC236}">
                <a16:creationId xmlns:a16="http://schemas.microsoft.com/office/drawing/2014/main" id="{BE841244-7918-4879-858C-920C3F8FD732}"/>
              </a:ext>
            </a:extLst>
          </p:cNvPr>
          <p:cNvGrpSpPr>
            <a:grpSpLocks/>
          </p:cNvGrpSpPr>
          <p:nvPr/>
        </p:nvGrpSpPr>
        <p:grpSpPr bwMode="auto">
          <a:xfrm>
            <a:off x="3908425" y="4076700"/>
            <a:ext cx="1522413" cy="1944688"/>
            <a:chOff x="2462" y="2568"/>
            <a:chExt cx="959" cy="1225"/>
          </a:xfrm>
        </p:grpSpPr>
        <p:grpSp>
          <p:nvGrpSpPr>
            <p:cNvPr id="13325" name="Group 17">
              <a:extLst>
                <a:ext uri="{FF2B5EF4-FFF2-40B4-BE49-F238E27FC236}">
                  <a16:creationId xmlns:a16="http://schemas.microsoft.com/office/drawing/2014/main" id="{3C01E666-DA80-4439-B0E4-3E00BAF8DA72}"/>
                </a:ext>
              </a:extLst>
            </p:cNvPr>
            <p:cNvGrpSpPr>
              <a:grpSpLocks/>
            </p:cNvGrpSpPr>
            <p:nvPr/>
          </p:nvGrpSpPr>
          <p:grpSpPr bwMode="auto">
            <a:xfrm>
              <a:off x="2462" y="2568"/>
              <a:ext cx="903" cy="900"/>
              <a:chOff x="2016" y="1920"/>
              <a:chExt cx="1680" cy="1680"/>
            </a:xfrm>
          </p:grpSpPr>
          <p:sp>
            <p:nvSpPr>
              <p:cNvPr id="115730" name="Oval 18">
                <a:extLst>
                  <a:ext uri="{FF2B5EF4-FFF2-40B4-BE49-F238E27FC236}">
                    <a16:creationId xmlns:a16="http://schemas.microsoft.com/office/drawing/2014/main" id="{EBD944C8-67F1-4C85-B9EF-FB937D79FF34}"/>
                  </a:ext>
                </a:extLst>
              </p:cNvPr>
              <p:cNvSpPr>
                <a:spLocks noChangeArrowheads="1"/>
              </p:cNvSpPr>
              <p:nvPr/>
            </p:nvSpPr>
            <p:spPr bwMode="gray">
              <a:xfrm>
                <a:off x="2016" y="1920"/>
                <a:ext cx="1680" cy="1680"/>
              </a:xfrm>
              <a:prstGeom prst="ellipse">
                <a:avLst/>
              </a:prstGeom>
              <a:gradFill rotWithShape="1">
                <a:gsLst>
                  <a:gs pos="0">
                    <a:schemeClr val="hlink"/>
                  </a:gs>
                  <a:gs pos="100000">
                    <a:schemeClr val="hlink">
                      <a:gamma/>
                      <a:shade val="5137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15731" name="Freeform 19">
                <a:extLst>
                  <a:ext uri="{FF2B5EF4-FFF2-40B4-BE49-F238E27FC236}">
                    <a16:creationId xmlns:a16="http://schemas.microsoft.com/office/drawing/2014/main" id="{2CDB72BA-07DD-481D-AFA6-74FC959A3CBA}"/>
                  </a:ext>
                </a:extLst>
              </p:cNvPr>
              <p:cNvSpPr>
                <a:spLocks/>
              </p:cNvSpPr>
              <p:nvPr/>
            </p:nvSpPr>
            <p:spPr bwMode="gray">
              <a:xfrm>
                <a:off x="2208" y="1948"/>
                <a:ext cx="1297" cy="635"/>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hlink">
                      <a:gamma/>
                      <a:tint val="0"/>
                      <a:invGamma/>
                    </a:schemeClr>
                  </a:gs>
                  <a:gs pos="100000">
                    <a:schemeClr val="hlink"/>
                  </a:gs>
                </a:gsLst>
                <a:lin ang="5400000" scaled="1"/>
              </a:gradFill>
              <a:ln w="0">
                <a:noFill/>
                <a:prstDash val="solid"/>
                <a:round/>
                <a:headEnd/>
                <a:tailEnd/>
              </a:ln>
              <a:effectLst/>
            </p:spPr>
            <p:txBody>
              <a:bodyPr/>
              <a:lstStyle/>
              <a:p>
                <a:pPr fontAlgn="auto">
                  <a:spcBef>
                    <a:spcPts val="0"/>
                  </a:spcBef>
                  <a:spcAft>
                    <a:spcPts val="0"/>
                  </a:spcAft>
                  <a:defRPr/>
                </a:pPr>
                <a:endParaRPr lang="zh-CN" altLang="en-US">
                  <a:ea typeface="+mn-ea"/>
                </a:endParaRPr>
              </a:p>
            </p:txBody>
          </p:sp>
        </p:grpSp>
        <p:sp>
          <p:nvSpPr>
            <p:cNvPr id="13326" name="Text Box 20">
              <a:extLst>
                <a:ext uri="{FF2B5EF4-FFF2-40B4-BE49-F238E27FC236}">
                  <a16:creationId xmlns:a16="http://schemas.microsoft.com/office/drawing/2014/main" id="{1512BA47-6C05-4B78-846A-3E847936B5D6}"/>
                </a:ext>
              </a:extLst>
            </p:cNvPr>
            <p:cNvSpPr txBox="1">
              <a:spLocks noChangeArrowheads="1"/>
            </p:cNvSpPr>
            <p:nvPr/>
          </p:nvSpPr>
          <p:spPr bwMode="gray">
            <a:xfrm>
              <a:off x="2507" y="2776"/>
              <a:ext cx="81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chemeClr val="tx2"/>
                  </a:solidFill>
                  <a:latin typeface="Lucida Sans Unicode" panose="020B0602030504020204" pitchFamily="34" charset="0"/>
                </a:rPr>
                <a:t>矩阵式</a:t>
              </a:r>
            </a:p>
            <a:p>
              <a:pPr algn="ctr"/>
              <a:r>
                <a:rPr lang="zh-CN" altLang="en-US" b="1">
                  <a:solidFill>
                    <a:schemeClr val="tx2"/>
                  </a:solidFill>
                  <a:latin typeface="Lucida Sans Unicode" panose="020B0602030504020204" pitchFamily="34" charset="0"/>
                </a:rPr>
                <a:t>结构</a:t>
              </a:r>
              <a:endParaRPr lang="en-US" altLang="zh-CN" b="1">
                <a:solidFill>
                  <a:schemeClr val="tx2"/>
                </a:solidFill>
                <a:latin typeface="Lucida Sans Unicode" panose="020B0602030504020204" pitchFamily="34" charset="0"/>
              </a:endParaRPr>
            </a:p>
          </p:txBody>
        </p:sp>
        <p:sp>
          <p:nvSpPr>
            <p:cNvPr id="13327" name="Oval 21">
              <a:extLst>
                <a:ext uri="{FF2B5EF4-FFF2-40B4-BE49-F238E27FC236}">
                  <a16:creationId xmlns:a16="http://schemas.microsoft.com/office/drawing/2014/main" id="{99AECD19-600D-4EBE-A3FC-DBCF13F3A90E}"/>
                </a:ext>
              </a:extLst>
            </p:cNvPr>
            <p:cNvSpPr>
              <a:spLocks noChangeArrowheads="1"/>
            </p:cNvSpPr>
            <p:nvPr/>
          </p:nvSpPr>
          <p:spPr bwMode="gray">
            <a:xfrm>
              <a:off x="2485" y="3534"/>
              <a:ext cx="936" cy="259"/>
            </a:xfrm>
            <a:prstGeom prst="ellipse">
              <a:avLst/>
            </a:prstGeom>
            <a:gradFill rotWithShape="1">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ndParaRPr>
            </a:p>
          </p:txBody>
        </p:sp>
      </p:grpSp>
      <p:grpSp>
        <p:nvGrpSpPr>
          <p:cNvPr id="6" name="Group 37">
            <a:extLst>
              <a:ext uri="{FF2B5EF4-FFF2-40B4-BE49-F238E27FC236}">
                <a16:creationId xmlns:a16="http://schemas.microsoft.com/office/drawing/2014/main" id="{87F38294-EB90-4C87-9D48-1AC50984EDAD}"/>
              </a:ext>
            </a:extLst>
          </p:cNvPr>
          <p:cNvGrpSpPr>
            <a:grpSpLocks/>
          </p:cNvGrpSpPr>
          <p:nvPr/>
        </p:nvGrpSpPr>
        <p:grpSpPr bwMode="auto">
          <a:xfrm>
            <a:off x="5845175" y="4035425"/>
            <a:ext cx="1535113" cy="1985963"/>
            <a:chOff x="3682" y="2542"/>
            <a:chExt cx="967" cy="1251"/>
          </a:xfrm>
        </p:grpSpPr>
        <p:grpSp>
          <p:nvGrpSpPr>
            <p:cNvPr id="13320" name="Group 23">
              <a:extLst>
                <a:ext uri="{FF2B5EF4-FFF2-40B4-BE49-F238E27FC236}">
                  <a16:creationId xmlns:a16="http://schemas.microsoft.com/office/drawing/2014/main" id="{EBD209CC-FA14-4A0F-B075-B201D06680A1}"/>
                </a:ext>
              </a:extLst>
            </p:cNvPr>
            <p:cNvGrpSpPr>
              <a:grpSpLocks/>
            </p:cNvGrpSpPr>
            <p:nvPr/>
          </p:nvGrpSpPr>
          <p:grpSpPr bwMode="auto">
            <a:xfrm>
              <a:off x="3682" y="2542"/>
              <a:ext cx="903" cy="900"/>
              <a:chOff x="2016" y="1920"/>
              <a:chExt cx="1680" cy="1680"/>
            </a:xfrm>
          </p:grpSpPr>
          <p:sp>
            <p:nvSpPr>
              <p:cNvPr id="115736" name="Oval 24">
                <a:extLst>
                  <a:ext uri="{FF2B5EF4-FFF2-40B4-BE49-F238E27FC236}">
                    <a16:creationId xmlns:a16="http://schemas.microsoft.com/office/drawing/2014/main" id="{F49687D8-5719-4B7C-92F4-981895B65E4B}"/>
                  </a:ext>
                </a:extLst>
              </p:cNvPr>
              <p:cNvSpPr>
                <a:spLocks noChangeArrowheads="1"/>
              </p:cNvSpPr>
              <p:nvPr/>
            </p:nvSpPr>
            <p:spPr bwMode="gray">
              <a:xfrm>
                <a:off x="2016" y="1920"/>
                <a:ext cx="1680" cy="1680"/>
              </a:xfrm>
              <a:prstGeom prst="ellipse">
                <a:avLst/>
              </a:prstGeom>
              <a:gradFill rotWithShape="1">
                <a:gsLst>
                  <a:gs pos="0">
                    <a:schemeClr val="accent1"/>
                  </a:gs>
                  <a:gs pos="100000">
                    <a:schemeClr val="accent1">
                      <a:gamma/>
                      <a:shade val="5137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15737" name="Freeform 25">
                <a:extLst>
                  <a:ext uri="{FF2B5EF4-FFF2-40B4-BE49-F238E27FC236}">
                    <a16:creationId xmlns:a16="http://schemas.microsoft.com/office/drawing/2014/main" id="{17277B54-9898-45F7-8868-B5387B10D479}"/>
                  </a:ext>
                </a:extLst>
              </p:cNvPr>
              <p:cNvSpPr>
                <a:spLocks/>
              </p:cNvSpPr>
              <p:nvPr/>
            </p:nvSpPr>
            <p:spPr bwMode="gray">
              <a:xfrm>
                <a:off x="2208" y="1948"/>
                <a:ext cx="1297" cy="635"/>
              </a:xfrm>
              <a:custGeom>
                <a:avLst/>
                <a:gdLst/>
                <a:ahLst/>
                <a:cxnLst>
                  <a:cxn ang="0">
                    <a:pos x="1301" y="401"/>
                  </a:cxn>
                  <a:cxn ang="0">
                    <a:pos x="1317" y="442"/>
                  </a:cxn>
                  <a:cxn ang="0">
                    <a:pos x="1321" y="481"/>
                  </a:cxn>
                  <a:cxn ang="0">
                    <a:pos x="1315" y="516"/>
                  </a:cxn>
                  <a:cxn ang="0">
                    <a:pos x="1298" y="550"/>
                  </a:cxn>
                  <a:cxn ang="0">
                    <a:pos x="1272" y="579"/>
                  </a:cxn>
                  <a:cxn ang="0">
                    <a:pos x="1239" y="604"/>
                  </a:cxn>
                  <a:cxn ang="0">
                    <a:pos x="1196" y="628"/>
                  </a:cxn>
                  <a:cxn ang="0">
                    <a:pos x="1147" y="649"/>
                  </a:cxn>
                  <a:cxn ang="0">
                    <a:pos x="1092" y="667"/>
                  </a:cxn>
                  <a:cxn ang="0">
                    <a:pos x="1031" y="683"/>
                  </a:cxn>
                  <a:cxn ang="0">
                    <a:pos x="967" y="694"/>
                  </a:cxn>
                  <a:cxn ang="0">
                    <a:pos x="896" y="704"/>
                  </a:cxn>
                  <a:cxn ang="0">
                    <a:pos x="824" y="710"/>
                  </a:cxn>
                  <a:cxn ang="0">
                    <a:pos x="795" y="712"/>
                  </a:cxn>
                  <a:cxn ang="0">
                    <a:pos x="476" y="712"/>
                  </a:cxn>
                  <a:cxn ang="0">
                    <a:pos x="472" y="712"/>
                  </a:cxn>
                  <a:cxn ang="0">
                    <a:pos x="409" y="708"/>
                  </a:cxn>
                  <a:cxn ang="0">
                    <a:pos x="348" y="704"/>
                  </a:cxn>
                  <a:cxn ang="0">
                    <a:pos x="290" y="696"/>
                  </a:cxn>
                  <a:cxn ang="0">
                    <a:pos x="235" y="689"/>
                  </a:cxn>
                  <a:cxn ang="0">
                    <a:pos x="186" y="677"/>
                  </a:cxn>
                  <a:cxn ang="0">
                    <a:pos x="141" y="663"/>
                  </a:cxn>
                  <a:cxn ang="0">
                    <a:pos x="102" y="648"/>
                  </a:cxn>
                  <a:cxn ang="0">
                    <a:pos x="67" y="630"/>
                  </a:cxn>
                  <a:cxn ang="0">
                    <a:pos x="39" y="608"/>
                  </a:cxn>
                  <a:cxn ang="0">
                    <a:pos x="18" y="583"/>
                  </a:cxn>
                  <a:cxn ang="0">
                    <a:pos x="6" y="554"/>
                  </a:cxn>
                  <a:cxn ang="0">
                    <a:pos x="0" y="524"/>
                  </a:cxn>
                  <a:cxn ang="0">
                    <a:pos x="0" y="520"/>
                  </a:cxn>
                  <a:cxn ang="0">
                    <a:pos x="4" y="487"/>
                  </a:cxn>
                  <a:cxn ang="0">
                    <a:pos x="16" y="446"/>
                  </a:cxn>
                  <a:cxn ang="0">
                    <a:pos x="51" y="370"/>
                  </a:cxn>
                  <a:cxn ang="0">
                    <a:pos x="94" y="299"/>
                  </a:cxn>
                  <a:cxn ang="0">
                    <a:pos x="147" y="235"/>
                  </a:cxn>
                  <a:cxn ang="0">
                    <a:pos x="204" y="176"/>
                  </a:cxn>
                  <a:cxn ang="0">
                    <a:pos x="270" y="125"/>
                  </a:cxn>
                  <a:cxn ang="0">
                    <a:pos x="341" y="82"/>
                  </a:cxn>
                  <a:cxn ang="0">
                    <a:pos x="415" y="47"/>
                  </a:cxn>
                  <a:cxn ang="0">
                    <a:pos x="497" y="21"/>
                  </a:cxn>
                  <a:cxn ang="0">
                    <a:pos x="581" y="6"/>
                  </a:cxn>
                  <a:cxn ang="0">
                    <a:pos x="667" y="0"/>
                  </a:cxn>
                  <a:cxn ang="0">
                    <a:pos x="667" y="0"/>
                  </a:cxn>
                  <a:cxn ang="0">
                    <a:pos x="759" y="6"/>
                  </a:cxn>
                  <a:cxn ang="0">
                    <a:pos x="847" y="23"/>
                  </a:cxn>
                  <a:cxn ang="0">
                    <a:pos x="932" y="53"/>
                  </a:cxn>
                  <a:cxn ang="0">
                    <a:pos x="1010" y="90"/>
                  </a:cxn>
                  <a:cxn ang="0">
                    <a:pos x="1082" y="137"/>
                  </a:cxn>
                  <a:cxn ang="0">
                    <a:pos x="1149" y="194"/>
                  </a:cxn>
                  <a:cxn ang="0">
                    <a:pos x="1208" y="256"/>
                  </a:cxn>
                  <a:cxn ang="0">
                    <a:pos x="1258" y="325"/>
                  </a:cxn>
                  <a:cxn ang="0">
                    <a:pos x="1301" y="401"/>
                  </a:cxn>
                  <a:cxn ang="0">
                    <a:pos x="1301" y="401"/>
                  </a:cxn>
                </a:cxnLst>
                <a:rect l="0" t="0" r="r" b="b"/>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667" y="0"/>
                    </a:lnTo>
                    <a:lnTo>
                      <a:pt x="759" y="6"/>
                    </a:lnTo>
                    <a:lnTo>
                      <a:pt x="847" y="23"/>
                    </a:lnTo>
                    <a:lnTo>
                      <a:pt x="932" y="53"/>
                    </a:lnTo>
                    <a:lnTo>
                      <a:pt x="1010" y="90"/>
                    </a:lnTo>
                    <a:lnTo>
                      <a:pt x="1082" y="137"/>
                    </a:lnTo>
                    <a:lnTo>
                      <a:pt x="1149" y="194"/>
                    </a:lnTo>
                    <a:lnTo>
                      <a:pt x="1208" y="256"/>
                    </a:lnTo>
                    <a:lnTo>
                      <a:pt x="1258" y="325"/>
                    </a:lnTo>
                    <a:lnTo>
                      <a:pt x="1301" y="401"/>
                    </a:lnTo>
                    <a:lnTo>
                      <a:pt x="1301" y="401"/>
                    </a:lnTo>
                    <a:close/>
                  </a:path>
                </a:pathLst>
              </a:custGeom>
              <a:gradFill rotWithShape="1">
                <a:gsLst>
                  <a:gs pos="0">
                    <a:schemeClr val="accent1">
                      <a:gamma/>
                      <a:tint val="0"/>
                      <a:invGamma/>
                    </a:schemeClr>
                  </a:gs>
                  <a:gs pos="100000">
                    <a:schemeClr val="accent1"/>
                  </a:gs>
                </a:gsLst>
                <a:lin ang="5400000" scaled="1"/>
              </a:gradFill>
              <a:ln w="0">
                <a:noFill/>
                <a:prstDash val="solid"/>
                <a:round/>
                <a:headEnd/>
                <a:tailEnd/>
              </a:ln>
              <a:effectLst/>
            </p:spPr>
            <p:txBody>
              <a:bodyPr/>
              <a:lstStyle/>
              <a:p>
                <a:pPr fontAlgn="auto">
                  <a:spcBef>
                    <a:spcPts val="0"/>
                  </a:spcBef>
                  <a:spcAft>
                    <a:spcPts val="0"/>
                  </a:spcAft>
                  <a:defRPr/>
                </a:pPr>
                <a:endParaRPr lang="zh-CN" altLang="en-US">
                  <a:ea typeface="+mn-ea"/>
                </a:endParaRPr>
              </a:p>
            </p:txBody>
          </p:sp>
        </p:grpSp>
        <p:sp>
          <p:nvSpPr>
            <p:cNvPr id="13321" name="Text Box 26">
              <a:extLst>
                <a:ext uri="{FF2B5EF4-FFF2-40B4-BE49-F238E27FC236}">
                  <a16:creationId xmlns:a16="http://schemas.microsoft.com/office/drawing/2014/main" id="{0D7AB647-8029-4F76-98C1-1641C352A77D}"/>
                </a:ext>
              </a:extLst>
            </p:cNvPr>
            <p:cNvSpPr txBox="1">
              <a:spLocks noChangeArrowheads="1"/>
            </p:cNvSpPr>
            <p:nvPr/>
          </p:nvSpPr>
          <p:spPr bwMode="gray">
            <a:xfrm>
              <a:off x="3727" y="2750"/>
              <a:ext cx="813"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a:solidFill>
                    <a:schemeClr val="tx2"/>
                  </a:solidFill>
                  <a:latin typeface="Lucida Sans Unicode" panose="020B0602030504020204" pitchFamily="34" charset="0"/>
                </a:rPr>
                <a:t>项目式</a:t>
              </a:r>
            </a:p>
            <a:p>
              <a:pPr algn="ctr"/>
              <a:r>
                <a:rPr lang="zh-CN" altLang="en-US" b="1">
                  <a:solidFill>
                    <a:schemeClr val="tx2"/>
                  </a:solidFill>
                  <a:latin typeface="Lucida Sans Unicode" panose="020B0602030504020204" pitchFamily="34" charset="0"/>
                </a:rPr>
                <a:t>组织结构</a:t>
              </a:r>
              <a:endParaRPr lang="en-US" altLang="zh-CN" b="1">
                <a:solidFill>
                  <a:schemeClr val="tx2"/>
                </a:solidFill>
                <a:latin typeface="Lucida Sans Unicode" panose="020B0602030504020204" pitchFamily="34" charset="0"/>
              </a:endParaRPr>
            </a:p>
          </p:txBody>
        </p:sp>
        <p:sp>
          <p:nvSpPr>
            <p:cNvPr id="13322" name="Oval 27">
              <a:extLst>
                <a:ext uri="{FF2B5EF4-FFF2-40B4-BE49-F238E27FC236}">
                  <a16:creationId xmlns:a16="http://schemas.microsoft.com/office/drawing/2014/main" id="{1DCA0E12-FEFB-46AD-B739-1DB873E70D93}"/>
                </a:ext>
              </a:extLst>
            </p:cNvPr>
            <p:cNvSpPr>
              <a:spLocks noChangeArrowheads="1"/>
            </p:cNvSpPr>
            <p:nvPr/>
          </p:nvSpPr>
          <p:spPr bwMode="gray">
            <a:xfrm>
              <a:off x="3713" y="3534"/>
              <a:ext cx="936" cy="259"/>
            </a:xfrm>
            <a:prstGeom prst="ellipse">
              <a:avLst/>
            </a:prstGeom>
            <a:gradFill rotWithShape="1">
              <a:gsLst>
                <a:gs pos="0">
                  <a:schemeClr val="bg2"/>
                </a:gs>
                <a:gs pos="100000">
                  <a:schemeClr val="bg1"/>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ndParaRPr>
            </a:p>
          </p:txBody>
        </p:sp>
      </p:grpSp>
    </p:spTree>
    <p:extLst>
      <p:ext uri="{BB962C8B-B14F-4D97-AF65-F5344CB8AC3E}">
        <p14:creationId xmlns:p14="http://schemas.microsoft.com/office/powerpoint/2010/main" val="3591335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15719"/>
                                        </p:tgtEl>
                                        <p:attrNameLst>
                                          <p:attrName>style.visibility</p:attrName>
                                        </p:attrNameLst>
                                      </p:cBhvr>
                                      <p:to>
                                        <p:strVal val="visible"/>
                                      </p:to>
                                    </p:set>
                                    <p:anim calcmode="lin" valueType="num">
                                      <p:cBhvr additive="base">
                                        <p:cTn id="7" dur="1000" fill="hold"/>
                                        <p:tgtEl>
                                          <p:spTgt spid="115719"/>
                                        </p:tgtEl>
                                        <p:attrNameLst>
                                          <p:attrName>ppt_x</p:attrName>
                                        </p:attrNameLst>
                                      </p:cBhvr>
                                      <p:tavLst>
                                        <p:tav tm="0">
                                          <p:val>
                                            <p:strVal val="#ppt_x"/>
                                          </p:val>
                                        </p:tav>
                                        <p:tav tm="100000">
                                          <p:val>
                                            <p:strVal val="#ppt_x"/>
                                          </p:val>
                                        </p:tav>
                                      </p:tavLst>
                                    </p:anim>
                                    <p:anim calcmode="lin" valueType="num">
                                      <p:cBhvr additive="base">
                                        <p:cTn id="8" dur="1000" fill="hold"/>
                                        <p:tgtEl>
                                          <p:spTgt spid="115719"/>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1000"/>
                            </p:stCondLst>
                            <p:childTnLst>
                              <p:par>
                                <p:cTn id="10" presetID="22" presetClass="entr" presetSubtype="1" fill="hold" grpId="0" nodeType="afterEffect">
                                  <p:stCondLst>
                                    <p:cond delay="0"/>
                                  </p:stCondLst>
                                  <p:childTnLst>
                                    <p:set>
                                      <p:cBhvr>
                                        <p:cTn id="11" dur="1" fill="hold">
                                          <p:stCondLst>
                                            <p:cond delay="0"/>
                                          </p:stCondLst>
                                        </p:cTn>
                                        <p:tgtEl>
                                          <p:spTgt spid="115718"/>
                                        </p:tgtEl>
                                        <p:attrNameLst>
                                          <p:attrName>style.visibility</p:attrName>
                                        </p:attrNameLst>
                                      </p:cBhvr>
                                      <p:to>
                                        <p:strVal val="visible"/>
                                      </p:to>
                                    </p:set>
                                    <p:animEffect transition="in" filter="wipe(up)">
                                      <p:cBhvr>
                                        <p:cTn id="12" dur="500"/>
                                        <p:tgtEl>
                                          <p:spTgt spid="115718"/>
                                        </p:tgtEl>
                                      </p:cBhvr>
                                    </p:animEffect>
                                  </p:childTnLst>
                                </p:cTn>
                              </p:par>
                            </p:childTnLst>
                          </p:cTn>
                        </p:par>
                        <p:par>
                          <p:cTn id="13" fill="hold" nodeType="afterGroup">
                            <p:stCondLst>
                              <p:cond delay="1500"/>
                            </p:stCondLst>
                            <p:childTnLst>
                              <p:par>
                                <p:cTn id="14" presetID="29" presetClass="entr" presetSubtype="0"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1000" fill="hold"/>
                                        <p:tgtEl>
                                          <p:spTgt spid="2"/>
                                        </p:tgtEl>
                                        <p:attrNameLst>
                                          <p:attrName>ppt_x</p:attrName>
                                        </p:attrNameLst>
                                      </p:cBhvr>
                                      <p:tavLst>
                                        <p:tav tm="0">
                                          <p:val>
                                            <p:strVal val="#ppt_x-.2"/>
                                          </p:val>
                                        </p:tav>
                                        <p:tav tm="100000">
                                          <p:val>
                                            <p:strVal val="#ppt_x"/>
                                          </p:val>
                                        </p:tav>
                                      </p:tavLst>
                                    </p:anim>
                                    <p:anim calcmode="lin" valueType="num">
                                      <p:cBhvr>
                                        <p:cTn id="17"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18" dur="1000"/>
                                        <p:tgtEl>
                                          <p:spTgt spid="2"/>
                                        </p:tgtEl>
                                      </p:cBhvr>
                                    </p:animEffect>
                                  </p:childTnLst>
                                </p:cTn>
                              </p:par>
                            </p:childTnLst>
                          </p:cTn>
                        </p:par>
                        <p:par>
                          <p:cTn id="19" fill="hold" nodeType="afterGroup">
                            <p:stCondLst>
                              <p:cond delay="2500"/>
                            </p:stCondLst>
                            <p:childTnLst>
                              <p:par>
                                <p:cTn id="20" presetID="29" presetClass="entr" presetSubtype="0"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ppt_x</p:attrName>
                                        </p:attrNameLst>
                                      </p:cBhvr>
                                      <p:tavLst>
                                        <p:tav tm="0">
                                          <p:val>
                                            <p:strVal val="#ppt_x-.2"/>
                                          </p:val>
                                        </p:tav>
                                        <p:tav tm="100000">
                                          <p:val>
                                            <p:strVal val="#ppt_x"/>
                                          </p:val>
                                        </p:tav>
                                      </p:tavLst>
                                    </p:anim>
                                    <p:anim calcmode="lin" valueType="num">
                                      <p:cBhvr>
                                        <p:cTn id="23"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24" dur="1000"/>
                                        <p:tgtEl>
                                          <p:spTgt spid="4"/>
                                        </p:tgtEl>
                                      </p:cBhvr>
                                    </p:animEffect>
                                  </p:childTnLst>
                                </p:cTn>
                              </p:par>
                            </p:childTnLst>
                          </p:cTn>
                        </p:par>
                        <p:par>
                          <p:cTn id="25" fill="hold" nodeType="afterGroup">
                            <p:stCondLst>
                              <p:cond delay="3500"/>
                            </p:stCondLst>
                            <p:childTnLst>
                              <p:par>
                                <p:cTn id="26" presetID="29" presetClass="entr" presetSubtype="0"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1000" fill="hold"/>
                                        <p:tgtEl>
                                          <p:spTgt spid="6"/>
                                        </p:tgtEl>
                                        <p:attrNameLst>
                                          <p:attrName>ppt_x</p:attrName>
                                        </p:attrNameLst>
                                      </p:cBhvr>
                                      <p:tavLst>
                                        <p:tav tm="0">
                                          <p:val>
                                            <p:strVal val="#ppt_x-.2"/>
                                          </p:val>
                                        </p:tav>
                                        <p:tav tm="100000">
                                          <p:val>
                                            <p:strVal val="#ppt_x"/>
                                          </p:val>
                                        </p:tav>
                                      </p:tavLst>
                                    </p:anim>
                                    <p:anim calcmode="lin" valueType="num">
                                      <p:cBhvr>
                                        <p:cTn id="29"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3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8" grpId="0" animBg="1"/>
      <p:bldP spid="1157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8" name="Picture 4" descr="Fig">
            <a:extLst>
              <a:ext uri="{FF2B5EF4-FFF2-40B4-BE49-F238E27FC236}">
                <a16:creationId xmlns:a16="http://schemas.microsoft.com/office/drawing/2014/main" id="{D5F0A5A9-5E46-4E27-A5C0-4DC2A8ECF767}"/>
              </a:ext>
            </a:extLst>
          </p:cNvPr>
          <p:cNvPicPr>
            <a:picLocks noChangeAspect="1" noChangeArrowheads="1"/>
          </p:cNvPicPr>
          <p:nvPr/>
        </p:nvPicPr>
        <p:blipFill>
          <a:blip r:embed="rId2">
            <a:lum bright="-6000" contrast="36000"/>
            <a:extLst>
              <a:ext uri="{28A0092B-C50C-407E-A947-70E740481C1C}">
                <a14:useLocalDpi xmlns:a14="http://schemas.microsoft.com/office/drawing/2010/main" val="0"/>
              </a:ext>
            </a:extLst>
          </a:blip>
          <a:srcRect/>
          <a:stretch>
            <a:fillRect/>
          </a:stretch>
        </p:blipFill>
        <p:spPr bwMode="auto">
          <a:xfrm>
            <a:off x="1071563" y="2286000"/>
            <a:ext cx="7561262"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9" name="Rectangle 5">
            <a:extLst>
              <a:ext uri="{FF2B5EF4-FFF2-40B4-BE49-F238E27FC236}">
                <a16:creationId xmlns:a16="http://schemas.microsoft.com/office/drawing/2014/main" id="{257586C2-C043-4B5D-B72F-363ECC000986}"/>
              </a:ext>
            </a:extLst>
          </p:cNvPr>
          <p:cNvSpPr>
            <a:spLocks noChangeArrowheads="1"/>
          </p:cNvSpPr>
          <p:nvPr/>
        </p:nvSpPr>
        <p:spPr bwMode="gray">
          <a:xfrm>
            <a:off x="3348038" y="6284913"/>
            <a:ext cx="250348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lang="en-US" altLang="zh-CN" sz="1600" i="1">
                <a:solidFill>
                  <a:schemeClr val="tx2"/>
                </a:solidFill>
                <a:latin typeface="Lucida Sans Unicode" panose="020B0602030504020204" pitchFamily="34" charset="0"/>
              </a:rPr>
              <a:t>Fig.  </a:t>
            </a:r>
            <a:r>
              <a:rPr lang="zh-CN" altLang="en-US" sz="1600" i="1">
                <a:solidFill>
                  <a:schemeClr val="tx2"/>
                </a:solidFill>
                <a:latin typeface="Lucida Sans Unicode" panose="020B0602030504020204" pitchFamily="34" charset="0"/>
              </a:rPr>
              <a:t>职能式项目组织结构</a:t>
            </a:r>
          </a:p>
        </p:txBody>
      </p:sp>
      <p:sp>
        <p:nvSpPr>
          <p:cNvPr id="6" name="Rectangle 4">
            <a:extLst>
              <a:ext uri="{FF2B5EF4-FFF2-40B4-BE49-F238E27FC236}">
                <a16:creationId xmlns:a16="http://schemas.microsoft.com/office/drawing/2014/main" id="{7F330AC3-03DB-4D4D-AD89-118562DCDB72}"/>
              </a:ext>
            </a:extLst>
          </p:cNvPr>
          <p:cNvSpPr>
            <a:spLocks noChangeArrowheads="1"/>
          </p:cNvSpPr>
          <p:nvPr/>
        </p:nvSpPr>
        <p:spPr bwMode="gray">
          <a:xfrm>
            <a:off x="1547813" y="1428750"/>
            <a:ext cx="6408737" cy="915988"/>
          </a:xfrm>
          <a:prstGeom prst="rect">
            <a:avLst/>
          </a:prstGeom>
          <a:solidFill>
            <a:schemeClr val="accent1">
              <a:alpha val="61176"/>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a:solidFill>
                  <a:schemeClr val="tx2"/>
                </a:solidFill>
                <a:latin typeface="Lucida Sans Unicode" panose="020B0602030504020204" pitchFamily="34" charset="0"/>
              </a:rPr>
              <a:t>职能式组织实质上是以企业的职能部门为主进行项目管理的一种组织形式。只要企业内部存在职能部门，就可以使用该组织结构进行项目管理。</a:t>
            </a:r>
          </a:p>
        </p:txBody>
      </p:sp>
      <p:sp>
        <p:nvSpPr>
          <p:cNvPr id="7" name="Rectangle 2">
            <a:extLst>
              <a:ext uri="{FF2B5EF4-FFF2-40B4-BE49-F238E27FC236}">
                <a16:creationId xmlns:a16="http://schemas.microsoft.com/office/drawing/2014/main" id="{FED59952-A8C2-4F0E-9760-078BC5A45930}"/>
              </a:ext>
            </a:extLst>
          </p:cNvPr>
          <p:cNvSpPr>
            <a:spLocks noGrp="1" noChangeArrowheads="1"/>
          </p:cNvSpPr>
          <p:nvPr>
            <p:ph type="title"/>
          </p:nvPr>
        </p:nvSpPr>
        <p:spPr/>
        <p:txBody>
          <a:bodyPr/>
          <a:lstStyle/>
          <a:p>
            <a:pPr eaLnBrk="1" fontAlgn="auto" hangingPunct="1">
              <a:spcAft>
                <a:spcPts val="0"/>
              </a:spcAft>
              <a:defRPr/>
            </a:pPr>
            <a:r>
              <a:rPr lang="en-US" altLang="zh-CN" sz="3600" dirty="0"/>
              <a:t>7.2</a:t>
            </a:r>
            <a:r>
              <a:rPr lang="zh-CN" altLang="zh-CN" sz="3600" dirty="0"/>
              <a:t> 项目组织设计</a:t>
            </a:r>
            <a:br>
              <a:rPr lang="zh-CN" altLang="zh-CN" sz="3600" dirty="0"/>
            </a:br>
            <a:r>
              <a:rPr lang="en-US" altLang="zh-CN" sz="3600" dirty="0"/>
              <a:t> 1</a:t>
            </a:r>
            <a:r>
              <a:rPr lang="zh-CN" altLang="en-US" sz="3600" dirty="0"/>
              <a:t>、职能式项目组织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fade">
                                      <p:cBhvr>
                                        <p:cTn id="7" dur="2000"/>
                                        <p:tgtEl>
                                          <p:spTgt spid="118788"/>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18789"/>
                                        </p:tgtEl>
                                        <p:attrNameLst>
                                          <p:attrName>style.visibility</p:attrName>
                                        </p:attrNameLst>
                                      </p:cBhvr>
                                      <p:to>
                                        <p:strVal val="visible"/>
                                      </p:to>
                                    </p:set>
                                    <p:animEffect transition="in" filter="fade">
                                      <p:cBhvr>
                                        <p:cTn id="11" dur="2000"/>
                                        <p:tgtEl>
                                          <p:spTgt spid="118789"/>
                                        </p:tgtEl>
                                      </p:cBhvr>
                                    </p:animEffect>
                                  </p:childTnLst>
                                </p:cTn>
                              </p:par>
                            </p:childTnLst>
                          </p:cTn>
                        </p:par>
                        <p:par>
                          <p:cTn id="12" fill="hold" nodeType="afterGroup">
                            <p:stCondLst>
                              <p:cond delay="4000"/>
                            </p:stCondLst>
                            <p:childTnLst>
                              <p:par>
                                <p:cTn id="13" presetID="22" presetClass="entr" presetSubtype="1"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Oval 5">
            <a:extLst>
              <a:ext uri="{FF2B5EF4-FFF2-40B4-BE49-F238E27FC236}">
                <a16:creationId xmlns:a16="http://schemas.microsoft.com/office/drawing/2014/main" id="{3660E208-FBAB-4030-A150-7FA1AEC6271F}"/>
              </a:ext>
            </a:extLst>
          </p:cNvPr>
          <p:cNvSpPr>
            <a:spLocks noChangeArrowheads="1"/>
          </p:cNvSpPr>
          <p:nvPr/>
        </p:nvSpPr>
        <p:spPr bwMode="gray">
          <a:xfrm>
            <a:off x="2889250" y="2206625"/>
            <a:ext cx="2946400"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nvGrpSpPr>
          <p:cNvPr id="15363" name="Group 6">
            <a:extLst>
              <a:ext uri="{FF2B5EF4-FFF2-40B4-BE49-F238E27FC236}">
                <a16:creationId xmlns:a16="http://schemas.microsoft.com/office/drawing/2014/main" id="{C3E203B1-0E0E-4D91-89A7-E58F22212562}"/>
              </a:ext>
            </a:extLst>
          </p:cNvPr>
          <p:cNvGrpSpPr>
            <a:grpSpLocks/>
          </p:cNvGrpSpPr>
          <p:nvPr/>
        </p:nvGrpSpPr>
        <p:grpSpPr bwMode="auto">
          <a:xfrm>
            <a:off x="3611563" y="2897188"/>
            <a:ext cx="1500187" cy="1485900"/>
            <a:chOff x="2016" y="1920"/>
            <a:chExt cx="1680" cy="1680"/>
          </a:xfrm>
        </p:grpSpPr>
        <p:sp>
          <p:nvSpPr>
            <p:cNvPr id="15434" name="Oval 7">
              <a:extLst>
                <a:ext uri="{FF2B5EF4-FFF2-40B4-BE49-F238E27FC236}">
                  <a16:creationId xmlns:a16="http://schemas.microsoft.com/office/drawing/2014/main" id="{BDD78204-9688-4606-B4FC-E373617DF19D}"/>
                </a:ext>
              </a:extLst>
            </p:cNvPr>
            <p:cNvSpPr>
              <a:spLocks noChangeArrowheads="1"/>
            </p:cNvSpPr>
            <p:nvPr/>
          </p:nvSpPr>
          <p:spPr bwMode="gray">
            <a:xfrm>
              <a:off x="2016" y="1920"/>
              <a:ext cx="1680" cy="168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sp>
          <p:nvSpPr>
            <p:cNvPr id="15435" name="Freeform 8">
              <a:extLst>
                <a:ext uri="{FF2B5EF4-FFF2-40B4-BE49-F238E27FC236}">
                  <a16:creationId xmlns:a16="http://schemas.microsoft.com/office/drawing/2014/main" id="{BD5CEFA9-F742-4713-A7E5-CA4D90543B07}"/>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17" name="Text Box 9">
            <a:extLst>
              <a:ext uri="{FF2B5EF4-FFF2-40B4-BE49-F238E27FC236}">
                <a16:creationId xmlns:a16="http://schemas.microsoft.com/office/drawing/2014/main" id="{22F98972-BA13-4E38-AC4A-BDC9F92F2D81}"/>
              </a:ext>
            </a:extLst>
          </p:cNvPr>
          <p:cNvSpPr txBox="1">
            <a:spLocks noChangeArrowheads="1"/>
          </p:cNvSpPr>
          <p:nvPr/>
        </p:nvSpPr>
        <p:spPr bwMode="gray">
          <a:xfrm>
            <a:off x="3992563" y="3462338"/>
            <a:ext cx="697627" cy="400110"/>
          </a:xfrm>
          <a:prstGeom prst="rect">
            <a:avLst/>
          </a:prstGeom>
          <a:noFill/>
          <a:ln w="9525">
            <a:noFill/>
            <a:miter lim="800000"/>
            <a:headEnd/>
            <a:tailEnd/>
          </a:ln>
          <a:effectLst/>
        </p:spPr>
        <p:txBody>
          <a:bodyPr wrap="none">
            <a:spAutoFit/>
          </a:bodyPr>
          <a:lstStyle/>
          <a:p>
            <a:pPr eaLnBrk="0" fontAlgn="auto" hangingPunct="0">
              <a:spcBef>
                <a:spcPts val="0"/>
              </a:spcBef>
              <a:spcAft>
                <a:spcPts val="0"/>
              </a:spcAft>
              <a:defRPr/>
            </a:pPr>
            <a:r>
              <a:rPr lang="zh-CN" altLang="en-US" sz="2000" b="1">
                <a:solidFill>
                  <a:schemeClr val="bg2"/>
                </a:solidFill>
                <a:effectLst>
                  <a:outerShdw blurRad="38100" dist="38100" dir="2700000" algn="tl">
                    <a:srgbClr val="C0C0C0"/>
                  </a:outerShdw>
                </a:effectLst>
              </a:rPr>
              <a:t>优点</a:t>
            </a:r>
          </a:p>
        </p:txBody>
      </p:sp>
      <p:grpSp>
        <p:nvGrpSpPr>
          <p:cNvPr id="3" name="Group 74">
            <a:extLst>
              <a:ext uri="{FF2B5EF4-FFF2-40B4-BE49-F238E27FC236}">
                <a16:creationId xmlns:a16="http://schemas.microsoft.com/office/drawing/2014/main" id="{69A8D833-48DF-4B59-8070-4C63E702D433}"/>
              </a:ext>
            </a:extLst>
          </p:cNvPr>
          <p:cNvGrpSpPr>
            <a:grpSpLocks/>
          </p:cNvGrpSpPr>
          <p:nvPr/>
        </p:nvGrpSpPr>
        <p:grpSpPr bwMode="auto">
          <a:xfrm>
            <a:off x="357188" y="3143251"/>
            <a:ext cx="3143250" cy="1323976"/>
            <a:chOff x="249" y="1661"/>
            <a:chExt cx="1980" cy="834"/>
          </a:xfrm>
        </p:grpSpPr>
        <p:grpSp>
          <p:nvGrpSpPr>
            <p:cNvPr id="15425" name="Group 33">
              <a:extLst>
                <a:ext uri="{FF2B5EF4-FFF2-40B4-BE49-F238E27FC236}">
                  <a16:creationId xmlns:a16="http://schemas.microsoft.com/office/drawing/2014/main" id="{20C063E3-982D-4222-8BED-EE978EC9333C}"/>
                </a:ext>
              </a:extLst>
            </p:cNvPr>
            <p:cNvGrpSpPr>
              <a:grpSpLocks/>
            </p:cNvGrpSpPr>
            <p:nvPr/>
          </p:nvGrpSpPr>
          <p:grpSpPr bwMode="auto">
            <a:xfrm>
              <a:off x="1715" y="1826"/>
              <a:ext cx="315" cy="301"/>
              <a:chOff x="1488" y="1968"/>
              <a:chExt cx="432" cy="432"/>
            </a:xfrm>
          </p:grpSpPr>
          <p:grpSp>
            <p:nvGrpSpPr>
              <p:cNvPr id="15430" name="Group 34">
                <a:extLst>
                  <a:ext uri="{FF2B5EF4-FFF2-40B4-BE49-F238E27FC236}">
                    <a16:creationId xmlns:a16="http://schemas.microsoft.com/office/drawing/2014/main" id="{7F6F0A2B-F7F9-4CB0-8884-842E5BC3CFEB}"/>
                  </a:ext>
                </a:extLst>
              </p:cNvPr>
              <p:cNvGrpSpPr>
                <a:grpSpLocks/>
              </p:cNvGrpSpPr>
              <p:nvPr/>
            </p:nvGrpSpPr>
            <p:grpSpPr bwMode="auto">
              <a:xfrm>
                <a:off x="1488" y="1968"/>
                <a:ext cx="432" cy="432"/>
                <a:chOff x="2016" y="1920"/>
                <a:chExt cx="1680" cy="1680"/>
              </a:xfrm>
            </p:grpSpPr>
            <p:sp>
              <p:nvSpPr>
                <p:cNvPr id="119843" name="Oval 35">
                  <a:extLst>
                    <a:ext uri="{FF2B5EF4-FFF2-40B4-BE49-F238E27FC236}">
                      <a16:creationId xmlns:a16="http://schemas.microsoft.com/office/drawing/2014/main" id="{BFD99C71-D110-43F2-93F6-0F0B470D0D74}"/>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433" name="Freeform 36">
                  <a:extLst>
                    <a:ext uri="{FF2B5EF4-FFF2-40B4-BE49-F238E27FC236}">
                      <a16:creationId xmlns:a16="http://schemas.microsoft.com/office/drawing/2014/main" id="{A85E0AE7-17C6-4B9D-9D74-856A8C5CFBD0}"/>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45" name="Text Box 37">
                <a:extLst>
                  <a:ext uri="{FF2B5EF4-FFF2-40B4-BE49-F238E27FC236}">
                    <a16:creationId xmlns:a16="http://schemas.microsoft.com/office/drawing/2014/main" id="{8D7C4744-2BC3-4F5A-BEB0-CCFFADD855A3}"/>
                  </a:ext>
                </a:extLst>
              </p:cNvPr>
              <p:cNvSpPr txBox="1">
                <a:spLocks noChangeArrowheads="1"/>
              </p:cNvSpPr>
              <p:nvPr/>
            </p:nvSpPr>
            <p:spPr bwMode="gray">
              <a:xfrm>
                <a:off x="1540" y="2015"/>
                <a:ext cx="317"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6</a:t>
                </a:r>
              </a:p>
            </p:txBody>
          </p:sp>
        </p:grpSp>
        <p:grpSp>
          <p:nvGrpSpPr>
            <p:cNvPr id="15426" name="Group 40">
              <a:extLst>
                <a:ext uri="{FF2B5EF4-FFF2-40B4-BE49-F238E27FC236}">
                  <a16:creationId xmlns:a16="http://schemas.microsoft.com/office/drawing/2014/main" id="{3D0DAF29-F2A1-48B3-8C21-23B8ADEC21B6}"/>
                </a:ext>
              </a:extLst>
            </p:cNvPr>
            <p:cNvGrpSpPr>
              <a:grpSpLocks/>
            </p:cNvGrpSpPr>
            <p:nvPr/>
          </p:nvGrpSpPr>
          <p:grpSpPr bwMode="auto">
            <a:xfrm>
              <a:off x="2067" y="2000"/>
              <a:ext cx="162" cy="76"/>
              <a:chOff x="2016" y="2276"/>
              <a:chExt cx="221" cy="109"/>
            </a:xfrm>
          </p:grpSpPr>
          <p:sp>
            <p:nvSpPr>
              <p:cNvPr id="119849" name="Oval 41">
                <a:extLst>
                  <a:ext uri="{FF2B5EF4-FFF2-40B4-BE49-F238E27FC236}">
                    <a16:creationId xmlns:a16="http://schemas.microsoft.com/office/drawing/2014/main" id="{5689C6CE-AE54-46E6-9B22-EB742FE53C7C}"/>
                  </a:ext>
                </a:extLst>
              </p:cNvPr>
              <p:cNvSpPr>
                <a:spLocks noChangeArrowheads="1"/>
              </p:cNvSpPr>
              <p:nvPr/>
            </p:nvSpPr>
            <p:spPr bwMode="gray">
              <a:xfrm rot="18227093">
                <a:off x="2018" y="2301"/>
                <a:ext cx="80"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19850" name="Oval 42">
                <a:extLst>
                  <a:ext uri="{FF2B5EF4-FFF2-40B4-BE49-F238E27FC236}">
                    <a16:creationId xmlns:a16="http://schemas.microsoft.com/office/drawing/2014/main" id="{BDCC71D3-1C03-4B45-8E9B-76F3E1B8E076}"/>
                  </a:ext>
                </a:extLst>
              </p:cNvPr>
              <p:cNvSpPr>
                <a:spLocks noChangeArrowheads="1"/>
              </p:cNvSpPr>
              <p:nvPr/>
            </p:nvSpPr>
            <p:spPr bwMode="gray">
              <a:xfrm rot="18227093">
                <a:off x="2142" y="2254"/>
                <a:ext cx="72" cy="116"/>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sp>
          <p:nvSpPr>
            <p:cNvPr id="15427" name="Text Box 48">
              <a:extLst>
                <a:ext uri="{FF2B5EF4-FFF2-40B4-BE49-F238E27FC236}">
                  <a16:creationId xmlns:a16="http://schemas.microsoft.com/office/drawing/2014/main" id="{64ED4B86-220F-49C6-A9F8-62B75968B272}"/>
                </a:ext>
              </a:extLst>
            </p:cNvPr>
            <p:cNvSpPr txBox="1">
              <a:spLocks noChangeArrowheads="1"/>
            </p:cNvSpPr>
            <p:nvPr/>
          </p:nvSpPr>
          <p:spPr bwMode="gray">
            <a:xfrm>
              <a:off x="249" y="1661"/>
              <a:ext cx="1466"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a:solidFill>
                    <a:schemeClr val="bg2"/>
                  </a:solidFill>
                  <a:latin typeface="Lucida Sans Unicode" panose="020B0602030504020204" pitchFamily="34" charset="0"/>
                </a:rPr>
                <a:t>新项目出现不需要建立新组织机构，对企业原组织机构影响小</a:t>
              </a:r>
              <a:endParaRPr lang="en-US" altLang="zh-CN" sz="2000" b="1">
                <a:solidFill>
                  <a:schemeClr val="bg2"/>
                </a:solidFill>
                <a:latin typeface="Lucida Sans Unicode" panose="020B0602030504020204" pitchFamily="34" charset="0"/>
              </a:endParaRPr>
            </a:p>
          </p:txBody>
        </p:sp>
      </p:grpSp>
      <p:grpSp>
        <p:nvGrpSpPr>
          <p:cNvPr id="7" name="Group 69">
            <a:extLst>
              <a:ext uri="{FF2B5EF4-FFF2-40B4-BE49-F238E27FC236}">
                <a16:creationId xmlns:a16="http://schemas.microsoft.com/office/drawing/2014/main" id="{3B128C0A-0B3C-406B-A0F2-785CFA129622}"/>
              </a:ext>
            </a:extLst>
          </p:cNvPr>
          <p:cNvGrpSpPr>
            <a:grpSpLocks/>
          </p:cNvGrpSpPr>
          <p:nvPr/>
        </p:nvGrpSpPr>
        <p:grpSpPr bwMode="auto">
          <a:xfrm>
            <a:off x="3000375" y="1357313"/>
            <a:ext cx="4308475" cy="1446212"/>
            <a:chOff x="1672" y="845"/>
            <a:chExt cx="2714" cy="911"/>
          </a:xfrm>
        </p:grpSpPr>
        <p:grpSp>
          <p:nvGrpSpPr>
            <p:cNvPr id="15416" name="Group 10">
              <a:extLst>
                <a:ext uri="{FF2B5EF4-FFF2-40B4-BE49-F238E27FC236}">
                  <a16:creationId xmlns:a16="http://schemas.microsoft.com/office/drawing/2014/main" id="{BDD6C8BD-298C-44FB-AC73-7461B9E446CE}"/>
                </a:ext>
              </a:extLst>
            </p:cNvPr>
            <p:cNvGrpSpPr>
              <a:grpSpLocks/>
            </p:cNvGrpSpPr>
            <p:nvPr/>
          </p:nvGrpSpPr>
          <p:grpSpPr bwMode="auto">
            <a:xfrm>
              <a:off x="2555" y="1223"/>
              <a:ext cx="315" cy="297"/>
              <a:chOff x="2640" y="1088"/>
              <a:chExt cx="432" cy="426"/>
            </a:xfrm>
          </p:grpSpPr>
          <p:grpSp>
            <p:nvGrpSpPr>
              <p:cNvPr id="15421" name="Group 11">
                <a:extLst>
                  <a:ext uri="{FF2B5EF4-FFF2-40B4-BE49-F238E27FC236}">
                    <a16:creationId xmlns:a16="http://schemas.microsoft.com/office/drawing/2014/main" id="{851E9675-74C4-47B6-9004-E74A5785A0C6}"/>
                  </a:ext>
                </a:extLst>
              </p:cNvPr>
              <p:cNvGrpSpPr>
                <a:grpSpLocks/>
              </p:cNvGrpSpPr>
              <p:nvPr/>
            </p:nvGrpSpPr>
            <p:grpSpPr bwMode="auto">
              <a:xfrm>
                <a:off x="2640" y="1088"/>
                <a:ext cx="432" cy="415"/>
                <a:chOff x="2016" y="1920"/>
                <a:chExt cx="1680" cy="1680"/>
              </a:xfrm>
            </p:grpSpPr>
            <p:sp>
              <p:nvSpPr>
                <p:cNvPr id="119820" name="Oval 12">
                  <a:extLst>
                    <a:ext uri="{FF2B5EF4-FFF2-40B4-BE49-F238E27FC236}">
                      <a16:creationId xmlns:a16="http://schemas.microsoft.com/office/drawing/2014/main" id="{93085B48-E3A4-442E-9449-AE3B7B97CA53}"/>
                    </a:ext>
                  </a:extLst>
                </p:cNvPr>
                <p:cNvSpPr>
                  <a:spLocks noChangeArrowheads="1"/>
                </p:cNvSpPr>
                <p:nvPr/>
              </p:nvSpPr>
              <p:spPr bwMode="gray">
                <a:xfrm>
                  <a:off x="2016" y="1920"/>
                  <a:ext cx="1680" cy="1679"/>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424" name="Freeform 13">
                  <a:extLst>
                    <a:ext uri="{FF2B5EF4-FFF2-40B4-BE49-F238E27FC236}">
                      <a16:creationId xmlns:a16="http://schemas.microsoft.com/office/drawing/2014/main" id="{E18F9774-4462-40D3-BB8A-3DE7D2DEDF46}"/>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22" name="Text Box 14">
                <a:extLst>
                  <a:ext uri="{FF2B5EF4-FFF2-40B4-BE49-F238E27FC236}">
                    <a16:creationId xmlns:a16="http://schemas.microsoft.com/office/drawing/2014/main" id="{2A6AE030-3388-48D6-8386-C0843F0E9E6D}"/>
                  </a:ext>
                </a:extLst>
              </p:cNvPr>
              <p:cNvSpPr txBox="1">
                <a:spLocks noChangeArrowheads="1"/>
              </p:cNvSpPr>
              <p:nvPr/>
            </p:nvSpPr>
            <p:spPr bwMode="gray">
              <a:xfrm>
                <a:off x="2691" y="1153"/>
                <a:ext cx="317" cy="361"/>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1</a:t>
                </a:r>
              </a:p>
            </p:txBody>
          </p:sp>
        </p:grpSp>
        <p:grpSp>
          <p:nvGrpSpPr>
            <p:cNvPr id="15417" name="Group 43">
              <a:extLst>
                <a:ext uri="{FF2B5EF4-FFF2-40B4-BE49-F238E27FC236}">
                  <a16:creationId xmlns:a16="http://schemas.microsoft.com/office/drawing/2014/main" id="{25DA5118-6E8D-476D-9535-B949CD18FCB6}"/>
                </a:ext>
              </a:extLst>
            </p:cNvPr>
            <p:cNvGrpSpPr>
              <a:grpSpLocks/>
            </p:cNvGrpSpPr>
            <p:nvPr/>
          </p:nvGrpSpPr>
          <p:grpSpPr bwMode="auto">
            <a:xfrm>
              <a:off x="2578" y="1576"/>
              <a:ext cx="105" cy="180"/>
              <a:chOff x="2677" y="1613"/>
              <a:chExt cx="143" cy="259"/>
            </a:xfrm>
          </p:grpSpPr>
          <p:sp>
            <p:nvSpPr>
              <p:cNvPr id="119852" name="Oval 44">
                <a:extLst>
                  <a:ext uri="{FF2B5EF4-FFF2-40B4-BE49-F238E27FC236}">
                    <a16:creationId xmlns:a16="http://schemas.microsoft.com/office/drawing/2014/main" id="{53521ED0-34DE-4275-860C-A8144E7D258D}"/>
                  </a:ext>
                </a:extLst>
              </p:cNvPr>
              <p:cNvSpPr>
                <a:spLocks noChangeArrowheads="1"/>
              </p:cNvSpPr>
              <p:nvPr/>
            </p:nvSpPr>
            <p:spPr bwMode="gray">
              <a:xfrm rot="18227093">
                <a:off x="2734" y="1610"/>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19853" name="Oval 45">
                <a:extLst>
                  <a:ext uri="{FF2B5EF4-FFF2-40B4-BE49-F238E27FC236}">
                    <a16:creationId xmlns:a16="http://schemas.microsoft.com/office/drawing/2014/main" id="{FBE0847F-A1A5-4AAB-9226-37A5CCA9EE21}"/>
                  </a:ext>
                </a:extLst>
              </p:cNvPr>
              <p:cNvSpPr>
                <a:spLocks noChangeArrowheads="1"/>
              </p:cNvSpPr>
              <p:nvPr/>
            </p:nvSpPr>
            <p:spPr bwMode="gray">
              <a:xfrm rot="18227093">
                <a:off x="2680" y="1787"/>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sp>
          <p:nvSpPr>
            <p:cNvPr id="15418" name="Text Box 49">
              <a:extLst>
                <a:ext uri="{FF2B5EF4-FFF2-40B4-BE49-F238E27FC236}">
                  <a16:creationId xmlns:a16="http://schemas.microsoft.com/office/drawing/2014/main" id="{F8CA240F-3641-4A8B-82C7-21BC56247114}"/>
                </a:ext>
              </a:extLst>
            </p:cNvPr>
            <p:cNvSpPr txBox="1">
              <a:spLocks noChangeArrowheads="1"/>
            </p:cNvSpPr>
            <p:nvPr/>
          </p:nvSpPr>
          <p:spPr bwMode="gray">
            <a:xfrm>
              <a:off x="1672" y="845"/>
              <a:ext cx="271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专业化程度较高，可以给项目各成员提供专业交流的工作环境</a:t>
              </a:r>
              <a:endParaRPr lang="en-US" altLang="zh-CN" sz="2000" b="1" dirty="0">
                <a:solidFill>
                  <a:schemeClr val="bg2"/>
                </a:solidFill>
                <a:latin typeface="Lucida Sans Unicode" panose="020B0602030504020204" pitchFamily="34" charset="0"/>
              </a:endParaRPr>
            </a:p>
          </p:txBody>
        </p:sp>
      </p:grpSp>
      <p:grpSp>
        <p:nvGrpSpPr>
          <p:cNvPr id="11" name="Group 73">
            <a:extLst>
              <a:ext uri="{FF2B5EF4-FFF2-40B4-BE49-F238E27FC236}">
                <a16:creationId xmlns:a16="http://schemas.microsoft.com/office/drawing/2014/main" id="{E111A296-1201-4BCA-B1C5-8472A09A6A97}"/>
              </a:ext>
            </a:extLst>
          </p:cNvPr>
          <p:cNvGrpSpPr>
            <a:grpSpLocks/>
          </p:cNvGrpSpPr>
          <p:nvPr/>
        </p:nvGrpSpPr>
        <p:grpSpPr bwMode="auto">
          <a:xfrm>
            <a:off x="468313" y="4286252"/>
            <a:ext cx="3430587" cy="1231901"/>
            <a:chOff x="141" y="2568"/>
            <a:chExt cx="2161" cy="776"/>
          </a:xfrm>
        </p:grpSpPr>
        <p:grpSp>
          <p:nvGrpSpPr>
            <p:cNvPr id="15407" name="Group 15">
              <a:extLst>
                <a:ext uri="{FF2B5EF4-FFF2-40B4-BE49-F238E27FC236}">
                  <a16:creationId xmlns:a16="http://schemas.microsoft.com/office/drawing/2014/main" id="{5D9BC829-51B8-4C80-9464-C1544C29AE79}"/>
                </a:ext>
              </a:extLst>
            </p:cNvPr>
            <p:cNvGrpSpPr>
              <a:grpSpLocks/>
            </p:cNvGrpSpPr>
            <p:nvPr/>
          </p:nvGrpSpPr>
          <p:grpSpPr bwMode="auto">
            <a:xfrm>
              <a:off x="2155" y="2568"/>
              <a:ext cx="147" cy="123"/>
              <a:chOff x="2236" y="3191"/>
              <a:chExt cx="201" cy="176"/>
            </a:xfrm>
          </p:grpSpPr>
          <p:sp>
            <p:nvSpPr>
              <p:cNvPr id="119824" name="Oval 16">
                <a:extLst>
                  <a:ext uri="{FF2B5EF4-FFF2-40B4-BE49-F238E27FC236}">
                    <a16:creationId xmlns:a16="http://schemas.microsoft.com/office/drawing/2014/main" id="{3DDC4B9E-D3C8-46F7-93F8-852E083B5F44}"/>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19825" name="Oval 17">
                <a:extLst>
                  <a:ext uri="{FF2B5EF4-FFF2-40B4-BE49-F238E27FC236}">
                    <a16:creationId xmlns:a16="http://schemas.microsoft.com/office/drawing/2014/main" id="{F621E7DF-D2AD-4C50-935F-77DDAA1A0E0F}"/>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grpSp>
          <p:nvGrpSpPr>
            <p:cNvPr id="15408" name="Group 18">
              <a:extLst>
                <a:ext uri="{FF2B5EF4-FFF2-40B4-BE49-F238E27FC236}">
                  <a16:creationId xmlns:a16="http://schemas.microsoft.com/office/drawing/2014/main" id="{C92D2BDD-09D7-4C71-A4A8-1205B9CC3311}"/>
                </a:ext>
              </a:extLst>
            </p:cNvPr>
            <p:cNvGrpSpPr>
              <a:grpSpLocks/>
            </p:cNvGrpSpPr>
            <p:nvPr/>
          </p:nvGrpSpPr>
          <p:grpSpPr bwMode="auto">
            <a:xfrm>
              <a:off x="1792" y="2660"/>
              <a:ext cx="316" cy="308"/>
              <a:chOff x="1824" y="3357"/>
              <a:chExt cx="432" cy="442"/>
            </a:xfrm>
          </p:grpSpPr>
          <p:grpSp>
            <p:nvGrpSpPr>
              <p:cNvPr id="15410" name="Group 19">
                <a:extLst>
                  <a:ext uri="{FF2B5EF4-FFF2-40B4-BE49-F238E27FC236}">
                    <a16:creationId xmlns:a16="http://schemas.microsoft.com/office/drawing/2014/main" id="{96C5B67A-3425-4171-8A41-336596FD83E2}"/>
                  </a:ext>
                </a:extLst>
              </p:cNvPr>
              <p:cNvGrpSpPr>
                <a:grpSpLocks/>
              </p:cNvGrpSpPr>
              <p:nvPr/>
            </p:nvGrpSpPr>
            <p:grpSpPr bwMode="auto">
              <a:xfrm>
                <a:off x="1824" y="3357"/>
                <a:ext cx="432" cy="432"/>
                <a:chOff x="2016" y="1920"/>
                <a:chExt cx="1680" cy="1680"/>
              </a:xfrm>
            </p:grpSpPr>
            <p:sp>
              <p:nvSpPr>
                <p:cNvPr id="119828" name="Oval 20">
                  <a:extLst>
                    <a:ext uri="{FF2B5EF4-FFF2-40B4-BE49-F238E27FC236}">
                      <a16:creationId xmlns:a16="http://schemas.microsoft.com/office/drawing/2014/main" id="{BCC0FBBF-1672-42E2-812D-17D61035E3A7}"/>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413" name="Freeform 21">
                  <a:extLst>
                    <a:ext uri="{FF2B5EF4-FFF2-40B4-BE49-F238E27FC236}">
                      <a16:creationId xmlns:a16="http://schemas.microsoft.com/office/drawing/2014/main" id="{A32BD56F-6110-4C4F-AB68-5AB9244F54D7}"/>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30" name="Text Box 22">
                <a:extLst>
                  <a:ext uri="{FF2B5EF4-FFF2-40B4-BE49-F238E27FC236}">
                    <a16:creationId xmlns:a16="http://schemas.microsoft.com/office/drawing/2014/main" id="{E3384B81-2263-42D6-8D46-5CE9B7C32A2E}"/>
                  </a:ext>
                </a:extLst>
              </p:cNvPr>
              <p:cNvSpPr txBox="1">
                <a:spLocks noChangeArrowheads="1"/>
              </p:cNvSpPr>
              <p:nvPr/>
            </p:nvSpPr>
            <p:spPr bwMode="gray">
              <a:xfrm>
                <a:off x="1862" y="3437"/>
                <a:ext cx="316"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5</a:t>
                </a:r>
              </a:p>
            </p:txBody>
          </p:sp>
        </p:grpSp>
        <p:sp>
          <p:nvSpPr>
            <p:cNvPr id="15409" name="Text Box 51">
              <a:extLst>
                <a:ext uri="{FF2B5EF4-FFF2-40B4-BE49-F238E27FC236}">
                  <a16:creationId xmlns:a16="http://schemas.microsoft.com/office/drawing/2014/main" id="{41211735-B960-4C6F-9DD5-A526A2A64C0F}"/>
                </a:ext>
              </a:extLst>
            </p:cNvPr>
            <p:cNvSpPr txBox="1">
              <a:spLocks noChangeArrowheads="1"/>
            </p:cNvSpPr>
            <p:nvPr/>
          </p:nvSpPr>
          <p:spPr bwMode="gray">
            <a:xfrm>
              <a:off x="141" y="2704"/>
              <a:ext cx="161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职能部门可为本部门专业人员提供正常晋升途径</a:t>
              </a:r>
              <a:endParaRPr lang="en-US" altLang="zh-CN" sz="2000" b="1" dirty="0">
                <a:solidFill>
                  <a:schemeClr val="bg2"/>
                </a:solidFill>
                <a:latin typeface="Lucida Sans Unicode" panose="020B0602030504020204" pitchFamily="34" charset="0"/>
              </a:endParaRPr>
            </a:p>
          </p:txBody>
        </p:sp>
      </p:grpSp>
      <p:grpSp>
        <p:nvGrpSpPr>
          <p:cNvPr id="15" name="Group 71">
            <a:extLst>
              <a:ext uri="{FF2B5EF4-FFF2-40B4-BE49-F238E27FC236}">
                <a16:creationId xmlns:a16="http://schemas.microsoft.com/office/drawing/2014/main" id="{2E112070-EE7F-4DB5-A2B6-7ACE1396EE6B}"/>
              </a:ext>
            </a:extLst>
          </p:cNvPr>
          <p:cNvGrpSpPr>
            <a:grpSpLocks/>
          </p:cNvGrpSpPr>
          <p:nvPr/>
        </p:nvGrpSpPr>
        <p:grpSpPr bwMode="auto">
          <a:xfrm>
            <a:off x="5121275" y="3986214"/>
            <a:ext cx="3123133" cy="1255712"/>
            <a:chOff x="3226" y="2511"/>
            <a:chExt cx="1695" cy="791"/>
          </a:xfrm>
        </p:grpSpPr>
        <p:sp>
          <p:nvSpPr>
            <p:cNvPr id="119846" name="Oval 38">
              <a:extLst>
                <a:ext uri="{FF2B5EF4-FFF2-40B4-BE49-F238E27FC236}">
                  <a16:creationId xmlns:a16="http://schemas.microsoft.com/office/drawing/2014/main" id="{389E7970-244B-41E4-8F4A-F0F514F2E62A}"/>
                </a:ext>
              </a:extLst>
            </p:cNvPr>
            <p:cNvSpPr>
              <a:spLocks noChangeArrowheads="1"/>
            </p:cNvSpPr>
            <p:nvPr/>
          </p:nvSpPr>
          <p:spPr bwMode="gray">
            <a:xfrm rot="18227093">
              <a:off x="3338" y="2564"/>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19847" name="Oval 39">
              <a:extLst>
                <a:ext uri="{FF2B5EF4-FFF2-40B4-BE49-F238E27FC236}">
                  <a16:creationId xmlns:a16="http://schemas.microsoft.com/office/drawing/2014/main" id="{0C85409E-AB4D-466F-A1A2-2F2A68A779D5}"/>
                </a:ext>
              </a:extLst>
            </p:cNvPr>
            <p:cNvSpPr>
              <a:spLocks noChangeArrowheads="1"/>
            </p:cNvSpPr>
            <p:nvPr/>
          </p:nvSpPr>
          <p:spPr bwMode="gray">
            <a:xfrm rot="18227093">
              <a:off x="3229" y="2508"/>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nvGrpSpPr>
            <p:cNvPr id="15401" name="Group 28">
              <a:extLst>
                <a:ext uri="{FF2B5EF4-FFF2-40B4-BE49-F238E27FC236}">
                  <a16:creationId xmlns:a16="http://schemas.microsoft.com/office/drawing/2014/main" id="{B2F9A5EC-175C-4034-A27B-F777C61F73B0}"/>
                </a:ext>
              </a:extLst>
            </p:cNvPr>
            <p:cNvGrpSpPr>
              <a:grpSpLocks/>
            </p:cNvGrpSpPr>
            <p:nvPr/>
          </p:nvGrpSpPr>
          <p:grpSpPr bwMode="auto">
            <a:xfrm>
              <a:off x="3470" y="2568"/>
              <a:ext cx="301" cy="273"/>
              <a:chOff x="3552" y="3339"/>
              <a:chExt cx="412" cy="392"/>
            </a:xfrm>
          </p:grpSpPr>
          <p:grpSp>
            <p:nvGrpSpPr>
              <p:cNvPr id="15403" name="Group 29">
                <a:extLst>
                  <a:ext uri="{FF2B5EF4-FFF2-40B4-BE49-F238E27FC236}">
                    <a16:creationId xmlns:a16="http://schemas.microsoft.com/office/drawing/2014/main" id="{62B4BC27-2E58-447A-875A-F8D7E265425B}"/>
                  </a:ext>
                </a:extLst>
              </p:cNvPr>
              <p:cNvGrpSpPr>
                <a:grpSpLocks/>
              </p:cNvGrpSpPr>
              <p:nvPr/>
            </p:nvGrpSpPr>
            <p:grpSpPr bwMode="auto">
              <a:xfrm>
                <a:off x="3552" y="3339"/>
                <a:ext cx="412" cy="392"/>
                <a:chOff x="2016" y="1920"/>
                <a:chExt cx="1680" cy="1680"/>
              </a:xfrm>
            </p:grpSpPr>
            <p:sp>
              <p:nvSpPr>
                <p:cNvPr id="119838" name="Oval 30">
                  <a:extLst>
                    <a:ext uri="{FF2B5EF4-FFF2-40B4-BE49-F238E27FC236}">
                      <a16:creationId xmlns:a16="http://schemas.microsoft.com/office/drawing/2014/main" id="{C02BA303-DA12-4835-81DB-202CCED2A7C7}"/>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406" name="Freeform 31">
                  <a:extLst>
                    <a:ext uri="{FF2B5EF4-FFF2-40B4-BE49-F238E27FC236}">
                      <a16:creationId xmlns:a16="http://schemas.microsoft.com/office/drawing/2014/main" id="{31EB978F-3106-4BD8-99F8-9F0646B2BDEA}"/>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40" name="Text Box 32">
                <a:extLst>
                  <a:ext uri="{FF2B5EF4-FFF2-40B4-BE49-F238E27FC236}">
                    <a16:creationId xmlns:a16="http://schemas.microsoft.com/office/drawing/2014/main" id="{2D62BBB5-60D3-4F6E-9172-BDF36D927B7B}"/>
                  </a:ext>
                </a:extLst>
              </p:cNvPr>
              <p:cNvSpPr txBox="1">
                <a:spLocks noChangeArrowheads="1"/>
              </p:cNvSpPr>
              <p:nvPr/>
            </p:nvSpPr>
            <p:spPr bwMode="gray">
              <a:xfrm>
                <a:off x="3607" y="3361"/>
                <a:ext cx="317"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3</a:t>
                </a:r>
              </a:p>
            </p:txBody>
          </p:sp>
        </p:grpSp>
        <p:sp>
          <p:nvSpPr>
            <p:cNvPr id="15402" name="Text Box 52">
              <a:extLst>
                <a:ext uri="{FF2B5EF4-FFF2-40B4-BE49-F238E27FC236}">
                  <a16:creationId xmlns:a16="http://schemas.microsoft.com/office/drawing/2014/main" id="{3D2D2F86-79DC-4D5D-8E5B-5E33FD4EA93D}"/>
                </a:ext>
              </a:extLst>
            </p:cNvPr>
            <p:cNvSpPr txBox="1">
              <a:spLocks noChangeArrowheads="1"/>
            </p:cNvSpPr>
            <p:nvPr/>
          </p:nvSpPr>
          <p:spPr bwMode="gray">
            <a:xfrm>
              <a:off x="3785" y="2662"/>
              <a:ext cx="1136"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可提供项目技术服务的连续性</a:t>
              </a:r>
              <a:endParaRPr lang="en-US" altLang="zh-CN" sz="2000" b="1" dirty="0">
                <a:solidFill>
                  <a:schemeClr val="bg2"/>
                </a:solidFill>
                <a:latin typeface="Lucida Sans Unicode" panose="020B0602030504020204" pitchFamily="34" charset="0"/>
              </a:endParaRPr>
            </a:p>
          </p:txBody>
        </p:sp>
      </p:grpSp>
      <p:sp>
        <p:nvSpPr>
          <p:cNvPr id="119854" name="Oval 46">
            <a:extLst>
              <a:ext uri="{FF2B5EF4-FFF2-40B4-BE49-F238E27FC236}">
                <a16:creationId xmlns:a16="http://schemas.microsoft.com/office/drawing/2014/main" id="{39D1BD0E-6022-4374-84CA-7FD069661889}"/>
              </a:ext>
            </a:extLst>
          </p:cNvPr>
          <p:cNvSpPr>
            <a:spLocks noChangeArrowheads="1"/>
          </p:cNvSpPr>
          <p:nvPr/>
        </p:nvSpPr>
        <p:spPr bwMode="gray">
          <a:xfrm rot="18227093">
            <a:off x="5317331" y="3169444"/>
            <a:ext cx="90488" cy="101600"/>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nvGrpSpPr>
          <p:cNvPr id="18" name="Group 70">
            <a:extLst>
              <a:ext uri="{FF2B5EF4-FFF2-40B4-BE49-F238E27FC236}">
                <a16:creationId xmlns:a16="http://schemas.microsoft.com/office/drawing/2014/main" id="{5DBD709D-91F5-425E-83C9-72230E126BE7}"/>
              </a:ext>
            </a:extLst>
          </p:cNvPr>
          <p:cNvGrpSpPr>
            <a:grpSpLocks/>
          </p:cNvGrpSpPr>
          <p:nvPr/>
        </p:nvGrpSpPr>
        <p:grpSpPr bwMode="auto">
          <a:xfrm>
            <a:off x="5072062" y="2714626"/>
            <a:ext cx="3502025" cy="1016001"/>
            <a:chOff x="3198" y="1616"/>
            <a:chExt cx="1707" cy="640"/>
          </a:xfrm>
        </p:grpSpPr>
        <p:grpSp>
          <p:nvGrpSpPr>
            <p:cNvPr id="15392" name="Group 23">
              <a:extLst>
                <a:ext uri="{FF2B5EF4-FFF2-40B4-BE49-F238E27FC236}">
                  <a16:creationId xmlns:a16="http://schemas.microsoft.com/office/drawing/2014/main" id="{4D31B168-F364-4B46-A9BB-CE008B5227E5}"/>
                </a:ext>
              </a:extLst>
            </p:cNvPr>
            <p:cNvGrpSpPr>
              <a:grpSpLocks/>
            </p:cNvGrpSpPr>
            <p:nvPr/>
          </p:nvGrpSpPr>
          <p:grpSpPr bwMode="auto">
            <a:xfrm>
              <a:off x="3445" y="1660"/>
              <a:ext cx="313" cy="304"/>
              <a:chOff x="3938" y="1968"/>
              <a:chExt cx="430" cy="437"/>
            </a:xfrm>
          </p:grpSpPr>
          <p:grpSp>
            <p:nvGrpSpPr>
              <p:cNvPr id="15395" name="Group 24">
                <a:extLst>
                  <a:ext uri="{FF2B5EF4-FFF2-40B4-BE49-F238E27FC236}">
                    <a16:creationId xmlns:a16="http://schemas.microsoft.com/office/drawing/2014/main" id="{F2231727-FAB7-49D2-B94A-98E893D5F36C}"/>
                  </a:ext>
                </a:extLst>
              </p:cNvPr>
              <p:cNvGrpSpPr>
                <a:grpSpLocks/>
              </p:cNvGrpSpPr>
              <p:nvPr/>
            </p:nvGrpSpPr>
            <p:grpSpPr bwMode="auto">
              <a:xfrm>
                <a:off x="3938" y="1968"/>
                <a:ext cx="430" cy="437"/>
                <a:chOff x="2016" y="1920"/>
                <a:chExt cx="1680" cy="1680"/>
              </a:xfrm>
            </p:grpSpPr>
            <p:sp>
              <p:nvSpPr>
                <p:cNvPr id="119833" name="Oval 25">
                  <a:extLst>
                    <a:ext uri="{FF2B5EF4-FFF2-40B4-BE49-F238E27FC236}">
                      <a16:creationId xmlns:a16="http://schemas.microsoft.com/office/drawing/2014/main" id="{B6947A10-D5B4-4344-A595-BB0099105D5C}"/>
                    </a:ext>
                  </a:extLst>
                </p:cNvPr>
                <p:cNvSpPr>
                  <a:spLocks noChangeArrowheads="1"/>
                </p:cNvSpPr>
                <p:nvPr/>
              </p:nvSpPr>
              <p:spPr bwMode="gray">
                <a:xfrm>
                  <a:off x="2016" y="1920"/>
                  <a:ext cx="1680" cy="1679"/>
                </a:xfrm>
                <a:prstGeom prst="ellipse">
                  <a:avLst/>
                </a:prstGeom>
                <a:gradFill rotWithShape="1">
                  <a:gsLst>
                    <a:gs pos="0">
                      <a:schemeClr val="hlink"/>
                    </a:gs>
                    <a:gs pos="100000">
                      <a:schemeClr val="hlink">
                        <a:gamma/>
                        <a:tint val="57647"/>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398" name="Freeform 26">
                  <a:extLst>
                    <a:ext uri="{FF2B5EF4-FFF2-40B4-BE49-F238E27FC236}">
                      <a16:creationId xmlns:a16="http://schemas.microsoft.com/office/drawing/2014/main" id="{F7FE4792-F39E-4457-8FE8-A8667B51B51B}"/>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35" name="Text Box 27">
                <a:extLst>
                  <a:ext uri="{FF2B5EF4-FFF2-40B4-BE49-F238E27FC236}">
                    <a16:creationId xmlns:a16="http://schemas.microsoft.com/office/drawing/2014/main" id="{B7822967-F3F4-401F-BF2F-48FAB41286F3}"/>
                  </a:ext>
                </a:extLst>
              </p:cNvPr>
              <p:cNvSpPr txBox="1">
                <a:spLocks noChangeArrowheads="1"/>
              </p:cNvSpPr>
              <p:nvPr/>
            </p:nvSpPr>
            <p:spPr bwMode="gray">
              <a:xfrm>
                <a:off x="3972" y="2028"/>
                <a:ext cx="318"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2</a:t>
                </a:r>
              </a:p>
            </p:txBody>
          </p:sp>
        </p:grpSp>
        <p:sp>
          <p:nvSpPr>
            <p:cNvPr id="119855" name="Oval 47">
              <a:extLst>
                <a:ext uri="{FF2B5EF4-FFF2-40B4-BE49-F238E27FC236}">
                  <a16:creationId xmlns:a16="http://schemas.microsoft.com/office/drawing/2014/main" id="{3527643C-C399-4F40-A818-C3816AAD4298}"/>
                </a:ext>
              </a:extLst>
            </p:cNvPr>
            <p:cNvSpPr>
              <a:spLocks noChangeArrowheads="1"/>
            </p:cNvSpPr>
            <p:nvPr/>
          </p:nvSpPr>
          <p:spPr bwMode="gray">
            <a:xfrm rot="18227093">
              <a:off x="3202" y="1925"/>
              <a:ext cx="56"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394" name="Text Box 50">
              <a:extLst>
                <a:ext uri="{FF2B5EF4-FFF2-40B4-BE49-F238E27FC236}">
                  <a16:creationId xmlns:a16="http://schemas.microsoft.com/office/drawing/2014/main" id="{36D71B3A-D9AE-44EE-B7BB-E43E8E46AF8C}"/>
                </a:ext>
              </a:extLst>
            </p:cNvPr>
            <p:cNvSpPr txBox="1">
              <a:spLocks noChangeArrowheads="1"/>
            </p:cNvSpPr>
            <p:nvPr/>
          </p:nvSpPr>
          <p:spPr bwMode="gray">
            <a:xfrm>
              <a:off x="3787" y="1616"/>
              <a:ext cx="111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技术专家可同时被不同的项目所使用</a:t>
              </a:r>
              <a:endParaRPr lang="en-US" altLang="zh-CN" sz="2000" b="1" dirty="0">
                <a:solidFill>
                  <a:schemeClr val="bg2"/>
                </a:solidFill>
                <a:latin typeface="Lucida Sans Unicode" panose="020B0602030504020204" pitchFamily="34" charset="0"/>
              </a:endParaRPr>
            </a:p>
          </p:txBody>
        </p:sp>
      </p:grpSp>
      <p:grpSp>
        <p:nvGrpSpPr>
          <p:cNvPr id="21" name="Group 72">
            <a:extLst>
              <a:ext uri="{FF2B5EF4-FFF2-40B4-BE49-F238E27FC236}">
                <a16:creationId xmlns:a16="http://schemas.microsoft.com/office/drawing/2014/main" id="{DA40672D-C82F-4390-AEAC-6CF27CAAFABC}"/>
              </a:ext>
            </a:extLst>
          </p:cNvPr>
          <p:cNvGrpSpPr>
            <a:grpSpLocks/>
          </p:cNvGrpSpPr>
          <p:nvPr/>
        </p:nvGrpSpPr>
        <p:grpSpPr bwMode="auto">
          <a:xfrm rot="-786493">
            <a:off x="3436757" y="4361702"/>
            <a:ext cx="3265488" cy="1606550"/>
            <a:chOff x="1919" y="2795"/>
            <a:chExt cx="2057" cy="1012"/>
          </a:xfrm>
        </p:grpSpPr>
        <p:grpSp>
          <p:nvGrpSpPr>
            <p:cNvPr id="15382" name="Group 68">
              <a:extLst>
                <a:ext uri="{FF2B5EF4-FFF2-40B4-BE49-F238E27FC236}">
                  <a16:creationId xmlns:a16="http://schemas.microsoft.com/office/drawing/2014/main" id="{B36111CC-738D-40B8-931E-DDB250F9D5D7}"/>
                </a:ext>
              </a:extLst>
            </p:cNvPr>
            <p:cNvGrpSpPr>
              <a:grpSpLocks/>
            </p:cNvGrpSpPr>
            <p:nvPr/>
          </p:nvGrpSpPr>
          <p:grpSpPr bwMode="auto">
            <a:xfrm>
              <a:off x="2608" y="2795"/>
              <a:ext cx="315" cy="490"/>
              <a:chOff x="2629" y="3031"/>
              <a:chExt cx="315" cy="490"/>
            </a:xfrm>
          </p:grpSpPr>
          <p:grpSp>
            <p:nvGrpSpPr>
              <p:cNvPr id="15384" name="Group 58">
                <a:extLst>
                  <a:ext uri="{FF2B5EF4-FFF2-40B4-BE49-F238E27FC236}">
                    <a16:creationId xmlns:a16="http://schemas.microsoft.com/office/drawing/2014/main" id="{574B1830-6C18-4C68-8DCA-50A4E9C84080}"/>
                  </a:ext>
                </a:extLst>
              </p:cNvPr>
              <p:cNvGrpSpPr>
                <a:grpSpLocks/>
              </p:cNvGrpSpPr>
              <p:nvPr/>
            </p:nvGrpSpPr>
            <p:grpSpPr bwMode="auto">
              <a:xfrm flipV="1">
                <a:off x="2629" y="3226"/>
                <a:ext cx="315" cy="295"/>
                <a:chOff x="2640" y="1088"/>
                <a:chExt cx="432" cy="423"/>
              </a:xfrm>
            </p:grpSpPr>
            <p:grpSp>
              <p:nvGrpSpPr>
                <p:cNvPr id="15388" name="Group 59">
                  <a:extLst>
                    <a:ext uri="{FF2B5EF4-FFF2-40B4-BE49-F238E27FC236}">
                      <a16:creationId xmlns:a16="http://schemas.microsoft.com/office/drawing/2014/main" id="{A5EAFAF2-0951-42D5-8B8D-A160C504197E}"/>
                    </a:ext>
                  </a:extLst>
                </p:cNvPr>
                <p:cNvGrpSpPr>
                  <a:grpSpLocks/>
                </p:cNvGrpSpPr>
                <p:nvPr/>
              </p:nvGrpSpPr>
              <p:grpSpPr bwMode="auto">
                <a:xfrm>
                  <a:off x="2640" y="1088"/>
                  <a:ext cx="432" cy="415"/>
                  <a:chOff x="2016" y="1920"/>
                  <a:chExt cx="1680" cy="1680"/>
                </a:xfrm>
              </p:grpSpPr>
              <p:sp>
                <p:nvSpPr>
                  <p:cNvPr id="119868" name="Oval 60">
                    <a:extLst>
                      <a:ext uri="{FF2B5EF4-FFF2-40B4-BE49-F238E27FC236}">
                        <a16:creationId xmlns:a16="http://schemas.microsoft.com/office/drawing/2014/main" id="{E0813E73-3F47-4774-A0BD-5B1438F33973}"/>
                      </a:ext>
                    </a:extLst>
                  </p:cNvPr>
                  <p:cNvSpPr>
                    <a:spLocks noChangeArrowheads="1"/>
                  </p:cNvSpPr>
                  <p:nvPr/>
                </p:nvSpPr>
                <p:spPr bwMode="gray">
                  <a:xfrm>
                    <a:off x="2000" y="1936"/>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391" name="Freeform 61">
                    <a:extLst>
                      <a:ext uri="{FF2B5EF4-FFF2-40B4-BE49-F238E27FC236}">
                        <a16:creationId xmlns:a16="http://schemas.microsoft.com/office/drawing/2014/main" id="{AA45E836-A5D4-49F6-9C74-74F8C0A86652}"/>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119870" name="Text Box 62">
                  <a:extLst>
                    <a:ext uri="{FF2B5EF4-FFF2-40B4-BE49-F238E27FC236}">
                      <a16:creationId xmlns:a16="http://schemas.microsoft.com/office/drawing/2014/main" id="{E9C99362-3A5C-4E38-869C-30B14382D2FA}"/>
                    </a:ext>
                  </a:extLst>
                </p:cNvPr>
                <p:cNvSpPr txBox="1">
                  <a:spLocks noChangeArrowheads="1"/>
                </p:cNvSpPr>
                <p:nvPr/>
              </p:nvSpPr>
              <p:spPr bwMode="gray">
                <a:xfrm rot="20813507" flipV="1">
                  <a:off x="2692" y="1149"/>
                  <a:ext cx="317"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4</a:t>
                  </a:r>
                </a:p>
              </p:txBody>
            </p:sp>
          </p:grpSp>
          <p:grpSp>
            <p:nvGrpSpPr>
              <p:cNvPr id="15385" name="Group 63">
                <a:extLst>
                  <a:ext uri="{FF2B5EF4-FFF2-40B4-BE49-F238E27FC236}">
                    <a16:creationId xmlns:a16="http://schemas.microsoft.com/office/drawing/2014/main" id="{F04C2382-3610-471C-86CE-8712479F2F53}"/>
                  </a:ext>
                </a:extLst>
              </p:cNvPr>
              <p:cNvGrpSpPr>
                <a:grpSpLocks/>
              </p:cNvGrpSpPr>
              <p:nvPr/>
            </p:nvGrpSpPr>
            <p:grpSpPr bwMode="auto">
              <a:xfrm flipV="1">
                <a:off x="2769" y="3031"/>
                <a:ext cx="64" cy="181"/>
                <a:chOff x="2832" y="1612"/>
                <a:chExt cx="87" cy="260"/>
              </a:xfrm>
            </p:grpSpPr>
            <p:sp>
              <p:nvSpPr>
                <p:cNvPr id="119872" name="Oval 64">
                  <a:extLst>
                    <a:ext uri="{FF2B5EF4-FFF2-40B4-BE49-F238E27FC236}">
                      <a16:creationId xmlns:a16="http://schemas.microsoft.com/office/drawing/2014/main" id="{E9E3096F-D2F4-480D-8B03-98ADE515FE82}"/>
                    </a:ext>
                  </a:extLst>
                </p:cNvPr>
                <p:cNvSpPr>
                  <a:spLocks noChangeArrowheads="1"/>
                </p:cNvSpPr>
                <p:nvPr/>
              </p:nvSpPr>
              <p:spPr bwMode="gray">
                <a:xfrm rot="18227093">
                  <a:off x="2831" y="1615"/>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19873" name="Oval 65">
                  <a:extLst>
                    <a:ext uri="{FF2B5EF4-FFF2-40B4-BE49-F238E27FC236}">
                      <a16:creationId xmlns:a16="http://schemas.microsoft.com/office/drawing/2014/main" id="{B33B8649-2A8E-4233-88A6-83890FE6BD3B}"/>
                    </a:ext>
                  </a:extLst>
                </p:cNvPr>
                <p:cNvSpPr>
                  <a:spLocks noChangeArrowheads="1"/>
                </p:cNvSpPr>
                <p:nvPr/>
              </p:nvSpPr>
              <p:spPr bwMode="gray">
                <a:xfrm rot="18227093">
                  <a:off x="2830" y="1794"/>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grpSp>
        <p:sp>
          <p:nvSpPr>
            <p:cNvPr id="15383" name="Text Box 66">
              <a:extLst>
                <a:ext uri="{FF2B5EF4-FFF2-40B4-BE49-F238E27FC236}">
                  <a16:creationId xmlns:a16="http://schemas.microsoft.com/office/drawing/2014/main" id="{8DD034D7-3218-4E71-92E9-F318F72610A6}"/>
                </a:ext>
              </a:extLst>
            </p:cNvPr>
            <p:cNvSpPr txBox="1">
              <a:spLocks noChangeArrowheads="1"/>
            </p:cNvSpPr>
            <p:nvPr/>
          </p:nvSpPr>
          <p:spPr bwMode="gray">
            <a:xfrm rot="786493">
              <a:off x="1919" y="3361"/>
              <a:ext cx="20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可保持职员使用的连续性；</a:t>
              </a:r>
            </a:p>
            <a:p>
              <a:r>
                <a:rPr lang="zh-CN" altLang="en-US" sz="2000" b="1" dirty="0">
                  <a:solidFill>
                    <a:schemeClr val="bg2"/>
                  </a:solidFill>
                  <a:latin typeface="Lucida Sans Unicode" panose="020B0602030504020204" pitchFamily="34" charset="0"/>
                </a:rPr>
                <a:t>项目组织管理成本低</a:t>
              </a:r>
              <a:endParaRPr lang="en-US" altLang="zh-CN" sz="2000" b="1" dirty="0">
                <a:solidFill>
                  <a:schemeClr val="bg2"/>
                </a:solidFill>
                <a:latin typeface="Lucida Sans Unicode" panose="020B0602030504020204" pitchFamily="34" charset="0"/>
              </a:endParaRPr>
            </a:p>
          </p:txBody>
        </p:sp>
      </p:grpSp>
      <p:grpSp>
        <p:nvGrpSpPr>
          <p:cNvPr id="26" name="Group 84">
            <a:extLst>
              <a:ext uri="{FF2B5EF4-FFF2-40B4-BE49-F238E27FC236}">
                <a16:creationId xmlns:a16="http://schemas.microsoft.com/office/drawing/2014/main" id="{38BE437F-8A1E-4679-ADFC-46E39BE381C2}"/>
              </a:ext>
            </a:extLst>
          </p:cNvPr>
          <p:cNvGrpSpPr>
            <a:grpSpLocks/>
          </p:cNvGrpSpPr>
          <p:nvPr/>
        </p:nvGrpSpPr>
        <p:grpSpPr bwMode="auto">
          <a:xfrm>
            <a:off x="357188" y="2349504"/>
            <a:ext cx="3444875" cy="477838"/>
            <a:chOff x="73" y="1826"/>
            <a:chExt cx="2170" cy="301"/>
          </a:xfrm>
        </p:grpSpPr>
        <p:grpSp>
          <p:nvGrpSpPr>
            <p:cNvPr id="15373" name="Group 10">
              <a:extLst>
                <a:ext uri="{FF2B5EF4-FFF2-40B4-BE49-F238E27FC236}">
                  <a16:creationId xmlns:a16="http://schemas.microsoft.com/office/drawing/2014/main" id="{E4C6C5FA-7D3B-450E-BFBB-3EEC2637F983}"/>
                </a:ext>
              </a:extLst>
            </p:cNvPr>
            <p:cNvGrpSpPr>
              <a:grpSpLocks/>
            </p:cNvGrpSpPr>
            <p:nvPr/>
          </p:nvGrpSpPr>
          <p:grpSpPr bwMode="auto">
            <a:xfrm>
              <a:off x="1715" y="1826"/>
              <a:ext cx="315" cy="301"/>
              <a:chOff x="1488" y="1968"/>
              <a:chExt cx="432" cy="432"/>
            </a:xfrm>
          </p:grpSpPr>
          <p:grpSp>
            <p:nvGrpSpPr>
              <p:cNvPr id="15378" name="Group 11">
                <a:extLst>
                  <a:ext uri="{FF2B5EF4-FFF2-40B4-BE49-F238E27FC236}">
                    <a16:creationId xmlns:a16="http://schemas.microsoft.com/office/drawing/2014/main" id="{ECD96879-D0BC-41A0-9FF8-B02DAB9E3689}"/>
                  </a:ext>
                </a:extLst>
              </p:cNvPr>
              <p:cNvGrpSpPr>
                <a:grpSpLocks/>
              </p:cNvGrpSpPr>
              <p:nvPr/>
            </p:nvGrpSpPr>
            <p:grpSpPr bwMode="auto">
              <a:xfrm>
                <a:off x="1488" y="1968"/>
                <a:ext cx="432" cy="432"/>
                <a:chOff x="2016" y="1920"/>
                <a:chExt cx="1680" cy="1681"/>
              </a:xfrm>
            </p:grpSpPr>
            <p:sp>
              <p:nvSpPr>
                <p:cNvPr id="74" name="Oval 12">
                  <a:extLst>
                    <a:ext uri="{FF2B5EF4-FFF2-40B4-BE49-F238E27FC236}">
                      <a16:creationId xmlns:a16="http://schemas.microsoft.com/office/drawing/2014/main" id="{B6F4E96E-9F5C-46D4-B3D9-1FE4B93DC0D1}"/>
                    </a:ext>
                  </a:extLst>
                </p:cNvPr>
                <p:cNvSpPr>
                  <a:spLocks noChangeArrowheads="1"/>
                </p:cNvSpPr>
                <p:nvPr/>
              </p:nvSpPr>
              <p:spPr bwMode="gray">
                <a:xfrm>
                  <a:off x="2016" y="1920"/>
                  <a:ext cx="1680" cy="1682"/>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15381" name="Freeform 13">
                  <a:extLst>
                    <a:ext uri="{FF2B5EF4-FFF2-40B4-BE49-F238E27FC236}">
                      <a16:creationId xmlns:a16="http://schemas.microsoft.com/office/drawing/2014/main" id="{CDF84A5F-7AFC-474B-A00C-A08A3A65654E}"/>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b="1">
                    <a:solidFill>
                      <a:schemeClr val="bg2"/>
                    </a:solidFill>
                    <a:latin typeface="Lucida Sans Unicode" panose="020B0602030504020204" pitchFamily="34" charset="0"/>
                    <a:ea typeface="黑体" panose="02010609060101010101" pitchFamily="49" charset="-122"/>
                  </a:endParaRPr>
                </a:p>
              </p:txBody>
            </p:sp>
          </p:grpSp>
          <p:sp>
            <p:nvSpPr>
              <p:cNvPr id="73" name="Text Box 14">
                <a:extLst>
                  <a:ext uri="{FF2B5EF4-FFF2-40B4-BE49-F238E27FC236}">
                    <a16:creationId xmlns:a16="http://schemas.microsoft.com/office/drawing/2014/main" id="{A50C5C59-A695-448E-A37E-EB5C23F0C970}"/>
                  </a:ext>
                </a:extLst>
              </p:cNvPr>
              <p:cNvSpPr txBox="1">
                <a:spLocks noChangeArrowheads="1"/>
              </p:cNvSpPr>
              <p:nvPr/>
            </p:nvSpPr>
            <p:spPr bwMode="gray">
              <a:xfrm>
                <a:off x="1540" y="2015"/>
                <a:ext cx="317" cy="362"/>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000" b="1">
                    <a:solidFill>
                      <a:schemeClr val="bg2"/>
                    </a:solidFill>
                    <a:effectLst>
                      <a:outerShdw blurRad="38100" dist="38100" dir="2700000" algn="tl">
                        <a:srgbClr val="C0C0C0"/>
                      </a:outerShdw>
                    </a:effectLst>
                    <a:latin typeface="Verdana" panose="020B0604030504040204" pitchFamily="34" charset="0"/>
                  </a:rPr>
                  <a:t>7</a:t>
                </a:r>
              </a:p>
            </p:txBody>
          </p:sp>
        </p:grpSp>
        <p:grpSp>
          <p:nvGrpSpPr>
            <p:cNvPr id="15374" name="Group 15">
              <a:extLst>
                <a:ext uri="{FF2B5EF4-FFF2-40B4-BE49-F238E27FC236}">
                  <a16:creationId xmlns:a16="http://schemas.microsoft.com/office/drawing/2014/main" id="{C09133C1-2819-4B94-8588-20B9E7053DF8}"/>
                </a:ext>
              </a:extLst>
            </p:cNvPr>
            <p:cNvGrpSpPr>
              <a:grpSpLocks/>
            </p:cNvGrpSpPr>
            <p:nvPr/>
          </p:nvGrpSpPr>
          <p:grpSpPr bwMode="auto">
            <a:xfrm>
              <a:off x="2073" y="2025"/>
              <a:ext cx="170" cy="91"/>
              <a:chOff x="2016" y="2304"/>
              <a:chExt cx="231" cy="130"/>
            </a:xfrm>
          </p:grpSpPr>
          <p:sp>
            <p:nvSpPr>
              <p:cNvPr id="70" name="Oval 16">
                <a:extLst>
                  <a:ext uri="{FF2B5EF4-FFF2-40B4-BE49-F238E27FC236}">
                    <a16:creationId xmlns:a16="http://schemas.microsoft.com/office/drawing/2014/main" id="{FF7CFB5A-5574-449C-858A-69D6BA5BABA5}"/>
                  </a:ext>
                </a:extLst>
              </p:cNvPr>
              <p:cNvSpPr>
                <a:spLocks noChangeArrowheads="1"/>
              </p:cNvSpPr>
              <p:nvPr/>
            </p:nvSpPr>
            <p:spPr bwMode="gray">
              <a:xfrm rot="18227093">
                <a:off x="2019" y="2301"/>
                <a:ext cx="81"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sp>
            <p:nvSpPr>
              <p:cNvPr id="71" name="Oval 17">
                <a:extLst>
                  <a:ext uri="{FF2B5EF4-FFF2-40B4-BE49-F238E27FC236}">
                    <a16:creationId xmlns:a16="http://schemas.microsoft.com/office/drawing/2014/main" id="{8DFA56CB-C9F8-4E75-B0C4-D08509B762B6}"/>
                  </a:ext>
                </a:extLst>
              </p:cNvPr>
              <p:cNvSpPr>
                <a:spLocks noChangeArrowheads="1"/>
              </p:cNvSpPr>
              <p:nvPr/>
            </p:nvSpPr>
            <p:spPr bwMode="gray">
              <a:xfrm rot="18227093">
                <a:off x="2163" y="2350"/>
                <a:ext cx="81" cy="87"/>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000" b="1">
                  <a:solidFill>
                    <a:schemeClr val="bg2"/>
                  </a:solidFill>
                  <a:ea typeface="+mn-ea"/>
                </a:endParaRPr>
              </a:p>
            </p:txBody>
          </p:sp>
        </p:grpSp>
        <p:sp>
          <p:nvSpPr>
            <p:cNvPr id="15375" name="Text Box 18">
              <a:extLst>
                <a:ext uri="{FF2B5EF4-FFF2-40B4-BE49-F238E27FC236}">
                  <a16:creationId xmlns:a16="http://schemas.microsoft.com/office/drawing/2014/main" id="{A7E6E690-EA03-4240-96B5-3A6B33493786}"/>
                </a:ext>
              </a:extLst>
            </p:cNvPr>
            <p:cNvSpPr txBox="1">
              <a:spLocks noChangeArrowheads="1"/>
            </p:cNvSpPr>
            <p:nvPr/>
          </p:nvSpPr>
          <p:spPr bwMode="gray">
            <a:xfrm>
              <a:off x="73" y="1842"/>
              <a:ext cx="16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000" b="1" dirty="0">
                  <a:solidFill>
                    <a:schemeClr val="bg2"/>
                  </a:solidFill>
                  <a:latin typeface="Lucida Sans Unicode" panose="020B0602030504020204" pitchFamily="34" charset="0"/>
                </a:rPr>
                <a:t>项目组织管理成本低</a:t>
              </a:r>
              <a:endParaRPr lang="en-US" altLang="zh-CN" sz="2000" b="1" dirty="0">
                <a:solidFill>
                  <a:schemeClr val="bg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childTnLst>
                          </p:cTn>
                        </p:par>
                        <p:par>
                          <p:cTn id="16" fill="hold" nodeType="afterGroup">
                            <p:stCondLst>
                              <p:cond delay="30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childTnLst>
                                </p:cTn>
                              </p:par>
                            </p:childTnLst>
                          </p:cTn>
                        </p:par>
                        <p:par>
                          <p:cTn id="20" fill="hold" nodeType="afterGroup">
                            <p:stCondLst>
                              <p:cond delay="4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childTnLst>
                                </p:cTn>
                              </p:par>
                            </p:childTnLst>
                          </p:cTn>
                        </p:par>
                        <p:par>
                          <p:cTn id="24" fill="hold" nodeType="afterGroup">
                            <p:stCondLst>
                              <p:cond delay="5000"/>
                            </p:stCondLst>
                            <p:childTnLst>
                              <p:par>
                                <p:cTn id="25" presetID="10"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childTnLst>
                                </p:cTn>
                              </p:par>
                            </p:childTnLst>
                          </p:cTn>
                        </p:par>
                        <p:par>
                          <p:cTn id="28" fill="hold" nodeType="afterGroup">
                            <p:stCondLst>
                              <p:cond delay="6000"/>
                            </p:stCondLst>
                            <p:childTnLst>
                              <p:par>
                                <p:cTn id="29" presetID="10" presetClass="entr" presetSubtype="0"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1037B134-5011-4678-ADC1-3FC16A46FC7D}"/>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20836" name="Oval 4">
            <a:extLst>
              <a:ext uri="{FF2B5EF4-FFF2-40B4-BE49-F238E27FC236}">
                <a16:creationId xmlns:a16="http://schemas.microsoft.com/office/drawing/2014/main" id="{789AE182-244C-47FF-9D64-964168941383}"/>
              </a:ext>
            </a:extLst>
          </p:cNvPr>
          <p:cNvSpPr>
            <a:spLocks noChangeArrowheads="1"/>
          </p:cNvSpPr>
          <p:nvPr/>
        </p:nvSpPr>
        <p:spPr bwMode="gray">
          <a:xfrm>
            <a:off x="2519465" y="2206625"/>
            <a:ext cx="4549801"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nvGrpSpPr>
          <p:cNvPr id="16388" name="Group 5">
            <a:extLst>
              <a:ext uri="{FF2B5EF4-FFF2-40B4-BE49-F238E27FC236}">
                <a16:creationId xmlns:a16="http://schemas.microsoft.com/office/drawing/2014/main" id="{D3118505-F314-433A-94E6-C224EE9A55AC}"/>
              </a:ext>
            </a:extLst>
          </p:cNvPr>
          <p:cNvGrpSpPr>
            <a:grpSpLocks/>
          </p:cNvGrpSpPr>
          <p:nvPr/>
        </p:nvGrpSpPr>
        <p:grpSpPr bwMode="auto">
          <a:xfrm>
            <a:off x="3423284" y="2897188"/>
            <a:ext cx="2316573" cy="1485900"/>
            <a:chOff x="2016" y="1920"/>
            <a:chExt cx="1680" cy="1680"/>
          </a:xfrm>
        </p:grpSpPr>
        <p:sp>
          <p:nvSpPr>
            <p:cNvPr id="16449" name="Oval 6">
              <a:extLst>
                <a:ext uri="{FF2B5EF4-FFF2-40B4-BE49-F238E27FC236}">
                  <a16:creationId xmlns:a16="http://schemas.microsoft.com/office/drawing/2014/main" id="{F1D5EC93-08D3-408E-A47D-0C18573482DA}"/>
                </a:ext>
              </a:extLst>
            </p:cNvPr>
            <p:cNvSpPr>
              <a:spLocks noChangeArrowheads="1"/>
            </p:cNvSpPr>
            <p:nvPr/>
          </p:nvSpPr>
          <p:spPr bwMode="gray">
            <a:xfrm>
              <a:off x="2016" y="1920"/>
              <a:ext cx="1680" cy="168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sp>
          <p:nvSpPr>
            <p:cNvPr id="16450" name="Freeform 7">
              <a:extLst>
                <a:ext uri="{FF2B5EF4-FFF2-40B4-BE49-F238E27FC236}">
                  <a16:creationId xmlns:a16="http://schemas.microsoft.com/office/drawing/2014/main" id="{96AE8829-B3AC-48A3-A1FC-93A4C5C1D16E}"/>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40" name="Text Box 8">
            <a:extLst>
              <a:ext uri="{FF2B5EF4-FFF2-40B4-BE49-F238E27FC236}">
                <a16:creationId xmlns:a16="http://schemas.microsoft.com/office/drawing/2014/main" id="{3AF8E1BC-3B32-42F4-B589-36D57EDD536E}"/>
              </a:ext>
            </a:extLst>
          </p:cNvPr>
          <p:cNvSpPr txBox="1">
            <a:spLocks noChangeArrowheads="1"/>
          </p:cNvSpPr>
          <p:nvPr/>
        </p:nvSpPr>
        <p:spPr bwMode="gray">
          <a:xfrm>
            <a:off x="3892546" y="3462338"/>
            <a:ext cx="1230603" cy="457200"/>
          </a:xfrm>
          <a:prstGeom prst="rect">
            <a:avLst/>
          </a:prstGeom>
          <a:noFill/>
          <a:ln w="9525">
            <a:noFill/>
            <a:miter lim="800000"/>
            <a:headEnd/>
            <a:tailEnd/>
          </a:ln>
          <a:effectLst/>
        </p:spPr>
        <p:txBody>
          <a:bodyPr wrap="square">
            <a:spAutoFit/>
          </a:bodyPr>
          <a:lstStyle/>
          <a:p>
            <a:pPr eaLnBrk="0" fontAlgn="auto" hangingPunct="0">
              <a:spcBef>
                <a:spcPts val="0"/>
              </a:spcBef>
              <a:spcAft>
                <a:spcPts val="0"/>
              </a:spcAft>
              <a:defRPr/>
            </a:pPr>
            <a:r>
              <a:rPr lang="zh-CN" altLang="en-US" sz="2400" b="1">
                <a:solidFill>
                  <a:schemeClr val="bg2"/>
                </a:solidFill>
                <a:effectLst>
                  <a:outerShdw blurRad="38100" dist="38100" dir="2700000" algn="tl">
                    <a:srgbClr val="C0C0C0"/>
                  </a:outerShdw>
                </a:effectLst>
              </a:rPr>
              <a:t>缺点</a:t>
            </a:r>
          </a:p>
        </p:txBody>
      </p:sp>
      <p:grpSp>
        <p:nvGrpSpPr>
          <p:cNvPr id="3" name="Group 9">
            <a:extLst>
              <a:ext uri="{FF2B5EF4-FFF2-40B4-BE49-F238E27FC236}">
                <a16:creationId xmlns:a16="http://schemas.microsoft.com/office/drawing/2014/main" id="{70FC8A21-C7F7-4945-976D-66D286DD4560}"/>
              </a:ext>
            </a:extLst>
          </p:cNvPr>
          <p:cNvGrpSpPr>
            <a:grpSpLocks/>
          </p:cNvGrpSpPr>
          <p:nvPr/>
        </p:nvGrpSpPr>
        <p:grpSpPr bwMode="auto">
          <a:xfrm>
            <a:off x="1" y="2636839"/>
            <a:ext cx="4863580" cy="1570038"/>
            <a:chOff x="249" y="1661"/>
            <a:chExt cx="1984" cy="989"/>
          </a:xfrm>
        </p:grpSpPr>
        <p:grpSp>
          <p:nvGrpSpPr>
            <p:cNvPr id="16440" name="Group 10">
              <a:extLst>
                <a:ext uri="{FF2B5EF4-FFF2-40B4-BE49-F238E27FC236}">
                  <a16:creationId xmlns:a16="http://schemas.microsoft.com/office/drawing/2014/main" id="{F882AA35-C706-4F55-8F66-413CA114DE0B}"/>
                </a:ext>
              </a:extLst>
            </p:cNvPr>
            <p:cNvGrpSpPr>
              <a:grpSpLocks/>
            </p:cNvGrpSpPr>
            <p:nvPr/>
          </p:nvGrpSpPr>
          <p:grpSpPr bwMode="auto">
            <a:xfrm>
              <a:off x="1455" y="1804"/>
              <a:ext cx="539" cy="332"/>
              <a:chOff x="1131" y="1934"/>
              <a:chExt cx="739" cy="476"/>
            </a:xfrm>
          </p:grpSpPr>
          <p:grpSp>
            <p:nvGrpSpPr>
              <p:cNvPr id="16445" name="Group 11">
                <a:extLst>
                  <a:ext uri="{FF2B5EF4-FFF2-40B4-BE49-F238E27FC236}">
                    <a16:creationId xmlns:a16="http://schemas.microsoft.com/office/drawing/2014/main" id="{927DBBFE-0E7C-4305-AC36-D001E945A309}"/>
                  </a:ext>
                </a:extLst>
              </p:cNvPr>
              <p:cNvGrpSpPr>
                <a:grpSpLocks/>
              </p:cNvGrpSpPr>
              <p:nvPr/>
            </p:nvGrpSpPr>
            <p:grpSpPr bwMode="auto">
              <a:xfrm>
                <a:off x="1131" y="1934"/>
                <a:ext cx="739" cy="432"/>
                <a:chOff x="629" y="1789"/>
                <a:chExt cx="2875" cy="1681"/>
              </a:xfrm>
            </p:grpSpPr>
            <p:sp>
              <p:nvSpPr>
                <p:cNvPr id="120844" name="Oval 12">
                  <a:extLst>
                    <a:ext uri="{FF2B5EF4-FFF2-40B4-BE49-F238E27FC236}">
                      <a16:creationId xmlns:a16="http://schemas.microsoft.com/office/drawing/2014/main" id="{2BC16907-DBCD-49BC-B7BA-7A64371A98F8}"/>
                    </a:ext>
                  </a:extLst>
                </p:cNvPr>
                <p:cNvSpPr>
                  <a:spLocks noChangeArrowheads="1"/>
                </p:cNvSpPr>
                <p:nvPr/>
              </p:nvSpPr>
              <p:spPr bwMode="gray">
                <a:xfrm>
                  <a:off x="629" y="1789"/>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ea typeface="+mn-ea"/>
                  </a:endParaRPr>
                </a:p>
              </p:txBody>
            </p:sp>
            <p:sp>
              <p:nvSpPr>
                <p:cNvPr id="16448" name="Freeform 13">
                  <a:extLst>
                    <a:ext uri="{FF2B5EF4-FFF2-40B4-BE49-F238E27FC236}">
                      <a16:creationId xmlns:a16="http://schemas.microsoft.com/office/drawing/2014/main" id="{392E3CD4-0FE9-4EF6-825C-D767FF52C6D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latin typeface="Lucida Sans Unicode" panose="020B0602030504020204" pitchFamily="34" charset="0"/>
                    <a:ea typeface="黑体" panose="02010609060101010101" pitchFamily="49" charset="-122"/>
                  </a:endParaRPr>
                </a:p>
              </p:txBody>
            </p:sp>
          </p:grpSp>
          <p:sp>
            <p:nvSpPr>
              <p:cNvPr id="120846" name="Text Box 14">
                <a:extLst>
                  <a:ext uri="{FF2B5EF4-FFF2-40B4-BE49-F238E27FC236}">
                    <a16:creationId xmlns:a16="http://schemas.microsoft.com/office/drawing/2014/main" id="{E3449EFE-BB24-422A-87E8-3DB97A767142}"/>
                  </a:ext>
                </a:extLst>
              </p:cNvPr>
              <p:cNvSpPr txBox="1">
                <a:spLocks noChangeArrowheads="1"/>
              </p:cNvSpPr>
              <p:nvPr/>
            </p:nvSpPr>
            <p:spPr bwMode="gray">
              <a:xfrm>
                <a:off x="1239" y="1993"/>
                <a:ext cx="349" cy="417"/>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dirty="0">
                    <a:solidFill>
                      <a:schemeClr val="tx2"/>
                    </a:solidFill>
                    <a:effectLst>
                      <a:outerShdw blurRad="38100" dist="38100" dir="2700000" algn="tl">
                        <a:srgbClr val="C0C0C0"/>
                      </a:outerShdw>
                    </a:effectLst>
                    <a:latin typeface="Verdana" panose="020B0604030504040204" pitchFamily="34" charset="0"/>
                  </a:rPr>
                  <a:t>6</a:t>
                </a:r>
              </a:p>
            </p:txBody>
          </p:sp>
        </p:grpSp>
        <p:grpSp>
          <p:nvGrpSpPr>
            <p:cNvPr id="16441" name="Group 15">
              <a:extLst>
                <a:ext uri="{FF2B5EF4-FFF2-40B4-BE49-F238E27FC236}">
                  <a16:creationId xmlns:a16="http://schemas.microsoft.com/office/drawing/2014/main" id="{4F86D3A8-1EFE-48FD-93D0-747DC7F2C712}"/>
                </a:ext>
              </a:extLst>
            </p:cNvPr>
            <p:cNvGrpSpPr>
              <a:grpSpLocks/>
            </p:cNvGrpSpPr>
            <p:nvPr/>
          </p:nvGrpSpPr>
          <p:grpSpPr bwMode="auto">
            <a:xfrm>
              <a:off x="2064" y="2025"/>
              <a:ext cx="169" cy="91"/>
              <a:chOff x="2016" y="2304"/>
              <a:chExt cx="231" cy="130"/>
            </a:xfrm>
          </p:grpSpPr>
          <p:sp>
            <p:nvSpPr>
              <p:cNvPr id="120848" name="Oval 16">
                <a:extLst>
                  <a:ext uri="{FF2B5EF4-FFF2-40B4-BE49-F238E27FC236}">
                    <a16:creationId xmlns:a16="http://schemas.microsoft.com/office/drawing/2014/main" id="{C9BF9717-2E71-4839-AD80-91C6B562C021}"/>
                  </a:ext>
                </a:extLst>
              </p:cNvPr>
              <p:cNvSpPr>
                <a:spLocks noChangeArrowheads="1"/>
              </p:cNvSpPr>
              <p:nvPr/>
            </p:nvSpPr>
            <p:spPr bwMode="gray">
              <a:xfrm rot="18227093">
                <a:off x="2019" y="2301"/>
                <a:ext cx="81"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ea typeface="+mn-ea"/>
                </a:endParaRPr>
              </a:p>
            </p:txBody>
          </p:sp>
          <p:sp>
            <p:nvSpPr>
              <p:cNvPr id="120849" name="Oval 17">
                <a:extLst>
                  <a:ext uri="{FF2B5EF4-FFF2-40B4-BE49-F238E27FC236}">
                    <a16:creationId xmlns:a16="http://schemas.microsoft.com/office/drawing/2014/main" id="{9D34CA25-A0A9-4A3E-BB6C-12F72620A292}"/>
                  </a:ext>
                </a:extLst>
              </p:cNvPr>
              <p:cNvSpPr>
                <a:spLocks noChangeArrowheads="1"/>
              </p:cNvSpPr>
              <p:nvPr/>
            </p:nvSpPr>
            <p:spPr bwMode="gray">
              <a:xfrm rot="18227093">
                <a:off x="2163" y="2350"/>
                <a:ext cx="81" cy="87"/>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ea typeface="+mn-ea"/>
                </a:endParaRPr>
              </a:p>
            </p:txBody>
          </p:sp>
        </p:grpSp>
        <p:sp>
          <p:nvSpPr>
            <p:cNvPr id="16442" name="Text Box 18">
              <a:extLst>
                <a:ext uri="{FF2B5EF4-FFF2-40B4-BE49-F238E27FC236}">
                  <a16:creationId xmlns:a16="http://schemas.microsoft.com/office/drawing/2014/main" id="{CBE8A4E4-0FF7-4629-AF49-4EEA1751A7C3}"/>
                </a:ext>
              </a:extLst>
            </p:cNvPr>
            <p:cNvSpPr txBox="1">
              <a:spLocks noChangeArrowheads="1"/>
            </p:cNvSpPr>
            <p:nvPr/>
          </p:nvSpPr>
          <p:spPr bwMode="gray">
            <a:xfrm>
              <a:off x="249" y="1661"/>
              <a:ext cx="1275"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chemeClr val="tx2"/>
                  </a:solidFill>
                  <a:latin typeface="Lucida Sans Unicode" panose="020B0602030504020204" pitchFamily="34" charset="0"/>
                </a:rPr>
                <a:t>技术复杂的项目通常需要多个职能部门合作，跨部门之间的交流沟通较困难</a:t>
              </a:r>
              <a:endParaRPr lang="en-US" altLang="zh-CN" sz="2400" b="1" dirty="0">
                <a:solidFill>
                  <a:schemeClr val="tx2"/>
                </a:solidFill>
                <a:latin typeface="Lucida Sans Unicode" panose="020B0602030504020204" pitchFamily="34" charset="0"/>
              </a:endParaRPr>
            </a:p>
          </p:txBody>
        </p:sp>
      </p:grpSp>
      <p:grpSp>
        <p:nvGrpSpPr>
          <p:cNvPr id="7" name="Group 19">
            <a:extLst>
              <a:ext uri="{FF2B5EF4-FFF2-40B4-BE49-F238E27FC236}">
                <a16:creationId xmlns:a16="http://schemas.microsoft.com/office/drawing/2014/main" id="{59D899AC-0F79-4B70-A0AC-097FA5432BCC}"/>
              </a:ext>
            </a:extLst>
          </p:cNvPr>
          <p:cNvGrpSpPr>
            <a:grpSpLocks/>
          </p:cNvGrpSpPr>
          <p:nvPr/>
        </p:nvGrpSpPr>
        <p:grpSpPr bwMode="auto">
          <a:xfrm>
            <a:off x="2214782" y="1341438"/>
            <a:ext cx="5407791" cy="1449387"/>
            <a:chOff x="1672" y="845"/>
            <a:chExt cx="2206" cy="913"/>
          </a:xfrm>
        </p:grpSpPr>
        <p:grpSp>
          <p:nvGrpSpPr>
            <p:cNvPr id="16431" name="Group 20">
              <a:extLst>
                <a:ext uri="{FF2B5EF4-FFF2-40B4-BE49-F238E27FC236}">
                  <a16:creationId xmlns:a16="http://schemas.microsoft.com/office/drawing/2014/main" id="{24AF0158-58B2-403F-B9B6-33F3008E1480}"/>
                </a:ext>
              </a:extLst>
            </p:cNvPr>
            <p:cNvGrpSpPr>
              <a:grpSpLocks/>
            </p:cNvGrpSpPr>
            <p:nvPr/>
          </p:nvGrpSpPr>
          <p:grpSpPr bwMode="auto">
            <a:xfrm>
              <a:off x="2555" y="1223"/>
              <a:ext cx="315" cy="336"/>
              <a:chOff x="2640" y="1088"/>
              <a:chExt cx="432" cy="482"/>
            </a:xfrm>
          </p:grpSpPr>
          <p:grpSp>
            <p:nvGrpSpPr>
              <p:cNvPr id="16436" name="Group 21">
                <a:extLst>
                  <a:ext uri="{FF2B5EF4-FFF2-40B4-BE49-F238E27FC236}">
                    <a16:creationId xmlns:a16="http://schemas.microsoft.com/office/drawing/2014/main" id="{3A4B2F2D-7E0F-4802-8610-E2925F4B4CE6}"/>
                  </a:ext>
                </a:extLst>
              </p:cNvPr>
              <p:cNvGrpSpPr>
                <a:grpSpLocks/>
              </p:cNvGrpSpPr>
              <p:nvPr/>
            </p:nvGrpSpPr>
            <p:grpSpPr bwMode="auto">
              <a:xfrm>
                <a:off x="2640" y="1088"/>
                <a:ext cx="432" cy="415"/>
                <a:chOff x="2016" y="1920"/>
                <a:chExt cx="1680" cy="1680"/>
              </a:xfrm>
            </p:grpSpPr>
            <p:sp>
              <p:nvSpPr>
                <p:cNvPr id="120854" name="Oval 22">
                  <a:extLst>
                    <a:ext uri="{FF2B5EF4-FFF2-40B4-BE49-F238E27FC236}">
                      <a16:creationId xmlns:a16="http://schemas.microsoft.com/office/drawing/2014/main" id="{619C1079-47A9-4F45-85FE-D3B8AA0D4396}"/>
                    </a:ext>
                  </a:extLst>
                </p:cNvPr>
                <p:cNvSpPr>
                  <a:spLocks noChangeArrowheads="1"/>
                </p:cNvSpPr>
                <p:nvPr/>
              </p:nvSpPr>
              <p:spPr bwMode="gray">
                <a:xfrm>
                  <a:off x="2016" y="1920"/>
                  <a:ext cx="1680" cy="1679"/>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39" name="Freeform 23">
                  <a:extLst>
                    <a:ext uri="{FF2B5EF4-FFF2-40B4-BE49-F238E27FC236}">
                      <a16:creationId xmlns:a16="http://schemas.microsoft.com/office/drawing/2014/main" id="{1F6EC1FF-73EC-40DC-B3D6-F4845FB6F7D0}"/>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56" name="Text Box 24">
                <a:extLst>
                  <a:ext uri="{FF2B5EF4-FFF2-40B4-BE49-F238E27FC236}">
                    <a16:creationId xmlns:a16="http://schemas.microsoft.com/office/drawing/2014/main" id="{3A1B2F73-E078-4040-B2FF-B673475FE965}"/>
                  </a:ext>
                </a:extLst>
              </p:cNvPr>
              <p:cNvSpPr txBox="1">
                <a:spLocks noChangeArrowheads="1"/>
              </p:cNvSpPr>
              <p:nvPr/>
            </p:nvSpPr>
            <p:spPr bwMode="gray">
              <a:xfrm>
                <a:off x="2691" y="1153"/>
                <a:ext cx="226" cy="417"/>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2"/>
                    </a:solidFill>
                    <a:effectLst>
                      <a:outerShdw blurRad="38100" dist="38100" dir="2700000" algn="tl">
                        <a:srgbClr val="C0C0C0"/>
                      </a:outerShdw>
                    </a:effectLst>
                    <a:latin typeface="Verdana" panose="020B0604030504040204" pitchFamily="34" charset="0"/>
                  </a:rPr>
                  <a:t>1</a:t>
                </a:r>
              </a:p>
            </p:txBody>
          </p:sp>
        </p:grpSp>
        <p:grpSp>
          <p:nvGrpSpPr>
            <p:cNvPr id="16432" name="Group 25">
              <a:extLst>
                <a:ext uri="{FF2B5EF4-FFF2-40B4-BE49-F238E27FC236}">
                  <a16:creationId xmlns:a16="http://schemas.microsoft.com/office/drawing/2014/main" id="{B6538CAD-C0B0-4F81-85C7-53263A1B0012}"/>
                </a:ext>
              </a:extLst>
            </p:cNvPr>
            <p:cNvGrpSpPr>
              <a:grpSpLocks/>
            </p:cNvGrpSpPr>
            <p:nvPr/>
          </p:nvGrpSpPr>
          <p:grpSpPr bwMode="auto">
            <a:xfrm>
              <a:off x="2695" y="1577"/>
              <a:ext cx="64" cy="181"/>
              <a:chOff x="2832" y="1612"/>
              <a:chExt cx="87" cy="260"/>
            </a:xfrm>
          </p:grpSpPr>
          <p:sp>
            <p:nvSpPr>
              <p:cNvPr id="120858" name="Oval 26">
                <a:extLst>
                  <a:ext uri="{FF2B5EF4-FFF2-40B4-BE49-F238E27FC236}">
                    <a16:creationId xmlns:a16="http://schemas.microsoft.com/office/drawing/2014/main" id="{17AB5501-7BE8-475B-8DFD-7414A1215C28}"/>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20859" name="Oval 27">
                <a:extLst>
                  <a:ext uri="{FF2B5EF4-FFF2-40B4-BE49-F238E27FC236}">
                    <a16:creationId xmlns:a16="http://schemas.microsoft.com/office/drawing/2014/main" id="{04B46B7A-017F-4BB6-BD37-49C59BB4BC9F}"/>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sp>
          <p:nvSpPr>
            <p:cNvPr id="16433" name="Text Box 28">
              <a:extLst>
                <a:ext uri="{FF2B5EF4-FFF2-40B4-BE49-F238E27FC236}">
                  <a16:creationId xmlns:a16="http://schemas.microsoft.com/office/drawing/2014/main" id="{0AFB0CD4-9267-4F22-9384-351BDEC55907}"/>
                </a:ext>
              </a:extLst>
            </p:cNvPr>
            <p:cNvSpPr txBox="1">
              <a:spLocks noChangeArrowheads="1"/>
            </p:cNvSpPr>
            <p:nvPr/>
          </p:nvSpPr>
          <p:spPr bwMode="gray">
            <a:xfrm>
              <a:off x="1672" y="845"/>
              <a:ext cx="2206"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2"/>
                  </a:solidFill>
                  <a:latin typeface="Lucida Sans Unicode" panose="020B0602030504020204" pitchFamily="34" charset="0"/>
                </a:rPr>
                <a:t>项目利益并不是职能部门的活动和关心焦点</a:t>
              </a:r>
              <a:endParaRPr lang="en-US" altLang="zh-CN" sz="2400" b="1">
                <a:solidFill>
                  <a:schemeClr val="bg2"/>
                </a:solidFill>
                <a:latin typeface="Lucida Sans Unicode" panose="020B0602030504020204" pitchFamily="34" charset="0"/>
              </a:endParaRPr>
            </a:p>
          </p:txBody>
        </p:sp>
      </p:grpSp>
      <p:grpSp>
        <p:nvGrpSpPr>
          <p:cNvPr id="11" name="Group 29">
            <a:extLst>
              <a:ext uri="{FF2B5EF4-FFF2-40B4-BE49-F238E27FC236}">
                <a16:creationId xmlns:a16="http://schemas.microsoft.com/office/drawing/2014/main" id="{87AEAEF3-42B7-47F4-AC47-41CA145C3CF3}"/>
              </a:ext>
            </a:extLst>
          </p:cNvPr>
          <p:cNvGrpSpPr>
            <a:grpSpLocks/>
          </p:cNvGrpSpPr>
          <p:nvPr/>
        </p:nvGrpSpPr>
        <p:grpSpPr bwMode="auto">
          <a:xfrm>
            <a:off x="472246" y="4076702"/>
            <a:ext cx="4365945" cy="1046163"/>
            <a:chOff x="521" y="2568"/>
            <a:chExt cx="1781" cy="659"/>
          </a:xfrm>
        </p:grpSpPr>
        <p:grpSp>
          <p:nvGrpSpPr>
            <p:cNvPr id="16422" name="Group 30">
              <a:extLst>
                <a:ext uri="{FF2B5EF4-FFF2-40B4-BE49-F238E27FC236}">
                  <a16:creationId xmlns:a16="http://schemas.microsoft.com/office/drawing/2014/main" id="{E4729197-D18C-4D84-A921-63562BB42F6D}"/>
                </a:ext>
              </a:extLst>
            </p:cNvPr>
            <p:cNvGrpSpPr>
              <a:grpSpLocks/>
            </p:cNvGrpSpPr>
            <p:nvPr/>
          </p:nvGrpSpPr>
          <p:grpSpPr bwMode="auto">
            <a:xfrm>
              <a:off x="2155" y="2568"/>
              <a:ext cx="147" cy="123"/>
              <a:chOff x="2236" y="3191"/>
              <a:chExt cx="201" cy="176"/>
            </a:xfrm>
          </p:grpSpPr>
          <p:sp>
            <p:nvSpPr>
              <p:cNvPr id="120863" name="Oval 31">
                <a:extLst>
                  <a:ext uri="{FF2B5EF4-FFF2-40B4-BE49-F238E27FC236}">
                    <a16:creationId xmlns:a16="http://schemas.microsoft.com/office/drawing/2014/main" id="{F7D4629D-684E-4295-8392-8FF63FC89DB8}"/>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20864" name="Oval 32">
                <a:extLst>
                  <a:ext uri="{FF2B5EF4-FFF2-40B4-BE49-F238E27FC236}">
                    <a16:creationId xmlns:a16="http://schemas.microsoft.com/office/drawing/2014/main" id="{EBA8D9D5-09F3-4894-85DB-7778FBAE126D}"/>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grpSp>
          <p:nvGrpSpPr>
            <p:cNvPr id="16423" name="Group 33">
              <a:extLst>
                <a:ext uri="{FF2B5EF4-FFF2-40B4-BE49-F238E27FC236}">
                  <a16:creationId xmlns:a16="http://schemas.microsoft.com/office/drawing/2014/main" id="{0342CB63-8B92-41CB-92A1-E0FA81927CBA}"/>
                </a:ext>
              </a:extLst>
            </p:cNvPr>
            <p:cNvGrpSpPr>
              <a:grpSpLocks/>
            </p:cNvGrpSpPr>
            <p:nvPr/>
          </p:nvGrpSpPr>
          <p:grpSpPr bwMode="auto">
            <a:xfrm>
              <a:off x="1792" y="2660"/>
              <a:ext cx="316" cy="347"/>
              <a:chOff x="1824" y="3357"/>
              <a:chExt cx="432" cy="498"/>
            </a:xfrm>
          </p:grpSpPr>
          <p:grpSp>
            <p:nvGrpSpPr>
              <p:cNvPr id="16425" name="Group 34">
                <a:extLst>
                  <a:ext uri="{FF2B5EF4-FFF2-40B4-BE49-F238E27FC236}">
                    <a16:creationId xmlns:a16="http://schemas.microsoft.com/office/drawing/2014/main" id="{CCDA38C5-12CC-4ABB-B6EA-ABAF35B1D440}"/>
                  </a:ext>
                </a:extLst>
              </p:cNvPr>
              <p:cNvGrpSpPr>
                <a:grpSpLocks/>
              </p:cNvGrpSpPr>
              <p:nvPr/>
            </p:nvGrpSpPr>
            <p:grpSpPr bwMode="auto">
              <a:xfrm>
                <a:off x="1824" y="3357"/>
                <a:ext cx="432" cy="432"/>
                <a:chOff x="2016" y="1920"/>
                <a:chExt cx="1680" cy="1680"/>
              </a:xfrm>
            </p:grpSpPr>
            <p:sp>
              <p:nvSpPr>
                <p:cNvPr id="120867" name="Oval 35">
                  <a:extLst>
                    <a:ext uri="{FF2B5EF4-FFF2-40B4-BE49-F238E27FC236}">
                      <a16:creationId xmlns:a16="http://schemas.microsoft.com/office/drawing/2014/main" id="{B53428DA-B001-470D-AEAD-463F844AADE4}"/>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28" name="Freeform 36">
                  <a:extLst>
                    <a:ext uri="{FF2B5EF4-FFF2-40B4-BE49-F238E27FC236}">
                      <a16:creationId xmlns:a16="http://schemas.microsoft.com/office/drawing/2014/main" id="{EB54B1E3-B42C-407B-994C-1E756F5DFC8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69" name="Text Box 37">
                <a:extLst>
                  <a:ext uri="{FF2B5EF4-FFF2-40B4-BE49-F238E27FC236}">
                    <a16:creationId xmlns:a16="http://schemas.microsoft.com/office/drawing/2014/main" id="{215B021E-4869-4000-877E-12C0F284192E}"/>
                  </a:ext>
                </a:extLst>
              </p:cNvPr>
              <p:cNvSpPr txBox="1">
                <a:spLocks noChangeArrowheads="1"/>
              </p:cNvSpPr>
              <p:nvPr/>
            </p:nvSpPr>
            <p:spPr bwMode="gray">
              <a:xfrm>
                <a:off x="1862" y="3437"/>
                <a:ext cx="225" cy="41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2"/>
                    </a:solidFill>
                    <a:effectLst>
                      <a:outerShdw blurRad="38100" dist="38100" dir="2700000" algn="tl">
                        <a:srgbClr val="C0C0C0"/>
                      </a:outerShdw>
                    </a:effectLst>
                    <a:latin typeface="Verdana" panose="020B0604030504040204" pitchFamily="34" charset="0"/>
                  </a:rPr>
                  <a:t>5</a:t>
                </a:r>
              </a:p>
            </p:txBody>
          </p:sp>
        </p:grpSp>
        <p:sp>
          <p:nvSpPr>
            <p:cNvPr id="16424" name="Text Box 38">
              <a:extLst>
                <a:ext uri="{FF2B5EF4-FFF2-40B4-BE49-F238E27FC236}">
                  <a16:creationId xmlns:a16="http://schemas.microsoft.com/office/drawing/2014/main" id="{7CFFB584-A46F-4A62-BDD5-10EAF01B5078}"/>
                </a:ext>
              </a:extLst>
            </p:cNvPr>
            <p:cNvSpPr txBox="1">
              <a:spLocks noChangeArrowheads="1"/>
            </p:cNvSpPr>
            <p:nvPr/>
          </p:nvSpPr>
          <p:spPr bwMode="gray">
            <a:xfrm>
              <a:off x="521" y="2704"/>
              <a:ext cx="123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2"/>
                  </a:solidFill>
                  <a:latin typeface="Lucida Sans Unicode" panose="020B0602030504020204" pitchFamily="34" charset="0"/>
                </a:rPr>
                <a:t>项目职员积极性往往不是很高</a:t>
              </a:r>
              <a:endParaRPr lang="en-US" altLang="zh-CN" sz="2400" b="1">
                <a:solidFill>
                  <a:schemeClr val="bg2"/>
                </a:solidFill>
                <a:latin typeface="Lucida Sans Unicode" panose="020B0602030504020204" pitchFamily="34" charset="0"/>
              </a:endParaRPr>
            </a:p>
          </p:txBody>
        </p:sp>
      </p:grpSp>
      <p:grpSp>
        <p:nvGrpSpPr>
          <p:cNvPr id="15" name="Group 39">
            <a:extLst>
              <a:ext uri="{FF2B5EF4-FFF2-40B4-BE49-F238E27FC236}">
                <a16:creationId xmlns:a16="http://schemas.microsoft.com/office/drawing/2014/main" id="{22753CCB-2B8D-487E-9ADD-B1D9FF1E36A5}"/>
              </a:ext>
            </a:extLst>
          </p:cNvPr>
          <p:cNvGrpSpPr>
            <a:grpSpLocks/>
          </p:cNvGrpSpPr>
          <p:nvPr/>
        </p:nvGrpSpPr>
        <p:grpSpPr bwMode="auto">
          <a:xfrm>
            <a:off x="4783568" y="3986214"/>
            <a:ext cx="4155125" cy="1439863"/>
            <a:chOff x="3226" y="2511"/>
            <a:chExt cx="1695" cy="907"/>
          </a:xfrm>
        </p:grpSpPr>
        <p:sp>
          <p:nvSpPr>
            <p:cNvPr id="120872" name="Oval 40">
              <a:extLst>
                <a:ext uri="{FF2B5EF4-FFF2-40B4-BE49-F238E27FC236}">
                  <a16:creationId xmlns:a16="http://schemas.microsoft.com/office/drawing/2014/main" id="{B2FD3EF1-4ADF-492F-B195-3E1F90B48049}"/>
                </a:ext>
              </a:extLst>
            </p:cNvPr>
            <p:cNvSpPr>
              <a:spLocks noChangeArrowheads="1"/>
            </p:cNvSpPr>
            <p:nvPr/>
          </p:nvSpPr>
          <p:spPr bwMode="gray">
            <a:xfrm rot="18227093">
              <a:off x="3338" y="2564"/>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20873" name="Oval 41">
              <a:extLst>
                <a:ext uri="{FF2B5EF4-FFF2-40B4-BE49-F238E27FC236}">
                  <a16:creationId xmlns:a16="http://schemas.microsoft.com/office/drawing/2014/main" id="{E6FD30B1-A8F4-4E08-96D5-51B1666DE58D}"/>
                </a:ext>
              </a:extLst>
            </p:cNvPr>
            <p:cNvSpPr>
              <a:spLocks noChangeArrowheads="1"/>
            </p:cNvSpPr>
            <p:nvPr/>
          </p:nvSpPr>
          <p:spPr bwMode="gray">
            <a:xfrm rot="18227093">
              <a:off x="3229" y="2508"/>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nvGrpSpPr>
            <p:cNvPr id="16416" name="Group 42">
              <a:extLst>
                <a:ext uri="{FF2B5EF4-FFF2-40B4-BE49-F238E27FC236}">
                  <a16:creationId xmlns:a16="http://schemas.microsoft.com/office/drawing/2014/main" id="{513BD852-8279-4990-B238-786864F6B966}"/>
                </a:ext>
              </a:extLst>
            </p:cNvPr>
            <p:cNvGrpSpPr>
              <a:grpSpLocks/>
            </p:cNvGrpSpPr>
            <p:nvPr/>
          </p:nvGrpSpPr>
          <p:grpSpPr bwMode="auto">
            <a:xfrm>
              <a:off x="3470" y="2565"/>
              <a:ext cx="301" cy="306"/>
              <a:chOff x="3552" y="3339"/>
              <a:chExt cx="412" cy="440"/>
            </a:xfrm>
          </p:grpSpPr>
          <p:grpSp>
            <p:nvGrpSpPr>
              <p:cNvPr id="16418" name="Group 43">
                <a:extLst>
                  <a:ext uri="{FF2B5EF4-FFF2-40B4-BE49-F238E27FC236}">
                    <a16:creationId xmlns:a16="http://schemas.microsoft.com/office/drawing/2014/main" id="{0A408956-2BF3-428D-8CED-AB25D7364E6E}"/>
                  </a:ext>
                </a:extLst>
              </p:cNvPr>
              <p:cNvGrpSpPr>
                <a:grpSpLocks/>
              </p:cNvGrpSpPr>
              <p:nvPr/>
            </p:nvGrpSpPr>
            <p:grpSpPr bwMode="auto">
              <a:xfrm>
                <a:off x="3552" y="3339"/>
                <a:ext cx="412" cy="392"/>
                <a:chOff x="2016" y="1920"/>
                <a:chExt cx="1680" cy="1680"/>
              </a:xfrm>
            </p:grpSpPr>
            <p:sp>
              <p:nvSpPr>
                <p:cNvPr id="120876" name="Oval 44">
                  <a:extLst>
                    <a:ext uri="{FF2B5EF4-FFF2-40B4-BE49-F238E27FC236}">
                      <a16:creationId xmlns:a16="http://schemas.microsoft.com/office/drawing/2014/main" id="{2AE83A31-A2DD-402A-8372-676AA214F2BA}"/>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21" name="Freeform 45">
                  <a:extLst>
                    <a:ext uri="{FF2B5EF4-FFF2-40B4-BE49-F238E27FC236}">
                      <a16:creationId xmlns:a16="http://schemas.microsoft.com/office/drawing/2014/main" id="{0C6731CA-7920-454A-A83D-D9B5FD7E9DBF}"/>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78" name="Text Box 46">
                <a:extLst>
                  <a:ext uri="{FF2B5EF4-FFF2-40B4-BE49-F238E27FC236}">
                    <a16:creationId xmlns:a16="http://schemas.microsoft.com/office/drawing/2014/main" id="{A909197C-9605-4F69-8542-A9C0244B94B1}"/>
                  </a:ext>
                </a:extLst>
              </p:cNvPr>
              <p:cNvSpPr txBox="1">
                <a:spLocks noChangeArrowheads="1"/>
              </p:cNvSpPr>
              <p:nvPr/>
            </p:nvSpPr>
            <p:spPr bwMode="gray">
              <a:xfrm>
                <a:off x="3607" y="3361"/>
                <a:ext cx="226" cy="41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2"/>
                    </a:solidFill>
                    <a:effectLst>
                      <a:outerShdw blurRad="38100" dist="38100" dir="2700000" algn="tl">
                        <a:srgbClr val="C0C0C0"/>
                      </a:outerShdw>
                    </a:effectLst>
                    <a:latin typeface="Verdana" panose="020B0604030504040204" pitchFamily="34" charset="0"/>
                  </a:rPr>
                  <a:t>3</a:t>
                </a:r>
              </a:p>
            </p:txBody>
          </p:sp>
        </p:grpSp>
        <p:sp>
          <p:nvSpPr>
            <p:cNvPr id="16417" name="Text Box 47">
              <a:extLst>
                <a:ext uri="{FF2B5EF4-FFF2-40B4-BE49-F238E27FC236}">
                  <a16:creationId xmlns:a16="http://schemas.microsoft.com/office/drawing/2014/main" id="{88BCFEA5-E56B-49CB-96F9-18247BE1E10A}"/>
                </a:ext>
              </a:extLst>
            </p:cNvPr>
            <p:cNvSpPr txBox="1">
              <a:spLocks noChangeArrowheads="1"/>
            </p:cNvSpPr>
            <p:nvPr/>
          </p:nvSpPr>
          <p:spPr bwMode="gray">
            <a:xfrm>
              <a:off x="3785" y="2662"/>
              <a:ext cx="1136"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chemeClr val="bg2"/>
                  </a:solidFill>
                  <a:latin typeface="Lucida Sans Unicode" panose="020B0602030504020204" pitchFamily="34" charset="0"/>
                </a:rPr>
                <a:t>经常会出现没有一个人承担项目全部责任的现象</a:t>
              </a:r>
              <a:endParaRPr lang="en-US" altLang="zh-CN" sz="2400" b="1">
                <a:solidFill>
                  <a:schemeClr val="bg2"/>
                </a:solidFill>
                <a:latin typeface="Lucida Sans Unicode" panose="020B0602030504020204" pitchFamily="34" charset="0"/>
              </a:endParaRPr>
            </a:p>
          </p:txBody>
        </p:sp>
      </p:grpSp>
      <p:grpSp>
        <p:nvGrpSpPr>
          <p:cNvPr id="18" name="Group 68">
            <a:extLst>
              <a:ext uri="{FF2B5EF4-FFF2-40B4-BE49-F238E27FC236}">
                <a16:creationId xmlns:a16="http://schemas.microsoft.com/office/drawing/2014/main" id="{88078607-E7B7-48C8-BC49-1717800C784A}"/>
              </a:ext>
            </a:extLst>
          </p:cNvPr>
          <p:cNvGrpSpPr>
            <a:grpSpLocks/>
          </p:cNvGrpSpPr>
          <p:nvPr/>
        </p:nvGrpSpPr>
        <p:grpSpPr bwMode="auto">
          <a:xfrm>
            <a:off x="4688313" y="2420939"/>
            <a:ext cx="4456647" cy="1570038"/>
            <a:chOff x="3198" y="1525"/>
            <a:chExt cx="1818" cy="989"/>
          </a:xfrm>
        </p:grpSpPr>
        <p:sp>
          <p:nvSpPr>
            <p:cNvPr id="120880" name="Oval 48">
              <a:extLst>
                <a:ext uri="{FF2B5EF4-FFF2-40B4-BE49-F238E27FC236}">
                  <a16:creationId xmlns:a16="http://schemas.microsoft.com/office/drawing/2014/main" id="{F15947FC-2D3E-4278-B2C7-4CC53424EB63}"/>
                </a:ext>
              </a:extLst>
            </p:cNvPr>
            <p:cNvSpPr>
              <a:spLocks noChangeArrowheads="1"/>
            </p:cNvSpPr>
            <p:nvPr/>
          </p:nvSpPr>
          <p:spPr bwMode="gray">
            <a:xfrm rot="18227093">
              <a:off x="3315" y="1870"/>
              <a:ext cx="57"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nvGrpSpPr>
            <p:cNvPr id="16407" name="Group 50">
              <a:extLst>
                <a:ext uri="{FF2B5EF4-FFF2-40B4-BE49-F238E27FC236}">
                  <a16:creationId xmlns:a16="http://schemas.microsoft.com/office/drawing/2014/main" id="{95851342-C951-433E-AE2E-345C225A271B}"/>
                </a:ext>
              </a:extLst>
            </p:cNvPr>
            <p:cNvGrpSpPr>
              <a:grpSpLocks/>
            </p:cNvGrpSpPr>
            <p:nvPr/>
          </p:nvGrpSpPr>
          <p:grpSpPr bwMode="auto">
            <a:xfrm>
              <a:off x="3445" y="1662"/>
              <a:ext cx="313" cy="333"/>
              <a:chOff x="3938" y="1968"/>
              <a:chExt cx="430" cy="478"/>
            </a:xfrm>
          </p:grpSpPr>
          <p:grpSp>
            <p:nvGrpSpPr>
              <p:cNvPr id="16410" name="Group 51">
                <a:extLst>
                  <a:ext uri="{FF2B5EF4-FFF2-40B4-BE49-F238E27FC236}">
                    <a16:creationId xmlns:a16="http://schemas.microsoft.com/office/drawing/2014/main" id="{97364986-71DF-4FAF-82EF-6C6F358518FE}"/>
                  </a:ext>
                </a:extLst>
              </p:cNvPr>
              <p:cNvGrpSpPr>
                <a:grpSpLocks/>
              </p:cNvGrpSpPr>
              <p:nvPr/>
            </p:nvGrpSpPr>
            <p:grpSpPr bwMode="auto">
              <a:xfrm>
                <a:off x="3938" y="1968"/>
                <a:ext cx="430" cy="437"/>
                <a:chOff x="2016" y="1920"/>
                <a:chExt cx="1680" cy="1680"/>
              </a:xfrm>
            </p:grpSpPr>
            <p:sp>
              <p:nvSpPr>
                <p:cNvPr id="120884" name="Oval 52">
                  <a:extLst>
                    <a:ext uri="{FF2B5EF4-FFF2-40B4-BE49-F238E27FC236}">
                      <a16:creationId xmlns:a16="http://schemas.microsoft.com/office/drawing/2014/main" id="{AD577686-2D34-4A6B-8995-BF09F614EA69}"/>
                    </a:ext>
                  </a:extLst>
                </p:cNvPr>
                <p:cNvSpPr>
                  <a:spLocks noChangeArrowheads="1"/>
                </p:cNvSpPr>
                <p:nvPr/>
              </p:nvSpPr>
              <p:spPr bwMode="gray">
                <a:xfrm>
                  <a:off x="2016" y="1920"/>
                  <a:ext cx="1680" cy="1679"/>
                </a:xfrm>
                <a:prstGeom prst="ellipse">
                  <a:avLst/>
                </a:prstGeom>
                <a:gradFill rotWithShape="1">
                  <a:gsLst>
                    <a:gs pos="0">
                      <a:schemeClr val="hlink"/>
                    </a:gs>
                    <a:gs pos="100000">
                      <a:schemeClr val="hlink">
                        <a:gamma/>
                        <a:tint val="57647"/>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13" name="Freeform 53">
                  <a:extLst>
                    <a:ext uri="{FF2B5EF4-FFF2-40B4-BE49-F238E27FC236}">
                      <a16:creationId xmlns:a16="http://schemas.microsoft.com/office/drawing/2014/main" id="{CCF95E7C-31D9-4D76-BBA8-49AD1CEBC05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86" name="Text Box 54">
                <a:extLst>
                  <a:ext uri="{FF2B5EF4-FFF2-40B4-BE49-F238E27FC236}">
                    <a16:creationId xmlns:a16="http://schemas.microsoft.com/office/drawing/2014/main" id="{4E558DE2-45A1-4A08-8474-BEFC51184185}"/>
                  </a:ext>
                </a:extLst>
              </p:cNvPr>
              <p:cNvSpPr txBox="1">
                <a:spLocks noChangeArrowheads="1"/>
              </p:cNvSpPr>
              <p:nvPr/>
            </p:nvSpPr>
            <p:spPr bwMode="gray">
              <a:xfrm>
                <a:off x="3972" y="2028"/>
                <a:ext cx="227" cy="41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2"/>
                    </a:solidFill>
                    <a:effectLst>
                      <a:outerShdw blurRad="38100" dist="38100" dir="2700000" algn="tl">
                        <a:srgbClr val="C0C0C0"/>
                      </a:outerShdw>
                    </a:effectLst>
                    <a:latin typeface="Verdana" panose="020B0604030504040204" pitchFamily="34" charset="0"/>
                  </a:rPr>
                  <a:t>2</a:t>
                </a:r>
              </a:p>
            </p:txBody>
          </p:sp>
        </p:grpSp>
        <p:sp>
          <p:nvSpPr>
            <p:cNvPr id="120887" name="Oval 55">
              <a:extLst>
                <a:ext uri="{FF2B5EF4-FFF2-40B4-BE49-F238E27FC236}">
                  <a16:creationId xmlns:a16="http://schemas.microsoft.com/office/drawing/2014/main" id="{DD00AF19-39D1-4F1B-B821-5E93EBF5FF22}"/>
                </a:ext>
              </a:extLst>
            </p:cNvPr>
            <p:cNvSpPr>
              <a:spLocks noChangeArrowheads="1"/>
            </p:cNvSpPr>
            <p:nvPr/>
          </p:nvSpPr>
          <p:spPr bwMode="gray">
            <a:xfrm rot="18227093">
              <a:off x="3202" y="1925"/>
              <a:ext cx="56"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09" name="Text Box 56">
              <a:extLst>
                <a:ext uri="{FF2B5EF4-FFF2-40B4-BE49-F238E27FC236}">
                  <a16:creationId xmlns:a16="http://schemas.microsoft.com/office/drawing/2014/main" id="{6C0A129E-A9A1-4FAB-81EC-C2F97C2CDD00}"/>
                </a:ext>
              </a:extLst>
            </p:cNvPr>
            <p:cNvSpPr txBox="1">
              <a:spLocks noChangeArrowheads="1"/>
            </p:cNvSpPr>
            <p:nvPr/>
          </p:nvSpPr>
          <p:spPr bwMode="gray">
            <a:xfrm>
              <a:off x="3787" y="1525"/>
              <a:ext cx="1229"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dirty="0">
                  <a:solidFill>
                    <a:schemeClr val="bg2"/>
                  </a:solidFill>
                  <a:latin typeface="Lucida Sans Unicode" panose="020B0602030504020204" pitchFamily="34" charset="0"/>
                </a:rPr>
                <a:t>职能部门工作方式常常面向本部门活动，而项目工作方式必须面向问题</a:t>
              </a:r>
              <a:endParaRPr lang="en-US" altLang="zh-CN" sz="2400" b="1" dirty="0">
                <a:solidFill>
                  <a:schemeClr val="bg2"/>
                </a:solidFill>
                <a:latin typeface="Lucida Sans Unicode" panose="020B0602030504020204" pitchFamily="34" charset="0"/>
              </a:endParaRPr>
            </a:p>
          </p:txBody>
        </p:sp>
      </p:grpSp>
      <p:grpSp>
        <p:nvGrpSpPr>
          <p:cNvPr id="21" name="Group 57">
            <a:extLst>
              <a:ext uri="{FF2B5EF4-FFF2-40B4-BE49-F238E27FC236}">
                <a16:creationId xmlns:a16="http://schemas.microsoft.com/office/drawing/2014/main" id="{4D7444FC-7082-4D0B-9014-A9C6C977FB95}"/>
              </a:ext>
            </a:extLst>
          </p:cNvPr>
          <p:cNvGrpSpPr>
            <a:grpSpLocks/>
          </p:cNvGrpSpPr>
          <p:nvPr/>
        </p:nvGrpSpPr>
        <p:grpSpPr bwMode="auto">
          <a:xfrm>
            <a:off x="2688730" y="4437064"/>
            <a:ext cx="3284876" cy="1630363"/>
            <a:chOff x="1927" y="2795"/>
            <a:chExt cx="1340" cy="1027"/>
          </a:xfrm>
        </p:grpSpPr>
        <p:grpSp>
          <p:nvGrpSpPr>
            <p:cNvPr id="16396" name="Group 58">
              <a:extLst>
                <a:ext uri="{FF2B5EF4-FFF2-40B4-BE49-F238E27FC236}">
                  <a16:creationId xmlns:a16="http://schemas.microsoft.com/office/drawing/2014/main" id="{0BB8A62F-C034-48AE-B66A-5F12588AB695}"/>
                </a:ext>
              </a:extLst>
            </p:cNvPr>
            <p:cNvGrpSpPr>
              <a:grpSpLocks/>
            </p:cNvGrpSpPr>
            <p:nvPr/>
          </p:nvGrpSpPr>
          <p:grpSpPr bwMode="auto">
            <a:xfrm>
              <a:off x="2608" y="2795"/>
              <a:ext cx="315" cy="493"/>
              <a:chOff x="2629" y="3031"/>
              <a:chExt cx="315" cy="493"/>
            </a:xfrm>
          </p:grpSpPr>
          <p:grpSp>
            <p:nvGrpSpPr>
              <p:cNvPr id="16398" name="Group 59">
                <a:extLst>
                  <a:ext uri="{FF2B5EF4-FFF2-40B4-BE49-F238E27FC236}">
                    <a16:creationId xmlns:a16="http://schemas.microsoft.com/office/drawing/2014/main" id="{B4B73AEF-5FBA-4379-9EDC-05D3D523FCF3}"/>
                  </a:ext>
                </a:extLst>
              </p:cNvPr>
              <p:cNvGrpSpPr>
                <a:grpSpLocks/>
              </p:cNvGrpSpPr>
              <p:nvPr/>
            </p:nvGrpSpPr>
            <p:grpSpPr bwMode="auto">
              <a:xfrm flipV="1">
                <a:off x="2629" y="3232"/>
                <a:ext cx="315" cy="292"/>
                <a:chOff x="2640" y="1084"/>
                <a:chExt cx="432" cy="419"/>
              </a:xfrm>
            </p:grpSpPr>
            <p:grpSp>
              <p:nvGrpSpPr>
                <p:cNvPr id="16402" name="Group 60">
                  <a:extLst>
                    <a:ext uri="{FF2B5EF4-FFF2-40B4-BE49-F238E27FC236}">
                      <a16:creationId xmlns:a16="http://schemas.microsoft.com/office/drawing/2014/main" id="{01C101D6-F642-422E-B3F4-D8937429C3DF}"/>
                    </a:ext>
                  </a:extLst>
                </p:cNvPr>
                <p:cNvGrpSpPr>
                  <a:grpSpLocks/>
                </p:cNvGrpSpPr>
                <p:nvPr/>
              </p:nvGrpSpPr>
              <p:grpSpPr bwMode="auto">
                <a:xfrm>
                  <a:off x="2640" y="1088"/>
                  <a:ext cx="432" cy="415"/>
                  <a:chOff x="2016" y="1920"/>
                  <a:chExt cx="1680" cy="1680"/>
                </a:xfrm>
              </p:grpSpPr>
              <p:sp>
                <p:nvSpPr>
                  <p:cNvPr id="120893" name="Oval 61">
                    <a:extLst>
                      <a:ext uri="{FF2B5EF4-FFF2-40B4-BE49-F238E27FC236}">
                        <a16:creationId xmlns:a16="http://schemas.microsoft.com/office/drawing/2014/main" id="{32B401BF-9251-40B2-B9FD-A589A1BF4FC4}"/>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6405" name="Freeform 62">
                    <a:extLst>
                      <a:ext uri="{FF2B5EF4-FFF2-40B4-BE49-F238E27FC236}">
                        <a16:creationId xmlns:a16="http://schemas.microsoft.com/office/drawing/2014/main" id="{AD4871BC-E154-467A-AB13-DF1170E9A883}"/>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400" b="1">
                      <a:solidFill>
                        <a:schemeClr val="bg2"/>
                      </a:solidFill>
                      <a:latin typeface="Lucida Sans Unicode" panose="020B0602030504020204" pitchFamily="34" charset="0"/>
                      <a:ea typeface="黑体" panose="02010609060101010101" pitchFamily="49" charset="-122"/>
                    </a:endParaRPr>
                  </a:p>
                </p:txBody>
              </p:sp>
            </p:grpSp>
            <p:sp>
              <p:nvSpPr>
                <p:cNvPr id="120895" name="Text Box 63">
                  <a:extLst>
                    <a:ext uri="{FF2B5EF4-FFF2-40B4-BE49-F238E27FC236}">
                      <a16:creationId xmlns:a16="http://schemas.microsoft.com/office/drawing/2014/main" id="{8A0CF988-8E92-4ED1-A7EA-9EEABD3C70B1}"/>
                    </a:ext>
                  </a:extLst>
                </p:cNvPr>
                <p:cNvSpPr txBox="1">
                  <a:spLocks noChangeArrowheads="1"/>
                </p:cNvSpPr>
                <p:nvPr/>
              </p:nvSpPr>
              <p:spPr bwMode="gray">
                <a:xfrm flipV="1">
                  <a:off x="2691" y="1084"/>
                  <a:ext cx="226" cy="41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b="1">
                      <a:solidFill>
                        <a:schemeClr val="bg2"/>
                      </a:solidFill>
                      <a:effectLst>
                        <a:outerShdw blurRad="38100" dist="38100" dir="2700000" algn="tl">
                          <a:srgbClr val="C0C0C0"/>
                        </a:outerShdw>
                      </a:effectLst>
                      <a:latin typeface="Verdana" panose="020B0604030504040204" pitchFamily="34" charset="0"/>
                    </a:rPr>
                    <a:t>4</a:t>
                  </a:r>
                </a:p>
              </p:txBody>
            </p:sp>
          </p:grpSp>
          <p:grpSp>
            <p:nvGrpSpPr>
              <p:cNvPr id="16399" name="Group 64">
                <a:extLst>
                  <a:ext uri="{FF2B5EF4-FFF2-40B4-BE49-F238E27FC236}">
                    <a16:creationId xmlns:a16="http://schemas.microsoft.com/office/drawing/2014/main" id="{C4BD0590-203A-4257-8972-71AAB4F1045F}"/>
                  </a:ext>
                </a:extLst>
              </p:cNvPr>
              <p:cNvGrpSpPr>
                <a:grpSpLocks/>
              </p:cNvGrpSpPr>
              <p:nvPr/>
            </p:nvGrpSpPr>
            <p:grpSpPr bwMode="auto">
              <a:xfrm flipV="1">
                <a:off x="2769" y="3031"/>
                <a:ext cx="64" cy="181"/>
                <a:chOff x="2832" y="1612"/>
                <a:chExt cx="87" cy="260"/>
              </a:xfrm>
            </p:grpSpPr>
            <p:sp>
              <p:nvSpPr>
                <p:cNvPr id="120897" name="Oval 65">
                  <a:extLst>
                    <a:ext uri="{FF2B5EF4-FFF2-40B4-BE49-F238E27FC236}">
                      <a16:creationId xmlns:a16="http://schemas.microsoft.com/office/drawing/2014/main" id="{AA8DBBD2-4C2B-4748-8A7A-8A8EA957DD9E}"/>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sp>
              <p:nvSpPr>
                <p:cNvPr id="120898" name="Oval 66">
                  <a:extLst>
                    <a:ext uri="{FF2B5EF4-FFF2-40B4-BE49-F238E27FC236}">
                      <a16:creationId xmlns:a16="http://schemas.microsoft.com/office/drawing/2014/main" id="{8C688A61-C441-40CB-8872-F8A8A1896763}"/>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sz="2400" b="1">
                    <a:solidFill>
                      <a:schemeClr val="bg2"/>
                    </a:solidFill>
                    <a:ea typeface="+mn-ea"/>
                  </a:endParaRPr>
                </a:p>
              </p:txBody>
            </p:sp>
          </p:grpSp>
        </p:grpSp>
        <p:sp>
          <p:nvSpPr>
            <p:cNvPr id="16397" name="Text Box 67">
              <a:extLst>
                <a:ext uri="{FF2B5EF4-FFF2-40B4-BE49-F238E27FC236}">
                  <a16:creationId xmlns:a16="http://schemas.microsoft.com/office/drawing/2014/main" id="{89EE8EF3-0D48-45E6-86DB-C718F5D6159E}"/>
                </a:ext>
              </a:extLst>
            </p:cNvPr>
            <p:cNvSpPr txBox="1">
              <a:spLocks noChangeArrowheads="1"/>
            </p:cNvSpPr>
            <p:nvPr/>
          </p:nvSpPr>
          <p:spPr bwMode="gray">
            <a:xfrm>
              <a:off x="1927" y="3339"/>
              <a:ext cx="1340"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sz="2400" b="1" dirty="0">
                  <a:solidFill>
                    <a:schemeClr val="bg2"/>
                  </a:solidFill>
                  <a:latin typeface="Lucida Sans Unicode" panose="020B0602030504020204" pitchFamily="34" charset="0"/>
                </a:rPr>
                <a:t>对客户要求的响应比较迟缓和艰难</a:t>
              </a:r>
              <a:endParaRPr lang="en-US" altLang="zh-CN" sz="2400" b="1" dirty="0">
                <a:solidFill>
                  <a:schemeClr val="bg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childTnLst>
                          </p:cTn>
                        </p:par>
                        <p:par>
                          <p:cTn id="16" fill="hold" nodeType="afterGroup">
                            <p:stCondLst>
                              <p:cond delay="30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childTnLst>
                                </p:cTn>
                              </p:par>
                            </p:childTnLst>
                          </p:cTn>
                        </p:par>
                        <p:par>
                          <p:cTn id="20" fill="hold" nodeType="afterGroup">
                            <p:stCondLst>
                              <p:cond delay="4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childTnLst>
                                </p:cTn>
                              </p:par>
                            </p:childTnLst>
                          </p:cTn>
                        </p:par>
                        <p:par>
                          <p:cTn id="24" fill="hold" nodeType="afterGroup">
                            <p:stCondLst>
                              <p:cond delay="5000"/>
                            </p:stCondLst>
                            <p:childTnLst>
                              <p:par>
                                <p:cTn id="25" presetID="10"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4E3FF0FC-E68E-462E-A038-EF7C4BC4FBA4}"/>
              </a:ext>
            </a:extLst>
          </p:cNvPr>
          <p:cNvSpPr>
            <a:spLocks noGrp="1" noChangeArrowheads="1"/>
          </p:cNvSpPr>
          <p:nvPr>
            <p:ph type="title"/>
          </p:nvPr>
        </p:nvSpPr>
        <p:spPr/>
        <p:txBody>
          <a:bodyPr/>
          <a:lstStyle/>
          <a:p>
            <a:pPr eaLnBrk="1" fontAlgn="auto" hangingPunct="1">
              <a:spcAft>
                <a:spcPts val="0"/>
              </a:spcAft>
              <a:defRPr/>
            </a:pPr>
            <a:r>
              <a:rPr lang="en-US" altLang="zh-CN" dirty="0"/>
              <a:t>2</a:t>
            </a:r>
            <a:r>
              <a:rPr lang="zh-CN" altLang="en-US" dirty="0"/>
              <a:t>、项目式项目组织</a:t>
            </a:r>
          </a:p>
        </p:txBody>
      </p:sp>
      <p:sp>
        <p:nvSpPr>
          <p:cNvPr id="117764" name="Rectangle 4">
            <a:extLst>
              <a:ext uri="{FF2B5EF4-FFF2-40B4-BE49-F238E27FC236}">
                <a16:creationId xmlns:a16="http://schemas.microsoft.com/office/drawing/2014/main" id="{D22F00A8-BBE3-430E-AA8E-C90939CBED7C}"/>
              </a:ext>
            </a:extLst>
          </p:cNvPr>
          <p:cNvSpPr>
            <a:spLocks noChangeArrowheads="1"/>
          </p:cNvSpPr>
          <p:nvPr/>
        </p:nvSpPr>
        <p:spPr bwMode="gray">
          <a:xfrm>
            <a:off x="395288" y="1484313"/>
            <a:ext cx="8640762" cy="915987"/>
          </a:xfrm>
          <a:prstGeom prst="rect">
            <a:avLst/>
          </a:prstGeom>
          <a:solidFill>
            <a:schemeClr val="accent1">
              <a:alpha val="72156"/>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Lucida Sans Unicode" panose="020B0602030504020204" pitchFamily="34" charset="0"/>
              </a:rPr>
              <a:t>项目式项目组织实际上就是直线式组织结构在项目管理中的应用。在项目式组织中，项目团队成员常常作为一个独立的团队，接受项目经理的完全指挥。项目式组织内部的大部分资源用于该项目的工作，项目经理有很大的独立性和权限。</a:t>
            </a:r>
          </a:p>
        </p:txBody>
      </p:sp>
      <p:pic>
        <p:nvPicPr>
          <p:cNvPr id="117765" name="Picture 5" descr="Fig">
            <a:extLst>
              <a:ext uri="{FF2B5EF4-FFF2-40B4-BE49-F238E27FC236}">
                <a16:creationId xmlns:a16="http://schemas.microsoft.com/office/drawing/2014/main" id="{5ACDB93D-14EC-493B-B4F0-ACC1A98D3A4A}"/>
              </a:ext>
            </a:extLst>
          </p:cNvPr>
          <p:cNvPicPr>
            <a:picLocks noChangeAspect="1" noChangeArrowheads="1"/>
          </p:cNvPicPr>
          <p:nvPr/>
        </p:nvPicPr>
        <p:blipFill>
          <a:blip r:embed="rId2">
            <a:lum bright="-6000" contrast="24000"/>
            <a:extLst>
              <a:ext uri="{28A0092B-C50C-407E-A947-70E740481C1C}">
                <a14:useLocalDpi xmlns:a14="http://schemas.microsoft.com/office/drawing/2010/main" val="0"/>
              </a:ext>
            </a:extLst>
          </a:blip>
          <a:srcRect/>
          <a:stretch>
            <a:fillRect/>
          </a:stretch>
        </p:blipFill>
        <p:spPr bwMode="auto">
          <a:xfrm>
            <a:off x="1117600" y="2563813"/>
            <a:ext cx="6983413"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6" name="Rectangle 6">
            <a:extLst>
              <a:ext uri="{FF2B5EF4-FFF2-40B4-BE49-F238E27FC236}">
                <a16:creationId xmlns:a16="http://schemas.microsoft.com/office/drawing/2014/main" id="{DBCAB740-A68A-4EEE-AD25-C536955A581C}"/>
              </a:ext>
            </a:extLst>
          </p:cNvPr>
          <p:cNvSpPr>
            <a:spLocks noChangeArrowheads="1"/>
          </p:cNvSpPr>
          <p:nvPr/>
        </p:nvSpPr>
        <p:spPr bwMode="gray">
          <a:xfrm>
            <a:off x="3348038" y="5878513"/>
            <a:ext cx="2808287"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lang="en-US" altLang="zh-CN" sz="1600" i="1">
                <a:solidFill>
                  <a:schemeClr val="tx2"/>
                </a:solidFill>
                <a:latin typeface="Lucida Sans Unicode" panose="020B0602030504020204" pitchFamily="34" charset="0"/>
              </a:rPr>
              <a:t>Fig.  </a:t>
            </a:r>
            <a:r>
              <a:rPr lang="zh-CN" altLang="en-US" sz="1600" i="1">
                <a:solidFill>
                  <a:schemeClr val="tx2"/>
                </a:solidFill>
                <a:latin typeface="Lucida Sans Unicode" panose="020B0602030504020204" pitchFamily="34" charset="0"/>
              </a:rPr>
              <a:t>项目式项目组织结构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7764"/>
                                        </p:tgtEl>
                                        <p:attrNameLst>
                                          <p:attrName>style.visibility</p:attrName>
                                        </p:attrNameLst>
                                      </p:cBhvr>
                                      <p:to>
                                        <p:strVal val="visible"/>
                                      </p:to>
                                    </p:set>
                                    <p:animEffect transition="in" filter="fade">
                                      <p:cBhvr>
                                        <p:cTn id="7" dur="1000"/>
                                        <p:tgtEl>
                                          <p:spTgt spid="117764"/>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17765"/>
                                        </p:tgtEl>
                                        <p:attrNameLst>
                                          <p:attrName>style.visibility</p:attrName>
                                        </p:attrNameLst>
                                      </p:cBhvr>
                                      <p:to>
                                        <p:strVal val="visible"/>
                                      </p:to>
                                    </p:set>
                                    <p:animEffect transition="in" filter="fade">
                                      <p:cBhvr>
                                        <p:cTn id="11" dur="1000"/>
                                        <p:tgtEl>
                                          <p:spTgt spid="117765"/>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17766"/>
                                        </p:tgtEl>
                                        <p:attrNameLst>
                                          <p:attrName>style.visibility</p:attrName>
                                        </p:attrNameLst>
                                      </p:cBhvr>
                                      <p:to>
                                        <p:strVal val="visible"/>
                                      </p:to>
                                    </p:set>
                                    <p:animEffect transition="in" filter="fade">
                                      <p:cBhvr>
                                        <p:cTn id="15" dur="2000"/>
                                        <p:tgtEl>
                                          <p:spTgt spid="117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4" grpId="0" animBg="1"/>
      <p:bldP spid="11776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E91B2AA8-E9B5-44E1-98DD-0A31D5FD35B1}"/>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21861" name="Rectangle 5">
            <a:extLst>
              <a:ext uri="{FF2B5EF4-FFF2-40B4-BE49-F238E27FC236}">
                <a16:creationId xmlns:a16="http://schemas.microsoft.com/office/drawing/2014/main" id="{D475BFB4-E605-4B0A-B3A4-4F412E3CFFA3}"/>
              </a:ext>
            </a:extLst>
          </p:cNvPr>
          <p:cNvSpPr>
            <a:spLocks noChangeArrowheads="1"/>
          </p:cNvSpPr>
          <p:nvPr/>
        </p:nvSpPr>
        <p:spPr bwMode="gray">
          <a:xfrm>
            <a:off x="1042988" y="1484313"/>
            <a:ext cx="7129462" cy="641350"/>
          </a:xfrm>
          <a:prstGeom prst="rect">
            <a:avLst/>
          </a:prstGeom>
          <a:solidFill>
            <a:schemeClr val="accent1">
              <a:alpha val="72156"/>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Lucida Sans Unicode" panose="020B0602030504020204" pitchFamily="34" charset="0"/>
              </a:rPr>
              <a:t>在复杂的工程项目中，项目式组织中往往还设置独立的职能部门，这些部门直接向项目经理汇报，同时企业还可能设置职能经理。</a:t>
            </a:r>
          </a:p>
        </p:txBody>
      </p:sp>
      <p:pic>
        <p:nvPicPr>
          <p:cNvPr id="121862" name="Picture 6" descr="Fig">
            <a:extLst>
              <a:ext uri="{FF2B5EF4-FFF2-40B4-BE49-F238E27FC236}">
                <a16:creationId xmlns:a16="http://schemas.microsoft.com/office/drawing/2014/main" id="{EC53BD5E-0AE3-4F03-AB71-2AE2CA6F6ABA}"/>
              </a:ext>
            </a:extLst>
          </p:cNvPr>
          <p:cNvPicPr>
            <a:picLocks noChangeAspect="1" noChangeArrowheads="1"/>
          </p:cNvPicPr>
          <p:nvPr/>
        </p:nvPicPr>
        <p:blipFill>
          <a:blip r:embed="rId2">
            <a:lum bright="-48000" contrast="48000"/>
            <a:extLst>
              <a:ext uri="{28A0092B-C50C-407E-A947-70E740481C1C}">
                <a14:useLocalDpi xmlns:a14="http://schemas.microsoft.com/office/drawing/2010/main" val="0"/>
              </a:ext>
            </a:extLst>
          </a:blip>
          <a:srcRect/>
          <a:stretch>
            <a:fillRect/>
          </a:stretch>
        </p:blipFill>
        <p:spPr bwMode="auto">
          <a:xfrm>
            <a:off x="36513" y="2205038"/>
            <a:ext cx="91440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3" name="Rectangle 7">
            <a:extLst>
              <a:ext uri="{FF2B5EF4-FFF2-40B4-BE49-F238E27FC236}">
                <a16:creationId xmlns:a16="http://schemas.microsoft.com/office/drawing/2014/main" id="{4250A0B5-6443-44AC-A356-44CBA1AC12DE}"/>
              </a:ext>
            </a:extLst>
          </p:cNvPr>
          <p:cNvSpPr>
            <a:spLocks noChangeArrowheads="1"/>
          </p:cNvSpPr>
          <p:nvPr/>
        </p:nvSpPr>
        <p:spPr bwMode="gray">
          <a:xfrm>
            <a:off x="2762250" y="5876925"/>
            <a:ext cx="4041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80000"/>
              </a:lnSpc>
              <a:spcBef>
                <a:spcPct val="20000"/>
              </a:spcBef>
            </a:pPr>
            <a:r>
              <a:rPr lang="en-US" altLang="zh-CN" sz="1600" i="1">
                <a:solidFill>
                  <a:schemeClr val="tx2"/>
                </a:solidFill>
                <a:latin typeface="Lucida Sans Unicode" panose="020B0602030504020204" pitchFamily="34" charset="0"/>
              </a:rPr>
              <a:t>Fig.  </a:t>
            </a:r>
            <a:r>
              <a:rPr lang="zh-CN" altLang="en-US" sz="1600" i="1">
                <a:solidFill>
                  <a:schemeClr val="tx2"/>
                </a:solidFill>
                <a:latin typeface="Lucida Sans Unicode" panose="020B0602030504020204" pitchFamily="34" charset="0"/>
              </a:rPr>
              <a:t>设置职能部门的项目式组织结构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1861"/>
                                        </p:tgtEl>
                                        <p:attrNameLst>
                                          <p:attrName>style.visibility</p:attrName>
                                        </p:attrNameLst>
                                      </p:cBhvr>
                                      <p:to>
                                        <p:strVal val="visible"/>
                                      </p:to>
                                    </p:set>
                                    <p:animEffect transition="in" filter="fade">
                                      <p:cBhvr>
                                        <p:cTn id="7" dur="1000"/>
                                        <p:tgtEl>
                                          <p:spTgt spid="121861"/>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1862"/>
                                        </p:tgtEl>
                                        <p:attrNameLst>
                                          <p:attrName>style.visibility</p:attrName>
                                        </p:attrNameLst>
                                      </p:cBhvr>
                                      <p:to>
                                        <p:strVal val="visible"/>
                                      </p:to>
                                    </p:set>
                                    <p:animEffect transition="in" filter="fade">
                                      <p:cBhvr>
                                        <p:cTn id="11" dur="2000"/>
                                        <p:tgtEl>
                                          <p:spTgt spid="121862"/>
                                        </p:tgtEl>
                                      </p:cBhvr>
                                    </p:animEffect>
                                  </p:childTnLst>
                                </p:cTn>
                              </p:par>
                            </p:childTnLst>
                          </p:cTn>
                        </p:par>
                        <p:par>
                          <p:cTn id="12" fill="hold" nodeType="afterGroup">
                            <p:stCondLst>
                              <p:cond delay="3000"/>
                            </p:stCondLst>
                            <p:childTnLst>
                              <p:par>
                                <p:cTn id="13" presetID="10" presetClass="entr" presetSubtype="0" fill="hold" grpId="0" nodeType="afterEffect">
                                  <p:stCondLst>
                                    <p:cond delay="0"/>
                                  </p:stCondLst>
                                  <p:childTnLst>
                                    <p:set>
                                      <p:cBhvr>
                                        <p:cTn id="14" dur="1" fill="hold">
                                          <p:stCondLst>
                                            <p:cond delay="0"/>
                                          </p:stCondLst>
                                        </p:cTn>
                                        <p:tgtEl>
                                          <p:spTgt spid="121863"/>
                                        </p:tgtEl>
                                        <p:attrNameLst>
                                          <p:attrName>style.visibility</p:attrName>
                                        </p:attrNameLst>
                                      </p:cBhvr>
                                      <p:to>
                                        <p:strVal val="visible"/>
                                      </p:to>
                                    </p:set>
                                    <p:animEffect transition="in" filter="fade">
                                      <p:cBhvr>
                                        <p:cTn id="15" dur="2000"/>
                                        <p:tgtEl>
                                          <p:spTgt spid="121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1" grpId="0" animBg="1"/>
      <p:bldP spid="12186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Oval 4">
            <a:extLst>
              <a:ext uri="{FF2B5EF4-FFF2-40B4-BE49-F238E27FC236}">
                <a16:creationId xmlns:a16="http://schemas.microsoft.com/office/drawing/2014/main" id="{C6459DA0-18D2-400A-BF5E-4FDEFA7B1A64}"/>
              </a:ext>
            </a:extLst>
          </p:cNvPr>
          <p:cNvSpPr>
            <a:spLocks noChangeArrowheads="1"/>
          </p:cNvSpPr>
          <p:nvPr/>
        </p:nvSpPr>
        <p:spPr bwMode="gray">
          <a:xfrm>
            <a:off x="2889250" y="2206625"/>
            <a:ext cx="2946400"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19459" name="Group 5">
            <a:extLst>
              <a:ext uri="{FF2B5EF4-FFF2-40B4-BE49-F238E27FC236}">
                <a16:creationId xmlns:a16="http://schemas.microsoft.com/office/drawing/2014/main" id="{F89C50C1-EFFF-43B9-ACC0-398BE81CA02A}"/>
              </a:ext>
            </a:extLst>
          </p:cNvPr>
          <p:cNvGrpSpPr>
            <a:grpSpLocks/>
          </p:cNvGrpSpPr>
          <p:nvPr/>
        </p:nvGrpSpPr>
        <p:grpSpPr bwMode="auto">
          <a:xfrm>
            <a:off x="3611563" y="2897188"/>
            <a:ext cx="1500187" cy="1485900"/>
            <a:chOff x="2016" y="1920"/>
            <a:chExt cx="1680" cy="1680"/>
          </a:xfrm>
        </p:grpSpPr>
        <p:sp>
          <p:nvSpPr>
            <p:cNvPr id="19528" name="Oval 6">
              <a:extLst>
                <a:ext uri="{FF2B5EF4-FFF2-40B4-BE49-F238E27FC236}">
                  <a16:creationId xmlns:a16="http://schemas.microsoft.com/office/drawing/2014/main" id="{FAC2DD3D-A81B-4001-AF38-C1A6A9C58559}"/>
                </a:ext>
              </a:extLst>
            </p:cNvPr>
            <p:cNvSpPr>
              <a:spLocks noChangeArrowheads="1"/>
            </p:cNvSpPr>
            <p:nvPr/>
          </p:nvSpPr>
          <p:spPr bwMode="gray">
            <a:xfrm>
              <a:off x="2016" y="1920"/>
              <a:ext cx="1680" cy="168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9529" name="Freeform 7">
              <a:extLst>
                <a:ext uri="{FF2B5EF4-FFF2-40B4-BE49-F238E27FC236}">
                  <a16:creationId xmlns:a16="http://schemas.microsoft.com/office/drawing/2014/main" id="{EFC4437C-7CEC-4858-94DE-D950164D2927}"/>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888" name="Text Box 8">
            <a:extLst>
              <a:ext uri="{FF2B5EF4-FFF2-40B4-BE49-F238E27FC236}">
                <a16:creationId xmlns:a16="http://schemas.microsoft.com/office/drawing/2014/main" id="{3FE46A3C-7B4D-4705-AEF8-34A6CEB37FD4}"/>
              </a:ext>
            </a:extLst>
          </p:cNvPr>
          <p:cNvSpPr txBox="1">
            <a:spLocks noChangeArrowheads="1"/>
          </p:cNvSpPr>
          <p:nvPr/>
        </p:nvSpPr>
        <p:spPr bwMode="gray">
          <a:xfrm>
            <a:off x="3992563" y="3462338"/>
            <a:ext cx="796925" cy="457200"/>
          </a:xfrm>
          <a:prstGeom prst="rect">
            <a:avLst/>
          </a:prstGeom>
          <a:noFill/>
          <a:ln w="9525">
            <a:noFill/>
            <a:miter lim="800000"/>
            <a:headEnd/>
            <a:tailEnd/>
          </a:ln>
          <a:effectLst/>
        </p:spPr>
        <p:txBody>
          <a:bodyPr wrap="none">
            <a:spAutoFit/>
          </a:bodyPr>
          <a:lstStyle/>
          <a:p>
            <a:pPr eaLnBrk="0" fontAlgn="auto" hangingPunct="0">
              <a:spcBef>
                <a:spcPts val="0"/>
              </a:spcBef>
              <a:spcAft>
                <a:spcPts val="0"/>
              </a:spcAft>
              <a:defRPr/>
            </a:pPr>
            <a:r>
              <a:rPr lang="zh-CN" altLang="en-US" sz="2400">
                <a:solidFill>
                  <a:schemeClr val="tx2"/>
                </a:solidFill>
                <a:effectLst>
                  <a:outerShdw blurRad="38100" dist="38100" dir="2700000" algn="tl">
                    <a:srgbClr val="C0C0C0"/>
                  </a:outerShdw>
                </a:effectLst>
              </a:rPr>
              <a:t>优点</a:t>
            </a:r>
          </a:p>
        </p:txBody>
      </p:sp>
      <p:grpSp>
        <p:nvGrpSpPr>
          <p:cNvPr id="3" name="Group 84">
            <a:extLst>
              <a:ext uri="{FF2B5EF4-FFF2-40B4-BE49-F238E27FC236}">
                <a16:creationId xmlns:a16="http://schemas.microsoft.com/office/drawing/2014/main" id="{A38F21B7-913B-4D4E-AB32-7BAE13746DBC}"/>
              </a:ext>
            </a:extLst>
          </p:cNvPr>
          <p:cNvGrpSpPr>
            <a:grpSpLocks/>
          </p:cNvGrpSpPr>
          <p:nvPr/>
        </p:nvGrpSpPr>
        <p:grpSpPr bwMode="auto">
          <a:xfrm>
            <a:off x="900113" y="2897188"/>
            <a:ext cx="2644775" cy="509587"/>
            <a:chOff x="567" y="1825"/>
            <a:chExt cx="1666" cy="321"/>
          </a:xfrm>
        </p:grpSpPr>
        <p:grpSp>
          <p:nvGrpSpPr>
            <p:cNvPr id="19519" name="Group 10">
              <a:extLst>
                <a:ext uri="{FF2B5EF4-FFF2-40B4-BE49-F238E27FC236}">
                  <a16:creationId xmlns:a16="http://schemas.microsoft.com/office/drawing/2014/main" id="{60739DD1-49B0-4DD1-8A0D-C2D3EF9A0C34}"/>
                </a:ext>
              </a:extLst>
            </p:cNvPr>
            <p:cNvGrpSpPr>
              <a:grpSpLocks/>
            </p:cNvGrpSpPr>
            <p:nvPr/>
          </p:nvGrpSpPr>
          <p:grpSpPr bwMode="auto">
            <a:xfrm>
              <a:off x="1715" y="1825"/>
              <a:ext cx="315" cy="321"/>
              <a:chOff x="1488" y="1968"/>
              <a:chExt cx="432" cy="461"/>
            </a:xfrm>
          </p:grpSpPr>
          <p:grpSp>
            <p:nvGrpSpPr>
              <p:cNvPr id="19524" name="Group 11">
                <a:extLst>
                  <a:ext uri="{FF2B5EF4-FFF2-40B4-BE49-F238E27FC236}">
                    <a16:creationId xmlns:a16="http://schemas.microsoft.com/office/drawing/2014/main" id="{CB0C7546-461F-4F74-A519-2146C6B73923}"/>
                  </a:ext>
                </a:extLst>
              </p:cNvPr>
              <p:cNvGrpSpPr>
                <a:grpSpLocks/>
              </p:cNvGrpSpPr>
              <p:nvPr/>
            </p:nvGrpSpPr>
            <p:grpSpPr bwMode="auto">
              <a:xfrm>
                <a:off x="1488" y="1968"/>
                <a:ext cx="432" cy="432"/>
                <a:chOff x="2016" y="1920"/>
                <a:chExt cx="1680" cy="1680"/>
              </a:xfrm>
            </p:grpSpPr>
            <p:sp>
              <p:nvSpPr>
                <p:cNvPr id="122892" name="Oval 12">
                  <a:extLst>
                    <a:ext uri="{FF2B5EF4-FFF2-40B4-BE49-F238E27FC236}">
                      <a16:creationId xmlns:a16="http://schemas.microsoft.com/office/drawing/2014/main" id="{28DEBB4E-1889-441B-9370-AF30F91B077A}"/>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527" name="Freeform 13">
                  <a:extLst>
                    <a:ext uri="{FF2B5EF4-FFF2-40B4-BE49-F238E27FC236}">
                      <a16:creationId xmlns:a16="http://schemas.microsoft.com/office/drawing/2014/main" id="{D738AEA7-2E56-465B-A719-DF003B2FD873}"/>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894" name="Text Box 14">
                <a:extLst>
                  <a:ext uri="{FF2B5EF4-FFF2-40B4-BE49-F238E27FC236}">
                    <a16:creationId xmlns:a16="http://schemas.microsoft.com/office/drawing/2014/main" id="{949DAF1E-E1F6-4D97-B5FF-B77DFD53C903}"/>
                  </a:ext>
                </a:extLst>
              </p:cNvPr>
              <p:cNvSpPr txBox="1">
                <a:spLocks noChangeArrowheads="1"/>
              </p:cNvSpPr>
              <p:nvPr/>
            </p:nvSpPr>
            <p:spPr bwMode="gray">
              <a:xfrm>
                <a:off x="1540" y="2015"/>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7</a:t>
                </a:r>
              </a:p>
            </p:txBody>
          </p:sp>
        </p:grpSp>
        <p:grpSp>
          <p:nvGrpSpPr>
            <p:cNvPr id="19520" name="Group 15">
              <a:extLst>
                <a:ext uri="{FF2B5EF4-FFF2-40B4-BE49-F238E27FC236}">
                  <a16:creationId xmlns:a16="http://schemas.microsoft.com/office/drawing/2014/main" id="{B268D2CA-EE63-427E-9970-C31EFAAAE08F}"/>
                </a:ext>
              </a:extLst>
            </p:cNvPr>
            <p:cNvGrpSpPr>
              <a:grpSpLocks/>
            </p:cNvGrpSpPr>
            <p:nvPr/>
          </p:nvGrpSpPr>
          <p:grpSpPr bwMode="auto">
            <a:xfrm>
              <a:off x="2064" y="2025"/>
              <a:ext cx="169" cy="91"/>
              <a:chOff x="2016" y="2304"/>
              <a:chExt cx="231" cy="130"/>
            </a:xfrm>
          </p:grpSpPr>
          <p:sp>
            <p:nvSpPr>
              <p:cNvPr id="122896" name="Oval 16">
                <a:extLst>
                  <a:ext uri="{FF2B5EF4-FFF2-40B4-BE49-F238E27FC236}">
                    <a16:creationId xmlns:a16="http://schemas.microsoft.com/office/drawing/2014/main" id="{7B29ABA0-1BD8-4A2F-AA11-6757FA43587F}"/>
                  </a:ext>
                </a:extLst>
              </p:cNvPr>
              <p:cNvSpPr>
                <a:spLocks noChangeArrowheads="1"/>
              </p:cNvSpPr>
              <p:nvPr/>
            </p:nvSpPr>
            <p:spPr bwMode="gray">
              <a:xfrm rot="18227093">
                <a:off x="2019" y="2301"/>
                <a:ext cx="81"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897" name="Oval 17">
                <a:extLst>
                  <a:ext uri="{FF2B5EF4-FFF2-40B4-BE49-F238E27FC236}">
                    <a16:creationId xmlns:a16="http://schemas.microsoft.com/office/drawing/2014/main" id="{E14E0E4F-B524-4D3E-8A6E-A3A3E3D3F8E5}"/>
                  </a:ext>
                </a:extLst>
              </p:cNvPr>
              <p:cNvSpPr>
                <a:spLocks noChangeArrowheads="1"/>
              </p:cNvSpPr>
              <p:nvPr/>
            </p:nvSpPr>
            <p:spPr bwMode="gray">
              <a:xfrm rot="18227093">
                <a:off x="2163" y="2350"/>
                <a:ext cx="81" cy="87"/>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sp>
          <p:nvSpPr>
            <p:cNvPr id="19521" name="Text Box 18">
              <a:extLst>
                <a:ext uri="{FF2B5EF4-FFF2-40B4-BE49-F238E27FC236}">
                  <a16:creationId xmlns:a16="http://schemas.microsoft.com/office/drawing/2014/main" id="{5B41A87F-C974-472B-A8B5-7687E819538B}"/>
                </a:ext>
              </a:extLst>
            </p:cNvPr>
            <p:cNvSpPr txBox="1">
              <a:spLocks noChangeArrowheads="1"/>
            </p:cNvSpPr>
            <p:nvPr/>
          </p:nvSpPr>
          <p:spPr bwMode="gray">
            <a:xfrm>
              <a:off x="567" y="1842"/>
              <a:ext cx="11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命令来源唯一</a:t>
              </a:r>
              <a:endParaRPr lang="en-US" altLang="zh-CN">
                <a:solidFill>
                  <a:schemeClr val="tx2"/>
                </a:solidFill>
                <a:latin typeface="Lucida Sans Unicode" panose="020B0602030504020204" pitchFamily="34" charset="0"/>
              </a:endParaRPr>
            </a:p>
          </p:txBody>
        </p:sp>
      </p:grpSp>
      <p:grpSp>
        <p:nvGrpSpPr>
          <p:cNvPr id="7" name="Group 86">
            <a:extLst>
              <a:ext uri="{FF2B5EF4-FFF2-40B4-BE49-F238E27FC236}">
                <a16:creationId xmlns:a16="http://schemas.microsoft.com/office/drawing/2014/main" id="{5CB7DDD3-39F7-4BCD-A217-93EB0930D16C}"/>
              </a:ext>
            </a:extLst>
          </p:cNvPr>
          <p:cNvGrpSpPr>
            <a:grpSpLocks/>
          </p:cNvGrpSpPr>
          <p:nvPr/>
        </p:nvGrpSpPr>
        <p:grpSpPr bwMode="auto">
          <a:xfrm>
            <a:off x="1862138" y="1412875"/>
            <a:ext cx="3502025" cy="1435100"/>
            <a:chOff x="1173" y="890"/>
            <a:chExt cx="2206" cy="904"/>
          </a:xfrm>
        </p:grpSpPr>
        <p:grpSp>
          <p:nvGrpSpPr>
            <p:cNvPr id="19511" name="Group 21">
              <a:extLst>
                <a:ext uri="{FF2B5EF4-FFF2-40B4-BE49-F238E27FC236}">
                  <a16:creationId xmlns:a16="http://schemas.microsoft.com/office/drawing/2014/main" id="{01F1A94F-6BFC-4619-852E-A13CEB215FDD}"/>
                </a:ext>
              </a:extLst>
            </p:cNvPr>
            <p:cNvGrpSpPr>
              <a:grpSpLocks/>
            </p:cNvGrpSpPr>
            <p:nvPr/>
          </p:nvGrpSpPr>
          <p:grpSpPr bwMode="auto">
            <a:xfrm>
              <a:off x="2293" y="1283"/>
              <a:ext cx="315" cy="289"/>
              <a:chOff x="2016" y="1920"/>
              <a:chExt cx="1680" cy="1680"/>
            </a:xfrm>
          </p:grpSpPr>
          <p:sp>
            <p:nvSpPr>
              <p:cNvPr id="122902" name="Oval 22">
                <a:extLst>
                  <a:ext uri="{FF2B5EF4-FFF2-40B4-BE49-F238E27FC236}">
                    <a16:creationId xmlns:a16="http://schemas.microsoft.com/office/drawing/2014/main" id="{7963AB27-3EF1-4370-AAAE-54B698C9B2AE}"/>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518" name="Freeform 23">
                <a:extLst>
                  <a:ext uri="{FF2B5EF4-FFF2-40B4-BE49-F238E27FC236}">
                    <a16:creationId xmlns:a16="http://schemas.microsoft.com/office/drawing/2014/main" id="{1607A21A-F5A5-4759-92ED-93C210848338}"/>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grpSp>
          <p:nvGrpSpPr>
            <p:cNvPr id="19512" name="Group 85">
              <a:extLst>
                <a:ext uri="{FF2B5EF4-FFF2-40B4-BE49-F238E27FC236}">
                  <a16:creationId xmlns:a16="http://schemas.microsoft.com/office/drawing/2014/main" id="{8A33FADE-6C49-4E94-BF34-770251860A48}"/>
                </a:ext>
              </a:extLst>
            </p:cNvPr>
            <p:cNvGrpSpPr>
              <a:grpSpLocks/>
            </p:cNvGrpSpPr>
            <p:nvPr/>
          </p:nvGrpSpPr>
          <p:grpSpPr bwMode="auto">
            <a:xfrm>
              <a:off x="1173" y="890"/>
              <a:ext cx="2206" cy="904"/>
              <a:chOff x="1173" y="890"/>
              <a:chExt cx="2206" cy="904"/>
            </a:xfrm>
          </p:grpSpPr>
          <p:sp>
            <p:nvSpPr>
              <p:cNvPr id="122904" name="Text Box 24">
                <a:extLst>
                  <a:ext uri="{FF2B5EF4-FFF2-40B4-BE49-F238E27FC236}">
                    <a16:creationId xmlns:a16="http://schemas.microsoft.com/office/drawing/2014/main" id="{BC32AC01-78FB-43B9-AB20-4CBB6D5E4D66}"/>
                  </a:ext>
                </a:extLst>
              </p:cNvPr>
              <p:cNvSpPr txBox="1">
                <a:spLocks noChangeArrowheads="1"/>
              </p:cNvSpPr>
              <p:nvPr/>
            </p:nvSpPr>
            <p:spPr bwMode="gray">
              <a:xfrm>
                <a:off x="2330" y="1328"/>
                <a:ext cx="253" cy="28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1</a:t>
                </a:r>
              </a:p>
            </p:txBody>
          </p:sp>
          <p:sp>
            <p:nvSpPr>
              <p:cNvPr id="122906" name="Oval 26">
                <a:extLst>
                  <a:ext uri="{FF2B5EF4-FFF2-40B4-BE49-F238E27FC236}">
                    <a16:creationId xmlns:a16="http://schemas.microsoft.com/office/drawing/2014/main" id="{937D5BFF-22CD-46F8-9E96-D9AC61E34315}"/>
                  </a:ext>
                </a:extLst>
              </p:cNvPr>
              <p:cNvSpPr>
                <a:spLocks noChangeArrowheads="1"/>
              </p:cNvSpPr>
              <p:nvPr/>
            </p:nvSpPr>
            <p:spPr bwMode="gray">
              <a:xfrm rot="16414109">
                <a:off x="2515" y="1627"/>
                <a:ext cx="57" cy="64"/>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07" name="Oval 27">
                <a:extLst>
                  <a:ext uri="{FF2B5EF4-FFF2-40B4-BE49-F238E27FC236}">
                    <a16:creationId xmlns:a16="http://schemas.microsoft.com/office/drawing/2014/main" id="{2F8D49DA-98A3-4CC8-868A-C6F26285AFA7}"/>
                  </a:ext>
                </a:extLst>
              </p:cNvPr>
              <p:cNvSpPr>
                <a:spLocks noChangeArrowheads="1"/>
              </p:cNvSpPr>
              <p:nvPr/>
            </p:nvSpPr>
            <p:spPr bwMode="gray">
              <a:xfrm rot="16414109">
                <a:off x="2578" y="1734"/>
                <a:ext cx="57" cy="64"/>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516" name="Text Box 28">
                <a:extLst>
                  <a:ext uri="{FF2B5EF4-FFF2-40B4-BE49-F238E27FC236}">
                    <a16:creationId xmlns:a16="http://schemas.microsoft.com/office/drawing/2014/main" id="{BB83C501-DD84-4C8E-88B4-AA63194A5D08}"/>
                  </a:ext>
                </a:extLst>
              </p:cNvPr>
              <p:cNvSpPr txBox="1">
                <a:spLocks noChangeArrowheads="1"/>
              </p:cNvSpPr>
              <p:nvPr/>
            </p:nvSpPr>
            <p:spPr bwMode="gray">
              <a:xfrm>
                <a:off x="1173" y="890"/>
                <a:ext cx="22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项目经理对项目全权负责</a:t>
                </a:r>
                <a:endParaRPr lang="en-US" altLang="zh-CN">
                  <a:solidFill>
                    <a:schemeClr val="tx2"/>
                  </a:solidFill>
                  <a:latin typeface="Lucida Sans Unicode" panose="020B0602030504020204" pitchFamily="34" charset="0"/>
                </a:endParaRPr>
              </a:p>
            </p:txBody>
          </p:sp>
        </p:grpSp>
      </p:grpSp>
      <p:grpSp>
        <p:nvGrpSpPr>
          <p:cNvPr id="10" name="Group 83">
            <a:extLst>
              <a:ext uri="{FF2B5EF4-FFF2-40B4-BE49-F238E27FC236}">
                <a16:creationId xmlns:a16="http://schemas.microsoft.com/office/drawing/2014/main" id="{C868F209-237A-41B9-8513-B86EE7BBE229}"/>
              </a:ext>
            </a:extLst>
          </p:cNvPr>
          <p:cNvGrpSpPr>
            <a:grpSpLocks/>
          </p:cNvGrpSpPr>
          <p:nvPr/>
        </p:nvGrpSpPr>
        <p:grpSpPr bwMode="auto">
          <a:xfrm>
            <a:off x="323850" y="4076700"/>
            <a:ext cx="3330575" cy="1406525"/>
            <a:chOff x="204" y="2568"/>
            <a:chExt cx="2098" cy="886"/>
          </a:xfrm>
        </p:grpSpPr>
        <p:grpSp>
          <p:nvGrpSpPr>
            <p:cNvPr id="19502" name="Group 30">
              <a:extLst>
                <a:ext uri="{FF2B5EF4-FFF2-40B4-BE49-F238E27FC236}">
                  <a16:creationId xmlns:a16="http://schemas.microsoft.com/office/drawing/2014/main" id="{41F74E75-52ED-4B49-8F78-6E1459E4ED83}"/>
                </a:ext>
              </a:extLst>
            </p:cNvPr>
            <p:cNvGrpSpPr>
              <a:grpSpLocks/>
            </p:cNvGrpSpPr>
            <p:nvPr/>
          </p:nvGrpSpPr>
          <p:grpSpPr bwMode="auto">
            <a:xfrm>
              <a:off x="2155" y="2568"/>
              <a:ext cx="147" cy="123"/>
              <a:chOff x="2236" y="3191"/>
              <a:chExt cx="201" cy="176"/>
            </a:xfrm>
          </p:grpSpPr>
          <p:sp>
            <p:nvSpPr>
              <p:cNvPr id="122911" name="Oval 31">
                <a:extLst>
                  <a:ext uri="{FF2B5EF4-FFF2-40B4-BE49-F238E27FC236}">
                    <a16:creationId xmlns:a16="http://schemas.microsoft.com/office/drawing/2014/main" id="{2E25000F-D57D-45EB-83AF-72F946CF09AF}"/>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12" name="Oval 32">
                <a:extLst>
                  <a:ext uri="{FF2B5EF4-FFF2-40B4-BE49-F238E27FC236}">
                    <a16:creationId xmlns:a16="http://schemas.microsoft.com/office/drawing/2014/main" id="{BB7005C7-8782-4812-8F14-B1CBD612C169}"/>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nvGrpSpPr>
            <p:cNvPr id="19503" name="Group 33">
              <a:extLst>
                <a:ext uri="{FF2B5EF4-FFF2-40B4-BE49-F238E27FC236}">
                  <a16:creationId xmlns:a16="http://schemas.microsoft.com/office/drawing/2014/main" id="{E82514EF-800A-4C46-99DC-747FFA688658}"/>
                </a:ext>
              </a:extLst>
            </p:cNvPr>
            <p:cNvGrpSpPr>
              <a:grpSpLocks/>
            </p:cNvGrpSpPr>
            <p:nvPr/>
          </p:nvGrpSpPr>
          <p:grpSpPr bwMode="auto">
            <a:xfrm>
              <a:off x="1792" y="2659"/>
              <a:ext cx="316" cy="344"/>
              <a:chOff x="1824" y="3357"/>
              <a:chExt cx="432" cy="494"/>
            </a:xfrm>
          </p:grpSpPr>
          <p:grpSp>
            <p:nvGrpSpPr>
              <p:cNvPr id="19505" name="Group 34">
                <a:extLst>
                  <a:ext uri="{FF2B5EF4-FFF2-40B4-BE49-F238E27FC236}">
                    <a16:creationId xmlns:a16="http://schemas.microsoft.com/office/drawing/2014/main" id="{2D68CC12-5074-4FA8-AA60-3E0AAB7F1CC9}"/>
                  </a:ext>
                </a:extLst>
              </p:cNvPr>
              <p:cNvGrpSpPr>
                <a:grpSpLocks/>
              </p:cNvGrpSpPr>
              <p:nvPr/>
            </p:nvGrpSpPr>
            <p:grpSpPr bwMode="auto">
              <a:xfrm>
                <a:off x="1824" y="3357"/>
                <a:ext cx="432" cy="432"/>
                <a:chOff x="2016" y="1920"/>
                <a:chExt cx="1680" cy="1680"/>
              </a:xfrm>
            </p:grpSpPr>
            <p:sp>
              <p:nvSpPr>
                <p:cNvPr id="122915" name="Oval 35">
                  <a:extLst>
                    <a:ext uri="{FF2B5EF4-FFF2-40B4-BE49-F238E27FC236}">
                      <a16:creationId xmlns:a16="http://schemas.microsoft.com/office/drawing/2014/main" id="{85539265-3511-4430-B3B4-DD8D843A7243}"/>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508" name="Freeform 36">
                  <a:extLst>
                    <a:ext uri="{FF2B5EF4-FFF2-40B4-BE49-F238E27FC236}">
                      <a16:creationId xmlns:a16="http://schemas.microsoft.com/office/drawing/2014/main" id="{6F73696E-6104-4EBA-95AD-88ABCF036094}"/>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917" name="Text Box 37">
                <a:extLst>
                  <a:ext uri="{FF2B5EF4-FFF2-40B4-BE49-F238E27FC236}">
                    <a16:creationId xmlns:a16="http://schemas.microsoft.com/office/drawing/2014/main" id="{0C4CF52F-A710-470F-B987-D5173A4136A1}"/>
                  </a:ext>
                </a:extLst>
              </p:cNvPr>
              <p:cNvSpPr txBox="1">
                <a:spLocks noChangeArrowheads="1"/>
              </p:cNvSpPr>
              <p:nvPr/>
            </p:nvSpPr>
            <p:spPr bwMode="gray">
              <a:xfrm>
                <a:off x="1862" y="3437"/>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6</a:t>
                </a:r>
              </a:p>
            </p:txBody>
          </p:sp>
        </p:grpSp>
        <p:sp>
          <p:nvSpPr>
            <p:cNvPr id="19504" name="Text Box 38">
              <a:extLst>
                <a:ext uri="{FF2B5EF4-FFF2-40B4-BE49-F238E27FC236}">
                  <a16:creationId xmlns:a16="http://schemas.microsoft.com/office/drawing/2014/main" id="{8A7E0F40-10D3-4D65-8D8B-49E968537489}"/>
                </a:ext>
              </a:extLst>
            </p:cNvPr>
            <p:cNvSpPr txBox="1">
              <a:spLocks noChangeArrowheads="1"/>
            </p:cNvSpPr>
            <p:nvPr/>
          </p:nvSpPr>
          <p:spPr bwMode="gray">
            <a:xfrm>
              <a:off x="204" y="2704"/>
              <a:ext cx="1555"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权力集中使决策速度加快，能对客户需求和高层管理意图作出快速响应</a:t>
              </a:r>
              <a:endParaRPr lang="en-US" altLang="zh-CN">
                <a:solidFill>
                  <a:schemeClr val="tx2"/>
                </a:solidFill>
                <a:latin typeface="Lucida Sans Unicode" panose="020B0602030504020204" pitchFamily="34" charset="0"/>
              </a:endParaRPr>
            </a:p>
          </p:txBody>
        </p:sp>
      </p:grpSp>
      <p:grpSp>
        <p:nvGrpSpPr>
          <p:cNvPr id="14" name="Group 81">
            <a:extLst>
              <a:ext uri="{FF2B5EF4-FFF2-40B4-BE49-F238E27FC236}">
                <a16:creationId xmlns:a16="http://schemas.microsoft.com/office/drawing/2014/main" id="{BBB32E92-6E50-44D6-85AC-C5C341F4A1E2}"/>
              </a:ext>
            </a:extLst>
          </p:cNvPr>
          <p:cNvGrpSpPr>
            <a:grpSpLocks/>
          </p:cNvGrpSpPr>
          <p:nvPr/>
        </p:nvGrpSpPr>
        <p:grpSpPr bwMode="auto">
          <a:xfrm>
            <a:off x="4976813" y="4203700"/>
            <a:ext cx="3698875" cy="1004888"/>
            <a:chOff x="3135" y="2648"/>
            <a:chExt cx="2330" cy="633"/>
          </a:xfrm>
        </p:grpSpPr>
        <p:sp>
          <p:nvSpPr>
            <p:cNvPr id="122920" name="Oval 40">
              <a:extLst>
                <a:ext uri="{FF2B5EF4-FFF2-40B4-BE49-F238E27FC236}">
                  <a16:creationId xmlns:a16="http://schemas.microsoft.com/office/drawing/2014/main" id="{CA19EFD9-F422-4348-8796-9E24651CD7F8}"/>
                </a:ext>
              </a:extLst>
            </p:cNvPr>
            <p:cNvSpPr>
              <a:spLocks noChangeArrowheads="1"/>
            </p:cNvSpPr>
            <p:nvPr/>
          </p:nvSpPr>
          <p:spPr bwMode="gray">
            <a:xfrm rot="18227093">
              <a:off x="3246" y="2702"/>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21" name="Oval 41">
              <a:extLst>
                <a:ext uri="{FF2B5EF4-FFF2-40B4-BE49-F238E27FC236}">
                  <a16:creationId xmlns:a16="http://schemas.microsoft.com/office/drawing/2014/main" id="{AFEF6E62-F368-42D7-A0EE-A84A8C48F3E8}"/>
                </a:ext>
              </a:extLst>
            </p:cNvPr>
            <p:cNvSpPr>
              <a:spLocks noChangeArrowheads="1"/>
            </p:cNvSpPr>
            <p:nvPr/>
          </p:nvSpPr>
          <p:spPr bwMode="gray">
            <a:xfrm rot="18227093">
              <a:off x="3138" y="2645"/>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19496" name="Group 42">
              <a:extLst>
                <a:ext uri="{FF2B5EF4-FFF2-40B4-BE49-F238E27FC236}">
                  <a16:creationId xmlns:a16="http://schemas.microsoft.com/office/drawing/2014/main" id="{BAECB875-9C38-4D78-BB00-D04464591AEB}"/>
                </a:ext>
              </a:extLst>
            </p:cNvPr>
            <p:cNvGrpSpPr>
              <a:grpSpLocks/>
            </p:cNvGrpSpPr>
            <p:nvPr/>
          </p:nvGrpSpPr>
          <p:grpSpPr bwMode="auto">
            <a:xfrm>
              <a:off x="3379" y="2700"/>
              <a:ext cx="301" cy="303"/>
              <a:chOff x="3552" y="3339"/>
              <a:chExt cx="412" cy="436"/>
            </a:xfrm>
          </p:grpSpPr>
          <p:grpSp>
            <p:nvGrpSpPr>
              <p:cNvPr id="19498" name="Group 43">
                <a:extLst>
                  <a:ext uri="{FF2B5EF4-FFF2-40B4-BE49-F238E27FC236}">
                    <a16:creationId xmlns:a16="http://schemas.microsoft.com/office/drawing/2014/main" id="{1E29035D-8FE1-4251-9997-AFD823ECC2B9}"/>
                  </a:ext>
                </a:extLst>
              </p:cNvPr>
              <p:cNvGrpSpPr>
                <a:grpSpLocks/>
              </p:cNvGrpSpPr>
              <p:nvPr/>
            </p:nvGrpSpPr>
            <p:grpSpPr bwMode="auto">
              <a:xfrm>
                <a:off x="3552" y="3339"/>
                <a:ext cx="412" cy="392"/>
                <a:chOff x="2016" y="1920"/>
                <a:chExt cx="1680" cy="1680"/>
              </a:xfrm>
            </p:grpSpPr>
            <p:sp>
              <p:nvSpPr>
                <p:cNvPr id="122924" name="Oval 44">
                  <a:extLst>
                    <a:ext uri="{FF2B5EF4-FFF2-40B4-BE49-F238E27FC236}">
                      <a16:creationId xmlns:a16="http://schemas.microsoft.com/office/drawing/2014/main" id="{48D1622B-9F01-4985-8520-A763577887CC}"/>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501" name="Freeform 45">
                  <a:extLst>
                    <a:ext uri="{FF2B5EF4-FFF2-40B4-BE49-F238E27FC236}">
                      <a16:creationId xmlns:a16="http://schemas.microsoft.com/office/drawing/2014/main" id="{80900241-A864-4C67-8E2F-D571B9A3E5BE}"/>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926" name="Text Box 46">
                <a:extLst>
                  <a:ext uri="{FF2B5EF4-FFF2-40B4-BE49-F238E27FC236}">
                    <a16:creationId xmlns:a16="http://schemas.microsoft.com/office/drawing/2014/main" id="{C42D4447-D499-4137-8023-487554636B97}"/>
                  </a:ext>
                </a:extLst>
              </p:cNvPr>
              <p:cNvSpPr txBox="1">
                <a:spLocks noChangeArrowheads="1"/>
              </p:cNvSpPr>
              <p:nvPr/>
            </p:nvSpPr>
            <p:spPr bwMode="gray">
              <a:xfrm>
                <a:off x="3607" y="3361"/>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4</a:t>
                </a:r>
              </a:p>
            </p:txBody>
          </p:sp>
        </p:grpSp>
        <p:sp>
          <p:nvSpPr>
            <p:cNvPr id="19497" name="Text Box 47">
              <a:extLst>
                <a:ext uri="{FF2B5EF4-FFF2-40B4-BE49-F238E27FC236}">
                  <a16:creationId xmlns:a16="http://schemas.microsoft.com/office/drawing/2014/main" id="{6D07720C-CFC5-409A-A8C2-BE6D88B64223}"/>
                </a:ext>
              </a:extLst>
            </p:cNvPr>
            <p:cNvSpPr txBox="1">
              <a:spLocks noChangeArrowheads="1"/>
            </p:cNvSpPr>
            <p:nvPr/>
          </p:nvSpPr>
          <p:spPr bwMode="gray">
            <a:xfrm>
              <a:off x="3739" y="2704"/>
              <a:ext cx="1726"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易于保留一部分在某些技术领域具有很好才能的专家作为固定成员</a:t>
              </a:r>
              <a:endParaRPr lang="en-US" altLang="zh-CN">
                <a:solidFill>
                  <a:schemeClr val="tx2"/>
                </a:solidFill>
                <a:latin typeface="Lucida Sans Unicode" panose="020B0602030504020204" pitchFamily="34" charset="0"/>
              </a:endParaRPr>
            </a:p>
          </p:txBody>
        </p:sp>
      </p:grpSp>
      <p:grpSp>
        <p:nvGrpSpPr>
          <p:cNvPr id="17" name="Group 87">
            <a:extLst>
              <a:ext uri="{FF2B5EF4-FFF2-40B4-BE49-F238E27FC236}">
                <a16:creationId xmlns:a16="http://schemas.microsoft.com/office/drawing/2014/main" id="{B0BC6F18-6B88-4C0A-ADD1-85CB8D835BF8}"/>
              </a:ext>
            </a:extLst>
          </p:cNvPr>
          <p:cNvGrpSpPr>
            <a:grpSpLocks/>
          </p:cNvGrpSpPr>
          <p:nvPr/>
        </p:nvGrpSpPr>
        <p:grpSpPr bwMode="auto">
          <a:xfrm>
            <a:off x="4832350" y="2043113"/>
            <a:ext cx="3340100" cy="881062"/>
            <a:chOff x="3044" y="1287"/>
            <a:chExt cx="2104" cy="555"/>
          </a:xfrm>
        </p:grpSpPr>
        <p:grpSp>
          <p:nvGrpSpPr>
            <p:cNvPr id="19486" name="Group 51">
              <a:extLst>
                <a:ext uri="{FF2B5EF4-FFF2-40B4-BE49-F238E27FC236}">
                  <a16:creationId xmlns:a16="http://schemas.microsoft.com/office/drawing/2014/main" id="{32AE949A-FA01-4997-80E3-21A5C3EFC95D}"/>
                </a:ext>
              </a:extLst>
            </p:cNvPr>
            <p:cNvGrpSpPr>
              <a:grpSpLocks/>
            </p:cNvGrpSpPr>
            <p:nvPr/>
          </p:nvGrpSpPr>
          <p:grpSpPr bwMode="auto">
            <a:xfrm>
              <a:off x="3157" y="1389"/>
              <a:ext cx="313" cy="304"/>
              <a:chOff x="2016" y="1920"/>
              <a:chExt cx="1680" cy="1680"/>
            </a:xfrm>
          </p:grpSpPr>
          <p:sp>
            <p:nvSpPr>
              <p:cNvPr id="122932" name="Oval 52">
                <a:extLst>
                  <a:ext uri="{FF2B5EF4-FFF2-40B4-BE49-F238E27FC236}">
                    <a16:creationId xmlns:a16="http://schemas.microsoft.com/office/drawing/2014/main" id="{6A5B852A-C648-46E2-A588-909868A2B159}"/>
                  </a:ext>
                </a:extLst>
              </p:cNvPr>
              <p:cNvSpPr>
                <a:spLocks noChangeArrowheads="1"/>
              </p:cNvSpPr>
              <p:nvPr/>
            </p:nvSpPr>
            <p:spPr bwMode="gray">
              <a:xfrm>
                <a:off x="2016" y="1920"/>
                <a:ext cx="1680" cy="1680"/>
              </a:xfrm>
              <a:prstGeom prst="ellipse">
                <a:avLst/>
              </a:prstGeom>
              <a:gradFill rotWithShape="1">
                <a:gsLst>
                  <a:gs pos="0">
                    <a:schemeClr val="hlink"/>
                  </a:gs>
                  <a:gs pos="100000">
                    <a:schemeClr val="hlink">
                      <a:gamma/>
                      <a:tint val="57647"/>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493" name="Freeform 53">
                <a:extLst>
                  <a:ext uri="{FF2B5EF4-FFF2-40B4-BE49-F238E27FC236}">
                    <a16:creationId xmlns:a16="http://schemas.microsoft.com/office/drawing/2014/main" id="{0F3FDA40-E297-454D-A27C-C5BE47060937}"/>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grpSp>
          <p:nvGrpSpPr>
            <p:cNvPr id="19487" name="Group 79">
              <a:extLst>
                <a:ext uri="{FF2B5EF4-FFF2-40B4-BE49-F238E27FC236}">
                  <a16:creationId xmlns:a16="http://schemas.microsoft.com/office/drawing/2014/main" id="{CB4089EA-B2B9-42D5-A6C4-2052F34FBE54}"/>
                </a:ext>
              </a:extLst>
            </p:cNvPr>
            <p:cNvGrpSpPr>
              <a:grpSpLocks/>
            </p:cNvGrpSpPr>
            <p:nvPr/>
          </p:nvGrpSpPr>
          <p:grpSpPr bwMode="auto">
            <a:xfrm>
              <a:off x="3044" y="1287"/>
              <a:ext cx="2104" cy="555"/>
              <a:chOff x="3044" y="1298"/>
              <a:chExt cx="2104" cy="555"/>
            </a:xfrm>
          </p:grpSpPr>
          <p:sp>
            <p:nvSpPr>
              <p:cNvPr id="122934" name="Text Box 54">
                <a:extLst>
                  <a:ext uri="{FF2B5EF4-FFF2-40B4-BE49-F238E27FC236}">
                    <a16:creationId xmlns:a16="http://schemas.microsoft.com/office/drawing/2014/main" id="{69BD9630-6592-4A2B-9252-5D1FE4FDE2A6}"/>
                  </a:ext>
                </a:extLst>
              </p:cNvPr>
              <p:cNvSpPr txBox="1">
                <a:spLocks noChangeArrowheads="1"/>
              </p:cNvSpPr>
              <p:nvPr/>
            </p:nvSpPr>
            <p:spPr bwMode="gray">
              <a:xfrm>
                <a:off x="3182" y="1431"/>
                <a:ext cx="255" cy="28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2</a:t>
                </a:r>
              </a:p>
            </p:txBody>
          </p:sp>
          <p:sp>
            <p:nvSpPr>
              <p:cNvPr id="122928" name="Oval 48">
                <a:extLst>
                  <a:ext uri="{FF2B5EF4-FFF2-40B4-BE49-F238E27FC236}">
                    <a16:creationId xmlns:a16="http://schemas.microsoft.com/office/drawing/2014/main" id="{9E43A48A-D000-40A6-8BF6-F3DC9595F02E}"/>
                  </a:ext>
                </a:extLst>
              </p:cNvPr>
              <p:cNvSpPr>
                <a:spLocks noChangeArrowheads="1"/>
              </p:cNvSpPr>
              <p:nvPr/>
            </p:nvSpPr>
            <p:spPr bwMode="gray">
              <a:xfrm rot="18227093">
                <a:off x="3137" y="1703"/>
                <a:ext cx="57"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35" name="Oval 55">
                <a:extLst>
                  <a:ext uri="{FF2B5EF4-FFF2-40B4-BE49-F238E27FC236}">
                    <a16:creationId xmlns:a16="http://schemas.microsoft.com/office/drawing/2014/main" id="{2001FA1E-9933-4785-A1ED-8B461F4F460E}"/>
                  </a:ext>
                </a:extLst>
              </p:cNvPr>
              <p:cNvSpPr>
                <a:spLocks noChangeArrowheads="1"/>
              </p:cNvSpPr>
              <p:nvPr/>
            </p:nvSpPr>
            <p:spPr bwMode="gray">
              <a:xfrm rot="18227093">
                <a:off x="3048" y="1793"/>
                <a:ext cx="56"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491" name="Text Box 56">
                <a:extLst>
                  <a:ext uri="{FF2B5EF4-FFF2-40B4-BE49-F238E27FC236}">
                    <a16:creationId xmlns:a16="http://schemas.microsoft.com/office/drawing/2014/main" id="{99AF09D5-B170-4420-A663-5662FE869D79}"/>
                  </a:ext>
                </a:extLst>
              </p:cNvPr>
              <p:cNvSpPr txBox="1">
                <a:spLocks noChangeArrowheads="1"/>
              </p:cNvSpPr>
              <p:nvPr/>
            </p:nvSpPr>
            <p:spPr bwMode="gray">
              <a:xfrm>
                <a:off x="3560" y="1298"/>
                <a:ext cx="158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项目组所有成员直接对项目经理负责</a:t>
                </a:r>
                <a:endParaRPr lang="en-US" altLang="zh-CN">
                  <a:solidFill>
                    <a:schemeClr val="tx2"/>
                  </a:solidFill>
                  <a:latin typeface="Lucida Sans Unicode" panose="020B0602030504020204" pitchFamily="34" charset="0"/>
                </a:endParaRPr>
              </a:p>
            </p:txBody>
          </p:sp>
        </p:grpSp>
      </p:grpSp>
      <p:grpSp>
        <p:nvGrpSpPr>
          <p:cNvPr id="20" name="Group 82">
            <a:extLst>
              <a:ext uri="{FF2B5EF4-FFF2-40B4-BE49-F238E27FC236}">
                <a16:creationId xmlns:a16="http://schemas.microsoft.com/office/drawing/2014/main" id="{7A42C0B4-A3A0-4837-8628-FE3EAF2FEA17}"/>
              </a:ext>
            </a:extLst>
          </p:cNvPr>
          <p:cNvGrpSpPr>
            <a:grpSpLocks/>
          </p:cNvGrpSpPr>
          <p:nvPr/>
        </p:nvGrpSpPr>
        <p:grpSpPr bwMode="auto">
          <a:xfrm>
            <a:off x="3059113" y="4437063"/>
            <a:ext cx="3241675" cy="1698625"/>
            <a:chOff x="1927" y="2795"/>
            <a:chExt cx="2042" cy="1070"/>
          </a:xfrm>
        </p:grpSpPr>
        <p:grpSp>
          <p:nvGrpSpPr>
            <p:cNvPr id="19476" name="Group 58">
              <a:extLst>
                <a:ext uri="{FF2B5EF4-FFF2-40B4-BE49-F238E27FC236}">
                  <a16:creationId xmlns:a16="http://schemas.microsoft.com/office/drawing/2014/main" id="{122C7B85-FDAB-4706-8438-5083D901AB8D}"/>
                </a:ext>
              </a:extLst>
            </p:cNvPr>
            <p:cNvGrpSpPr>
              <a:grpSpLocks/>
            </p:cNvGrpSpPr>
            <p:nvPr/>
          </p:nvGrpSpPr>
          <p:grpSpPr bwMode="auto">
            <a:xfrm>
              <a:off x="2608" y="2795"/>
              <a:ext cx="315" cy="491"/>
              <a:chOff x="2629" y="3031"/>
              <a:chExt cx="315" cy="491"/>
            </a:xfrm>
          </p:grpSpPr>
          <p:grpSp>
            <p:nvGrpSpPr>
              <p:cNvPr id="19478" name="Group 59">
                <a:extLst>
                  <a:ext uri="{FF2B5EF4-FFF2-40B4-BE49-F238E27FC236}">
                    <a16:creationId xmlns:a16="http://schemas.microsoft.com/office/drawing/2014/main" id="{88704A9D-E42F-44AB-9B53-80E949FFDB7F}"/>
                  </a:ext>
                </a:extLst>
              </p:cNvPr>
              <p:cNvGrpSpPr>
                <a:grpSpLocks/>
              </p:cNvGrpSpPr>
              <p:nvPr/>
            </p:nvGrpSpPr>
            <p:grpSpPr bwMode="auto">
              <a:xfrm flipV="1">
                <a:off x="2629" y="3233"/>
                <a:ext cx="315" cy="289"/>
                <a:chOff x="2640" y="1088"/>
                <a:chExt cx="432" cy="415"/>
              </a:xfrm>
            </p:grpSpPr>
            <p:grpSp>
              <p:nvGrpSpPr>
                <p:cNvPr id="19482" name="Group 60">
                  <a:extLst>
                    <a:ext uri="{FF2B5EF4-FFF2-40B4-BE49-F238E27FC236}">
                      <a16:creationId xmlns:a16="http://schemas.microsoft.com/office/drawing/2014/main" id="{BD34CAFB-D294-420D-8208-7DF8B296F279}"/>
                    </a:ext>
                  </a:extLst>
                </p:cNvPr>
                <p:cNvGrpSpPr>
                  <a:grpSpLocks/>
                </p:cNvGrpSpPr>
                <p:nvPr/>
              </p:nvGrpSpPr>
              <p:grpSpPr bwMode="auto">
                <a:xfrm>
                  <a:off x="2640" y="1088"/>
                  <a:ext cx="432" cy="415"/>
                  <a:chOff x="2016" y="1920"/>
                  <a:chExt cx="1680" cy="1680"/>
                </a:xfrm>
              </p:grpSpPr>
              <p:sp>
                <p:nvSpPr>
                  <p:cNvPr id="122941" name="Oval 61">
                    <a:extLst>
                      <a:ext uri="{FF2B5EF4-FFF2-40B4-BE49-F238E27FC236}">
                        <a16:creationId xmlns:a16="http://schemas.microsoft.com/office/drawing/2014/main" id="{C69F7955-673A-42E0-AB94-E8B66970C086}"/>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485" name="Freeform 62">
                    <a:extLst>
                      <a:ext uri="{FF2B5EF4-FFF2-40B4-BE49-F238E27FC236}">
                        <a16:creationId xmlns:a16="http://schemas.microsoft.com/office/drawing/2014/main" id="{5B61AA35-34BE-4874-9FAD-292B9EA5BC89}"/>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943" name="Text Box 63">
                  <a:extLst>
                    <a:ext uri="{FF2B5EF4-FFF2-40B4-BE49-F238E27FC236}">
                      <a16:creationId xmlns:a16="http://schemas.microsoft.com/office/drawing/2014/main" id="{54C7C925-04B8-42B5-931C-25EC17914439}"/>
                    </a:ext>
                  </a:extLst>
                </p:cNvPr>
                <p:cNvSpPr txBox="1">
                  <a:spLocks noChangeArrowheads="1"/>
                </p:cNvSpPr>
                <p:nvPr/>
              </p:nvSpPr>
              <p:spPr bwMode="gray">
                <a:xfrm flipV="1">
                  <a:off x="2691" y="1088"/>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5</a:t>
                  </a:r>
                </a:p>
              </p:txBody>
            </p:sp>
          </p:grpSp>
          <p:grpSp>
            <p:nvGrpSpPr>
              <p:cNvPr id="19479" name="Group 64">
                <a:extLst>
                  <a:ext uri="{FF2B5EF4-FFF2-40B4-BE49-F238E27FC236}">
                    <a16:creationId xmlns:a16="http://schemas.microsoft.com/office/drawing/2014/main" id="{E1251598-F092-45B9-8F7D-16ED2A965300}"/>
                  </a:ext>
                </a:extLst>
              </p:cNvPr>
              <p:cNvGrpSpPr>
                <a:grpSpLocks/>
              </p:cNvGrpSpPr>
              <p:nvPr/>
            </p:nvGrpSpPr>
            <p:grpSpPr bwMode="auto">
              <a:xfrm flipV="1">
                <a:off x="2769" y="3031"/>
                <a:ext cx="64" cy="181"/>
                <a:chOff x="2832" y="1612"/>
                <a:chExt cx="87" cy="260"/>
              </a:xfrm>
            </p:grpSpPr>
            <p:sp>
              <p:nvSpPr>
                <p:cNvPr id="122945" name="Oval 65">
                  <a:extLst>
                    <a:ext uri="{FF2B5EF4-FFF2-40B4-BE49-F238E27FC236}">
                      <a16:creationId xmlns:a16="http://schemas.microsoft.com/office/drawing/2014/main" id="{0E4AC6A1-68AE-4185-B2AE-3C82F0931A37}"/>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46" name="Oval 66">
                  <a:extLst>
                    <a:ext uri="{FF2B5EF4-FFF2-40B4-BE49-F238E27FC236}">
                      <a16:creationId xmlns:a16="http://schemas.microsoft.com/office/drawing/2014/main" id="{8E173F7D-4E05-423D-B2EA-B1DB179E9122}"/>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sp>
          <p:nvSpPr>
            <p:cNvPr id="19477" name="Text Box 67">
              <a:extLst>
                <a:ext uri="{FF2B5EF4-FFF2-40B4-BE49-F238E27FC236}">
                  <a16:creationId xmlns:a16="http://schemas.microsoft.com/office/drawing/2014/main" id="{28015E80-8F15-4B4C-A76F-A16F6F9C1C8F}"/>
                </a:ext>
              </a:extLst>
            </p:cNvPr>
            <p:cNvSpPr txBox="1">
              <a:spLocks noChangeArrowheads="1"/>
            </p:cNvSpPr>
            <p:nvPr/>
          </p:nvSpPr>
          <p:spPr bwMode="gray">
            <a:xfrm>
              <a:off x="1927" y="3339"/>
              <a:ext cx="2042" cy="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a:solidFill>
                    <a:schemeClr val="tx2"/>
                  </a:solidFill>
                  <a:latin typeface="Lucida Sans Unicode" panose="020B0602030504020204" pitchFamily="34" charset="0"/>
                </a:rPr>
                <a:t>项目目标单一，项目成员能够明确理解并集中精力于项目目标，团队精神能充分发挥</a:t>
              </a:r>
              <a:endParaRPr lang="en-US" altLang="zh-CN">
                <a:solidFill>
                  <a:schemeClr val="tx2"/>
                </a:solidFill>
                <a:latin typeface="Lucida Sans Unicode" panose="020B0602030504020204" pitchFamily="34" charset="0"/>
              </a:endParaRPr>
            </a:p>
          </p:txBody>
        </p:sp>
      </p:grpSp>
      <p:grpSp>
        <p:nvGrpSpPr>
          <p:cNvPr id="25" name="Group 80">
            <a:extLst>
              <a:ext uri="{FF2B5EF4-FFF2-40B4-BE49-F238E27FC236}">
                <a16:creationId xmlns:a16="http://schemas.microsoft.com/office/drawing/2014/main" id="{0142B72B-FBA2-48E4-8F03-5CE8A094BFE2}"/>
              </a:ext>
            </a:extLst>
          </p:cNvPr>
          <p:cNvGrpSpPr>
            <a:grpSpLocks/>
          </p:cNvGrpSpPr>
          <p:nvPr/>
        </p:nvGrpSpPr>
        <p:grpSpPr bwMode="auto">
          <a:xfrm>
            <a:off x="5216525" y="3068638"/>
            <a:ext cx="3603625" cy="798512"/>
            <a:chOff x="3286" y="1933"/>
            <a:chExt cx="2270" cy="503"/>
          </a:xfrm>
        </p:grpSpPr>
        <p:grpSp>
          <p:nvGrpSpPr>
            <p:cNvPr id="19468" name="Group 70">
              <a:extLst>
                <a:ext uri="{FF2B5EF4-FFF2-40B4-BE49-F238E27FC236}">
                  <a16:creationId xmlns:a16="http://schemas.microsoft.com/office/drawing/2014/main" id="{512217F7-B783-4E4A-9156-1A8DEC33513A}"/>
                </a:ext>
              </a:extLst>
            </p:cNvPr>
            <p:cNvGrpSpPr>
              <a:grpSpLocks/>
            </p:cNvGrpSpPr>
            <p:nvPr/>
          </p:nvGrpSpPr>
          <p:grpSpPr bwMode="auto">
            <a:xfrm>
              <a:off x="3560" y="2115"/>
              <a:ext cx="315" cy="321"/>
              <a:chOff x="1488" y="1968"/>
              <a:chExt cx="432" cy="461"/>
            </a:xfrm>
          </p:grpSpPr>
          <p:grpSp>
            <p:nvGrpSpPr>
              <p:cNvPr id="19472" name="Group 71">
                <a:extLst>
                  <a:ext uri="{FF2B5EF4-FFF2-40B4-BE49-F238E27FC236}">
                    <a16:creationId xmlns:a16="http://schemas.microsoft.com/office/drawing/2014/main" id="{0A8BD194-8193-45C4-B46A-B94BCE87D49C}"/>
                  </a:ext>
                </a:extLst>
              </p:cNvPr>
              <p:cNvGrpSpPr>
                <a:grpSpLocks/>
              </p:cNvGrpSpPr>
              <p:nvPr/>
            </p:nvGrpSpPr>
            <p:grpSpPr bwMode="auto">
              <a:xfrm>
                <a:off x="1488" y="1968"/>
                <a:ext cx="432" cy="432"/>
                <a:chOff x="2016" y="1920"/>
                <a:chExt cx="1680" cy="1680"/>
              </a:xfrm>
            </p:grpSpPr>
            <p:sp>
              <p:nvSpPr>
                <p:cNvPr id="122952" name="Oval 72">
                  <a:extLst>
                    <a:ext uri="{FF2B5EF4-FFF2-40B4-BE49-F238E27FC236}">
                      <a16:creationId xmlns:a16="http://schemas.microsoft.com/office/drawing/2014/main" id="{8AE63F91-12E9-4B84-B325-E25C8E6F32F7}"/>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475" name="Freeform 73">
                  <a:extLst>
                    <a:ext uri="{FF2B5EF4-FFF2-40B4-BE49-F238E27FC236}">
                      <a16:creationId xmlns:a16="http://schemas.microsoft.com/office/drawing/2014/main" id="{73772292-C34F-498D-A91B-7716E7A2471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2954" name="Text Box 74">
                <a:extLst>
                  <a:ext uri="{FF2B5EF4-FFF2-40B4-BE49-F238E27FC236}">
                    <a16:creationId xmlns:a16="http://schemas.microsoft.com/office/drawing/2014/main" id="{153F4AC5-3D74-4FBB-9A60-0581A112BD65}"/>
                  </a:ext>
                </a:extLst>
              </p:cNvPr>
              <p:cNvSpPr txBox="1">
                <a:spLocks noChangeArrowheads="1"/>
              </p:cNvSpPr>
              <p:nvPr/>
            </p:nvSpPr>
            <p:spPr bwMode="gray">
              <a:xfrm>
                <a:off x="1540" y="2015"/>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3</a:t>
                </a:r>
              </a:p>
            </p:txBody>
          </p:sp>
        </p:grpSp>
        <p:sp>
          <p:nvSpPr>
            <p:cNvPr id="122956" name="Oval 76">
              <a:extLst>
                <a:ext uri="{FF2B5EF4-FFF2-40B4-BE49-F238E27FC236}">
                  <a16:creationId xmlns:a16="http://schemas.microsoft.com/office/drawing/2014/main" id="{6EA54583-F71F-487F-BB1C-0D7AE8B7196E}"/>
                </a:ext>
              </a:extLst>
            </p:cNvPr>
            <p:cNvSpPr>
              <a:spLocks noChangeArrowheads="1"/>
            </p:cNvSpPr>
            <p:nvPr/>
          </p:nvSpPr>
          <p:spPr bwMode="gray">
            <a:xfrm rot="17873405">
              <a:off x="3289" y="2236"/>
              <a:ext cx="57" cy="64"/>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2957" name="Oval 77">
              <a:extLst>
                <a:ext uri="{FF2B5EF4-FFF2-40B4-BE49-F238E27FC236}">
                  <a16:creationId xmlns:a16="http://schemas.microsoft.com/office/drawing/2014/main" id="{716175C3-1C23-49C2-BBD8-C6E3B5B3086C}"/>
                </a:ext>
              </a:extLst>
            </p:cNvPr>
            <p:cNvSpPr>
              <a:spLocks noChangeArrowheads="1"/>
            </p:cNvSpPr>
            <p:nvPr/>
          </p:nvSpPr>
          <p:spPr bwMode="gray">
            <a:xfrm rot="17873405">
              <a:off x="3397" y="2230"/>
              <a:ext cx="57" cy="64"/>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9471" name="Text Box 78">
              <a:extLst>
                <a:ext uri="{FF2B5EF4-FFF2-40B4-BE49-F238E27FC236}">
                  <a16:creationId xmlns:a16="http://schemas.microsoft.com/office/drawing/2014/main" id="{E0DA5404-CAF1-4E67-92A2-6EE822BE461B}"/>
                </a:ext>
              </a:extLst>
            </p:cNvPr>
            <p:cNvSpPr txBox="1">
              <a:spLocks noChangeArrowheads="1"/>
            </p:cNvSpPr>
            <p:nvPr/>
          </p:nvSpPr>
          <p:spPr bwMode="gray">
            <a:xfrm>
              <a:off x="3969" y="1933"/>
              <a:ext cx="158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项目从职能部门分离，沟通途径变得简洁</a:t>
              </a:r>
              <a:endParaRPr lang="en-US" altLang="zh-CN">
                <a:solidFill>
                  <a:schemeClr val="tx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1000"/>
                                        <p:tgtEl>
                                          <p:spTgt spid="25"/>
                                        </p:tgtEl>
                                      </p:cBhvr>
                                    </p:animEffect>
                                  </p:childTnLst>
                                </p:cTn>
                              </p:par>
                            </p:childTnLst>
                          </p:cTn>
                        </p:par>
                        <p:par>
                          <p:cTn id="16" fill="hold" nodeType="afterGroup">
                            <p:stCondLst>
                              <p:cond delay="3000"/>
                            </p:stCondLst>
                            <p:childTnLst>
                              <p:par>
                                <p:cTn id="17" presetID="10"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childTnLst>
                          </p:cTn>
                        </p:par>
                        <p:par>
                          <p:cTn id="20" fill="hold" nodeType="afterGroup">
                            <p:stCondLst>
                              <p:cond delay="4000"/>
                            </p:stCondLst>
                            <p:childTnLst>
                              <p:par>
                                <p:cTn id="21" presetID="10"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1000"/>
                                        <p:tgtEl>
                                          <p:spTgt spid="20"/>
                                        </p:tgtEl>
                                      </p:cBhvr>
                                    </p:animEffect>
                                  </p:childTnLst>
                                </p:cTn>
                              </p:par>
                            </p:childTnLst>
                          </p:cTn>
                        </p:par>
                        <p:par>
                          <p:cTn id="24" fill="hold" nodeType="afterGroup">
                            <p:stCondLst>
                              <p:cond delay="50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childTnLst>
                          </p:cTn>
                        </p:par>
                        <p:par>
                          <p:cTn id="28" fill="hold" nodeType="afterGroup">
                            <p:stCondLst>
                              <p:cond delay="6000"/>
                            </p:stCondLst>
                            <p:childTnLst>
                              <p:par>
                                <p:cTn id="29" presetID="10"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4C3DDCAD-F4D4-4A3F-A5B5-FCA3BB3AB350}"/>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23908" name="Oval 4">
            <a:extLst>
              <a:ext uri="{FF2B5EF4-FFF2-40B4-BE49-F238E27FC236}">
                <a16:creationId xmlns:a16="http://schemas.microsoft.com/office/drawing/2014/main" id="{CD23A9EB-3C1F-49C4-BEE3-2798B5DB1301}"/>
              </a:ext>
            </a:extLst>
          </p:cNvPr>
          <p:cNvSpPr>
            <a:spLocks noChangeArrowheads="1"/>
          </p:cNvSpPr>
          <p:nvPr/>
        </p:nvSpPr>
        <p:spPr bwMode="gray">
          <a:xfrm>
            <a:off x="2889250" y="2206625"/>
            <a:ext cx="2946400"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20484" name="Group 5">
            <a:extLst>
              <a:ext uri="{FF2B5EF4-FFF2-40B4-BE49-F238E27FC236}">
                <a16:creationId xmlns:a16="http://schemas.microsoft.com/office/drawing/2014/main" id="{04535847-BAD6-4DC8-9A39-B4BCE6FC4055}"/>
              </a:ext>
            </a:extLst>
          </p:cNvPr>
          <p:cNvGrpSpPr>
            <a:grpSpLocks/>
          </p:cNvGrpSpPr>
          <p:nvPr/>
        </p:nvGrpSpPr>
        <p:grpSpPr bwMode="auto">
          <a:xfrm>
            <a:off x="3611563" y="2897188"/>
            <a:ext cx="1500187" cy="1485900"/>
            <a:chOff x="2016" y="1920"/>
            <a:chExt cx="1680" cy="1680"/>
          </a:xfrm>
        </p:grpSpPr>
        <p:sp>
          <p:nvSpPr>
            <p:cNvPr id="20553" name="Oval 6">
              <a:extLst>
                <a:ext uri="{FF2B5EF4-FFF2-40B4-BE49-F238E27FC236}">
                  <a16:creationId xmlns:a16="http://schemas.microsoft.com/office/drawing/2014/main" id="{15E066A0-EEAF-45A1-81BC-84239F1F240B}"/>
                </a:ext>
              </a:extLst>
            </p:cNvPr>
            <p:cNvSpPr>
              <a:spLocks noChangeArrowheads="1"/>
            </p:cNvSpPr>
            <p:nvPr/>
          </p:nvSpPr>
          <p:spPr bwMode="gray">
            <a:xfrm>
              <a:off x="2016" y="1920"/>
              <a:ext cx="1680" cy="168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20554" name="Freeform 7">
              <a:extLst>
                <a:ext uri="{FF2B5EF4-FFF2-40B4-BE49-F238E27FC236}">
                  <a16:creationId xmlns:a16="http://schemas.microsoft.com/office/drawing/2014/main" id="{901D8F06-9AC4-4624-B633-B65C4B80383A}"/>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12" name="Text Box 8">
            <a:extLst>
              <a:ext uri="{FF2B5EF4-FFF2-40B4-BE49-F238E27FC236}">
                <a16:creationId xmlns:a16="http://schemas.microsoft.com/office/drawing/2014/main" id="{4113E40D-EFFD-4437-BF78-2583429244B0}"/>
              </a:ext>
            </a:extLst>
          </p:cNvPr>
          <p:cNvSpPr txBox="1">
            <a:spLocks noChangeArrowheads="1"/>
          </p:cNvSpPr>
          <p:nvPr/>
        </p:nvSpPr>
        <p:spPr bwMode="gray">
          <a:xfrm>
            <a:off x="3992563" y="3462338"/>
            <a:ext cx="796925" cy="457200"/>
          </a:xfrm>
          <a:prstGeom prst="rect">
            <a:avLst/>
          </a:prstGeom>
          <a:noFill/>
          <a:ln w="9525">
            <a:noFill/>
            <a:miter lim="800000"/>
            <a:headEnd/>
            <a:tailEnd/>
          </a:ln>
          <a:effectLst/>
        </p:spPr>
        <p:txBody>
          <a:bodyPr wrap="none">
            <a:spAutoFit/>
          </a:bodyPr>
          <a:lstStyle/>
          <a:p>
            <a:pPr eaLnBrk="0" fontAlgn="auto" hangingPunct="0">
              <a:spcBef>
                <a:spcPts val="0"/>
              </a:spcBef>
              <a:spcAft>
                <a:spcPts val="0"/>
              </a:spcAft>
              <a:defRPr/>
            </a:pPr>
            <a:r>
              <a:rPr lang="zh-CN" altLang="en-US" sz="2400">
                <a:solidFill>
                  <a:schemeClr val="tx2"/>
                </a:solidFill>
                <a:effectLst>
                  <a:outerShdw blurRad="38100" dist="38100" dir="2700000" algn="tl">
                    <a:srgbClr val="C0C0C0"/>
                  </a:outerShdw>
                </a:effectLst>
              </a:rPr>
              <a:t>缺点</a:t>
            </a:r>
          </a:p>
        </p:txBody>
      </p:sp>
      <p:grpSp>
        <p:nvGrpSpPr>
          <p:cNvPr id="3" name="Group 76">
            <a:extLst>
              <a:ext uri="{FF2B5EF4-FFF2-40B4-BE49-F238E27FC236}">
                <a16:creationId xmlns:a16="http://schemas.microsoft.com/office/drawing/2014/main" id="{8780C1A7-08DD-41B7-8DD6-AA7443E3C4DC}"/>
              </a:ext>
            </a:extLst>
          </p:cNvPr>
          <p:cNvGrpSpPr>
            <a:grpSpLocks/>
          </p:cNvGrpSpPr>
          <p:nvPr/>
        </p:nvGrpSpPr>
        <p:grpSpPr bwMode="auto">
          <a:xfrm>
            <a:off x="250825" y="2708275"/>
            <a:ext cx="3294063" cy="1465263"/>
            <a:chOff x="158" y="1706"/>
            <a:chExt cx="2075" cy="923"/>
          </a:xfrm>
        </p:grpSpPr>
        <p:grpSp>
          <p:nvGrpSpPr>
            <p:cNvPr id="20544" name="Group 10">
              <a:extLst>
                <a:ext uri="{FF2B5EF4-FFF2-40B4-BE49-F238E27FC236}">
                  <a16:creationId xmlns:a16="http://schemas.microsoft.com/office/drawing/2014/main" id="{2B36CE61-3787-414E-976D-C7EFA4F54708}"/>
                </a:ext>
              </a:extLst>
            </p:cNvPr>
            <p:cNvGrpSpPr>
              <a:grpSpLocks/>
            </p:cNvGrpSpPr>
            <p:nvPr/>
          </p:nvGrpSpPr>
          <p:grpSpPr bwMode="auto">
            <a:xfrm>
              <a:off x="1715" y="1825"/>
              <a:ext cx="315" cy="321"/>
              <a:chOff x="1488" y="1968"/>
              <a:chExt cx="432" cy="461"/>
            </a:xfrm>
          </p:grpSpPr>
          <p:grpSp>
            <p:nvGrpSpPr>
              <p:cNvPr id="20549" name="Group 11">
                <a:extLst>
                  <a:ext uri="{FF2B5EF4-FFF2-40B4-BE49-F238E27FC236}">
                    <a16:creationId xmlns:a16="http://schemas.microsoft.com/office/drawing/2014/main" id="{D00BAA84-4B35-4F1A-AE5A-70B42EC83A08}"/>
                  </a:ext>
                </a:extLst>
              </p:cNvPr>
              <p:cNvGrpSpPr>
                <a:grpSpLocks/>
              </p:cNvGrpSpPr>
              <p:nvPr/>
            </p:nvGrpSpPr>
            <p:grpSpPr bwMode="auto">
              <a:xfrm>
                <a:off x="1488" y="1968"/>
                <a:ext cx="432" cy="432"/>
                <a:chOff x="2016" y="1920"/>
                <a:chExt cx="1680" cy="1680"/>
              </a:xfrm>
            </p:grpSpPr>
            <p:sp>
              <p:nvSpPr>
                <p:cNvPr id="123916" name="Oval 12">
                  <a:extLst>
                    <a:ext uri="{FF2B5EF4-FFF2-40B4-BE49-F238E27FC236}">
                      <a16:creationId xmlns:a16="http://schemas.microsoft.com/office/drawing/2014/main" id="{6BCAC035-71E1-4BAD-9294-0DAE9D2D8941}"/>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52" name="Freeform 13">
                  <a:extLst>
                    <a:ext uri="{FF2B5EF4-FFF2-40B4-BE49-F238E27FC236}">
                      <a16:creationId xmlns:a16="http://schemas.microsoft.com/office/drawing/2014/main" id="{CF9C0C2C-C25E-4F8C-AAAC-A4B733F18449}"/>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18" name="Text Box 14">
                <a:extLst>
                  <a:ext uri="{FF2B5EF4-FFF2-40B4-BE49-F238E27FC236}">
                    <a16:creationId xmlns:a16="http://schemas.microsoft.com/office/drawing/2014/main" id="{B2C975D6-D864-4915-88EF-98C6DB1DA508}"/>
                  </a:ext>
                </a:extLst>
              </p:cNvPr>
              <p:cNvSpPr txBox="1">
                <a:spLocks noChangeArrowheads="1"/>
              </p:cNvSpPr>
              <p:nvPr/>
            </p:nvSpPr>
            <p:spPr bwMode="gray">
              <a:xfrm>
                <a:off x="1540" y="2015"/>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7</a:t>
                </a:r>
              </a:p>
            </p:txBody>
          </p:sp>
        </p:grpSp>
        <p:grpSp>
          <p:nvGrpSpPr>
            <p:cNvPr id="20545" name="Group 15">
              <a:extLst>
                <a:ext uri="{FF2B5EF4-FFF2-40B4-BE49-F238E27FC236}">
                  <a16:creationId xmlns:a16="http://schemas.microsoft.com/office/drawing/2014/main" id="{2C5553B1-14F0-4958-A364-94F92E855B9C}"/>
                </a:ext>
              </a:extLst>
            </p:cNvPr>
            <p:cNvGrpSpPr>
              <a:grpSpLocks/>
            </p:cNvGrpSpPr>
            <p:nvPr/>
          </p:nvGrpSpPr>
          <p:grpSpPr bwMode="auto">
            <a:xfrm>
              <a:off x="2064" y="2025"/>
              <a:ext cx="169" cy="91"/>
              <a:chOff x="2016" y="2304"/>
              <a:chExt cx="231" cy="130"/>
            </a:xfrm>
          </p:grpSpPr>
          <p:sp>
            <p:nvSpPr>
              <p:cNvPr id="123920" name="Oval 16">
                <a:extLst>
                  <a:ext uri="{FF2B5EF4-FFF2-40B4-BE49-F238E27FC236}">
                    <a16:creationId xmlns:a16="http://schemas.microsoft.com/office/drawing/2014/main" id="{EFA4A9A6-6EC9-41FD-BFCF-B09349669AD8}"/>
                  </a:ext>
                </a:extLst>
              </p:cNvPr>
              <p:cNvSpPr>
                <a:spLocks noChangeArrowheads="1"/>
              </p:cNvSpPr>
              <p:nvPr/>
            </p:nvSpPr>
            <p:spPr bwMode="gray">
              <a:xfrm rot="18227093">
                <a:off x="2019" y="2301"/>
                <a:ext cx="81"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21" name="Oval 17">
                <a:extLst>
                  <a:ext uri="{FF2B5EF4-FFF2-40B4-BE49-F238E27FC236}">
                    <a16:creationId xmlns:a16="http://schemas.microsoft.com/office/drawing/2014/main" id="{E1A80D2B-2017-40FC-9295-A9B6D453382A}"/>
                  </a:ext>
                </a:extLst>
              </p:cNvPr>
              <p:cNvSpPr>
                <a:spLocks noChangeArrowheads="1"/>
              </p:cNvSpPr>
              <p:nvPr/>
            </p:nvSpPr>
            <p:spPr bwMode="gray">
              <a:xfrm rot="18227093">
                <a:off x="2163" y="2350"/>
                <a:ext cx="81" cy="87"/>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sp>
          <p:nvSpPr>
            <p:cNvPr id="20546" name="Text Box 18">
              <a:extLst>
                <a:ext uri="{FF2B5EF4-FFF2-40B4-BE49-F238E27FC236}">
                  <a16:creationId xmlns:a16="http://schemas.microsoft.com/office/drawing/2014/main" id="{F9FE7AE9-ADA9-408D-8611-E29F93B188AE}"/>
                </a:ext>
              </a:extLst>
            </p:cNvPr>
            <p:cNvSpPr txBox="1">
              <a:spLocks noChangeArrowheads="1"/>
            </p:cNvSpPr>
            <p:nvPr/>
          </p:nvSpPr>
          <p:spPr bwMode="gray">
            <a:xfrm>
              <a:off x="158" y="1706"/>
              <a:ext cx="1557"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由于每个项目组织都是独立的，在项目组织建立和结束时，都会对原企业组织产生冲击</a:t>
              </a:r>
              <a:endParaRPr lang="en-US" altLang="zh-CN">
                <a:solidFill>
                  <a:schemeClr val="tx2"/>
                </a:solidFill>
                <a:latin typeface="Lucida Sans Unicode" panose="020B0602030504020204" pitchFamily="34" charset="0"/>
              </a:endParaRPr>
            </a:p>
          </p:txBody>
        </p:sp>
      </p:grpSp>
      <p:grpSp>
        <p:nvGrpSpPr>
          <p:cNvPr id="7" name="Group 19">
            <a:extLst>
              <a:ext uri="{FF2B5EF4-FFF2-40B4-BE49-F238E27FC236}">
                <a16:creationId xmlns:a16="http://schemas.microsoft.com/office/drawing/2014/main" id="{6F8A8ED5-BC1E-4922-A734-0154C08D7641}"/>
              </a:ext>
            </a:extLst>
          </p:cNvPr>
          <p:cNvGrpSpPr>
            <a:grpSpLocks/>
          </p:cNvGrpSpPr>
          <p:nvPr/>
        </p:nvGrpSpPr>
        <p:grpSpPr bwMode="auto">
          <a:xfrm>
            <a:off x="1862138" y="1412875"/>
            <a:ext cx="3502025" cy="1435100"/>
            <a:chOff x="1173" y="890"/>
            <a:chExt cx="2206" cy="904"/>
          </a:xfrm>
        </p:grpSpPr>
        <p:grpSp>
          <p:nvGrpSpPr>
            <p:cNvPr id="20536" name="Group 20">
              <a:extLst>
                <a:ext uri="{FF2B5EF4-FFF2-40B4-BE49-F238E27FC236}">
                  <a16:creationId xmlns:a16="http://schemas.microsoft.com/office/drawing/2014/main" id="{C5231DC9-7683-4C41-8F51-4427FCD10BA7}"/>
                </a:ext>
              </a:extLst>
            </p:cNvPr>
            <p:cNvGrpSpPr>
              <a:grpSpLocks/>
            </p:cNvGrpSpPr>
            <p:nvPr/>
          </p:nvGrpSpPr>
          <p:grpSpPr bwMode="auto">
            <a:xfrm>
              <a:off x="2293" y="1283"/>
              <a:ext cx="315" cy="289"/>
              <a:chOff x="2016" y="1920"/>
              <a:chExt cx="1680" cy="1680"/>
            </a:xfrm>
          </p:grpSpPr>
          <p:sp>
            <p:nvSpPr>
              <p:cNvPr id="123925" name="Oval 21">
                <a:extLst>
                  <a:ext uri="{FF2B5EF4-FFF2-40B4-BE49-F238E27FC236}">
                    <a16:creationId xmlns:a16="http://schemas.microsoft.com/office/drawing/2014/main" id="{7A4213CD-CF52-4EF6-B89E-FBC9DFA28C90}"/>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43" name="Freeform 22">
                <a:extLst>
                  <a:ext uri="{FF2B5EF4-FFF2-40B4-BE49-F238E27FC236}">
                    <a16:creationId xmlns:a16="http://schemas.microsoft.com/office/drawing/2014/main" id="{FDC049E8-4896-4D15-BBA0-C845C8BC9F16}"/>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grpSp>
          <p:nvGrpSpPr>
            <p:cNvPr id="20537" name="Group 23">
              <a:extLst>
                <a:ext uri="{FF2B5EF4-FFF2-40B4-BE49-F238E27FC236}">
                  <a16:creationId xmlns:a16="http://schemas.microsoft.com/office/drawing/2014/main" id="{BF148B1F-5556-4CE3-933E-38F7E8691313}"/>
                </a:ext>
              </a:extLst>
            </p:cNvPr>
            <p:cNvGrpSpPr>
              <a:grpSpLocks/>
            </p:cNvGrpSpPr>
            <p:nvPr/>
          </p:nvGrpSpPr>
          <p:grpSpPr bwMode="auto">
            <a:xfrm>
              <a:off x="1173" y="890"/>
              <a:ext cx="2206" cy="904"/>
              <a:chOff x="1173" y="890"/>
              <a:chExt cx="2206" cy="904"/>
            </a:xfrm>
          </p:grpSpPr>
          <p:sp>
            <p:nvSpPr>
              <p:cNvPr id="123928" name="Text Box 24">
                <a:extLst>
                  <a:ext uri="{FF2B5EF4-FFF2-40B4-BE49-F238E27FC236}">
                    <a16:creationId xmlns:a16="http://schemas.microsoft.com/office/drawing/2014/main" id="{6CFF2B27-10B4-42E4-9EA2-22F1A675BF2D}"/>
                  </a:ext>
                </a:extLst>
              </p:cNvPr>
              <p:cNvSpPr txBox="1">
                <a:spLocks noChangeArrowheads="1"/>
              </p:cNvSpPr>
              <p:nvPr/>
            </p:nvSpPr>
            <p:spPr bwMode="gray">
              <a:xfrm>
                <a:off x="2330" y="1328"/>
                <a:ext cx="253" cy="28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1</a:t>
                </a:r>
              </a:p>
            </p:txBody>
          </p:sp>
          <p:sp>
            <p:nvSpPr>
              <p:cNvPr id="123929" name="Oval 25">
                <a:extLst>
                  <a:ext uri="{FF2B5EF4-FFF2-40B4-BE49-F238E27FC236}">
                    <a16:creationId xmlns:a16="http://schemas.microsoft.com/office/drawing/2014/main" id="{94F0D38E-F64C-4598-981B-2C8CCB4F63FD}"/>
                  </a:ext>
                </a:extLst>
              </p:cNvPr>
              <p:cNvSpPr>
                <a:spLocks noChangeArrowheads="1"/>
              </p:cNvSpPr>
              <p:nvPr/>
            </p:nvSpPr>
            <p:spPr bwMode="gray">
              <a:xfrm rot="16414109">
                <a:off x="2515" y="1627"/>
                <a:ext cx="57" cy="64"/>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30" name="Oval 26">
                <a:extLst>
                  <a:ext uri="{FF2B5EF4-FFF2-40B4-BE49-F238E27FC236}">
                    <a16:creationId xmlns:a16="http://schemas.microsoft.com/office/drawing/2014/main" id="{18088DB3-5899-4930-9E8E-A1E83A971239}"/>
                  </a:ext>
                </a:extLst>
              </p:cNvPr>
              <p:cNvSpPr>
                <a:spLocks noChangeArrowheads="1"/>
              </p:cNvSpPr>
              <p:nvPr/>
            </p:nvSpPr>
            <p:spPr bwMode="gray">
              <a:xfrm rot="16414109">
                <a:off x="2578" y="1734"/>
                <a:ext cx="57" cy="64"/>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41" name="Text Box 27">
                <a:extLst>
                  <a:ext uri="{FF2B5EF4-FFF2-40B4-BE49-F238E27FC236}">
                    <a16:creationId xmlns:a16="http://schemas.microsoft.com/office/drawing/2014/main" id="{1469E558-B205-4020-87C2-A9D275FD0307}"/>
                  </a:ext>
                </a:extLst>
              </p:cNvPr>
              <p:cNvSpPr txBox="1">
                <a:spLocks noChangeArrowheads="1"/>
              </p:cNvSpPr>
              <p:nvPr/>
            </p:nvSpPr>
            <p:spPr bwMode="gray">
              <a:xfrm>
                <a:off x="1173" y="890"/>
                <a:ext cx="220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当有多个项目时，会造成人员、设施、技术及设备等的重复配置</a:t>
                </a:r>
                <a:endParaRPr lang="en-US" altLang="zh-CN">
                  <a:solidFill>
                    <a:schemeClr val="tx2"/>
                  </a:solidFill>
                  <a:latin typeface="Lucida Sans Unicode" panose="020B0602030504020204" pitchFamily="34" charset="0"/>
                </a:endParaRPr>
              </a:p>
            </p:txBody>
          </p:sp>
        </p:grpSp>
      </p:grpSp>
      <p:grpSp>
        <p:nvGrpSpPr>
          <p:cNvPr id="10" name="Group 28">
            <a:extLst>
              <a:ext uri="{FF2B5EF4-FFF2-40B4-BE49-F238E27FC236}">
                <a16:creationId xmlns:a16="http://schemas.microsoft.com/office/drawing/2014/main" id="{ED2383EA-D0B1-4193-969B-D5B8CFC8E29A}"/>
              </a:ext>
            </a:extLst>
          </p:cNvPr>
          <p:cNvGrpSpPr>
            <a:grpSpLocks/>
          </p:cNvGrpSpPr>
          <p:nvPr/>
        </p:nvGrpSpPr>
        <p:grpSpPr bwMode="auto">
          <a:xfrm>
            <a:off x="323850" y="4076700"/>
            <a:ext cx="3330575" cy="857250"/>
            <a:chOff x="204" y="2568"/>
            <a:chExt cx="2098" cy="540"/>
          </a:xfrm>
        </p:grpSpPr>
        <p:grpSp>
          <p:nvGrpSpPr>
            <p:cNvPr id="20527" name="Group 29">
              <a:extLst>
                <a:ext uri="{FF2B5EF4-FFF2-40B4-BE49-F238E27FC236}">
                  <a16:creationId xmlns:a16="http://schemas.microsoft.com/office/drawing/2014/main" id="{E82754E5-85F4-4E9E-950C-8F7902C92FFC}"/>
                </a:ext>
              </a:extLst>
            </p:cNvPr>
            <p:cNvGrpSpPr>
              <a:grpSpLocks/>
            </p:cNvGrpSpPr>
            <p:nvPr/>
          </p:nvGrpSpPr>
          <p:grpSpPr bwMode="auto">
            <a:xfrm>
              <a:off x="2155" y="2568"/>
              <a:ext cx="147" cy="123"/>
              <a:chOff x="2236" y="3191"/>
              <a:chExt cx="201" cy="176"/>
            </a:xfrm>
          </p:grpSpPr>
          <p:sp>
            <p:nvSpPr>
              <p:cNvPr id="123934" name="Oval 30">
                <a:extLst>
                  <a:ext uri="{FF2B5EF4-FFF2-40B4-BE49-F238E27FC236}">
                    <a16:creationId xmlns:a16="http://schemas.microsoft.com/office/drawing/2014/main" id="{A03FB2C3-9F77-47AC-A141-6947DB651F8B}"/>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35" name="Oval 31">
                <a:extLst>
                  <a:ext uri="{FF2B5EF4-FFF2-40B4-BE49-F238E27FC236}">
                    <a16:creationId xmlns:a16="http://schemas.microsoft.com/office/drawing/2014/main" id="{8E017176-64A8-429E-BB00-CCFE30F5A6CA}"/>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nvGrpSpPr>
            <p:cNvPr id="20528" name="Group 32">
              <a:extLst>
                <a:ext uri="{FF2B5EF4-FFF2-40B4-BE49-F238E27FC236}">
                  <a16:creationId xmlns:a16="http://schemas.microsoft.com/office/drawing/2014/main" id="{1EEC40C6-2936-4094-B342-DA84288710B1}"/>
                </a:ext>
              </a:extLst>
            </p:cNvPr>
            <p:cNvGrpSpPr>
              <a:grpSpLocks/>
            </p:cNvGrpSpPr>
            <p:nvPr/>
          </p:nvGrpSpPr>
          <p:grpSpPr bwMode="auto">
            <a:xfrm>
              <a:off x="1792" y="2659"/>
              <a:ext cx="316" cy="344"/>
              <a:chOff x="1824" y="3357"/>
              <a:chExt cx="432" cy="494"/>
            </a:xfrm>
          </p:grpSpPr>
          <p:grpSp>
            <p:nvGrpSpPr>
              <p:cNvPr id="20530" name="Group 33">
                <a:extLst>
                  <a:ext uri="{FF2B5EF4-FFF2-40B4-BE49-F238E27FC236}">
                    <a16:creationId xmlns:a16="http://schemas.microsoft.com/office/drawing/2014/main" id="{2495EFB8-1C9C-48AF-A4BB-D71BDA4B6586}"/>
                  </a:ext>
                </a:extLst>
              </p:cNvPr>
              <p:cNvGrpSpPr>
                <a:grpSpLocks/>
              </p:cNvGrpSpPr>
              <p:nvPr/>
            </p:nvGrpSpPr>
            <p:grpSpPr bwMode="auto">
              <a:xfrm>
                <a:off x="1824" y="3357"/>
                <a:ext cx="432" cy="432"/>
                <a:chOff x="2016" y="1920"/>
                <a:chExt cx="1680" cy="1680"/>
              </a:xfrm>
            </p:grpSpPr>
            <p:sp>
              <p:nvSpPr>
                <p:cNvPr id="123938" name="Oval 34">
                  <a:extLst>
                    <a:ext uri="{FF2B5EF4-FFF2-40B4-BE49-F238E27FC236}">
                      <a16:creationId xmlns:a16="http://schemas.microsoft.com/office/drawing/2014/main" id="{75644F3A-6BBF-4E5C-9991-70A5331C2E86}"/>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33" name="Freeform 35">
                  <a:extLst>
                    <a:ext uri="{FF2B5EF4-FFF2-40B4-BE49-F238E27FC236}">
                      <a16:creationId xmlns:a16="http://schemas.microsoft.com/office/drawing/2014/main" id="{6C117404-BD47-46FE-861E-FF021C3313A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40" name="Text Box 36">
                <a:extLst>
                  <a:ext uri="{FF2B5EF4-FFF2-40B4-BE49-F238E27FC236}">
                    <a16:creationId xmlns:a16="http://schemas.microsoft.com/office/drawing/2014/main" id="{E8A0C2A9-E3AA-41FF-B919-E67887D15FAD}"/>
                  </a:ext>
                </a:extLst>
              </p:cNvPr>
              <p:cNvSpPr txBox="1">
                <a:spLocks noChangeArrowheads="1"/>
              </p:cNvSpPr>
              <p:nvPr/>
            </p:nvSpPr>
            <p:spPr bwMode="gray">
              <a:xfrm>
                <a:off x="1862" y="3437"/>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6</a:t>
                </a:r>
              </a:p>
            </p:txBody>
          </p:sp>
        </p:grpSp>
        <p:sp>
          <p:nvSpPr>
            <p:cNvPr id="20529" name="Text Box 37">
              <a:extLst>
                <a:ext uri="{FF2B5EF4-FFF2-40B4-BE49-F238E27FC236}">
                  <a16:creationId xmlns:a16="http://schemas.microsoft.com/office/drawing/2014/main" id="{E912E6EF-2A0A-42C4-A7E1-701682A3F272}"/>
                </a:ext>
              </a:extLst>
            </p:cNvPr>
            <p:cNvSpPr txBox="1">
              <a:spLocks noChangeArrowheads="1"/>
            </p:cNvSpPr>
            <p:nvPr/>
          </p:nvSpPr>
          <p:spPr bwMode="gray">
            <a:xfrm>
              <a:off x="204" y="2704"/>
              <a:ext cx="155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独立的项目组织综合效率低，管理成本高</a:t>
              </a:r>
              <a:endParaRPr lang="en-US" altLang="zh-CN">
                <a:solidFill>
                  <a:schemeClr val="tx2"/>
                </a:solidFill>
                <a:latin typeface="Lucida Sans Unicode" panose="020B0602030504020204" pitchFamily="34" charset="0"/>
              </a:endParaRPr>
            </a:p>
          </p:txBody>
        </p:sp>
      </p:grpSp>
      <p:grpSp>
        <p:nvGrpSpPr>
          <p:cNvPr id="14" name="Group 38">
            <a:extLst>
              <a:ext uri="{FF2B5EF4-FFF2-40B4-BE49-F238E27FC236}">
                <a16:creationId xmlns:a16="http://schemas.microsoft.com/office/drawing/2014/main" id="{329D40C6-72FB-4D82-BC09-08E6C74111B7}"/>
              </a:ext>
            </a:extLst>
          </p:cNvPr>
          <p:cNvGrpSpPr>
            <a:grpSpLocks/>
          </p:cNvGrpSpPr>
          <p:nvPr/>
        </p:nvGrpSpPr>
        <p:grpSpPr bwMode="auto">
          <a:xfrm>
            <a:off x="4976813" y="4203700"/>
            <a:ext cx="3698875" cy="563563"/>
            <a:chOff x="3135" y="2648"/>
            <a:chExt cx="2330" cy="355"/>
          </a:xfrm>
        </p:grpSpPr>
        <p:sp>
          <p:nvSpPr>
            <p:cNvPr id="123943" name="Oval 39">
              <a:extLst>
                <a:ext uri="{FF2B5EF4-FFF2-40B4-BE49-F238E27FC236}">
                  <a16:creationId xmlns:a16="http://schemas.microsoft.com/office/drawing/2014/main" id="{3038AF0B-315F-413E-BE47-2444B0ADFD17}"/>
                </a:ext>
              </a:extLst>
            </p:cNvPr>
            <p:cNvSpPr>
              <a:spLocks noChangeArrowheads="1"/>
            </p:cNvSpPr>
            <p:nvPr/>
          </p:nvSpPr>
          <p:spPr bwMode="gray">
            <a:xfrm rot="18227093">
              <a:off x="3246" y="2702"/>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44" name="Oval 40">
              <a:extLst>
                <a:ext uri="{FF2B5EF4-FFF2-40B4-BE49-F238E27FC236}">
                  <a16:creationId xmlns:a16="http://schemas.microsoft.com/office/drawing/2014/main" id="{CE879D39-D9E6-4AA5-9F19-B6041DEF2CCC}"/>
                </a:ext>
              </a:extLst>
            </p:cNvPr>
            <p:cNvSpPr>
              <a:spLocks noChangeArrowheads="1"/>
            </p:cNvSpPr>
            <p:nvPr/>
          </p:nvSpPr>
          <p:spPr bwMode="gray">
            <a:xfrm rot="18227093">
              <a:off x="3138" y="2645"/>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20521" name="Group 41">
              <a:extLst>
                <a:ext uri="{FF2B5EF4-FFF2-40B4-BE49-F238E27FC236}">
                  <a16:creationId xmlns:a16="http://schemas.microsoft.com/office/drawing/2014/main" id="{94527DF2-D273-4032-9FBE-E25054379658}"/>
                </a:ext>
              </a:extLst>
            </p:cNvPr>
            <p:cNvGrpSpPr>
              <a:grpSpLocks/>
            </p:cNvGrpSpPr>
            <p:nvPr/>
          </p:nvGrpSpPr>
          <p:grpSpPr bwMode="auto">
            <a:xfrm>
              <a:off x="3379" y="2700"/>
              <a:ext cx="301" cy="303"/>
              <a:chOff x="3552" y="3339"/>
              <a:chExt cx="412" cy="436"/>
            </a:xfrm>
          </p:grpSpPr>
          <p:grpSp>
            <p:nvGrpSpPr>
              <p:cNvPr id="20523" name="Group 42">
                <a:extLst>
                  <a:ext uri="{FF2B5EF4-FFF2-40B4-BE49-F238E27FC236}">
                    <a16:creationId xmlns:a16="http://schemas.microsoft.com/office/drawing/2014/main" id="{07D8242B-3B6A-42F1-800D-289D32E8C6E1}"/>
                  </a:ext>
                </a:extLst>
              </p:cNvPr>
              <p:cNvGrpSpPr>
                <a:grpSpLocks/>
              </p:cNvGrpSpPr>
              <p:nvPr/>
            </p:nvGrpSpPr>
            <p:grpSpPr bwMode="auto">
              <a:xfrm>
                <a:off x="3552" y="3339"/>
                <a:ext cx="412" cy="392"/>
                <a:chOff x="2016" y="1920"/>
                <a:chExt cx="1680" cy="1680"/>
              </a:xfrm>
            </p:grpSpPr>
            <p:sp>
              <p:nvSpPr>
                <p:cNvPr id="123947" name="Oval 43">
                  <a:extLst>
                    <a:ext uri="{FF2B5EF4-FFF2-40B4-BE49-F238E27FC236}">
                      <a16:creationId xmlns:a16="http://schemas.microsoft.com/office/drawing/2014/main" id="{A0B3B42E-5222-42B8-9E3C-CBB41F4CBFA6}"/>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26" name="Freeform 44">
                  <a:extLst>
                    <a:ext uri="{FF2B5EF4-FFF2-40B4-BE49-F238E27FC236}">
                      <a16:creationId xmlns:a16="http://schemas.microsoft.com/office/drawing/2014/main" id="{2E9ABB1E-E783-4060-89F8-4D3569D488EE}"/>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49" name="Text Box 45">
                <a:extLst>
                  <a:ext uri="{FF2B5EF4-FFF2-40B4-BE49-F238E27FC236}">
                    <a16:creationId xmlns:a16="http://schemas.microsoft.com/office/drawing/2014/main" id="{C48D7701-2389-4BBE-8E17-04ABF03C4B50}"/>
                  </a:ext>
                </a:extLst>
              </p:cNvPr>
              <p:cNvSpPr txBox="1">
                <a:spLocks noChangeArrowheads="1"/>
              </p:cNvSpPr>
              <p:nvPr/>
            </p:nvSpPr>
            <p:spPr bwMode="gray">
              <a:xfrm>
                <a:off x="3607" y="3361"/>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4</a:t>
                </a:r>
              </a:p>
            </p:txBody>
          </p:sp>
        </p:grpSp>
        <p:sp>
          <p:nvSpPr>
            <p:cNvPr id="20522" name="Text Box 46">
              <a:extLst>
                <a:ext uri="{FF2B5EF4-FFF2-40B4-BE49-F238E27FC236}">
                  <a16:creationId xmlns:a16="http://schemas.microsoft.com/office/drawing/2014/main" id="{EAA3A035-C13B-4E55-AC93-B3E785DB7CEB}"/>
                </a:ext>
              </a:extLst>
            </p:cNvPr>
            <p:cNvSpPr txBox="1">
              <a:spLocks noChangeArrowheads="1"/>
            </p:cNvSpPr>
            <p:nvPr/>
          </p:nvSpPr>
          <p:spPr bwMode="gray">
            <a:xfrm>
              <a:off x="3739" y="2704"/>
              <a:ext cx="172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不利于项目与外界的沟通</a:t>
              </a:r>
              <a:endParaRPr lang="en-US" altLang="zh-CN">
                <a:solidFill>
                  <a:schemeClr val="tx2"/>
                </a:solidFill>
                <a:latin typeface="Lucida Sans Unicode" panose="020B0602030504020204" pitchFamily="34" charset="0"/>
              </a:endParaRPr>
            </a:p>
          </p:txBody>
        </p:sp>
      </p:grpSp>
      <p:grpSp>
        <p:nvGrpSpPr>
          <p:cNvPr id="17" name="Group 47">
            <a:extLst>
              <a:ext uri="{FF2B5EF4-FFF2-40B4-BE49-F238E27FC236}">
                <a16:creationId xmlns:a16="http://schemas.microsoft.com/office/drawing/2014/main" id="{24261187-F75F-4465-8E41-C6F5334DB11F}"/>
              </a:ext>
            </a:extLst>
          </p:cNvPr>
          <p:cNvGrpSpPr>
            <a:grpSpLocks/>
          </p:cNvGrpSpPr>
          <p:nvPr/>
        </p:nvGrpSpPr>
        <p:grpSpPr bwMode="auto">
          <a:xfrm>
            <a:off x="4832350" y="2043113"/>
            <a:ext cx="3340100" cy="915987"/>
            <a:chOff x="3044" y="1287"/>
            <a:chExt cx="2104" cy="577"/>
          </a:xfrm>
        </p:grpSpPr>
        <p:grpSp>
          <p:nvGrpSpPr>
            <p:cNvPr id="20511" name="Group 48">
              <a:extLst>
                <a:ext uri="{FF2B5EF4-FFF2-40B4-BE49-F238E27FC236}">
                  <a16:creationId xmlns:a16="http://schemas.microsoft.com/office/drawing/2014/main" id="{DA45CD6A-7F87-4E54-BE27-1607AF72E8EC}"/>
                </a:ext>
              </a:extLst>
            </p:cNvPr>
            <p:cNvGrpSpPr>
              <a:grpSpLocks/>
            </p:cNvGrpSpPr>
            <p:nvPr/>
          </p:nvGrpSpPr>
          <p:grpSpPr bwMode="auto">
            <a:xfrm>
              <a:off x="3157" y="1389"/>
              <a:ext cx="313" cy="304"/>
              <a:chOff x="2016" y="1920"/>
              <a:chExt cx="1680" cy="1680"/>
            </a:xfrm>
          </p:grpSpPr>
          <p:sp>
            <p:nvSpPr>
              <p:cNvPr id="123953" name="Oval 49">
                <a:extLst>
                  <a:ext uri="{FF2B5EF4-FFF2-40B4-BE49-F238E27FC236}">
                    <a16:creationId xmlns:a16="http://schemas.microsoft.com/office/drawing/2014/main" id="{C05D2088-0609-49B7-94DD-415D885C5F0C}"/>
                  </a:ext>
                </a:extLst>
              </p:cNvPr>
              <p:cNvSpPr>
                <a:spLocks noChangeArrowheads="1"/>
              </p:cNvSpPr>
              <p:nvPr/>
            </p:nvSpPr>
            <p:spPr bwMode="gray">
              <a:xfrm>
                <a:off x="2016" y="1920"/>
                <a:ext cx="1680" cy="1680"/>
              </a:xfrm>
              <a:prstGeom prst="ellipse">
                <a:avLst/>
              </a:prstGeom>
              <a:gradFill rotWithShape="1">
                <a:gsLst>
                  <a:gs pos="0">
                    <a:schemeClr val="hlink"/>
                  </a:gs>
                  <a:gs pos="100000">
                    <a:schemeClr val="hlink">
                      <a:gamma/>
                      <a:tint val="57647"/>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18" name="Freeform 50">
                <a:extLst>
                  <a:ext uri="{FF2B5EF4-FFF2-40B4-BE49-F238E27FC236}">
                    <a16:creationId xmlns:a16="http://schemas.microsoft.com/office/drawing/2014/main" id="{DD0AF5B0-4863-45BD-8845-A08D39EE97F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grpSp>
          <p:nvGrpSpPr>
            <p:cNvPr id="20512" name="Group 51">
              <a:extLst>
                <a:ext uri="{FF2B5EF4-FFF2-40B4-BE49-F238E27FC236}">
                  <a16:creationId xmlns:a16="http://schemas.microsoft.com/office/drawing/2014/main" id="{BF0D5E5F-5F5B-4791-982D-96F4963D93D2}"/>
                </a:ext>
              </a:extLst>
            </p:cNvPr>
            <p:cNvGrpSpPr>
              <a:grpSpLocks/>
            </p:cNvGrpSpPr>
            <p:nvPr/>
          </p:nvGrpSpPr>
          <p:grpSpPr bwMode="auto">
            <a:xfrm>
              <a:off x="3044" y="1287"/>
              <a:ext cx="2104" cy="577"/>
              <a:chOff x="3044" y="1298"/>
              <a:chExt cx="2104" cy="577"/>
            </a:xfrm>
          </p:grpSpPr>
          <p:sp>
            <p:nvSpPr>
              <p:cNvPr id="123956" name="Text Box 52">
                <a:extLst>
                  <a:ext uri="{FF2B5EF4-FFF2-40B4-BE49-F238E27FC236}">
                    <a16:creationId xmlns:a16="http://schemas.microsoft.com/office/drawing/2014/main" id="{49215505-C0A6-4586-BBA0-E35031246D77}"/>
                  </a:ext>
                </a:extLst>
              </p:cNvPr>
              <p:cNvSpPr txBox="1">
                <a:spLocks noChangeArrowheads="1"/>
              </p:cNvSpPr>
              <p:nvPr/>
            </p:nvSpPr>
            <p:spPr bwMode="gray">
              <a:xfrm>
                <a:off x="3182" y="1431"/>
                <a:ext cx="255" cy="288"/>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2</a:t>
                </a:r>
              </a:p>
            </p:txBody>
          </p:sp>
          <p:sp>
            <p:nvSpPr>
              <p:cNvPr id="123957" name="Oval 53">
                <a:extLst>
                  <a:ext uri="{FF2B5EF4-FFF2-40B4-BE49-F238E27FC236}">
                    <a16:creationId xmlns:a16="http://schemas.microsoft.com/office/drawing/2014/main" id="{D43A1434-F823-47B4-9625-E9AC08A2E302}"/>
                  </a:ext>
                </a:extLst>
              </p:cNvPr>
              <p:cNvSpPr>
                <a:spLocks noChangeArrowheads="1"/>
              </p:cNvSpPr>
              <p:nvPr/>
            </p:nvSpPr>
            <p:spPr bwMode="gray">
              <a:xfrm rot="18227093">
                <a:off x="3137" y="1703"/>
                <a:ext cx="57"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58" name="Oval 54">
                <a:extLst>
                  <a:ext uri="{FF2B5EF4-FFF2-40B4-BE49-F238E27FC236}">
                    <a16:creationId xmlns:a16="http://schemas.microsoft.com/office/drawing/2014/main" id="{DE59BA99-D53A-4982-AE52-99C43FB02D49}"/>
                  </a:ext>
                </a:extLst>
              </p:cNvPr>
              <p:cNvSpPr>
                <a:spLocks noChangeArrowheads="1"/>
              </p:cNvSpPr>
              <p:nvPr/>
            </p:nvSpPr>
            <p:spPr bwMode="gray">
              <a:xfrm rot="18227093">
                <a:off x="3048" y="1793"/>
                <a:ext cx="56"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16" name="Text Box 55">
                <a:extLst>
                  <a:ext uri="{FF2B5EF4-FFF2-40B4-BE49-F238E27FC236}">
                    <a16:creationId xmlns:a16="http://schemas.microsoft.com/office/drawing/2014/main" id="{C857559E-AE91-40DD-AD6E-1D76AD6164ED}"/>
                  </a:ext>
                </a:extLst>
              </p:cNvPr>
              <p:cNvSpPr txBox="1">
                <a:spLocks noChangeArrowheads="1"/>
              </p:cNvSpPr>
              <p:nvPr/>
            </p:nvSpPr>
            <p:spPr bwMode="gray">
              <a:xfrm>
                <a:off x="3560" y="1298"/>
                <a:ext cx="1588"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项目经理往往会将关键资源预先储备，造成浪费</a:t>
                </a:r>
                <a:endParaRPr lang="en-US" altLang="zh-CN">
                  <a:solidFill>
                    <a:schemeClr val="tx2"/>
                  </a:solidFill>
                  <a:latin typeface="Lucida Sans Unicode" panose="020B0602030504020204" pitchFamily="34" charset="0"/>
                </a:endParaRPr>
              </a:p>
            </p:txBody>
          </p:sp>
        </p:grpSp>
      </p:grpSp>
      <p:grpSp>
        <p:nvGrpSpPr>
          <p:cNvPr id="20" name="Group 56">
            <a:extLst>
              <a:ext uri="{FF2B5EF4-FFF2-40B4-BE49-F238E27FC236}">
                <a16:creationId xmlns:a16="http://schemas.microsoft.com/office/drawing/2014/main" id="{AC69741D-80BD-43CE-9748-304FE74B1BE3}"/>
              </a:ext>
            </a:extLst>
          </p:cNvPr>
          <p:cNvGrpSpPr>
            <a:grpSpLocks/>
          </p:cNvGrpSpPr>
          <p:nvPr/>
        </p:nvGrpSpPr>
        <p:grpSpPr bwMode="auto">
          <a:xfrm>
            <a:off x="3059113" y="4437063"/>
            <a:ext cx="3241675" cy="1450975"/>
            <a:chOff x="1927" y="2795"/>
            <a:chExt cx="2042" cy="914"/>
          </a:xfrm>
        </p:grpSpPr>
        <p:grpSp>
          <p:nvGrpSpPr>
            <p:cNvPr id="20501" name="Group 57">
              <a:extLst>
                <a:ext uri="{FF2B5EF4-FFF2-40B4-BE49-F238E27FC236}">
                  <a16:creationId xmlns:a16="http://schemas.microsoft.com/office/drawing/2014/main" id="{16E77359-C132-4166-BCE9-45AFE1196D33}"/>
                </a:ext>
              </a:extLst>
            </p:cNvPr>
            <p:cNvGrpSpPr>
              <a:grpSpLocks/>
            </p:cNvGrpSpPr>
            <p:nvPr/>
          </p:nvGrpSpPr>
          <p:grpSpPr bwMode="auto">
            <a:xfrm>
              <a:off x="2608" y="2795"/>
              <a:ext cx="315" cy="491"/>
              <a:chOff x="2629" y="3031"/>
              <a:chExt cx="315" cy="491"/>
            </a:xfrm>
          </p:grpSpPr>
          <p:grpSp>
            <p:nvGrpSpPr>
              <p:cNvPr id="20503" name="Group 58">
                <a:extLst>
                  <a:ext uri="{FF2B5EF4-FFF2-40B4-BE49-F238E27FC236}">
                    <a16:creationId xmlns:a16="http://schemas.microsoft.com/office/drawing/2014/main" id="{3F76D720-BF25-403E-BB53-0EF20281B947}"/>
                  </a:ext>
                </a:extLst>
              </p:cNvPr>
              <p:cNvGrpSpPr>
                <a:grpSpLocks/>
              </p:cNvGrpSpPr>
              <p:nvPr/>
            </p:nvGrpSpPr>
            <p:grpSpPr bwMode="auto">
              <a:xfrm flipV="1">
                <a:off x="2629" y="3233"/>
                <a:ext cx="315" cy="289"/>
                <a:chOff x="2640" y="1088"/>
                <a:chExt cx="432" cy="415"/>
              </a:xfrm>
            </p:grpSpPr>
            <p:grpSp>
              <p:nvGrpSpPr>
                <p:cNvPr id="20507" name="Group 59">
                  <a:extLst>
                    <a:ext uri="{FF2B5EF4-FFF2-40B4-BE49-F238E27FC236}">
                      <a16:creationId xmlns:a16="http://schemas.microsoft.com/office/drawing/2014/main" id="{B4BCF16A-9296-473F-9844-FD73443130CE}"/>
                    </a:ext>
                  </a:extLst>
                </p:cNvPr>
                <p:cNvGrpSpPr>
                  <a:grpSpLocks/>
                </p:cNvGrpSpPr>
                <p:nvPr/>
              </p:nvGrpSpPr>
              <p:grpSpPr bwMode="auto">
                <a:xfrm>
                  <a:off x="2640" y="1088"/>
                  <a:ext cx="432" cy="415"/>
                  <a:chOff x="2016" y="1920"/>
                  <a:chExt cx="1680" cy="1680"/>
                </a:xfrm>
              </p:grpSpPr>
              <p:sp>
                <p:nvSpPr>
                  <p:cNvPr id="123964" name="Oval 60">
                    <a:extLst>
                      <a:ext uri="{FF2B5EF4-FFF2-40B4-BE49-F238E27FC236}">
                        <a16:creationId xmlns:a16="http://schemas.microsoft.com/office/drawing/2014/main" id="{CE062A46-3016-4CA9-A132-677269E2CB67}"/>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10" name="Freeform 61">
                    <a:extLst>
                      <a:ext uri="{FF2B5EF4-FFF2-40B4-BE49-F238E27FC236}">
                        <a16:creationId xmlns:a16="http://schemas.microsoft.com/office/drawing/2014/main" id="{4D3AF90D-2396-452C-A186-57A25FAE5218}"/>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66" name="Text Box 62">
                  <a:extLst>
                    <a:ext uri="{FF2B5EF4-FFF2-40B4-BE49-F238E27FC236}">
                      <a16:creationId xmlns:a16="http://schemas.microsoft.com/office/drawing/2014/main" id="{D25DE20A-0F5A-422F-8282-E68225EABC0D}"/>
                    </a:ext>
                  </a:extLst>
                </p:cNvPr>
                <p:cNvSpPr txBox="1">
                  <a:spLocks noChangeArrowheads="1"/>
                </p:cNvSpPr>
                <p:nvPr/>
              </p:nvSpPr>
              <p:spPr bwMode="gray">
                <a:xfrm flipV="1">
                  <a:off x="2691" y="1088"/>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5</a:t>
                  </a:r>
                </a:p>
              </p:txBody>
            </p:sp>
          </p:grpSp>
          <p:grpSp>
            <p:nvGrpSpPr>
              <p:cNvPr id="20504" name="Group 63">
                <a:extLst>
                  <a:ext uri="{FF2B5EF4-FFF2-40B4-BE49-F238E27FC236}">
                    <a16:creationId xmlns:a16="http://schemas.microsoft.com/office/drawing/2014/main" id="{568755FF-019E-4B91-BD60-4CC163967D67}"/>
                  </a:ext>
                </a:extLst>
              </p:cNvPr>
              <p:cNvGrpSpPr>
                <a:grpSpLocks/>
              </p:cNvGrpSpPr>
              <p:nvPr/>
            </p:nvGrpSpPr>
            <p:grpSpPr bwMode="auto">
              <a:xfrm flipV="1">
                <a:off x="2769" y="3031"/>
                <a:ext cx="64" cy="181"/>
                <a:chOff x="2832" y="1612"/>
                <a:chExt cx="87" cy="260"/>
              </a:xfrm>
            </p:grpSpPr>
            <p:sp>
              <p:nvSpPr>
                <p:cNvPr id="123968" name="Oval 64">
                  <a:extLst>
                    <a:ext uri="{FF2B5EF4-FFF2-40B4-BE49-F238E27FC236}">
                      <a16:creationId xmlns:a16="http://schemas.microsoft.com/office/drawing/2014/main" id="{C76CAADD-994A-49E9-A29F-7395AF0FD0A4}"/>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69" name="Oval 65">
                  <a:extLst>
                    <a:ext uri="{FF2B5EF4-FFF2-40B4-BE49-F238E27FC236}">
                      <a16:creationId xmlns:a16="http://schemas.microsoft.com/office/drawing/2014/main" id="{ED4884AA-5948-4A55-A25B-DCA915623CB8}"/>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sp>
          <p:nvSpPr>
            <p:cNvPr id="20502" name="Text Box 66">
              <a:extLst>
                <a:ext uri="{FF2B5EF4-FFF2-40B4-BE49-F238E27FC236}">
                  <a16:creationId xmlns:a16="http://schemas.microsoft.com/office/drawing/2014/main" id="{B9F44BE3-4E5C-4FAE-8B91-45C94765FBC9}"/>
                </a:ext>
              </a:extLst>
            </p:cNvPr>
            <p:cNvSpPr txBox="1">
              <a:spLocks noChangeArrowheads="1"/>
            </p:cNvSpPr>
            <p:nvPr/>
          </p:nvSpPr>
          <p:spPr bwMode="gray">
            <a:xfrm>
              <a:off x="1927" y="3339"/>
              <a:ext cx="204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pPr>
              <a:r>
                <a:rPr lang="zh-CN" altLang="en-US">
                  <a:solidFill>
                    <a:schemeClr val="tx2"/>
                  </a:solidFill>
                  <a:latin typeface="Lucida Sans Unicode" panose="020B0602030504020204" pitchFamily="34" charset="0"/>
                </a:rPr>
                <a:t>对项目成员来说，缺乏一种事业的连续性和保障</a:t>
              </a:r>
              <a:endParaRPr lang="en-US" altLang="zh-CN">
                <a:solidFill>
                  <a:schemeClr val="tx2"/>
                </a:solidFill>
                <a:latin typeface="Lucida Sans Unicode" panose="020B0602030504020204" pitchFamily="34" charset="0"/>
              </a:endParaRPr>
            </a:p>
          </p:txBody>
        </p:sp>
      </p:grpSp>
      <p:grpSp>
        <p:nvGrpSpPr>
          <p:cNvPr id="25" name="Group 67">
            <a:extLst>
              <a:ext uri="{FF2B5EF4-FFF2-40B4-BE49-F238E27FC236}">
                <a16:creationId xmlns:a16="http://schemas.microsoft.com/office/drawing/2014/main" id="{3D003F36-78C5-484E-AE3F-BB79A0A7E664}"/>
              </a:ext>
            </a:extLst>
          </p:cNvPr>
          <p:cNvGrpSpPr>
            <a:grpSpLocks/>
          </p:cNvGrpSpPr>
          <p:nvPr/>
        </p:nvGrpSpPr>
        <p:grpSpPr bwMode="auto">
          <a:xfrm>
            <a:off x="5216525" y="3068638"/>
            <a:ext cx="3603625" cy="798512"/>
            <a:chOff x="3286" y="1933"/>
            <a:chExt cx="2270" cy="503"/>
          </a:xfrm>
        </p:grpSpPr>
        <p:grpSp>
          <p:nvGrpSpPr>
            <p:cNvPr id="20493" name="Group 68">
              <a:extLst>
                <a:ext uri="{FF2B5EF4-FFF2-40B4-BE49-F238E27FC236}">
                  <a16:creationId xmlns:a16="http://schemas.microsoft.com/office/drawing/2014/main" id="{5EF4F1EB-F786-4583-9E13-F672FC09482B}"/>
                </a:ext>
              </a:extLst>
            </p:cNvPr>
            <p:cNvGrpSpPr>
              <a:grpSpLocks/>
            </p:cNvGrpSpPr>
            <p:nvPr/>
          </p:nvGrpSpPr>
          <p:grpSpPr bwMode="auto">
            <a:xfrm>
              <a:off x="3560" y="2115"/>
              <a:ext cx="315" cy="321"/>
              <a:chOff x="1488" y="1968"/>
              <a:chExt cx="432" cy="461"/>
            </a:xfrm>
          </p:grpSpPr>
          <p:grpSp>
            <p:nvGrpSpPr>
              <p:cNvPr id="20497" name="Group 69">
                <a:extLst>
                  <a:ext uri="{FF2B5EF4-FFF2-40B4-BE49-F238E27FC236}">
                    <a16:creationId xmlns:a16="http://schemas.microsoft.com/office/drawing/2014/main" id="{88D00D05-D37F-4E2C-90F2-02F95C18AC56}"/>
                  </a:ext>
                </a:extLst>
              </p:cNvPr>
              <p:cNvGrpSpPr>
                <a:grpSpLocks/>
              </p:cNvGrpSpPr>
              <p:nvPr/>
            </p:nvGrpSpPr>
            <p:grpSpPr bwMode="auto">
              <a:xfrm>
                <a:off x="1488" y="1968"/>
                <a:ext cx="432" cy="432"/>
                <a:chOff x="2016" y="1920"/>
                <a:chExt cx="1680" cy="1680"/>
              </a:xfrm>
            </p:grpSpPr>
            <p:sp>
              <p:nvSpPr>
                <p:cNvPr id="123974" name="Oval 70">
                  <a:extLst>
                    <a:ext uri="{FF2B5EF4-FFF2-40B4-BE49-F238E27FC236}">
                      <a16:creationId xmlns:a16="http://schemas.microsoft.com/office/drawing/2014/main" id="{82383CA5-5DAB-4FB3-9D9C-5C32CCDCBB93}"/>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500" name="Freeform 71">
                  <a:extLst>
                    <a:ext uri="{FF2B5EF4-FFF2-40B4-BE49-F238E27FC236}">
                      <a16:creationId xmlns:a16="http://schemas.microsoft.com/office/drawing/2014/main" id="{8A4BEF0F-5D02-4270-AF03-77042E896900}"/>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23976" name="Text Box 72">
                <a:extLst>
                  <a:ext uri="{FF2B5EF4-FFF2-40B4-BE49-F238E27FC236}">
                    <a16:creationId xmlns:a16="http://schemas.microsoft.com/office/drawing/2014/main" id="{EBF477C6-058E-4E6F-B257-F49C1E2BCF8F}"/>
                  </a:ext>
                </a:extLst>
              </p:cNvPr>
              <p:cNvSpPr txBox="1">
                <a:spLocks noChangeArrowheads="1"/>
              </p:cNvSpPr>
              <p:nvPr/>
            </p:nvSpPr>
            <p:spPr bwMode="gray">
              <a:xfrm>
                <a:off x="1540" y="2015"/>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3</a:t>
                </a:r>
              </a:p>
            </p:txBody>
          </p:sp>
        </p:grpSp>
        <p:sp>
          <p:nvSpPr>
            <p:cNvPr id="123977" name="Oval 73">
              <a:extLst>
                <a:ext uri="{FF2B5EF4-FFF2-40B4-BE49-F238E27FC236}">
                  <a16:creationId xmlns:a16="http://schemas.microsoft.com/office/drawing/2014/main" id="{D0E15DBF-17A3-40E7-8D02-5C22538E3DEB}"/>
                </a:ext>
              </a:extLst>
            </p:cNvPr>
            <p:cNvSpPr>
              <a:spLocks noChangeArrowheads="1"/>
            </p:cNvSpPr>
            <p:nvPr/>
          </p:nvSpPr>
          <p:spPr bwMode="gray">
            <a:xfrm rot="17873405">
              <a:off x="3289" y="2236"/>
              <a:ext cx="57" cy="64"/>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23978" name="Oval 74">
              <a:extLst>
                <a:ext uri="{FF2B5EF4-FFF2-40B4-BE49-F238E27FC236}">
                  <a16:creationId xmlns:a16="http://schemas.microsoft.com/office/drawing/2014/main" id="{46840CA6-4F7D-49F4-87E0-6F2B13C6DDDD}"/>
                </a:ext>
              </a:extLst>
            </p:cNvPr>
            <p:cNvSpPr>
              <a:spLocks noChangeArrowheads="1"/>
            </p:cNvSpPr>
            <p:nvPr/>
          </p:nvSpPr>
          <p:spPr bwMode="gray">
            <a:xfrm rot="17873405">
              <a:off x="3397" y="2230"/>
              <a:ext cx="57" cy="64"/>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0496" name="Text Box 75">
              <a:extLst>
                <a:ext uri="{FF2B5EF4-FFF2-40B4-BE49-F238E27FC236}">
                  <a16:creationId xmlns:a16="http://schemas.microsoft.com/office/drawing/2014/main" id="{F0DC89D2-D892-4E4E-A336-DF81CF3C162F}"/>
                </a:ext>
              </a:extLst>
            </p:cNvPr>
            <p:cNvSpPr txBox="1">
              <a:spLocks noChangeArrowheads="1"/>
            </p:cNvSpPr>
            <p:nvPr/>
          </p:nvSpPr>
          <p:spPr bwMode="gray">
            <a:xfrm>
              <a:off x="3969" y="1933"/>
              <a:ext cx="158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易造成在公司规章制度上的不一致性</a:t>
              </a:r>
              <a:endParaRPr lang="en-US" altLang="zh-CN">
                <a:solidFill>
                  <a:schemeClr val="tx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1000"/>
                                        <p:tgtEl>
                                          <p:spTgt spid="17"/>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1000"/>
                                        <p:tgtEl>
                                          <p:spTgt spid="25"/>
                                        </p:tgtEl>
                                      </p:cBhvr>
                                    </p:animEffect>
                                  </p:childTnLst>
                                </p:cTn>
                              </p:par>
                            </p:childTnLst>
                          </p:cTn>
                        </p:par>
                        <p:par>
                          <p:cTn id="16" fill="hold" nodeType="afterGroup">
                            <p:stCondLst>
                              <p:cond delay="3000"/>
                            </p:stCondLst>
                            <p:childTnLst>
                              <p:par>
                                <p:cTn id="17" presetID="10"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childTnLst>
                                </p:cTn>
                              </p:par>
                            </p:childTnLst>
                          </p:cTn>
                        </p:par>
                        <p:par>
                          <p:cTn id="20" fill="hold" nodeType="afterGroup">
                            <p:stCondLst>
                              <p:cond delay="4000"/>
                            </p:stCondLst>
                            <p:childTnLst>
                              <p:par>
                                <p:cTn id="21" presetID="10"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1000"/>
                                        <p:tgtEl>
                                          <p:spTgt spid="20"/>
                                        </p:tgtEl>
                                      </p:cBhvr>
                                    </p:animEffect>
                                  </p:childTnLst>
                                </p:cTn>
                              </p:par>
                            </p:childTnLst>
                          </p:cTn>
                        </p:par>
                        <p:par>
                          <p:cTn id="24" fill="hold" nodeType="afterGroup">
                            <p:stCondLst>
                              <p:cond delay="5000"/>
                            </p:stCondLst>
                            <p:childTnLst>
                              <p:par>
                                <p:cTn id="25" presetID="10" presetClass="entr" presetSubtype="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childTnLst>
                          </p:cTn>
                        </p:par>
                        <p:par>
                          <p:cTn id="28" fill="hold" nodeType="afterGroup">
                            <p:stCondLst>
                              <p:cond delay="6000"/>
                            </p:stCondLst>
                            <p:childTnLst>
                              <p:par>
                                <p:cTn id="29" presetID="10" presetClass="entr" presetSubtype="0"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6A4111CF-735F-40B0-99A3-7D95E81ACECF}"/>
              </a:ext>
            </a:extLst>
          </p:cNvPr>
          <p:cNvSpPr>
            <a:spLocks noGrp="1" noChangeArrowheads="1"/>
          </p:cNvSpPr>
          <p:nvPr>
            <p:ph type="title"/>
          </p:nvPr>
        </p:nvSpPr>
        <p:spPr/>
        <p:txBody>
          <a:bodyPr/>
          <a:lstStyle/>
          <a:p>
            <a:pPr eaLnBrk="1" fontAlgn="auto" hangingPunct="1">
              <a:spcAft>
                <a:spcPts val="0"/>
              </a:spcAft>
              <a:defRPr/>
            </a:pPr>
            <a:r>
              <a:rPr lang="en-US" altLang="zh-CN" dirty="0"/>
              <a:t>3</a:t>
            </a:r>
            <a:r>
              <a:rPr lang="zh-CN" altLang="en-US" dirty="0"/>
              <a:t>、矩阵式项目组织</a:t>
            </a:r>
          </a:p>
        </p:txBody>
      </p:sp>
      <p:sp>
        <p:nvSpPr>
          <p:cNvPr id="124932" name="Rectangle 4">
            <a:extLst>
              <a:ext uri="{FF2B5EF4-FFF2-40B4-BE49-F238E27FC236}">
                <a16:creationId xmlns:a16="http://schemas.microsoft.com/office/drawing/2014/main" id="{9D4F8800-0123-433F-B13F-917FCCCA30A3}"/>
              </a:ext>
            </a:extLst>
          </p:cNvPr>
          <p:cNvSpPr>
            <a:spLocks noChangeArrowheads="1"/>
          </p:cNvSpPr>
          <p:nvPr/>
        </p:nvSpPr>
        <p:spPr bwMode="gray">
          <a:xfrm>
            <a:off x="828675" y="1484313"/>
            <a:ext cx="7704138" cy="1069975"/>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a:solidFill>
                  <a:schemeClr val="tx2"/>
                </a:solidFill>
                <a:latin typeface="Lucida Sans Unicode" panose="020B0602030504020204" pitchFamily="34" charset="0"/>
              </a:rPr>
              <a:t>矩阵式组织介于职能式组织和项目式组织之间，兼顾两者的特征。矩阵式组织既可用于企业产品生产管理，也可用于企业的项目管理。典型的矩阵式项目组织见图，其中项目经理主任负责协调项目经理之间的关系，如果不设置项目经理主任，则由总经理直接协调项目经理与部门经理之间的关系。</a:t>
            </a:r>
          </a:p>
        </p:txBody>
      </p:sp>
      <p:pic>
        <p:nvPicPr>
          <p:cNvPr id="124933" name="Picture 5" descr="Fig">
            <a:extLst>
              <a:ext uri="{FF2B5EF4-FFF2-40B4-BE49-F238E27FC236}">
                <a16:creationId xmlns:a16="http://schemas.microsoft.com/office/drawing/2014/main" id="{DEFA1A1A-D747-428A-B937-5A596EAC5AD4}"/>
              </a:ext>
            </a:extLst>
          </p:cNvPr>
          <p:cNvPicPr>
            <a:picLocks noChangeAspect="1" noChangeArrowheads="1"/>
          </p:cNvPicPr>
          <p:nvPr/>
        </p:nvPicPr>
        <p:blipFill>
          <a:blip r:embed="rId2">
            <a:lum bright="-18000" contrast="18000"/>
            <a:extLst>
              <a:ext uri="{28A0092B-C50C-407E-A947-70E740481C1C}">
                <a14:useLocalDpi xmlns:a14="http://schemas.microsoft.com/office/drawing/2010/main" val="0"/>
              </a:ext>
            </a:extLst>
          </a:blip>
          <a:srcRect/>
          <a:stretch>
            <a:fillRect/>
          </a:stretch>
        </p:blipFill>
        <p:spPr bwMode="auto">
          <a:xfrm>
            <a:off x="1619250" y="2636838"/>
            <a:ext cx="5903913"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932"/>
                                        </p:tgtEl>
                                        <p:attrNameLst>
                                          <p:attrName>style.visibility</p:attrName>
                                        </p:attrNameLst>
                                      </p:cBhvr>
                                      <p:to>
                                        <p:strVal val="visible"/>
                                      </p:to>
                                    </p:set>
                                    <p:animEffect transition="in" filter="wipe(up)">
                                      <p:cBhvr>
                                        <p:cTn id="7" dur="1000"/>
                                        <p:tgtEl>
                                          <p:spTgt spid="124932"/>
                                        </p:tgtEl>
                                      </p:cBhvr>
                                    </p:animEffect>
                                  </p:childTnLst>
                                </p:cTn>
                              </p:par>
                            </p:childTnLst>
                          </p:cTn>
                        </p:par>
                        <p:par>
                          <p:cTn id="8" fill="hold" nodeType="afterGroup">
                            <p:stCondLst>
                              <p:cond delay="1000"/>
                            </p:stCondLst>
                            <p:childTnLst>
                              <p:par>
                                <p:cTn id="9" presetID="22" presetClass="entr" presetSubtype="1" fill="hold" nodeType="afterEffect">
                                  <p:stCondLst>
                                    <p:cond delay="0"/>
                                  </p:stCondLst>
                                  <p:childTnLst>
                                    <p:set>
                                      <p:cBhvr>
                                        <p:cTn id="10" dur="1" fill="hold">
                                          <p:stCondLst>
                                            <p:cond delay="0"/>
                                          </p:stCondLst>
                                        </p:cTn>
                                        <p:tgtEl>
                                          <p:spTgt spid="124933"/>
                                        </p:tgtEl>
                                        <p:attrNameLst>
                                          <p:attrName>style.visibility</p:attrName>
                                        </p:attrNameLst>
                                      </p:cBhvr>
                                      <p:to>
                                        <p:strVal val="visible"/>
                                      </p:to>
                                    </p:set>
                                    <p:animEffect transition="in" filter="wipe(up)">
                                      <p:cBhvr>
                                        <p:cTn id="11" dur="1000"/>
                                        <p:tgtEl>
                                          <p:spTgt spid="124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Rectangle 4">
            <a:extLst>
              <a:ext uri="{FF2B5EF4-FFF2-40B4-BE49-F238E27FC236}">
                <a16:creationId xmlns:a16="http://schemas.microsoft.com/office/drawing/2014/main" id="{594D1B11-49D6-400D-B5BA-BDC65F7FE536}"/>
              </a:ext>
            </a:extLst>
          </p:cNvPr>
          <p:cNvSpPr>
            <a:spLocks noChangeArrowheads="1"/>
          </p:cNvSpPr>
          <p:nvPr/>
        </p:nvSpPr>
        <p:spPr bwMode="gray">
          <a:xfrm>
            <a:off x="1258888" y="1557338"/>
            <a:ext cx="6530975" cy="641350"/>
          </a:xfrm>
          <a:prstGeom prst="rect">
            <a:avLst/>
          </a:prstGeom>
          <a:solidFill>
            <a:schemeClr val="accent1">
              <a:alpha val="61176"/>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chemeClr val="accent2"/>
                </a:solidFill>
                <a:latin typeface="Lucida Sans Unicode" panose="020B0602030504020204" pitchFamily="34" charset="0"/>
              </a:rPr>
              <a:t>弱矩阵式组织</a:t>
            </a:r>
            <a:r>
              <a:rPr lang="zh-CN" altLang="en-US">
                <a:solidFill>
                  <a:schemeClr val="tx2"/>
                </a:solidFill>
                <a:latin typeface="Lucida Sans Unicode" panose="020B0602030504020204" pitchFamily="34" charset="0"/>
              </a:rPr>
              <a:t>保留了职能式组织的许多特征，项目经理的角色和其协调或者督促的作用大于经理的作用</a:t>
            </a:r>
          </a:p>
        </p:txBody>
      </p:sp>
      <p:pic>
        <p:nvPicPr>
          <p:cNvPr id="126981" name="Picture 5" descr="Fig">
            <a:extLst>
              <a:ext uri="{FF2B5EF4-FFF2-40B4-BE49-F238E27FC236}">
                <a16:creationId xmlns:a16="http://schemas.microsoft.com/office/drawing/2014/main" id="{E5144EE9-D0AC-4FCD-A576-EE8E6C184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349500"/>
            <a:ext cx="6810375"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5">
            <a:extLst>
              <a:ext uri="{FF2B5EF4-FFF2-40B4-BE49-F238E27FC236}">
                <a16:creationId xmlns:a16="http://schemas.microsoft.com/office/drawing/2014/main" id="{D214FC45-F5C7-4981-9523-547A2298FC0E}"/>
              </a:ext>
            </a:extLst>
          </p:cNvPr>
          <p:cNvSpPr>
            <a:spLocks noChangeArrowheads="1"/>
          </p:cNvSpPr>
          <p:nvPr/>
        </p:nvSpPr>
        <p:spPr bwMode="gray">
          <a:xfrm>
            <a:off x="1571625" y="500063"/>
            <a:ext cx="5451475" cy="649287"/>
          </a:xfrm>
          <a:prstGeom prst="roundRect">
            <a:avLst>
              <a:gd name="adj" fmla="val 50000"/>
            </a:avLst>
          </a:prstGeom>
          <a:gradFill rotWithShape="1">
            <a:gsLst>
              <a:gs pos="0">
                <a:schemeClr val="hlink">
                  <a:gamma/>
                  <a:shade val="48627"/>
                  <a:invGamma/>
                </a:schemeClr>
              </a:gs>
              <a:gs pos="50000">
                <a:schemeClr val="hlink"/>
              </a:gs>
              <a:gs pos="100000">
                <a:schemeClr val="hlink">
                  <a:gamma/>
                  <a:shade val="48627"/>
                  <a:invGamma/>
                </a:schemeClr>
              </a:gs>
            </a:gsLst>
            <a:lin ang="0" scaled="1"/>
          </a:gradFill>
          <a:ln w="38100" algn="ctr">
            <a:solidFill>
              <a:srgbClr val="FFFFFF"/>
            </a:solidFill>
            <a:round/>
            <a:headEnd/>
            <a:tailEnd/>
          </a:ln>
          <a:effectLst>
            <a:outerShdw dist="63500" dir="3187806" algn="ctr" rotWithShape="0">
              <a:srgbClr val="001D3A"/>
            </a:outerShdw>
          </a:effectLst>
        </p:spPr>
        <p:txBody>
          <a:bodyPr wrap="none" anchor="ctr"/>
          <a:lstStyle/>
          <a:p>
            <a:pPr algn="ctr" eaLnBrk="0" fontAlgn="auto" hangingPunct="0">
              <a:spcBef>
                <a:spcPts val="0"/>
              </a:spcBef>
              <a:spcAft>
                <a:spcPts val="0"/>
              </a:spcAft>
              <a:defRPr/>
            </a:pPr>
            <a:r>
              <a:rPr lang="zh-CN" altLang="en-US" sz="2000" b="1" dirty="0">
                <a:solidFill>
                  <a:schemeClr val="bg1"/>
                </a:solidFill>
              </a:rPr>
              <a:t>根据项目经理与部门经理之间的权力分配</a:t>
            </a:r>
            <a:endParaRPr lang="en-US" altLang="zh-CN" sz="20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6980"/>
                                        </p:tgtEl>
                                        <p:attrNameLst>
                                          <p:attrName>style.visibility</p:attrName>
                                        </p:attrNameLst>
                                      </p:cBhvr>
                                      <p:to>
                                        <p:strVal val="visible"/>
                                      </p:to>
                                    </p:set>
                                    <p:animEffect transition="in" filter="fade">
                                      <p:cBhvr>
                                        <p:cTn id="7" dur="1000"/>
                                        <p:tgtEl>
                                          <p:spTgt spid="126980"/>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6981"/>
                                        </p:tgtEl>
                                        <p:attrNameLst>
                                          <p:attrName>style.visibility</p:attrName>
                                        </p:attrNameLst>
                                      </p:cBhvr>
                                      <p:to>
                                        <p:strVal val="visible"/>
                                      </p:to>
                                    </p:set>
                                    <p:animEffect transition="in" filter="fade">
                                      <p:cBhvr>
                                        <p:cTn id="11" dur="1000"/>
                                        <p:tgtEl>
                                          <p:spTgt spid="126981"/>
                                        </p:tgtEl>
                                      </p:cBhvr>
                                    </p:animEffect>
                                  </p:childTnLst>
                                </p:cTn>
                              </p:par>
                            </p:childTnLst>
                          </p:cTn>
                        </p:par>
                        <p:par>
                          <p:cTn id="12" fill="hold" nodeType="afterGroup">
                            <p:stCondLst>
                              <p:cond delay="2000"/>
                            </p:stCondLst>
                            <p:childTnLst>
                              <p:par>
                                <p:cTn id="13" presetID="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ppt_x"/>
                                          </p:val>
                                        </p:tav>
                                        <p:tav tm="100000">
                                          <p:val>
                                            <p:strVal val="#ppt_x"/>
                                          </p:val>
                                        </p:tav>
                                      </p:tavLst>
                                    </p:anim>
                                    <p:anim calcmode="lin" valueType="num">
                                      <p:cBhvr additive="base">
                                        <p:cTn id="16" dur="10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0"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3E468EE7-70CC-4AA9-B6C2-87E449D2FD64}"/>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28004" name="Rectangle 4">
            <a:extLst>
              <a:ext uri="{FF2B5EF4-FFF2-40B4-BE49-F238E27FC236}">
                <a16:creationId xmlns:a16="http://schemas.microsoft.com/office/drawing/2014/main" id="{325597BF-2C5E-41D5-94B9-1280730F3819}"/>
              </a:ext>
            </a:extLst>
          </p:cNvPr>
          <p:cNvSpPr>
            <a:spLocks noChangeArrowheads="1"/>
          </p:cNvSpPr>
          <p:nvPr/>
        </p:nvSpPr>
        <p:spPr bwMode="gray">
          <a:xfrm>
            <a:off x="1403350" y="1700213"/>
            <a:ext cx="6337300" cy="641350"/>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chemeClr val="accent2"/>
                </a:solidFill>
                <a:latin typeface="Lucida Sans Unicode" panose="020B0602030504020204" pitchFamily="34" charset="0"/>
              </a:rPr>
              <a:t>强矩阵式组织</a:t>
            </a:r>
            <a:r>
              <a:rPr lang="zh-CN" altLang="en-US">
                <a:solidFill>
                  <a:schemeClr val="tx2"/>
                </a:solidFill>
                <a:latin typeface="Lucida Sans Unicode" panose="020B0602030504020204" pitchFamily="34" charset="0"/>
              </a:rPr>
              <a:t>则具有项目式组织的许多特征，拥有相当大权限的全职项目经理和全职的项目行政管理人员</a:t>
            </a:r>
          </a:p>
        </p:txBody>
      </p:sp>
      <p:pic>
        <p:nvPicPr>
          <p:cNvPr id="128005" name="Picture 5" descr="Fig">
            <a:extLst>
              <a:ext uri="{FF2B5EF4-FFF2-40B4-BE49-F238E27FC236}">
                <a16:creationId xmlns:a16="http://schemas.microsoft.com/office/drawing/2014/main" id="{62F1E655-9F72-4463-B04F-55E9871E2C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2443163"/>
            <a:ext cx="6767512"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fade">
                                      <p:cBhvr>
                                        <p:cTn id="7" dur="1000"/>
                                        <p:tgtEl>
                                          <p:spTgt spid="128004"/>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8005"/>
                                        </p:tgtEl>
                                        <p:attrNameLst>
                                          <p:attrName>style.visibility</p:attrName>
                                        </p:attrNameLst>
                                      </p:cBhvr>
                                      <p:to>
                                        <p:strVal val="visible"/>
                                      </p:to>
                                    </p:set>
                                    <p:animEffect transition="in" filter="fade">
                                      <p:cBhvr>
                                        <p:cTn id="11" dur="1000"/>
                                        <p:tgtEl>
                                          <p:spTgt spid="128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7FB800FA-D2F9-48BD-B420-417E19313DAD}"/>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29028" name="Rectangle 4">
            <a:extLst>
              <a:ext uri="{FF2B5EF4-FFF2-40B4-BE49-F238E27FC236}">
                <a16:creationId xmlns:a16="http://schemas.microsoft.com/office/drawing/2014/main" id="{0150A0D2-B455-40CE-BB56-78EEA5FABA9B}"/>
              </a:ext>
            </a:extLst>
          </p:cNvPr>
          <p:cNvSpPr>
            <a:spLocks noChangeArrowheads="1"/>
          </p:cNvSpPr>
          <p:nvPr/>
        </p:nvSpPr>
        <p:spPr bwMode="gray">
          <a:xfrm>
            <a:off x="1476375" y="1484313"/>
            <a:ext cx="6551613" cy="641350"/>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chemeClr val="accent2"/>
                </a:solidFill>
                <a:latin typeface="Lucida Sans Unicode" panose="020B0602030504020204" pitchFamily="34" charset="0"/>
              </a:rPr>
              <a:t>平衡矩阵式组织</a:t>
            </a:r>
            <a:r>
              <a:rPr lang="zh-CN" altLang="en-US">
                <a:solidFill>
                  <a:schemeClr val="tx2"/>
                </a:solidFill>
                <a:latin typeface="Lucida Sans Unicode" panose="020B0602030504020204" pitchFamily="34" charset="0"/>
              </a:rPr>
              <a:t>承认设置项目经理的必要性，但项目经理对于项目和项目资金无全权支配</a:t>
            </a:r>
          </a:p>
        </p:txBody>
      </p:sp>
      <p:pic>
        <p:nvPicPr>
          <p:cNvPr id="129029" name="Picture 5" descr="Fig">
            <a:extLst>
              <a:ext uri="{FF2B5EF4-FFF2-40B4-BE49-F238E27FC236}">
                <a16:creationId xmlns:a16="http://schemas.microsoft.com/office/drawing/2014/main" id="{3F3DC2A6-152C-4598-8BFD-CF9A5B58B6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420938"/>
            <a:ext cx="6624638" cy="366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9028"/>
                                        </p:tgtEl>
                                        <p:attrNameLst>
                                          <p:attrName>style.visibility</p:attrName>
                                        </p:attrNameLst>
                                      </p:cBhvr>
                                      <p:to>
                                        <p:strVal val="visible"/>
                                      </p:to>
                                    </p:set>
                                    <p:animEffect transition="in" filter="fade">
                                      <p:cBhvr>
                                        <p:cTn id="7" dur="1000"/>
                                        <p:tgtEl>
                                          <p:spTgt spid="129028"/>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29029"/>
                                        </p:tgtEl>
                                        <p:attrNameLst>
                                          <p:attrName>style.visibility</p:attrName>
                                        </p:attrNameLst>
                                      </p:cBhvr>
                                      <p:to>
                                        <p:strVal val="visible"/>
                                      </p:to>
                                    </p:set>
                                    <p:animEffect transition="in" filter="fade">
                                      <p:cBhvr>
                                        <p:cTn id="11" dur="1000"/>
                                        <p:tgtEl>
                                          <p:spTgt spid="129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Oval 4">
            <a:extLst>
              <a:ext uri="{FF2B5EF4-FFF2-40B4-BE49-F238E27FC236}">
                <a16:creationId xmlns:a16="http://schemas.microsoft.com/office/drawing/2014/main" id="{2811BF90-A3C4-48FB-8AA7-07799F40D76F}"/>
              </a:ext>
            </a:extLst>
          </p:cNvPr>
          <p:cNvSpPr>
            <a:spLocks noChangeArrowheads="1"/>
          </p:cNvSpPr>
          <p:nvPr/>
        </p:nvSpPr>
        <p:spPr bwMode="gray">
          <a:xfrm>
            <a:off x="2889250" y="2206625"/>
            <a:ext cx="2946400"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25603" name="Group 5">
            <a:extLst>
              <a:ext uri="{FF2B5EF4-FFF2-40B4-BE49-F238E27FC236}">
                <a16:creationId xmlns:a16="http://schemas.microsoft.com/office/drawing/2014/main" id="{FA918EAA-4D19-495A-A4C2-28C921E4406B}"/>
              </a:ext>
            </a:extLst>
          </p:cNvPr>
          <p:cNvGrpSpPr>
            <a:grpSpLocks/>
          </p:cNvGrpSpPr>
          <p:nvPr/>
        </p:nvGrpSpPr>
        <p:grpSpPr bwMode="auto">
          <a:xfrm>
            <a:off x="3611563" y="2897188"/>
            <a:ext cx="1500187" cy="1485900"/>
            <a:chOff x="2016" y="1920"/>
            <a:chExt cx="1680" cy="1680"/>
          </a:xfrm>
        </p:grpSpPr>
        <p:sp>
          <p:nvSpPr>
            <p:cNvPr id="25664" name="Oval 6">
              <a:extLst>
                <a:ext uri="{FF2B5EF4-FFF2-40B4-BE49-F238E27FC236}">
                  <a16:creationId xmlns:a16="http://schemas.microsoft.com/office/drawing/2014/main" id="{328A3ED3-38D3-45B9-B1B3-9BCF29FECE15}"/>
                </a:ext>
              </a:extLst>
            </p:cNvPr>
            <p:cNvSpPr>
              <a:spLocks noChangeArrowheads="1"/>
            </p:cNvSpPr>
            <p:nvPr/>
          </p:nvSpPr>
          <p:spPr bwMode="gray">
            <a:xfrm>
              <a:off x="2016" y="1920"/>
              <a:ext cx="1680" cy="168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25665" name="Freeform 7">
              <a:extLst>
                <a:ext uri="{FF2B5EF4-FFF2-40B4-BE49-F238E27FC236}">
                  <a16:creationId xmlns:a16="http://schemas.microsoft.com/office/drawing/2014/main" id="{769B50F8-11D1-42DA-8C10-CC70B276B905}"/>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056" name="Text Box 8">
            <a:extLst>
              <a:ext uri="{FF2B5EF4-FFF2-40B4-BE49-F238E27FC236}">
                <a16:creationId xmlns:a16="http://schemas.microsoft.com/office/drawing/2014/main" id="{4A69005F-896E-411D-8FA7-C5FB8B392B45}"/>
              </a:ext>
            </a:extLst>
          </p:cNvPr>
          <p:cNvSpPr txBox="1">
            <a:spLocks noChangeArrowheads="1"/>
          </p:cNvSpPr>
          <p:nvPr/>
        </p:nvSpPr>
        <p:spPr bwMode="gray">
          <a:xfrm>
            <a:off x="3992563" y="3462338"/>
            <a:ext cx="796925" cy="457200"/>
          </a:xfrm>
          <a:prstGeom prst="rect">
            <a:avLst/>
          </a:prstGeom>
          <a:noFill/>
          <a:ln w="9525">
            <a:noFill/>
            <a:miter lim="800000"/>
            <a:headEnd/>
            <a:tailEnd/>
          </a:ln>
          <a:effectLst/>
        </p:spPr>
        <p:txBody>
          <a:bodyPr wrap="none">
            <a:spAutoFit/>
          </a:bodyPr>
          <a:lstStyle/>
          <a:p>
            <a:pPr eaLnBrk="0" fontAlgn="auto" hangingPunct="0">
              <a:spcBef>
                <a:spcPts val="0"/>
              </a:spcBef>
              <a:spcAft>
                <a:spcPts val="0"/>
              </a:spcAft>
              <a:defRPr/>
            </a:pPr>
            <a:r>
              <a:rPr lang="zh-CN" altLang="en-US" sz="2400">
                <a:solidFill>
                  <a:schemeClr val="tx2"/>
                </a:solidFill>
                <a:effectLst>
                  <a:outerShdw blurRad="38100" dist="38100" dir="2700000" algn="tl">
                    <a:srgbClr val="C0C0C0"/>
                  </a:outerShdw>
                </a:effectLst>
              </a:rPr>
              <a:t>优点</a:t>
            </a:r>
          </a:p>
        </p:txBody>
      </p:sp>
      <p:grpSp>
        <p:nvGrpSpPr>
          <p:cNvPr id="3" name="Group 9">
            <a:extLst>
              <a:ext uri="{FF2B5EF4-FFF2-40B4-BE49-F238E27FC236}">
                <a16:creationId xmlns:a16="http://schemas.microsoft.com/office/drawing/2014/main" id="{372BD658-F0FC-4BEB-B0CC-07E47B2BE364}"/>
              </a:ext>
            </a:extLst>
          </p:cNvPr>
          <p:cNvGrpSpPr>
            <a:grpSpLocks/>
          </p:cNvGrpSpPr>
          <p:nvPr/>
        </p:nvGrpSpPr>
        <p:grpSpPr bwMode="auto">
          <a:xfrm>
            <a:off x="395288" y="2636838"/>
            <a:ext cx="3149600" cy="1190625"/>
            <a:chOff x="249" y="1661"/>
            <a:chExt cx="1984" cy="750"/>
          </a:xfrm>
        </p:grpSpPr>
        <p:grpSp>
          <p:nvGrpSpPr>
            <p:cNvPr id="25655" name="Group 10">
              <a:extLst>
                <a:ext uri="{FF2B5EF4-FFF2-40B4-BE49-F238E27FC236}">
                  <a16:creationId xmlns:a16="http://schemas.microsoft.com/office/drawing/2014/main" id="{2BA1EFFF-8426-4C0B-8062-0D1B17B3F9EB}"/>
                </a:ext>
              </a:extLst>
            </p:cNvPr>
            <p:cNvGrpSpPr>
              <a:grpSpLocks/>
            </p:cNvGrpSpPr>
            <p:nvPr/>
          </p:nvGrpSpPr>
          <p:grpSpPr bwMode="auto">
            <a:xfrm>
              <a:off x="1715" y="1825"/>
              <a:ext cx="315" cy="321"/>
              <a:chOff x="1488" y="1968"/>
              <a:chExt cx="432" cy="461"/>
            </a:xfrm>
          </p:grpSpPr>
          <p:grpSp>
            <p:nvGrpSpPr>
              <p:cNvPr id="25660" name="Group 11">
                <a:extLst>
                  <a:ext uri="{FF2B5EF4-FFF2-40B4-BE49-F238E27FC236}">
                    <a16:creationId xmlns:a16="http://schemas.microsoft.com/office/drawing/2014/main" id="{1D5549CB-D424-4D53-B3F8-223CA0F4F602}"/>
                  </a:ext>
                </a:extLst>
              </p:cNvPr>
              <p:cNvGrpSpPr>
                <a:grpSpLocks/>
              </p:cNvGrpSpPr>
              <p:nvPr/>
            </p:nvGrpSpPr>
            <p:grpSpPr bwMode="auto">
              <a:xfrm>
                <a:off x="1488" y="1968"/>
                <a:ext cx="432" cy="432"/>
                <a:chOff x="2016" y="1920"/>
                <a:chExt cx="1680" cy="1680"/>
              </a:xfrm>
            </p:grpSpPr>
            <p:sp>
              <p:nvSpPr>
                <p:cNvPr id="130060" name="Oval 12">
                  <a:extLst>
                    <a:ext uri="{FF2B5EF4-FFF2-40B4-BE49-F238E27FC236}">
                      <a16:creationId xmlns:a16="http://schemas.microsoft.com/office/drawing/2014/main" id="{C652CA56-00A5-4CC5-A697-AB75FEBB2636}"/>
                    </a:ext>
                  </a:extLst>
                </p:cNvPr>
                <p:cNvSpPr>
                  <a:spLocks noChangeArrowheads="1"/>
                </p:cNvSpPr>
                <p:nvPr/>
              </p:nvSpPr>
              <p:spPr bwMode="gray">
                <a:xfrm>
                  <a:off x="2016" y="1920"/>
                  <a:ext cx="1680" cy="1681"/>
                </a:xfrm>
                <a:prstGeom prst="ellipse">
                  <a:avLst/>
                </a:prstGeom>
                <a:gradFill rotWithShape="1">
                  <a:gsLst>
                    <a:gs pos="0">
                      <a:schemeClr val="accent1"/>
                    </a:gs>
                    <a:gs pos="100000">
                      <a:schemeClr val="accent1">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63" name="Freeform 13">
                  <a:extLst>
                    <a:ext uri="{FF2B5EF4-FFF2-40B4-BE49-F238E27FC236}">
                      <a16:creationId xmlns:a16="http://schemas.microsoft.com/office/drawing/2014/main" id="{779FA54F-1B5D-47BF-9D3E-2F819AA53610}"/>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062" name="Text Box 14">
                <a:extLst>
                  <a:ext uri="{FF2B5EF4-FFF2-40B4-BE49-F238E27FC236}">
                    <a16:creationId xmlns:a16="http://schemas.microsoft.com/office/drawing/2014/main" id="{F7B4865F-383E-4AA9-92DC-8276D266BB5F}"/>
                  </a:ext>
                </a:extLst>
              </p:cNvPr>
              <p:cNvSpPr txBox="1">
                <a:spLocks noChangeArrowheads="1"/>
              </p:cNvSpPr>
              <p:nvPr/>
            </p:nvSpPr>
            <p:spPr bwMode="gray">
              <a:xfrm>
                <a:off x="1540" y="2015"/>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6</a:t>
                </a:r>
              </a:p>
            </p:txBody>
          </p:sp>
        </p:grpSp>
        <p:grpSp>
          <p:nvGrpSpPr>
            <p:cNvPr id="25656" name="Group 15">
              <a:extLst>
                <a:ext uri="{FF2B5EF4-FFF2-40B4-BE49-F238E27FC236}">
                  <a16:creationId xmlns:a16="http://schemas.microsoft.com/office/drawing/2014/main" id="{7867989E-F4DF-4D7F-81E8-CBAD01FE502F}"/>
                </a:ext>
              </a:extLst>
            </p:cNvPr>
            <p:cNvGrpSpPr>
              <a:grpSpLocks/>
            </p:cNvGrpSpPr>
            <p:nvPr/>
          </p:nvGrpSpPr>
          <p:grpSpPr bwMode="auto">
            <a:xfrm>
              <a:off x="2064" y="2025"/>
              <a:ext cx="169" cy="91"/>
              <a:chOff x="2016" y="2304"/>
              <a:chExt cx="231" cy="130"/>
            </a:xfrm>
          </p:grpSpPr>
          <p:sp>
            <p:nvSpPr>
              <p:cNvPr id="130064" name="Oval 16">
                <a:extLst>
                  <a:ext uri="{FF2B5EF4-FFF2-40B4-BE49-F238E27FC236}">
                    <a16:creationId xmlns:a16="http://schemas.microsoft.com/office/drawing/2014/main" id="{412558EB-D621-4A7D-A67D-49E62147737E}"/>
                  </a:ext>
                </a:extLst>
              </p:cNvPr>
              <p:cNvSpPr>
                <a:spLocks noChangeArrowheads="1"/>
              </p:cNvSpPr>
              <p:nvPr/>
            </p:nvSpPr>
            <p:spPr bwMode="gray">
              <a:xfrm rot="18227093">
                <a:off x="2019" y="2301"/>
                <a:ext cx="81" cy="87"/>
              </a:xfrm>
              <a:prstGeom prst="ellipse">
                <a:avLst/>
              </a:prstGeom>
              <a:gradFill rotWithShape="1">
                <a:gsLst>
                  <a:gs pos="0">
                    <a:schemeClr val="accent1"/>
                  </a:gs>
                  <a:gs pos="100000">
                    <a:schemeClr val="accent1">
                      <a:gamma/>
                      <a:shade val="5764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0065" name="Oval 17">
                <a:extLst>
                  <a:ext uri="{FF2B5EF4-FFF2-40B4-BE49-F238E27FC236}">
                    <a16:creationId xmlns:a16="http://schemas.microsoft.com/office/drawing/2014/main" id="{8B80B403-C91F-4F7B-B1F8-9F74E97D8E4F}"/>
                  </a:ext>
                </a:extLst>
              </p:cNvPr>
              <p:cNvSpPr>
                <a:spLocks noChangeArrowheads="1"/>
              </p:cNvSpPr>
              <p:nvPr/>
            </p:nvSpPr>
            <p:spPr bwMode="gray">
              <a:xfrm rot="18227093">
                <a:off x="2163" y="2350"/>
                <a:ext cx="81" cy="87"/>
              </a:xfrm>
              <a:prstGeom prst="ellipse">
                <a:avLst/>
              </a:prstGeom>
              <a:gradFill rotWithShape="1">
                <a:gsLst>
                  <a:gs pos="0">
                    <a:schemeClr val="accent1"/>
                  </a:gs>
                  <a:gs pos="100000">
                    <a:schemeClr val="accent1">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sp>
          <p:nvSpPr>
            <p:cNvPr id="25657" name="Text Box 18">
              <a:extLst>
                <a:ext uri="{FF2B5EF4-FFF2-40B4-BE49-F238E27FC236}">
                  <a16:creationId xmlns:a16="http://schemas.microsoft.com/office/drawing/2014/main" id="{C0A93FA6-4453-49D4-9618-48730280867B}"/>
                </a:ext>
              </a:extLst>
            </p:cNvPr>
            <p:cNvSpPr txBox="1">
              <a:spLocks noChangeArrowheads="1"/>
            </p:cNvSpPr>
            <p:nvPr/>
          </p:nvSpPr>
          <p:spPr bwMode="gray">
            <a:xfrm>
              <a:off x="249" y="1661"/>
              <a:ext cx="1466"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可以平衡资源以保证各个项目都能完成各自的进度、费用及质量要求</a:t>
              </a:r>
              <a:endParaRPr lang="en-US" altLang="zh-CN">
                <a:solidFill>
                  <a:schemeClr val="tx2"/>
                </a:solidFill>
                <a:latin typeface="Lucida Sans Unicode" panose="020B0602030504020204" pitchFamily="34" charset="0"/>
              </a:endParaRPr>
            </a:p>
          </p:txBody>
        </p:sp>
      </p:grpSp>
      <p:grpSp>
        <p:nvGrpSpPr>
          <p:cNvPr id="7" name="Group 19">
            <a:extLst>
              <a:ext uri="{FF2B5EF4-FFF2-40B4-BE49-F238E27FC236}">
                <a16:creationId xmlns:a16="http://schemas.microsoft.com/office/drawing/2014/main" id="{8FE4D871-7A2E-4B89-A6C4-7E5DAF639F70}"/>
              </a:ext>
            </a:extLst>
          </p:cNvPr>
          <p:cNvGrpSpPr>
            <a:grpSpLocks/>
          </p:cNvGrpSpPr>
          <p:nvPr/>
        </p:nvGrpSpPr>
        <p:grpSpPr bwMode="auto">
          <a:xfrm>
            <a:off x="2654300" y="1341438"/>
            <a:ext cx="3502025" cy="1449387"/>
            <a:chOff x="1672" y="845"/>
            <a:chExt cx="2206" cy="913"/>
          </a:xfrm>
        </p:grpSpPr>
        <p:grpSp>
          <p:nvGrpSpPr>
            <p:cNvPr id="25646" name="Group 20">
              <a:extLst>
                <a:ext uri="{FF2B5EF4-FFF2-40B4-BE49-F238E27FC236}">
                  <a16:creationId xmlns:a16="http://schemas.microsoft.com/office/drawing/2014/main" id="{2E89FEFC-E648-4DC6-A351-DC45150E7C1E}"/>
                </a:ext>
              </a:extLst>
            </p:cNvPr>
            <p:cNvGrpSpPr>
              <a:grpSpLocks/>
            </p:cNvGrpSpPr>
            <p:nvPr/>
          </p:nvGrpSpPr>
          <p:grpSpPr bwMode="auto">
            <a:xfrm>
              <a:off x="2555" y="1223"/>
              <a:ext cx="315" cy="333"/>
              <a:chOff x="2640" y="1088"/>
              <a:chExt cx="432" cy="478"/>
            </a:xfrm>
          </p:grpSpPr>
          <p:grpSp>
            <p:nvGrpSpPr>
              <p:cNvPr id="25651" name="Group 21">
                <a:extLst>
                  <a:ext uri="{FF2B5EF4-FFF2-40B4-BE49-F238E27FC236}">
                    <a16:creationId xmlns:a16="http://schemas.microsoft.com/office/drawing/2014/main" id="{20F27E2E-D845-423E-B653-08149AFAFE81}"/>
                  </a:ext>
                </a:extLst>
              </p:cNvPr>
              <p:cNvGrpSpPr>
                <a:grpSpLocks/>
              </p:cNvGrpSpPr>
              <p:nvPr/>
            </p:nvGrpSpPr>
            <p:grpSpPr bwMode="auto">
              <a:xfrm>
                <a:off x="2640" y="1088"/>
                <a:ext cx="432" cy="415"/>
                <a:chOff x="2016" y="1920"/>
                <a:chExt cx="1680" cy="1680"/>
              </a:xfrm>
            </p:grpSpPr>
            <p:sp>
              <p:nvSpPr>
                <p:cNvPr id="130070" name="Oval 22">
                  <a:extLst>
                    <a:ext uri="{FF2B5EF4-FFF2-40B4-BE49-F238E27FC236}">
                      <a16:creationId xmlns:a16="http://schemas.microsoft.com/office/drawing/2014/main" id="{6054A705-2BFC-4C89-B262-20CF46AA5AC1}"/>
                    </a:ext>
                  </a:extLst>
                </p:cNvPr>
                <p:cNvSpPr>
                  <a:spLocks noChangeArrowheads="1"/>
                </p:cNvSpPr>
                <p:nvPr/>
              </p:nvSpPr>
              <p:spPr bwMode="gray">
                <a:xfrm>
                  <a:off x="2016" y="1920"/>
                  <a:ext cx="1680" cy="1679"/>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54" name="Freeform 23">
                  <a:extLst>
                    <a:ext uri="{FF2B5EF4-FFF2-40B4-BE49-F238E27FC236}">
                      <a16:creationId xmlns:a16="http://schemas.microsoft.com/office/drawing/2014/main" id="{E7C7A003-FA5D-4B3B-94F7-DB87D387E1B1}"/>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072" name="Text Box 24">
                <a:extLst>
                  <a:ext uri="{FF2B5EF4-FFF2-40B4-BE49-F238E27FC236}">
                    <a16:creationId xmlns:a16="http://schemas.microsoft.com/office/drawing/2014/main" id="{6161E56A-1214-4FA2-814B-8028E3E5B6E6}"/>
                  </a:ext>
                </a:extLst>
              </p:cNvPr>
              <p:cNvSpPr txBox="1">
                <a:spLocks noChangeArrowheads="1"/>
              </p:cNvSpPr>
              <p:nvPr/>
            </p:nvSpPr>
            <p:spPr bwMode="gray">
              <a:xfrm>
                <a:off x="2691" y="1153"/>
                <a:ext cx="347" cy="413"/>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1</a:t>
                </a:r>
              </a:p>
            </p:txBody>
          </p:sp>
        </p:grpSp>
        <p:grpSp>
          <p:nvGrpSpPr>
            <p:cNvPr id="25647" name="Group 25">
              <a:extLst>
                <a:ext uri="{FF2B5EF4-FFF2-40B4-BE49-F238E27FC236}">
                  <a16:creationId xmlns:a16="http://schemas.microsoft.com/office/drawing/2014/main" id="{FDFFEB4A-DC37-4128-BB8F-8BE95E2E3CAA}"/>
                </a:ext>
              </a:extLst>
            </p:cNvPr>
            <p:cNvGrpSpPr>
              <a:grpSpLocks/>
            </p:cNvGrpSpPr>
            <p:nvPr/>
          </p:nvGrpSpPr>
          <p:grpSpPr bwMode="auto">
            <a:xfrm>
              <a:off x="2695" y="1577"/>
              <a:ext cx="64" cy="181"/>
              <a:chOff x="2832" y="1612"/>
              <a:chExt cx="87" cy="260"/>
            </a:xfrm>
          </p:grpSpPr>
          <p:sp>
            <p:nvSpPr>
              <p:cNvPr id="130074" name="Oval 26">
                <a:extLst>
                  <a:ext uri="{FF2B5EF4-FFF2-40B4-BE49-F238E27FC236}">
                    <a16:creationId xmlns:a16="http://schemas.microsoft.com/office/drawing/2014/main" id="{D033A065-E3AD-411C-B711-903286090F27}"/>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0075" name="Oval 27">
                <a:extLst>
                  <a:ext uri="{FF2B5EF4-FFF2-40B4-BE49-F238E27FC236}">
                    <a16:creationId xmlns:a16="http://schemas.microsoft.com/office/drawing/2014/main" id="{E9E9815A-31A8-4135-B143-9F827192AB37}"/>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sp>
          <p:nvSpPr>
            <p:cNvPr id="25648" name="Text Box 28">
              <a:extLst>
                <a:ext uri="{FF2B5EF4-FFF2-40B4-BE49-F238E27FC236}">
                  <a16:creationId xmlns:a16="http://schemas.microsoft.com/office/drawing/2014/main" id="{EF6F3666-2B0C-4999-A503-5F16D09070E2}"/>
                </a:ext>
              </a:extLst>
            </p:cNvPr>
            <p:cNvSpPr txBox="1">
              <a:spLocks noChangeArrowheads="1"/>
            </p:cNvSpPr>
            <p:nvPr/>
          </p:nvSpPr>
          <p:spPr bwMode="gray">
            <a:xfrm>
              <a:off x="1672" y="845"/>
              <a:ext cx="22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项目是工作的焦点</a:t>
              </a:r>
              <a:endParaRPr lang="en-US" altLang="zh-CN">
                <a:solidFill>
                  <a:schemeClr val="tx2"/>
                </a:solidFill>
                <a:latin typeface="Lucida Sans Unicode" panose="020B0602030504020204" pitchFamily="34" charset="0"/>
              </a:endParaRPr>
            </a:p>
          </p:txBody>
        </p:sp>
      </p:grpSp>
      <p:grpSp>
        <p:nvGrpSpPr>
          <p:cNvPr id="11" name="Group 29">
            <a:extLst>
              <a:ext uri="{FF2B5EF4-FFF2-40B4-BE49-F238E27FC236}">
                <a16:creationId xmlns:a16="http://schemas.microsoft.com/office/drawing/2014/main" id="{524FEB11-F16B-44B2-8E14-F46D419CBC3A}"/>
              </a:ext>
            </a:extLst>
          </p:cNvPr>
          <p:cNvGrpSpPr>
            <a:grpSpLocks/>
          </p:cNvGrpSpPr>
          <p:nvPr/>
        </p:nvGrpSpPr>
        <p:grpSpPr bwMode="auto">
          <a:xfrm>
            <a:off x="827088" y="4076700"/>
            <a:ext cx="2827337" cy="1406525"/>
            <a:chOff x="521" y="2568"/>
            <a:chExt cx="1781" cy="886"/>
          </a:xfrm>
        </p:grpSpPr>
        <p:grpSp>
          <p:nvGrpSpPr>
            <p:cNvPr id="25637" name="Group 30">
              <a:extLst>
                <a:ext uri="{FF2B5EF4-FFF2-40B4-BE49-F238E27FC236}">
                  <a16:creationId xmlns:a16="http://schemas.microsoft.com/office/drawing/2014/main" id="{0353782B-0DB0-49A2-B3CC-14CC765C4207}"/>
                </a:ext>
              </a:extLst>
            </p:cNvPr>
            <p:cNvGrpSpPr>
              <a:grpSpLocks/>
            </p:cNvGrpSpPr>
            <p:nvPr/>
          </p:nvGrpSpPr>
          <p:grpSpPr bwMode="auto">
            <a:xfrm>
              <a:off x="2155" y="2568"/>
              <a:ext cx="147" cy="123"/>
              <a:chOff x="2236" y="3191"/>
              <a:chExt cx="201" cy="176"/>
            </a:xfrm>
          </p:grpSpPr>
          <p:sp>
            <p:nvSpPr>
              <p:cNvPr id="130079" name="Oval 31">
                <a:extLst>
                  <a:ext uri="{FF2B5EF4-FFF2-40B4-BE49-F238E27FC236}">
                    <a16:creationId xmlns:a16="http://schemas.microsoft.com/office/drawing/2014/main" id="{C0480DBC-4B97-47E8-8EDB-F465937425CD}"/>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0080" name="Oval 32">
                <a:extLst>
                  <a:ext uri="{FF2B5EF4-FFF2-40B4-BE49-F238E27FC236}">
                    <a16:creationId xmlns:a16="http://schemas.microsoft.com/office/drawing/2014/main" id="{A6D31912-033C-4C69-ABE9-933EAC84B8CC}"/>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nvGrpSpPr>
            <p:cNvPr id="25638" name="Group 33">
              <a:extLst>
                <a:ext uri="{FF2B5EF4-FFF2-40B4-BE49-F238E27FC236}">
                  <a16:creationId xmlns:a16="http://schemas.microsoft.com/office/drawing/2014/main" id="{B0CAB90F-2B22-4FFF-A080-6967F07C7DE6}"/>
                </a:ext>
              </a:extLst>
            </p:cNvPr>
            <p:cNvGrpSpPr>
              <a:grpSpLocks/>
            </p:cNvGrpSpPr>
            <p:nvPr/>
          </p:nvGrpSpPr>
          <p:grpSpPr bwMode="auto">
            <a:xfrm>
              <a:off x="1792" y="2659"/>
              <a:ext cx="316" cy="344"/>
              <a:chOff x="1824" y="3357"/>
              <a:chExt cx="432" cy="494"/>
            </a:xfrm>
          </p:grpSpPr>
          <p:grpSp>
            <p:nvGrpSpPr>
              <p:cNvPr id="25640" name="Group 34">
                <a:extLst>
                  <a:ext uri="{FF2B5EF4-FFF2-40B4-BE49-F238E27FC236}">
                    <a16:creationId xmlns:a16="http://schemas.microsoft.com/office/drawing/2014/main" id="{E96A8479-0298-489E-BBEA-5C2104650760}"/>
                  </a:ext>
                </a:extLst>
              </p:cNvPr>
              <p:cNvGrpSpPr>
                <a:grpSpLocks/>
              </p:cNvGrpSpPr>
              <p:nvPr/>
            </p:nvGrpSpPr>
            <p:grpSpPr bwMode="auto">
              <a:xfrm>
                <a:off x="1824" y="3357"/>
                <a:ext cx="432" cy="432"/>
                <a:chOff x="2016" y="1920"/>
                <a:chExt cx="1680" cy="1680"/>
              </a:xfrm>
            </p:grpSpPr>
            <p:sp>
              <p:nvSpPr>
                <p:cNvPr id="130083" name="Oval 35">
                  <a:extLst>
                    <a:ext uri="{FF2B5EF4-FFF2-40B4-BE49-F238E27FC236}">
                      <a16:creationId xmlns:a16="http://schemas.microsoft.com/office/drawing/2014/main" id="{D822E425-7FAF-4BE4-9BFF-E2E1F8AE613B}"/>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43" name="Freeform 36">
                  <a:extLst>
                    <a:ext uri="{FF2B5EF4-FFF2-40B4-BE49-F238E27FC236}">
                      <a16:creationId xmlns:a16="http://schemas.microsoft.com/office/drawing/2014/main" id="{16CAFBD9-7F8B-4569-B75D-8FFF3E676FBA}"/>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085" name="Text Box 37">
                <a:extLst>
                  <a:ext uri="{FF2B5EF4-FFF2-40B4-BE49-F238E27FC236}">
                    <a16:creationId xmlns:a16="http://schemas.microsoft.com/office/drawing/2014/main" id="{058D45E1-EE60-4A7A-A877-BB92DD8232BF}"/>
                  </a:ext>
                </a:extLst>
              </p:cNvPr>
              <p:cNvSpPr txBox="1">
                <a:spLocks noChangeArrowheads="1"/>
              </p:cNvSpPr>
              <p:nvPr/>
            </p:nvSpPr>
            <p:spPr bwMode="gray">
              <a:xfrm>
                <a:off x="1862" y="3437"/>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5</a:t>
                </a:r>
              </a:p>
            </p:txBody>
          </p:sp>
        </p:grpSp>
        <p:sp>
          <p:nvSpPr>
            <p:cNvPr id="25639" name="Text Box 38">
              <a:extLst>
                <a:ext uri="{FF2B5EF4-FFF2-40B4-BE49-F238E27FC236}">
                  <a16:creationId xmlns:a16="http://schemas.microsoft.com/office/drawing/2014/main" id="{A4DF3FE5-7BF1-4271-BADD-915D24E35F27}"/>
                </a:ext>
              </a:extLst>
            </p:cNvPr>
            <p:cNvSpPr txBox="1">
              <a:spLocks noChangeArrowheads="1"/>
            </p:cNvSpPr>
            <p:nvPr/>
          </p:nvSpPr>
          <p:spPr bwMode="gray">
            <a:xfrm>
              <a:off x="521" y="2704"/>
              <a:ext cx="1238"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部分成员来自职能部门，能保持与公司规章制度一致性</a:t>
              </a:r>
              <a:endParaRPr lang="en-US" altLang="zh-CN">
                <a:solidFill>
                  <a:schemeClr val="tx2"/>
                </a:solidFill>
                <a:latin typeface="Lucida Sans Unicode" panose="020B0602030504020204" pitchFamily="34" charset="0"/>
              </a:endParaRPr>
            </a:p>
          </p:txBody>
        </p:sp>
      </p:grpSp>
      <p:grpSp>
        <p:nvGrpSpPr>
          <p:cNvPr id="15" name="Group 39">
            <a:extLst>
              <a:ext uri="{FF2B5EF4-FFF2-40B4-BE49-F238E27FC236}">
                <a16:creationId xmlns:a16="http://schemas.microsoft.com/office/drawing/2014/main" id="{5C7A4B10-DA4B-45B3-A403-B10C39146774}"/>
              </a:ext>
            </a:extLst>
          </p:cNvPr>
          <p:cNvGrpSpPr>
            <a:grpSpLocks/>
          </p:cNvGrpSpPr>
          <p:nvPr/>
        </p:nvGrpSpPr>
        <p:grpSpPr bwMode="auto">
          <a:xfrm>
            <a:off x="5121275" y="3986213"/>
            <a:ext cx="2690813" cy="1704975"/>
            <a:chOff x="3226" y="2511"/>
            <a:chExt cx="1695" cy="1074"/>
          </a:xfrm>
        </p:grpSpPr>
        <p:sp>
          <p:nvSpPr>
            <p:cNvPr id="130088" name="Oval 40">
              <a:extLst>
                <a:ext uri="{FF2B5EF4-FFF2-40B4-BE49-F238E27FC236}">
                  <a16:creationId xmlns:a16="http://schemas.microsoft.com/office/drawing/2014/main" id="{7EFF47CD-622B-4C09-9AA0-5BFFCCB95D80}"/>
                </a:ext>
              </a:extLst>
            </p:cNvPr>
            <p:cNvSpPr>
              <a:spLocks noChangeArrowheads="1"/>
            </p:cNvSpPr>
            <p:nvPr/>
          </p:nvSpPr>
          <p:spPr bwMode="gray">
            <a:xfrm rot="18227093">
              <a:off x="3338" y="2564"/>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0089" name="Oval 41">
              <a:extLst>
                <a:ext uri="{FF2B5EF4-FFF2-40B4-BE49-F238E27FC236}">
                  <a16:creationId xmlns:a16="http://schemas.microsoft.com/office/drawing/2014/main" id="{7EAE8440-E2D0-4786-B63F-E08E67D7B8A2}"/>
                </a:ext>
              </a:extLst>
            </p:cNvPr>
            <p:cNvSpPr>
              <a:spLocks noChangeArrowheads="1"/>
            </p:cNvSpPr>
            <p:nvPr/>
          </p:nvSpPr>
          <p:spPr bwMode="gray">
            <a:xfrm rot="18227093">
              <a:off x="3229" y="2508"/>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25631" name="Group 42">
              <a:extLst>
                <a:ext uri="{FF2B5EF4-FFF2-40B4-BE49-F238E27FC236}">
                  <a16:creationId xmlns:a16="http://schemas.microsoft.com/office/drawing/2014/main" id="{03B9723F-0D14-41EF-A07F-6395A1B6784A}"/>
                </a:ext>
              </a:extLst>
            </p:cNvPr>
            <p:cNvGrpSpPr>
              <a:grpSpLocks/>
            </p:cNvGrpSpPr>
            <p:nvPr/>
          </p:nvGrpSpPr>
          <p:grpSpPr bwMode="auto">
            <a:xfrm>
              <a:off x="3470" y="2563"/>
              <a:ext cx="301" cy="303"/>
              <a:chOff x="3552" y="3339"/>
              <a:chExt cx="412" cy="436"/>
            </a:xfrm>
          </p:grpSpPr>
          <p:grpSp>
            <p:nvGrpSpPr>
              <p:cNvPr id="25633" name="Group 43">
                <a:extLst>
                  <a:ext uri="{FF2B5EF4-FFF2-40B4-BE49-F238E27FC236}">
                    <a16:creationId xmlns:a16="http://schemas.microsoft.com/office/drawing/2014/main" id="{404E4080-1EC2-4AC3-91E0-A700A3839C3A}"/>
                  </a:ext>
                </a:extLst>
              </p:cNvPr>
              <p:cNvGrpSpPr>
                <a:grpSpLocks/>
              </p:cNvGrpSpPr>
              <p:nvPr/>
            </p:nvGrpSpPr>
            <p:grpSpPr bwMode="auto">
              <a:xfrm>
                <a:off x="3552" y="3339"/>
                <a:ext cx="412" cy="392"/>
                <a:chOff x="2016" y="1920"/>
                <a:chExt cx="1680" cy="1680"/>
              </a:xfrm>
            </p:grpSpPr>
            <p:sp>
              <p:nvSpPr>
                <p:cNvPr id="130092" name="Oval 44">
                  <a:extLst>
                    <a:ext uri="{FF2B5EF4-FFF2-40B4-BE49-F238E27FC236}">
                      <a16:creationId xmlns:a16="http://schemas.microsoft.com/office/drawing/2014/main" id="{B549463D-3F8F-4C50-A2D6-0DE82B485181}"/>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36" name="Freeform 45">
                  <a:extLst>
                    <a:ext uri="{FF2B5EF4-FFF2-40B4-BE49-F238E27FC236}">
                      <a16:creationId xmlns:a16="http://schemas.microsoft.com/office/drawing/2014/main" id="{FBEE597F-34B2-4804-8A40-9574CBB9CD7F}"/>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094" name="Text Box 46">
                <a:extLst>
                  <a:ext uri="{FF2B5EF4-FFF2-40B4-BE49-F238E27FC236}">
                    <a16:creationId xmlns:a16="http://schemas.microsoft.com/office/drawing/2014/main" id="{B61DA996-2390-4E08-9E01-FAB936E4DBCC}"/>
                  </a:ext>
                </a:extLst>
              </p:cNvPr>
              <p:cNvSpPr txBox="1">
                <a:spLocks noChangeArrowheads="1"/>
              </p:cNvSpPr>
              <p:nvPr/>
            </p:nvSpPr>
            <p:spPr bwMode="gray">
              <a:xfrm>
                <a:off x="3607" y="3361"/>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3</a:t>
                </a:r>
              </a:p>
            </p:txBody>
          </p:sp>
        </p:grpSp>
        <p:sp>
          <p:nvSpPr>
            <p:cNvPr id="25632" name="Text Box 47">
              <a:extLst>
                <a:ext uri="{FF2B5EF4-FFF2-40B4-BE49-F238E27FC236}">
                  <a16:creationId xmlns:a16="http://schemas.microsoft.com/office/drawing/2014/main" id="{398F5538-05B9-4C7F-9494-9998021F3EC2}"/>
                </a:ext>
              </a:extLst>
            </p:cNvPr>
            <p:cNvSpPr txBox="1">
              <a:spLocks noChangeArrowheads="1"/>
            </p:cNvSpPr>
            <p:nvPr/>
          </p:nvSpPr>
          <p:spPr bwMode="gray">
            <a:xfrm>
              <a:off x="3785" y="2662"/>
              <a:ext cx="1136"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项目组成员与项目具有很强的联系，但对职能部门也有一种“家”的感觉</a:t>
              </a:r>
              <a:endParaRPr lang="en-US" altLang="zh-CN">
                <a:solidFill>
                  <a:schemeClr val="tx2"/>
                </a:solidFill>
                <a:latin typeface="Lucida Sans Unicode" panose="020B0602030504020204" pitchFamily="34" charset="0"/>
              </a:endParaRPr>
            </a:p>
          </p:txBody>
        </p:sp>
      </p:grpSp>
      <p:sp>
        <p:nvSpPr>
          <p:cNvPr id="130096" name="Oval 48">
            <a:extLst>
              <a:ext uri="{FF2B5EF4-FFF2-40B4-BE49-F238E27FC236}">
                <a16:creationId xmlns:a16="http://schemas.microsoft.com/office/drawing/2014/main" id="{A98DD7E0-C166-41D9-9853-0B100C7EEE06}"/>
              </a:ext>
            </a:extLst>
          </p:cNvPr>
          <p:cNvSpPr>
            <a:spLocks noChangeArrowheads="1"/>
          </p:cNvSpPr>
          <p:nvPr/>
        </p:nvSpPr>
        <p:spPr bwMode="gray">
          <a:xfrm rot="18227093">
            <a:off x="5263356" y="2969419"/>
            <a:ext cx="90488" cy="101600"/>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18" name="Group 49">
            <a:extLst>
              <a:ext uri="{FF2B5EF4-FFF2-40B4-BE49-F238E27FC236}">
                <a16:creationId xmlns:a16="http://schemas.microsoft.com/office/drawing/2014/main" id="{9612DAB7-9890-47F8-AC89-D21E90F0B11A}"/>
              </a:ext>
            </a:extLst>
          </p:cNvPr>
          <p:cNvGrpSpPr>
            <a:grpSpLocks/>
          </p:cNvGrpSpPr>
          <p:nvPr/>
        </p:nvGrpSpPr>
        <p:grpSpPr bwMode="auto">
          <a:xfrm>
            <a:off x="5076825" y="2565400"/>
            <a:ext cx="2709863" cy="915988"/>
            <a:chOff x="3198" y="1616"/>
            <a:chExt cx="1707" cy="577"/>
          </a:xfrm>
        </p:grpSpPr>
        <p:grpSp>
          <p:nvGrpSpPr>
            <p:cNvPr id="25622" name="Group 50">
              <a:extLst>
                <a:ext uri="{FF2B5EF4-FFF2-40B4-BE49-F238E27FC236}">
                  <a16:creationId xmlns:a16="http://schemas.microsoft.com/office/drawing/2014/main" id="{FF216AE4-961D-4721-80B1-3AE96778A784}"/>
                </a:ext>
              </a:extLst>
            </p:cNvPr>
            <p:cNvGrpSpPr>
              <a:grpSpLocks/>
            </p:cNvGrpSpPr>
            <p:nvPr/>
          </p:nvGrpSpPr>
          <p:grpSpPr bwMode="auto">
            <a:xfrm>
              <a:off x="3445" y="1661"/>
              <a:ext cx="313" cy="330"/>
              <a:chOff x="3938" y="1968"/>
              <a:chExt cx="430" cy="474"/>
            </a:xfrm>
          </p:grpSpPr>
          <p:grpSp>
            <p:nvGrpSpPr>
              <p:cNvPr id="25625" name="Group 51">
                <a:extLst>
                  <a:ext uri="{FF2B5EF4-FFF2-40B4-BE49-F238E27FC236}">
                    <a16:creationId xmlns:a16="http://schemas.microsoft.com/office/drawing/2014/main" id="{112222A6-4503-47B2-9DE3-BEB951EE4CAB}"/>
                  </a:ext>
                </a:extLst>
              </p:cNvPr>
              <p:cNvGrpSpPr>
                <a:grpSpLocks/>
              </p:cNvGrpSpPr>
              <p:nvPr/>
            </p:nvGrpSpPr>
            <p:grpSpPr bwMode="auto">
              <a:xfrm>
                <a:off x="3938" y="1968"/>
                <a:ext cx="430" cy="437"/>
                <a:chOff x="2016" y="1920"/>
                <a:chExt cx="1680" cy="1680"/>
              </a:xfrm>
            </p:grpSpPr>
            <p:sp>
              <p:nvSpPr>
                <p:cNvPr id="130100" name="Oval 52">
                  <a:extLst>
                    <a:ext uri="{FF2B5EF4-FFF2-40B4-BE49-F238E27FC236}">
                      <a16:creationId xmlns:a16="http://schemas.microsoft.com/office/drawing/2014/main" id="{197A272E-AF10-4B1C-B647-6AD8E125BD1F}"/>
                    </a:ext>
                  </a:extLst>
                </p:cNvPr>
                <p:cNvSpPr>
                  <a:spLocks noChangeArrowheads="1"/>
                </p:cNvSpPr>
                <p:nvPr/>
              </p:nvSpPr>
              <p:spPr bwMode="gray">
                <a:xfrm>
                  <a:off x="2016" y="1920"/>
                  <a:ext cx="1680" cy="1679"/>
                </a:xfrm>
                <a:prstGeom prst="ellipse">
                  <a:avLst/>
                </a:prstGeom>
                <a:gradFill rotWithShape="1">
                  <a:gsLst>
                    <a:gs pos="0">
                      <a:schemeClr val="hlink"/>
                    </a:gs>
                    <a:gs pos="100000">
                      <a:schemeClr val="hlink">
                        <a:gamma/>
                        <a:tint val="57647"/>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28" name="Freeform 53">
                  <a:extLst>
                    <a:ext uri="{FF2B5EF4-FFF2-40B4-BE49-F238E27FC236}">
                      <a16:creationId xmlns:a16="http://schemas.microsoft.com/office/drawing/2014/main" id="{D2FACAE8-E1EE-4770-A81D-A82F8B81B76C}"/>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102" name="Text Box 54">
                <a:extLst>
                  <a:ext uri="{FF2B5EF4-FFF2-40B4-BE49-F238E27FC236}">
                    <a16:creationId xmlns:a16="http://schemas.microsoft.com/office/drawing/2014/main" id="{DDB076B0-921B-4B7C-A6A9-DBDFFF75D100}"/>
                  </a:ext>
                </a:extLst>
              </p:cNvPr>
              <p:cNvSpPr txBox="1">
                <a:spLocks noChangeArrowheads="1"/>
              </p:cNvSpPr>
              <p:nvPr/>
            </p:nvSpPr>
            <p:spPr bwMode="gray">
              <a:xfrm>
                <a:off x="3972" y="2028"/>
                <a:ext cx="350"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2</a:t>
                </a:r>
              </a:p>
            </p:txBody>
          </p:sp>
        </p:grpSp>
        <p:sp>
          <p:nvSpPr>
            <p:cNvPr id="130103" name="Oval 55">
              <a:extLst>
                <a:ext uri="{FF2B5EF4-FFF2-40B4-BE49-F238E27FC236}">
                  <a16:creationId xmlns:a16="http://schemas.microsoft.com/office/drawing/2014/main" id="{89C47E19-9476-4504-B573-5AFF0B0C5F47}"/>
                </a:ext>
              </a:extLst>
            </p:cNvPr>
            <p:cNvSpPr>
              <a:spLocks noChangeArrowheads="1"/>
            </p:cNvSpPr>
            <p:nvPr/>
          </p:nvSpPr>
          <p:spPr bwMode="gray">
            <a:xfrm rot="18227093">
              <a:off x="3202" y="1925"/>
              <a:ext cx="56" cy="64"/>
            </a:xfrm>
            <a:prstGeom prst="ellipse">
              <a:avLst/>
            </a:prstGeom>
            <a:gradFill rotWithShape="1">
              <a:gsLst>
                <a:gs pos="0">
                  <a:schemeClr val="hlink">
                    <a:gamma/>
                    <a:tint val="75686"/>
                    <a:invGamma/>
                  </a:schemeClr>
                </a:gs>
                <a:gs pos="100000">
                  <a:schemeClr val="hlink"/>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24" name="Text Box 56">
              <a:extLst>
                <a:ext uri="{FF2B5EF4-FFF2-40B4-BE49-F238E27FC236}">
                  <a16:creationId xmlns:a16="http://schemas.microsoft.com/office/drawing/2014/main" id="{21303A1A-2A35-4B9C-B950-9D9EE3AE410E}"/>
                </a:ext>
              </a:extLst>
            </p:cNvPr>
            <p:cNvSpPr txBox="1">
              <a:spLocks noChangeArrowheads="1"/>
            </p:cNvSpPr>
            <p:nvPr/>
          </p:nvSpPr>
          <p:spPr bwMode="gray">
            <a:xfrm>
              <a:off x="3787" y="1616"/>
              <a:ext cx="1118"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项目可以分享各部门的技术人才储备</a:t>
              </a:r>
              <a:endParaRPr lang="en-US" altLang="zh-CN">
                <a:solidFill>
                  <a:schemeClr val="tx2"/>
                </a:solidFill>
                <a:latin typeface="Lucida Sans Unicode" panose="020B0602030504020204" pitchFamily="34" charset="0"/>
              </a:endParaRPr>
            </a:p>
          </p:txBody>
        </p:sp>
      </p:grpSp>
      <p:grpSp>
        <p:nvGrpSpPr>
          <p:cNvPr id="21" name="Group 57">
            <a:extLst>
              <a:ext uri="{FF2B5EF4-FFF2-40B4-BE49-F238E27FC236}">
                <a16:creationId xmlns:a16="http://schemas.microsoft.com/office/drawing/2014/main" id="{B5F44158-BE3F-4758-A81F-6FE494AC9507}"/>
              </a:ext>
            </a:extLst>
          </p:cNvPr>
          <p:cNvGrpSpPr>
            <a:grpSpLocks/>
          </p:cNvGrpSpPr>
          <p:nvPr/>
        </p:nvGrpSpPr>
        <p:grpSpPr bwMode="auto">
          <a:xfrm>
            <a:off x="3059113" y="4437063"/>
            <a:ext cx="2951162" cy="1504950"/>
            <a:chOff x="1927" y="2795"/>
            <a:chExt cx="1859" cy="948"/>
          </a:xfrm>
        </p:grpSpPr>
        <p:grpSp>
          <p:nvGrpSpPr>
            <p:cNvPr id="25612" name="Group 58">
              <a:extLst>
                <a:ext uri="{FF2B5EF4-FFF2-40B4-BE49-F238E27FC236}">
                  <a16:creationId xmlns:a16="http://schemas.microsoft.com/office/drawing/2014/main" id="{738F7C3A-07A5-4519-9FAB-3CB25D10A607}"/>
                </a:ext>
              </a:extLst>
            </p:cNvPr>
            <p:cNvGrpSpPr>
              <a:grpSpLocks/>
            </p:cNvGrpSpPr>
            <p:nvPr/>
          </p:nvGrpSpPr>
          <p:grpSpPr bwMode="auto">
            <a:xfrm>
              <a:off x="2608" y="2795"/>
              <a:ext cx="315" cy="491"/>
              <a:chOff x="2629" y="3031"/>
              <a:chExt cx="315" cy="491"/>
            </a:xfrm>
          </p:grpSpPr>
          <p:grpSp>
            <p:nvGrpSpPr>
              <p:cNvPr id="25614" name="Group 59">
                <a:extLst>
                  <a:ext uri="{FF2B5EF4-FFF2-40B4-BE49-F238E27FC236}">
                    <a16:creationId xmlns:a16="http://schemas.microsoft.com/office/drawing/2014/main" id="{F88FDAEA-262C-4F7E-8CED-8C92145E16CF}"/>
                  </a:ext>
                </a:extLst>
              </p:cNvPr>
              <p:cNvGrpSpPr>
                <a:grpSpLocks/>
              </p:cNvGrpSpPr>
              <p:nvPr/>
            </p:nvGrpSpPr>
            <p:grpSpPr bwMode="auto">
              <a:xfrm flipV="1">
                <a:off x="2629" y="3233"/>
                <a:ext cx="315" cy="289"/>
                <a:chOff x="2640" y="1088"/>
                <a:chExt cx="432" cy="415"/>
              </a:xfrm>
            </p:grpSpPr>
            <p:grpSp>
              <p:nvGrpSpPr>
                <p:cNvPr id="25618" name="Group 60">
                  <a:extLst>
                    <a:ext uri="{FF2B5EF4-FFF2-40B4-BE49-F238E27FC236}">
                      <a16:creationId xmlns:a16="http://schemas.microsoft.com/office/drawing/2014/main" id="{1B934279-6AE6-48A1-9BDE-17D4A2733865}"/>
                    </a:ext>
                  </a:extLst>
                </p:cNvPr>
                <p:cNvGrpSpPr>
                  <a:grpSpLocks/>
                </p:cNvGrpSpPr>
                <p:nvPr/>
              </p:nvGrpSpPr>
              <p:grpSpPr bwMode="auto">
                <a:xfrm>
                  <a:off x="2640" y="1088"/>
                  <a:ext cx="432" cy="415"/>
                  <a:chOff x="2016" y="1920"/>
                  <a:chExt cx="1680" cy="1680"/>
                </a:xfrm>
              </p:grpSpPr>
              <p:sp>
                <p:nvSpPr>
                  <p:cNvPr id="130109" name="Oval 61">
                    <a:extLst>
                      <a:ext uri="{FF2B5EF4-FFF2-40B4-BE49-F238E27FC236}">
                        <a16:creationId xmlns:a16="http://schemas.microsoft.com/office/drawing/2014/main" id="{EE5EE790-47BC-441B-8678-ECC557DA610E}"/>
                      </a:ext>
                    </a:extLst>
                  </p:cNvPr>
                  <p:cNvSpPr>
                    <a:spLocks noChangeArrowheads="1"/>
                  </p:cNvSpPr>
                  <p:nvPr/>
                </p:nvSpPr>
                <p:spPr bwMode="gray">
                  <a:xfrm>
                    <a:off x="2016" y="1920"/>
                    <a:ext cx="1680" cy="1680"/>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5621" name="Freeform 62">
                    <a:extLst>
                      <a:ext uri="{FF2B5EF4-FFF2-40B4-BE49-F238E27FC236}">
                        <a16:creationId xmlns:a16="http://schemas.microsoft.com/office/drawing/2014/main" id="{20A9B37F-889B-4E30-B49E-DF62345E9094}"/>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0111" name="Text Box 63">
                  <a:extLst>
                    <a:ext uri="{FF2B5EF4-FFF2-40B4-BE49-F238E27FC236}">
                      <a16:creationId xmlns:a16="http://schemas.microsoft.com/office/drawing/2014/main" id="{B56A62DB-3BD3-4BA0-BD52-1607FE9AC58F}"/>
                    </a:ext>
                  </a:extLst>
                </p:cNvPr>
                <p:cNvSpPr txBox="1">
                  <a:spLocks noChangeArrowheads="1"/>
                </p:cNvSpPr>
                <p:nvPr/>
              </p:nvSpPr>
              <p:spPr bwMode="gray">
                <a:xfrm flipV="1">
                  <a:off x="2691" y="1088"/>
                  <a:ext cx="347"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4</a:t>
                  </a:r>
                </a:p>
              </p:txBody>
            </p:sp>
          </p:grpSp>
          <p:grpSp>
            <p:nvGrpSpPr>
              <p:cNvPr id="25615" name="Group 64">
                <a:extLst>
                  <a:ext uri="{FF2B5EF4-FFF2-40B4-BE49-F238E27FC236}">
                    <a16:creationId xmlns:a16="http://schemas.microsoft.com/office/drawing/2014/main" id="{1785CDAF-EA40-4EC9-8D98-20296AA8BC03}"/>
                  </a:ext>
                </a:extLst>
              </p:cNvPr>
              <p:cNvGrpSpPr>
                <a:grpSpLocks/>
              </p:cNvGrpSpPr>
              <p:nvPr/>
            </p:nvGrpSpPr>
            <p:grpSpPr bwMode="auto">
              <a:xfrm flipV="1">
                <a:off x="2769" y="3031"/>
                <a:ext cx="64" cy="181"/>
                <a:chOff x="2832" y="1612"/>
                <a:chExt cx="87" cy="260"/>
              </a:xfrm>
            </p:grpSpPr>
            <p:sp>
              <p:nvSpPr>
                <p:cNvPr id="130113" name="Oval 65">
                  <a:extLst>
                    <a:ext uri="{FF2B5EF4-FFF2-40B4-BE49-F238E27FC236}">
                      <a16:creationId xmlns:a16="http://schemas.microsoft.com/office/drawing/2014/main" id="{134022FB-54E3-424D-929E-80A293352BFC}"/>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0114" name="Oval 66">
                  <a:extLst>
                    <a:ext uri="{FF2B5EF4-FFF2-40B4-BE49-F238E27FC236}">
                      <a16:creationId xmlns:a16="http://schemas.microsoft.com/office/drawing/2014/main" id="{455045D1-AB6D-4CFD-AD3F-9EB4CFD1669C}"/>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sp>
          <p:nvSpPr>
            <p:cNvPr id="25613" name="Text Box 67">
              <a:extLst>
                <a:ext uri="{FF2B5EF4-FFF2-40B4-BE49-F238E27FC236}">
                  <a16:creationId xmlns:a16="http://schemas.microsoft.com/office/drawing/2014/main" id="{0DA97C77-ED86-4DE4-A708-94794BA647AF}"/>
                </a:ext>
              </a:extLst>
            </p:cNvPr>
            <p:cNvSpPr txBox="1">
              <a:spLocks noChangeArrowheads="1"/>
            </p:cNvSpPr>
            <p:nvPr/>
          </p:nvSpPr>
          <p:spPr bwMode="gray">
            <a:xfrm>
              <a:off x="1927" y="3339"/>
              <a:ext cx="185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Lucida Sans Unicode" panose="020B0602030504020204" pitchFamily="34" charset="0"/>
                </a:rPr>
                <a:t>对客户和公司组织内部的要求能快速反应</a:t>
              </a:r>
              <a:endParaRPr lang="en-US" altLang="zh-CN">
                <a:solidFill>
                  <a:schemeClr val="tx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childTnLst>
                          </p:cTn>
                        </p:par>
                        <p:par>
                          <p:cTn id="16" fill="hold" nodeType="afterGroup">
                            <p:stCondLst>
                              <p:cond delay="30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childTnLst>
                                </p:cTn>
                              </p:par>
                            </p:childTnLst>
                          </p:cTn>
                        </p:par>
                        <p:par>
                          <p:cTn id="20" fill="hold" nodeType="afterGroup">
                            <p:stCondLst>
                              <p:cond delay="4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1000"/>
                                        <p:tgtEl>
                                          <p:spTgt spid="11"/>
                                        </p:tgtEl>
                                      </p:cBhvr>
                                    </p:animEffect>
                                  </p:childTnLst>
                                </p:cTn>
                              </p:par>
                            </p:childTnLst>
                          </p:cTn>
                        </p:par>
                        <p:par>
                          <p:cTn id="24" fill="hold" nodeType="afterGroup">
                            <p:stCondLst>
                              <p:cond delay="5000"/>
                            </p:stCondLst>
                            <p:childTnLst>
                              <p:par>
                                <p:cTn id="25" presetID="10" presetClass="entr" presetSubtype="0"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125" name="Oval 53">
            <a:extLst>
              <a:ext uri="{FF2B5EF4-FFF2-40B4-BE49-F238E27FC236}">
                <a16:creationId xmlns:a16="http://schemas.microsoft.com/office/drawing/2014/main" id="{0F9E9F5D-2E38-4EDF-A130-C409B27CC1EA}"/>
              </a:ext>
            </a:extLst>
          </p:cNvPr>
          <p:cNvSpPr>
            <a:spLocks noChangeArrowheads="1"/>
          </p:cNvSpPr>
          <p:nvPr/>
        </p:nvSpPr>
        <p:spPr bwMode="gray">
          <a:xfrm>
            <a:off x="2889250" y="2206625"/>
            <a:ext cx="2946400" cy="2759075"/>
          </a:xfrm>
          <a:prstGeom prst="ellipse">
            <a:avLst/>
          </a:prstGeom>
          <a:gradFill rotWithShape="1">
            <a:gsLst>
              <a:gs pos="0">
                <a:schemeClr val="bg2"/>
              </a:gs>
              <a:gs pos="100000">
                <a:schemeClr val="bg2">
                  <a:gamma/>
                  <a:tint val="0"/>
                  <a:invGamma/>
                </a:schemeClr>
              </a:gs>
            </a:gsLst>
            <a:lin ang="5400000" scaled="1"/>
          </a:gradFill>
          <a:ln w="9525" algn="ctr">
            <a:solidFill>
              <a:schemeClr val="accent1"/>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6627" name="Oval 55">
            <a:extLst>
              <a:ext uri="{FF2B5EF4-FFF2-40B4-BE49-F238E27FC236}">
                <a16:creationId xmlns:a16="http://schemas.microsoft.com/office/drawing/2014/main" id="{C2F4C1AB-A33A-4C7B-8C27-16662FFD02AA}"/>
              </a:ext>
            </a:extLst>
          </p:cNvPr>
          <p:cNvSpPr>
            <a:spLocks noChangeArrowheads="1"/>
          </p:cNvSpPr>
          <p:nvPr/>
        </p:nvSpPr>
        <p:spPr bwMode="gray">
          <a:xfrm>
            <a:off x="3611563" y="2897188"/>
            <a:ext cx="1500187" cy="1485900"/>
          </a:xfrm>
          <a:prstGeom prst="ellipse">
            <a:avLst/>
          </a:prstGeom>
          <a:gradFill rotWithShape="1">
            <a:gsLst>
              <a:gs pos="0">
                <a:srgbClr val="FF6600"/>
              </a:gs>
              <a:gs pos="100000">
                <a:srgbClr val="742E00"/>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26628" name="Freeform 56">
            <a:extLst>
              <a:ext uri="{FF2B5EF4-FFF2-40B4-BE49-F238E27FC236}">
                <a16:creationId xmlns:a16="http://schemas.microsoft.com/office/drawing/2014/main" id="{1864693E-E6EC-4253-9AEC-8CD729C87E33}"/>
              </a:ext>
            </a:extLst>
          </p:cNvPr>
          <p:cNvSpPr>
            <a:spLocks/>
          </p:cNvSpPr>
          <p:nvPr/>
        </p:nvSpPr>
        <p:spPr bwMode="gray">
          <a:xfrm>
            <a:off x="3783013" y="2922588"/>
            <a:ext cx="1157287" cy="560387"/>
          </a:xfrm>
          <a:custGeom>
            <a:avLst/>
            <a:gdLst>
              <a:gd name="T0" fmla="*/ 998513600 w 1321"/>
              <a:gd name="T1" fmla="*/ 248404931 h 712"/>
              <a:gd name="T2" fmla="*/ 1010793453 w 1321"/>
              <a:gd name="T3" fmla="*/ 273803361 h 712"/>
              <a:gd name="T4" fmla="*/ 1013863198 w 1321"/>
              <a:gd name="T5" fmla="*/ 297962172 h 712"/>
              <a:gd name="T6" fmla="*/ 1009258581 w 1321"/>
              <a:gd name="T7" fmla="*/ 319643317 h 712"/>
              <a:gd name="T8" fmla="*/ 996210416 w 1321"/>
              <a:gd name="T9" fmla="*/ 340705046 h 712"/>
              <a:gd name="T10" fmla="*/ 976256202 w 1321"/>
              <a:gd name="T11" fmla="*/ 358669693 h 712"/>
              <a:gd name="T12" fmla="*/ 950928184 w 1321"/>
              <a:gd name="T13" fmla="*/ 374156675 h 712"/>
              <a:gd name="T14" fmla="*/ 917925586 w 1321"/>
              <a:gd name="T15" fmla="*/ 389023454 h 712"/>
              <a:gd name="T16" fmla="*/ 880318591 w 1321"/>
              <a:gd name="T17" fmla="*/ 402031984 h 712"/>
              <a:gd name="T18" fmla="*/ 838106103 w 1321"/>
              <a:gd name="T19" fmla="*/ 413182363 h 712"/>
              <a:gd name="T20" fmla="*/ 791288999 w 1321"/>
              <a:gd name="T21" fmla="*/ 423093811 h 712"/>
              <a:gd name="T22" fmla="*/ 742169587 w 1321"/>
              <a:gd name="T23" fmla="*/ 429908177 h 712"/>
              <a:gd name="T24" fmla="*/ 687677246 w 1321"/>
              <a:gd name="T25" fmla="*/ 436103128 h 712"/>
              <a:gd name="T26" fmla="*/ 632417470 w 1321"/>
              <a:gd name="T27" fmla="*/ 439819625 h 712"/>
              <a:gd name="T28" fmla="*/ 610160072 w 1321"/>
              <a:gd name="T29" fmla="*/ 441058458 h 712"/>
              <a:gd name="T30" fmla="*/ 365328585 w 1321"/>
              <a:gd name="T31" fmla="*/ 441058458 h 712"/>
              <a:gd name="T32" fmla="*/ 362257965 w 1321"/>
              <a:gd name="T33" fmla="*/ 441058458 h 712"/>
              <a:gd name="T34" fmla="*/ 313905989 w 1321"/>
              <a:gd name="T35" fmla="*/ 438580793 h 712"/>
              <a:gd name="T36" fmla="*/ 267088885 w 1321"/>
              <a:gd name="T37" fmla="*/ 436103128 h 712"/>
              <a:gd name="T38" fmla="*/ 222574034 w 1321"/>
              <a:gd name="T39" fmla="*/ 431147010 h 712"/>
              <a:gd name="T40" fmla="*/ 180361546 w 1321"/>
              <a:gd name="T41" fmla="*/ 426811096 h 712"/>
              <a:gd name="T42" fmla="*/ 142754551 w 1321"/>
              <a:gd name="T43" fmla="*/ 419377313 h 712"/>
              <a:gd name="T44" fmla="*/ 108217273 w 1321"/>
              <a:gd name="T45" fmla="*/ 410704599 h 712"/>
              <a:gd name="T46" fmla="*/ 78284638 w 1321"/>
              <a:gd name="T47" fmla="*/ 401412567 h 712"/>
              <a:gd name="T48" fmla="*/ 51422610 w 1321"/>
              <a:gd name="T49" fmla="*/ 390262286 h 712"/>
              <a:gd name="T50" fmla="*/ 29932648 w 1321"/>
              <a:gd name="T51" fmla="*/ 376634340 h 712"/>
              <a:gd name="T52" fmla="*/ 13814729 w 1321"/>
              <a:gd name="T53" fmla="*/ 361147358 h 712"/>
              <a:gd name="T54" fmla="*/ 4604618 w 1321"/>
              <a:gd name="T55" fmla="*/ 343183498 h 712"/>
              <a:gd name="T56" fmla="*/ 0 w 1321"/>
              <a:gd name="T57" fmla="*/ 324599434 h 712"/>
              <a:gd name="T58" fmla="*/ 0 w 1321"/>
              <a:gd name="T59" fmla="*/ 322120982 h 712"/>
              <a:gd name="T60" fmla="*/ 3069745 w 1321"/>
              <a:gd name="T61" fmla="*/ 301678670 h 712"/>
              <a:gd name="T62" fmla="*/ 12279856 w 1321"/>
              <a:gd name="T63" fmla="*/ 276281026 h 712"/>
              <a:gd name="T64" fmla="*/ 39142757 w 1321"/>
              <a:gd name="T65" fmla="*/ 229201451 h 712"/>
              <a:gd name="T66" fmla="*/ 72144274 w 1321"/>
              <a:gd name="T67" fmla="*/ 185219695 h 712"/>
              <a:gd name="T68" fmla="*/ 112821889 w 1321"/>
              <a:gd name="T69" fmla="*/ 145573903 h 712"/>
              <a:gd name="T70" fmla="*/ 156569276 w 1321"/>
              <a:gd name="T71" fmla="*/ 109025979 h 712"/>
              <a:gd name="T72" fmla="*/ 207224437 w 1321"/>
              <a:gd name="T73" fmla="*/ 77433361 h 712"/>
              <a:gd name="T74" fmla="*/ 261715956 w 1321"/>
              <a:gd name="T75" fmla="*/ 50796086 h 712"/>
              <a:gd name="T76" fmla="*/ 318511481 w 1321"/>
              <a:gd name="T77" fmla="*/ 29114940 h 712"/>
              <a:gd name="T78" fmla="*/ 381445618 w 1321"/>
              <a:gd name="T79" fmla="*/ 13008536 h 712"/>
              <a:gd name="T80" fmla="*/ 445915504 w 1321"/>
              <a:gd name="T81" fmla="*/ 3716499 h 712"/>
              <a:gd name="T82" fmla="*/ 511920371 w 1321"/>
              <a:gd name="T83" fmla="*/ 0 h 712"/>
              <a:gd name="T84" fmla="*/ 511920371 w 1321"/>
              <a:gd name="T85" fmla="*/ 0 h 712"/>
              <a:gd name="T86" fmla="*/ 582529745 w 1321"/>
              <a:gd name="T87" fmla="*/ 3716499 h 712"/>
              <a:gd name="T88" fmla="*/ 650069375 w 1321"/>
              <a:gd name="T89" fmla="*/ 14247369 h 712"/>
              <a:gd name="T90" fmla="*/ 715306697 w 1321"/>
              <a:gd name="T91" fmla="*/ 32831438 h 712"/>
              <a:gd name="T92" fmla="*/ 775171090 w 1321"/>
              <a:gd name="T93" fmla="*/ 55751428 h 712"/>
              <a:gd name="T94" fmla="*/ 830431743 w 1321"/>
              <a:gd name="T95" fmla="*/ 84866357 h 712"/>
              <a:gd name="T96" fmla="*/ 881853463 w 1321"/>
              <a:gd name="T97" fmla="*/ 120176259 h 712"/>
              <a:gd name="T98" fmla="*/ 927135914 w 1321"/>
              <a:gd name="T99" fmla="*/ 158582432 h 712"/>
              <a:gd name="T100" fmla="*/ 965511221 w 1321"/>
              <a:gd name="T101" fmla="*/ 201326093 h 712"/>
              <a:gd name="T102" fmla="*/ 998513600 w 1321"/>
              <a:gd name="T103" fmla="*/ 248404931 h 712"/>
              <a:gd name="T104" fmla="*/ 998513600 w 1321"/>
              <a:gd name="T105" fmla="*/ 24840493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F6600"/>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31129" name="Text Box 57">
            <a:extLst>
              <a:ext uri="{FF2B5EF4-FFF2-40B4-BE49-F238E27FC236}">
                <a16:creationId xmlns:a16="http://schemas.microsoft.com/office/drawing/2014/main" id="{20CF37ED-75BD-45A1-8F42-416E7B5F4E2E}"/>
              </a:ext>
            </a:extLst>
          </p:cNvPr>
          <p:cNvSpPr txBox="1">
            <a:spLocks noChangeArrowheads="1"/>
          </p:cNvSpPr>
          <p:nvPr/>
        </p:nvSpPr>
        <p:spPr bwMode="gray">
          <a:xfrm>
            <a:off x="3992563" y="3462338"/>
            <a:ext cx="796925" cy="457200"/>
          </a:xfrm>
          <a:prstGeom prst="rect">
            <a:avLst/>
          </a:prstGeom>
          <a:noFill/>
          <a:ln w="9525">
            <a:noFill/>
            <a:miter lim="800000"/>
            <a:headEnd/>
            <a:tailEnd/>
          </a:ln>
          <a:effectLst/>
        </p:spPr>
        <p:txBody>
          <a:bodyPr wrap="none">
            <a:spAutoFit/>
          </a:bodyPr>
          <a:lstStyle/>
          <a:p>
            <a:pPr eaLnBrk="0" fontAlgn="auto" hangingPunct="0">
              <a:spcBef>
                <a:spcPts val="0"/>
              </a:spcBef>
              <a:spcAft>
                <a:spcPts val="0"/>
              </a:spcAft>
              <a:defRPr/>
            </a:pPr>
            <a:r>
              <a:rPr lang="zh-CN" altLang="en-US" sz="2400">
                <a:solidFill>
                  <a:schemeClr val="tx2"/>
                </a:solidFill>
                <a:effectLst>
                  <a:outerShdw blurRad="38100" dist="38100" dir="2700000" algn="tl">
                    <a:srgbClr val="C0C0C0"/>
                  </a:outerShdw>
                </a:effectLst>
              </a:rPr>
              <a:t>缺点</a:t>
            </a:r>
          </a:p>
        </p:txBody>
      </p:sp>
      <p:grpSp>
        <p:nvGrpSpPr>
          <p:cNvPr id="2" name="Group 117">
            <a:extLst>
              <a:ext uri="{FF2B5EF4-FFF2-40B4-BE49-F238E27FC236}">
                <a16:creationId xmlns:a16="http://schemas.microsoft.com/office/drawing/2014/main" id="{F0B5FE0E-D6F5-493C-8D15-0749764F3C0A}"/>
              </a:ext>
            </a:extLst>
          </p:cNvPr>
          <p:cNvGrpSpPr>
            <a:grpSpLocks/>
          </p:cNvGrpSpPr>
          <p:nvPr/>
        </p:nvGrpSpPr>
        <p:grpSpPr bwMode="auto">
          <a:xfrm>
            <a:off x="2124075" y="1341438"/>
            <a:ext cx="4797425" cy="1449387"/>
            <a:chOff x="1338" y="845"/>
            <a:chExt cx="3022" cy="913"/>
          </a:xfrm>
        </p:grpSpPr>
        <p:grpSp>
          <p:nvGrpSpPr>
            <p:cNvPr id="26650" name="Group 69">
              <a:extLst>
                <a:ext uri="{FF2B5EF4-FFF2-40B4-BE49-F238E27FC236}">
                  <a16:creationId xmlns:a16="http://schemas.microsoft.com/office/drawing/2014/main" id="{B30AB7AF-C262-4192-ABAE-E7116D5511A8}"/>
                </a:ext>
              </a:extLst>
            </p:cNvPr>
            <p:cNvGrpSpPr>
              <a:grpSpLocks/>
            </p:cNvGrpSpPr>
            <p:nvPr/>
          </p:nvGrpSpPr>
          <p:grpSpPr bwMode="auto">
            <a:xfrm>
              <a:off x="2555" y="1223"/>
              <a:ext cx="315" cy="333"/>
              <a:chOff x="2640" y="1088"/>
              <a:chExt cx="432" cy="478"/>
            </a:xfrm>
          </p:grpSpPr>
          <p:grpSp>
            <p:nvGrpSpPr>
              <p:cNvPr id="26655" name="Group 70">
                <a:extLst>
                  <a:ext uri="{FF2B5EF4-FFF2-40B4-BE49-F238E27FC236}">
                    <a16:creationId xmlns:a16="http://schemas.microsoft.com/office/drawing/2014/main" id="{71621C4B-BF3D-4F17-B5FF-666651DB0E33}"/>
                  </a:ext>
                </a:extLst>
              </p:cNvPr>
              <p:cNvGrpSpPr>
                <a:grpSpLocks/>
              </p:cNvGrpSpPr>
              <p:nvPr/>
            </p:nvGrpSpPr>
            <p:grpSpPr bwMode="auto">
              <a:xfrm>
                <a:off x="2640" y="1088"/>
                <a:ext cx="432" cy="415"/>
                <a:chOff x="2016" y="1920"/>
                <a:chExt cx="1680" cy="1680"/>
              </a:xfrm>
            </p:grpSpPr>
            <p:sp>
              <p:nvSpPr>
                <p:cNvPr id="131143" name="Oval 71">
                  <a:extLst>
                    <a:ext uri="{FF2B5EF4-FFF2-40B4-BE49-F238E27FC236}">
                      <a16:creationId xmlns:a16="http://schemas.microsoft.com/office/drawing/2014/main" id="{83696423-AD06-46D0-B2D2-7502327AFE66}"/>
                    </a:ext>
                  </a:extLst>
                </p:cNvPr>
                <p:cNvSpPr>
                  <a:spLocks noChangeArrowheads="1"/>
                </p:cNvSpPr>
                <p:nvPr/>
              </p:nvSpPr>
              <p:spPr bwMode="gray">
                <a:xfrm>
                  <a:off x="2016" y="1920"/>
                  <a:ext cx="1680" cy="1679"/>
                </a:xfrm>
                <a:prstGeom prst="ellipse">
                  <a:avLst/>
                </a:prstGeom>
                <a:gradFill rotWithShape="1">
                  <a:gsLst>
                    <a:gs pos="0">
                      <a:schemeClr val="accent2"/>
                    </a:gs>
                    <a:gs pos="100000">
                      <a:schemeClr val="accent2">
                        <a:gamma/>
                        <a:shade val="42353"/>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6658" name="Freeform 72">
                  <a:extLst>
                    <a:ext uri="{FF2B5EF4-FFF2-40B4-BE49-F238E27FC236}">
                      <a16:creationId xmlns:a16="http://schemas.microsoft.com/office/drawing/2014/main" id="{FED26A84-BBCE-4225-9376-392E40C03766}"/>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1145" name="Text Box 73">
                <a:extLst>
                  <a:ext uri="{FF2B5EF4-FFF2-40B4-BE49-F238E27FC236}">
                    <a16:creationId xmlns:a16="http://schemas.microsoft.com/office/drawing/2014/main" id="{717D1BC2-5416-4E1F-9237-4F539A51AAC6}"/>
                  </a:ext>
                </a:extLst>
              </p:cNvPr>
              <p:cNvSpPr txBox="1">
                <a:spLocks noChangeArrowheads="1"/>
              </p:cNvSpPr>
              <p:nvPr/>
            </p:nvSpPr>
            <p:spPr bwMode="gray">
              <a:xfrm>
                <a:off x="2691" y="1153"/>
                <a:ext cx="347" cy="413"/>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1</a:t>
                </a:r>
              </a:p>
            </p:txBody>
          </p:sp>
        </p:grpSp>
        <p:grpSp>
          <p:nvGrpSpPr>
            <p:cNvPr id="26651" name="Group 74">
              <a:extLst>
                <a:ext uri="{FF2B5EF4-FFF2-40B4-BE49-F238E27FC236}">
                  <a16:creationId xmlns:a16="http://schemas.microsoft.com/office/drawing/2014/main" id="{DB78ACFB-571F-4DB5-AE9B-C8A986AC5AF5}"/>
                </a:ext>
              </a:extLst>
            </p:cNvPr>
            <p:cNvGrpSpPr>
              <a:grpSpLocks/>
            </p:cNvGrpSpPr>
            <p:nvPr/>
          </p:nvGrpSpPr>
          <p:grpSpPr bwMode="auto">
            <a:xfrm>
              <a:off x="2695" y="1577"/>
              <a:ext cx="64" cy="181"/>
              <a:chOff x="2832" y="1612"/>
              <a:chExt cx="87" cy="260"/>
            </a:xfrm>
          </p:grpSpPr>
          <p:sp>
            <p:nvSpPr>
              <p:cNvPr id="131147" name="Oval 75">
                <a:extLst>
                  <a:ext uri="{FF2B5EF4-FFF2-40B4-BE49-F238E27FC236}">
                    <a16:creationId xmlns:a16="http://schemas.microsoft.com/office/drawing/2014/main" id="{2D04C498-A474-4575-871E-F2F9C6845157}"/>
                  </a:ext>
                </a:extLst>
              </p:cNvPr>
              <p:cNvSpPr>
                <a:spLocks noChangeArrowheads="1"/>
              </p:cNvSpPr>
              <p:nvPr/>
            </p:nvSpPr>
            <p:spPr bwMode="gray">
              <a:xfrm rot="18227093">
                <a:off x="2835" y="1609"/>
                <a:ext cx="82" cy="87"/>
              </a:xfrm>
              <a:prstGeom prst="ellipse">
                <a:avLst/>
              </a:prstGeom>
              <a:gradFill rotWithShape="1">
                <a:gsLst>
                  <a:gs pos="0">
                    <a:schemeClr val="accent2"/>
                  </a:gs>
                  <a:gs pos="100000">
                    <a:schemeClr val="accent2">
                      <a:gamma/>
                      <a:shade val="45490"/>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1148" name="Oval 76">
                <a:extLst>
                  <a:ext uri="{FF2B5EF4-FFF2-40B4-BE49-F238E27FC236}">
                    <a16:creationId xmlns:a16="http://schemas.microsoft.com/office/drawing/2014/main" id="{5D8355CD-37FB-4A32-9351-73DB51B992E5}"/>
                  </a:ext>
                </a:extLst>
              </p:cNvPr>
              <p:cNvSpPr>
                <a:spLocks noChangeArrowheads="1"/>
              </p:cNvSpPr>
              <p:nvPr/>
            </p:nvSpPr>
            <p:spPr bwMode="gray">
              <a:xfrm rot="18227093">
                <a:off x="2835" y="1789"/>
                <a:ext cx="82" cy="87"/>
              </a:xfrm>
              <a:prstGeom prst="ellipse">
                <a:avLst/>
              </a:prstGeom>
              <a:gradFill rotWithShape="1">
                <a:gsLst>
                  <a:gs pos="0">
                    <a:schemeClr val="accent2"/>
                  </a:gs>
                  <a:gs pos="100000">
                    <a:schemeClr val="accent2">
                      <a:gamma/>
                      <a:shade val="4862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sp>
          <p:nvSpPr>
            <p:cNvPr id="26652" name="Text Box 77">
              <a:extLst>
                <a:ext uri="{FF2B5EF4-FFF2-40B4-BE49-F238E27FC236}">
                  <a16:creationId xmlns:a16="http://schemas.microsoft.com/office/drawing/2014/main" id="{A388F63C-41BE-4E59-94BF-2D8243137C89}"/>
                </a:ext>
              </a:extLst>
            </p:cNvPr>
            <p:cNvSpPr txBox="1">
              <a:spLocks noChangeArrowheads="1"/>
            </p:cNvSpPr>
            <p:nvPr/>
          </p:nvSpPr>
          <p:spPr bwMode="gray">
            <a:xfrm>
              <a:off x="1338" y="845"/>
              <a:ext cx="302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命令源的非唯一性。职员的命令来源于两个方面：项目经理和职能部门经理</a:t>
              </a:r>
              <a:endParaRPr lang="en-US" altLang="zh-CN">
                <a:solidFill>
                  <a:schemeClr val="tx2"/>
                </a:solidFill>
                <a:latin typeface="Lucida Sans Unicode" panose="020B0602030504020204" pitchFamily="34" charset="0"/>
              </a:endParaRPr>
            </a:p>
          </p:txBody>
        </p:sp>
      </p:grpSp>
      <p:grpSp>
        <p:nvGrpSpPr>
          <p:cNvPr id="6" name="Group 119">
            <a:extLst>
              <a:ext uri="{FF2B5EF4-FFF2-40B4-BE49-F238E27FC236}">
                <a16:creationId xmlns:a16="http://schemas.microsoft.com/office/drawing/2014/main" id="{02561D8F-6091-4A3C-B92C-DE5F8DAA89E8}"/>
              </a:ext>
            </a:extLst>
          </p:cNvPr>
          <p:cNvGrpSpPr>
            <a:grpSpLocks/>
          </p:cNvGrpSpPr>
          <p:nvPr/>
        </p:nvGrpSpPr>
        <p:grpSpPr bwMode="auto">
          <a:xfrm>
            <a:off x="468313" y="3933825"/>
            <a:ext cx="3113087" cy="1131888"/>
            <a:chOff x="295" y="2478"/>
            <a:chExt cx="1961" cy="713"/>
          </a:xfrm>
        </p:grpSpPr>
        <p:grpSp>
          <p:nvGrpSpPr>
            <p:cNvPr id="26641" name="Group 79">
              <a:extLst>
                <a:ext uri="{FF2B5EF4-FFF2-40B4-BE49-F238E27FC236}">
                  <a16:creationId xmlns:a16="http://schemas.microsoft.com/office/drawing/2014/main" id="{427034C3-8D2F-45EF-99BE-AFF07B505739}"/>
                </a:ext>
              </a:extLst>
            </p:cNvPr>
            <p:cNvGrpSpPr>
              <a:grpSpLocks/>
            </p:cNvGrpSpPr>
            <p:nvPr/>
          </p:nvGrpSpPr>
          <p:grpSpPr bwMode="auto">
            <a:xfrm>
              <a:off x="2109" y="2478"/>
              <a:ext cx="147" cy="123"/>
              <a:chOff x="2236" y="3191"/>
              <a:chExt cx="201" cy="176"/>
            </a:xfrm>
          </p:grpSpPr>
          <p:sp>
            <p:nvSpPr>
              <p:cNvPr id="131152" name="Oval 80">
                <a:extLst>
                  <a:ext uri="{FF2B5EF4-FFF2-40B4-BE49-F238E27FC236}">
                    <a16:creationId xmlns:a16="http://schemas.microsoft.com/office/drawing/2014/main" id="{6FA1DB1D-1742-4EF4-8E7A-73974FA22852}"/>
                  </a:ext>
                </a:extLst>
              </p:cNvPr>
              <p:cNvSpPr>
                <a:spLocks noChangeArrowheads="1"/>
              </p:cNvSpPr>
              <p:nvPr/>
            </p:nvSpPr>
            <p:spPr bwMode="gray">
              <a:xfrm rot="18227093">
                <a:off x="2239" y="3282"/>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1153" name="Oval 81">
                <a:extLst>
                  <a:ext uri="{FF2B5EF4-FFF2-40B4-BE49-F238E27FC236}">
                    <a16:creationId xmlns:a16="http://schemas.microsoft.com/office/drawing/2014/main" id="{BA1E1FE2-3795-430C-8E9C-5BB5025476B3}"/>
                  </a:ext>
                </a:extLst>
              </p:cNvPr>
              <p:cNvSpPr>
                <a:spLocks noChangeArrowheads="1"/>
              </p:cNvSpPr>
              <p:nvPr/>
            </p:nvSpPr>
            <p:spPr bwMode="gray">
              <a:xfrm rot="18227093">
                <a:off x="2352" y="3188"/>
                <a:ext cx="82" cy="88"/>
              </a:xfrm>
              <a:prstGeom prst="ellipse">
                <a:avLst/>
              </a:prstGeom>
              <a:gradFill rotWithShape="1">
                <a:gsLst>
                  <a:gs pos="0">
                    <a:schemeClr val="folHlink"/>
                  </a:gs>
                  <a:gs pos="100000">
                    <a:schemeClr val="folHlink">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grpSp>
          <p:nvGrpSpPr>
            <p:cNvPr id="26642" name="Group 82">
              <a:extLst>
                <a:ext uri="{FF2B5EF4-FFF2-40B4-BE49-F238E27FC236}">
                  <a16:creationId xmlns:a16="http://schemas.microsoft.com/office/drawing/2014/main" id="{9E124A81-B22A-45CE-B8B6-1F081C97131C}"/>
                </a:ext>
              </a:extLst>
            </p:cNvPr>
            <p:cNvGrpSpPr>
              <a:grpSpLocks/>
            </p:cNvGrpSpPr>
            <p:nvPr/>
          </p:nvGrpSpPr>
          <p:grpSpPr bwMode="auto">
            <a:xfrm>
              <a:off x="1746" y="2569"/>
              <a:ext cx="316" cy="344"/>
              <a:chOff x="1824" y="3357"/>
              <a:chExt cx="432" cy="494"/>
            </a:xfrm>
          </p:grpSpPr>
          <p:grpSp>
            <p:nvGrpSpPr>
              <p:cNvPr id="26644" name="Group 83">
                <a:extLst>
                  <a:ext uri="{FF2B5EF4-FFF2-40B4-BE49-F238E27FC236}">
                    <a16:creationId xmlns:a16="http://schemas.microsoft.com/office/drawing/2014/main" id="{7EFEF7D6-D19E-4E2E-A56E-BAD7795DC164}"/>
                  </a:ext>
                </a:extLst>
              </p:cNvPr>
              <p:cNvGrpSpPr>
                <a:grpSpLocks/>
              </p:cNvGrpSpPr>
              <p:nvPr/>
            </p:nvGrpSpPr>
            <p:grpSpPr bwMode="auto">
              <a:xfrm>
                <a:off x="1824" y="3357"/>
                <a:ext cx="432" cy="432"/>
                <a:chOff x="2016" y="1920"/>
                <a:chExt cx="1680" cy="1680"/>
              </a:xfrm>
            </p:grpSpPr>
            <p:sp>
              <p:nvSpPr>
                <p:cNvPr id="131156" name="Oval 84">
                  <a:extLst>
                    <a:ext uri="{FF2B5EF4-FFF2-40B4-BE49-F238E27FC236}">
                      <a16:creationId xmlns:a16="http://schemas.microsoft.com/office/drawing/2014/main" id="{819C818D-48A5-477F-BCDA-FC40140C385A}"/>
                    </a:ext>
                  </a:extLst>
                </p:cNvPr>
                <p:cNvSpPr>
                  <a:spLocks noChangeArrowheads="1"/>
                </p:cNvSpPr>
                <p:nvPr/>
              </p:nvSpPr>
              <p:spPr bwMode="gray">
                <a:xfrm>
                  <a:off x="2016" y="1920"/>
                  <a:ext cx="1680" cy="1681"/>
                </a:xfrm>
                <a:prstGeom prst="ellipse">
                  <a:avLst/>
                </a:prstGeom>
                <a:gradFill rotWithShape="1">
                  <a:gsLst>
                    <a:gs pos="0">
                      <a:schemeClr val="folHlink"/>
                    </a:gs>
                    <a:gs pos="100000">
                      <a:schemeClr val="folHlink">
                        <a:gamma/>
                        <a:shade val="24314"/>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6647" name="Freeform 85">
                  <a:extLst>
                    <a:ext uri="{FF2B5EF4-FFF2-40B4-BE49-F238E27FC236}">
                      <a16:creationId xmlns:a16="http://schemas.microsoft.com/office/drawing/2014/main" id="{56977D6A-EC17-4BEE-8A5B-A8B1D114FF85}"/>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folHlink"/>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1158" name="Text Box 86">
                <a:extLst>
                  <a:ext uri="{FF2B5EF4-FFF2-40B4-BE49-F238E27FC236}">
                    <a16:creationId xmlns:a16="http://schemas.microsoft.com/office/drawing/2014/main" id="{4A661F8D-4666-4335-959B-62CD5E53C5C1}"/>
                  </a:ext>
                </a:extLst>
              </p:cNvPr>
              <p:cNvSpPr txBox="1">
                <a:spLocks noChangeArrowheads="1"/>
              </p:cNvSpPr>
              <p:nvPr/>
            </p:nvSpPr>
            <p:spPr bwMode="gray">
              <a:xfrm>
                <a:off x="1862" y="3437"/>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5</a:t>
                </a:r>
              </a:p>
            </p:txBody>
          </p:sp>
        </p:grpSp>
        <p:sp>
          <p:nvSpPr>
            <p:cNvPr id="26643" name="Text Box 87">
              <a:extLst>
                <a:ext uri="{FF2B5EF4-FFF2-40B4-BE49-F238E27FC236}">
                  <a16:creationId xmlns:a16="http://schemas.microsoft.com/office/drawing/2014/main" id="{89EEF485-6595-4810-8299-42272B746182}"/>
                </a:ext>
              </a:extLst>
            </p:cNvPr>
            <p:cNvSpPr txBox="1">
              <a:spLocks noChangeArrowheads="1"/>
            </p:cNvSpPr>
            <p:nvPr/>
          </p:nvSpPr>
          <p:spPr bwMode="gray">
            <a:xfrm>
              <a:off x="295" y="2614"/>
              <a:ext cx="146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对项目经理与职能经理的协调能力提出较高要求</a:t>
              </a:r>
              <a:endParaRPr lang="en-US" altLang="zh-CN">
                <a:solidFill>
                  <a:schemeClr val="tx2"/>
                </a:solidFill>
                <a:latin typeface="Lucida Sans Unicode" panose="020B0602030504020204" pitchFamily="34" charset="0"/>
              </a:endParaRPr>
            </a:p>
          </p:txBody>
        </p:sp>
      </p:grpSp>
      <p:grpSp>
        <p:nvGrpSpPr>
          <p:cNvPr id="10" name="Group 118">
            <a:extLst>
              <a:ext uri="{FF2B5EF4-FFF2-40B4-BE49-F238E27FC236}">
                <a16:creationId xmlns:a16="http://schemas.microsoft.com/office/drawing/2014/main" id="{76969791-3B74-4B2E-B453-3B4EA23DE541}"/>
              </a:ext>
            </a:extLst>
          </p:cNvPr>
          <p:cNvGrpSpPr>
            <a:grpSpLocks/>
          </p:cNvGrpSpPr>
          <p:nvPr/>
        </p:nvGrpSpPr>
        <p:grpSpPr bwMode="auto">
          <a:xfrm>
            <a:off x="5121275" y="3933825"/>
            <a:ext cx="3627438" cy="1465263"/>
            <a:chOff x="3226" y="2478"/>
            <a:chExt cx="2285" cy="923"/>
          </a:xfrm>
        </p:grpSpPr>
        <p:sp>
          <p:nvSpPr>
            <p:cNvPr id="131161" name="Oval 89">
              <a:extLst>
                <a:ext uri="{FF2B5EF4-FFF2-40B4-BE49-F238E27FC236}">
                  <a16:creationId xmlns:a16="http://schemas.microsoft.com/office/drawing/2014/main" id="{67BF96CD-05E5-4422-8818-17037B312032}"/>
                </a:ext>
              </a:extLst>
            </p:cNvPr>
            <p:cNvSpPr>
              <a:spLocks noChangeArrowheads="1"/>
            </p:cNvSpPr>
            <p:nvPr/>
          </p:nvSpPr>
          <p:spPr bwMode="gray">
            <a:xfrm rot="18227093">
              <a:off x="3338" y="2564"/>
              <a:ext cx="56"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131162" name="Oval 90">
              <a:extLst>
                <a:ext uri="{FF2B5EF4-FFF2-40B4-BE49-F238E27FC236}">
                  <a16:creationId xmlns:a16="http://schemas.microsoft.com/office/drawing/2014/main" id="{8A71DCED-84A6-495F-9B9A-CBCD35769E20}"/>
                </a:ext>
              </a:extLst>
            </p:cNvPr>
            <p:cNvSpPr>
              <a:spLocks noChangeArrowheads="1"/>
            </p:cNvSpPr>
            <p:nvPr/>
          </p:nvSpPr>
          <p:spPr bwMode="gray">
            <a:xfrm rot="18227093">
              <a:off x="3229" y="2508"/>
              <a:ext cx="57" cy="63"/>
            </a:xfrm>
            <a:prstGeom prst="ellipse">
              <a:avLst/>
            </a:prstGeom>
            <a:gradFill rotWithShape="1">
              <a:gsLst>
                <a:gs pos="0">
                  <a:schemeClr val="bg2"/>
                </a:gs>
                <a:gs pos="100000">
                  <a:schemeClr val="bg2">
                    <a:gamma/>
                    <a:shade val="66667"/>
                    <a:invGamma/>
                  </a:schemeClr>
                </a:gs>
              </a:gsLst>
              <a:path path="shape">
                <a:fillToRect l="50000" t="50000" r="50000" b="50000"/>
              </a:path>
            </a:gradFill>
            <a:ln w="9525">
              <a:solidFill>
                <a:srgbClr val="000000"/>
              </a:solidFill>
              <a:round/>
              <a:headEnd/>
              <a:tailEnd/>
            </a:ln>
            <a:effectLst/>
          </p:spPr>
          <p:txBody>
            <a:bodyPr wrap="none" anchor="ctr"/>
            <a:lstStyle/>
            <a:p>
              <a:pPr fontAlgn="auto">
                <a:spcBef>
                  <a:spcPts val="0"/>
                </a:spcBef>
                <a:spcAft>
                  <a:spcPts val="0"/>
                </a:spcAft>
                <a:defRPr/>
              </a:pPr>
              <a:endParaRPr lang="zh-CN" altLang="en-US">
                <a:ea typeface="+mn-ea"/>
              </a:endParaRPr>
            </a:p>
          </p:txBody>
        </p:sp>
        <p:grpSp>
          <p:nvGrpSpPr>
            <p:cNvPr id="26635" name="Group 91">
              <a:extLst>
                <a:ext uri="{FF2B5EF4-FFF2-40B4-BE49-F238E27FC236}">
                  <a16:creationId xmlns:a16="http://schemas.microsoft.com/office/drawing/2014/main" id="{7797F6AF-16AE-4437-8362-92AA0431EE7D}"/>
                </a:ext>
              </a:extLst>
            </p:cNvPr>
            <p:cNvGrpSpPr>
              <a:grpSpLocks/>
            </p:cNvGrpSpPr>
            <p:nvPr/>
          </p:nvGrpSpPr>
          <p:grpSpPr bwMode="auto">
            <a:xfrm>
              <a:off x="3470" y="2563"/>
              <a:ext cx="301" cy="303"/>
              <a:chOff x="3552" y="3339"/>
              <a:chExt cx="412" cy="436"/>
            </a:xfrm>
          </p:grpSpPr>
          <p:grpSp>
            <p:nvGrpSpPr>
              <p:cNvPr id="26637" name="Group 92">
                <a:extLst>
                  <a:ext uri="{FF2B5EF4-FFF2-40B4-BE49-F238E27FC236}">
                    <a16:creationId xmlns:a16="http://schemas.microsoft.com/office/drawing/2014/main" id="{92CE3F5A-82EF-4485-B336-A721D28FA977}"/>
                  </a:ext>
                </a:extLst>
              </p:cNvPr>
              <p:cNvGrpSpPr>
                <a:grpSpLocks/>
              </p:cNvGrpSpPr>
              <p:nvPr/>
            </p:nvGrpSpPr>
            <p:grpSpPr bwMode="auto">
              <a:xfrm>
                <a:off x="3552" y="3339"/>
                <a:ext cx="412" cy="392"/>
                <a:chOff x="2016" y="1920"/>
                <a:chExt cx="1680" cy="1680"/>
              </a:xfrm>
            </p:grpSpPr>
            <p:sp>
              <p:nvSpPr>
                <p:cNvPr id="131165" name="Oval 93">
                  <a:extLst>
                    <a:ext uri="{FF2B5EF4-FFF2-40B4-BE49-F238E27FC236}">
                      <a16:creationId xmlns:a16="http://schemas.microsoft.com/office/drawing/2014/main" id="{BA3428F8-F58E-437D-B42B-0BC7CCA6D5FD}"/>
                    </a:ext>
                  </a:extLst>
                </p:cNvPr>
                <p:cNvSpPr>
                  <a:spLocks noChangeArrowheads="1"/>
                </p:cNvSpPr>
                <p:nvPr/>
              </p:nvSpPr>
              <p:spPr bwMode="gray">
                <a:xfrm>
                  <a:off x="2016" y="1920"/>
                  <a:ext cx="1680" cy="1677"/>
                </a:xfrm>
                <a:prstGeom prst="ellipse">
                  <a:avLst/>
                </a:prstGeom>
                <a:gradFill rotWithShape="1">
                  <a:gsLst>
                    <a:gs pos="0">
                      <a:schemeClr val="bg2"/>
                    </a:gs>
                    <a:gs pos="100000">
                      <a:schemeClr val="bg2">
                        <a:gamma/>
                        <a:shade val="45490"/>
                        <a:invGamma/>
                      </a:schemeClr>
                    </a:gs>
                  </a:gsLst>
                  <a:lin ang="5400000" scaled="1"/>
                </a:gradFill>
                <a:ln w="9525">
                  <a:noFill/>
                  <a:round/>
                  <a:headEnd/>
                  <a:tailEnd/>
                </a:ln>
                <a:effectLst/>
              </p:spPr>
              <p:txBody>
                <a:bodyPr wrap="none" anchor="ctr"/>
                <a:lstStyle/>
                <a:p>
                  <a:pPr fontAlgn="auto">
                    <a:spcBef>
                      <a:spcPts val="0"/>
                    </a:spcBef>
                    <a:spcAft>
                      <a:spcPts val="0"/>
                    </a:spcAft>
                    <a:defRPr/>
                  </a:pPr>
                  <a:endParaRPr lang="zh-CN" altLang="en-US">
                    <a:ea typeface="+mn-ea"/>
                  </a:endParaRPr>
                </a:p>
              </p:txBody>
            </p:sp>
            <p:sp>
              <p:nvSpPr>
                <p:cNvPr id="26640" name="Freeform 94">
                  <a:extLst>
                    <a:ext uri="{FF2B5EF4-FFF2-40B4-BE49-F238E27FC236}">
                      <a16:creationId xmlns:a16="http://schemas.microsoft.com/office/drawing/2014/main" id="{40C55B97-692F-4D70-B119-5CB4181F0423}"/>
                    </a:ext>
                  </a:extLst>
                </p:cNvPr>
                <p:cNvSpPr>
                  <a:spLocks/>
                </p:cNvSpPr>
                <p:nvPr/>
              </p:nvSpPr>
              <p:spPr bwMode="gray">
                <a:xfrm>
                  <a:off x="2208" y="1948"/>
                  <a:ext cx="1296" cy="634"/>
                </a:xfrm>
                <a:custGeom>
                  <a:avLst/>
                  <a:gdLst>
                    <a:gd name="T0" fmla="*/ 1252 w 1321"/>
                    <a:gd name="T1" fmla="*/ 318 h 712"/>
                    <a:gd name="T2" fmla="*/ 1268 w 1321"/>
                    <a:gd name="T3" fmla="*/ 351 h 712"/>
                    <a:gd name="T4" fmla="*/ 1271 w 1321"/>
                    <a:gd name="T5" fmla="*/ 381 h 712"/>
                    <a:gd name="T6" fmla="*/ 1266 w 1321"/>
                    <a:gd name="T7" fmla="*/ 409 h 712"/>
                    <a:gd name="T8" fmla="*/ 1249 w 1321"/>
                    <a:gd name="T9" fmla="*/ 436 h 712"/>
                    <a:gd name="T10" fmla="*/ 1224 w 1321"/>
                    <a:gd name="T11" fmla="*/ 459 h 712"/>
                    <a:gd name="T12" fmla="*/ 1193 w 1321"/>
                    <a:gd name="T13" fmla="*/ 479 h 712"/>
                    <a:gd name="T14" fmla="*/ 1151 w 1321"/>
                    <a:gd name="T15" fmla="*/ 498 h 712"/>
                    <a:gd name="T16" fmla="*/ 1104 w 1321"/>
                    <a:gd name="T17" fmla="*/ 515 h 712"/>
                    <a:gd name="T18" fmla="*/ 1051 w 1321"/>
                    <a:gd name="T19" fmla="*/ 529 h 712"/>
                    <a:gd name="T20" fmla="*/ 992 w 1321"/>
                    <a:gd name="T21" fmla="*/ 541 h 712"/>
                    <a:gd name="T22" fmla="*/ 931 w 1321"/>
                    <a:gd name="T23" fmla="*/ 550 h 712"/>
                    <a:gd name="T24" fmla="*/ 862 w 1321"/>
                    <a:gd name="T25" fmla="*/ 558 h 712"/>
                    <a:gd name="T26" fmla="*/ 793 w 1321"/>
                    <a:gd name="T27" fmla="*/ 563 h 712"/>
                    <a:gd name="T28" fmla="*/ 765 w 1321"/>
                    <a:gd name="T29" fmla="*/ 565 h 712"/>
                    <a:gd name="T30" fmla="*/ 458 w 1321"/>
                    <a:gd name="T31" fmla="*/ 565 h 712"/>
                    <a:gd name="T32" fmla="*/ 454 w 1321"/>
                    <a:gd name="T33" fmla="*/ 565 h 712"/>
                    <a:gd name="T34" fmla="*/ 393 w 1321"/>
                    <a:gd name="T35" fmla="*/ 561 h 712"/>
                    <a:gd name="T36" fmla="*/ 335 w 1321"/>
                    <a:gd name="T37" fmla="*/ 558 h 712"/>
                    <a:gd name="T38" fmla="*/ 280 w 1321"/>
                    <a:gd name="T39" fmla="*/ 552 h 712"/>
                    <a:gd name="T40" fmla="*/ 227 w 1321"/>
                    <a:gd name="T41" fmla="*/ 547 h 712"/>
                    <a:gd name="T42" fmla="*/ 179 w 1321"/>
                    <a:gd name="T43" fmla="*/ 537 h 712"/>
                    <a:gd name="T44" fmla="*/ 135 w 1321"/>
                    <a:gd name="T45" fmla="*/ 525 h 712"/>
                    <a:gd name="T46" fmla="*/ 98 w 1321"/>
                    <a:gd name="T47" fmla="*/ 514 h 712"/>
                    <a:gd name="T48" fmla="*/ 65 w 1321"/>
                    <a:gd name="T49" fmla="*/ 500 h 712"/>
                    <a:gd name="T50" fmla="*/ 37 w 1321"/>
                    <a:gd name="T51" fmla="*/ 482 h 712"/>
                    <a:gd name="T52" fmla="*/ 18 w 1321"/>
                    <a:gd name="T53" fmla="*/ 462 h 712"/>
                    <a:gd name="T54" fmla="*/ 6 w 1321"/>
                    <a:gd name="T55" fmla="*/ 439 h 712"/>
                    <a:gd name="T56" fmla="*/ 0 w 1321"/>
                    <a:gd name="T57" fmla="*/ 416 h 712"/>
                    <a:gd name="T58" fmla="*/ 0 w 1321"/>
                    <a:gd name="T59" fmla="*/ 412 h 712"/>
                    <a:gd name="T60" fmla="*/ 4 w 1321"/>
                    <a:gd name="T61" fmla="*/ 386 h 712"/>
                    <a:gd name="T62" fmla="*/ 16 w 1321"/>
                    <a:gd name="T63" fmla="*/ 354 h 712"/>
                    <a:gd name="T64" fmla="*/ 49 w 1321"/>
                    <a:gd name="T65" fmla="*/ 293 h 712"/>
                    <a:gd name="T66" fmla="*/ 90 w 1321"/>
                    <a:gd name="T67" fmla="*/ 237 h 712"/>
                    <a:gd name="T68" fmla="*/ 141 w 1321"/>
                    <a:gd name="T69" fmla="*/ 186 h 712"/>
                    <a:gd name="T70" fmla="*/ 196 w 1321"/>
                    <a:gd name="T71" fmla="*/ 140 h 712"/>
                    <a:gd name="T72" fmla="*/ 260 w 1321"/>
                    <a:gd name="T73" fmla="*/ 99 h 712"/>
                    <a:gd name="T74" fmla="*/ 329 w 1321"/>
                    <a:gd name="T75" fmla="*/ 65 h 712"/>
                    <a:gd name="T76" fmla="*/ 399 w 1321"/>
                    <a:gd name="T77" fmla="*/ 37 h 712"/>
                    <a:gd name="T78" fmla="*/ 479 w 1321"/>
                    <a:gd name="T79" fmla="*/ 17 h 712"/>
                    <a:gd name="T80" fmla="*/ 559 w 1321"/>
                    <a:gd name="T81" fmla="*/ 4 h 712"/>
                    <a:gd name="T82" fmla="*/ 642 w 1321"/>
                    <a:gd name="T83" fmla="*/ 0 h 712"/>
                    <a:gd name="T84" fmla="*/ 642 w 1321"/>
                    <a:gd name="T85" fmla="*/ 0 h 712"/>
                    <a:gd name="T86" fmla="*/ 731 w 1321"/>
                    <a:gd name="T87" fmla="*/ 4 h 712"/>
                    <a:gd name="T88" fmla="*/ 815 w 1321"/>
                    <a:gd name="T89" fmla="*/ 18 h 712"/>
                    <a:gd name="T90" fmla="*/ 897 w 1321"/>
                    <a:gd name="T91" fmla="*/ 42 h 712"/>
                    <a:gd name="T92" fmla="*/ 972 w 1321"/>
                    <a:gd name="T93" fmla="*/ 71 h 712"/>
                    <a:gd name="T94" fmla="*/ 1042 w 1321"/>
                    <a:gd name="T95" fmla="*/ 109 h 712"/>
                    <a:gd name="T96" fmla="*/ 1106 w 1321"/>
                    <a:gd name="T97" fmla="*/ 154 h 712"/>
                    <a:gd name="T98" fmla="*/ 1163 w 1321"/>
                    <a:gd name="T99" fmla="*/ 203 h 712"/>
                    <a:gd name="T100" fmla="*/ 1211 w 1321"/>
                    <a:gd name="T101" fmla="*/ 257 h 712"/>
                    <a:gd name="T102" fmla="*/ 1252 w 1321"/>
                    <a:gd name="T103" fmla="*/ 318 h 712"/>
                    <a:gd name="T104" fmla="*/ 1252 w 1321"/>
                    <a:gd name="T105" fmla="*/ 318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bg2"/>
                    </a:gs>
                  </a:gsLst>
                  <a:lin ang="5400000" scaled="1"/>
                </a:gradFill>
                <a:ln>
                  <a:noFill/>
                </a:ln>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131167" name="Text Box 95">
                <a:extLst>
                  <a:ext uri="{FF2B5EF4-FFF2-40B4-BE49-F238E27FC236}">
                    <a16:creationId xmlns:a16="http://schemas.microsoft.com/office/drawing/2014/main" id="{10A2420E-ADDC-42E1-8B74-CB7DF33EF1E6}"/>
                  </a:ext>
                </a:extLst>
              </p:cNvPr>
              <p:cNvSpPr txBox="1">
                <a:spLocks noChangeArrowheads="1"/>
              </p:cNvSpPr>
              <p:nvPr/>
            </p:nvSpPr>
            <p:spPr bwMode="gray">
              <a:xfrm>
                <a:off x="3607" y="3361"/>
                <a:ext cx="346" cy="414"/>
              </a:xfrm>
              <a:prstGeom prst="rect">
                <a:avLst/>
              </a:prstGeom>
              <a:noFill/>
              <a:ln w="9525" algn="ctr">
                <a:noFill/>
                <a:miter lim="800000"/>
                <a:headEnd/>
                <a:tailEnd/>
              </a:ln>
              <a:effec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solidFill>
                      <a:schemeClr val="tx2"/>
                    </a:solidFill>
                    <a:effectLst>
                      <a:outerShdw blurRad="38100" dist="38100" dir="2700000" algn="tl">
                        <a:srgbClr val="C0C0C0"/>
                      </a:outerShdw>
                    </a:effectLst>
                    <a:latin typeface="Verdana" panose="020B0604030504040204" pitchFamily="34" charset="0"/>
                  </a:rPr>
                  <a:t>3</a:t>
                </a:r>
              </a:p>
            </p:txBody>
          </p:sp>
        </p:grpSp>
        <p:sp>
          <p:nvSpPr>
            <p:cNvPr id="26636" name="Text Box 96">
              <a:extLst>
                <a:ext uri="{FF2B5EF4-FFF2-40B4-BE49-F238E27FC236}">
                  <a16:creationId xmlns:a16="http://schemas.microsoft.com/office/drawing/2014/main" id="{D9C8A215-D50A-43D0-87AB-E4282A70333A}"/>
                </a:ext>
              </a:extLst>
            </p:cNvPr>
            <p:cNvSpPr txBox="1">
              <a:spLocks noChangeArrowheads="1"/>
            </p:cNvSpPr>
            <p:nvPr/>
          </p:nvSpPr>
          <p:spPr bwMode="gray">
            <a:xfrm>
              <a:off x="3787" y="2478"/>
              <a:ext cx="17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资源在不同项目中的分配较困难，容易引起项目经理之间的争斗，项目目标而非公司整体目标成为项目经理考虑的核心</a:t>
              </a:r>
              <a:endParaRPr lang="en-US" altLang="zh-CN">
                <a:solidFill>
                  <a:schemeClr val="tx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childTnLst>
                          </p:cTn>
                        </p:par>
                        <p:par>
                          <p:cTn id="12" fill="hold" nodeType="afterGroup">
                            <p:stCondLst>
                              <p:cond delay="2000"/>
                            </p:stCondLst>
                            <p:childTnLst>
                              <p:par>
                                <p:cTn id="13" presetID="10"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4FE2359A-ACAA-44D9-B136-95DEBA414F6A}"/>
              </a:ext>
            </a:extLst>
          </p:cNvPr>
          <p:cNvSpPr>
            <a:spLocks noGrp="1" noChangeArrowheads="1"/>
          </p:cNvSpPr>
          <p:nvPr>
            <p:ph type="title"/>
          </p:nvPr>
        </p:nvSpPr>
        <p:spPr/>
        <p:txBody>
          <a:bodyPr/>
          <a:lstStyle/>
          <a:p>
            <a:pPr eaLnBrk="1" fontAlgn="auto" hangingPunct="1">
              <a:spcAft>
                <a:spcPts val="0"/>
              </a:spcAft>
              <a:defRPr/>
            </a:pPr>
            <a:r>
              <a:rPr lang="en-US" altLang="zh-CN" dirty="0"/>
              <a:t>7.3 </a:t>
            </a:r>
            <a:r>
              <a:rPr lang="zh-CN" altLang="en-US" dirty="0"/>
              <a:t>项目组织结构的选择</a:t>
            </a:r>
          </a:p>
        </p:txBody>
      </p:sp>
      <p:sp>
        <p:nvSpPr>
          <p:cNvPr id="133124" name="Rectangle 4">
            <a:extLst>
              <a:ext uri="{FF2B5EF4-FFF2-40B4-BE49-F238E27FC236}">
                <a16:creationId xmlns:a16="http://schemas.microsoft.com/office/drawing/2014/main" id="{64ADE0BA-E6BA-4064-9DD0-C876FABBFCDB}"/>
              </a:ext>
            </a:extLst>
          </p:cNvPr>
          <p:cNvSpPr>
            <a:spLocks noChangeArrowheads="1"/>
          </p:cNvSpPr>
          <p:nvPr/>
        </p:nvSpPr>
        <p:spPr bwMode="gray">
          <a:xfrm>
            <a:off x="900113" y="1700213"/>
            <a:ext cx="6005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solidFill>
                  <a:srgbClr val="FF6600"/>
                </a:solidFill>
                <a:latin typeface="Lucida Sans Unicode" panose="020B0602030504020204" pitchFamily="34" charset="0"/>
              </a:rPr>
              <a:t>项目组织结构选择需要考虑以下几个问题：</a:t>
            </a:r>
            <a:endParaRPr lang="en-US" altLang="zh-CN" sz="2400">
              <a:solidFill>
                <a:srgbClr val="FF6600"/>
              </a:solidFill>
              <a:latin typeface="Lucida Sans Unicode" panose="020B0602030504020204" pitchFamily="34" charset="0"/>
            </a:endParaRPr>
          </a:p>
        </p:txBody>
      </p:sp>
      <p:sp>
        <p:nvSpPr>
          <p:cNvPr id="133125" name="Rectangle 5">
            <a:extLst>
              <a:ext uri="{FF2B5EF4-FFF2-40B4-BE49-F238E27FC236}">
                <a16:creationId xmlns:a16="http://schemas.microsoft.com/office/drawing/2014/main" id="{72B53CAB-BC6E-40EB-8365-8D09E1403179}"/>
              </a:ext>
            </a:extLst>
          </p:cNvPr>
          <p:cNvSpPr>
            <a:spLocks noChangeArrowheads="1"/>
          </p:cNvSpPr>
          <p:nvPr/>
        </p:nvSpPr>
        <p:spPr bwMode="gray">
          <a:xfrm>
            <a:off x="1000125" y="2857500"/>
            <a:ext cx="5286375" cy="830997"/>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chemeClr val="tx2"/>
                </a:solidFill>
                <a:latin typeface="Lucida Sans Unicode" panose="020B0602030504020204" pitchFamily="34" charset="0"/>
              </a:rPr>
              <a:t>1.  </a:t>
            </a:r>
            <a:r>
              <a:rPr lang="zh-CN" altLang="en-US" sz="2400">
                <a:solidFill>
                  <a:schemeClr val="tx2"/>
                </a:solidFill>
                <a:latin typeface="Lucida Sans Unicode" panose="020B0602030504020204" pitchFamily="34" charset="0"/>
              </a:rPr>
              <a:t>每个从事项目管理的企业</a:t>
            </a:r>
            <a:r>
              <a:rPr lang="en-US" altLang="zh-CN" sz="2400">
                <a:solidFill>
                  <a:schemeClr val="tx2"/>
                </a:solidFill>
                <a:latin typeface="Lucida Sans Unicode" panose="020B0602030504020204" pitchFamily="34" charset="0"/>
              </a:rPr>
              <a:t>/</a:t>
            </a:r>
            <a:r>
              <a:rPr lang="zh-CN" altLang="en-US" sz="2400">
                <a:solidFill>
                  <a:schemeClr val="tx2"/>
                </a:solidFill>
                <a:latin typeface="Lucida Sans Unicode" panose="020B0602030504020204" pitchFamily="34" charset="0"/>
              </a:rPr>
              <a:t>公司应该选择适合的组织结构形式</a:t>
            </a:r>
          </a:p>
        </p:txBody>
      </p:sp>
      <p:sp>
        <p:nvSpPr>
          <p:cNvPr id="133126" name="Rectangle 6">
            <a:extLst>
              <a:ext uri="{FF2B5EF4-FFF2-40B4-BE49-F238E27FC236}">
                <a16:creationId xmlns:a16="http://schemas.microsoft.com/office/drawing/2014/main" id="{CE85B301-F272-450A-96B3-7B35D2504129}"/>
              </a:ext>
            </a:extLst>
          </p:cNvPr>
          <p:cNvSpPr>
            <a:spLocks noChangeArrowheads="1"/>
          </p:cNvSpPr>
          <p:nvPr/>
        </p:nvSpPr>
        <p:spPr bwMode="gray">
          <a:xfrm>
            <a:off x="1000125" y="4143375"/>
            <a:ext cx="6983413" cy="1763496"/>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sz="2400">
                <a:solidFill>
                  <a:schemeClr val="tx2"/>
                </a:solidFill>
                <a:latin typeface="Lucida Sans Unicode" panose="020B0602030504020204" pitchFamily="34" charset="0"/>
              </a:rPr>
              <a:t>2.  </a:t>
            </a:r>
            <a:r>
              <a:rPr lang="zh-CN" altLang="en-US" sz="2400">
                <a:solidFill>
                  <a:schemeClr val="tx2"/>
                </a:solidFill>
                <a:latin typeface="Lucida Sans Unicode" panose="020B0602030504020204" pitchFamily="34" charset="0"/>
              </a:rPr>
              <a:t>项目参与者初步选择组织结构时，应该考虑其企业现有的组织结构，在不改变现有企业组织结构的基础上构建项目组织结构。如果项目复杂、持续时间长、对企业发展产生重大影响时，则项目组织结构会对企业组织结构产生较大影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3124"/>
                                        </p:tgtEl>
                                        <p:attrNameLst>
                                          <p:attrName>style.visibility</p:attrName>
                                        </p:attrNameLst>
                                      </p:cBhvr>
                                      <p:to>
                                        <p:strVal val="visible"/>
                                      </p:to>
                                    </p:set>
                                    <p:animEffect transition="in" filter="wipe(up)">
                                      <p:cBhvr>
                                        <p:cTn id="7" dur="1000"/>
                                        <p:tgtEl>
                                          <p:spTgt spid="133124"/>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33125"/>
                                        </p:tgtEl>
                                        <p:attrNameLst>
                                          <p:attrName>style.visibility</p:attrName>
                                        </p:attrNameLst>
                                      </p:cBhvr>
                                      <p:to>
                                        <p:strVal val="visible"/>
                                      </p:to>
                                    </p:set>
                                    <p:animEffect transition="in" filter="wipe(up)">
                                      <p:cBhvr>
                                        <p:cTn id="11" dur="1000"/>
                                        <p:tgtEl>
                                          <p:spTgt spid="133125"/>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33126"/>
                                        </p:tgtEl>
                                        <p:attrNameLst>
                                          <p:attrName>style.visibility</p:attrName>
                                        </p:attrNameLst>
                                      </p:cBhvr>
                                      <p:to>
                                        <p:strVal val="visible"/>
                                      </p:to>
                                    </p:set>
                                    <p:animEffect transition="in" filter="wipe(up)">
                                      <p:cBhvr>
                                        <p:cTn id="15" dur="1000"/>
                                        <p:tgtEl>
                                          <p:spTgt spid="133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p:bldP spid="133125" grpId="0" animBg="1"/>
      <p:bldP spid="13312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Rectangle 5">
            <a:extLst>
              <a:ext uri="{FF2B5EF4-FFF2-40B4-BE49-F238E27FC236}">
                <a16:creationId xmlns:a16="http://schemas.microsoft.com/office/drawing/2014/main" id="{2B241895-4579-48D1-BF0B-F7499A0371EC}"/>
              </a:ext>
            </a:extLst>
          </p:cNvPr>
          <p:cNvSpPr>
            <a:spLocks noChangeArrowheads="1"/>
          </p:cNvSpPr>
          <p:nvPr/>
        </p:nvSpPr>
        <p:spPr bwMode="gray">
          <a:xfrm>
            <a:off x="755650" y="1419225"/>
            <a:ext cx="8101013" cy="641350"/>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Lucida Sans Unicode" panose="020B0602030504020204" pitchFamily="34" charset="0"/>
              </a:rPr>
              <a:t>3.  </a:t>
            </a:r>
            <a:r>
              <a:rPr lang="zh-CN" altLang="en-US">
                <a:solidFill>
                  <a:schemeClr val="tx2"/>
                </a:solidFill>
                <a:latin typeface="Lucida Sans Unicode" panose="020B0602030504020204" pitchFamily="34" charset="0"/>
              </a:rPr>
              <a:t>根据企业同时承担项目的数量、项目难易程度和复杂性等因素，建议选择项目式、矩阵式、职能式等组织结构</a:t>
            </a:r>
          </a:p>
        </p:txBody>
      </p:sp>
      <p:sp>
        <p:nvSpPr>
          <p:cNvPr id="134150" name="Rectangle 6">
            <a:extLst>
              <a:ext uri="{FF2B5EF4-FFF2-40B4-BE49-F238E27FC236}">
                <a16:creationId xmlns:a16="http://schemas.microsoft.com/office/drawing/2014/main" id="{01C66734-5E67-46A0-BFAA-68210C051542}"/>
              </a:ext>
            </a:extLst>
          </p:cNvPr>
          <p:cNvSpPr>
            <a:spLocks noChangeArrowheads="1"/>
          </p:cNvSpPr>
          <p:nvPr/>
        </p:nvSpPr>
        <p:spPr bwMode="gray">
          <a:xfrm>
            <a:off x="6084888" y="2565400"/>
            <a:ext cx="2590800" cy="3113088"/>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Clr>
                <a:srgbClr val="FF6600"/>
              </a:buClr>
              <a:buFont typeface="Wingdings" panose="05000000000000000000" pitchFamily="2" charset="2"/>
              <a:buChar char="Ø"/>
            </a:pPr>
            <a:r>
              <a:rPr lang="zh-CN" altLang="en-US">
                <a:solidFill>
                  <a:schemeClr val="tx2"/>
                </a:solidFill>
                <a:latin typeface="Lucida Sans Unicode" panose="020B0602030504020204" pitchFamily="34" charset="0"/>
              </a:rPr>
              <a:t>当企业同时承接较多数量的项目时，可以采用矩阵式组织结构</a:t>
            </a:r>
          </a:p>
          <a:p>
            <a:pPr eaLnBrk="1" hangingPunct="1">
              <a:buClr>
                <a:srgbClr val="FF6600"/>
              </a:buClr>
              <a:buFont typeface="Wingdings" panose="05000000000000000000" pitchFamily="2" charset="2"/>
              <a:buNone/>
            </a:pPr>
            <a:endParaRPr lang="zh-CN" altLang="en-US">
              <a:solidFill>
                <a:schemeClr val="tx2"/>
              </a:solidFill>
              <a:latin typeface="Lucida Sans Unicode" panose="020B0602030504020204" pitchFamily="34" charset="0"/>
            </a:endParaRPr>
          </a:p>
          <a:p>
            <a:pPr eaLnBrk="1" hangingPunct="1">
              <a:buClr>
                <a:srgbClr val="FF6600"/>
              </a:buClr>
              <a:buFont typeface="Wingdings" panose="05000000000000000000" pitchFamily="2" charset="2"/>
              <a:buChar char="Ø"/>
            </a:pPr>
            <a:r>
              <a:rPr lang="zh-CN" altLang="en-US">
                <a:solidFill>
                  <a:schemeClr val="tx2"/>
                </a:solidFill>
                <a:latin typeface="Lucida Sans Unicode" panose="020B0602030504020204" pitchFamily="34" charset="0"/>
              </a:rPr>
              <a:t>如果项目比较简单则可以采用职能式组织结构。</a:t>
            </a:r>
          </a:p>
          <a:p>
            <a:pPr eaLnBrk="1" hangingPunct="1">
              <a:buClr>
                <a:srgbClr val="FF6600"/>
              </a:buClr>
              <a:buFont typeface="Wingdings" panose="05000000000000000000" pitchFamily="2" charset="2"/>
              <a:buNone/>
            </a:pPr>
            <a:endParaRPr lang="zh-CN" altLang="en-US">
              <a:solidFill>
                <a:schemeClr val="tx2"/>
              </a:solidFill>
              <a:latin typeface="Lucida Sans Unicode" panose="020B0602030504020204" pitchFamily="34" charset="0"/>
            </a:endParaRPr>
          </a:p>
          <a:p>
            <a:pPr eaLnBrk="1" hangingPunct="1">
              <a:buClr>
                <a:srgbClr val="FF6600"/>
              </a:buClr>
              <a:buFont typeface="Wingdings" panose="05000000000000000000" pitchFamily="2" charset="2"/>
              <a:buChar char="Ø"/>
            </a:pPr>
            <a:r>
              <a:rPr lang="zh-CN" altLang="en-US">
                <a:solidFill>
                  <a:schemeClr val="tx2"/>
                </a:solidFill>
                <a:latin typeface="Lucida Sans Unicode" panose="020B0602030504020204" pitchFamily="34" charset="0"/>
              </a:rPr>
              <a:t>当项目难度大、较复杂时，可以选择项目式组织结构</a:t>
            </a:r>
          </a:p>
        </p:txBody>
      </p:sp>
      <p:pic>
        <p:nvPicPr>
          <p:cNvPr id="134151" name="Picture 7" descr="Fig">
            <a:extLst>
              <a:ext uri="{FF2B5EF4-FFF2-40B4-BE49-F238E27FC236}">
                <a16:creationId xmlns:a16="http://schemas.microsoft.com/office/drawing/2014/main" id="{74E6B25B-C5B4-485A-B8E6-F11DA8A0FE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8525" y="2060575"/>
            <a:ext cx="5113338" cy="41830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4149"/>
                                        </p:tgtEl>
                                        <p:attrNameLst>
                                          <p:attrName>style.visibility</p:attrName>
                                        </p:attrNameLst>
                                      </p:cBhvr>
                                      <p:to>
                                        <p:strVal val="visible"/>
                                      </p:to>
                                    </p:set>
                                    <p:animEffect transition="in" filter="wipe(left)">
                                      <p:cBhvr>
                                        <p:cTn id="7" dur="1000"/>
                                        <p:tgtEl>
                                          <p:spTgt spid="134149"/>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134151"/>
                                        </p:tgtEl>
                                        <p:attrNameLst>
                                          <p:attrName>style.visibility</p:attrName>
                                        </p:attrNameLst>
                                      </p:cBhvr>
                                      <p:to>
                                        <p:strVal val="visible"/>
                                      </p:to>
                                    </p:set>
                                    <p:animEffect transition="in" filter="wipe(left)">
                                      <p:cBhvr>
                                        <p:cTn id="11" dur="1000"/>
                                        <p:tgtEl>
                                          <p:spTgt spid="134151"/>
                                        </p:tgtEl>
                                      </p:cBhvr>
                                    </p:animEffect>
                                  </p:childTnLst>
                                </p:cTn>
                              </p:par>
                            </p:childTnLst>
                          </p:cTn>
                        </p:par>
                        <p:par>
                          <p:cTn id="12" fill="hold" nodeType="afterGroup">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34150"/>
                                        </p:tgtEl>
                                        <p:attrNameLst>
                                          <p:attrName>style.visibility</p:attrName>
                                        </p:attrNameLst>
                                      </p:cBhvr>
                                      <p:to>
                                        <p:strVal val="visible"/>
                                      </p:to>
                                    </p:set>
                                    <p:animEffect transition="in" filter="wipe(left)">
                                      <p:cBhvr>
                                        <p:cTn id="15" dur="1000"/>
                                        <p:tgtEl>
                                          <p:spTgt spid="134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animBg="1"/>
      <p:bldP spid="13415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F5C44AE9-75B8-48FC-B350-2CF45CF8D573}"/>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35172" name="Rectangle 4">
            <a:extLst>
              <a:ext uri="{FF2B5EF4-FFF2-40B4-BE49-F238E27FC236}">
                <a16:creationId xmlns:a16="http://schemas.microsoft.com/office/drawing/2014/main" id="{55DE942E-850D-4B93-BB59-61EC061DBFD2}"/>
              </a:ext>
            </a:extLst>
          </p:cNvPr>
          <p:cNvSpPr>
            <a:spLocks noChangeArrowheads="1"/>
          </p:cNvSpPr>
          <p:nvPr/>
        </p:nvSpPr>
        <p:spPr bwMode="gray">
          <a:xfrm>
            <a:off x="611188" y="1751013"/>
            <a:ext cx="2592387" cy="4054475"/>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000">
                <a:solidFill>
                  <a:schemeClr val="tx2"/>
                </a:solidFill>
                <a:latin typeface="Lucida Sans Unicode" panose="020B0602030504020204" pitchFamily="34" charset="0"/>
              </a:rPr>
              <a:t>4. </a:t>
            </a:r>
            <a:r>
              <a:rPr lang="zh-CN" altLang="en-US" sz="2000">
                <a:solidFill>
                  <a:schemeClr val="tx2"/>
                </a:solidFill>
                <a:latin typeface="Lucida Sans Unicode" panose="020B0602030504020204" pitchFamily="34" charset="0"/>
              </a:rPr>
              <a:t>考虑项目经理与部门经理之间的职责分配，合理构建企业与项目组织结构的决策流程。从以职能经理指令为主的职能式组织，到以项目经理指令为主的项目式组织，其间经历不同的矩阵式组织，指令权在职能经理与项目经理之间的分配关系见图。</a:t>
            </a:r>
          </a:p>
        </p:txBody>
      </p:sp>
      <p:pic>
        <p:nvPicPr>
          <p:cNvPr id="135173" name="Picture 5" descr="Fig">
            <a:extLst>
              <a:ext uri="{FF2B5EF4-FFF2-40B4-BE49-F238E27FC236}">
                <a16:creationId xmlns:a16="http://schemas.microsoft.com/office/drawing/2014/main" id="{70A7A5A2-D719-43FA-BE71-466FDF2BE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1196975"/>
            <a:ext cx="5040313"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135172"/>
                                        </p:tgtEl>
                                        <p:attrNameLst>
                                          <p:attrName>style.visibility</p:attrName>
                                        </p:attrNameLst>
                                      </p:cBhvr>
                                      <p:to>
                                        <p:strVal val="visible"/>
                                      </p:to>
                                    </p:set>
                                    <p:anim calcmode="lin" valueType="num">
                                      <p:cBhvr>
                                        <p:cTn id="7" dur="1000" fill="hold"/>
                                        <p:tgtEl>
                                          <p:spTgt spid="135172"/>
                                        </p:tgtEl>
                                        <p:attrNameLst>
                                          <p:attrName>ppt_x</p:attrName>
                                        </p:attrNameLst>
                                      </p:cBhvr>
                                      <p:tavLst>
                                        <p:tav tm="0">
                                          <p:val>
                                            <p:strVal val="#ppt_x-.2"/>
                                          </p:val>
                                        </p:tav>
                                        <p:tav tm="100000">
                                          <p:val>
                                            <p:strVal val="#ppt_x"/>
                                          </p:val>
                                        </p:tav>
                                      </p:tavLst>
                                    </p:anim>
                                    <p:anim calcmode="lin" valueType="num">
                                      <p:cBhvr>
                                        <p:cTn id="8" dur="1000" fill="hold"/>
                                        <p:tgtEl>
                                          <p:spTgt spid="135172"/>
                                        </p:tgtEl>
                                        <p:attrNameLst>
                                          <p:attrName>ppt_y</p:attrName>
                                        </p:attrNameLst>
                                      </p:cBhvr>
                                      <p:tavLst>
                                        <p:tav tm="0">
                                          <p:val>
                                            <p:strVal val="#ppt_y"/>
                                          </p:val>
                                        </p:tav>
                                        <p:tav tm="100000">
                                          <p:val>
                                            <p:strVal val="#ppt_y"/>
                                          </p:val>
                                        </p:tav>
                                      </p:tavLst>
                                    </p:anim>
                                    <p:animEffect transition="in" filter="wipe(right)" prLst="gradientSize: 0.1">
                                      <p:cBhvr>
                                        <p:cTn id="9" dur="1000"/>
                                        <p:tgtEl>
                                          <p:spTgt spid="135172"/>
                                        </p:tgtEl>
                                      </p:cBhvr>
                                    </p:animEffect>
                                  </p:childTnLst>
                                </p:cTn>
                              </p:par>
                            </p:childTnLst>
                          </p:cTn>
                        </p:par>
                        <p:par>
                          <p:cTn id="10" fill="hold" nodeType="afterGroup">
                            <p:stCondLst>
                              <p:cond delay="1000"/>
                            </p:stCondLst>
                            <p:childTnLst>
                              <p:par>
                                <p:cTn id="11" presetID="29" presetClass="entr" presetSubtype="0" fill="hold" nodeType="afterEffect">
                                  <p:stCondLst>
                                    <p:cond delay="0"/>
                                  </p:stCondLst>
                                  <p:childTnLst>
                                    <p:set>
                                      <p:cBhvr>
                                        <p:cTn id="12" dur="1" fill="hold">
                                          <p:stCondLst>
                                            <p:cond delay="0"/>
                                          </p:stCondLst>
                                        </p:cTn>
                                        <p:tgtEl>
                                          <p:spTgt spid="135173"/>
                                        </p:tgtEl>
                                        <p:attrNameLst>
                                          <p:attrName>style.visibility</p:attrName>
                                        </p:attrNameLst>
                                      </p:cBhvr>
                                      <p:to>
                                        <p:strVal val="visible"/>
                                      </p:to>
                                    </p:set>
                                    <p:anim calcmode="lin" valueType="num">
                                      <p:cBhvr>
                                        <p:cTn id="13" dur="1000" fill="hold"/>
                                        <p:tgtEl>
                                          <p:spTgt spid="135173"/>
                                        </p:tgtEl>
                                        <p:attrNameLst>
                                          <p:attrName>ppt_x</p:attrName>
                                        </p:attrNameLst>
                                      </p:cBhvr>
                                      <p:tavLst>
                                        <p:tav tm="0">
                                          <p:val>
                                            <p:strVal val="#ppt_x-.2"/>
                                          </p:val>
                                        </p:tav>
                                        <p:tav tm="100000">
                                          <p:val>
                                            <p:strVal val="#ppt_x"/>
                                          </p:val>
                                        </p:tav>
                                      </p:tavLst>
                                    </p:anim>
                                    <p:anim calcmode="lin" valueType="num">
                                      <p:cBhvr>
                                        <p:cTn id="14" dur="1000" fill="hold"/>
                                        <p:tgtEl>
                                          <p:spTgt spid="135173"/>
                                        </p:tgtEl>
                                        <p:attrNameLst>
                                          <p:attrName>ppt_y</p:attrName>
                                        </p:attrNameLst>
                                      </p:cBhvr>
                                      <p:tavLst>
                                        <p:tav tm="0">
                                          <p:val>
                                            <p:strVal val="#ppt_y"/>
                                          </p:val>
                                        </p:tav>
                                        <p:tav tm="100000">
                                          <p:val>
                                            <p:strVal val="#ppt_y"/>
                                          </p:val>
                                        </p:tav>
                                      </p:tavLst>
                                    </p:anim>
                                    <p:animEffect transition="in" filter="wipe(right)" prLst="gradientSize: 0.1">
                                      <p:cBhvr>
                                        <p:cTn id="15" dur="1000"/>
                                        <p:tgtEl>
                                          <p:spTgt spid="135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50" name="Rectangle 58">
            <a:extLst>
              <a:ext uri="{FF2B5EF4-FFF2-40B4-BE49-F238E27FC236}">
                <a16:creationId xmlns:a16="http://schemas.microsoft.com/office/drawing/2014/main" id="{D2D81B8D-5DAF-41B0-8AD8-362CEFC9D133}"/>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graphicFrame>
        <p:nvGraphicFramePr>
          <p:cNvPr id="136257" name="Group 65">
            <a:extLst>
              <a:ext uri="{FF2B5EF4-FFF2-40B4-BE49-F238E27FC236}">
                <a16:creationId xmlns:a16="http://schemas.microsoft.com/office/drawing/2014/main" id="{1678C0D8-AC2C-4355-849C-1CEBBC50F76D}"/>
              </a:ext>
            </a:extLst>
          </p:cNvPr>
          <p:cNvGraphicFramePr>
            <a:graphicFrameLocks noGrp="1"/>
          </p:cNvGraphicFramePr>
          <p:nvPr>
            <p:ph type="tbl" idx="1"/>
          </p:nvPr>
        </p:nvGraphicFramePr>
        <p:xfrm>
          <a:off x="107950" y="1989138"/>
          <a:ext cx="8893175" cy="4103689"/>
        </p:xfrm>
        <a:graphic>
          <a:graphicData uri="http://schemas.openxmlformats.org/drawingml/2006/table">
            <a:tbl>
              <a:tblPr/>
              <a:tblGrid>
                <a:gridCol w="1595438">
                  <a:extLst>
                    <a:ext uri="{9D8B030D-6E8A-4147-A177-3AD203B41FA5}">
                      <a16:colId xmlns:a16="http://schemas.microsoft.com/office/drawing/2014/main" val="20000"/>
                    </a:ext>
                  </a:extLst>
                </a:gridCol>
                <a:gridCol w="1519237">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336675">
                  <a:extLst>
                    <a:ext uri="{9D8B030D-6E8A-4147-A177-3AD203B41FA5}">
                      <a16:colId xmlns:a16="http://schemas.microsoft.com/office/drawing/2014/main" val="20004"/>
                    </a:ext>
                  </a:extLst>
                </a:gridCol>
                <a:gridCol w="1482725">
                  <a:extLst>
                    <a:ext uri="{9D8B030D-6E8A-4147-A177-3AD203B41FA5}">
                      <a16:colId xmlns:a16="http://schemas.microsoft.com/office/drawing/2014/main" val="20005"/>
                    </a:ext>
                  </a:extLst>
                </a:gridCol>
              </a:tblGrid>
              <a:tr h="374650">
                <a:tc rowSpan="2">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      组织结构</a:t>
                      </a:r>
                    </a:p>
                    <a:p>
                      <a:pPr marL="342900" marR="0" lvl="0" indent="12700" algn="l" defTabSz="914400" rtl="0" eaLnBrk="0" fontAlgn="base" latinLnBrk="0" hangingPunct="0">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项目特征</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rowSpan="2">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职能式组织</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gridSpan="3">
                  <a:txBody>
                    <a:bodyPr/>
                    <a:lstStyle/>
                    <a:p>
                      <a:pPr marL="342900" marR="0" lvl="0" indent="12700" algn="ctr"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矩阵式组织</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hMerge="1">
                  <a:txBody>
                    <a:bodyPr/>
                    <a:lstStyle/>
                    <a:p>
                      <a:endParaRPr lang="zh-CN" altLang="en-US"/>
                    </a:p>
                  </a:txBody>
                  <a:tcPr/>
                </a:tc>
                <a:tc hMerge="1">
                  <a:txBody>
                    <a:bodyPr/>
                    <a:lstStyle/>
                    <a:p>
                      <a:endParaRPr lang="zh-CN" altLang="en-US"/>
                    </a:p>
                  </a:txBody>
                  <a:tcPr/>
                </a:tc>
                <a:tc rowSpan="2">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项目式组织</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0"/>
                  </a:ext>
                </a:extLst>
              </a:tr>
              <a:tr h="439738">
                <a:tc vMerge="1">
                  <a:txBody>
                    <a:bodyPr/>
                    <a:lstStyle/>
                    <a:p>
                      <a:endParaRPr lang="zh-CN" altLang="en-US"/>
                    </a:p>
                  </a:txBody>
                  <a:tcPr/>
                </a:tc>
                <a:tc vMerge="1">
                  <a:txBody>
                    <a:bodyPr/>
                    <a:lstStyle/>
                    <a:p>
                      <a:endParaRPr lang="zh-CN" altLang="en-US"/>
                    </a:p>
                  </a:txBody>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弱矩阵</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平衡矩阵</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强矩阵</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vMerge="1">
                  <a:txBody>
                    <a:bodyPr/>
                    <a:lstStyle/>
                    <a:p>
                      <a:endParaRPr lang="zh-CN" altLang="en-US"/>
                    </a:p>
                  </a:txBody>
                  <a:tcPr/>
                </a:tc>
                <a:extLst>
                  <a:ext uri="{0D108BD9-81ED-4DB2-BD59-A6C34878D82A}">
                    <a16:rowId xmlns:a16="http://schemas.microsoft.com/office/drawing/2014/main" val="10001"/>
                  </a:ext>
                </a:extLst>
              </a:tr>
              <a:tr h="657225">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项目经理权限</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很少或没有</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有限</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少到中等</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中等到大</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很高，甚至全权</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2"/>
                  </a:ext>
                </a:extLst>
              </a:tr>
              <a:tr h="658813">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可利用的资源</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很少或没有</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有限</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少到中等</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中等到多</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很多，甚至全部</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3"/>
                  </a:ext>
                </a:extLst>
              </a:tr>
              <a:tr h="657225">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控制项目预算者</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职能经理</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职能经理</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职能经理与项目经理</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项目经理</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项目经理</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4"/>
                  </a:ext>
                </a:extLst>
              </a:tr>
              <a:tr h="658813">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项目经理的角色</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半职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半职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全职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全职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全职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5"/>
                  </a:ext>
                </a:extLst>
              </a:tr>
              <a:tr h="657225">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项目管理行政人员</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半职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半职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半职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全职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tc>
                  <a:txBody>
                    <a:bodyPr/>
                    <a:lstStyle/>
                    <a:p>
                      <a:pPr marL="342900" marR="0" lvl="0" indent="12700" algn="l" defTabSz="914400" rtl="0" eaLnBrk="1" fontAlgn="base" latinLnBrk="0" hangingPunct="1">
                        <a:lnSpc>
                          <a:spcPct val="150000"/>
                        </a:lnSpc>
                        <a:spcBef>
                          <a:spcPct val="0"/>
                        </a:spcBef>
                        <a:spcAft>
                          <a:spcPct val="0"/>
                        </a:spcAft>
                        <a:buClrTx/>
                        <a:buSzTx/>
                        <a:buFont typeface="Wingdings" pitchFamily="2" charset="2"/>
                        <a:buNone/>
                        <a:tabLst/>
                      </a:pPr>
                      <a:r>
                        <a:rPr kumimoji="0" lang="zh-CN" altLang="en-US" sz="1200" b="1" i="0" u="none" strike="noStrike" cap="none" normalizeH="0" baseline="0">
                          <a:ln>
                            <a:noFill/>
                          </a:ln>
                          <a:solidFill>
                            <a:srgbClr val="1C1C1C"/>
                          </a:solidFill>
                          <a:effectLst/>
                          <a:latin typeface="Times New Roman" pitchFamily="18" charset="0"/>
                          <a:ea typeface="黑体" pitchFamily="2" charset="-122"/>
                        </a:rPr>
                        <a:t>全职</a:t>
                      </a:r>
                      <a:endParaRPr kumimoji="0" lang="zh-CN" altLang="en-US" sz="1200" b="1" i="0" u="none" strike="noStrike" cap="none" normalizeH="0" baseline="0">
                        <a:ln>
                          <a:noFill/>
                        </a:ln>
                        <a:solidFill>
                          <a:srgbClr val="1C1C1C"/>
                        </a:solidFill>
                        <a:effectLst/>
                        <a:latin typeface="黑体" pitchFamily="2" charset="-122"/>
                        <a:ea typeface="黑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alpha val="50195"/>
                      </a:schemeClr>
                    </a:solidFill>
                  </a:tcPr>
                </a:tc>
                <a:extLst>
                  <a:ext uri="{0D108BD9-81ED-4DB2-BD59-A6C34878D82A}">
                    <a16:rowId xmlns:a16="http://schemas.microsoft.com/office/drawing/2014/main" val="10006"/>
                  </a:ext>
                </a:extLst>
              </a:tr>
            </a:tbl>
          </a:graphicData>
        </a:graphic>
      </p:graphicFrame>
      <p:sp>
        <p:nvSpPr>
          <p:cNvPr id="136196" name="Rectangle 4">
            <a:extLst>
              <a:ext uri="{FF2B5EF4-FFF2-40B4-BE49-F238E27FC236}">
                <a16:creationId xmlns:a16="http://schemas.microsoft.com/office/drawing/2014/main" id="{F41DA11E-7F9C-45FC-A06F-2442C08958E0}"/>
              </a:ext>
            </a:extLst>
          </p:cNvPr>
          <p:cNvSpPr>
            <a:spLocks noChangeArrowheads="1"/>
          </p:cNvSpPr>
          <p:nvPr/>
        </p:nvSpPr>
        <p:spPr bwMode="gray">
          <a:xfrm>
            <a:off x="508000" y="1412875"/>
            <a:ext cx="4616450" cy="366713"/>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Lucida Sans Unicode" panose="020B0602030504020204" pitchFamily="34" charset="0"/>
              </a:rPr>
              <a:t>5.  </a:t>
            </a:r>
            <a:r>
              <a:rPr lang="zh-CN" altLang="en-US">
                <a:solidFill>
                  <a:schemeClr val="tx2"/>
                </a:solidFill>
                <a:latin typeface="Lucida Sans Unicode" panose="020B0602030504020204" pitchFamily="34" charset="0"/>
              </a:rPr>
              <a:t>不同项目组织结构适用于不同的项目特点</a:t>
            </a:r>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6196"/>
                                        </p:tgtEl>
                                        <p:attrNameLst>
                                          <p:attrName>style.visibility</p:attrName>
                                        </p:attrNameLst>
                                      </p:cBhvr>
                                      <p:to>
                                        <p:strVal val="visible"/>
                                      </p:to>
                                    </p:set>
                                    <p:animEffect transition="in" filter="fade">
                                      <p:cBhvr>
                                        <p:cTn id="7" dur="1000"/>
                                        <p:tgtEl>
                                          <p:spTgt spid="136196"/>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36257"/>
                                        </p:tgtEl>
                                        <p:attrNameLst>
                                          <p:attrName>style.visibility</p:attrName>
                                        </p:attrNameLst>
                                      </p:cBhvr>
                                      <p:to>
                                        <p:strVal val="visible"/>
                                      </p:to>
                                    </p:set>
                                    <p:animEffect transition="in" filter="fade">
                                      <p:cBhvr>
                                        <p:cTn id="11" dur="1000"/>
                                        <p:tgtEl>
                                          <p:spTgt spid="136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AE3814FC-6D41-4076-9215-06D811ED9FFC}"/>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40292" name="Rectangle 4">
            <a:extLst>
              <a:ext uri="{FF2B5EF4-FFF2-40B4-BE49-F238E27FC236}">
                <a16:creationId xmlns:a16="http://schemas.microsoft.com/office/drawing/2014/main" id="{D41495A3-699B-48FE-B835-9D4FB8529012}"/>
              </a:ext>
            </a:extLst>
          </p:cNvPr>
          <p:cNvSpPr>
            <a:spLocks noChangeArrowheads="1"/>
          </p:cNvSpPr>
          <p:nvPr/>
        </p:nvSpPr>
        <p:spPr bwMode="gray">
          <a:xfrm>
            <a:off x="468313" y="1628775"/>
            <a:ext cx="8137525" cy="641350"/>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Lucida Sans Unicode" panose="020B0602030504020204" pitchFamily="34" charset="0"/>
              </a:rPr>
              <a:t>6.   </a:t>
            </a:r>
            <a:r>
              <a:rPr lang="zh-CN" altLang="en-US">
                <a:solidFill>
                  <a:schemeClr val="tx2"/>
                </a:solidFill>
                <a:latin typeface="Lucida Sans Unicode" panose="020B0602030504020204" pitchFamily="34" charset="0"/>
              </a:rPr>
              <a:t>决定项目组织结构的一些关键性因素还包括项目面临的不确定性、所用技术、复杂程度、持续时间、规模、重要性、客户类型、依赖性、时间限制性等</a:t>
            </a:r>
          </a:p>
        </p:txBody>
      </p:sp>
      <p:pic>
        <p:nvPicPr>
          <p:cNvPr id="140293" name="Picture 5">
            <a:extLst>
              <a:ext uri="{FF2B5EF4-FFF2-40B4-BE49-F238E27FC236}">
                <a16:creationId xmlns:a16="http://schemas.microsoft.com/office/drawing/2014/main" id="{D0E1C6F1-7CA1-448E-BAE8-4F234E3102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2419350"/>
            <a:ext cx="8280400"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0292"/>
                                        </p:tgtEl>
                                        <p:attrNameLst>
                                          <p:attrName>style.visibility</p:attrName>
                                        </p:attrNameLst>
                                      </p:cBhvr>
                                      <p:to>
                                        <p:strVal val="visible"/>
                                      </p:to>
                                    </p:set>
                                    <p:animEffect transition="in" filter="fade">
                                      <p:cBhvr>
                                        <p:cTn id="7" dur="1000"/>
                                        <p:tgtEl>
                                          <p:spTgt spid="140292"/>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140293"/>
                                        </p:tgtEl>
                                        <p:attrNameLst>
                                          <p:attrName>style.visibility</p:attrName>
                                        </p:attrNameLst>
                                      </p:cBhvr>
                                      <p:to>
                                        <p:strVal val="visible"/>
                                      </p:to>
                                    </p:set>
                                    <p:animEffect transition="in" filter="fade">
                                      <p:cBhvr>
                                        <p:cTn id="11" dur="1000"/>
                                        <p:tgtEl>
                                          <p:spTgt spid="140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8314429D-F842-4897-9804-B0F2C2172585}"/>
              </a:ext>
            </a:extLst>
          </p:cNvPr>
          <p:cNvSpPr>
            <a:spLocks noGrp="1" noChangeArrowheads="1"/>
          </p:cNvSpPr>
          <p:nvPr>
            <p:ph type="title"/>
          </p:nvPr>
        </p:nvSpPr>
        <p:spPr bwMode="auto">
          <a:ln>
            <a:miter lim="800000"/>
            <a:headEnd/>
            <a:tailEnd/>
          </a:ln>
        </p:spPr>
        <p:txBody>
          <a:bodyPr wrap="square" lIns="91440" tIns="45720" rIns="91440" bIns="45720" numCol="1" anchor="t" anchorCtr="0" compatLnSpc="1">
            <a:prstTxWarp prst="textNoShape">
              <a:avLst/>
            </a:prstTxWarp>
          </a:bodyPr>
          <a:lstStyle/>
          <a:p>
            <a:pPr eaLnBrk="1" fontAlgn="auto" hangingPunct="1">
              <a:spcAft>
                <a:spcPts val="0"/>
              </a:spcAft>
              <a:defRPr/>
            </a:pPr>
            <a:endParaRPr lang="zh-CN" altLang="en-US"/>
          </a:p>
        </p:txBody>
      </p:sp>
      <p:sp>
        <p:nvSpPr>
          <p:cNvPr id="139268" name="Rectangle 4">
            <a:extLst>
              <a:ext uri="{FF2B5EF4-FFF2-40B4-BE49-F238E27FC236}">
                <a16:creationId xmlns:a16="http://schemas.microsoft.com/office/drawing/2014/main" id="{D0B52097-6FF2-4EF1-A2CA-38BBC536E41A}"/>
              </a:ext>
            </a:extLst>
          </p:cNvPr>
          <p:cNvSpPr>
            <a:spLocks noChangeArrowheads="1"/>
          </p:cNvSpPr>
          <p:nvPr/>
        </p:nvSpPr>
        <p:spPr bwMode="gray">
          <a:xfrm>
            <a:off x="539750" y="1557338"/>
            <a:ext cx="8353425" cy="641350"/>
          </a:xfrm>
          <a:prstGeom prst="rect">
            <a:avLst/>
          </a:prstGeom>
          <a:solidFill>
            <a:schemeClr val="accent1">
              <a:alpha val="59999"/>
            </a:schemeClr>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chemeClr val="tx2"/>
                </a:solidFill>
                <a:latin typeface="Lucida Sans Unicode" panose="020B0602030504020204" pitchFamily="34" charset="0"/>
              </a:rPr>
              <a:t>7.  </a:t>
            </a:r>
            <a:r>
              <a:rPr lang="zh-CN" altLang="en-US">
                <a:solidFill>
                  <a:schemeClr val="tx2"/>
                </a:solidFill>
                <a:latin typeface="Lucida Sans Unicode" panose="020B0602030504020204" pitchFamily="34" charset="0"/>
              </a:rPr>
              <a:t>在项目的不同生命周期阶段，企业可以采用不同的组织结构，即企业进行项目管理的组织在项目生命期内可以不断调整和改变，以适应项目的发展和管理。</a:t>
            </a:r>
          </a:p>
        </p:txBody>
      </p:sp>
      <p:grpSp>
        <p:nvGrpSpPr>
          <p:cNvPr id="2" name="Group 43">
            <a:extLst>
              <a:ext uri="{FF2B5EF4-FFF2-40B4-BE49-F238E27FC236}">
                <a16:creationId xmlns:a16="http://schemas.microsoft.com/office/drawing/2014/main" id="{FA5D6681-2D3F-45E1-B566-D2ACE6562D7D}"/>
              </a:ext>
            </a:extLst>
          </p:cNvPr>
          <p:cNvGrpSpPr>
            <a:grpSpLocks/>
          </p:cNvGrpSpPr>
          <p:nvPr/>
        </p:nvGrpSpPr>
        <p:grpSpPr bwMode="auto">
          <a:xfrm>
            <a:off x="1116013" y="2492375"/>
            <a:ext cx="2435225" cy="3451225"/>
            <a:chOff x="703" y="1570"/>
            <a:chExt cx="1534" cy="2174"/>
          </a:xfrm>
        </p:grpSpPr>
        <p:sp>
          <p:nvSpPr>
            <p:cNvPr id="33824" name="AutoShape 6">
              <a:extLst>
                <a:ext uri="{FF2B5EF4-FFF2-40B4-BE49-F238E27FC236}">
                  <a16:creationId xmlns:a16="http://schemas.microsoft.com/office/drawing/2014/main" id="{8E49B69D-E636-4BD7-AC2D-3C8AF2BC8AD7}"/>
                </a:ext>
              </a:extLst>
            </p:cNvPr>
            <p:cNvSpPr>
              <a:spLocks noChangeArrowheads="1"/>
            </p:cNvSpPr>
            <p:nvPr/>
          </p:nvSpPr>
          <p:spPr bwMode="auto">
            <a:xfrm>
              <a:off x="703" y="2296"/>
              <a:ext cx="1217" cy="1448"/>
            </a:xfrm>
            <a:prstGeom prst="roundRect">
              <a:avLst>
                <a:gd name="adj" fmla="val 13745"/>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a:solidFill>
                    <a:schemeClr val="tx2"/>
                  </a:solidFill>
                  <a:latin typeface="Lucida Sans Unicode" panose="020B0602030504020204" pitchFamily="34" charset="0"/>
                </a:rPr>
                <a:t>项目工作内容比较简单，主要为项目立项和研究性工作，可以采用</a:t>
              </a:r>
              <a:r>
                <a:rPr lang="zh-CN" altLang="en-US" sz="1600">
                  <a:solidFill>
                    <a:srgbClr val="FF6600"/>
                  </a:solidFill>
                  <a:latin typeface="Lucida Sans Unicode" panose="020B0602030504020204" pitchFamily="34" charset="0"/>
                </a:rPr>
                <a:t>职能式组织结构</a:t>
              </a:r>
              <a:endParaRPr lang="en-US" altLang="zh-CN" sz="1600">
                <a:solidFill>
                  <a:srgbClr val="FF6600"/>
                </a:solidFill>
                <a:latin typeface="Lucida Sans Unicode" panose="020B0602030504020204" pitchFamily="34" charset="0"/>
              </a:endParaRPr>
            </a:p>
          </p:txBody>
        </p:sp>
        <p:sp>
          <p:nvSpPr>
            <p:cNvPr id="33825" name="AutoShape 8">
              <a:extLst>
                <a:ext uri="{FF2B5EF4-FFF2-40B4-BE49-F238E27FC236}">
                  <a16:creationId xmlns:a16="http://schemas.microsoft.com/office/drawing/2014/main" id="{86E304AD-D58E-49D3-83AF-0CE52E4268DD}"/>
                </a:ext>
              </a:extLst>
            </p:cNvPr>
            <p:cNvSpPr>
              <a:spLocks noChangeArrowheads="1"/>
            </p:cNvSpPr>
            <p:nvPr/>
          </p:nvSpPr>
          <p:spPr bwMode="gray">
            <a:xfrm>
              <a:off x="1980" y="1761"/>
              <a:ext cx="257" cy="172"/>
            </a:xfrm>
            <a:prstGeom prst="chevron">
              <a:avLst>
                <a:gd name="adj" fmla="val 78466"/>
              </a:avLst>
            </a:prstGeom>
            <a:solidFill>
              <a:schemeClr val="accent1"/>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39279" name="Oval 15">
              <a:extLst>
                <a:ext uri="{FF2B5EF4-FFF2-40B4-BE49-F238E27FC236}">
                  <a16:creationId xmlns:a16="http://schemas.microsoft.com/office/drawing/2014/main" id="{3732B6C4-FCA3-44F1-A210-995AE4382A7D}"/>
                </a:ext>
              </a:extLst>
            </p:cNvPr>
            <p:cNvSpPr>
              <a:spLocks noChangeArrowheads="1"/>
            </p:cNvSpPr>
            <p:nvPr/>
          </p:nvSpPr>
          <p:spPr bwMode="gray">
            <a:xfrm>
              <a:off x="793" y="1570"/>
              <a:ext cx="1096" cy="645"/>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39280" name="Oval 16">
              <a:extLst>
                <a:ext uri="{FF2B5EF4-FFF2-40B4-BE49-F238E27FC236}">
                  <a16:creationId xmlns:a16="http://schemas.microsoft.com/office/drawing/2014/main" id="{41A4BE38-6CAE-4FD8-AEC1-702CFB3925A6}"/>
                </a:ext>
              </a:extLst>
            </p:cNvPr>
            <p:cNvSpPr>
              <a:spLocks noChangeArrowheads="1"/>
            </p:cNvSpPr>
            <p:nvPr/>
          </p:nvSpPr>
          <p:spPr bwMode="gray">
            <a:xfrm>
              <a:off x="793" y="1570"/>
              <a:ext cx="1096" cy="645"/>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39281" name="Oval 17">
              <a:extLst>
                <a:ext uri="{FF2B5EF4-FFF2-40B4-BE49-F238E27FC236}">
                  <a16:creationId xmlns:a16="http://schemas.microsoft.com/office/drawing/2014/main" id="{0E2F9A68-7518-4A1B-9853-FD717D94A163}"/>
                </a:ext>
              </a:extLst>
            </p:cNvPr>
            <p:cNvSpPr>
              <a:spLocks noChangeArrowheads="1"/>
            </p:cNvSpPr>
            <p:nvPr/>
          </p:nvSpPr>
          <p:spPr bwMode="gray">
            <a:xfrm>
              <a:off x="866" y="1584"/>
              <a:ext cx="953" cy="561"/>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39282" name="Oval 18">
              <a:extLst>
                <a:ext uri="{FF2B5EF4-FFF2-40B4-BE49-F238E27FC236}">
                  <a16:creationId xmlns:a16="http://schemas.microsoft.com/office/drawing/2014/main" id="{66806902-AEEF-4A3B-B1B7-B66E847D7D28}"/>
                </a:ext>
              </a:extLst>
            </p:cNvPr>
            <p:cNvSpPr>
              <a:spLocks noChangeArrowheads="1"/>
            </p:cNvSpPr>
            <p:nvPr/>
          </p:nvSpPr>
          <p:spPr bwMode="gray">
            <a:xfrm>
              <a:off x="867" y="1586"/>
              <a:ext cx="953" cy="561"/>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33830" name="Oval 19">
              <a:extLst>
                <a:ext uri="{FF2B5EF4-FFF2-40B4-BE49-F238E27FC236}">
                  <a16:creationId xmlns:a16="http://schemas.microsoft.com/office/drawing/2014/main" id="{39A811F4-D657-4B34-9E46-6273DFDE496C}"/>
                </a:ext>
              </a:extLst>
            </p:cNvPr>
            <p:cNvSpPr>
              <a:spLocks noChangeArrowheads="1"/>
            </p:cNvSpPr>
            <p:nvPr/>
          </p:nvSpPr>
          <p:spPr bwMode="gray">
            <a:xfrm>
              <a:off x="915" y="1595"/>
              <a:ext cx="858" cy="505"/>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33831" name="Group 20">
              <a:extLst>
                <a:ext uri="{FF2B5EF4-FFF2-40B4-BE49-F238E27FC236}">
                  <a16:creationId xmlns:a16="http://schemas.microsoft.com/office/drawing/2014/main" id="{F9D8E957-722A-4A36-9072-404524A66D2E}"/>
                </a:ext>
              </a:extLst>
            </p:cNvPr>
            <p:cNvGrpSpPr>
              <a:grpSpLocks/>
            </p:cNvGrpSpPr>
            <p:nvPr/>
          </p:nvGrpSpPr>
          <p:grpSpPr bwMode="auto">
            <a:xfrm>
              <a:off x="929" y="1596"/>
              <a:ext cx="830" cy="489"/>
              <a:chOff x="4166" y="1706"/>
              <a:chExt cx="1252" cy="1252"/>
            </a:xfrm>
          </p:grpSpPr>
          <p:sp>
            <p:nvSpPr>
              <p:cNvPr id="33833" name="Oval 21">
                <a:extLst>
                  <a:ext uri="{FF2B5EF4-FFF2-40B4-BE49-F238E27FC236}">
                    <a16:creationId xmlns:a16="http://schemas.microsoft.com/office/drawing/2014/main" id="{23A36209-566F-4D89-AA04-0B134F38C68A}"/>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34" name="Oval 22">
                <a:extLst>
                  <a:ext uri="{FF2B5EF4-FFF2-40B4-BE49-F238E27FC236}">
                    <a16:creationId xmlns:a16="http://schemas.microsoft.com/office/drawing/2014/main" id="{D07D89E9-D77A-4B2D-B41A-008EEC68416B}"/>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35" name="Oval 23">
                <a:extLst>
                  <a:ext uri="{FF2B5EF4-FFF2-40B4-BE49-F238E27FC236}">
                    <a16:creationId xmlns:a16="http://schemas.microsoft.com/office/drawing/2014/main" id="{4D1672DF-8DCD-4D94-9D2B-A082FCCB01F8}"/>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36" name="Oval 24">
                <a:extLst>
                  <a:ext uri="{FF2B5EF4-FFF2-40B4-BE49-F238E27FC236}">
                    <a16:creationId xmlns:a16="http://schemas.microsoft.com/office/drawing/2014/main" id="{C6507B9C-2224-4EF8-AFD5-8D2F6F339233}"/>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33832" name="Text Box 40">
              <a:extLst>
                <a:ext uri="{FF2B5EF4-FFF2-40B4-BE49-F238E27FC236}">
                  <a16:creationId xmlns:a16="http://schemas.microsoft.com/office/drawing/2014/main" id="{4A0E4815-D5B0-4E82-B8BB-45513A5C1E18}"/>
                </a:ext>
              </a:extLst>
            </p:cNvPr>
            <p:cNvSpPr txBox="1">
              <a:spLocks noChangeArrowheads="1"/>
            </p:cNvSpPr>
            <p:nvPr/>
          </p:nvSpPr>
          <p:spPr bwMode="gray">
            <a:xfrm>
              <a:off x="1005" y="174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项目初期</a:t>
              </a:r>
              <a:endParaRPr lang="en-US" altLang="zh-CN">
                <a:solidFill>
                  <a:schemeClr val="tx2"/>
                </a:solidFill>
                <a:latin typeface="Lucida Sans Unicode" panose="020B0602030504020204" pitchFamily="34" charset="0"/>
              </a:endParaRPr>
            </a:p>
          </p:txBody>
        </p:sp>
      </p:grpSp>
      <p:grpSp>
        <p:nvGrpSpPr>
          <p:cNvPr id="4" name="Group 44">
            <a:extLst>
              <a:ext uri="{FF2B5EF4-FFF2-40B4-BE49-F238E27FC236}">
                <a16:creationId xmlns:a16="http://schemas.microsoft.com/office/drawing/2014/main" id="{54CBBD73-F70D-4FF4-A538-6FACD49059A8}"/>
              </a:ext>
            </a:extLst>
          </p:cNvPr>
          <p:cNvGrpSpPr>
            <a:grpSpLocks/>
          </p:cNvGrpSpPr>
          <p:nvPr/>
        </p:nvGrpSpPr>
        <p:grpSpPr bwMode="auto">
          <a:xfrm>
            <a:off x="3492500" y="2497138"/>
            <a:ext cx="2519363" cy="3446462"/>
            <a:chOff x="2200" y="1573"/>
            <a:chExt cx="1587" cy="2171"/>
          </a:xfrm>
        </p:grpSpPr>
        <p:sp>
          <p:nvSpPr>
            <p:cNvPr id="33811" name="AutoShape 5">
              <a:extLst>
                <a:ext uri="{FF2B5EF4-FFF2-40B4-BE49-F238E27FC236}">
                  <a16:creationId xmlns:a16="http://schemas.microsoft.com/office/drawing/2014/main" id="{35E78066-AD7E-4513-A154-FF60E8C663A1}"/>
                </a:ext>
              </a:extLst>
            </p:cNvPr>
            <p:cNvSpPr>
              <a:spLocks noChangeArrowheads="1"/>
            </p:cNvSpPr>
            <p:nvPr/>
          </p:nvSpPr>
          <p:spPr bwMode="auto">
            <a:xfrm>
              <a:off x="2200" y="2296"/>
              <a:ext cx="1462" cy="1448"/>
            </a:xfrm>
            <a:prstGeom prst="roundRect">
              <a:avLst>
                <a:gd name="adj" fmla="val 13745"/>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a:solidFill>
                    <a:schemeClr val="tx2"/>
                  </a:solidFill>
                  <a:latin typeface="Lucida Sans Unicode" panose="020B0602030504020204" pitchFamily="34" charset="0"/>
                </a:rPr>
                <a:t>工作内容多，资金支出增加，也可采用职能式组织，由职能部门经理领导进行项目规划和设计管理、负责合同谈判等，也可设立独立的项目管理班子，形成</a:t>
              </a:r>
              <a:r>
                <a:rPr lang="zh-CN" altLang="en-US" sz="1600">
                  <a:solidFill>
                    <a:srgbClr val="FF6600"/>
                  </a:solidFill>
                  <a:latin typeface="Lucida Sans Unicode" panose="020B0602030504020204" pitchFamily="34" charset="0"/>
                </a:rPr>
                <a:t>矩阵式或者项目式组织结构</a:t>
              </a:r>
              <a:endParaRPr lang="en-US" altLang="zh-CN" sz="1600">
                <a:solidFill>
                  <a:srgbClr val="FF6600"/>
                </a:solidFill>
                <a:latin typeface="Lucida Sans Unicode" panose="020B0602030504020204" pitchFamily="34" charset="0"/>
              </a:endParaRPr>
            </a:p>
          </p:txBody>
        </p:sp>
        <p:sp>
          <p:nvSpPr>
            <p:cNvPr id="33812" name="AutoShape 9">
              <a:extLst>
                <a:ext uri="{FF2B5EF4-FFF2-40B4-BE49-F238E27FC236}">
                  <a16:creationId xmlns:a16="http://schemas.microsoft.com/office/drawing/2014/main" id="{9D48D0DB-3A85-4930-917F-FEC9F1C54986}"/>
                </a:ext>
              </a:extLst>
            </p:cNvPr>
            <p:cNvSpPr>
              <a:spLocks noChangeArrowheads="1"/>
            </p:cNvSpPr>
            <p:nvPr/>
          </p:nvSpPr>
          <p:spPr bwMode="gray">
            <a:xfrm>
              <a:off x="3531" y="1761"/>
              <a:ext cx="256" cy="172"/>
            </a:xfrm>
            <a:prstGeom prst="chevron">
              <a:avLst>
                <a:gd name="adj" fmla="val 78160"/>
              </a:avLst>
            </a:prstGeom>
            <a:solidFill>
              <a:schemeClr val="hlink"/>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139289" name="Oval 25">
              <a:extLst>
                <a:ext uri="{FF2B5EF4-FFF2-40B4-BE49-F238E27FC236}">
                  <a16:creationId xmlns:a16="http://schemas.microsoft.com/office/drawing/2014/main" id="{E80A824F-53F3-409D-9D89-68580336B5FB}"/>
                </a:ext>
              </a:extLst>
            </p:cNvPr>
            <p:cNvSpPr>
              <a:spLocks noChangeArrowheads="1"/>
            </p:cNvSpPr>
            <p:nvPr/>
          </p:nvSpPr>
          <p:spPr bwMode="gray">
            <a:xfrm>
              <a:off x="2345" y="1573"/>
              <a:ext cx="1096" cy="645"/>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39290" name="Oval 26">
              <a:extLst>
                <a:ext uri="{FF2B5EF4-FFF2-40B4-BE49-F238E27FC236}">
                  <a16:creationId xmlns:a16="http://schemas.microsoft.com/office/drawing/2014/main" id="{A6CD964E-E571-47BD-B351-658B9598F3CB}"/>
                </a:ext>
              </a:extLst>
            </p:cNvPr>
            <p:cNvSpPr>
              <a:spLocks noChangeArrowheads="1"/>
            </p:cNvSpPr>
            <p:nvPr/>
          </p:nvSpPr>
          <p:spPr bwMode="gray">
            <a:xfrm>
              <a:off x="2345" y="1573"/>
              <a:ext cx="1096" cy="645"/>
            </a:xfrm>
            <a:prstGeom prst="ellipse">
              <a:avLst/>
            </a:prstGeom>
            <a:gradFill rotWithShape="1">
              <a:gsLst>
                <a:gs pos="0">
                  <a:schemeClr val="accent1">
                    <a:alpha val="32001"/>
                  </a:schemeClr>
                </a:gs>
                <a:gs pos="100000">
                  <a:schemeClr val="accent1">
                    <a:gamma/>
                    <a:shade val="46275"/>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39291" name="Oval 27">
              <a:extLst>
                <a:ext uri="{FF2B5EF4-FFF2-40B4-BE49-F238E27FC236}">
                  <a16:creationId xmlns:a16="http://schemas.microsoft.com/office/drawing/2014/main" id="{F99C5CF2-0BE3-48D3-8663-F81962E09032}"/>
                </a:ext>
              </a:extLst>
            </p:cNvPr>
            <p:cNvSpPr>
              <a:spLocks noChangeArrowheads="1"/>
            </p:cNvSpPr>
            <p:nvPr/>
          </p:nvSpPr>
          <p:spPr bwMode="gray">
            <a:xfrm>
              <a:off x="2418" y="1588"/>
              <a:ext cx="953" cy="561"/>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39292" name="Oval 28">
              <a:extLst>
                <a:ext uri="{FF2B5EF4-FFF2-40B4-BE49-F238E27FC236}">
                  <a16:creationId xmlns:a16="http://schemas.microsoft.com/office/drawing/2014/main" id="{85888557-2CA8-40F1-B13E-5E90E14ED28D}"/>
                </a:ext>
              </a:extLst>
            </p:cNvPr>
            <p:cNvSpPr>
              <a:spLocks noChangeArrowheads="1"/>
            </p:cNvSpPr>
            <p:nvPr/>
          </p:nvSpPr>
          <p:spPr bwMode="gray">
            <a:xfrm>
              <a:off x="2419" y="1589"/>
              <a:ext cx="953" cy="561"/>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33817" name="Oval 29">
              <a:extLst>
                <a:ext uri="{FF2B5EF4-FFF2-40B4-BE49-F238E27FC236}">
                  <a16:creationId xmlns:a16="http://schemas.microsoft.com/office/drawing/2014/main" id="{E26A34B3-2B83-4687-B942-C6B9E70B8A91}"/>
                </a:ext>
              </a:extLst>
            </p:cNvPr>
            <p:cNvSpPr>
              <a:spLocks noChangeArrowheads="1"/>
            </p:cNvSpPr>
            <p:nvPr/>
          </p:nvSpPr>
          <p:spPr bwMode="gray">
            <a:xfrm>
              <a:off x="2466" y="1597"/>
              <a:ext cx="858" cy="505"/>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33818" name="Group 30">
              <a:extLst>
                <a:ext uri="{FF2B5EF4-FFF2-40B4-BE49-F238E27FC236}">
                  <a16:creationId xmlns:a16="http://schemas.microsoft.com/office/drawing/2014/main" id="{3394C2B0-7171-4D96-995C-660AAAF258AE}"/>
                </a:ext>
              </a:extLst>
            </p:cNvPr>
            <p:cNvGrpSpPr>
              <a:grpSpLocks/>
            </p:cNvGrpSpPr>
            <p:nvPr/>
          </p:nvGrpSpPr>
          <p:grpSpPr bwMode="auto">
            <a:xfrm>
              <a:off x="2481" y="1596"/>
              <a:ext cx="830" cy="489"/>
              <a:chOff x="4166" y="1706"/>
              <a:chExt cx="1252" cy="1252"/>
            </a:xfrm>
          </p:grpSpPr>
          <p:sp>
            <p:nvSpPr>
              <p:cNvPr id="33820" name="Oval 31">
                <a:extLst>
                  <a:ext uri="{FF2B5EF4-FFF2-40B4-BE49-F238E27FC236}">
                    <a16:creationId xmlns:a16="http://schemas.microsoft.com/office/drawing/2014/main" id="{A2003C5C-76D0-4256-8610-C150D9D4A2C5}"/>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21" name="Oval 32">
                <a:extLst>
                  <a:ext uri="{FF2B5EF4-FFF2-40B4-BE49-F238E27FC236}">
                    <a16:creationId xmlns:a16="http://schemas.microsoft.com/office/drawing/2014/main" id="{C1EEEECE-410A-4C0A-AD73-75E566E31FD3}"/>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22" name="Oval 33">
                <a:extLst>
                  <a:ext uri="{FF2B5EF4-FFF2-40B4-BE49-F238E27FC236}">
                    <a16:creationId xmlns:a16="http://schemas.microsoft.com/office/drawing/2014/main" id="{A1F429FD-59FB-4005-B8FD-B991A02C17FB}"/>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23" name="Oval 34">
                <a:extLst>
                  <a:ext uri="{FF2B5EF4-FFF2-40B4-BE49-F238E27FC236}">
                    <a16:creationId xmlns:a16="http://schemas.microsoft.com/office/drawing/2014/main" id="{959EDB59-50D6-4951-8417-E0D758A0DDE9}"/>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33819" name="Text Box 41">
              <a:extLst>
                <a:ext uri="{FF2B5EF4-FFF2-40B4-BE49-F238E27FC236}">
                  <a16:creationId xmlns:a16="http://schemas.microsoft.com/office/drawing/2014/main" id="{C7B8DB16-3D6E-48E3-97B4-1EC47DCC79E8}"/>
                </a:ext>
              </a:extLst>
            </p:cNvPr>
            <p:cNvSpPr txBox="1">
              <a:spLocks noChangeArrowheads="1"/>
            </p:cNvSpPr>
            <p:nvPr/>
          </p:nvSpPr>
          <p:spPr bwMode="gray">
            <a:xfrm>
              <a:off x="2560" y="174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设计阶段</a:t>
              </a:r>
              <a:endParaRPr lang="en-US" altLang="zh-CN">
                <a:solidFill>
                  <a:schemeClr val="tx2"/>
                </a:solidFill>
                <a:latin typeface="Lucida Sans Unicode" panose="020B0602030504020204" pitchFamily="34" charset="0"/>
              </a:endParaRPr>
            </a:p>
          </p:txBody>
        </p:sp>
      </p:grpSp>
      <p:grpSp>
        <p:nvGrpSpPr>
          <p:cNvPr id="6" name="Group 45">
            <a:extLst>
              <a:ext uri="{FF2B5EF4-FFF2-40B4-BE49-F238E27FC236}">
                <a16:creationId xmlns:a16="http://schemas.microsoft.com/office/drawing/2014/main" id="{77AC4B7A-FB8B-455C-B68B-78316D6F96D2}"/>
              </a:ext>
            </a:extLst>
          </p:cNvPr>
          <p:cNvGrpSpPr>
            <a:grpSpLocks/>
          </p:cNvGrpSpPr>
          <p:nvPr/>
        </p:nvGrpSpPr>
        <p:grpSpPr bwMode="auto">
          <a:xfrm>
            <a:off x="6149975" y="2497138"/>
            <a:ext cx="1851025" cy="3446462"/>
            <a:chOff x="3874" y="1573"/>
            <a:chExt cx="1166" cy="2171"/>
          </a:xfrm>
        </p:grpSpPr>
        <p:sp>
          <p:nvSpPr>
            <p:cNvPr id="33799" name="AutoShape 7">
              <a:extLst>
                <a:ext uri="{FF2B5EF4-FFF2-40B4-BE49-F238E27FC236}">
                  <a16:creationId xmlns:a16="http://schemas.microsoft.com/office/drawing/2014/main" id="{9E0DC328-F1D7-4218-93AB-31887CBC2204}"/>
                </a:ext>
              </a:extLst>
            </p:cNvPr>
            <p:cNvSpPr>
              <a:spLocks noChangeArrowheads="1"/>
            </p:cNvSpPr>
            <p:nvPr/>
          </p:nvSpPr>
          <p:spPr bwMode="auto">
            <a:xfrm>
              <a:off x="3874" y="2296"/>
              <a:ext cx="1166" cy="1448"/>
            </a:xfrm>
            <a:prstGeom prst="roundRect">
              <a:avLst>
                <a:gd name="adj" fmla="val 13745"/>
              </a:avLst>
            </a:prstGeom>
            <a:noFill/>
            <a:ln w="38100">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a:solidFill>
                    <a:schemeClr val="tx2"/>
                  </a:solidFill>
                  <a:latin typeface="Lucida Sans Unicode" panose="020B0602030504020204" pitchFamily="34" charset="0"/>
                </a:rPr>
                <a:t>一个大型工程项目的工程任务重，工作内容复杂，资金支出多，需要大量人员投入，因此，可以采用</a:t>
              </a:r>
              <a:r>
                <a:rPr lang="zh-CN" altLang="en-US" sz="1600">
                  <a:solidFill>
                    <a:srgbClr val="FF6600"/>
                  </a:solidFill>
                  <a:latin typeface="Lucida Sans Unicode" panose="020B0602030504020204" pitchFamily="34" charset="0"/>
                </a:rPr>
                <a:t>矩阵式或项目式组织结构</a:t>
              </a:r>
              <a:endParaRPr lang="en-US" altLang="zh-CN" sz="1600">
                <a:solidFill>
                  <a:srgbClr val="FF6600"/>
                </a:solidFill>
                <a:latin typeface="Lucida Sans Unicode" panose="020B0602030504020204" pitchFamily="34" charset="0"/>
              </a:endParaRPr>
            </a:p>
          </p:txBody>
        </p:sp>
        <p:sp>
          <p:nvSpPr>
            <p:cNvPr id="139274" name="Oval 10">
              <a:extLst>
                <a:ext uri="{FF2B5EF4-FFF2-40B4-BE49-F238E27FC236}">
                  <a16:creationId xmlns:a16="http://schemas.microsoft.com/office/drawing/2014/main" id="{1BBD37DF-6848-48EB-A1C3-B09DB89F8F14}"/>
                </a:ext>
              </a:extLst>
            </p:cNvPr>
            <p:cNvSpPr>
              <a:spLocks noChangeArrowheads="1"/>
            </p:cNvSpPr>
            <p:nvPr/>
          </p:nvSpPr>
          <p:spPr bwMode="gray">
            <a:xfrm>
              <a:off x="3896" y="1573"/>
              <a:ext cx="1096" cy="645"/>
            </a:xfrm>
            <a:prstGeom prst="ellipse">
              <a:avLst/>
            </a:prstGeom>
            <a:gradFill rotWithShape="1">
              <a:gsLst>
                <a:gs pos="0">
                  <a:schemeClr val="hlink">
                    <a:gamma/>
                    <a:tint val="0"/>
                    <a:invGamma/>
                  </a:schemeClr>
                </a:gs>
                <a:gs pos="50000">
                  <a:schemeClr val="hlink"/>
                </a:gs>
                <a:gs pos="100000">
                  <a:schemeClr val="hlink">
                    <a:gamma/>
                    <a:tint val="0"/>
                    <a:invGamma/>
                  </a:schemeClr>
                </a:gs>
              </a:gsLst>
              <a:lin ang="2700000" scaled="1"/>
            </a:gradFill>
            <a:ln w="38100" algn="ctr">
              <a:noFill/>
              <a:round/>
              <a:headEnd/>
              <a:tailEnd/>
            </a:ln>
            <a:effectLst/>
          </p:spPr>
          <p:txBody>
            <a:bodyPr wrap="none" anchor="ctr">
              <a:spAutoFit/>
            </a:bodyPr>
            <a:lstStyle/>
            <a:p>
              <a:pPr fontAlgn="auto">
                <a:spcBef>
                  <a:spcPts val="0"/>
                </a:spcBef>
                <a:spcAft>
                  <a:spcPts val="0"/>
                </a:spcAft>
                <a:defRPr/>
              </a:pPr>
              <a:endParaRPr lang="zh-CN" altLang="en-US">
                <a:ea typeface="+mn-ea"/>
              </a:endParaRPr>
            </a:p>
          </p:txBody>
        </p:sp>
        <p:sp>
          <p:nvSpPr>
            <p:cNvPr id="139275" name="Oval 11">
              <a:extLst>
                <a:ext uri="{FF2B5EF4-FFF2-40B4-BE49-F238E27FC236}">
                  <a16:creationId xmlns:a16="http://schemas.microsoft.com/office/drawing/2014/main" id="{F477033D-0E1F-436E-B3E1-2AF05EC05BCD}"/>
                </a:ext>
              </a:extLst>
            </p:cNvPr>
            <p:cNvSpPr>
              <a:spLocks noChangeArrowheads="1"/>
            </p:cNvSpPr>
            <p:nvPr/>
          </p:nvSpPr>
          <p:spPr bwMode="gray">
            <a:xfrm>
              <a:off x="3896" y="1573"/>
              <a:ext cx="1096" cy="645"/>
            </a:xfrm>
            <a:prstGeom prst="ellipse">
              <a:avLst/>
            </a:prstGeom>
            <a:gradFill rotWithShape="1">
              <a:gsLst>
                <a:gs pos="0">
                  <a:schemeClr val="hlink">
                    <a:alpha val="32001"/>
                  </a:schemeClr>
                </a:gs>
                <a:gs pos="100000">
                  <a:schemeClr val="hlink">
                    <a:gamma/>
                    <a:shade val="0"/>
                    <a:invGamma/>
                    <a:alpha val="89999"/>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39276" name="Oval 12">
              <a:extLst>
                <a:ext uri="{FF2B5EF4-FFF2-40B4-BE49-F238E27FC236}">
                  <a16:creationId xmlns:a16="http://schemas.microsoft.com/office/drawing/2014/main" id="{4DE778E7-129C-47FD-B256-DA4F6C16AE90}"/>
                </a:ext>
              </a:extLst>
            </p:cNvPr>
            <p:cNvSpPr>
              <a:spLocks noChangeArrowheads="1"/>
            </p:cNvSpPr>
            <p:nvPr/>
          </p:nvSpPr>
          <p:spPr bwMode="gray">
            <a:xfrm>
              <a:off x="3969" y="1588"/>
              <a:ext cx="953" cy="561"/>
            </a:xfrm>
            <a:prstGeom prst="ellipse">
              <a:avLst/>
            </a:prstGeom>
            <a:gradFill rotWithShape="1">
              <a:gsLst>
                <a:gs pos="0">
                  <a:schemeClr val="hlink">
                    <a:gamma/>
                    <a:shade val="54118"/>
                    <a:invGamma/>
                  </a:schemeClr>
                </a:gs>
                <a:gs pos="50000">
                  <a:schemeClr val="hlink"/>
                </a:gs>
                <a:gs pos="100000">
                  <a:schemeClr val="hlink">
                    <a:gamma/>
                    <a:shade val="54118"/>
                    <a:invGamma/>
                  </a:schemeClr>
                </a:gs>
              </a:gsLst>
              <a:lin ang="189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139277" name="Oval 13">
              <a:extLst>
                <a:ext uri="{FF2B5EF4-FFF2-40B4-BE49-F238E27FC236}">
                  <a16:creationId xmlns:a16="http://schemas.microsoft.com/office/drawing/2014/main" id="{1FFBFD61-5CE0-4561-9D73-3EECBFEAD9B8}"/>
                </a:ext>
              </a:extLst>
            </p:cNvPr>
            <p:cNvSpPr>
              <a:spLocks noChangeArrowheads="1"/>
            </p:cNvSpPr>
            <p:nvPr/>
          </p:nvSpPr>
          <p:spPr bwMode="gray">
            <a:xfrm>
              <a:off x="3985" y="1593"/>
              <a:ext cx="953" cy="561"/>
            </a:xfrm>
            <a:prstGeom prst="ellipse">
              <a:avLst/>
            </a:prstGeom>
            <a:gradFill rotWithShape="1">
              <a:gsLst>
                <a:gs pos="0">
                  <a:schemeClr val="hlink">
                    <a:gamma/>
                    <a:shade val="63529"/>
                    <a:invGamma/>
                  </a:schemeClr>
                </a:gs>
                <a:gs pos="100000">
                  <a:schemeClr val="hlink">
                    <a:alpha val="0"/>
                  </a:schemeClr>
                </a:gs>
              </a:gsLst>
              <a:lin ang="2700000" scaled="1"/>
            </a:gradFill>
            <a:ln w="38100" algn="ctr">
              <a:noFill/>
              <a:round/>
              <a:headEnd/>
              <a:tailEnd/>
            </a:ln>
            <a:effectLst/>
          </p:spPr>
          <p:txBody>
            <a:bodyPr anchor="ctr">
              <a:spAutoFit/>
            </a:bodyPr>
            <a:lstStyle/>
            <a:p>
              <a:pPr fontAlgn="auto">
                <a:spcBef>
                  <a:spcPts val="0"/>
                </a:spcBef>
                <a:spcAft>
                  <a:spcPts val="0"/>
                </a:spcAft>
                <a:defRPr/>
              </a:pPr>
              <a:endParaRPr lang="zh-CN" altLang="en-US">
                <a:ea typeface="+mn-ea"/>
              </a:endParaRPr>
            </a:p>
          </p:txBody>
        </p:sp>
        <p:sp>
          <p:nvSpPr>
            <p:cNvPr id="33804" name="Oval 14">
              <a:extLst>
                <a:ext uri="{FF2B5EF4-FFF2-40B4-BE49-F238E27FC236}">
                  <a16:creationId xmlns:a16="http://schemas.microsoft.com/office/drawing/2014/main" id="{43D8BF84-F2E9-4A7D-8564-AD0BEDF96814}"/>
                </a:ext>
              </a:extLst>
            </p:cNvPr>
            <p:cNvSpPr>
              <a:spLocks noChangeArrowheads="1"/>
            </p:cNvSpPr>
            <p:nvPr/>
          </p:nvSpPr>
          <p:spPr bwMode="gray">
            <a:xfrm>
              <a:off x="4021" y="1597"/>
              <a:ext cx="859" cy="505"/>
            </a:xfrm>
            <a:prstGeom prst="ellipse">
              <a:avLst/>
            </a:prstGeom>
            <a:solidFill>
              <a:srgbClr val="333333"/>
            </a:solidFill>
            <a:ln>
              <a:noFill/>
            </a:ln>
            <a:extLst>
              <a:ext uri="{91240B29-F687-4F45-9708-019B960494DF}">
                <a14:hiddenLine xmlns:a14="http://schemas.microsoft.com/office/drawing/2010/main" w="38100" algn="ctr">
                  <a:solidFill>
                    <a:srgbClr val="000000"/>
                  </a:solidFill>
                  <a:round/>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nvGrpSpPr>
            <p:cNvPr id="33805" name="Group 35">
              <a:extLst>
                <a:ext uri="{FF2B5EF4-FFF2-40B4-BE49-F238E27FC236}">
                  <a16:creationId xmlns:a16="http://schemas.microsoft.com/office/drawing/2014/main" id="{9490E040-FF73-415F-90AF-6DF393117E6C}"/>
                </a:ext>
              </a:extLst>
            </p:cNvPr>
            <p:cNvGrpSpPr>
              <a:grpSpLocks/>
            </p:cNvGrpSpPr>
            <p:nvPr/>
          </p:nvGrpSpPr>
          <p:grpSpPr bwMode="auto">
            <a:xfrm>
              <a:off x="4037" y="1596"/>
              <a:ext cx="831" cy="489"/>
              <a:chOff x="4166" y="1706"/>
              <a:chExt cx="1252" cy="1252"/>
            </a:xfrm>
          </p:grpSpPr>
          <p:sp>
            <p:nvSpPr>
              <p:cNvPr id="33807" name="Oval 36">
                <a:extLst>
                  <a:ext uri="{FF2B5EF4-FFF2-40B4-BE49-F238E27FC236}">
                    <a16:creationId xmlns:a16="http://schemas.microsoft.com/office/drawing/2014/main" id="{DC1FE924-CA07-4E5D-B488-CDBD9A31289A}"/>
                  </a:ext>
                </a:extLst>
              </p:cNvPr>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08" name="Oval 37">
                <a:extLst>
                  <a:ext uri="{FF2B5EF4-FFF2-40B4-BE49-F238E27FC236}">
                    <a16:creationId xmlns:a16="http://schemas.microsoft.com/office/drawing/2014/main" id="{CE696735-734B-48CF-9E0A-FC97D5AE044A}"/>
                  </a:ext>
                </a:extLst>
              </p:cNvPr>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09" name="Oval 38">
                <a:extLst>
                  <a:ext uri="{FF2B5EF4-FFF2-40B4-BE49-F238E27FC236}">
                    <a16:creationId xmlns:a16="http://schemas.microsoft.com/office/drawing/2014/main" id="{8B3C156C-7046-43C1-8270-C71B2702365A}"/>
                  </a:ext>
                </a:extLst>
              </p:cNvPr>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sp>
            <p:nvSpPr>
              <p:cNvPr id="33810" name="Oval 39">
                <a:extLst>
                  <a:ext uri="{FF2B5EF4-FFF2-40B4-BE49-F238E27FC236}">
                    <a16:creationId xmlns:a16="http://schemas.microsoft.com/office/drawing/2014/main" id="{2A74B2CB-9D88-4F08-BBB8-650F8B9C75B4}"/>
                  </a:ext>
                </a:extLst>
              </p:cNvPr>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lgn="ctr">
                    <a:solidFill>
                      <a:srgbClr val="000000"/>
                    </a:solidFill>
                    <a:round/>
                    <a:headEnd/>
                    <a:tailEnd/>
                  </a14:hiddenLine>
                </a:ext>
              </a:extLst>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Lucida Sans Unicode" panose="020B0602030504020204" pitchFamily="34" charset="0"/>
                  <a:ea typeface="黑体" panose="02010609060101010101" pitchFamily="49" charset="-122"/>
                </a:endParaRPr>
              </a:p>
            </p:txBody>
          </p:sp>
        </p:grpSp>
        <p:sp>
          <p:nvSpPr>
            <p:cNvPr id="33806" name="Text Box 42">
              <a:extLst>
                <a:ext uri="{FF2B5EF4-FFF2-40B4-BE49-F238E27FC236}">
                  <a16:creationId xmlns:a16="http://schemas.microsoft.com/office/drawing/2014/main" id="{27BDCC07-F4D9-4A95-B6B2-55658083FFAD}"/>
                </a:ext>
              </a:extLst>
            </p:cNvPr>
            <p:cNvSpPr txBox="1">
              <a:spLocks noChangeArrowheads="1"/>
            </p:cNvSpPr>
            <p:nvPr/>
          </p:nvSpPr>
          <p:spPr bwMode="gray">
            <a:xfrm>
              <a:off x="4114" y="174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chemeClr val="tx2"/>
                  </a:solidFill>
                  <a:latin typeface="Lucida Sans Unicode" panose="020B0602030504020204" pitchFamily="34" charset="0"/>
                </a:rPr>
                <a:t>施工阶段</a:t>
              </a:r>
              <a:endParaRPr lang="en-US" altLang="zh-CN">
                <a:solidFill>
                  <a:schemeClr val="tx2"/>
                </a:solidFill>
                <a:latin typeface="Lucida Sans Unicode" panose="020B0602030504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wipe(up)">
                                      <p:cBhvr>
                                        <p:cTn id="7" dur="1000"/>
                                        <p:tgtEl>
                                          <p:spTgt spid="139268"/>
                                        </p:tgtEl>
                                      </p:cBhvr>
                                    </p:animEffect>
                                  </p:childTnLst>
                                </p:cTn>
                              </p:par>
                            </p:childTnLst>
                          </p:cTn>
                        </p:par>
                        <p:par>
                          <p:cTn id="8" fill="hold" nodeType="afterGroup">
                            <p:stCondLst>
                              <p:cond delay="1000"/>
                            </p:stCondLst>
                            <p:childTnLst>
                              <p:par>
                                <p:cTn id="9" presetID="22" presetClass="entr" presetSubtype="8"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par>
                          <p:cTn id="12" fill="hold" nodeType="afterGroup">
                            <p:stCondLst>
                              <p:cond delay="2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1000"/>
                                        <p:tgtEl>
                                          <p:spTgt spid="4"/>
                                        </p:tgtEl>
                                      </p:cBhvr>
                                    </p:animEffect>
                                  </p:childTnLst>
                                </p:cTn>
                              </p:par>
                            </p:childTnLst>
                          </p:cTn>
                        </p:par>
                        <p:par>
                          <p:cTn id="16" fill="hold" nodeType="afterGroup">
                            <p:stCondLst>
                              <p:cond delay="3000"/>
                            </p:stCondLst>
                            <p:childTnLst>
                              <p:par>
                                <p:cTn id="17" presetID="22" presetClass="entr" presetSubtype="8"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animBg="1"/>
    </p:bldLst>
  </p:timing>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Level</Template>
  <TotalTime>1656</TotalTime>
  <Words>2283</Words>
  <Application>Microsoft Office PowerPoint</Application>
  <PresentationFormat>全屏显示(4:3)</PresentationFormat>
  <Paragraphs>240</Paragraphs>
  <Slides>35</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35</vt:i4>
      </vt:variant>
    </vt:vector>
  </HeadingPairs>
  <TitlesOfParts>
    <vt:vector size="46" baseType="lpstr">
      <vt:lpstr>PingFang SC</vt:lpstr>
      <vt:lpstr>黑体</vt:lpstr>
      <vt:lpstr>宋体</vt:lpstr>
      <vt:lpstr>Arial</vt:lpstr>
      <vt:lpstr>Calibri</vt:lpstr>
      <vt:lpstr>Garamond</vt:lpstr>
      <vt:lpstr>Lucida Sans Unicode</vt:lpstr>
      <vt:lpstr>Times New Roman</vt:lpstr>
      <vt:lpstr>Verdana</vt:lpstr>
      <vt:lpstr>Wingdings</vt:lpstr>
      <vt:lpstr>Level</vt:lpstr>
      <vt:lpstr>第六章 项目管理环境  6. 1  项目外部环境 6.2   项目内部环境 6.3  项目环境的全局管理方法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第七章 项目管理组织</vt:lpstr>
      <vt:lpstr>PowerPoint 演示文稿</vt:lpstr>
      <vt:lpstr>2、项目组织的特点</vt:lpstr>
      <vt:lpstr>3、项目组织的类型</vt:lpstr>
      <vt:lpstr>7.2 项目组织设计  1、职能式项目组织</vt:lpstr>
      <vt:lpstr>PowerPoint 演示文稿</vt:lpstr>
      <vt:lpstr>PowerPoint 演示文稿</vt:lpstr>
      <vt:lpstr>2、项目式项目组织</vt:lpstr>
      <vt:lpstr>PowerPoint 演示文稿</vt:lpstr>
      <vt:lpstr>PowerPoint 演示文稿</vt:lpstr>
      <vt:lpstr>PowerPoint 演示文稿</vt:lpstr>
      <vt:lpstr>3、矩阵式项目组织</vt:lpstr>
      <vt:lpstr>PowerPoint 演示文稿</vt:lpstr>
      <vt:lpstr>PowerPoint 演示文稿</vt:lpstr>
      <vt:lpstr>PowerPoint 演示文稿</vt:lpstr>
      <vt:lpstr>PowerPoint 演示文稿</vt:lpstr>
      <vt:lpstr>PowerPoint 演示文稿</vt:lpstr>
      <vt:lpstr>7.3 项目组织结构的选择</vt:lpstr>
      <vt:lpstr>PowerPoint 演示文稿</vt:lpstr>
      <vt:lpstr>PowerPoint 演示文稿</vt:lpstr>
      <vt:lpstr>PowerPoint 演示文稿</vt:lpstr>
      <vt:lpstr>PowerPoint 演示文稿</vt:lpstr>
      <vt:lpstr>PowerPoint 演示文稿</vt:lpstr>
    </vt:vector>
  </TitlesOfParts>
  <Company>xhhe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供应链设计与管理</dc:title>
  <dc:creator>xinhuahe</dc:creator>
  <cp:lastModifiedBy>Rachel</cp:lastModifiedBy>
  <cp:revision>74</cp:revision>
  <dcterms:created xsi:type="dcterms:W3CDTF">2010-09-06T01:34:01Z</dcterms:created>
  <dcterms:modified xsi:type="dcterms:W3CDTF">2025-04-06T08:37:32Z</dcterms:modified>
</cp:coreProperties>
</file>