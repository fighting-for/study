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</p:sldIdLst>
  <p:sldSz cx="12192000" cy="6858000"/>
  <p:notesSz cx="6858000" cy="9144000"/>
  <p:embeddedFontLst>
    <p:embeddedFont>
      <p:font typeface="Source Han Sans CN Regular"/>
      <p:regular r:id="rId52"/>
    </p:embeddedFont>
    <p:embeddedFont>
      <p:font typeface="Source Han Sans"/>
      <p:regular r:id="rId53"/>
    </p:embeddedFont>
    <p:embeddedFont>
      <p:font typeface="OPPOSans H"/>
      <p:regular r:id="rId54"/>
    </p:embeddedFont>
    <p:embeddedFont>
      <p:font typeface="Source Han Sans CN Bold"/>
      <p:regular r:id="rId55"/>
    </p:embeddedFont>
    <p:embeddedFont>
      <p:font typeface="OPPOSans R"/>
      <p:regular r:id="rId56"/>
    </p:embeddedFont>
  </p:embeddedFontLst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theme" Target="theme/theme1.xml"/>
<Relationship Id="rId2" Type="http://schemas.openxmlformats.org/officeDocument/2006/relationships/slideMaster" Target="slideMasters/slideMaster1.xml"/>
<Relationship Id="rId3" Type="http://schemas.openxmlformats.org/officeDocument/2006/relationships/slide" Target="slides/slide1.xml"/>
<Relationship Id="rId4" Type="http://schemas.openxmlformats.org/officeDocument/2006/relationships/slide" Target="slides/slide2.xml"/>
<Relationship Id="rId5" Type="http://schemas.openxmlformats.org/officeDocument/2006/relationships/slide" Target="slides/slide3.xml"/>
<Relationship Id="rId6" Type="http://schemas.openxmlformats.org/officeDocument/2006/relationships/slide" Target="slides/slide4.xml"/>
<Relationship Id="rId7" Type="http://schemas.openxmlformats.org/officeDocument/2006/relationships/slide" Target="slides/slide5.xml"/>
<Relationship Id="rId8" Type="http://schemas.openxmlformats.org/officeDocument/2006/relationships/slide" Target="slides/slide6.xml"/>
<Relationship Id="rId9" Type="http://schemas.openxmlformats.org/officeDocument/2006/relationships/slide" Target="slides/slide7.xml"/>
<Relationship Id="rId10" Type="http://schemas.openxmlformats.org/officeDocument/2006/relationships/slide" Target="slides/slide8.xml"/>
<Relationship Id="rId11" Type="http://schemas.openxmlformats.org/officeDocument/2006/relationships/slide" Target="slides/slide9.xml"/>
<Relationship Id="rId12" Type="http://schemas.openxmlformats.org/officeDocument/2006/relationships/slide" Target="slides/slide10.xml"/>
<Relationship Id="rId13" Type="http://schemas.openxmlformats.org/officeDocument/2006/relationships/slide" Target="slides/slide11.xml"/>
<Relationship Id="rId14" Type="http://schemas.openxmlformats.org/officeDocument/2006/relationships/slide" Target="slides/slide12.xml"/>
<Relationship Id="rId15" Type="http://schemas.openxmlformats.org/officeDocument/2006/relationships/slide" Target="slides/slide13.xml"/>
<Relationship Id="rId16" Type="http://schemas.openxmlformats.org/officeDocument/2006/relationships/slide" Target="slides/slide14.xml"/>
<Relationship Id="rId17" Type="http://schemas.openxmlformats.org/officeDocument/2006/relationships/slide" Target="slides/slide15.xml"/>
<Relationship Id="rId18" Type="http://schemas.openxmlformats.org/officeDocument/2006/relationships/slide" Target="slides/slide16.xml"/>
<Relationship Id="rId19" Type="http://schemas.openxmlformats.org/officeDocument/2006/relationships/slide" Target="slides/slide17.xml"/>
<Relationship Id="rId20" Type="http://schemas.openxmlformats.org/officeDocument/2006/relationships/slide" Target="slides/slide18.xml"/>
<Relationship Id="rId21" Type="http://schemas.openxmlformats.org/officeDocument/2006/relationships/slide" Target="slides/slide19.xml"/>
<Relationship Id="rId22" Type="http://schemas.openxmlformats.org/officeDocument/2006/relationships/slide" Target="slides/slide20.xml"/>
<Relationship Id="rId23" Type="http://schemas.openxmlformats.org/officeDocument/2006/relationships/slide" Target="slides/slide21.xml"/>
<Relationship Id="rId24" Type="http://schemas.openxmlformats.org/officeDocument/2006/relationships/slide" Target="slides/slide22.xml"/>
<Relationship Id="rId25" Type="http://schemas.openxmlformats.org/officeDocument/2006/relationships/slide" Target="slides/slide23.xml"/>
<Relationship Id="rId26" Type="http://schemas.openxmlformats.org/officeDocument/2006/relationships/slide" Target="slides/slide24.xml"/>
<Relationship Id="rId27" Type="http://schemas.openxmlformats.org/officeDocument/2006/relationships/slide" Target="slides/slide25.xml"/>
<Relationship Id="rId28" Type="http://schemas.openxmlformats.org/officeDocument/2006/relationships/slide" Target="slides/slide26.xml"/>
<Relationship Id="rId29" Type="http://schemas.openxmlformats.org/officeDocument/2006/relationships/slide" Target="slides/slide27.xml"/>
<Relationship Id="rId30" Type="http://schemas.openxmlformats.org/officeDocument/2006/relationships/slide" Target="slides/slide28.xml"/>
<Relationship Id="rId31" Type="http://schemas.openxmlformats.org/officeDocument/2006/relationships/slide" Target="slides/slide29.xml"/>
<Relationship Id="rId32" Type="http://schemas.openxmlformats.org/officeDocument/2006/relationships/slide" Target="slides/slide30.xml"/>
<Relationship Id="rId33" Type="http://schemas.openxmlformats.org/officeDocument/2006/relationships/slide" Target="slides/slide31.xml"/>
<Relationship Id="rId34" Type="http://schemas.openxmlformats.org/officeDocument/2006/relationships/slide" Target="slides/slide32.xml"/>
<Relationship Id="rId35" Type="http://schemas.openxmlformats.org/officeDocument/2006/relationships/slide" Target="slides/slide33.xml"/>
<Relationship Id="rId36" Type="http://schemas.openxmlformats.org/officeDocument/2006/relationships/slide" Target="slides/slide34.xml"/>
<Relationship Id="rId37" Type="http://schemas.openxmlformats.org/officeDocument/2006/relationships/slide" Target="slides/slide35.xml"/>
<Relationship Id="rId38" Type="http://schemas.openxmlformats.org/officeDocument/2006/relationships/slide" Target="slides/slide36.xml"/>
<Relationship Id="rId39" Type="http://schemas.openxmlformats.org/officeDocument/2006/relationships/slide" Target="slides/slide37.xml"/>
<Relationship Id="rId40" Type="http://schemas.openxmlformats.org/officeDocument/2006/relationships/slide" Target="slides/slide38.xml"/>
<Relationship Id="rId41" Type="http://schemas.openxmlformats.org/officeDocument/2006/relationships/slide" Target="slides/slide39.xml"/>
<Relationship Id="rId42" Type="http://schemas.openxmlformats.org/officeDocument/2006/relationships/slide" Target="slides/slide40.xml"/>
<Relationship Id="rId43" Type="http://schemas.openxmlformats.org/officeDocument/2006/relationships/slide" Target="slides/slide41.xml"/>
<Relationship Id="rId44" Type="http://schemas.openxmlformats.org/officeDocument/2006/relationships/slide" Target="slides/slide42.xml"/>
<Relationship Id="rId45" Type="http://schemas.openxmlformats.org/officeDocument/2006/relationships/slide" Target="slides/slide43.xml"/>
<Relationship Id="rId46" Type="http://schemas.openxmlformats.org/officeDocument/2006/relationships/slide" Target="slides/slide44.xml"/>
<Relationship Id="rId47" Type="http://schemas.openxmlformats.org/officeDocument/2006/relationships/slide" Target="slides/slide45.xml"/>
<Relationship Id="rId48" Type="http://schemas.openxmlformats.org/officeDocument/2006/relationships/slide" Target="slides/slide46.xml"/>
<Relationship Id="rId49" Type="http://schemas.openxmlformats.org/officeDocument/2006/relationships/slide" Target="slides/slide47.xml"/>
<Relationship Id="rId50" Type="http://schemas.openxmlformats.org/officeDocument/2006/relationships/slide" Target="slides/slide48.xml"/>
<Relationship Id="rId51" Type="http://schemas.openxmlformats.org/officeDocument/2006/relationships/slide" Target="slides/slide49.xml"/>
<Relationship Id="rId52" Type="http://schemas.openxmlformats.org/officeDocument/2006/relationships/font" Target="fonts/font4.fntdata"/>
<Relationship Id="rId53" Type="http://schemas.openxmlformats.org/officeDocument/2006/relationships/font" Target="fonts/font2.fntdata"/>
<Relationship Id="rId54" Type="http://schemas.openxmlformats.org/officeDocument/2006/relationships/font" Target="fonts/font1.fntdata"/>
<Relationship Id="rId55" Type="http://schemas.openxmlformats.org/officeDocument/2006/relationships/font" Target="fonts/font3.fntdata"/>
<Relationship Id="rId56" Type="http://schemas.openxmlformats.org/officeDocument/2006/relationships/font" Target="fonts/font5.fntdata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theme" Target="../theme/theme1.xml"/>
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/Relationships>
</file>

<file path=ppt/slides/_rels/slide2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/Relationships>
</file>

<file path=ppt/slides/_rels/slide2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/Relationships>
</file>

<file path=ppt/slides/_rels/slide3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/Relationships>
</file>

<file path=ppt/slides/_rels/slide3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/Relationships>
</file>

<file path=ppt/slides/_rels/slide4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/Relationships>
</file>

<file path=ppt/slides/_rels/slide4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2">
            <a:alphaModFix amt="100000"/>
          </a:blip>
          <a:srcRect l="2858" t="11915" r="21252" b="11915"/>
          <a:stretch>
            <a:fillRect/>
          </a:stretch>
        </p:blipFill>
        <p:spPr>
          <a:xfrm rot="0" flipH="0" flipV="0"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" name="标题 1"/>
          <p:cNvSpPr txBox="1"/>
          <p:nvPr/>
        </p:nvSpPr>
        <p:spPr>
          <a:xfrm rot="0" flipH="0" flipV="0">
            <a:off x="-1" y="0"/>
            <a:ext cx="10883569" cy="6858000"/>
          </a:xfrm>
          <a:prstGeom prst="rect">
            <a:avLst/>
          </a:prstGeom>
          <a:gradFill>
            <a:gsLst>
              <a:gs pos="12000">
                <a:schemeClr val="bg1"/>
              </a:gs>
              <a:gs pos="80000">
                <a:schemeClr val="bg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715534" y="1758671"/>
            <a:ext cx="3111944" cy="11079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7200">
                <a:ln w="12700">
                  <a:noFill/>
                </a:ln>
                <a:gradFill>
                  <a:gsLst>
                    <a:gs pos="0">
                      <a:srgbClr val="8892F5">
                        <a:alpha val="100000"/>
                      </a:srgbClr>
                    </a:gs>
                    <a:gs pos="83000">
                      <a:srgbClr val="D7DBFC">
                        <a:alpha val="0"/>
                      </a:srgbClr>
                    </a:gs>
                  </a:gsLst>
                  <a:lin ang="5400000" scaled="0"/>
                </a:gradFill>
                <a:latin typeface="Source Han Sans CN Regular"/>
                <a:ea typeface="Source Han Sans CN Regular"/>
                <a:cs typeface="Source Han Sans CN Regular"/>
              </a:rPr>
              <a:t>202X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729192" y="4492517"/>
            <a:ext cx="1480608" cy="18466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50000"/>
                  </a:srgbClr>
                </a:solidFill>
                <a:latin typeface="Source Han Sans"/>
                <a:ea typeface="Source Han Sans"/>
                <a:cs typeface="Source Han Sans"/>
              </a:rPr>
              <a:t>Powerpoint design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722660" y="2829991"/>
            <a:ext cx="5190460" cy="162322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39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AI 芯颐养院创业策划书 PPT 大纲</a:t>
            </a:r>
            <a:endParaRPr kumimoji="1" lang="zh-CN" altLang="en-US"/>
          </a:p>
        </p:txBody>
      </p:sp>
      <p:cxnSp>
        <p:nvCxnSpPr>
          <p:cNvPr id="7" name="标题 1"/>
          <p:cNvCxnSpPr/>
          <p:nvPr/>
        </p:nvCxnSpPr>
        <p:spPr>
          <a:xfrm rot="0" flipH="0" flipV="0">
            <a:off x="2244090" y="4584850"/>
            <a:ext cx="3736822" cy="0"/>
          </a:xfrm>
          <a:prstGeom prst="line">
            <a:avLst/>
          </a:prstGeom>
          <a:noFill/>
          <a:ln w="6350" cap="sq">
            <a:solidFill>
              <a:schemeClr val="bg1">
                <a:lumMod val="75000"/>
              </a:schemeClr>
            </a:solidFill>
            <a:prstDash val="dash"/>
            <a:miter/>
          </a:ln>
        </p:spPr>
      </p:cxnSp>
      <p:sp>
        <p:nvSpPr>
          <p:cNvPr id="8" name="标题 1"/>
          <p:cNvSpPr txBox="1"/>
          <p:nvPr/>
        </p:nvSpPr>
        <p:spPr>
          <a:xfrm rot="0" flipH="0" flipV="0">
            <a:off x="699509" y="4810848"/>
            <a:ext cx="3331700" cy="378674"/>
          </a:xfrm>
          <a:prstGeom prst="roundRect">
            <a:avLst/>
          </a:prstGeom>
          <a:solidFill>
            <a:schemeClr val="accent1"/>
          </a:solidFill>
          <a:ln w="7620" cap="flat">
            <a:solidFill>
              <a:srgbClr val="FFFFFF">
                <a:alpha val="100000"/>
              </a:srgbClr>
            </a:solidFill>
            <a:miter/>
          </a:ln>
          <a:effectLst/>
        </p:spPr>
        <p:txBody>
          <a:bodyPr vert="horz" wrap="square" lIns="73152" tIns="36576" rIns="73152" bIns="36576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21239739" flipH="0" flipV="0">
            <a:off x="390812" y="3305017"/>
            <a:ext cx="5890453" cy="381346"/>
          </a:xfrm>
          <a:prstGeom prst="ellipse">
            <a:avLst/>
          </a:prstGeom>
          <a:noFill/>
          <a:ln w="25400" cap="flat">
            <a:gradFill>
              <a:gsLst>
                <a:gs pos="20000">
                  <a:schemeClr val="accent2">
                    <a:alpha val="0"/>
                  </a:schemeClr>
                </a:gs>
                <a:gs pos="70000">
                  <a:schemeClr val="accent2">
                    <a:alpha val="80000"/>
                  </a:schemeClr>
                </a:gs>
                <a:gs pos="90000">
                  <a:schemeClr val="accent2"/>
                </a:gs>
              </a:gsLst>
              <a:lin ang="5400000" scaled="0"/>
            </a:gradFill>
            <a:miter/>
          </a:ln>
          <a:effectLst/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1" flipV="0">
            <a:off x="354520" y="1365404"/>
            <a:ext cx="184513" cy="184513"/>
          </a:xfrm>
          <a:custGeom>
            <a:avLst/>
            <a:gdLst>
              <a:gd name="connsiteX0" fmla="*/ 104503 w 184513"/>
              <a:gd name="connsiteY0" fmla="*/ 0 h 184513"/>
              <a:gd name="connsiteX1" fmla="*/ 80010 w 184513"/>
              <a:gd name="connsiteY1" fmla="*/ 0 h 184513"/>
              <a:gd name="connsiteX2" fmla="*/ 80010 w 184513"/>
              <a:gd name="connsiteY2" fmla="*/ 80010 h 184513"/>
              <a:gd name="connsiteX3" fmla="*/ 0 w 184513"/>
              <a:gd name="connsiteY3" fmla="*/ 80010 h 184513"/>
              <a:gd name="connsiteX4" fmla="*/ 0 w 184513"/>
              <a:gd name="connsiteY4" fmla="*/ 104503 h 184513"/>
              <a:gd name="connsiteX5" fmla="*/ 80010 w 184513"/>
              <a:gd name="connsiteY5" fmla="*/ 104503 h 184513"/>
              <a:gd name="connsiteX6" fmla="*/ 80010 w 184513"/>
              <a:gd name="connsiteY6" fmla="*/ 184513 h 184513"/>
              <a:gd name="connsiteX7" fmla="*/ 104503 w 184513"/>
              <a:gd name="connsiteY7" fmla="*/ 184513 h 184513"/>
              <a:gd name="connsiteX8" fmla="*/ 104503 w 184513"/>
              <a:gd name="connsiteY8" fmla="*/ 104503 h 184513"/>
              <a:gd name="connsiteX9" fmla="*/ 184513 w 184513"/>
              <a:gd name="connsiteY9" fmla="*/ 104503 h 184513"/>
              <a:gd name="connsiteX10" fmla="*/ 184513 w 184513"/>
              <a:gd name="connsiteY10" fmla="*/ 80010 h 184513"/>
              <a:gd name="connsiteX11" fmla="*/ 104503 w 184513"/>
              <a:gd name="connsiteY11" fmla="*/ 80010 h 184513"/>
            </a:gdLst>
            <a:rect l="l" t="t" r="r" b="b"/>
            <a:pathLst>
              <a:path w="184513" h="184513">
                <a:moveTo>
                  <a:pt x="104503" y="0"/>
                </a:moveTo>
                <a:lnTo>
                  <a:pt x="80010" y="0"/>
                </a:lnTo>
                <a:lnTo>
                  <a:pt x="80010" y="80010"/>
                </a:lnTo>
                <a:lnTo>
                  <a:pt x="0" y="80010"/>
                </a:lnTo>
                <a:lnTo>
                  <a:pt x="0" y="104503"/>
                </a:lnTo>
                <a:lnTo>
                  <a:pt x="80010" y="104503"/>
                </a:lnTo>
                <a:lnTo>
                  <a:pt x="80010" y="184513"/>
                </a:lnTo>
                <a:lnTo>
                  <a:pt x="104503" y="184513"/>
                </a:lnTo>
                <a:lnTo>
                  <a:pt x="104503" y="104503"/>
                </a:lnTo>
                <a:lnTo>
                  <a:pt x="184513" y="104503"/>
                </a:lnTo>
                <a:lnTo>
                  <a:pt x="184513" y="80010"/>
                </a:lnTo>
                <a:lnTo>
                  <a:pt x="104503" y="80010"/>
                </a:lnTo>
                <a:close/>
              </a:path>
            </a:pathLst>
          </a:custGeom>
          <a:solidFill>
            <a:schemeClr val="accent2"/>
          </a:solidFill>
          <a:ln w="1632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1" flipV="0">
            <a:off x="492836" y="1563010"/>
            <a:ext cx="101867" cy="101867"/>
          </a:xfrm>
          <a:custGeom>
            <a:avLst/>
            <a:gdLst>
              <a:gd name="connsiteX0" fmla="*/ 104503 w 184513"/>
              <a:gd name="connsiteY0" fmla="*/ 0 h 184513"/>
              <a:gd name="connsiteX1" fmla="*/ 80010 w 184513"/>
              <a:gd name="connsiteY1" fmla="*/ 0 h 184513"/>
              <a:gd name="connsiteX2" fmla="*/ 80010 w 184513"/>
              <a:gd name="connsiteY2" fmla="*/ 80010 h 184513"/>
              <a:gd name="connsiteX3" fmla="*/ 0 w 184513"/>
              <a:gd name="connsiteY3" fmla="*/ 80010 h 184513"/>
              <a:gd name="connsiteX4" fmla="*/ 0 w 184513"/>
              <a:gd name="connsiteY4" fmla="*/ 104503 h 184513"/>
              <a:gd name="connsiteX5" fmla="*/ 80010 w 184513"/>
              <a:gd name="connsiteY5" fmla="*/ 104503 h 184513"/>
              <a:gd name="connsiteX6" fmla="*/ 80010 w 184513"/>
              <a:gd name="connsiteY6" fmla="*/ 184513 h 184513"/>
              <a:gd name="connsiteX7" fmla="*/ 104503 w 184513"/>
              <a:gd name="connsiteY7" fmla="*/ 184513 h 184513"/>
              <a:gd name="connsiteX8" fmla="*/ 104503 w 184513"/>
              <a:gd name="connsiteY8" fmla="*/ 104503 h 184513"/>
              <a:gd name="connsiteX9" fmla="*/ 184513 w 184513"/>
              <a:gd name="connsiteY9" fmla="*/ 104503 h 184513"/>
              <a:gd name="connsiteX10" fmla="*/ 184513 w 184513"/>
              <a:gd name="connsiteY10" fmla="*/ 80010 h 184513"/>
              <a:gd name="connsiteX11" fmla="*/ 104503 w 184513"/>
              <a:gd name="connsiteY11" fmla="*/ 80010 h 184513"/>
            </a:gdLst>
            <a:rect l="l" t="t" r="r" b="b"/>
            <a:pathLst>
              <a:path w="184513" h="184513">
                <a:moveTo>
                  <a:pt x="104503" y="0"/>
                </a:moveTo>
                <a:lnTo>
                  <a:pt x="80010" y="0"/>
                </a:lnTo>
                <a:lnTo>
                  <a:pt x="80010" y="80010"/>
                </a:lnTo>
                <a:lnTo>
                  <a:pt x="0" y="80010"/>
                </a:lnTo>
                <a:lnTo>
                  <a:pt x="0" y="104503"/>
                </a:lnTo>
                <a:lnTo>
                  <a:pt x="80010" y="104503"/>
                </a:lnTo>
                <a:lnTo>
                  <a:pt x="80010" y="184513"/>
                </a:lnTo>
                <a:lnTo>
                  <a:pt x="104503" y="184513"/>
                </a:lnTo>
                <a:lnTo>
                  <a:pt x="104503" y="104503"/>
                </a:lnTo>
                <a:lnTo>
                  <a:pt x="184513" y="104503"/>
                </a:lnTo>
                <a:lnTo>
                  <a:pt x="184513" y="80010"/>
                </a:lnTo>
                <a:lnTo>
                  <a:pt x="104503" y="80010"/>
                </a:lnTo>
                <a:close/>
              </a:path>
            </a:pathLst>
          </a:custGeom>
          <a:solidFill>
            <a:schemeClr val="accent1"/>
          </a:solidFill>
          <a:ln w="1632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5013794" y="5684510"/>
            <a:ext cx="184513" cy="184513"/>
          </a:xfrm>
          <a:custGeom>
            <a:avLst/>
            <a:gdLst>
              <a:gd name="connsiteX0" fmla="*/ 104503 w 184513"/>
              <a:gd name="connsiteY0" fmla="*/ 0 h 184513"/>
              <a:gd name="connsiteX1" fmla="*/ 80010 w 184513"/>
              <a:gd name="connsiteY1" fmla="*/ 0 h 184513"/>
              <a:gd name="connsiteX2" fmla="*/ 80010 w 184513"/>
              <a:gd name="connsiteY2" fmla="*/ 80010 h 184513"/>
              <a:gd name="connsiteX3" fmla="*/ 0 w 184513"/>
              <a:gd name="connsiteY3" fmla="*/ 80010 h 184513"/>
              <a:gd name="connsiteX4" fmla="*/ 0 w 184513"/>
              <a:gd name="connsiteY4" fmla="*/ 104503 h 184513"/>
              <a:gd name="connsiteX5" fmla="*/ 80010 w 184513"/>
              <a:gd name="connsiteY5" fmla="*/ 104503 h 184513"/>
              <a:gd name="connsiteX6" fmla="*/ 80010 w 184513"/>
              <a:gd name="connsiteY6" fmla="*/ 184513 h 184513"/>
              <a:gd name="connsiteX7" fmla="*/ 104503 w 184513"/>
              <a:gd name="connsiteY7" fmla="*/ 184513 h 184513"/>
              <a:gd name="connsiteX8" fmla="*/ 104503 w 184513"/>
              <a:gd name="connsiteY8" fmla="*/ 104503 h 184513"/>
              <a:gd name="connsiteX9" fmla="*/ 184513 w 184513"/>
              <a:gd name="connsiteY9" fmla="*/ 104503 h 184513"/>
              <a:gd name="connsiteX10" fmla="*/ 184513 w 184513"/>
              <a:gd name="connsiteY10" fmla="*/ 80010 h 184513"/>
              <a:gd name="connsiteX11" fmla="*/ 104503 w 184513"/>
              <a:gd name="connsiteY11" fmla="*/ 80010 h 184513"/>
            </a:gdLst>
            <a:rect l="l" t="t" r="r" b="b"/>
            <a:pathLst>
              <a:path w="184513" h="184513">
                <a:moveTo>
                  <a:pt x="104503" y="0"/>
                </a:moveTo>
                <a:lnTo>
                  <a:pt x="80010" y="0"/>
                </a:lnTo>
                <a:lnTo>
                  <a:pt x="80010" y="80010"/>
                </a:lnTo>
                <a:lnTo>
                  <a:pt x="0" y="80010"/>
                </a:lnTo>
                <a:lnTo>
                  <a:pt x="0" y="104503"/>
                </a:lnTo>
                <a:lnTo>
                  <a:pt x="80010" y="104503"/>
                </a:lnTo>
                <a:lnTo>
                  <a:pt x="80010" y="184513"/>
                </a:lnTo>
                <a:lnTo>
                  <a:pt x="104503" y="184513"/>
                </a:lnTo>
                <a:lnTo>
                  <a:pt x="104503" y="104503"/>
                </a:lnTo>
                <a:lnTo>
                  <a:pt x="184513" y="104503"/>
                </a:lnTo>
                <a:lnTo>
                  <a:pt x="184513" y="80010"/>
                </a:lnTo>
                <a:lnTo>
                  <a:pt x="104503" y="80010"/>
                </a:lnTo>
                <a:close/>
              </a:path>
            </a:pathLst>
          </a:custGeom>
          <a:solidFill>
            <a:schemeClr val="accent2"/>
          </a:solidFill>
          <a:ln w="1632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4958124" y="5882116"/>
            <a:ext cx="101867" cy="101867"/>
          </a:xfrm>
          <a:custGeom>
            <a:avLst/>
            <a:gdLst>
              <a:gd name="connsiteX0" fmla="*/ 104503 w 184513"/>
              <a:gd name="connsiteY0" fmla="*/ 0 h 184513"/>
              <a:gd name="connsiteX1" fmla="*/ 80010 w 184513"/>
              <a:gd name="connsiteY1" fmla="*/ 0 h 184513"/>
              <a:gd name="connsiteX2" fmla="*/ 80010 w 184513"/>
              <a:gd name="connsiteY2" fmla="*/ 80010 h 184513"/>
              <a:gd name="connsiteX3" fmla="*/ 0 w 184513"/>
              <a:gd name="connsiteY3" fmla="*/ 80010 h 184513"/>
              <a:gd name="connsiteX4" fmla="*/ 0 w 184513"/>
              <a:gd name="connsiteY4" fmla="*/ 104503 h 184513"/>
              <a:gd name="connsiteX5" fmla="*/ 80010 w 184513"/>
              <a:gd name="connsiteY5" fmla="*/ 104503 h 184513"/>
              <a:gd name="connsiteX6" fmla="*/ 80010 w 184513"/>
              <a:gd name="connsiteY6" fmla="*/ 184513 h 184513"/>
              <a:gd name="connsiteX7" fmla="*/ 104503 w 184513"/>
              <a:gd name="connsiteY7" fmla="*/ 184513 h 184513"/>
              <a:gd name="connsiteX8" fmla="*/ 104503 w 184513"/>
              <a:gd name="connsiteY8" fmla="*/ 104503 h 184513"/>
              <a:gd name="connsiteX9" fmla="*/ 184513 w 184513"/>
              <a:gd name="connsiteY9" fmla="*/ 104503 h 184513"/>
              <a:gd name="connsiteX10" fmla="*/ 184513 w 184513"/>
              <a:gd name="connsiteY10" fmla="*/ 80010 h 184513"/>
              <a:gd name="connsiteX11" fmla="*/ 104503 w 184513"/>
              <a:gd name="connsiteY11" fmla="*/ 80010 h 184513"/>
            </a:gdLst>
            <a:rect l="l" t="t" r="r" b="b"/>
            <a:pathLst>
              <a:path w="184513" h="184513">
                <a:moveTo>
                  <a:pt x="104503" y="0"/>
                </a:moveTo>
                <a:lnTo>
                  <a:pt x="80010" y="0"/>
                </a:lnTo>
                <a:lnTo>
                  <a:pt x="80010" y="80010"/>
                </a:lnTo>
                <a:lnTo>
                  <a:pt x="0" y="80010"/>
                </a:lnTo>
                <a:lnTo>
                  <a:pt x="0" y="104503"/>
                </a:lnTo>
                <a:lnTo>
                  <a:pt x="80010" y="104503"/>
                </a:lnTo>
                <a:lnTo>
                  <a:pt x="80010" y="184513"/>
                </a:lnTo>
                <a:lnTo>
                  <a:pt x="104503" y="184513"/>
                </a:lnTo>
                <a:lnTo>
                  <a:pt x="104503" y="104503"/>
                </a:lnTo>
                <a:lnTo>
                  <a:pt x="184513" y="104503"/>
                </a:lnTo>
                <a:lnTo>
                  <a:pt x="184513" y="80010"/>
                </a:lnTo>
                <a:lnTo>
                  <a:pt x="104503" y="80010"/>
                </a:lnTo>
                <a:close/>
              </a:path>
            </a:pathLst>
          </a:custGeom>
          <a:solidFill>
            <a:schemeClr val="accent1"/>
          </a:solidFill>
          <a:ln w="1632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421027" y="333692"/>
            <a:ext cx="1321317" cy="164080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1676218" y="6276762"/>
            <a:ext cx="268552" cy="26855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0" flipV="0">
            <a:off x="1745617" y="6346151"/>
            <a:ext cx="129755" cy="129774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0" flipH="0" flipV="0">
            <a:off x="1255699" y="6276762"/>
            <a:ext cx="268552" cy="26855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0" flipH="0" flipV="0">
            <a:off x="1321131" y="6346151"/>
            <a:ext cx="137688" cy="129774"/>
          </a:xfrm>
          <a:custGeom>
            <a:avLst/>
            <a:gdLst>
              <a:gd name="connsiteX0" fmla="*/ 1110072 w 1498885"/>
              <a:gd name="connsiteY0" fmla="*/ 1039039 h 1412736"/>
              <a:gd name="connsiteX1" fmla="*/ 1149511 w 1498885"/>
              <a:gd name="connsiteY1" fmla="*/ 1055363 h 1412736"/>
              <a:gd name="connsiteX2" fmla="*/ 1371451 w 1498885"/>
              <a:gd name="connsiteY2" fmla="*/ 1277303 h 1412736"/>
              <a:gd name="connsiteX3" fmla="*/ 1371451 w 1498885"/>
              <a:gd name="connsiteY3" fmla="*/ 1356182 h 1412736"/>
              <a:gd name="connsiteX4" fmla="*/ 1332012 w 1498885"/>
              <a:gd name="connsiteY4" fmla="*/ 1372553 h 1412736"/>
              <a:gd name="connsiteX5" fmla="*/ 1292572 w 1498885"/>
              <a:gd name="connsiteY5" fmla="*/ 1356182 h 1412736"/>
              <a:gd name="connsiteX6" fmla="*/ 1070632 w 1498885"/>
              <a:gd name="connsiteY6" fmla="*/ 1134242 h 1412736"/>
              <a:gd name="connsiteX7" fmla="*/ 1070632 w 1498885"/>
              <a:gd name="connsiteY7" fmla="*/ 1055363 h 1412736"/>
              <a:gd name="connsiteX8" fmla="*/ 1110072 w 1498885"/>
              <a:gd name="connsiteY8" fmla="*/ 1039039 h 1412736"/>
              <a:gd name="connsiteX9" fmla="*/ 1110072 w 1498885"/>
              <a:gd name="connsiteY9" fmla="*/ 705989 h 1412736"/>
              <a:gd name="connsiteX10" fmla="*/ 1443075 w 1498885"/>
              <a:gd name="connsiteY10" fmla="*/ 705989 h 1412736"/>
              <a:gd name="connsiteX11" fmla="*/ 1498885 w 1498885"/>
              <a:gd name="connsiteY11" fmla="*/ 761800 h 1412736"/>
              <a:gd name="connsiteX12" fmla="*/ 1443075 w 1498885"/>
              <a:gd name="connsiteY12" fmla="*/ 817611 h 1412736"/>
              <a:gd name="connsiteX13" fmla="*/ 1110072 w 1498885"/>
              <a:gd name="connsiteY13" fmla="*/ 817611 h 1412736"/>
              <a:gd name="connsiteX14" fmla="*/ 1054261 w 1498885"/>
              <a:gd name="connsiteY14" fmla="*/ 761800 h 1412736"/>
              <a:gd name="connsiteX15" fmla="*/ 1110072 w 1498885"/>
              <a:gd name="connsiteY15" fmla="*/ 705989 h 1412736"/>
              <a:gd name="connsiteX16" fmla="*/ 1332012 w 1498885"/>
              <a:gd name="connsiteY16" fmla="*/ 151093 h 1412736"/>
              <a:gd name="connsiteX17" fmla="*/ 1371451 w 1498885"/>
              <a:gd name="connsiteY17" fmla="*/ 167418 h 1412736"/>
              <a:gd name="connsiteX18" fmla="*/ 1371451 w 1498885"/>
              <a:gd name="connsiteY18" fmla="*/ 246297 h 1412736"/>
              <a:gd name="connsiteX19" fmla="*/ 1149511 w 1498885"/>
              <a:gd name="connsiteY19" fmla="*/ 468236 h 1412736"/>
              <a:gd name="connsiteX20" fmla="*/ 1110072 w 1498885"/>
              <a:gd name="connsiteY20" fmla="*/ 484608 h 1412736"/>
              <a:gd name="connsiteX21" fmla="*/ 1070632 w 1498885"/>
              <a:gd name="connsiteY21" fmla="*/ 468236 h 1412736"/>
              <a:gd name="connsiteX22" fmla="*/ 1070632 w 1498885"/>
              <a:gd name="connsiteY22" fmla="*/ 389358 h 1412736"/>
              <a:gd name="connsiteX23" fmla="*/ 1292572 w 1498885"/>
              <a:gd name="connsiteY23" fmla="*/ 167418 h 1412736"/>
              <a:gd name="connsiteX24" fmla="*/ 1332012 w 1498885"/>
              <a:gd name="connsiteY24" fmla="*/ 151093 h 1412736"/>
              <a:gd name="connsiteX25" fmla="*/ 709724 w 1498885"/>
              <a:gd name="connsiteY25" fmla="*/ 111607 h 1412736"/>
              <a:gd name="connsiteX26" fmla="*/ 649635 w 1498885"/>
              <a:gd name="connsiteY26" fmla="*/ 127420 h 1412736"/>
              <a:gd name="connsiteX27" fmla="*/ 174129 w 1498885"/>
              <a:gd name="connsiteY27" fmla="*/ 394752 h 1412736"/>
              <a:gd name="connsiteX28" fmla="*/ 111621 w 1498885"/>
              <a:gd name="connsiteY28" fmla="*/ 501536 h 1412736"/>
              <a:gd name="connsiteX29" fmla="*/ 111621 w 1498885"/>
              <a:gd name="connsiteY29" fmla="*/ 910814 h 1412736"/>
              <a:gd name="connsiteX30" fmla="*/ 174129 w 1498885"/>
              <a:gd name="connsiteY30" fmla="*/ 1017598 h 1412736"/>
              <a:gd name="connsiteX31" fmla="*/ 649821 w 1498885"/>
              <a:gd name="connsiteY31" fmla="*/ 1284930 h 1412736"/>
              <a:gd name="connsiteX32" fmla="*/ 771674 w 1498885"/>
              <a:gd name="connsiteY32" fmla="*/ 1283814 h 1412736"/>
              <a:gd name="connsiteX33" fmla="*/ 832321 w 1498885"/>
              <a:gd name="connsiteY33" fmla="*/ 1178146 h 1412736"/>
              <a:gd name="connsiteX34" fmla="*/ 832321 w 1498885"/>
              <a:gd name="connsiteY34" fmla="*/ 234204 h 1412736"/>
              <a:gd name="connsiteX35" fmla="*/ 771674 w 1498885"/>
              <a:gd name="connsiteY35" fmla="*/ 128536 h 1412736"/>
              <a:gd name="connsiteX36" fmla="*/ 709724 w 1498885"/>
              <a:gd name="connsiteY36" fmla="*/ 111607 h 1412736"/>
              <a:gd name="connsiteX37" fmla="*/ 711864 w 1498885"/>
              <a:gd name="connsiteY37" fmla="*/ 9 h 1412736"/>
              <a:gd name="connsiteX38" fmla="*/ 828043 w 1498885"/>
              <a:gd name="connsiteY38" fmla="*/ 32356 h 1412736"/>
              <a:gd name="connsiteX39" fmla="*/ 943942 w 1498885"/>
              <a:gd name="connsiteY39" fmla="*/ 234390 h 1412736"/>
              <a:gd name="connsiteX40" fmla="*/ 943942 w 1498885"/>
              <a:gd name="connsiteY40" fmla="*/ 1178518 h 1412736"/>
              <a:gd name="connsiteX41" fmla="*/ 828043 w 1498885"/>
              <a:gd name="connsiteY41" fmla="*/ 1380552 h 1412736"/>
              <a:gd name="connsiteX42" fmla="*/ 709910 w 1498885"/>
              <a:gd name="connsiteY42" fmla="*/ 1412736 h 1412736"/>
              <a:gd name="connsiteX43" fmla="*/ 595126 w 1498885"/>
              <a:gd name="connsiteY43" fmla="*/ 1382413 h 1412736"/>
              <a:gd name="connsiteX44" fmla="*/ 119435 w 1498885"/>
              <a:gd name="connsiteY44" fmla="*/ 1115080 h 1412736"/>
              <a:gd name="connsiteX45" fmla="*/ 0 w 1498885"/>
              <a:gd name="connsiteY45" fmla="*/ 911000 h 1412736"/>
              <a:gd name="connsiteX46" fmla="*/ 0 w 1498885"/>
              <a:gd name="connsiteY46" fmla="*/ 501722 h 1412736"/>
              <a:gd name="connsiteX47" fmla="*/ 119435 w 1498885"/>
              <a:gd name="connsiteY47" fmla="*/ 297642 h 1412736"/>
              <a:gd name="connsiteX48" fmla="*/ 595126 w 1498885"/>
              <a:gd name="connsiteY48" fmla="*/ 30309 h 1412736"/>
              <a:gd name="connsiteX49" fmla="*/ 711864 w 1498885"/>
              <a:gd name="connsiteY49" fmla="*/ 9 h 1412736"/>
            </a:gdLst>
            <a:rect l="l" t="t" r="r" b="b"/>
            <a:pathLst>
              <a:path w="1498885" h="1412736">
                <a:moveTo>
                  <a:pt x="1110072" y="1039039"/>
                </a:moveTo>
                <a:cubicBezTo>
                  <a:pt x="1124350" y="1039039"/>
                  <a:pt x="1138628" y="1044480"/>
                  <a:pt x="1149511" y="1055363"/>
                </a:cubicBezTo>
                <a:lnTo>
                  <a:pt x="1371451" y="1277303"/>
                </a:lnTo>
                <a:cubicBezTo>
                  <a:pt x="1393217" y="1299070"/>
                  <a:pt x="1393217" y="1334416"/>
                  <a:pt x="1371451" y="1356182"/>
                </a:cubicBezTo>
                <a:cubicBezTo>
                  <a:pt x="1360661" y="1366972"/>
                  <a:pt x="1346336" y="1372553"/>
                  <a:pt x="1332012" y="1372553"/>
                </a:cubicBezTo>
                <a:cubicBezTo>
                  <a:pt x="1317687" y="1372553"/>
                  <a:pt x="1303362" y="1367158"/>
                  <a:pt x="1292572" y="1356182"/>
                </a:cubicBezTo>
                <a:lnTo>
                  <a:pt x="1070632" y="1134242"/>
                </a:lnTo>
                <a:cubicBezTo>
                  <a:pt x="1048866" y="1112476"/>
                  <a:pt x="1048866" y="1077130"/>
                  <a:pt x="1070632" y="1055363"/>
                </a:cubicBezTo>
                <a:cubicBezTo>
                  <a:pt x="1081515" y="1044480"/>
                  <a:pt x="1095793" y="1039039"/>
                  <a:pt x="1110072" y="1039039"/>
                </a:cubicBezTo>
                <a:close/>
                <a:moveTo>
                  <a:pt x="1110072" y="705989"/>
                </a:moveTo>
                <a:lnTo>
                  <a:pt x="1443075" y="705989"/>
                </a:lnTo>
                <a:cubicBezTo>
                  <a:pt x="1473956" y="705989"/>
                  <a:pt x="1498885" y="730918"/>
                  <a:pt x="1498885" y="761800"/>
                </a:cubicBezTo>
                <a:cubicBezTo>
                  <a:pt x="1498885" y="792682"/>
                  <a:pt x="1473770" y="817611"/>
                  <a:pt x="1443075" y="817611"/>
                </a:cubicBezTo>
                <a:lnTo>
                  <a:pt x="1110072" y="817611"/>
                </a:lnTo>
                <a:cubicBezTo>
                  <a:pt x="1079190" y="817611"/>
                  <a:pt x="1054261" y="792682"/>
                  <a:pt x="1054261" y="761800"/>
                </a:cubicBezTo>
                <a:cubicBezTo>
                  <a:pt x="1054261" y="730918"/>
                  <a:pt x="1079190" y="705989"/>
                  <a:pt x="1110072" y="705989"/>
                </a:cubicBezTo>
                <a:close/>
                <a:moveTo>
                  <a:pt x="1332012" y="151093"/>
                </a:moveTo>
                <a:cubicBezTo>
                  <a:pt x="1346290" y="151093"/>
                  <a:pt x="1360568" y="156535"/>
                  <a:pt x="1371451" y="167418"/>
                </a:cubicBezTo>
                <a:cubicBezTo>
                  <a:pt x="1393217" y="189184"/>
                  <a:pt x="1393217" y="224530"/>
                  <a:pt x="1371451" y="246297"/>
                </a:cubicBezTo>
                <a:lnTo>
                  <a:pt x="1149511" y="468236"/>
                </a:lnTo>
                <a:cubicBezTo>
                  <a:pt x="1138721" y="479213"/>
                  <a:pt x="1124396" y="484608"/>
                  <a:pt x="1110072" y="484608"/>
                </a:cubicBezTo>
                <a:cubicBezTo>
                  <a:pt x="1095747" y="484608"/>
                  <a:pt x="1081422" y="479213"/>
                  <a:pt x="1070632" y="468236"/>
                </a:cubicBezTo>
                <a:cubicBezTo>
                  <a:pt x="1048866" y="446470"/>
                  <a:pt x="1048866" y="411124"/>
                  <a:pt x="1070632" y="389358"/>
                </a:cubicBezTo>
                <a:lnTo>
                  <a:pt x="1292572" y="167418"/>
                </a:lnTo>
                <a:cubicBezTo>
                  <a:pt x="1303455" y="156535"/>
                  <a:pt x="1317733" y="151093"/>
                  <a:pt x="1332012" y="151093"/>
                </a:cubicBezTo>
                <a:close/>
                <a:moveTo>
                  <a:pt x="709724" y="111607"/>
                </a:moveTo>
                <a:cubicBezTo>
                  <a:pt x="689074" y="111607"/>
                  <a:pt x="668610" y="116816"/>
                  <a:pt x="649635" y="127420"/>
                </a:cubicBezTo>
                <a:lnTo>
                  <a:pt x="174129" y="394752"/>
                </a:lnTo>
                <a:cubicBezTo>
                  <a:pt x="135620" y="416332"/>
                  <a:pt x="111621" y="457260"/>
                  <a:pt x="111621" y="501536"/>
                </a:cubicBezTo>
                <a:lnTo>
                  <a:pt x="111621" y="910814"/>
                </a:lnTo>
                <a:cubicBezTo>
                  <a:pt x="111621" y="955090"/>
                  <a:pt x="135620" y="996018"/>
                  <a:pt x="174129" y="1017598"/>
                </a:cubicBezTo>
                <a:lnTo>
                  <a:pt x="649821" y="1284930"/>
                </a:lnTo>
                <a:cubicBezTo>
                  <a:pt x="688144" y="1306510"/>
                  <a:pt x="733723" y="1306138"/>
                  <a:pt x="771674" y="1283814"/>
                </a:cubicBezTo>
                <a:cubicBezTo>
                  <a:pt x="809625" y="1261676"/>
                  <a:pt x="832321" y="1222050"/>
                  <a:pt x="832321" y="1178146"/>
                </a:cubicBezTo>
                <a:lnTo>
                  <a:pt x="832321" y="234204"/>
                </a:lnTo>
                <a:cubicBezTo>
                  <a:pt x="832321" y="190113"/>
                  <a:pt x="809625" y="150674"/>
                  <a:pt x="771674" y="128536"/>
                </a:cubicBezTo>
                <a:cubicBezTo>
                  <a:pt x="752326" y="117188"/>
                  <a:pt x="731118" y="111607"/>
                  <a:pt x="709724" y="111607"/>
                </a:cubicBezTo>
                <a:close/>
                <a:moveTo>
                  <a:pt x="711864" y="9"/>
                </a:moveTo>
                <a:cubicBezTo>
                  <a:pt x="751861" y="358"/>
                  <a:pt x="791766" y="11148"/>
                  <a:pt x="828043" y="32356"/>
                </a:cubicBezTo>
                <a:cubicBezTo>
                  <a:pt x="900596" y="74772"/>
                  <a:pt x="943942" y="150302"/>
                  <a:pt x="943942" y="234390"/>
                </a:cubicBezTo>
                <a:lnTo>
                  <a:pt x="943942" y="1178518"/>
                </a:lnTo>
                <a:cubicBezTo>
                  <a:pt x="943942" y="1262606"/>
                  <a:pt x="900596" y="1338136"/>
                  <a:pt x="828043" y="1380552"/>
                </a:cubicBezTo>
                <a:cubicBezTo>
                  <a:pt x="791208" y="1401946"/>
                  <a:pt x="750466" y="1412736"/>
                  <a:pt x="709910" y="1412736"/>
                </a:cubicBezTo>
                <a:cubicBezTo>
                  <a:pt x="670471" y="1412736"/>
                  <a:pt x="631217" y="1402691"/>
                  <a:pt x="595126" y="1382413"/>
                </a:cubicBezTo>
                <a:lnTo>
                  <a:pt x="119435" y="1115080"/>
                </a:lnTo>
                <a:cubicBezTo>
                  <a:pt x="45765" y="1073594"/>
                  <a:pt x="0" y="995460"/>
                  <a:pt x="0" y="911000"/>
                </a:cubicBezTo>
                <a:lnTo>
                  <a:pt x="0" y="501722"/>
                </a:lnTo>
                <a:cubicBezTo>
                  <a:pt x="0" y="417262"/>
                  <a:pt x="45765" y="338942"/>
                  <a:pt x="119435" y="297642"/>
                </a:cubicBezTo>
                <a:lnTo>
                  <a:pt x="595126" y="30309"/>
                </a:lnTo>
                <a:cubicBezTo>
                  <a:pt x="631775" y="9752"/>
                  <a:pt x="671866" y="-340"/>
                  <a:pt x="711864" y="9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0" flipV="0">
            <a:off x="835180" y="6276762"/>
            <a:ext cx="268552" cy="26855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0" flipH="0" flipV="0">
            <a:off x="902406" y="6346151"/>
            <a:ext cx="134100" cy="129774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rot="0" flipH="0" flipV="0">
            <a:off x="414661" y="6276762"/>
            <a:ext cx="268552" cy="26855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rot="0" flipH="0" flipV="0">
            <a:off x="489036" y="6346151"/>
            <a:ext cx="119802" cy="129774"/>
          </a:xfrm>
          <a:custGeom>
            <a:avLst/>
            <a:gdLst>
              <a:gd name="connsiteX0" fmla="*/ 712625 w 1425436"/>
              <a:gd name="connsiteY0" fmla="*/ 111621 h 1544091"/>
              <a:gd name="connsiteX1" fmla="*/ 902567 w 1425436"/>
              <a:gd name="connsiteY1" fmla="*/ 190314 h 1544091"/>
              <a:gd name="connsiteX2" fmla="*/ 981260 w 1425436"/>
              <a:gd name="connsiteY2" fmla="*/ 380256 h 1544091"/>
              <a:gd name="connsiteX3" fmla="*/ 902567 w 1425436"/>
              <a:gd name="connsiteY3" fmla="*/ 570198 h 1544091"/>
              <a:gd name="connsiteX4" fmla="*/ 712625 w 1425436"/>
              <a:gd name="connsiteY4" fmla="*/ 648891 h 1544091"/>
              <a:gd name="connsiteX5" fmla="*/ 522684 w 1425436"/>
              <a:gd name="connsiteY5" fmla="*/ 570198 h 1544091"/>
              <a:gd name="connsiteX6" fmla="*/ 444177 w 1425436"/>
              <a:gd name="connsiteY6" fmla="*/ 380070 h 1544091"/>
              <a:gd name="connsiteX7" fmla="*/ 522870 w 1425436"/>
              <a:gd name="connsiteY7" fmla="*/ 190128 h 1544091"/>
              <a:gd name="connsiteX8" fmla="*/ 712625 w 1425436"/>
              <a:gd name="connsiteY8" fmla="*/ 111621 h 1544091"/>
              <a:gd name="connsiteX9" fmla="*/ 712625 w 1425436"/>
              <a:gd name="connsiteY9" fmla="*/ 0 h 1544091"/>
              <a:gd name="connsiteX10" fmla="*/ 332556 w 1425436"/>
              <a:gd name="connsiteY10" fmla="*/ 380070 h 1544091"/>
              <a:gd name="connsiteX11" fmla="*/ 712625 w 1425436"/>
              <a:gd name="connsiteY11" fmla="*/ 760140 h 1544091"/>
              <a:gd name="connsiteX12" fmla="*/ 1092695 w 1425436"/>
              <a:gd name="connsiteY12" fmla="*/ 380070 h 1544091"/>
              <a:gd name="connsiteX13" fmla="*/ 712625 w 1425436"/>
              <a:gd name="connsiteY13" fmla="*/ 0 h 1544091"/>
              <a:gd name="connsiteX14" fmla="*/ 712625 w 1425436"/>
              <a:gd name="connsiteY14" fmla="*/ 943012 h 1544091"/>
              <a:gd name="connsiteX15" fmla="*/ 978842 w 1425436"/>
              <a:gd name="connsiteY15" fmla="*/ 976685 h 1544091"/>
              <a:gd name="connsiteX16" fmla="*/ 1146087 w 1425436"/>
              <a:gd name="connsiteY16" fmla="*/ 1059470 h 1544091"/>
              <a:gd name="connsiteX17" fmla="*/ 1248593 w 1425436"/>
              <a:gd name="connsiteY17" fmla="*/ 1174440 h 1544091"/>
              <a:gd name="connsiteX18" fmla="*/ 1310356 w 1425436"/>
              <a:gd name="connsiteY18" fmla="*/ 1316385 h 1544091"/>
              <a:gd name="connsiteX19" fmla="*/ 1296590 w 1425436"/>
              <a:gd name="connsiteY19" fmla="*/ 1390241 h 1544091"/>
              <a:gd name="connsiteX20" fmla="*/ 1208595 w 1425436"/>
              <a:gd name="connsiteY20" fmla="*/ 1432285 h 1544091"/>
              <a:gd name="connsiteX21" fmla="*/ 216842 w 1425436"/>
              <a:gd name="connsiteY21" fmla="*/ 1432285 h 1544091"/>
              <a:gd name="connsiteX22" fmla="*/ 128847 w 1425436"/>
              <a:gd name="connsiteY22" fmla="*/ 1390241 h 1544091"/>
              <a:gd name="connsiteX23" fmla="*/ 115081 w 1425436"/>
              <a:gd name="connsiteY23" fmla="*/ 1316385 h 1544091"/>
              <a:gd name="connsiteX24" fmla="*/ 176844 w 1425436"/>
              <a:gd name="connsiteY24" fmla="*/ 1174440 h 1544091"/>
              <a:gd name="connsiteX25" fmla="*/ 279350 w 1425436"/>
              <a:gd name="connsiteY25" fmla="*/ 1059470 h 1544091"/>
              <a:gd name="connsiteX26" fmla="*/ 446595 w 1425436"/>
              <a:gd name="connsiteY26" fmla="*/ 976685 h 1544091"/>
              <a:gd name="connsiteX27" fmla="*/ 712625 w 1425436"/>
              <a:gd name="connsiteY27" fmla="*/ 943012 h 1544091"/>
              <a:gd name="connsiteX28" fmla="*/ 712625 w 1425436"/>
              <a:gd name="connsiteY28" fmla="*/ 831391 h 1544091"/>
              <a:gd name="connsiteX29" fmla="*/ 8296 w 1425436"/>
              <a:gd name="connsiteY29" fmla="*/ 1284387 h 1544091"/>
              <a:gd name="connsiteX30" fmla="*/ 216842 w 1425436"/>
              <a:gd name="connsiteY30" fmla="*/ 1544092 h 1544091"/>
              <a:gd name="connsiteX31" fmla="*/ 1208595 w 1425436"/>
              <a:gd name="connsiteY31" fmla="*/ 1544092 h 1544091"/>
              <a:gd name="connsiteX32" fmla="*/ 1417141 w 1425436"/>
              <a:gd name="connsiteY32" fmla="*/ 1284387 h 1544091"/>
              <a:gd name="connsiteX33" fmla="*/ 712625 w 1425436"/>
              <a:gd name="connsiteY33" fmla="*/ 831391 h 1544091"/>
            </a:gdLst>
            <a:rect l="l" t="t" r="r" b="b"/>
            <a:pathLst>
              <a:path w="1425436" h="1544091">
                <a:moveTo>
                  <a:pt x="712625" y="111621"/>
                </a:moveTo>
                <a:cubicBezTo>
                  <a:pt x="784435" y="111621"/>
                  <a:pt x="851780" y="139526"/>
                  <a:pt x="902567" y="190314"/>
                </a:cubicBezTo>
                <a:cubicBezTo>
                  <a:pt x="953355" y="241102"/>
                  <a:pt x="981260" y="308446"/>
                  <a:pt x="981260" y="380256"/>
                </a:cubicBezTo>
                <a:cubicBezTo>
                  <a:pt x="981260" y="452065"/>
                  <a:pt x="953355" y="519410"/>
                  <a:pt x="902567" y="570198"/>
                </a:cubicBezTo>
                <a:cubicBezTo>
                  <a:pt x="851780" y="620985"/>
                  <a:pt x="784435" y="648891"/>
                  <a:pt x="712625" y="648891"/>
                </a:cubicBezTo>
                <a:cubicBezTo>
                  <a:pt x="640816" y="648891"/>
                  <a:pt x="573471" y="620985"/>
                  <a:pt x="522684" y="570198"/>
                </a:cubicBezTo>
                <a:cubicBezTo>
                  <a:pt x="472082" y="519224"/>
                  <a:pt x="444177" y="451693"/>
                  <a:pt x="444177" y="380070"/>
                </a:cubicBezTo>
                <a:cubicBezTo>
                  <a:pt x="444177" y="308446"/>
                  <a:pt x="472082" y="240916"/>
                  <a:pt x="522870" y="190128"/>
                </a:cubicBezTo>
                <a:cubicBezTo>
                  <a:pt x="573471" y="139526"/>
                  <a:pt x="641002" y="111621"/>
                  <a:pt x="712625" y="111621"/>
                </a:cubicBezTo>
                <a:moveTo>
                  <a:pt x="712625" y="0"/>
                </a:moveTo>
                <a:cubicBezTo>
                  <a:pt x="502778" y="0"/>
                  <a:pt x="332556" y="170036"/>
                  <a:pt x="332556" y="380070"/>
                </a:cubicBezTo>
                <a:cubicBezTo>
                  <a:pt x="332556" y="589917"/>
                  <a:pt x="502778" y="760140"/>
                  <a:pt x="712625" y="760140"/>
                </a:cubicBezTo>
                <a:cubicBezTo>
                  <a:pt x="922473" y="760140"/>
                  <a:pt x="1092695" y="589917"/>
                  <a:pt x="1092695" y="380070"/>
                </a:cubicBezTo>
                <a:cubicBezTo>
                  <a:pt x="1092881" y="170036"/>
                  <a:pt x="922659" y="0"/>
                  <a:pt x="712625" y="0"/>
                </a:cubicBezTo>
                <a:close/>
                <a:moveTo>
                  <a:pt x="712625" y="943012"/>
                </a:moveTo>
                <a:cubicBezTo>
                  <a:pt x="813643" y="943012"/>
                  <a:pt x="903126" y="954360"/>
                  <a:pt x="978842" y="976685"/>
                </a:cubicBezTo>
                <a:cubicBezTo>
                  <a:pt x="1043582" y="995846"/>
                  <a:pt x="1099951" y="1023752"/>
                  <a:pt x="1146087" y="1059470"/>
                </a:cubicBezTo>
                <a:cubicBezTo>
                  <a:pt x="1186829" y="1091096"/>
                  <a:pt x="1220315" y="1128675"/>
                  <a:pt x="1248593" y="1174440"/>
                </a:cubicBezTo>
                <a:cubicBezTo>
                  <a:pt x="1273708" y="1215368"/>
                  <a:pt x="1293985" y="1261877"/>
                  <a:pt x="1310356" y="1316385"/>
                </a:cubicBezTo>
                <a:cubicBezTo>
                  <a:pt x="1320774" y="1350801"/>
                  <a:pt x="1306264" y="1377404"/>
                  <a:pt x="1296590" y="1390241"/>
                </a:cubicBezTo>
                <a:cubicBezTo>
                  <a:pt x="1276684" y="1417030"/>
                  <a:pt x="1244686" y="1432285"/>
                  <a:pt x="1208595" y="1432285"/>
                </a:cubicBezTo>
                <a:lnTo>
                  <a:pt x="216842" y="1432285"/>
                </a:lnTo>
                <a:cubicBezTo>
                  <a:pt x="180937" y="1432285"/>
                  <a:pt x="148753" y="1417030"/>
                  <a:pt x="128847" y="1390241"/>
                </a:cubicBezTo>
                <a:cubicBezTo>
                  <a:pt x="119359" y="1377404"/>
                  <a:pt x="104849" y="1350801"/>
                  <a:pt x="115081" y="1316385"/>
                </a:cubicBezTo>
                <a:cubicBezTo>
                  <a:pt x="131452" y="1261877"/>
                  <a:pt x="151543" y="1215368"/>
                  <a:pt x="176844" y="1174440"/>
                </a:cubicBezTo>
                <a:cubicBezTo>
                  <a:pt x="204936" y="1128675"/>
                  <a:pt x="238422" y="1090910"/>
                  <a:pt x="279350" y="1059470"/>
                </a:cubicBezTo>
                <a:cubicBezTo>
                  <a:pt x="325486" y="1023752"/>
                  <a:pt x="381855" y="995846"/>
                  <a:pt x="446595" y="976685"/>
                </a:cubicBezTo>
                <a:cubicBezTo>
                  <a:pt x="522125" y="954360"/>
                  <a:pt x="611794" y="943012"/>
                  <a:pt x="712625" y="943012"/>
                </a:cubicBezTo>
                <a:moveTo>
                  <a:pt x="712625" y="831391"/>
                </a:moveTo>
                <a:cubicBezTo>
                  <a:pt x="244561" y="831391"/>
                  <a:pt x="77501" y="1053331"/>
                  <a:pt x="8296" y="1284387"/>
                </a:cubicBezTo>
                <a:cubicBezTo>
                  <a:pt x="-30771" y="1414611"/>
                  <a:pt x="73037" y="1544092"/>
                  <a:pt x="216842" y="1544092"/>
                </a:cubicBezTo>
                <a:lnTo>
                  <a:pt x="1208595" y="1544092"/>
                </a:lnTo>
                <a:cubicBezTo>
                  <a:pt x="1352400" y="1544092"/>
                  <a:pt x="1456208" y="1414611"/>
                  <a:pt x="1417141" y="1284387"/>
                </a:cubicBezTo>
                <a:cubicBezTo>
                  <a:pt x="1347750" y="1053331"/>
                  <a:pt x="1180690" y="831391"/>
                  <a:pt x="712625" y="83139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 rot="0" flipH="0" flipV="0">
            <a:off x="889706" y="4829225"/>
            <a:ext cx="984287" cy="31652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800">
                <a:ln w="635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 rot="0" flipH="0" flipV="0">
            <a:off x="3156785" y="4827192"/>
            <a:ext cx="984196" cy="32058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800">
                <a:ln w="635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202X.X</a:t>
            </a: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rot="0" flipH="0" flipV="0">
            <a:off x="1766399" y="4818177"/>
            <a:ext cx="1005791" cy="33861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800">
                <a:ln w="635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AiPPT</a:t>
            </a: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 rot="0" flipH="0" flipV="0">
            <a:off x="2572522" y="4828208"/>
            <a:ext cx="756233" cy="31855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800">
                <a:ln w="635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 rot="0" flipH="0" flipV="0">
            <a:off x="9540239" y="241508"/>
            <a:ext cx="2230733" cy="29733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2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50000"/>
              </a:lnSpc>
            </a:pP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 rot="0" flipH="0" flipV="0">
            <a:off x="11386534" y="325289"/>
            <a:ext cx="129755" cy="129774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 rot="0" flipH="0" flipV="0">
            <a:off x="9743840" y="254366"/>
            <a:ext cx="1542030" cy="24622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PowerPoint design</a:t>
            </a: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 rot="0" flipH="1" flipV="0">
            <a:off x="3427217" y="1591451"/>
            <a:ext cx="601412" cy="432688"/>
          </a:xfrm>
          <a:custGeom>
            <a:avLst/>
            <a:gdLst>
              <a:gd name="connsiteX0" fmla="*/ 573801 w 1693851"/>
              <a:gd name="connsiteY0" fmla="*/ 983265 h 1218645"/>
              <a:gd name="connsiteX1" fmla="*/ 633893 w 1693851"/>
              <a:gd name="connsiteY1" fmla="*/ 983265 h 1218645"/>
              <a:gd name="connsiteX2" fmla="*/ 633893 w 1693851"/>
              <a:gd name="connsiteY2" fmla="*/ 1070909 h 1218645"/>
              <a:gd name="connsiteX3" fmla="*/ 721537 w 1693851"/>
              <a:gd name="connsiteY3" fmla="*/ 1070909 h 1218645"/>
              <a:gd name="connsiteX4" fmla="*/ 721537 w 1693851"/>
              <a:gd name="connsiteY4" fmla="*/ 1131001 h 1218645"/>
              <a:gd name="connsiteX5" fmla="*/ 633893 w 1693851"/>
              <a:gd name="connsiteY5" fmla="*/ 1131001 h 1218645"/>
              <a:gd name="connsiteX6" fmla="*/ 633893 w 1693851"/>
              <a:gd name="connsiteY6" fmla="*/ 1218645 h 1218645"/>
              <a:gd name="connsiteX7" fmla="*/ 573801 w 1693851"/>
              <a:gd name="connsiteY7" fmla="*/ 1218645 h 1218645"/>
              <a:gd name="connsiteX8" fmla="*/ 573801 w 1693851"/>
              <a:gd name="connsiteY8" fmla="*/ 1131001 h 1218645"/>
              <a:gd name="connsiteX9" fmla="*/ 486157 w 1693851"/>
              <a:gd name="connsiteY9" fmla="*/ 1131001 h 1218645"/>
              <a:gd name="connsiteX10" fmla="*/ 486157 w 1693851"/>
              <a:gd name="connsiteY10" fmla="*/ 1070909 h 1218645"/>
              <a:gd name="connsiteX11" fmla="*/ 573801 w 1693851"/>
              <a:gd name="connsiteY11" fmla="*/ 1070909 h 1218645"/>
              <a:gd name="connsiteX12" fmla="*/ 87644 w 1693851"/>
              <a:gd name="connsiteY12" fmla="*/ 983265 h 1218645"/>
              <a:gd name="connsiteX13" fmla="*/ 147736 w 1693851"/>
              <a:gd name="connsiteY13" fmla="*/ 983265 h 1218645"/>
              <a:gd name="connsiteX14" fmla="*/ 147736 w 1693851"/>
              <a:gd name="connsiteY14" fmla="*/ 1070909 h 1218645"/>
              <a:gd name="connsiteX15" fmla="*/ 235380 w 1693851"/>
              <a:gd name="connsiteY15" fmla="*/ 1070909 h 1218645"/>
              <a:gd name="connsiteX16" fmla="*/ 235380 w 1693851"/>
              <a:gd name="connsiteY16" fmla="*/ 1131001 h 1218645"/>
              <a:gd name="connsiteX17" fmla="*/ 147736 w 1693851"/>
              <a:gd name="connsiteY17" fmla="*/ 1131001 h 1218645"/>
              <a:gd name="connsiteX18" fmla="*/ 147736 w 1693851"/>
              <a:gd name="connsiteY18" fmla="*/ 1218645 h 1218645"/>
              <a:gd name="connsiteX19" fmla="*/ 87644 w 1693851"/>
              <a:gd name="connsiteY19" fmla="*/ 1218645 h 1218645"/>
              <a:gd name="connsiteX20" fmla="*/ 87644 w 1693851"/>
              <a:gd name="connsiteY20" fmla="*/ 1131001 h 1218645"/>
              <a:gd name="connsiteX21" fmla="*/ 0 w 1693851"/>
              <a:gd name="connsiteY21" fmla="*/ 1131001 h 1218645"/>
              <a:gd name="connsiteX22" fmla="*/ 0 w 1693851"/>
              <a:gd name="connsiteY22" fmla="*/ 1070909 h 1218645"/>
              <a:gd name="connsiteX23" fmla="*/ 87644 w 1693851"/>
              <a:gd name="connsiteY23" fmla="*/ 1070909 h 1218645"/>
              <a:gd name="connsiteX24" fmla="*/ 1546115 w 1693851"/>
              <a:gd name="connsiteY24" fmla="*/ 491632 h 1218645"/>
              <a:gd name="connsiteX25" fmla="*/ 1606207 w 1693851"/>
              <a:gd name="connsiteY25" fmla="*/ 491632 h 1218645"/>
              <a:gd name="connsiteX26" fmla="*/ 1606207 w 1693851"/>
              <a:gd name="connsiteY26" fmla="*/ 579276 h 1218645"/>
              <a:gd name="connsiteX27" fmla="*/ 1693851 w 1693851"/>
              <a:gd name="connsiteY27" fmla="*/ 579276 h 1218645"/>
              <a:gd name="connsiteX28" fmla="*/ 1693851 w 1693851"/>
              <a:gd name="connsiteY28" fmla="*/ 639368 h 1218645"/>
              <a:gd name="connsiteX29" fmla="*/ 1606207 w 1693851"/>
              <a:gd name="connsiteY29" fmla="*/ 639368 h 1218645"/>
              <a:gd name="connsiteX30" fmla="*/ 1606207 w 1693851"/>
              <a:gd name="connsiteY30" fmla="*/ 727012 h 1218645"/>
              <a:gd name="connsiteX31" fmla="*/ 1546115 w 1693851"/>
              <a:gd name="connsiteY31" fmla="*/ 727012 h 1218645"/>
              <a:gd name="connsiteX32" fmla="*/ 1546115 w 1693851"/>
              <a:gd name="connsiteY32" fmla="*/ 639368 h 1218645"/>
              <a:gd name="connsiteX33" fmla="*/ 1458471 w 1693851"/>
              <a:gd name="connsiteY33" fmla="*/ 639368 h 1218645"/>
              <a:gd name="connsiteX34" fmla="*/ 1458471 w 1693851"/>
              <a:gd name="connsiteY34" fmla="*/ 579276 h 1218645"/>
              <a:gd name="connsiteX35" fmla="*/ 1546115 w 1693851"/>
              <a:gd name="connsiteY35" fmla="*/ 579276 h 1218645"/>
              <a:gd name="connsiteX36" fmla="*/ 1059958 w 1693851"/>
              <a:gd name="connsiteY36" fmla="*/ 491632 h 1218645"/>
              <a:gd name="connsiteX37" fmla="*/ 1120050 w 1693851"/>
              <a:gd name="connsiteY37" fmla="*/ 491632 h 1218645"/>
              <a:gd name="connsiteX38" fmla="*/ 1120050 w 1693851"/>
              <a:gd name="connsiteY38" fmla="*/ 579276 h 1218645"/>
              <a:gd name="connsiteX39" fmla="*/ 1207694 w 1693851"/>
              <a:gd name="connsiteY39" fmla="*/ 579276 h 1218645"/>
              <a:gd name="connsiteX40" fmla="*/ 1207694 w 1693851"/>
              <a:gd name="connsiteY40" fmla="*/ 639368 h 1218645"/>
              <a:gd name="connsiteX41" fmla="*/ 1120050 w 1693851"/>
              <a:gd name="connsiteY41" fmla="*/ 639368 h 1218645"/>
              <a:gd name="connsiteX42" fmla="*/ 1120050 w 1693851"/>
              <a:gd name="connsiteY42" fmla="*/ 727012 h 1218645"/>
              <a:gd name="connsiteX43" fmla="*/ 1059958 w 1693851"/>
              <a:gd name="connsiteY43" fmla="*/ 727012 h 1218645"/>
              <a:gd name="connsiteX44" fmla="*/ 1059958 w 1693851"/>
              <a:gd name="connsiteY44" fmla="*/ 639368 h 1218645"/>
              <a:gd name="connsiteX45" fmla="*/ 972314 w 1693851"/>
              <a:gd name="connsiteY45" fmla="*/ 639368 h 1218645"/>
              <a:gd name="connsiteX46" fmla="*/ 972314 w 1693851"/>
              <a:gd name="connsiteY46" fmla="*/ 579276 h 1218645"/>
              <a:gd name="connsiteX47" fmla="*/ 1059958 w 1693851"/>
              <a:gd name="connsiteY47" fmla="*/ 579276 h 1218645"/>
              <a:gd name="connsiteX48" fmla="*/ 573801 w 1693851"/>
              <a:gd name="connsiteY48" fmla="*/ 491632 h 1218645"/>
              <a:gd name="connsiteX49" fmla="*/ 633893 w 1693851"/>
              <a:gd name="connsiteY49" fmla="*/ 491632 h 1218645"/>
              <a:gd name="connsiteX50" fmla="*/ 633893 w 1693851"/>
              <a:gd name="connsiteY50" fmla="*/ 579276 h 1218645"/>
              <a:gd name="connsiteX51" fmla="*/ 721537 w 1693851"/>
              <a:gd name="connsiteY51" fmla="*/ 579276 h 1218645"/>
              <a:gd name="connsiteX52" fmla="*/ 721537 w 1693851"/>
              <a:gd name="connsiteY52" fmla="*/ 639368 h 1218645"/>
              <a:gd name="connsiteX53" fmla="*/ 633893 w 1693851"/>
              <a:gd name="connsiteY53" fmla="*/ 639368 h 1218645"/>
              <a:gd name="connsiteX54" fmla="*/ 633893 w 1693851"/>
              <a:gd name="connsiteY54" fmla="*/ 727012 h 1218645"/>
              <a:gd name="connsiteX55" fmla="*/ 573801 w 1693851"/>
              <a:gd name="connsiteY55" fmla="*/ 727012 h 1218645"/>
              <a:gd name="connsiteX56" fmla="*/ 573801 w 1693851"/>
              <a:gd name="connsiteY56" fmla="*/ 639368 h 1218645"/>
              <a:gd name="connsiteX57" fmla="*/ 486157 w 1693851"/>
              <a:gd name="connsiteY57" fmla="*/ 639368 h 1218645"/>
              <a:gd name="connsiteX58" fmla="*/ 486157 w 1693851"/>
              <a:gd name="connsiteY58" fmla="*/ 579276 h 1218645"/>
              <a:gd name="connsiteX59" fmla="*/ 573801 w 1693851"/>
              <a:gd name="connsiteY59" fmla="*/ 579276 h 1218645"/>
              <a:gd name="connsiteX60" fmla="*/ 87644 w 1693851"/>
              <a:gd name="connsiteY60" fmla="*/ 491632 h 1218645"/>
              <a:gd name="connsiteX61" fmla="*/ 147736 w 1693851"/>
              <a:gd name="connsiteY61" fmla="*/ 491632 h 1218645"/>
              <a:gd name="connsiteX62" fmla="*/ 147736 w 1693851"/>
              <a:gd name="connsiteY62" fmla="*/ 579276 h 1218645"/>
              <a:gd name="connsiteX63" fmla="*/ 235380 w 1693851"/>
              <a:gd name="connsiteY63" fmla="*/ 579276 h 1218645"/>
              <a:gd name="connsiteX64" fmla="*/ 235380 w 1693851"/>
              <a:gd name="connsiteY64" fmla="*/ 639368 h 1218645"/>
              <a:gd name="connsiteX65" fmla="*/ 147736 w 1693851"/>
              <a:gd name="connsiteY65" fmla="*/ 639368 h 1218645"/>
              <a:gd name="connsiteX66" fmla="*/ 147736 w 1693851"/>
              <a:gd name="connsiteY66" fmla="*/ 727012 h 1218645"/>
              <a:gd name="connsiteX67" fmla="*/ 87644 w 1693851"/>
              <a:gd name="connsiteY67" fmla="*/ 727012 h 1218645"/>
              <a:gd name="connsiteX68" fmla="*/ 87644 w 1693851"/>
              <a:gd name="connsiteY68" fmla="*/ 639368 h 1218645"/>
              <a:gd name="connsiteX69" fmla="*/ 0 w 1693851"/>
              <a:gd name="connsiteY69" fmla="*/ 639368 h 1218645"/>
              <a:gd name="connsiteX70" fmla="*/ 0 w 1693851"/>
              <a:gd name="connsiteY70" fmla="*/ 579276 h 1218645"/>
              <a:gd name="connsiteX71" fmla="*/ 87644 w 1693851"/>
              <a:gd name="connsiteY71" fmla="*/ 579276 h 1218645"/>
              <a:gd name="connsiteX72" fmla="*/ 1546115 w 1693851"/>
              <a:gd name="connsiteY72" fmla="*/ 0 h 1218645"/>
              <a:gd name="connsiteX73" fmla="*/ 1606207 w 1693851"/>
              <a:gd name="connsiteY73" fmla="*/ 0 h 1218645"/>
              <a:gd name="connsiteX74" fmla="*/ 1606207 w 1693851"/>
              <a:gd name="connsiteY74" fmla="*/ 87644 h 1218645"/>
              <a:gd name="connsiteX75" fmla="*/ 1693851 w 1693851"/>
              <a:gd name="connsiteY75" fmla="*/ 87644 h 1218645"/>
              <a:gd name="connsiteX76" fmla="*/ 1693851 w 1693851"/>
              <a:gd name="connsiteY76" fmla="*/ 147736 h 1218645"/>
              <a:gd name="connsiteX77" fmla="*/ 1606207 w 1693851"/>
              <a:gd name="connsiteY77" fmla="*/ 147736 h 1218645"/>
              <a:gd name="connsiteX78" fmla="*/ 1606207 w 1693851"/>
              <a:gd name="connsiteY78" fmla="*/ 235380 h 1218645"/>
              <a:gd name="connsiteX79" fmla="*/ 1546115 w 1693851"/>
              <a:gd name="connsiteY79" fmla="*/ 235380 h 1218645"/>
              <a:gd name="connsiteX80" fmla="*/ 1546115 w 1693851"/>
              <a:gd name="connsiteY80" fmla="*/ 147736 h 1218645"/>
              <a:gd name="connsiteX81" fmla="*/ 1458471 w 1693851"/>
              <a:gd name="connsiteY81" fmla="*/ 147736 h 1218645"/>
              <a:gd name="connsiteX82" fmla="*/ 1458471 w 1693851"/>
              <a:gd name="connsiteY82" fmla="*/ 87644 h 1218645"/>
              <a:gd name="connsiteX83" fmla="*/ 1546115 w 1693851"/>
              <a:gd name="connsiteY83" fmla="*/ 87644 h 1218645"/>
              <a:gd name="connsiteX84" fmla="*/ 1059958 w 1693851"/>
              <a:gd name="connsiteY84" fmla="*/ 0 h 1218645"/>
              <a:gd name="connsiteX85" fmla="*/ 1120050 w 1693851"/>
              <a:gd name="connsiteY85" fmla="*/ 0 h 1218645"/>
              <a:gd name="connsiteX86" fmla="*/ 1120050 w 1693851"/>
              <a:gd name="connsiteY86" fmla="*/ 87644 h 1218645"/>
              <a:gd name="connsiteX87" fmla="*/ 1207694 w 1693851"/>
              <a:gd name="connsiteY87" fmla="*/ 87644 h 1218645"/>
              <a:gd name="connsiteX88" fmla="*/ 1207694 w 1693851"/>
              <a:gd name="connsiteY88" fmla="*/ 147736 h 1218645"/>
              <a:gd name="connsiteX89" fmla="*/ 1120050 w 1693851"/>
              <a:gd name="connsiteY89" fmla="*/ 147736 h 1218645"/>
              <a:gd name="connsiteX90" fmla="*/ 1120050 w 1693851"/>
              <a:gd name="connsiteY90" fmla="*/ 235380 h 1218645"/>
              <a:gd name="connsiteX91" fmla="*/ 1059958 w 1693851"/>
              <a:gd name="connsiteY91" fmla="*/ 235380 h 1218645"/>
              <a:gd name="connsiteX92" fmla="*/ 1059958 w 1693851"/>
              <a:gd name="connsiteY92" fmla="*/ 147736 h 1218645"/>
              <a:gd name="connsiteX93" fmla="*/ 972314 w 1693851"/>
              <a:gd name="connsiteY93" fmla="*/ 147736 h 1218645"/>
              <a:gd name="connsiteX94" fmla="*/ 972314 w 1693851"/>
              <a:gd name="connsiteY94" fmla="*/ 87644 h 1218645"/>
              <a:gd name="connsiteX95" fmla="*/ 1059958 w 1693851"/>
              <a:gd name="connsiteY95" fmla="*/ 87644 h 1218645"/>
            </a:gdLst>
            <a:rect l="l" t="t" r="r" b="b"/>
            <a:pathLst>
              <a:path w="1693851" h="1218645">
                <a:moveTo>
                  <a:pt x="573801" y="983265"/>
                </a:moveTo>
                <a:lnTo>
                  <a:pt x="633893" y="983265"/>
                </a:lnTo>
                <a:lnTo>
                  <a:pt x="633893" y="1070909"/>
                </a:lnTo>
                <a:lnTo>
                  <a:pt x="721537" y="1070909"/>
                </a:lnTo>
                <a:lnTo>
                  <a:pt x="721537" y="1131001"/>
                </a:lnTo>
                <a:lnTo>
                  <a:pt x="633893" y="1131001"/>
                </a:lnTo>
                <a:lnTo>
                  <a:pt x="633893" y="1218645"/>
                </a:lnTo>
                <a:lnTo>
                  <a:pt x="573801" y="1218645"/>
                </a:lnTo>
                <a:lnTo>
                  <a:pt x="573801" y="1131001"/>
                </a:lnTo>
                <a:lnTo>
                  <a:pt x="486157" y="1131001"/>
                </a:lnTo>
                <a:lnTo>
                  <a:pt x="486157" y="1070909"/>
                </a:lnTo>
                <a:lnTo>
                  <a:pt x="573801" y="1070909"/>
                </a:lnTo>
                <a:close/>
                <a:moveTo>
                  <a:pt x="87644" y="983265"/>
                </a:moveTo>
                <a:lnTo>
                  <a:pt x="147736" y="983265"/>
                </a:lnTo>
                <a:lnTo>
                  <a:pt x="147736" y="1070909"/>
                </a:lnTo>
                <a:lnTo>
                  <a:pt x="235380" y="1070909"/>
                </a:lnTo>
                <a:lnTo>
                  <a:pt x="235380" y="1131001"/>
                </a:lnTo>
                <a:lnTo>
                  <a:pt x="147736" y="1131001"/>
                </a:lnTo>
                <a:lnTo>
                  <a:pt x="147736" y="1218645"/>
                </a:lnTo>
                <a:lnTo>
                  <a:pt x="87644" y="1218645"/>
                </a:lnTo>
                <a:lnTo>
                  <a:pt x="87644" y="1131001"/>
                </a:lnTo>
                <a:lnTo>
                  <a:pt x="0" y="1131001"/>
                </a:lnTo>
                <a:lnTo>
                  <a:pt x="0" y="1070909"/>
                </a:lnTo>
                <a:lnTo>
                  <a:pt x="87644" y="1070909"/>
                </a:lnTo>
                <a:close/>
                <a:moveTo>
                  <a:pt x="1546115" y="491632"/>
                </a:moveTo>
                <a:lnTo>
                  <a:pt x="1606207" y="491632"/>
                </a:lnTo>
                <a:lnTo>
                  <a:pt x="1606207" y="579276"/>
                </a:lnTo>
                <a:lnTo>
                  <a:pt x="1693851" y="579276"/>
                </a:lnTo>
                <a:lnTo>
                  <a:pt x="1693851" y="639368"/>
                </a:lnTo>
                <a:lnTo>
                  <a:pt x="1606207" y="639368"/>
                </a:lnTo>
                <a:lnTo>
                  <a:pt x="1606207" y="727012"/>
                </a:lnTo>
                <a:lnTo>
                  <a:pt x="1546115" y="727012"/>
                </a:lnTo>
                <a:lnTo>
                  <a:pt x="1546115" y="639368"/>
                </a:lnTo>
                <a:lnTo>
                  <a:pt x="1458471" y="639368"/>
                </a:lnTo>
                <a:lnTo>
                  <a:pt x="1458471" y="579276"/>
                </a:lnTo>
                <a:lnTo>
                  <a:pt x="1546115" y="579276"/>
                </a:lnTo>
                <a:close/>
                <a:moveTo>
                  <a:pt x="1059958" y="491632"/>
                </a:moveTo>
                <a:lnTo>
                  <a:pt x="1120050" y="491632"/>
                </a:lnTo>
                <a:lnTo>
                  <a:pt x="1120050" y="579276"/>
                </a:lnTo>
                <a:lnTo>
                  <a:pt x="1207694" y="579276"/>
                </a:lnTo>
                <a:lnTo>
                  <a:pt x="1207694" y="639368"/>
                </a:lnTo>
                <a:lnTo>
                  <a:pt x="1120050" y="639368"/>
                </a:lnTo>
                <a:lnTo>
                  <a:pt x="1120050" y="727012"/>
                </a:lnTo>
                <a:lnTo>
                  <a:pt x="1059958" y="727012"/>
                </a:lnTo>
                <a:lnTo>
                  <a:pt x="1059958" y="639368"/>
                </a:lnTo>
                <a:lnTo>
                  <a:pt x="972314" y="639368"/>
                </a:lnTo>
                <a:lnTo>
                  <a:pt x="972314" y="579276"/>
                </a:lnTo>
                <a:lnTo>
                  <a:pt x="1059958" y="579276"/>
                </a:lnTo>
                <a:close/>
                <a:moveTo>
                  <a:pt x="573801" y="491632"/>
                </a:moveTo>
                <a:lnTo>
                  <a:pt x="633893" y="491632"/>
                </a:lnTo>
                <a:lnTo>
                  <a:pt x="633893" y="579276"/>
                </a:lnTo>
                <a:lnTo>
                  <a:pt x="721537" y="579276"/>
                </a:lnTo>
                <a:lnTo>
                  <a:pt x="721537" y="639368"/>
                </a:lnTo>
                <a:lnTo>
                  <a:pt x="633893" y="639368"/>
                </a:lnTo>
                <a:lnTo>
                  <a:pt x="633893" y="727012"/>
                </a:lnTo>
                <a:lnTo>
                  <a:pt x="573801" y="727012"/>
                </a:lnTo>
                <a:lnTo>
                  <a:pt x="573801" y="639368"/>
                </a:lnTo>
                <a:lnTo>
                  <a:pt x="486157" y="639368"/>
                </a:lnTo>
                <a:lnTo>
                  <a:pt x="486157" y="579276"/>
                </a:lnTo>
                <a:lnTo>
                  <a:pt x="573801" y="579276"/>
                </a:lnTo>
                <a:close/>
                <a:moveTo>
                  <a:pt x="87644" y="491632"/>
                </a:moveTo>
                <a:lnTo>
                  <a:pt x="147736" y="491632"/>
                </a:lnTo>
                <a:lnTo>
                  <a:pt x="147736" y="579276"/>
                </a:lnTo>
                <a:lnTo>
                  <a:pt x="235380" y="579276"/>
                </a:lnTo>
                <a:lnTo>
                  <a:pt x="235380" y="639368"/>
                </a:lnTo>
                <a:lnTo>
                  <a:pt x="147736" y="639368"/>
                </a:lnTo>
                <a:lnTo>
                  <a:pt x="147736" y="727012"/>
                </a:lnTo>
                <a:lnTo>
                  <a:pt x="87644" y="727012"/>
                </a:lnTo>
                <a:lnTo>
                  <a:pt x="87644" y="639368"/>
                </a:lnTo>
                <a:lnTo>
                  <a:pt x="0" y="639368"/>
                </a:lnTo>
                <a:lnTo>
                  <a:pt x="0" y="579276"/>
                </a:lnTo>
                <a:lnTo>
                  <a:pt x="87644" y="579276"/>
                </a:lnTo>
                <a:close/>
                <a:moveTo>
                  <a:pt x="1546115" y="0"/>
                </a:moveTo>
                <a:lnTo>
                  <a:pt x="1606207" y="0"/>
                </a:lnTo>
                <a:lnTo>
                  <a:pt x="1606207" y="87644"/>
                </a:lnTo>
                <a:lnTo>
                  <a:pt x="1693851" y="87644"/>
                </a:lnTo>
                <a:lnTo>
                  <a:pt x="1693851" y="147736"/>
                </a:lnTo>
                <a:lnTo>
                  <a:pt x="1606207" y="147736"/>
                </a:lnTo>
                <a:lnTo>
                  <a:pt x="1606207" y="235380"/>
                </a:lnTo>
                <a:lnTo>
                  <a:pt x="1546115" y="235380"/>
                </a:lnTo>
                <a:lnTo>
                  <a:pt x="1546115" y="147736"/>
                </a:lnTo>
                <a:lnTo>
                  <a:pt x="1458471" y="147736"/>
                </a:lnTo>
                <a:lnTo>
                  <a:pt x="1458471" y="87644"/>
                </a:lnTo>
                <a:lnTo>
                  <a:pt x="1546115" y="87644"/>
                </a:lnTo>
                <a:close/>
                <a:moveTo>
                  <a:pt x="1059958" y="0"/>
                </a:moveTo>
                <a:lnTo>
                  <a:pt x="1120050" y="0"/>
                </a:lnTo>
                <a:lnTo>
                  <a:pt x="1120050" y="87644"/>
                </a:lnTo>
                <a:lnTo>
                  <a:pt x="1207694" y="87644"/>
                </a:lnTo>
                <a:lnTo>
                  <a:pt x="1207694" y="147736"/>
                </a:lnTo>
                <a:lnTo>
                  <a:pt x="1120050" y="147736"/>
                </a:lnTo>
                <a:lnTo>
                  <a:pt x="1120050" y="235380"/>
                </a:lnTo>
                <a:lnTo>
                  <a:pt x="1059958" y="235380"/>
                </a:lnTo>
                <a:lnTo>
                  <a:pt x="1059958" y="147736"/>
                </a:lnTo>
                <a:lnTo>
                  <a:pt x="972314" y="147736"/>
                </a:lnTo>
                <a:lnTo>
                  <a:pt x="972314" y="87644"/>
                </a:lnTo>
                <a:lnTo>
                  <a:pt x="1059958" y="87644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6350" y="-12700"/>
            <a:ext cx="12179300" cy="6883400"/>
          </a:xfrm>
          <a:prstGeom prst="rect"/>
          <a:solidFill>
            <a:schemeClr val="bg1"/>
          </a:solidFill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3169920" y="671089"/>
            <a:ext cx="5459855" cy="138696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6600">
                <a:ln w="6350">
                  <a:solidFill>
                    <a:srgbClr val="262626">
                      <a:alpha val="100000"/>
                    </a:srgbClr>
                  </a:solidFill>
                </a:ln>
                <a:noFill/>
                <a:latin typeface="OPPOSans H"/>
                <a:ea typeface="OPPOSans H"/>
                <a:cs typeface="OPPOSans H"/>
              </a:rPr>
              <a:t>CONTENTS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4712701" y="-6052"/>
            <a:ext cx="2548943" cy="175984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9600">
                <a:ln w="12700">
                  <a:noFill/>
                </a:ln>
                <a:gradFill>
                  <a:gsLst>
                    <a:gs pos="0">
                      <a:srgbClr val="00B0F0">
                        <a:alpha val="100000"/>
                      </a:srgbClr>
                    </a:gs>
                    <a:gs pos="93000">
                      <a:srgbClr val="0084B4">
                        <a:alpha val="100000"/>
                      </a:srgbClr>
                    </a:gs>
                  </a:gsLst>
                  <a:lin ang="2700000" scaled="0"/>
                </a:gradFill>
                <a:latin typeface="OPPOSans H"/>
                <a:ea typeface="OPPOSans H"/>
                <a:cs typeface="OPPOSans H"/>
              </a:rPr>
              <a:t>目录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1633422" y="2133221"/>
            <a:ext cx="2527098" cy="11511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2400">
                <a:ln w="12700">
                  <a:noFill/>
                </a:ln>
                <a:gradFill>
                  <a:gsLst>
                    <a:gs pos="0">
                      <a:srgbClr val="00B0F0">
                        <a:alpha val="100000"/>
                      </a:srgbClr>
                    </a:gs>
                    <a:gs pos="98000">
                      <a:srgbClr val="0084B4">
                        <a:alpha val="100000"/>
                      </a:srgbClr>
                    </a:gs>
                  </a:gsLst>
                  <a:lin ang="2700000" scaled="0"/>
                </a:gradFill>
                <a:latin typeface="OPPOSans H"/>
                <a:ea typeface="OPPOSans H"/>
                <a:cs typeface="OPPOSans H"/>
              </a:rPr>
              <a:t>幻灯片 1：封面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465020" y="2311772"/>
            <a:ext cx="895274" cy="895274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391305" y="2133221"/>
            <a:ext cx="1041303" cy="11511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4000">
                <a:ln w="6350">
                  <a:solidFill>
                    <a:srgbClr val="FFFFFF">
                      <a:alpha val="100000"/>
                    </a:srgbClr>
                  </a:solidFill>
                </a:ln>
                <a:noFill/>
                <a:latin typeface="OPPOSans H"/>
                <a:ea typeface="OPPOSans H"/>
                <a:cs typeface="OPPOSans H"/>
              </a:rPr>
              <a:t>01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1633422" y="3569591"/>
            <a:ext cx="2527097" cy="11511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2400">
                <a:ln w="12700">
                  <a:noFill/>
                </a:ln>
                <a:gradFill>
                  <a:gsLst>
                    <a:gs pos="0">
                      <a:srgbClr val="00B0F0">
                        <a:alpha val="100000"/>
                      </a:srgbClr>
                    </a:gs>
                    <a:gs pos="98000">
                      <a:srgbClr val="0084B4">
                        <a:alpha val="100000"/>
                      </a:srgbClr>
                    </a:gs>
                  </a:gsLst>
                  <a:lin ang="2700000" scaled="0"/>
                </a:gradFill>
                <a:latin typeface="OPPOSans H"/>
                <a:ea typeface="OPPOSans H"/>
                <a:cs typeface="OPPOSans H"/>
              </a:rPr>
              <a:t>幻灯片 4：企业介绍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465020" y="3748142"/>
            <a:ext cx="895274" cy="895274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391305" y="3569591"/>
            <a:ext cx="1041303" cy="11511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4000">
                <a:ln w="6350">
                  <a:solidFill>
                    <a:srgbClr val="FFFFFF">
                      <a:alpha val="100000"/>
                    </a:srgbClr>
                  </a:solidFill>
                </a:ln>
                <a:noFill/>
                <a:latin typeface="OPPOSans H"/>
                <a:ea typeface="OPPOSans H"/>
                <a:cs typeface="OPPOSans H"/>
              </a:rPr>
              <a:t>04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1633423" y="5005961"/>
            <a:ext cx="2527096" cy="11511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2400">
                <a:ln w="12700">
                  <a:noFill/>
                </a:ln>
                <a:gradFill>
                  <a:gsLst>
                    <a:gs pos="0">
                      <a:srgbClr val="00B0F0">
                        <a:alpha val="100000"/>
                      </a:srgbClr>
                    </a:gs>
                    <a:gs pos="98000">
                      <a:srgbClr val="0084B4">
                        <a:alpha val="100000"/>
                      </a:srgbClr>
                    </a:gs>
                  </a:gsLst>
                  <a:lin ang="2700000" scaled="0"/>
                </a:gradFill>
                <a:latin typeface="OPPOSans H"/>
                <a:ea typeface="OPPOSans H"/>
                <a:cs typeface="OPPOSans H"/>
              </a:rPr>
              <a:t>幻灯片 7：行业分析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465020" y="5184512"/>
            <a:ext cx="895274" cy="895274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391305" y="5005961"/>
            <a:ext cx="1041303" cy="11511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4000">
                <a:ln w="6350">
                  <a:solidFill>
                    <a:srgbClr val="FFFFFF">
                      <a:alpha val="100000"/>
                    </a:srgbClr>
                  </a:solidFill>
                </a:ln>
                <a:noFill/>
                <a:latin typeface="OPPOSans H"/>
                <a:ea typeface="OPPOSans H"/>
                <a:cs typeface="OPPOSans H"/>
              </a:rPr>
              <a:t>07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0" y="6446520"/>
            <a:ext cx="12192000" cy="411480"/>
          </a:xfrm>
          <a:prstGeom prst="rect">
            <a:avLst/>
          </a:prstGeom>
          <a:solidFill>
            <a:schemeClr val="accent1"/>
          </a:solidFill>
          <a:ln w="19050" cap="flat">
            <a:solidFill>
              <a:schemeClr val="accent1">
                <a:shade val="1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0" flipV="0">
            <a:off x="5553812" y="2133835"/>
            <a:ext cx="2527098" cy="11511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2400">
                <a:ln w="12700">
                  <a:noFill/>
                </a:ln>
                <a:gradFill>
                  <a:gsLst>
                    <a:gs pos="0">
                      <a:srgbClr val="00B0F0">
                        <a:alpha val="100000"/>
                      </a:srgbClr>
                    </a:gs>
                    <a:gs pos="98000">
                      <a:srgbClr val="0084B4">
                        <a:alpha val="100000"/>
                      </a:srgbClr>
                    </a:gs>
                  </a:gsLst>
                  <a:lin ang="2700000" scaled="0"/>
                </a:gradFill>
                <a:latin typeface="OPPOSans H"/>
                <a:ea typeface="OPPOSans H"/>
                <a:cs typeface="OPPOSans H"/>
              </a:rPr>
              <a:t>幻灯片 2：目录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0" flipH="0" flipV="0">
            <a:off x="4385410" y="2312386"/>
            <a:ext cx="895274" cy="895274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0" flipH="0" flipV="0">
            <a:off x="4311695" y="2133835"/>
            <a:ext cx="1041303" cy="11511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4000">
                <a:ln w="6350">
                  <a:solidFill>
                    <a:srgbClr val="FFFFFF">
                      <a:alpha val="100000"/>
                    </a:srgbClr>
                  </a:solidFill>
                </a:ln>
                <a:noFill/>
                <a:latin typeface="OPPOSans H"/>
                <a:ea typeface="OPPOSans H"/>
                <a:cs typeface="OPPOSans H"/>
              </a:rPr>
              <a:t>02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0" flipV="0">
            <a:off x="5553812" y="3570205"/>
            <a:ext cx="2527097" cy="11511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2400">
                <a:ln w="12700">
                  <a:noFill/>
                </a:ln>
                <a:gradFill>
                  <a:gsLst>
                    <a:gs pos="0">
                      <a:srgbClr val="00B0F0">
                        <a:alpha val="100000"/>
                      </a:srgbClr>
                    </a:gs>
                    <a:gs pos="98000">
                      <a:srgbClr val="0084B4">
                        <a:alpha val="100000"/>
                      </a:srgbClr>
                    </a:gs>
                  </a:gsLst>
                  <a:lin ang="2700000" scaled="0"/>
                </a:gradFill>
                <a:latin typeface="OPPOSans H"/>
                <a:ea typeface="OPPOSans H"/>
                <a:cs typeface="OPPOSans H"/>
              </a:rPr>
              <a:t>幻灯片 5：管理团队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0" flipH="0" flipV="0">
            <a:off x="4385410" y="3748756"/>
            <a:ext cx="895274" cy="895274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rot="0" flipH="0" flipV="0">
            <a:off x="4311695" y="3570205"/>
            <a:ext cx="1041303" cy="11511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4000">
                <a:ln w="6350">
                  <a:solidFill>
                    <a:srgbClr val="FFFFFF">
                      <a:alpha val="100000"/>
                    </a:srgbClr>
                  </a:solidFill>
                </a:ln>
                <a:noFill/>
                <a:latin typeface="OPPOSans H"/>
                <a:ea typeface="OPPOSans H"/>
                <a:cs typeface="OPPOSans H"/>
              </a:rPr>
              <a:t>05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rot="0" flipH="0" flipV="0">
            <a:off x="5553813" y="5006575"/>
            <a:ext cx="2527096" cy="11511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2400">
                <a:ln w="12700">
                  <a:noFill/>
                </a:ln>
                <a:gradFill>
                  <a:gsLst>
                    <a:gs pos="0">
                      <a:srgbClr val="00B0F0">
                        <a:alpha val="100000"/>
                      </a:srgbClr>
                    </a:gs>
                    <a:gs pos="98000">
                      <a:srgbClr val="0084B4">
                        <a:alpha val="100000"/>
                      </a:srgbClr>
                    </a:gs>
                  </a:gsLst>
                  <a:lin ang="2700000" scaled="0"/>
                </a:gradFill>
                <a:latin typeface="OPPOSans H"/>
                <a:ea typeface="OPPOSans H"/>
                <a:cs typeface="OPPOSans H"/>
              </a:rPr>
              <a:t>幻灯片 8：营销策划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 rot="0" flipH="0" flipV="0">
            <a:off x="4385410" y="5185126"/>
            <a:ext cx="895274" cy="895274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 rot="0" flipH="0" flipV="0">
            <a:off x="4311695" y="5006575"/>
            <a:ext cx="1041303" cy="11511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4000">
                <a:ln w="6350">
                  <a:solidFill>
                    <a:srgbClr val="FFFFFF">
                      <a:alpha val="100000"/>
                    </a:srgbClr>
                  </a:solidFill>
                </a:ln>
                <a:noFill/>
                <a:latin typeface="OPPOSans H"/>
                <a:ea typeface="OPPOSans H"/>
                <a:cs typeface="OPPOSans H"/>
              </a:rPr>
              <a:t>08</a:t>
            </a: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rot="0" flipH="0" flipV="0">
            <a:off x="9474202" y="2134289"/>
            <a:ext cx="2527098" cy="11511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2400">
                <a:ln w="12700">
                  <a:noFill/>
                </a:ln>
                <a:gradFill>
                  <a:gsLst>
                    <a:gs pos="0">
                      <a:srgbClr val="00B0F0">
                        <a:alpha val="100000"/>
                      </a:srgbClr>
                    </a:gs>
                    <a:gs pos="98000">
                      <a:srgbClr val="0084B4">
                        <a:alpha val="100000"/>
                      </a:srgbClr>
                    </a:gs>
                  </a:gsLst>
                  <a:lin ang="2700000" scaled="0"/>
                </a:gradFill>
                <a:latin typeface="OPPOSans H"/>
                <a:ea typeface="OPPOSans H"/>
                <a:cs typeface="OPPOSans H"/>
              </a:rPr>
              <a:t>幻灯片 3：执行概要</a:t>
            </a: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 rot="0" flipH="0" flipV="0">
            <a:off x="8305800" y="2312840"/>
            <a:ext cx="895274" cy="895274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 rot="0" flipH="0" flipV="0">
            <a:off x="8232085" y="2134289"/>
            <a:ext cx="1041303" cy="11511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4000">
                <a:ln w="6350">
                  <a:solidFill>
                    <a:srgbClr val="FFFFFF">
                      <a:alpha val="100000"/>
                    </a:srgbClr>
                  </a:solidFill>
                </a:ln>
                <a:noFill/>
                <a:latin typeface="OPPOSans H"/>
                <a:ea typeface="OPPOSans H"/>
                <a:cs typeface="OPPOSans H"/>
              </a:rPr>
              <a:t>03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 rot="0" flipH="0" flipV="0">
            <a:off x="9474202" y="3570659"/>
            <a:ext cx="2527097" cy="11511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2400">
                <a:ln w="12700">
                  <a:noFill/>
                </a:ln>
                <a:gradFill>
                  <a:gsLst>
                    <a:gs pos="0">
                      <a:srgbClr val="00B0F0">
                        <a:alpha val="100000"/>
                      </a:srgbClr>
                    </a:gs>
                    <a:gs pos="98000">
                      <a:srgbClr val="0084B4">
                        <a:alpha val="100000"/>
                      </a:srgbClr>
                    </a:gs>
                  </a:gsLst>
                  <a:lin ang="2700000" scaled="0"/>
                </a:gradFill>
                <a:latin typeface="OPPOSans H"/>
                <a:ea typeface="OPPOSans H"/>
                <a:cs typeface="OPPOSans H"/>
              </a:rPr>
              <a:t>幻灯片 6：产品（服务）介绍</a:t>
            </a: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 rot="0" flipH="0" flipV="0">
            <a:off x="8305800" y="3749210"/>
            <a:ext cx="895274" cy="895274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 rot="0" flipH="0" flipV="0">
            <a:off x="8232085" y="3570659"/>
            <a:ext cx="1041303" cy="11511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4000">
                <a:ln w="6350">
                  <a:solidFill>
                    <a:srgbClr val="FFFFFF">
                      <a:alpha val="100000"/>
                    </a:srgbClr>
                  </a:solidFill>
                </a:ln>
                <a:noFill/>
                <a:latin typeface="OPPOSans H"/>
                <a:ea typeface="OPPOSans H"/>
                <a:cs typeface="OPPOSans H"/>
              </a:rPr>
              <a:t>06</a:t>
            </a:r>
            <a:endParaRPr kumimoji="1" lang="zh-CN" altLang="en-US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2">
            <a:alphaModFix amt="100000"/>
          </a:blip>
          <a:srcRect l="2858" t="11915" r="21252" b="11915"/>
          <a:stretch>
            <a:fillRect/>
          </a:stretch>
        </p:blipFill>
        <p:spPr>
          <a:xfrm rot="0" flipH="0" flipV="0"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" name="标题 1"/>
          <p:cNvSpPr txBox="1"/>
          <p:nvPr/>
        </p:nvSpPr>
        <p:spPr>
          <a:xfrm rot="0" flipH="0" flipV="0">
            <a:off x="-1" y="0"/>
            <a:ext cx="10883569" cy="6858000"/>
          </a:xfrm>
          <a:prstGeom prst="rect">
            <a:avLst/>
          </a:prstGeom>
          <a:gradFill>
            <a:gsLst>
              <a:gs pos="12000">
                <a:schemeClr val="bg1"/>
              </a:gs>
              <a:gs pos="80000">
                <a:schemeClr val="bg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421027" y="333692"/>
            <a:ext cx="1321317" cy="164080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1693998" y="6276762"/>
            <a:ext cx="268552" cy="26855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1763397" y="6346151"/>
            <a:ext cx="129755" cy="129774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1273479" y="6276762"/>
            <a:ext cx="268552" cy="26855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1338911" y="6346151"/>
            <a:ext cx="137688" cy="129774"/>
          </a:xfrm>
          <a:custGeom>
            <a:avLst/>
            <a:gdLst>
              <a:gd name="connsiteX0" fmla="*/ 1110072 w 1498885"/>
              <a:gd name="connsiteY0" fmla="*/ 1039039 h 1412736"/>
              <a:gd name="connsiteX1" fmla="*/ 1149511 w 1498885"/>
              <a:gd name="connsiteY1" fmla="*/ 1055363 h 1412736"/>
              <a:gd name="connsiteX2" fmla="*/ 1371451 w 1498885"/>
              <a:gd name="connsiteY2" fmla="*/ 1277303 h 1412736"/>
              <a:gd name="connsiteX3" fmla="*/ 1371451 w 1498885"/>
              <a:gd name="connsiteY3" fmla="*/ 1356182 h 1412736"/>
              <a:gd name="connsiteX4" fmla="*/ 1332012 w 1498885"/>
              <a:gd name="connsiteY4" fmla="*/ 1372553 h 1412736"/>
              <a:gd name="connsiteX5" fmla="*/ 1292572 w 1498885"/>
              <a:gd name="connsiteY5" fmla="*/ 1356182 h 1412736"/>
              <a:gd name="connsiteX6" fmla="*/ 1070632 w 1498885"/>
              <a:gd name="connsiteY6" fmla="*/ 1134242 h 1412736"/>
              <a:gd name="connsiteX7" fmla="*/ 1070632 w 1498885"/>
              <a:gd name="connsiteY7" fmla="*/ 1055363 h 1412736"/>
              <a:gd name="connsiteX8" fmla="*/ 1110072 w 1498885"/>
              <a:gd name="connsiteY8" fmla="*/ 1039039 h 1412736"/>
              <a:gd name="connsiteX9" fmla="*/ 1110072 w 1498885"/>
              <a:gd name="connsiteY9" fmla="*/ 705989 h 1412736"/>
              <a:gd name="connsiteX10" fmla="*/ 1443075 w 1498885"/>
              <a:gd name="connsiteY10" fmla="*/ 705989 h 1412736"/>
              <a:gd name="connsiteX11" fmla="*/ 1498885 w 1498885"/>
              <a:gd name="connsiteY11" fmla="*/ 761800 h 1412736"/>
              <a:gd name="connsiteX12" fmla="*/ 1443075 w 1498885"/>
              <a:gd name="connsiteY12" fmla="*/ 817611 h 1412736"/>
              <a:gd name="connsiteX13" fmla="*/ 1110072 w 1498885"/>
              <a:gd name="connsiteY13" fmla="*/ 817611 h 1412736"/>
              <a:gd name="connsiteX14" fmla="*/ 1054261 w 1498885"/>
              <a:gd name="connsiteY14" fmla="*/ 761800 h 1412736"/>
              <a:gd name="connsiteX15" fmla="*/ 1110072 w 1498885"/>
              <a:gd name="connsiteY15" fmla="*/ 705989 h 1412736"/>
              <a:gd name="connsiteX16" fmla="*/ 1332012 w 1498885"/>
              <a:gd name="connsiteY16" fmla="*/ 151093 h 1412736"/>
              <a:gd name="connsiteX17" fmla="*/ 1371451 w 1498885"/>
              <a:gd name="connsiteY17" fmla="*/ 167418 h 1412736"/>
              <a:gd name="connsiteX18" fmla="*/ 1371451 w 1498885"/>
              <a:gd name="connsiteY18" fmla="*/ 246297 h 1412736"/>
              <a:gd name="connsiteX19" fmla="*/ 1149511 w 1498885"/>
              <a:gd name="connsiteY19" fmla="*/ 468236 h 1412736"/>
              <a:gd name="connsiteX20" fmla="*/ 1110072 w 1498885"/>
              <a:gd name="connsiteY20" fmla="*/ 484608 h 1412736"/>
              <a:gd name="connsiteX21" fmla="*/ 1070632 w 1498885"/>
              <a:gd name="connsiteY21" fmla="*/ 468236 h 1412736"/>
              <a:gd name="connsiteX22" fmla="*/ 1070632 w 1498885"/>
              <a:gd name="connsiteY22" fmla="*/ 389358 h 1412736"/>
              <a:gd name="connsiteX23" fmla="*/ 1292572 w 1498885"/>
              <a:gd name="connsiteY23" fmla="*/ 167418 h 1412736"/>
              <a:gd name="connsiteX24" fmla="*/ 1332012 w 1498885"/>
              <a:gd name="connsiteY24" fmla="*/ 151093 h 1412736"/>
              <a:gd name="connsiteX25" fmla="*/ 709724 w 1498885"/>
              <a:gd name="connsiteY25" fmla="*/ 111607 h 1412736"/>
              <a:gd name="connsiteX26" fmla="*/ 649635 w 1498885"/>
              <a:gd name="connsiteY26" fmla="*/ 127420 h 1412736"/>
              <a:gd name="connsiteX27" fmla="*/ 174129 w 1498885"/>
              <a:gd name="connsiteY27" fmla="*/ 394752 h 1412736"/>
              <a:gd name="connsiteX28" fmla="*/ 111621 w 1498885"/>
              <a:gd name="connsiteY28" fmla="*/ 501536 h 1412736"/>
              <a:gd name="connsiteX29" fmla="*/ 111621 w 1498885"/>
              <a:gd name="connsiteY29" fmla="*/ 910814 h 1412736"/>
              <a:gd name="connsiteX30" fmla="*/ 174129 w 1498885"/>
              <a:gd name="connsiteY30" fmla="*/ 1017598 h 1412736"/>
              <a:gd name="connsiteX31" fmla="*/ 649821 w 1498885"/>
              <a:gd name="connsiteY31" fmla="*/ 1284930 h 1412736"/>
              <a:gd name="connsiteX32" fmla="*/ 771674 w 1498885"/>
              <a:gd name="connsiteY32" fmla="*/ 1283814 h 1412736"/>
              <a:gd name="connsiteX33" fmla="*/ 832321 w 1498885"/>
              <a:gd name="connsiteY33" fmla="*/ 1178146 h 1412736"/>
              <a:gd name="connsiteX34" fmla="*/ 832321 w 1498885"/>
              <a:gd name="connsiteY34" fmla="*/ 234204 h 1412736"/>
              <a:gd name="connsiteX35" fmla="*/ 771674 w 1498885"/>
              <a:gd name="connsiteY35" fmla="*/ 128536 h 1412736"/>
              <a:gd name="connsiteX36" fmla="*/ 709724 w 1498885"/>
              <a:gd name="connsiteY36" fmla="*/ 111607 h 1412736"/>
              <a:gd name="connsiteX37" fmla="*/ 711864 w 1498885"/>
              <a:gd name="connsiteY37" fmla="*/ 9 h 1412736"/>
              <a:gd name="connsiteX38" fmla="*/ 828043 w 1498885"/>
              <a:gd name="connsiteY38" fmla="*/ 32356 h 1412736"/>
              <a:gd name="connsiteX39" fmla="*/ 943942 w 1498885"/>
              <a:gd name="connsiteY39" fmla="*/ 234390 h 1412736"/>
              <a:gd name="connsiteX40" fmla="*/ 943942 w 1498885"/>
              <a:gd name="connsiteY40" fmla="*/ 1178518 h 1412736"/>
              <a:gd name="connsiteX41" fmla="*/ 828043 w 1498885"/>
              <a:gd name="connsiteY41" fmla="*/ 1380552 h 1412736"/>
              <a:gd name="connsiteX42" fmla="*/ 709910 w 1498885"/>
              <a:gd name="connsiteY42" fmla="*/ 1412736 h 1412736"/>
              <a:gd name="connsiteX43" fmla="*/ 595126 w 1498885"/>
              <a:gd name="connsiteY43" fmla="*/ 1382413 h 1412736"/>
              <a:gd name="connsiteX44" fmla="*/ 119435 w 1498885"/>
              <a:gd name="connsiteY44" fmla="*/ 1115080 h 1412736"/>
              <a:gd name="connsiteX45" fmla="*/ 0 w 1498885"/>
              <a:gd name="connsiteY45" fmla="*/ 911000 h 1412736"/>
              <a:gd name="connsiteX46" fmla="*/ 0 w 1498885"/>
              <a:gd name="connsiteY46" fmla="*/ 501722 h 1412736"/>
              <a:gd name="connsiteX47" fmla="*/ 119435 w 1498885"/>
              <a:gd name="connsiteY47" fmla="*/ 297642 h 1412736"/>
              <a:gd name="connsiteX48" fmla="*/ 595126 w 1498885"/>
              <a:gd name="connsiteY48" fmla="*/ 30309 h 1412736"/>
              <a:gd name="connsiteX49" fmla="*/ 711864 w 1498885"/>
              <a:gd name="connsiteY49" fmla="*/ 9 h 1412736"/>
            </a:gdLst>
            <a:rect l="l" t="t" r="r" b="b"/>
            <a:pathLst>
              <a:path w="1498885" h="1412736">
                <a:moveTo>
                  <a:pt x="1110072" y="1039039"/>
                </a:moveTo>
                <a:cubicBezTo>
                  <a:pt x="1124350" y="1039039"/>
                  <a:pt x="1138628" y="1044480"/>
                  <a:pt x="1149511" y="1055363"/>
                </a:cubicBezTo>
                <a:lnTo>
                  <a:pt x="1371451" y="1277303"/>
                </a:lnTo>
                <a:cubicBezTo>
                  <a:pt x="1393217" y="1299070"/>
                  <a:pt x="1393217" y="1334416"/>
                  <a:pt x="1371451" y="1356182"/>
                </a:cubicBezTo>
                <a:cubicBezTo>
                  <a:pt x="1360661" y="1366972"/>
                  <a:pt x="1346336" y="1372553"/>
                  <a:pt x="1332012" y="1372553"/>
                </a:cubicBezTo>
                <a:cubicBezTo>
                  <a:pt x="1317687" y="1372553"/>
                  <a:pt x="1303362" y="1367158"/>
                  <a:pt x="1292572" y="1356182"/>
                </a:cubicBezTo>
                <a:lnTo>
                  <a:pt x="1070632" y="1134242"/>
                </a:lnTo>
                <a:cubicBezTo>
                  <a:pt x="1048866" y="1112476"/>
                  <a:pt x="1048866" y="1077130"/>
                  <a:pt x="1070632" y="1055363"/>
                </a:cubicBezTo>
                <a:cubicBezTo>
                  <a:pt x="1081515" y="1044480"/>
                  <a:pt x="1095793" y="1039039"/>
                  <a:pt x="1110072" y="1039039"/>
                </a:cubicBezTo>
                <a:close/>
                <a:moveTo>
                  <a:pt x="1110072" y="705989"/>
                </a:moveTo>
                <a:lnTo>
                  <a:pt x="1443075" y="705989"/>
                </a:lnTo>
                <a:cubicBezTo>
                  <a:pt x="1473956" y="705989"/>
                  <a:pt x="1498885" y="730918"/>
                  <a:pt x="1498885" y="761800"/>
                </a:cubicBezTo>
                <a:cubicBezTo>
                  <a:pt x="1498885" y="792682"/>
                  <a:pt x="1473770" y="817611"/>
                  <a:pt x="1443075" y="817611"/>
                </a:cubicBezTo>
                <a:lnTo>
                  <a:pt x="1110072" y="817611"/>
                </a:lnTo>
                <a:cubicBezTo>
                  <a:pt x="1079190" y="817611"/>
                  <a:pt x="1054261" y="792682"/>
                  <a:pt x="1054261" y="761800"/>
                </a:cubicBezTo>
                <a:cubicBezTo>
                  <a:pt x="1054261" y="730918"/>
                  <a:pt x="1079190" y="705989"/>
                  <a:pt x="1110072" y="705989"/>
                </a:cubicBezTo>
                <a:close/>
                <a:moveTo>
                  <a:pt x="1332012" y="151093"/>
                </a:moveTo>
                <a:cubicBezTo>
                  <a:pt x="1346290" y="151093"/>
                  <a:pt x="1360568" y="156535"/>
                  <a:pt x="1371451" y="167418"/>
                </a:cubicBezTo>
                <a:cubicBezTo>
                  <a:pt x="1393217" y="189184"/>
                  <a:pt x="1393217" y="224530"/>
                  <a:pt x="1371451" y="246297"/>
                </a:cubicBezTo>
                <a:lnTo>
                  <a:pt x="1149511" y="468236"/>
                </a:lnTo>
                <a:cubicBezTo>
                  <a:pt x="1138721" y="479213"/>
                  <a:pt x="1124396" y="484608"/>
                  <a:pt x="1110072" y="484608"/>
                </a:cubicBezTo>
                <a:cubicBezTo>
                  <a:pt x="1095747" y="484608"/>
                  <a:pt x="1081422" y="479213"/>
                  <a:pt x="1070632" y="468236"/>
                </a:cubicBezTo>
                <a:cubicBezTo>
                  <a:pt x="1048866" y="446470"/>
                  <a:pt x="1048866" y="411124"/>
                  <a:pt x="1070632" y="389358"/>
                </a:cubicBezTo>
                <a:lnTo>
                  <a:pt x="1292572" y="167418"/>
                </a:lnTo>
                <a:cubicBezTo>
                  <a:pt x="1303455" y="156535"/>
                  <a:pt x="1317733" y="151093"/>
                  <a:pt x="1332012" y="151093"/>
                </a:cubicBezTo>
                <a:close/>
                <a:moveTo>
                  <a:pt x="709724" y="111607"/>
                </a:moveTo>
                <a:cubicBezTo>
                  <a:pt x="689074" y="111607"/>
                  <a:pt x="668610" y="116816"/>
                  <a:pt x="649635" y="127420"/>
                </a:cubicBezTo>
                <a:lnTo>
                  <a:pt x="174129" y="394752"/>
                </a:lnTo>
                <a:cubicBezTo>
                  <a:pt x="135620" y="416332"/>
                  <a:pt x="111621" y="457260"/>
                  <a:pt x="111621" y="501536"/>
                </a:cubicBezTo>
                <a:lnTo>
                  <a:pt x="111621" y="910814"/>
                </a:lnTo>
                <a:cubicBezTo>
                  <a:pt x="111621" y="955090"/>
                  <a:pt x="135620" y="996018"/>
                  <a:pt x="174129" y="1017598"/>
                </a:cubicBezTo>
                <a:lnTo>
                  <a:pt x="649821" y="1284930"/>
                </a:lnTo>
                <a:cubicBezTo>
                  <a:pt x="688144" y="1306510"/>
                  <a:pt x="733723" y="1306138"/>
                  <a:pt x="771674" y="1283814"/>
                </a:cubicBezTo>
                <a:cubicBezTo>
                  <a:pt x="809625" y="1261676"/>
                  <a:pt x="832321" y="1222050"/>
                  <a:pt x="832321" y="1178146"/>
                </a:cubicBezTo>
                <a:lnTo>
                  <a:pt x="832321" y="234204"/>
                </a:lnTo>
                <a:cubicBezTo>
                  <a:pt x="832321" y="190113"/>
                  <a:pt x="809625" y="150674"/>
                  <a:pt x="771674" y="128536"/>
                </a:cubicBezTo>
                <a:cubicBezTo>
                  <a:pt x="752326" y="117188"/>
                  <a:pt x="731118" y="111607"/>
                  <a:pt x="709724" y="111607"/>
                </a:cubicBezTo>
                <a:close/>
                <a:moveTo>
                  <a:pt x="711864" y="9"/>
                </a:moveTo>
                <a:cubicBezTo>
                  <a:pt x="751861" y="358"/>
                  <a:pt x="791766" y="11148"/>
                  <a:pt x="828043" y="32356"/>
                </a:cubicBezTo>
                <a:cubicBezTo>
                  <a:pt x="900596" y="74772"/>
                  <a:pt x="943942" y="150302"/>
                  <a:pt x="943942" y="234390"/>
                </a:cubicBezTo>
                <a:lnTo>
                  <a:pt x="943942" y="1178518"/>
                </a:lnTo>
                <a:cubicBezTo>
                  <a:pt x="943942" y="1262606"/>
                  <a:pt x="900596" y="1338136"/>
                  <a:pt x="828043" y="1380552"/>
                </a:cubicBezTo>
                <a:cubicBezTo>
                  <a:pt x="791208" y="1401946"/>
                  <a:pt x="750466" y="1412736"/>
                  <a:pt x="709910" y="1412736"/>
                </a:cubicBezTo>
                <a:cubicBezTo>
                  <a:pt x="670471" y="1412736"/>
                  <a:pt x="631217" y="1402691"/>
                  <a:pt x="595126" y="1382413"/>
                </a:cubicBezTo>
                <a:lnTo>
                  <a:pt x="119435" y="1115080"/>
                </a:lnTo>
                <a:cubicBezTo>
                  <a:pt x="45765" y="1073594"/>
                  <a:pt x="0" y="995460"/>
                  <a:pt x="0" y="911000"/>
                </a:cubicBezTo>
                <a:lnTo>
                  <a:pt x="0" y="501722"/>
                </a:lnTo>
                <a:cubicBezTo>
                  <a:pt x="0" y="417262"/>
                  <a:pt x="45765" y="338942"/>
                  <a:pt x="119435" y="297642"/>
                </a:cubicBezTo>
                <a:lnTo>
                  <a:pt x="595126" y="30309"/>
                </a:lnTo>
                <a:cubicBezTo>
                  <a:pt x="631775" y="9752"/>
                  <a:pt x="671866" y="-340"/>
                  <a:pt x="711864" y="9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852960" y="6276762"/>
            <a:ext cx="268552" cy="26855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920186" y="6346151"/>
            <a:ext cx="134100" cy="129774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432441" y="6276762"/>
            <a:ext cx="268552" cy="26855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506816" y="6346151"/>
            <a:ext cx="119802" cy="129774"/>
          </a:xfrm>
          <a:custGeom>
            <a:avLst/>
            <a:gdLst>
              <a:gd name="connsiteX0" fmla="*/ 712625 w 1425436"/>
              <a:gd name="connsiteY0" fmla="*/ 111621 h 1544091"/>
              <a:gd name="connsiteX1" fmla="*/ 902567 w 1425436"/>
              <a:gd name="connsiteY1" fmla="*/ 190314 h 1544091"/>
              <a:gd name="connsiteX2" fmla="*/ 981260 w 1425436"/>
              <a:gd name="connsiteY2" fmla="*/ 380256 h 1544091"/>
              <a:gd name="connsiteX3" fmla="*/ 902567 w 1425436"/>
              <a:gd name="connsiteY3" fmla="*/ 570198 h 1544091"/>
              <a:gd name="connsiteX4" fmla="*/ 712625 w 1425436"/>
              <a:gd name="connsiteY4" fmla="*/ 648891 h 1544091"/>
              <a:gd name="connsiteX5" fmla="*/ 522684 w 1425436"/>
              <a:gd name="connsiteY5" fmla="*/ 570198 h 1544091"/>
              <a:gd name="connsiteX6" fmla="*/ 444177 w 1425436"/>
              <a:gd name="connsiteY6" fmla="*/ 380070 h 1544091"/>
              <a:gd name="connsiteX7" fmla="*/ 522870 w 1425436"/>
              <a:gd name="connsiteY7" fmla="*/ 190128 h 1544091"/>
              <a:gd name="connsiteX8" fmla="*/ 712625 w 1425436"/>
              <a:gd name="connsiteY8" fmla="*/ 111621 h 1544091"/>
              <a:gd name="connsiteX9" fmla="*/ 712625 w 1425436"/>
              <a:gd name="connsiteY9" fmla="*/ 0 h 1544091"/>
              <a:gd name="connsiteX10" fmla="*/ 332556 w 1425436"/>
              <a:gd name="connsiteY10" fmla="*/ 380070 h 1544091"/>
              <a:gd name="connsiteX11" fmla="*/ 712625 w 1425436"/>
              <a:gd name="connsiteY11" fmla="*/ 760140 h 1544091"/>
              <a:gd name="connsiteX12" fmla="*/ 1092695 w 1425436"/>
              <a:gd name="connsiteY12" fmla="*/ 380070 h 1544091"/>
              <a:gd name="connsiteX13" fmla="*/ 712625 w 1425436"/>
              <a:gd name="connsiteY13" fmla="*/ 0 h 1544091"/>
              <a:gd name="connsiteX14" fmla="*/ 712625 w 1425436"/>
              <a:gd name="connsiteY14" fmla="*/ 943012 h 1544091"/>
              <a:gd name="connsiteX15" fmla="*/ 978842 w 1425436"/>
              <a:gd name="connsiteY15" fmla="*/ 976685 h 1544091"/>
              <a:gd name="connsiteX16" fmla="*/ 1146087 w 1425436"/>
              <a:gd name="connsiteY16" fmla="*/ 1059470 h 1544091"/>
              <a:gd name="connsiteX17" fmla="*/ 1248593 w 1425436"/>
              <a:gd name="connsiteY17" fmla="*/ 1174440 h 1544091"/>
              <a:gd name="connsiteX18" fmla="*/ 1310356 w 1425436"/>
              <a:gd name="connsiteY18" fmla="*/ 1316385 h 1544091"/>
              <a:gd name="connsiteX19" fmla="*/ 1296590 w 1425436"/>
              <a:gd name="connsiteY19" fmla="*/ 1390241 h 1544091"/>
              <a:gd name="connsiteX20" fmla="*/ 1208595 w 1425436"/>
              <a:gd name="connsiteY20" fmla="*/ 1432285 h 1544091"/>
              <a:gd name="connsiteX21" fmla="*/ 216842 w 1425436"/>
              <a:gd name="connsiteY21" fmla="*/ 1432285 h 1544091"/>
              <a:gd name="connsiteX22" fmla="*/ 128847 w 1425436"/>
              <a:gd name="connsiteY22" fmla="*/ 1390241 h 1544091"/>
              <a:gd name="connsiteX23" fmla="*/ 115081 w 1425436"/>
              <a:gd name="connsiteY23" fmla="*/ 1316385 h 1544091"/>
              <a:gd name="connsiteX24" fmla="*/ 176844 w 1425436"/>
              <a:gd name="connsiteY24" fmla="*/ 1174440 h 1544091"/>
              <a:gd name="connsiteX25" fmla="*/ 279350 w 1425436"/>
              <a:gd name="connsiteY25" fmla="*/ 1059470 h 1544091"/>
              <a:gd name="connsiteX26" fmla="*/ 446595 w 1425436"/>
              <a:gd name="connsiteY26" fmla="*/ 976685 h 1544091"/>
              <a:gd name="connsiteX27" fmla="*/ 712625 w 1425436"/>
              <a:gd name="connsiteY27" fmla="*/ 943012 h 1544091"/>
              <a:gd name="connsiteX28" fmla="*/ 712625 w 1425436"/>
              <a:gd name="connsiteY28" fmla="*/ 831391 h 1544091"/>
              <a:gd name="connsiteX29" fmla="*/ 8296 w 1425436"/>
              <a:gd name="connsiteY29" fmla="*/ 1284387 h 1544091"/>
              <a:gd name="connsiteX30" fmla="*/ 216842 w 1425436"/>
              <a:gd name="connsiteY30" fmla="*/ 1544092 h 1544091"/>
              <a:gd name="connsiteX31" fmla="*/ 1208595 w 1425436"/>
              <a:gd name="connsiteY31" fmla="*/ 1544092 h 1544091"/>
              <a:gd name="connsiteX32" fmla="*/ 1417141 w 1425436"/>
              <a:gd name="connsiteY32" fmla="*/ 1284387 h 1544091"/>
              <a:gd name="connsiteX33" fmla="*/ 712625 w 1425436"/>
              <a:gd name="connsiteY33" fmla="*/ 831391 h 1544091"/>
            </a:gdLst>
            <a:rect l="l" t="t" r="r" b="b"/>
            <a:pathLst>
              <a:path w="1425436" h="1544091">
                <a:moveTo>
                  <a:pt x="712625" y="111621"/>
                </a:moveTo>
                <a:cubicBezTo>
                  <a:pt x="784435" y="111621"/>
                  <a:pt x="851780" y="139526"/>
                  <a:pt x="902567" y="190314"/>
                </a:cubicBezTo>
                <a:cubicBezTo>
                  <a:pt x="953355" y="241102"/>
                  <a:pt x="981260" y="308446"/>
                  <a:pt x="981260" y="380256"/>
                </a:cubicBezTo>
                <a:cubicBezTo>
                  <a:pt x="981260" y="452065"/>
                  <a:pt x="953355" y="519410"/>
                  <a:pt x="902567" y="570198"/>
                </a:cubicBezTo>
                <a:cubicBezTo>
                  <a:pt x="851780" y="620985"/>
                  <a:pt x="784435" y="648891"/>
                  <a:pt x="712625" y="648891"/>
                </a:cubicBezTo>
                <a:cubicBezTo>
                  <a:pt x="640816" y="648891"/>
                  <a:pt x="573471" y="620985"/>
                  <a:pt x="522684" y="570198"/>
                </a:cubicBezTo>
                <a:cubicBezTo>
                  <a:pt x="472082" y="519224"/>
                  <a:pt x="444177" y="451693"/>
                  <a:pt x="444177" y="380070"/>
                </a:cubicBezTo>
                <a:cubicBezTo>
                  <a:pt x="444177" y="308446"/>
                  <a:pt x="472082" y="240916"/>
                  <a:pt x="522870" y="190128"/>
                </a:cubicBezTo>
                <a:cubicBezTo>
                  <a:pt x="573471" y="139526"/>
                  <a:pt x="641002" y="111621"/>
                  <a:pt x="712625" y="111621"/>
                </a:cubicBezTo>
                <a:moveTo>
                  <a:pt x="712625" y="0"/>
                </a:moveTo>
                <a:cubicBezTo>
                  <a:pt x="502778" y="0"/>
                  <a:pt x="332556" y="170036"/>
                  <a:pt x="332556" y="380070"/>
                </a:cubicBezTo>
                <a:cubicBezTo>
                  <a:pt x="332556" y="589917"/>
                  <a:pt x="502778" y="760140"/>
                  <a:pt x="712625" y="760140"/>
                </a:cubicBezTo>
                <a:cubicBezTo>
                  <a:pt x="922473" y="760140"/>
                  <a:pt x="1092695" y="589917"/>
                  <a:pt x="1092695" y="380070"/>
                </a:cubicBezTo>
                <a:cubicBezTo>
                  <a:pt x="1092881" y="170036"/>
                  <a:pt x="922659" y="0"/>
                  <a:pt x="712625" y="0"/>
                </a:cubicBezTo>
                <a:close/>
                <a:moveTo>
                  <a:pt x="712625" y="943012"/>
                </a:moveTo>
                <a:cubicBezTo>
                  <a:pt x="813643" y="943012"/>
                  <a:pt x="903126" y="954360"/>
                  <a:pt x="978842" y="976685"/>
                </a:cubicBezTo>
                <a:cubicBezTo>
                  <a:pt x="1043582" y="995846"/>
                  <a:pt x="1099951" y="1023752"/>
                  <a:pt x="1146087" y="1059470"/>
                </a:cubicBezTo>
                <a:cubicBezTo>
                  <a:pt x="1186829" y="1091096"/>
                  <a:pt x="1220315" y="1128675"/>
                  <a:pt x="1248593" y="1174440"/>
                </a:cubicBezTo>
                <a:cubicBezTo>
                  <a:pt x="1273708" y="1215368"/>
                  <a:pt x="1293985" y="1261877"/>
                  <a:pt x="1310356" y="1316385"/>
                </a:cubicBezTo>
                <a:cubicBezTo>
                  <a:pt x="1320774" y="1350801"/>
                  <a:pt x="1306264" y="1377404"/>
                  <a:pt x="1296590" y="1390241"/>
                </a:cubicBezTo>
                <a:cubicBezTo>
                  <a:pt x="1276684" y="1417030"/>
                  <a:pt x="1244686" y="1432285"/>
                  <a:pt x="1208595" y="1432285"/>
                </a:cubicBezTo>
                <a:lnTo>
                  <a:pt x="216842" y="1432285"/>
                </a:lnTo>
                <a:cubicBezTo>
                  <a:pt x="180937" y="1432285"/>
                  <a:pt x="148753" y="1417030"/>
                  <a:pt x="128847" y="1390241"/>
                </a:cubicBezTo>
                <a:cubicBezTo>
                  <a:pt x="119359" y="1377404"/>
                  <a:pt x="104849" y="1350801"/>
                  <a:pt x="115081" y="1316385"/>
                </a:cubicBezTo>
                <a:cubicBezTo>
                  <a:pt x="131452" y="1261877"/>
                  <a:pt x="151543" y="1215368"/>
                  <a:pt x="176844" y="1174440"/>
                </a:cubicBezTo>
                <a:cubicBezTo>
                  <a:pt x="204936" y="1128675"/>
                  <a:pt x="238422" y="1090910"/>
                  <a:pt x="279350" y="1059470"/>
                </a:cubicBezTo>
                <a:cubicBezTo>
                  <a:pt x="325486" y="1023752"/>
                  <a:pt x="381855" y="995846"/>
                  <a:pt x="446595" y="976685"/>
                </a:cubicBezTo>
                <a:cubicBezTo>
                  <a:pt x="522125" y="954360"/>
                  <a:pt x="611794" y="943012"/>
                  <a:pt x="712625" y="943012"/>
                </a:cubicBezTo>
                <a:moveTo>
                  <a:pt x="712625" y="831391"/>
                </a:moveTo>
                <a:cubicBezTo>
                  <a:pt x="244561" y="831391"/>
                  <a:pt x="77501" y="1053331"/>
                  <a:pt x="8296" y="1284387"/>
                </a:cubicBezTo>
                <a:cubicBezTo>
                  <a:pt x="-30771" y="1414611"/>
                  <a:pt x="73037" y="1544092"/>
                  <a:pt x="216842" y="1544092"/>
                </a:cubicBezTo>
                <a:lnTo>
                  <a:pt x="1208595" y="1544092"/>
                </a:lnTo>
                <a:cubicBezTo>
                  <a:pt x="1352400" y="1544092"/>
                  <a:pt x="1456208" y="1414611"/>
                  <a:pt x="1417141" y="1284387"/>
                </a:cubicBezTo>
                <a:cubicBezTo>
                  <a:pt x="1347750" y="1053331"/>
                  <a:pt x="1180690" y="831391"/>
                  <a:pt x="712625" y="83139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1" flipV="0">
            <a:off x="650050" y="1918023"/>
            <a:ext cx="184513" cy="184513"/>
          </a:xfrm>
          <a:custGeom>
            <a:avLst/>
            <a:gdLst>
              <a:gd name="connsiteX0" fmla="*/ 104503 w 184513"/>
              <a:gd name="connsiteY0" fmla="*/ 0 h 184513"/>
              <a:gd name="connsiteX1" fmla="*/ 80010 w 184513"/>
              <a:gd name="connsiteY1" fmla="*/ 0 h 184513"/>
              <a:gd name="connsiteX2" fmla="*/ 80010 w 184513"/>
              <a:gd name="connsiteY2" fmla="*/ 80010 h 184513"/>
              <a:gd name="connsiteX3" fmla="*/ 0 w 184513"/>
              <a:gd name="connsiteY3" fmla="*/ 80010 h 184513"/>
              <a:gd name="connsiteX4" fmla="*/ 0 w 184513"/>
              <a:gd name="connsiteY4" fmla="*/ 104503 h 184513"/>
              <a:gd name="connsiteX5" fmla="*/ 80010 w 184513"/>
              <a:gd name="connsiteY5" fmla="*/ 104503 h 184513"/>
              <a:gd name="connsiteX6" fmla="*/ 80010 w 184513"/>
              <a:gd name="connsiteY6" fmla="*/ 184513 h 184513"/>
              <a:gd name="connsiteX7" fmla="*/ 104503 w 184513"/>
              <a:gd name="connsiteY7" fmla="*/ 184513 h 184513"/>
              <a:gd name="connsiteX8" fmla="*/ 104503 w 184513"/>
              <a:gd name="connsiteY8" fmla="*/ 104503 h 184513"/>
              <a:gd name="connsiteX9" fmla="*/ 184513 w 184513"/>
              <a:gd name="connsiteY9" fmla="*/ 104503 h 184513"/>
              <a:gd name="connsiteX10" fmla="*/ 184513 w 184513"/>
              <a:gd name="connsiteY10" fmla="*/ 80010 h 184513"/>
              <a:gd name="connsiteX11" fmla="*/ 104503 w 184513"/>
              <a:gd name="connsiteY11" fmla="*/ 80010 h 184513"/>
            </a:gdLst>
            <a:rect l="l" t="t" r="r" b="b"/>
            <a:pathLst>
              <a:path w="184513" h="184513">
                <a:moveTo>
                  <a:pt x="104503" y="0"/>
                </a:moveTo>
                <a:lnTo>
                  <a:pt x="80010" y="0"/>
                </a:lnTo>
                <a:lnTo>
                  <a:pt x="80010" y="80010"/>
                </a:lnTo>
                <a:lnTo>
                  <a:pt x="0" y="80010"/>
                </a:lnTo>
                <a:lnTo>
                  <a:pt x="0" y="104503"/>
                </a:lnTo>
                <a:lnTo>
                  <a:pt x="80010" y="104503"/>
                </a:lnTo>
                <a:lnTo>
                  <a:pt x="80010" y="184513"/>
                </a:lnTo>
                <a:lnTo>
                  <a:pt x="104503" y="184513"/>
                </a:lnTo>
                <a:lnTo>
                  <a:pt x="104503" y="104503"/>
                </a:lnTo>
                <a:lnTo>
                  <a:pt x="184513" y="104503"/>
                </a:lnTo>
                <a:lnTo>
                  <a:pt x="184513" y="80010"/>
                </a:lnTo>
                <a:lnTo>
                  <a:pt x="104503" y="80010"/>
                </a:lnTo>
                <a:close/>
              </a:path>
            </a:pathLst>
          </a:custGeom>
          <a:solidFill>
            <a:schemeClr val="accent2"/>
          </a:solidFill>
          <a:ln w="1632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1" flipV="0">
            <a:off x="788366" y="2115629"/>
            <a:ext cx="101867" cy="101867"/>
          </a:xfrm>
          <a:custGeom>
            <a:avLst/>
            <a:gdLst>
              <a:gd name="connsiteX0" fmla="*/ 104503 w 184513"/>
              <a:gd name="connsiteY0" fmla="*/ 0 h 184513"/>
              <a:gd name="connsiteX1" fmla="*/ 80010 w 184513"/>
              <a:gd name="connsiteY1" fmla="*/ 0 h 184513"/>
              <a:gd name="connsiteX2" fmla="*/ 80010 w 184513"/>
              <a:gd name="connsiteY2" fmla="*/ 80010 h 184513"/>
              <a:gd name="connsiteX3" fmla="*/ 0 w 184513"/>
              <a:gd name="connsiteY3" fmla="*/ 80010 h 184513"/>
              <a:gd name="connsiteX4" fmla="*/ 0 w 184513"/>
              <a:gd name="connsiteY4" fmla="*/ 104503 h 184513"/>
              <a:gd name="connsiteX5" fmla="*/ 80010 w 184513"/>
              <a:gd name="connsiteY5" fmla="*/ 104503 h 184513"/>
              <a:gd name="connsiteX6" fmla="*/ 80010 w 184513"/>
              <a:gd name="connsiteY6" fmla="*/ 184513 h 184513"/>
              <a:gd name="connsiteX7" fmla="*/ 104503 w 184513"/>
              <a:gd name="connsiteY7" fmla="*/ 184513 h 184513"/>
              <a:gd name="connsiteX8" fmla="*/ 104503 w 184513"/>
              <a:gd name="connsiteY8" fmla="*/ 104503 h 184513"/>
              <a:gd name="connsiteX9" fmla="*/ 184513 w 184513"/>
              <a:gd name="connsiteY9" fmla="*/ 104503 h 184513"/>
              <a:gd name="connsiteX10" fmla="*/ 184513 w 184513"/>
              <a:gd name="connsiteY10" fmla="*/ 80010 h 184513"/>
              <a:gd name="connsiteX11" fmla="*/ 104503 w 184513"/>
              <a:gd name="connsiteY11" fmla="*/ 80010 h 184513"/>
            </a:gdLst>
            <a:rect l="l" t="t" r="r" b="b"/>
            <a:pathLst>
              <a:path w="184513" h="184513">
                <a:moveTo>
                  <a:pt x="104503" y="0"/>
                </a:moveTo>
                <a:lnTo>
                  <a:pt x="80010" y="0"/>
                </a:lnTo>
                <a:lnTo>
                  <a:pt x="80010" y="80010"/>
                </a:lnTo>
                <a:lnTo>
                  <a:pt x="0" y="80010"/>
                </a:lnTo>
                <a:lnTo>
                  <a:pt x="0" y="104503"/>
                </a:lnTo>
                <a:lnTo>
                  <a:pt x="80010" y="104503"/>
                </a:lnTo>
                <a:lnTo>
                  <a:pt x="80010" y="184513"/>
                </a:lnTo>
                <a:lnTo>
                  <a:pt x="104503" y="184513"/>
                </a:lnTo>
                <a:lnTo>
                  <a:pt x="104503" y="104503"/>
                </a:lnTo>
                <a:lnTo>
                  <a:pt x="184513" y="104503"/>
                </a:lnTo>
                <a:lnTo>
                  <a:pt x="184513" y="80010"/>
                </a:lnTo>
                <a:lnTo>
                  <a:pt x="104503" y="80010"/>
                </a:lnTo>
                <a:close/>
              </a:path>
            </a:pathLst>
          </a:custGeom>
          <a:solidFill>
            <a:schemeClr val="accent1"/>
          </a:solidFill>
          <a:ln w="1632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920186" y="1480632"/>
            <a:ext cx="1179586" cy="14394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3949EE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01</a:t>
            </a:r>
            <a:endParaRPr kumimoji="1" lang="zh-CN" altLang="en-US"/>
          </a:p>
        </p:txBody>
      </p:sp>
      <p:cxnSp>
        <p:nvCxnSpPr>
          <p:cNvPr id="16" name="标题 1"/>
          <p:cNvCxnSpPr/>
          <p:nvPr/>
        </p:nvCxnSpPr>
        <p:spPr>
          <a:xfrm rot="0" flipH="0" flipV="0">
            <a:off x="1929538" y="2580053"/>
            <a:ext cx="672826" cy="0"/>
          </a:xfrm>
          <a:prstGeom prst="line">
            <a:avLst/>
          </a:prstGeom>
          <a:noFill/>
          <a:ln w="12700" cap="sq">
            <a:solidFill>
              <a:schemeClr val="accent2">
                <a:alpha val="50000"/>
              </a:schemeClr>
            </a:solidFill>
            <a:prstDash val="dash"/>
            <a:miter/>
          </a:ln>
        </p:spPr>
      </p:cxnSp>
      <p:sp>
        <p:nvSpPr>
          <p:cNvPr id="17" name="标题 1"/>
          <p:cNvSpPr txBox="1"/>
          <p:nvPr/>
        </p:nvSpPr>
        <p:spPr>
          <a:xfrm rot="0" flipH="0" flipV="0">
            <a:off x="9540239" y="241508"/>
            <a:ext cx="2230733" cy="29733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2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5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0" flipH="0" flipV="0">
            <a:off x="11386534" y="325289"/>
            <a:ext cx="129755" cy="129774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0" flipV="0">
            <a:off x="9743840" y="254366"/>
            <a:ext cx="1542030" cy="24622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PowerPoint design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0" flipH="0" flipV="0">
            <a:off x="920186" y="3027823"/>
            <a:ext cx="4583574" cy="15354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3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幻灯片 1：封面</a:t>
            </a: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rot="0" flipH="0" flipV="0">
            <a:off x="5319247" y="4306073"/>
            <a:ext cx="184513" cy="184513"/>
          </a:xfrm>
          <a:custGeom>
            <a:avLst/>
            <a:gdLst>
              <a:gd name="connsiteX0" fmla="*/ 104503 w 184513"/>
              <a:gd name="connsiteY0" fmla="*/ 0 h 184513"/>
              <a:gd name="connsiteX1" fmla="*/ 80010 w 184513"/>
              <a:gd name="connsiteY1" fmla="*/ 0 h 184513"/>
              <a:gd name="connsiteX2" fmla="*/ 80010 w 184513"/>
              <a:gd name="connsiteY2" fmla="*/ 80010 h 184513"/>
              <a:gd name="connsiteX3" fmla="*/ 0 w 184513"/>
              <a:gd name="connsiteY3" fmla="*/ 80010 h 184513"/>
              <a:gd name="connsiteX4" fmla="*/ 0 w 184513"/>
              <a:gd name="connsiteY4" fmla="*/ 104503 h 184513"/>
              <a:gd name="connsiteX5" fmla="*/ 80010 w 184513"/>
              <a:gd name="connsiteY5" fmla="*/ 104503 h 184513"/>
              <a:gd name="connsiteX6" fmla="*/ 80010 w 184513"/>
              <a:gd name="connsiteY6" fmla="*/ 184513 h 184513"/>
              <a:gd name="connsiteX7" fmla="*/ 104503 w 184513"/>
              <a:gd name="connsiteY7" fmla="*/ 184513 h 184513"/>
              <a:gd name="connsiteX8" fmla="*/ 104503 w 184513"/>
              <a:gd name="connsiteY8" fmla="*/ 104503 h 184513"/>
              <a:gd name="connsiteX9" fmla="*/ 184513 w 184513"/>
              <a:gd name="connsiteY9" fmla="*/ 104503 h 184513"/>
              <a:gd name="connsiteX10" fmla="*/ 184513 w 184513"/>
              <a:gd name="connsiteY10" fmla="*/ 80010 h 184513"/>
              <a:gd name="connsiteX11" fmla="*/ 104503 w 184513"/>
              <a:gd name="connsiteY11" fmla="*/ 80010 h 184513"/>
            </a:gdLst>
            <a:rect l="l" t="t" r="r" b="b"/>
            <a:pathLst>
              <a:path w="184513" h="184513">
                <a:moveTo>
                  <a:pt x="104503" y="0"/>
                </a:moveTo>
                <a:lnTo>
                  <a:pt x="80010" y="0"/>
                </a:lnTo>
                <a:lnTo>
                  <a:pt x="80010" y="80010"/>
                </a:lnTo>
                <a:lnTo>
                  <a:pt x="0" y="80010"/>
                </a:lnTo>
                <a:lnTo>
                  <a:pt x="0" y="104503"/>
                </a:lnTo>
                <a:lnTo>
                  <a:pt x="80010" y="104503"/>
                </a:lnTo>
                <a:lnTo>
                  <a:pt x="80010" y="184513"/>
                </a:lnTo>
                <a:lnTo>
                  <a:pt x="104503" y="184513"/>
                </a:lnTo>
                <a:lnTo>
                  <a:pt x="104503" y="104503"/>
                </a:lnTo>
                <a:lnTo>
                  <a:pt x="184513" y="104503"/>
                </a:lnTo>
                <a:lnTo>
                  <a:pt x="184513" y="80010"/>
                </a:lnTo>
                <a:lnTo>
                  <a:pt x="104503" y="80010"/>
                </a:lnTo>
                <a:close/>
              </a:path>
            </a:pathLst>
          </a:custGeom>
          <a:solidFill>
            <a:schemeClr val="accent2"/>
          </a:solidFill>
          <a:ln w="1632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rot="0" flipH="0" flipV="0">
            <a:off x="5263577" y="4503679"/>
            <a:ext cx="101867" cy="101867"/>
          </a:xfrm>
          <a:custGeom>
            <a:avLst/>
            <a:gdLst>
              <a:gd name="connsiteX0" fmla="*/ 104503 w 184513"/>
              <a:gd name="connsiteY0" fmla="*/ 0 h 184513"/>
              <a:gd name="connsiteX1" fmla="*/ 80010 w 184513"/>
              <a:gd name="connsiteY1" fmla="*/ 0 h 184513"/>
              <a:gd name="connsiteX2" fmla="*/ 80010 w 184513"/>
              <a:gd name="connsiteY2" fmla="*/ 80010 h 184513"/>
              <a:gd name="connsiteX3" fmla="*/ 0 w 184513"/>
              <a:gd name="connsiteY3" fmla="*/ 80010 h 184513"/>
              <a:gd name="connsiteX4" fmla="*/ 0 w 184513"/>
              <a:gd name="connsiteY4" fmla="*/ 104503 h 184513"/>
              <a:gd name="connsiteX5" fmla="*/ 80010 w 184513"/>
              <a:gd name="connsiteY5" fmla="*/ 104503 h 184513"/>
              <a:gd name="connsiteX6" fmla="*/ 80010 w 184513"/>
              <a:gd name="connsiteY6" fmla="*/ 184513 h 184513"/>
              <a:gd name="connsiteX7" fmla="*/ 104503 w 184513"/>
              <a:gd name="connsiteY7" fmla="*/ 184513 h 184513"/>
              <a:gd name="connsiteX8" fmla="*/ 104503 w 184513"/>
              <a:gd name="connsiteY8" fmla="*/ 104503 h 184513"/>
              <a:gd name="connsiteX9" fmla="*/ 184513 w 184513"/>
              <a:gd name="connsiteY9" fmla="*/ 104503 h 184513"/>
              <a:gd name="connsiteX10" fmla="*/ 184513 w 184513"/>
              <a:gd name="connsiteY10" fmla="*/ 80010 h 184513"/>
              <a:gd name="connsiteX11" fmla="*/ 104503 w 184513"/>
              <a:gd name="connsiteY11" fmla="*/ 80010 h 184513"/>
            </a:gdLst>
            <a:rect l="l" t="t" r="r" b="b"/>
            <a:pathLst>
              <a:path w="184513" h="184513">
                <a:moveTo>
                  <a:pt x="104503" y="0"/>
                </a:moveTo>
                <a:lnTo>
                  <a:pt x="80010" y="0"/>
                </a:lnTo>
                <a:lnTo>
                  <a:pt x="80010" y="80010"/>
                </a:lnTo>
                <a:lnTo>
                  <a:pt x="0" y="80010"/>
                </a:lnTo>
                <a:lnTo>
                  <a:pt x="0" y="104503"/>
                </a:lnTo>
                <a:lnTo>
                  <a:pt x="80010" y="104503"/>
                </a:lnTo>
                <a:lnTo>
                  <a:pt x="80010" y="184513"/>
                </a:lnTo>
                <a:lnTo>
                  <a:pt x="104503" y="184513"/>
                </a:lnTo>
                <a:lnTo>
                  <a:pt x="104503" y="104503"/>
                </a:lnTo>
                <a:lnTo>
                  <a:pt x="184513" y="104503"/>
                </a:lnTo>
                <a:lnTo>
                  <a:pt x="184513" y="80010"/>
                </a:lnTo>
                <a:lnTo>
                  <a:pt x="104503" y="80010"/>
                </a:lnTo>
                <a:close/>
              </a:path>
            </a:pathLst>
          </a:custGeom>
          <a:solidFill>
            <a:schemeClr val="accent1"/>
          </a:solidFill>
          <a:ln w="1632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 rot="21239739" flipH="0" flipV="0">
            <a:off x="340012" y="3241517"/>
            <a:ext cx="5890453" cy="381346"/>
          </a:xfrm>
          <a:prstGeom prst="ellipse">
            <a:avLst/>
          </a:prstGeom>
          <a:noFill/>
          <a:ln w="25400" cap="flat">
            <a:gradFill>
              <a:gsLst>
                <a:gs pos="20000">
                  <a:schemeClr val="accent2">
                    <a:alpha val="0"/>
                  </a:schemeClr>
                </a:gs>
                <a:gs pos="70000">
                  <a:schemeClr val="accent2">
                    <a:alpha val="80000"/>
                  </a:schemeClr>
                </a:gs>
                <a:gs pos="90000">
                  <a:schemeClr val="accent2"/>
                </a:gs>
              </a:gsLst>
              <a:lin ang="5400000" scaled="0"/>
            </a:gradFill>
            <a:miter/>
          </a:ln>
          <a:effectLst/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316690" y="373380"/>
            <a:ext cx="8171180" cy="65532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783520" y="484345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项目名称：AI 芯颐养院创业策划书</a:t>
            </a: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324256" y="626624"/>
            <a:ext cx="402076" cy="402076"/>
          </a:xfrm>
          <a:prstGeom prst="rtTriangl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316690" y="373380"/>
            <a:ext cx="8171180" cy="65532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783520" y="484345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团队图标：展示独具特色、能体现团队理念的图标</a:t>
            </a: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324256" y="626624"/>
            <a:ext cx="402076" cy="402076"/>
          </a:xfrm>
          <a:prstGeom prst="rtTriangl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316690" y="373380"/>
            <a:ext cx="8171180" cy="65532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783520" y="484345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团队地址：详细办公地址</a:t>
            </a: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324256" y="626624"/>
            <a:ext cx="402076" cy="402076"/>
          </a:xfrm>
          <a:prstGeom prst="rtTriangl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316690" y="373380"/>
            <a:ext cx="8171180" cy="65532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783520" y="484345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团队联系方式：电话、邮箱等</a:t>
            </a: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324256" y="626624"/>
            <a:ext cx="402076" cy="402076"/>
          </a:xfrm>
          <a:prstGeom prst="rtTriangl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2">
            <a:alphaModFix amt="100000"/>
          </a:blip>
          <a:srcRect l="2858" t="11915" r="21252" b="11915"/>
          <a:stretch>
            <a:fillRect/>
          </a:stretch>
        </p:blipFill>
        <p:spPr>
          <a:xfrm rot="0" flipH="0" flipV="0"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" name="标题 1"/>
          <p:cNvSpPr txBox="1"/>
          <p:nvPr/>
        </p:nvSpPr>
        <p:spPr>
          <a:xfrm rot="0" flipH="0" flipV="0">
            <a:off x="-1" y="0"/>
            <a:ext cx="10883569" cy="6858000"/>
          </a:xfrm>
          <a:prstGeom prst="rect">
            <a:avLst/>
          </a:prstGeom>
          <a:gradFill>
            <a:gsLst>
              <a:gs pos="12000">
                <a:schemeClr val="bg1"/>
              </a:gs>
              <a:gs pos="80000">
                <a:schemeClr val="bg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421027" y="333692"/>
            <a:ext cx="1321317" cy="164080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1693998" y="6276762"/>
            <a:ext cx="268552" cy="26855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1763397" y="6346151"/>
            <a:ext cx="129755" cy="129774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1273479" y="6276762"/>
            <a:ext cx="268552" cy="26855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1338911" y="6346151"/>
            <a:ext cx="137688" cy="129774"/>
          </a:xfrm>
          <a:custGeom>
            <a:avLst/>
            <a:gdLst>
              <a:gd name="connsiteX0" fmla="*/ 1110072 w 1498885"/>
              <a:gd name="connsiteY0" fmla="*/ 1039039 h 1412736"/>
              <a:gd name="connsiteX1" fmla="*/ 1149511 w 1498885"/>
              <a:gd name="connsiteY1" fmla="*/ 1055363 h 1412736"/>
              <a:gd name="connsiteX2" fmla="*/ 1371451 w 1498885"/>
              <a:gd name="connsiteY2" fmla="*/ 1277303 h 1412736"/>
              <a:gd name="connsiteX3" fmla="*/ 1371451 w 1498885"/>
              <a:gd name="connsiteY3" fmla="*/ 1356182 h 1412736"/>
              <a:gd name="connsiteX4" fmla="*/ 1332012 w 1498885"/>
              <a:gd name="connsiteY4" fmla="*/ 1372553 h 1412736"/>
              <a:gd name="connsiteX5" fmla="*/ 1292572 w 1498885"/>
              <a:gd name="connsiteY5" fmla="*/ 1356182 h 1412736"/>
              <a:gd name="connsiteX6" fmla="*/ 1070632 w 1498885"/>
              <a:gd name="connsiteY6" fmla="*/ 1134242 h 1412736"/>
              <a:gd name="connsiteX7" fmla="*/ 1070632 w 1498885"/>
              <a:gd name="connsiteY7" fmla="*/ 1055363 h 1412736"/>
              <a:gd name="connsiteX8" fmla="*/ 1110072 w 1498885"/>
              <a:gd name="connsiteY8" fmla="*/ 1039039 h 1412736"/>
              <a:gd name="connsiteX9" fmla="*/ 1110072 w 1498885"/>
              <a:gd name="connsiteY9" fmla="*/ 705989 h 1412736"/>
              <a:gd name="connsiteX10" fmla="*/ 1443075 w 1498885"/>
              <a:gd name="connsiteY10" fmla="*/ 705989 h 1412736"/>
              <a:gd name="connsiteX11" fmla="*/ 1498885 w 1498885"/>
              <a:gd name="connsiteY11" fmla="*/ 761800 h 1412736"/>
              <a:gd name="connsiteX12" fmla="*/ 1443075 w 1498885"/>
              <a:gd name="connsiteY12" fmla="*/ 817611 h 1412736"/>
              <a:gd name="connsiteX13" fmla="*/ 1110072 w 1498885"/>
              <a:gd name="connsiteY13" fmla="*/ 817611 h 1412736"/>
              <a:gd name="connsiteX14" fmla="*/ 1054261 w 1498885"/>
              <a:gd name="connsiteY14" fmla="*/ 761800 h 1412736"/>
              <a:gd name="connsiteX15" fmla="*/ 1110072 w 1498885"/>
              <a:gd name="connsiteY15" fmla="*/ 705989 h 1412736"/>
              <a:gd name="connsiteX16" fmla="*/ 1332012 w 1498885"/>
              <a:gd name="connsiteY16" fmla="*/ 151093 h 1412736"/>
              <a:gd name="connsiteX17" fmla="*/ 1371451 w 1498885"/>
              <a:gd name="connsiteY17" fmla="*/ 167418 h 1412736"/>
              <a:gd name="connsiteX18" fmla="*/ 1371451 w 1498885"/>
              <a:gd name="connsiteY18" fmla="*/ 246297 h 1412736"/>
              <a:gd name="connsiteX19" fmla="*/ 1149511 w 1498885"/>
              <a:gd name="connsiteY19" fmla="*/ 468236 h 1412736"/>
              <a:gd name="connsiteX20" fmla="*/ 1110072 w 1498885"/>
              <a:gd name="connsiteY20" fmla="*/ 484608 h 1412736"/>
              <a:gd name="connsiteX21" fmla="*/ 1070632 w 1498885"/>
              <a:gd name="connsiteY21" fmla="*/ 468236 h 1412736"/>
              <a:gd name="connsiteX22" fmla="*/ 1070632 w 1498885"/>
              <a:gd name="connsiteY22" fmla="*/ 389358 h 1412736"/>
              <a:gd name="connsiteX23" fmla="*/ 1292572 w 1498885"/>
              <a:gd name="connsiteY23" fmla="*/ 167418 h 1412736"/>
              <a:gd name="connsiteX24" fmla="*/ 1332012 w 1498885"/>
              <a:gd name="connsiteY24" fmla="*/ 151093 h 1412736"/>
              <a:gd name="connsiteX25" fmla="*/ 709724 w 1498885"/>
              <a:gd name="connsiteY25" fmla="*/ 111607 h 1412736"/>
              <a:gd name="connsiteX26" fmla="*/ 649635 w 1498885"/>
              <a:gd name="connsiteY26" fmla="*/ 127420 h 1412736"/>
              <a:gd name="connsiteX27" fmla="*/ 174129 w 1498885"/>
              <a:gd name="connsiteY27" fmla="*/ 394752 h 1412736"/>
              <a:gd name="connsiteX28" fmla="*/ 111621 w 1498885"/>
              <a:gd name="connsiteY28" fmla="*/ 501536 h 1412736"/>
              <a:gd name="connsiteX29" fmla="*/ 111621 w 1498885"/>
              <a:gd name="connsiteY29" fmla="*/ 910814 h 1412736"/>
              <a:gd name="connsiteX30" fmla="*/ 174129 w 1498885"/>
              <a:gd name="connsiteY30" fmla="*/ 1017598 h 1412736"/>
              <a:gd name="connsiteX31" fmla="*/ 649821 w 1498885"/>
              <a:gd name="connsiteY31" fmla="*/ 1284930 h 1412736"/>
              <a:gd name="connsiteX32" fmla="*/ 771674 w 1498885"/>
              <a:gd name="connsiteY32" fmla="*/ 1283814 h 1412736"/>
              <a:gd name="connsiteX33" fmla="*/ 832321 w 1498885"/>
              <a:gd name="connsiteY33" fmla="*/ 1178146 h 1412736"/>
              <a:gd name="connsiteX34" fmla="*/ 832321 w 1498885"/>
              <a:gd name="connsiteY34" fmla="*/ 234204 h 1412736"/>
              <a:gd name="connsiteX35" fmla="*/ 771674 w 1498885"/>
              <a:gd name="connsiteY35" fmla="*/ 128536 h 1412736"/>
              <a:gd name="connsiteX36" fmla="*/ 709724 w 1498885"/>
              <a:gd name="connsiteY36" fmla="*/ 111607 h 1412736"/>
              <a:gd name="connsiteX37" fmla="*/ 711864 w 1498885"/>
              <a:gd name="connsiteY37" fmla="*/ 9 h 1412736"/>
              <a:gd name="connsiteX38" fmla="*/ 828043 w 1498885"/>
              <a:gd name="connsiteY38" fmla="*/ 32356 h 1412736"/>
              <a:gd name="connsiteX39" fmla="*/ 943942 w 1498885"/>
              <a:gd name="connsiteY39" fmla="*/ 234390 h 1412736"/>
              <a:gd name="connsiteX40" fmla="*/ 943942 w 1498885"/>
              <a:gd name="connsiteY40" fmla="*/ 1178518 h 1412736"/>
              <a:gd name="connsiteX41" fmla="*/ 828043 w 1498885"/>
              <a:gd name="connsiteY41" fmla="*/ 1380552 h 1412736"/>
              <a:gd name="connsiteX42" fmla="*/ 709910 w 1498885"/>
              <a:gd name="connsiteY42" fmla="*/ 1412736 h 1412736"/>
              <a:gd name="connsiteX43" fmla="*/ 595126 w 1498885"/>
              <a:gd name="connsiteY43" fmla="*/ 1382413 h 1412736"/>
              <a:gd name="connsiteX44" fmla="*/ 119435 w 1498885"/>
              <a:gd name="connsiteY44" fmla="*/ 1115080 h 1412736"/>
              <a:gd name="connsiteX45" fmla="*/ 0 w 1498885"/>
              <a:gd name="connsiteY45" fmla="*/ 911000 h 1412736"/>
              <a:gd name="connsiteX46" fmla="*/ 0 w 1498885"/>
              <a:gd name="connsiteY46" fmla="*/ 501722 h 1412736"/>
              <a:gd name="connsiteX47" fmla="*/ 119435 w 1498885"/>
              <a:gd name="connsiteY47" fmla="*/ 297642 h 1412736"/>
              <a:gd name="connsiteX48" fmla="*/ 595126 w 1498885"/>
              <a:gd name="connsiteY48" fmla="*/ 30309 h 1412736"/>
              <a:gd name="connsiteX49" fmla="*/ 711864 w 1498885"/>
              <a:gd name="connsiteY49" fmla="*/ 9 h 1412736"/>
            </a:gdLst>
            <a:rect l="l" t="t" r="r" b="b"/>
            <a:pathLst>
              <a:path w="1498885" h="1412736">
                <a:moveTo>
                  <a:pt x="1110072" y="1039039"/>
                </a:moveTo>
                <a:cubicBezTo>
                  <a:pt x="1124350" y="1039039"/>
                  <a:pt x="1138628" y="1044480"/>
                  <a:pt x="1149511" y="1055363"/>
                </a:cubicBezTo>
                <a:lnTo>
                  <a:pt x="1371451" y="1277303"/>
                </a:lnTo>
                <a:cubicBezTo>
                  <a:pt x="1393217" y="1299070"/>
                  <a:pt x="1393217" y="1334416"/>
                  <a:pt x="1371451" y="1356182"/>
                </a:cubicBezTo>
                <a:cubicBezTo>
                  <a:pt x="1360661" y="1366972"/>
                  <a:pt x="1346336" y="1372553"/>
                  <a:pt x="1332012" y="1372553"/>
                </a:cubicBezTo>
                <a:cubicBezTo>
                  <a:pt x="1317687" y="1372553"/>
                  <a:pt x="1303362" y="1367158"/>
                  <a:pt x="1292572" y="1356182"/>
                </a:cubicBezTo>
                <a:lnTo>
                  <a:pt x="1070632" y="1134242"/>
                </a:lnTo>
                <a:cubicBezTo>
                  <a:pt x="1048866" y="1112476"/>
                  <a:pt x="1048866" y="1077130"/>
                  <a:pt x="1070632" y="1055363"/>
                </a:cubicBezTo>
                <a:cubicBezTo>
                  <a:pt x="1081515" y="1044480"/>
                  <a:pt x="1095793" y="1039039"/>
                  <a:pt x="1110072" y="1039039"/>
                </a:cubicBezTo>
                <a:close/>
                <a:moveTo>
                  <a:pt x="1110072" y="705989"/>
                </a:moveTo>
                <a:lnTo>
                  <a:pt x="1443075" y="705989"/>
                </a:lnTo>
                <a:cubicBezTo>
                  <a:pt x="1473956" y="705989"/>
                  <a:pt x="1498885" y="730918"/>
                  <a:pt x="1498885" y="761800"/>
                </a:cubicBezTo>
                <a:cubicBezTo>
                  <a:pt x="1498885" y="792682"/>
                  <a:pt x="1473770" y="817611"/>
                  <a:pt x="1443075" y="817611"/>
                </a:cubicBezTo>
                <a:lnTo>
                  <a:pt x="1110072" y="817611"/>
                </a:lnTo>
                <a:cubicBezTo>
                  <a:pt x="1079190" y="817611"/>
                  <a:pt x="1054261" y="792682"/>
                  <a:pt x="1054261" y="761800"/>
                </a:cubicBezTo>
                <a:cubicBezTo>
                  <a:pt x="1054261" y="730918"/>
                  <a:pt x="1079190" y="705989"/>
                  <a:pt x="1110072" y="705989"/>
                </a:cubicBezTo>
                <a:close/>
                <a:moveTo>
                  <a:pt x="1332012" y="151093"/>
                </a:moveTo>
                <a:cubicBezTo>
                  <a:pt x="1346290" y="151093"/>
                  <a:pt x="1360568" y="156535"/>
                  <a:pt x="1371451" y="167418"/>
                </a:cubicBezTo>
                <a:cubicBezTo>
                  <a:pt x="1393217" y="189184"/>
                  <a:pt x="1393217" y="224530"/>
                  <a:pt x="1371451" y="246297"/>
                </a:cubicBezTo>
                <a:lnTo>
                  <a:pt x="1149511" y="468236"/>
                </a:lnTo>
                <a:cubicBezTo>
                  <a:pt x="1138721" y="479213"/>
                  <a:pt x="1124396" y="484608"/>
                  <a:pt x="1110072" y="484608"/>
                </a:cubicBezTo>
                <a:cubicBezTo>
                  <a:pt x="1095747" y="484608"/>
                  <a:pt x="1081422" y="479213"/>
                  <a:pt x="1070632" y="468236"/>
                </a:cubicBezTo>
                <a:cubicBezTo>
                  <a:pt x="1048866" y="446470"/>
                  <a:pt x="1048866" y="411124"/>
                  <a:pt x="1070632" y="389358"/>
                </a:cubicBezTo>
                <a:lnTo>
                  <a:pt x="1292572" y="167418"/>
                </a:lnTo>
                <a:cubicBezTo>
                  <a:pt x="1303455" y="156535"/>
                  <a:pt x="1317733" y="151093"/>
                  <a:pt x="1332012" y="151093"/>
                </a:cubicBezTo>
                <a:close/>
                <a:moveTo>
                  <a:pt x="709724" y="111607"/>
                </a:moveTo>
                <a:cubicBezTo>
                  <a:pt x="689074" y="111607"/>
                  <a:pt x="668610" y="116816"/>
                  <a:pt x="649635" y="127420"/>
                </a:cubicBezTo>
                <a:lnTo>
                  <a:pt x="174129" y="394752"/>
                </a:lnTo>
                <a:cubicBezTo>
                  <a:pt x="135620" y="416332"/>
                  <a:pt x="111621" y="457260"/>
                  <a:pt x="111621" y="501536"/>
                </a:cubicBezTo>
                <a:lnTo>
                  <a:pt x="111621" y="910814"/>
                </a:lnTo>
                <a:cubicBezTo>
                  <a:pt x="111621" y="955090"/>
                  <a:pt x="135620" y="996018"/>
                  <a:pt x="174129" y="1017598"/>
                </a:cubicBezTo>
                <a:lnTo>
                  <a:pt x="649821" y="1284930"/>
                </a:lnTo>
                <a:cubicBezTo>
                  <a:pt x="688144" y="1306510"/>
                  <a:pt x="733723" y="1306138"/>
                  <a:pt x="771674" y="1283814"/>
                </a:cubicBezTo>
                <a:cubicBezTo>
                  <a:pt x="809625" y="1261676"/>
                  <a:pt x="832321" y="1222050"/>
                  <a:pt x="832321" y="1178146"/>
                </a:cubicBezTo>
                <a:lnTo>
                  <a:pt x="832321" y="234204"/>
                </a:lnTo>
                <a:cubicBezTo>
                  <a:pt x="832321" y="190113"/>
                  <a:pt x="809625" y="150674"/>
                  <a:pt x="771674" y="128536"/>
                </a:cubicBezTo>
                <a:cubicBezTo>
                  <a:pt x="752326" y="117188"/>
                  <a:pt x="731118" y="111607"/>
                  <a:pt x="709724" y="111607"/>
                </a:cubicBezTo>
                <a:close/>
                <a:moveTo>
                  <a:pt x="711864" y="9"/>
                </a:moveTo>
                <a:cubicBezTo>
                  <a:pt x="751861" y="358"/>
                  <a:pt x="791766" y="11148"/>
                  <a:pt x="828043" y="32356"/>
                </a:cubicBezTo>
                <a:cubicBezTo>
                  <a:pt x="900596" y="74772"/>
                  <a:pt x="943942" y="150302"/>
                  <a:pt x="943942" y="234390"/>
                </a:cubicBezTo>
                <a:lnTo>
                  <a:pt x="943942" y="1178518"/>
                </a:lnTo>
                <a:cubicBezTo>
                  <a:pt x="943942" y="1262606"/>
                  <a:pt x="900596" y="1338136"/>
                  <a:pt x="828043" y="1380552"/>
                </a:cubicBezTo>
                <a:cubicBezTo>
                  <a:pt x="791208" y="1401946"/>
                  <a:pt x="750466" y="1412736"/>
                  <a:pt x="709910" y="1412736"/>
                </a:cubicBezTo>
                <a:cubicBezTo>
                  <a:pt x="670471" y="1412736"/>
                  <a:pt x="631217" y="1402691"/>
                  <a:pt x="595126" y="1382413"/>
                </a:cubicBezTo>
                <a:lnTo>
                  <a:pt x="119435" y="1115080"/>
                </a:lnTo>
                <a:cubicBezTo>
                  <a:pt x="45765" y="1073594"/>
                  <a:pt x="0" y="995460"/>
                  <a:pt x="0" y="911000"/>
                </a:cubicBezTo>
                <a:lnTo>
                  <a:pt x="0" y="501722"/>
                </a:lnTo>
                <a:cubicBezTo>
                  <a:pt x="0" y="417262"/>
                  <a:pt x="45765" y="338942"/>
                  <a:pt x="119435" y="297642"/>
                </a:cubicBezTo>
                <a:lnTo>
                  <a:pt x="595126" y="30309"/>
                </a:lnTo>
                <a:cubicBezTo>
                  <a:pt x="631775" y="9752"/>
                  <a:pt x="671866" y="-340"/>
                  <a:pt x="711864" y="9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852960" y="6276762"/>
            <a:ext cx="268552" cy="26855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920186" y="6346151"/>
            <a:ext cx="134100" cy="129774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432441" y="6276762"/>
            <a:ext cx="268552" cy="26855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506816" y="6346151"/>
            <a:ext cx="119802" cy="129774"/>
          </a:xfrm>
          <a:custGeom>
            <a:avLst/>
            <a:gdLst>
              <a:gd name="connsiteX0" fmla="*/ 712625 w 1425436"/>
              <a:gd name="connsiteY0" fmla="*/ 111621 h 1544091"/>
              <a:gd name="connsiteX1" fmla="*/ 902567 w 1425436"/>
              <a:gd name="connsiteY1" fmla="*/ 190314 h 1544091"/>
              <a:gd name="connsiteX2" fmla="*/ 981260 w 1425436"/>
              <a:gd name="connsiteY2" fmla="*/ 380256 h 1544091"/>
              <a:gd name="connsiteX3" fmla="*/ 902567 w 1425436"/>
              <a:gd name="connsiteY3" fmla="*/ 570198 h 1544091"/>
              <a:gd name="connsiteX4" fmla="*/ 712625 w 1425436"/>
              <a:gd name="connsiteY4" fmla="*/ 648891 h 1544091"/>
              <a:gd name="connsiteX5" fmla="*/ 522684 w 1425436"/>
              <a:gd name="connsiteY5" fmla="*/ 570198 h 1544091"/>
              <a:gd name="connsiteX6" fmla="*/ 444177 w 1425436"/>
              <a:gd name="connsiteY6" fmla="*/ 380070 h 1544091"/>
              <a:gd name="connsiteX7" fmla="*/ 522870 w 1425436"/>
              <a:gd name="connsiteY7" fmla="*/ 190128 h 1544091"/>
              <a:gd name="connsiteX8" fmla="*/ 712625 w 1425436"/>
              <a:gd name="connsiteY8" fmla="*/ 111621 h 1544091"/>
              <a:gd name="connsiteX9" fmla="*/ 712625 w 1425436"/>
              <a:gd name="connsiteY9" fmla="*/ 0 h 1544091"/>
              <a:gd name="connsiteX10" fmla="*/ 332556 w 1425436"/>
              <a:gd name="connsiteY10" fmla="*/ 380070 h 1544091"/>
              <a:gd name="connsiteX11" fmla="*/ 712625 w 1425436"/>
              <a:gd name="connsiteY11" fmla="*/ 760140 h 1544091"/>
              <a:gd name="connsiteX12" fmla="*/ 1092695 w 1425436"/>
              <a:gd name="connsiteY12" fmla="*/ 380070 h 1544091"/>
              <a:gd name="connsiteX13" fmla="*/ 712625 w 1425436"/>
              <a:gd name="connsiteY13" fmla="*/ 0 h 1544091"/>
              <a:gd name="connsiteX14" fmla="*/ 712625 w 1425436"/>
              <a:gd name="connsiteY14" fmla="*/ 943012 h 1544091"/>
              <a:gd name="connsiteX15" fmla="*/ 978842 w 1425436"/>
              <a:gd name="connsiteY15" fmla="*/ 976685 h 1544091"/>
              <a:gd name="connsiteX16" fmla="*/ 1146087 w 1425436"/>
              <a:gd name="connsiteY16" fmla="*/ 1059470 h 1544091"/>
              <a:gd name="connsiteX17" fmla="*/ 1248593 w 1425436"/>
              <a:gd name="connsiteY17" fmla="*/ 1174440 h 1544091"/>
              <a:gd name="connsiteX18" fmla="*/ 1310356 w 1425436"/>
              <a:gd name="connsiteY18" fmla="*/ 1316385 h 1544091"/>
              <a:gd name="connsiteX19" fmla="*/ 1296590 w 1425436"/>
              <a:gd name="connsiteY19" fmla="*/ 1390241 h 1544091"/>
              <a:gd name="connsiteX20" fmla="*/ 1208595 w 1425436"/>
              <a:gd name="connsiteY20" fmla="*/ 1432285 h 1544091"/>
              <a:gd name="connsiteX21" fmla="*/ 216842 w 1425436"/>
              <a:gd name="connsiteY21" fmla="*/ 1432285 h 1544091"/>
              <a:gd name="connsiteX22" fmla="*/ 128847 w 1425436"/>
              <a:gd name="connsiteY22" fmla="*/ 1390241 h 1544091"/>
              <a:gd name="connsiteX23" fmla="*/ 115081 w 1425436"/>
              <a:gd name="connsiteY23" fmla="*/ 1316385 h 1544091"/>
              <a:gd name="connsiteX24" fmla="*/ 176844 w 1425436"/>
              <a:gd name="connsiteY24" fmla="*/ 1174440 h 1544091"/>
              <a:gd name="connsiteX25" fmla="*/ 279350 w 1425436"/>
              <a:gd name="connsiteY25" fmla="*/ 1059470 h 1544091"/>
              <a:gd name="connsiteX26" fmla="*/ 446595 w 1425436"/>
              <a:gd name="connsiteY26" fmla="*/ 976685 h 1544091"/>
              <a:gd name="connsiteX27" fmla="*/ 712625 w 1425436"/>
              <a:gd name="connsiteY27" fmla="*/ 943012 h 1544091"/>
              <a:gd name="connsiteX28" fmla="*/ 712625 w 1425436"/>
              <a:gd name="connsiteY28" fmla="*/ 831391 h 1544091"/>
              <a:gd name="connsiteX29" fmla="*/ 8296 w 1425436"/>
              <a:gd name="connsiteY29" fmla="*/ 1284387 h 1544091"/>
              <a:gd name="connsiteX30" fmla="*/ 216842 w 1425436"/>
              <a:gd name="connsiteY30" fmla="*/ 1544092 h 1544091"/>
              <a:gd name="connsiteX31" fmla="*/ 1208595 w 1425436"/>
              <a:gd name="connsiteY31" fmla="*/ 1544092 h 1544091"/>
              <a:gd name="connsiteX32" fmla="*/ 1417141 w 1425436"/>
              <a:gd name="connsiteY32" fmla="*/ 1284387 h 1544091"/>
              <a:gd name="connsiteX33" fmla="*/ 712625 w 1425436"/>
              <a:gd name="connsiteY33" fmla="*/ 831391 h 1544091"/>
            </a:gdLst>
            <a:rect l="l" t="t" r="r" b="b"/>
            <a:pathLst>
              <a:path w="1425436" h="1544091">
                <a:moveTo>
                  <a:pt x="712625" y="111621"/>
                </a:moveTo>
                <a:cubicBezTo>
                  <a:pt x="784435" y="111621"/>
                  <a:pt x="851780" y="139526"/>
                  <a:pt x="902567" y="190314"/>
                </a:cubicBezTo>
                <a:cubicBezTo>
                  <a:pt x="953355" y="241102"/>
                  <a:pt x="981260" y="308446"/>
                  <a:pt x="981260" y="380256"/>
                </a:cubicBezTo>
                <a:cubicBezTo>
                  <a:pt x="981260" y="452065"/>
                  <a:pt x="953355" y="519410"/>
                  <a:pt x="902567" y="570198"/>
                </a:cubicBezTo>
                <a:cubicBezTo>
                  <a:pt x="851780" y="620985"/>
                  <a:pt x="784435" y="648891"/>
                  <a:pt x="712625" y="648891"/>
                </a:cubicBezTo>
                <a:cubicBezTo>
                  <a:pt x="640816" y="648891"/>
                  <a:pt x="573471" y="620985"/>
                  <a:pt x="522684" y="570198"/>
                </a:cubicBezTo>
                <a:cubicBezTo>
                  <a:pt x="472082" y="519224"/>
                  <a:pt x="444177" y="451693"/>
                  <a:pt x="444177" y="380070"/>
                </a:cubicBezTo>
                <a:cubicBezTo>
                  <a:pt x="444177" y="308446"/>
                  <a:pt x="472082" y="240916"/>
                  <a:pt x="522870" y="190128"/>
                </a:cubicBezTo>
                <a:cubicBezTo>
                  <a:pt x="573471" y="139526"/>
                  <a:pt x="641002" y="111621"/>
                  <a:pt x="712625" y="111621"/>
                </a:cubicBezTo>
                <a:moveTo>
                  <a:pt x="712625" y="0"/>
                </a:moveTo>
                <a:cubicBezTo>
                  <a:pt x="502778" y="0"/>
                  <a:pt x="332556" y="170036"/>
                  <a:pt x="332556" y="380070"/>
                </a:cubicBezTo>
                <a:cubicBezTo>
                  <a:pt x="332556" y="589917"/>
                  <a:pt x="502778" y="760140"/>
                  <a:pt x="712625" y="760140"/>
                </a:cubicBezTo>
                <a:cubicBezTo>
                  <a:pt x="922473" y="760140"/>
                  <a:pt x="1092695" y="589917"/>
                  <a:pt x="1092695" y="380070"/>
                </a:cubicBezTo>
                <a:cubicBezTo>
                  <a:pt x="1092881" y="170036"/>
                  <a:pt x="922659" y="0"/>
                  <a:pt x="712625" y="0"/>
                </a:cubicBezTo>
                <a:close/>
                <a:moveTo>
                  <a:pt x="712625" y="943012"/>
                </a:moveTo>
                <a:cubicBezTo>
                  <a:pt x="813643" y="943012"/>
                  <a:pt x="903126" y="954360"/>
                  <a:pt x="978842" y="976685"/>
                </a:cubicBezTo>
                <a:cubicBezTo>
                  <a:pt x="1043582" y="995846"/>
                  <a:pt x="1099951" y="1023752"/>
                  <a:pt x="1146087" y="1059470"/>
                </a:cubicBezTo>
                <a:cubicBezTo>
                  <a:pt x="1186829" y="1091096"/>
                  <a:pt x="1220315" y="1128675"/>
                  <a:pt x="1248593" y="1174440"/>
                </a:cubicBezTo>
                <a:cubicBezTo>
                  <a:pt x="1273708" y="1215368"/>
                  <a:pt x="1293985" y="1261877"/>
                  <a:pt x="1310356" y="1316385"/>
                </a:cubicBezTo>
                <a:cubicBezTo>
                  <a:pt x="1320774" y="1350801"/>
                  <a:pt x="1306264" y="1377404"/>
                  <a:pt x="1296590" y="1390241"/>
                </a:cubicBezTo>
                <a:cubicBezTo>
                  <a:pt x="1276684" y="1417030"/>
                  <a:pt x="1244686" y="1432285"/>
                  <a:pt x="1208595" y="1432285"/>
                </a:cubicBezTo>
                <a:lnTo>
                  <a:pt x="216842" y="1432285"/>
                </a:lnTo>
                <a:cubicBezTo>
                  <a:pt x="180937" y="1432285"/>
                  <a:pt x="148753" y="1417030"/>
                  <a:pt x="128847" y="1390241"/>
                </a:cubicBezTo>
                <a:cubicBezTo>
                  <a:pt x="119359" y="1377404"/>
                  <a:pt x="104849" y="1350801"/>
                  <a:pt x="115081" y="1316385"/>
                </a:cubicBezTo>
                <a:cubicBezTo>
                  <a:pt x="131452" y="1261877"/>
                  <a:pt x="151543" y="1215368"/>
                  <a:pt x="176844" y="1174440"/>
                </a:cubicBezTo>
                <a:cubicBezTo>
                  <a:pt x="204936" y="1128675"/>
                  <a:pt x="238422" y="1090910"/>
                  <a:pt x="279350" y="1059470"/>
                </a:cubicBezTo>
                <a:cubicBezTo>
                  <a:pt x="325486" y="1023752"/>
                  <a:pt x="381855" y="995846"/>
                  <a:pt x="446595" y="976685"/>
                </a:cubicBezTo>
                <a:cubicBezTo>
                  <a:pt x="522125" y="954360"/>
                  <a:pt x="611794" y="943012"/>
                  <a:pt x="712625" y="943012"/>
                </a:cubicBezTo>
                <a:moveTo>
                  <a:pt x="712625" y="831391"/>
                </a:moveTo>
                <a:cubicBezTo>
                  <a:pt x="244561" y="831391"/>
                  <a:pt x="77501" y="1053331"/>
                  <a:pt x="8296" y="1284387"/>
                </a:cubicBezTo>
                <a:cubicBezTo>
                  <a:pt x="-30771" y="1414611"/>
                  <a:pt x="73037" y="1544092"/>
                  <a:pt x="216842" y="1544092"/>
                </a:cubicBezTo>
                <a:lnTo>
                  <a:pt x="1208595" y="1544092"/>
                </a:lnTo>
                <a:cubicBezTo>
                  <a:pt x="1352400" y="1544092"/>
                  <a:pt x="1456208" y="1414611"/>
                  <a:pt x="1417141" y="1284387"/>
                </a:cubicBezTo>
                <a:cubicBezTo>
                  <a:pt x="1347750" y="1053331"/>
                  <a:pt x="1180690" y="831391"/>
                  <a:pt x="712625" y="83139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1" flipV="0">
            <a:off x="650050" y="1918023"/>
            <a:ext cx="184513" cy="184513"/>
          </a:xfrm>
          <a:custGeom>
            <a:avLst/>
            <a:gdLst>
              <a:gd name="connsiteX0" fmla="*/ 104503 w 184513"/>
              <a:gd name="connsiteY0" fmla="*/ 0 h 184513"/>
              <a:gd name="connsiteX1" fmla="*/ 80010 w 184513"/>
              <a:gd name="connsiteY1" fmla="*/ 0 h 184513"/>
              <a:gd name="connsiteX2" fmla="*/ 80010 w 184513"/>
              <a:gd name="connsiteY2" fmla="*/ 80010 h 184513"/>
              <a:gd name="connsiteX3" fmla="*/ 0 w 184513"/>
              <a:gd name="connsiteY3" fmla="*/ 80010 h 184513"/>
              <a:gd name="connsiteX4" fmla="*/ 0 w 184513"/>
              <a:gd name="connsiteY4" fmla="*/ 104503 h 184513"/>
              <a:gd name="connsiteX5" fmla="*/ 80010 w 184513"/>
              <a:gd name="connsiteY5" fmla="*/ 104503 h 184513"/>
              <a:gd name="connsiteX6" fmla="*/ 80010 w 184513"/>
              <a:gd name="connsiteY6" fmla="*/ 184513 h 184513"/>
              <a:gd name="connsiteX7" fmla="*/ 104503 w 184513"/>
              <a:gd name="connsiteY7" fmla="*/ 184513 h 184513"/>
              <a:gd name="connsiteX8" fmla="*/ 104503 w 184513"/>
              <a:gd name="connsiteY8" fmla="*/ 104503 h 184513"/>
              <a:gd name="connsiteX9" fmla="*/ 184513 w 184513"/>
              <a:gd name="connsiteY9" fmla="*/ 104503 h 184513"/>
              <a:gd name="connsiteX10" fmla="*/ 184513 w 184513"/>
              <a:gd name="connsiteY10" fmla="*/ 80010 h 184513"/>
              <a:gd name="connsiteX11" fmla="*/ 104503 w 184513"/>
              <a:gd name="connsiteY11" fmla="*/ 80010 h 184513"/>
            </a:gdLst>
            <a:rect l="l" t="t" r="r" b="b"/>
            <a:pathLst>
              <a:path w="184513" h="184513">
                <a:moveTo>
                  <a:pt x="104503" y="0"/>
                </a:moveTo>
                <a:lnTo>
                  <a:pt x="80010" y="0"/>
                </a:lnTo>
                <a:lnTo>
                  <a:pt x="80010" y="80010"/>
                </a:lnTo>
                <a:lnTo>
                  <a:pt x="0" y="80010"/>
                </a:lnTo>
                <a:lnTo>
                  <a:pt x="0" y="104503"/>
                </a:lnTo>
                <a:lnTo>
                  <a:pt x="80010" y="104503"/>
                </a:lnTo>
                <a:lnTo>
                  <a:pt x="80010" y="184513"/>
                </a:lnTo>
                <a:lnTo>
                  <a:pt x="104503" y="184513"/>
                </a:lnTo>
                <a:lnTo>
                  <a:pt x="104503" y="104503"/>
                </a:lnTo>
                <a:lnTo>
                  <a:pt x="184513" y="104503"/>
                </a:lnTo>
                <a:lnTo>
                  <a:pt x="184513" y="80010"/>
                </a:lnTo>
                <a:lnTo>
                  <a:pt x="104503" y="80010"/>
                </a:lnTo>
                <a:close/>
              </a:path>
            </a:pathLst>
          </a:custGeom>
          <a:solidFill>
            <a:schemeClr val="accent2"/>
          </a:solidFill>
          <a:ln w="1632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1" flipV="0">
            <a:off x="788366" y="2115629"/>
            <a:ext cx="101867" cy="101867"/>
          </a:xfrm>
          <a:custGeom>
            <a:avLst/>
            <a:gdLst>
              <a:gd name="connsiteX0" fmla="*/ 104503 w 184513"/>
              <a:gd name="connsiteY0" fmla="*/ 0 h 184513"/>
              <a:gd name="connsiteX1" fmla="*/ 80010 w 184513"/>
              <a:gd name="connsiteY1" fmla="*/ 0 h 184513"/>
              <a:gd name="connsiteX2" fmla="*/ 80010 w 184513"/>
              <a:gd name="connsiteY2" fmla="*/ 80010 h 184513"/>
              <a:gd name="connsiteX3" fmla="*/ 0 w 184513"/>
              <a:gd name="connsiteY3" fmla="*/ 80010 h 184513"/>
              <a:gd name="connsiteX4" fmla="*/ 0 w 184513"/>
              <a:gd name="connsiteY4" fmla="*/ 104503 h 184513"/>
              <a:gd name="connsiteX5" fmla="*/ 80010 w 184513"/>
              <a:gd name="connsiteY5" fmla="*/ 104503 h 184513"/>
              <a:gd name="connsiteX6" fmla="*/ 80010 w 184513"/>
              <a:gd name="connsiteY6" fmla="*/ 184513 h 184513"/>
              <a:gd name="connsiteX7" fmla="*/ 104503 w 184513"/>
              <a:gd name="connsiteY7" fmla="*/ 184513 h 184513"/>
              <a:gd name="connsiteX8" fmla="*/ 104503 w 184513"/>
              <a:gd name="connsiteY8" fmla="*/ 104503 h 184513"/>
              <a:gd name="connsiteX9" fmla="*/ 184513 w 184513"/>
              <a:gd name="connsiteY9" fmla="*/ 104503 h 184513"/>
              <a:gd name="connsiteX10" fmla="*/ 184513 w 184513"/>
              <a:gd name="connsiteY10" fmla="*/ 80010 h 184513"/>
              <a:gd name="connsiteX11" fmla="*/ 104503 w 184513"/>
              <a:gd name="connsiteY11" fmla="*/ 80010 h 184513"/>
            </a:gdLst>
            <a:rect l="l" t="t" r="r" b="b"/>
            <a:pathLst>
              <a:path w="184513" h="184513">
                <a:moveTo>
                  <a:pt x="104503" y="0"/>
                </a:moveTo>
                <a:lnTo>
                  <a:pt x="80010" y="0"/>
                </a:lnTo>
                <a:lnTo>
                  <a:pt x="80010" y="80010"/>
                </a:lnTo>
                <a:lnTo>
                  <a:pt x="0" y="80010"/>
                </a:lnTo>
                <a:lnTo>
                  <a:pt x="0" y="104503"/>
                </a:lnTo>
                <a:lnTo>
                  <a:pt x="80010" y="104503"/>
                </a:lnTo>
                <a:lnTo>
                  <a:pt x="80010" y="184513"/>
                </a:lnTo>
                <a:lnTo>
                  <a:pt x="104503" y="184513"/>
                </a:lnTo>
                <a:lnTo>
                  <a:pt x="104503" y="104503"/>
                </a:lnTo>
                <a:lnTo>
                  <a:pt x="184513" y="104503"/>
                </a:lnTo>
                <a:lnTo>
                  <a:pt x="184513" y="80010"/>
                </a:lnTo>
                <a:lnTo>
                  <a:pt x="104503" y="80010"/>
                </a:lnTo>
                <a:close/>
              </a:path>
            </a:pathLst>
          </a:custGeom>
          <a:solidFill>
            <a:schemeClr val="accent1"/>
          </a:solidFill>
          <a:ln w="1632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920186" y="1480632"/>
            <a:ext cx="1179586" cy="14394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3949EE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02</a:t>
            </a:r>
            <a:endParaRPr kumimoji="1" lang="zh-CN" altLang="en-US"/>
          </a:p>
        </p:txBody>
      </p:sp>
      <p:cxnSp>
        <p:nvCxnSpPr>
          <p:cNvPr id="16" name="标题 1"/>
          <p:cNvCxnSpPr/>
          <p:nvPr/>
        </p:nvCxnSpPr>
        <p:spPr>
          <a:xfrm rot="0" flipH="0" flipV="0">
            <a:off x="1929538" y="2580053"/>
            <a:ext cx="672826" cy="0"/>
          </a:xfrm>
          <a:prstGeom prst="line">
            <a:avLst/>
          </a:prstGeom>
          <a:noFill/>
          <a:ln w="12700" cap="sq">
            <a:solidFill>
              <a:schemeClr val="accent2">
                <a:alpha val="50000"/>
              </a:schemeClr>
            </a:solidFill>
            <a:prstDash val="dash"/>
            <a:miter/>
          </a:ln>
        </p:spPr>
      </p:cxnSp>
      <p:sp>
        <p:nvSpPr>
          <p:cNvPr id="17" name="标题 1"/>
          <p:cNvSpPr txBox="1"/>
          <p:nvPr/>
        </p:nvSpPr>
        <p:spPr>
          <a:xfrm rot="0" flipH="0" flipV="0">
            <a:off x="9540239" y="241508"/>
            <a:ext cx="2230733" cy="29733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2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5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0" flipH="0" flipV="0">
            <a:off x="11386534" y="325289"/>
            <a:ext cx="129755" cy="129774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0" flipV="0">
            <a:off x="9743840" y="254366"/>
            <a:ext cx="1542030" cy="24622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PowerPoint design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0" flipH="0" flipV="0">
            <a:off x="920186" y="3027823"/>
            <a:ext cx="4583574" cy="15354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3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幻灯片 2：目录</a:t>
            </a: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rot="0" flipH="0" flipV="0">
            <a:off x="5319247" y="4306073"/>
            <a:ext cx="184513" cy="184513"/>
          </a:xfrm>
          <a:custGeom>
            <a:avLst/>
            <a:gdLst>
              <a:gd name="connsiteX0" fmla="*/ 104503 w 184513"/>
              <a:gd name="connsiteY0" fmla="*/ 0 h 184513"/>
              <a:gd name="connsiteX1" fmla="*/ 80010 w 184513"/>
              <a:gd name="connsiteY1" fmla="*/ 0 h 184513"/>
              <a:gd name="connsiteX2" fmla="*/ 80010 w 184513"/>
              <a:gd name="connsiteY2" fmla="*/ 80010 h 184513"/>
              <a:gd name="connsiteX3" fmla="*/ 0 w 184513"/>
              <a:gd name="connsiteY3" fmla="*/ 80010 h 184513"/>
              <a:gd name="connsiteX4" fmla="*/ 0 w 184513"/>
              <a:gd name="connsiteY4" fmla="*/ 104503 h 184513"/>
              <a:gd name="connsiteX5" fmla="*/ 80010 w 184513"/>
              <a:gd name="connsiteY5" fmla="*/ 104503 h 184513"/>
              <a:gd name="connsiteX6" fmla="*/ 80010 w 184513"/>
              <a:gd name="connsiteY6" fmla="*/ 184513 h 184513"/>
              <a:gd name="connsiteX7" fmla="*/ 104503 w 184513"/>
              <a:gd name="connsiteY7" fmla="*/ 184513 h 184513"/>
              <a:gd name="connsiteX8" fmla="*/ 104503 w 184513"/>
              <a:gd name="connsiteY8" fmla="*/ 104503 h 184513"/>
              <a:gd name="connsiteX9" fmla="*/ 184513 w 184513"/>
              <a:gd name="connsiteY9" fmla="*/ 104503 h 184513"/>
              <a:gd name="connsiteX10" fmla="*/ 184513 w 184513"/>
              <a:gd name="connsiteY10" fmla="*/ 80010 h 184513"/>
              <a:gd name="connsiteX11" fmla="*/ 104503 w 184513"/>
              <a:gd name="connsiteY11" fmla="*/ 80010 h 184513"/>
            </a:gdLst>
            <a:rect l="l" t="t" r="r" b="b"/>
            <a:pathLst>
              <a:path w="184513" h="184513">
                <a:moveTo>
                  <a:pt x="104503" y="0"/>
                </a:moveTo>
                <a:lnTo>
                  <a:pt x="80010" y="0"/>
                </a:lnTo>
                <a:lnTo>
                  <a:pt x="80010" y="80010"/>
                </a:lnTo>
                <a:lnTo>
                  <a:pt x="0" y="80010"/>
                </a:lnTo>
                <a:lnTo>
                  <a:pt x="0" y="104503"/>
                </a:lnTo>
                <a:lnTo>
                  <a:pt x="80010" y="104503"/>
                </a:lnTo>
                <a:lnTo>
                  <a:pt x="80010" y="184513"/>
                </a:lnTo>
                <a:lnTo>
                  <a:pt x="104503" y="184513"/>
                </a:lnTo>
                <a:lnTo>
                  <a:pt x="104503" y="104503"/>
                </a:lnTo>
                <a:lnTo>
                  <a:pt x="184513" y="104503"/>
                </a:lnTo>
                <a:lnTo>
                  <a:pt x="184513" y="80010"/>
                </a:lnTo>
                <a:lnTo>
                  <a:pt x="104503" y="80010"/>
                </a:lnTo>
                <a:close/>
              </a:path>
            </a:pathLst>
          </a:custGeom>
          <a:solidFill>
            <a:schemeClr val="accent2"/>
          </a:solidFill>
          <a:ln w="1632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rot="0" flipH="0" flipV="0">
            <a:off x="5263577" y="4503679"/>
            <a:ext cx="101867" cy="101867"/>
          </a:xfrm>
          <a:custGeom>
            <a:avLst/>
            <a:gdLst>
              <a:gd name="connsiteX0" fmla="*/ 104503 w 184513"/>
              <a:gd name="connsiteY0" fmla="*/ 0 h 184513"/>
              <a:gd name="connsiteX1" fmla="*/ 80010 w 184513"/>
              <a:gd name="connsiteY1" fmla="*/ 0 h 184513"/>
              <a:gd name="connsiteX2" fmla="*/ 80010 w 184513"/>
              <a:gd name="connsiteY2" fmla="*/ 80010 h 184513"/>
              <a:gd name="connsiteX3" fmla="*/ 0 w 184513"/>
              <a:gd name="connsiteY3" fmla="*/ 80010 h 184513"/>
              <a:gd name="connsiteX4" fmla="*/ 0 w 184513"/>
              <a:gd name="connsiteY4" fmla="*/ 104503 h 184513"/>
              <a:gd name="connsiteX5" fmla="*/ 80010 w 184513"/>
              <a:gd name="connsiteY5" fmla="*/ 104503 h 184513"/>
              <a:gd name="connsiteX6" fmla="*/ 80010 w 184513"/>
              <a:gd name="connsiteY6" fmla="*/ 184513 h 184513"/>
              <a:gd name="connsiteX7" fmla="*/ 104503 w 184513"/>
              <a:gd name="connsiteY7" fmla="*/ 184513 h 184513"/>
              <a:gd name="connsiteX8" fmla="*/ 104503 w 184513"/>
              <a:gd name="connsiteY8" fmla="*/ 104503 h 184513"/>
              <a:gd name="connsiteX9" fmla="*/ 184513 w 184513"/>
              <a:gd name="connsiteY9" fmla="*/ 104503 h 184513"/>
              <a:gd name="connsiteX10" fmla="*/ 184513 w 184513"/>
              <a:gd name="connsiteY10" fmla="*/ 80010 h 184513"/>
              <a:gd name="connsiteX11" fmla="*/ 104503 w 184513"/>
              <a:gd name="connsiteY11" fmla="*/ 80010 h 184513"/>
            </a:gdLst>
            <a:rect l="l" t="t" r="r" b="b"/>
            <a:pathLst>
              <a:path w="184513" h="184513">
                <a:moveTo>
                  <a:pt x="104503" y="0"/>
                </a:moveTo>
                <a:lnTo>
                  <a:pt x="80010" y="0"/>
                </a:lnTo>
                <a:lnTo>
                  <a:pt x="80010" y="80010"/>
                </a:lnTo>
                <a:lnTo>
                  <a:pt x="0" y="80010"/>
                </a:lnTo>
                <a:lnTo>
                  <a:pt x="0" y="104503"/>
                </a:lnTo>
                <a:lnTo>
                  <a:pt x="80010" y="104503"/>
                </a:lnTo>
                <a:lnTo>
                  <a:pt x="80010" y="184513"/>
                </a:lnTo>
                <a:lnTo>
                  <a:pt x="104503" y="184513"/>
                </a:lnTo>
                <a:lnTo>
                  <a:pt x="104503" y="104503"/>
                </a:lnTo>
                <a:lnTo>
                  <a:pt x="184513" y="104503"/>
                </a:lnTo>
                <a:lnTo>
                  <a:pt x="184513" y="80010"/>
                </a:lnTo>
                <a:lnTo>
                  <a:pt x="104503" y="80010"/>
                </a:lnTo>
                <a:close/>
              </a:path>
            </a:pathLst>
          </a:custGeom>
          <a:solidFill>
            <a:schemeClr val="accent1"/>
          </a:solidFill>
          <a:ln w="1632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 rot="21239739" flipH="0" flipV="0">
            <a:off x="340012" y="3241517"/>
            <a:ext cx="5890453" cy="381346"/>
          </a:xfrm>
          <a:prstGeom prst="ellipse">
            <a:avLst/>
          </a:prstGeom>
          <a:noFill/>
          <a:ln w="25400" cap="flat">
            <a:gradFill>
              <a:gsLst>
                <a:gs pos="20000">
                  <a:schemeClr val="accent2">
                    <a:alpha val="0"/>
                  </a:schemeClr>
                </a:gs>
                <a:gs pos="70000">
                  <a:schemeClr val="accent2">
                    <a:alpha val="80000"/>
                  </a:schemeClr>
                </a:gs>
                <a:gs pos="90000">
                  <a:schemeClr val="accent2"/>
                </a:gs>
              </a:gsLst>
              <a:lin ang="5400000" scaled="0"/>
            </a:gradFill>
            <a:miter/>
          </a:ln>
          <a:effectLst/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316690" y="373380"/>
            <a:ext cx="8171180" cy="65532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783520" y="484345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执行概要</a:t>
            </a: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324256" y="626624"/>
            <a:ext cx="402076" cy="402076"/>
          </a:xfrm>
          <a:prstGeom prst="rtTriangl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316690" y="373380"/>
            <a:ext cx="8171180" cy="65532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783520" y="484345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企业介绍</a:t>
            </a: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324256" y="626624"/>
            <a:ext cx="402076" cy="402076"/>
          </a:xfrm>
          <a:prstGeom prst="rtTriangl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316690" y="373380"/>
            <a:ext cx="8171180" cy="65532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783520" y="484345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管理团队</a:t>
            </a: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324256" y="626624"/>
            <a:ext cx="402076" cy="402076"/>
          </a:xfrm>
          <a:prstGeom prst="rtTriangl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316690" y="373380"/>
            <a:ext cx="8171180" cy="65532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783520" y="484345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产品（服务）介绍</a:t>
            </a: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324256" y="626624"/>
            <a:ext cx="402076" cy="402076"/>
          </a:xfrm>
          <a:prstGeom prst="rtTriangl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316690" y="373380"/>
            <a:ext cx="8171180" cy="65532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783520" y="484345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行业分析</a:t>
            </a: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324256" y="626624"/>
            <a:ext cx="402076" cy="402076"/>
          </a:xfrm>
          <a:prstGeom prst="rtTriangl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316690" y="373380"/>
            <a:ext cx="8171180" cy="65532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783520" y="484345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营销策划</a:t>
            </a: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324256" y="626624"/>
            <a:ext cx="402076" cy="402076"/>
          </a:xfrm>
          <a:prstGeom prst="rtTriangl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316690" y="373380"/>
            <a:ext cx="8171180" cy="65532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783520" y="484345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生产计划</a:t>
            </a: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324256" y="626624"/>
            <a:ext cx="402076" cy="402076"/>
          </a:xfrm>
          <a:prstGeom prst="rtTriangl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316690" y="373380"/>
            <a:ext cx="8171180" cy="65532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783520" y="484345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财务分析</a:t>
            </a: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324256" y="626624"/>
            <a:ext cx="402076" cy="402076"/>
          </a:xfrm>
          <a:prstGeom prst="rtTriangl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316690" y="373380"/>
            <a:ext cx="8171180" cy="65532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783520" y="484345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组织结构</a:t>
            </a: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324256" y="626624"/>
            <a:ext cx="402076" cy="402076"/>
          </a:xfrm>
          <a:prstGeom prst="rtTriangl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316690" y="373380"/>
            <a:ext cx="8171180" cy="65532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783520" y="484345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风险分析</a:t>
            </a: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324256" y="626624"/>
            <a:ext cx="402076" cy="402076"/>
          </a:xfrm>
          <a:prstGeom prst="rtTriangl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316690" y="373380"/>
            <a:ext cx="8171180" cy="65532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783520" y="484345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附件、备查资料</a:t>
            </a: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324256" y="626624"/>
            <a:ext cx="402076" cy="402076"/>
          </a:xfrm>
          <a:prstGeom prst="rtTriangl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2">
            <a:alphaModFix amt="100000"/>
          </a:blip>
          <a:srcRect l="2858" t="11915" r="21252" b="11915"/>
          <a:stretch>
            <a:fillRect/>
          </a:stretch>
        </p:blipFill>
        <p:spPr>
          <a:xfrm rot="0" flipH="0" flipV="0"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" name="标题 1"/>
          <p:cNvSpPr txBox="1"/>
          <p:nvPr/>
        </p:nvSpPr>
        <p:spPr>
          <a:xfrm rot="0" flipH="0" flipV="0">
            <a:off x="-1" y="0"/>
            <a:ext cx="10883569" cy="6858000"/>
          </a:xfrm>
          <a:prstGeom prst="rect">
            <a:avLst/>
          </a:prstGeom>
          <a:gradFill>
            <a:gsLst>
              <a:gs pos="12000">
                <a:schemeClr val="bg1"/>
              </a:gs>
              <a:gs pos="80000">
                <a:schemeClr val="bg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421027" y="333692"/>
            <a:ext cx="1321317" cy="164080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1693998" y="6276762"/>
            <a:ext cx="268552" cy="26855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1763397" y="6346151"/>
            <a:ext cx="129755" cy="129774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1273479" y="6276762"/>
            <a:ext cx="268552" cy="26855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1338911" y="6346151"/>
            <a:ext cx="137688" cy="129774"/>
          </a:xfrm>
          <a:custGeom>
            <a:avLst/>
            <a:gdLst>
              <a:gd name="connsiteX0" fmla="*/ 1110072 w 1498885"/>
              <a:gd name="connsiteY0" fmla="*/ 1039039 h 1412736"/>
              <a:gd name="connsiteX1" fmla="*/ 1149511 w 1498885"/>
              <a:gd name="connsiteY1" fmla="*/ 1055363 h 1412736"/>
              <a:gd name="connsiteX2" fmla="*/ 1371451 w 1498885"/>
              <a:gd name="connsiteY2" fmla="*/ 1277303 h 1412736"/>
              <a:gd name="connsiteX3" fmla="*/ 1371451 w 1498885"/>
              <a:gd name="connsiteY3" fmla="*/ 1356182 h 1412736"/>
              <a:gd name="connsiteX4" fmla="*/ 1332012 w 1498885"/>
              <a:gd name="connsiteY4" fmla="*/ 1372553 h 1412736"/>
              <a:gd name="connsiteX5" fmla="*/ 1292572 w 1498885"/>
              <a:gd name="connsiteY5" fmla="*/ 1356182 h 1412736"/>
              <a:gd name="connsiteX6" fmla="*/ 1070632 w 1498885"/>
              <a:gd name="connsiteY6" fmla="*/ 1134242 h 1412736"/>
              <a:gd name="connsiteX7" fmla="*/ 1070632 w 1498885"/>
              <a:gd name="connsiteY7" fmla="*/ 1055363 h 1412736"/>
              <a:gd name="connsiteX8" fmla="*/ 1110072 w 1498885"/>
              <a:gd name="connsiteY8" fmla="*/ 1039039 h 1412736"/>
              <a:gd name="connsiteX9" fmla="*/ 1110072 w 1498885"/>
              <a:gd name="connsiteY9" fmla="*/ 705989 h 1412736"/>
              <a:gd name="connsiteX10" fmla="*/ 1443075 w 1498885"/>
              <a:gd name="connsiteY10" fmla="*/ 705989 h 1412736"/>
              <a:gd name="connsiteX11" fmla="*/ 1498885 w 1498885"/>
              <a:gd name="connsiteY11" fmla="*/ 761800 h 1412736"/>
              <a:gd name="connsiteX12" fmla="*/ 1443075 w 1498885"/>
              <a:gd name="connsiteY12" fmla="*/ 817611 h 1412736"/>
              <a:gd name="connsiteX13" fmla="*/ 1110072 w 1498885"/>
              <a:gd name="connsiteY13" fmla="*/ 817611 h 1412736"/>
              <a:gd name="connsiteX14" fmla="*/ 1054261 w 1498885"/>
              <a:gd name="connsiteY14" fmla="*/ 761800 h 1412736"/>
              <a:gd name="connsiteX15" fmla="*/ 1110072 w 1498885"/>
              <a:gd name="connsiteY15" fmla="*/ 705989 h 1412736"/>
              <a:gd name="connsiteX16" fmla="*/ 1332012 w 1498885"/>
              <a:gd name="connsiteY16" fmla="*/ 151093 h 1412736"/>
              <a:gd name="connsiteX17" fmla="*/ 1371451 w 1498885"/>
              <a:gd name="connsiteY17" fmla="*/ 167418 h 1412736"/>
              <a:gd name="connsiteX18" fmla="*/ 1371451 w 1498885"/>
              <a:gd name="connsiteY18" fmla="*/ 246297 h 1412736"/>
              <a:gd name="connsiteX19" fmla="*/ 1149511 w 1498885"/>
              <a:gd name="connsiteY19" fmla="*/ 468236 h 1412736"/>
              <a:gd name="connsiteX20" fmla="*/ 1110072 w 1498885"/>
              <a:gd name="connsiteY20" fmla="*/ 484608 h 1412736"/>
              <a:gd name="connsiteX21" fmla="*/ 1070632 w 1498885"/>
              <a:gd name="connsiteY21" fmla="*/ 468236 h 1412736"/>
              <a:gd name="connsiteX22" fmla="*/ 1070632 w 1498885"/>
              <a:gd name="connsiteY22" fmla="*/ 389358 h 1412736"/>
              <a:gd name="connsiteX23" fmla="*/ 1292572 w 1498885"/>
              <a:gd name="connsiteY23" fmla="*/ 167418 h 1412736"/>
              <a:gd name="connsiteX24" fmla="*/ 1332012 w 1498885"/>
              <a:gd name="connsiteY24" fmla="*/ 151093 h 1412736"/>
              <a:gd name="connsiteX25" fmla="*/ 709724 w 1498885"/>
              <a:gd name="connsiteY25" fmla="*/ 111607 h 1412736"/>
              <a:gd name="connsiteX26" fmla="*/ 649635 w 1498885"/>
              <a:gd name="connsiteY26" fmla="*/ 127420 h 1412736"/>
              <a:gd name="connsiteX27" fmla="*/ 174129 w 1498885"/>
              <a:gd name="connsiteY27" fmla="*/ 394752 h 1412736"/>
              <a:gd name="connsiteX28" fmla="*/ 111621 w 1498885"/>
              <a:gd name="connsiteY28" fmla="*/ 501536 h 1412736"/>
              <a:gd name="connsiteX29" fmla="*/ 111621 w 1498885"/>
              <a:gd name="connsiteY29" fmla="*/ 910814 h 1412736"/>
              <a:gd name="connsiteX30" fmla="*/ 174129 w 1498885"/>
              <a:gd name="connsiteY30" fmla="*/ 1017598 h 1412736"/>
              <a:gd name="connsiteX31" fmla="*/ 649821 w 1498885"/>
              <a:gd name="connsiteY31" fmla="*/ 1284930 h 1412736"/>
              <a:gd name="connsiteX32" fmla="*/ 771674 w 1498885"/>
              <a:gd name="connsiteY32" fmla="*/ 1283814 h 1412736"/>
              <a:gd name="connsiteX33" fmla="*/ 832321 w 1498885"/>
              <a:gd name="connsiteY33" fmla="*/ 1178146 h 1412736"/>
              <a:gd name="connsiteX34" fmla="*/ 832321 w 1498885"/>
              <a:gd name="connsiteY34" fmla="*/ 234204 h 1412736"/>
              <a:gd name="connsiteX35" fmla="*/ 771674 w 1498885"/>
              <a:gd name="connsiteY35" fmla="*/ 128536 h 1412736"/>
              <a:gd name="connsiteX36" fmla="*/ 709724 w 1498885"/>
              <a:gd name="connsiteY36" fmla="*/ 111607 h 1412736"/>
              <a:gd name="connsiteX37" fmla="*/ 711864 w 1498885"/>
              <a:gd name="connsiteY37" fmla="*/ 9 h 1412736"/>
              <a:gd name="connsiteX38" fmla="*/ 828043 w 1498885"/>
              <a:gd name="connsiteY38" fmla="*/ 32356 h 1412736"/>
              <a:gd name="connsiteX39" fmla="*/ 943942 w 1498885"/>
              <a:gd name="connsiteY39" fmla="*/ 234390 h 1412736"/>
              <a:gd name="connsiteX40" fmla="*/ 943942 w 1498885"/>
              <a:gd name="connsiteY40" fmla="*/ 1178518 h 1412736"/>
              <a:gd name="connsiteX41" fmla="*/ 828043 w 1498885"/>
              <a:gd name="connsiteY41" fmla="*/ 1380552 h 1412736"/>
              <a:gd name="connsiteX42" fmla="*/ 709910 w 1498885"/>
              <a:gd name="connsiteY42" fmla="*/ 1412736 h 1412736"/>
              <a:gd name="connsiteX43" fmla="*/ 595126 w 1498885"/>
              <a:gd name="connsiteY43" fmla="*/ 1382413 h 1412736"/>
              <a:gd name="connsiteX44" fmla="*/ 119435 w 1498885"/>
              <a:gd name="connsiteY44" fmla="*/ 1115080 h 1412736"/>
              <a:gd name="connsiteX45" fmla="*/ 0 w 1498885"/>
              <a:gd name="connsiteY45" fmla="*/ 911000 h 1412736"/>
              <a:gd name="connsiteX46" fmla="*/ 0 w 1498885"/>
              <a:gd name="connsiteY46" fmla="*/ 501722 h 1412736"/>
              <a:gd name="connsiteX47" fmla="*/ 119435 w 1498885"/>
              <a:gd name="connsiteY47" fmla="*/ 297642 h 1412736"/>
              <a:gd name="connsiteX48" fmla="*/ 595126 w 1498885"/>
              <a:gd name="connsiteY48" fmla="*/ 30309 h 1412736"/>
              <a:gd name="connsiteX49" fmla="*/ 711864 w 1498885"/>
              <a:gd name="connsiteY49" fmla="*/ 9 h 1412736"/>
            </a:gdLst>
            <a:rect l="l" t="t" r="r" b="b"/>
            <a:pathLst>
              <a:path w="1498885" h="1412736">
                <a:moveTo>
                  <a:pt x="1110072" y="1039039"/>
                </a:moveTo>
                <a:cubicBezTo>
                  <a:pt x="1124350" y="1039039"/>
                  <a:pt x="1138628" y="1044480"/>
                  <a:pt x="1149511" y="1055363"/>
                </a:cubicBezTo>
                <a:lnTo>
                  <a:pt x="1371451" y="1277303"/>
                </a:lnTo>
                <a:cubicBezTo>
                  <a:pt x="1393217" y="1299070"/>
                  <a:pt x="1393217" y="1334416"/>
                  <a:pt x="1371451" y="1356182"/>
                </a:cubicBezTo>
                <a:cubicBezTo>
                  <a:pt x="1360661" y="1366972"/>
                  <a:pt x="1346336" y="1372553"/>
                  <a:pt x="1332012" y="1372553"/>
                </a:cubicBezTo>
                <a:cubicBezTo>
                  <a:pt x="1317687" y="1372553"/>
                  <a:pt x="1303362" y="1367158"/>
                  <a:pt x="1292572" y="1356182"/>
                </a:cubicBezTo>
                <a:lnTo>
                  <a:pt x="1070632" y="1134242"/>
                </a:lnTo>
                <a:cubicBezTo>
                  <a:pt x="1048866" y="1112476"/>
                  <a:pt x="1048866" y="1077130"/>
                  <a:pt x="1070632" y="1055363"/>
                </a:cubicBezTo>
                <a:cubicBezTo>
                  <a:pt x="1081515" y="1044480"/>
                  <a:pt x="1095793" y="1039039"/>
                  <a:pt x="1110072" y="1039039"/>
                </a:cubicBezTo>
                <a:close/>
                <a:moveTo>
                  <a:pt x="1110072" y="705989"/>
                </a:moveTo>
                <a:lnTo>
                  <a:pt x="1443075" y="705989"/>
                </a:lnTo>
                <a:cubicBezTo>
                  <a:pt x="1473956" y="705989"/>
                  <a:pt x="1498885" y="730918"/>
                  <a:pt x="1498885" y="761800"/>
                </a:cubicBezTo>
                <a:cubicBezTo>
                  <a:pt x="1498885" y="792682"/>
                  <a:pt x="1473770" y="817611"/>
                  <a:pt x="1443075" y="817611"/>
                </a:cubicBezTo>
                <a:lnTo>
                  <a:pt x="1110072" y="817611"/>
                </a:lnTo>
                <a:cubicBezTo>
                  <a:pt x="1079190" y="817611"/>
                  <a:pt x="1054261" y="792682"/>
                  <a:pt x="1054261" y="761800"/>
                </a:cubicBezTo>
                <a:cubicBezTo>
                  <a:pt x="1054261" y="730918"/>
                  <a:pt x="1079190" y="705989"/>
                  <a:pt x="1110072" y="705989"/>
                </a:cubicBezTo>
                <a:close/>
                <a:moveTo>
                  <a:pt x="1332012" y="151093"/>
                </a:moveTo>
                <a:cubicBezTo>
                  <a:pt x="1346290" y="151093"/>
                  <a:pt x="1360568" y="156535"/>
                  <a:pt x="1371451" y="167418"/>
                </a:cubicBezTo>
                <a:cubicBezTo>
                  <a:pt x="1393217" y="189184"/>
                  <a:pt x="1393217" y="224530"/>
                  <a:pt x="1371451" y="246297"/>
                </a:cubicBezTo>
                <a:lnTo>
                  <a:pt x="1149511" y="468236"/>
                </a:lnTo>
                <a:cubicBezTo>
                  <a:pt x="1138721" y="479213"/>
                  <a:pt x="1124396" y="484608"/>
                  <a:pt x="1110072" y="484608"/>
                </a:cubicBezTo>
                <a:cubicBezTo>
                  <a:pt x="1095747" y="484608"/>
                  <a:pt x="1081422" y="479213"/>
                  <a:pt x="1070632" y="468236"/>
                </a:cubicBezTo>
                <a:cubicBezTo>
                  <a:pt x="1048866" y="446470"/>
                  <a:pt x="1048866" y="411124"/>
                  <a:pt x="1070632" y="389358"/>
                </a:cubicBezTo>
                <a:lnTo>
                  <a:pt x="1292572" y="167418"/>
                </a:lnTo>
                <a:cubicBezTo>
                  <a:pt x="1303455" y="156535"/>
                  <a:pt x="1317733" y="151093"/>
                  <a:pt x="1332012" y="151093"/>
                </a:cubicBezTo>
                <a:close/>
                <a:moveTo>
                  <a:pt x="709724" y="111607"/>
                </a:moveTo>
                <a:cubicBezTo>
                  <a:pt x="689074" y="111607"/>
                  <a:pt x="668610" y="116816"/>
                  <a:pt x="649635" y="127420"/>
                </a:cubicBezTo>
                <a:lnTo>
                  <a:pt x="174129" y="394752"/>
                </a:lnTo>
                <a:cubicBezTo>
                  <a:pt x="135620" y="416332"/>
                  <a:pt x="111621" y="457260"/>
                  <a:pt x="111621" y="501536"/>
                </a:cubicBezTo>
                <a:lnTo>
                  <a:pt x="111621" y="910814"/>
                </a:lnTo>
                <a:cubicBezTo>
                  <a:pt x="111621" y="955090"/>
                  <a:pt x="135620" y="996018"/>
                  <a:pt x="174129" y="1017598"/>
                </a:cubicBezTo>
                <a:lnTo>
                  <a:pt x="649821" y="1284930"/>
                </a:lnTo>
                <a:cubicBezTo>
                  <a:pt x="688144" y="1306510"/>
                  <a:pt x="733723" y="1306138"/>
                  <a:pt x="771674" y="1283814"/>
                </a:cubicBezTo>
                <a:cubicBezTo>
                  <a:pt x="809625" y="1261676"/>
                  <a:pt x="832321" y="1222050"/>
                  <a:pt x="832321" y="1178146"/>
                </a:cubicBezTo>
                <a:lnTo>
                  <a:pt x="832321" y="234204"/>
                </a:lnTo>
                <a:cubicBezTo>
                  <a:pt x="832321" y="190113"/>
                  <a:pt x="809625" y="150674"/>
                  <a:pt x="771674" y="128536"/>
                </a:cubicBezTo>
                <a:cubicBezTo>
                  <a:pt x="752326" y="117188"/>
                  <a:pt x="731118" y="111607"/>
                  <a:pt x="709724" y="111607"/>
                </a:cubicBezTo>
                <a:close/>
                <a:moveTo>
                  <a:pt x="711864" y="9"/>
                </a:moveTo>
                <a:cubicBezTo>
                  <a:pt x="751861" y="358"/>
                  <a:pt x="791766" y="11148"/>
                  <a:pt x="828043" y="32356"/>
                </a:cubicBezTo>
                <a:cubicBezTo>
                  <a:pt x="900596" y="74772"/>
                  <a:pt x="943942" y="150302"/>
                  <a:pt x="943942" y="234390"/>
                </a:cubicBezTo>
                <a:lnTo>
                  <a:pt x="943942" y="1178518"/>
                </a:lnTo>
                <a:cubicBezTo>
                  <a:pt x="943942" y="1262606"/>
                  <a:pt x="900596" y="1338136"/>
                  <a:pt x="828043" y="1380552"/>
                </a:cubicBezTo>
                <a:cubicBezTo>
                  <a:pt x="791208" y="1401946"/>
                  <a:pt x="750466" y="1412736"/>
                  <a:pt x="709910" y="1412736"/>
                </a:cubicBezTo>
                <a:cubicBezTo>
                  <a:pt x="670471" y="1412736"/>
                  <a:pt x="631217" y="1402691"/>
                  <a:pt x="595126" y="1382413"/>
                </a:cubicBezTo>
                <a:lnTo>
                  <a:pt x="119435" y="1115080"/>
                </a:lnTo>
                <a:cubicBezTo>
                  <a:pt x="45765" y="1073594"/>
                  <a:pt x="0" y="995460"/>
                  <a:pt x="0" y="911000"/>
                </a:cubicBezTo>
                <a:lnTo>
                  <a:pt x="0" y="501722"/>
                </a:lnTo>
                <a:cubicBezTo>
                  <a:pt x="0" y="417262"/>
                  <a:pt x="45765" y="338942"/>
                  <a:pt x="119435" y="297642"/>
                </a:cubicBezTo>
                <a:lnTo>
                  <a:pt x="595126" y="30309"/>
                </a:lnTo>
                <a:cubicBezTo>
                  <a:pt x="631775" y="9752"/>
                  <a:pt x="671866" y="-340"/>
                  <a:pt x="711864" y="9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852960" y="6276762"/>
            <a:ext cx="268552" cy="26855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920186" y="6346151"/>
            <a:ext cx="134100" cy="129774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432441" y="6276762"/>
            <a:ext cx="268552" cy="26855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506816" y="6346151"/>
            <a:ext cx="119802" cy="129774"/>
          </a:xfrm>
          <a:custGeom>
            <a:avLst/>
            <a:gdLst>
              <a:gd name="connsiteX0" fmla="*/ 712625 w 1425436"/>
              <a:gd name="connsiteY0" fmla="*/ 111621 h 1544091"/>
              <a:gd name="connsiteX1" fmla="*/ 902567 w 1425436"/>
              <a:gd name="connsiteY1" fmla="*/ 190314 h 1544091"/>
              <a:gd name="connsiteX2" fmla="*/ 981260 w 1425436"/>
              <a:gd name="connsiteY2" fmla="*/ 380256 h 1544091"/>
              <a:gd name="connsiteX3" fmla="*/ 902567 w 1425436"/>
              <a:gd name="connsiteY3" fmla="*/ 570198 h 1544091"/>
              <a:gd name="connsiteX4" fmla="*/ 712625 w 1425436"/>
              <a:gd name="connsiteY4" fmla="*/ 648891 h 1544091"/>
              <a:gd name="connsiteX5" fmla="*/ 522684 w 1425436"/>
              <a:gd name="connsiteY5" fmla="*/ 570198 h 1544091"/>
              <a:gd name="connsiteX6" fmla="*/ 444177 w 1425436"/>
              <a:gd name="connsiteY6" fmla="*/ 380070 h 1544091"/>
              <a:gd name="connsiteX7" fmla="*/ 522870 w 1425436"/>
              <a:gd name="connsiteY7" fmla="*/ 190128 h 1544091"/>
              <a:gd name="connsiteX8" fmla="*/ 712625 w 1425436"/>
              <a:gd name="connsiteY8" fmla="*/ 111621 h 1544091"/>
              <a:gd name="connsiteX9" fmla="*/ 712625 w 1425436"/>
              <a:gd name="connsiteY9" fmla="*/ 0 h 1544091"/>
              <a:gd name="connsiteX10" fmla="*/ 332556 w 1425436"/>
              <a:gd name="connsiteY10" fmla="*/ 380070 h 1544091"/>
              <a:gd name="connsiteX11" fmla="*/ 712625 w 1425436"/>
              <a:gd name="connsiteY11" fmla="*/ 760140 h 1544091"/>
              <a:gd name="connsiteX12" fmla="*/ 1092695 w 1425436"/>
              <a:gd name="connsiteY12" fmla="*/ 380070 h 1544091"/>
              <a:gd name="connsiteX13" fmla="*/ 712625 w 1425436"/>
              <a:gd name="connsiteY13" fmla="*/ 0 h 1544091"/>
              <a:gd name="connsiteX14" fmla="*/ 712625 w 1425436"/>
              <a:gd name="connsiteY14" fmla="*/ 943012 h 1544091"/>
              <a:gd name="connsiteX15" fmla="*/ 978842 w 1425436"/>
              <a:gd name="connsiteY15" fmla="*/ 976685 h 1544091"/>
              <a:gd name="connsiteX16" fmla="*/ 1146087 w 1425436"/>
              <a:gd name="connsiteY16" fmla="*/ 1059470 h 1544091"/>
              <a:gd name="connsiteX17" fmla="*/ 1248593 w 1425436"/>
              <a:gd name="connsiteY17" fmla="*/ 1174440 h 1544091"/>
              <a:gd name="connsiteX18" fmla="*/ 1310356 w 1425436"/>
              <a:gd name="connsiteY18" fmla="*/ 1316385 h 1544091"/>
              <a:gd name="connsiteX19" fmla="*/ 1296590 w 1425436"/>
              <a:gd name="connsiteY19" fmla="*/ 1390241 h 1544091"/>
              <a:gd name="connsiteX20" fmla="*/ 1208595 w 1425436"/>
              <a:gd name="connsiteY20" fmla="*/ 1432285 h 1544091"/>
              <a:gd name="connsiteX21" fmla="*/ 216842 w 1425436"/>
              <a:gd name="connsiteY21" fmla="*/ 1432285 h 1544091"/>
              <a:gd name="connsiteX22" fmla="*/ 128847 w 1425436"/>
              <a:gd name="connsiteY22" fmla="*/ 1390241 h 1544091"/>
              <a:gd name="connsiteX23" fmla="*/ 115081 w 1425436"/>
              <a:gd name="connsiteY23" fmla="*/ 1316385 h 1544091"/>
              <a:gd name="connsiteX24" fmla="*/ 176844 w 1425436"/>
              <a:gd name="connsiteY24" fmla="*/ 1174440 h 1544091"/>
              <a:gd name="connsiteX25" fmla="*/ 279350 w 1425436"/>
              <a:gd name="connsiteY25" fmla="*/ 1059470 h 1544091"/>
              <a:gd name="connsiteX26" fmla="*/ 446595 w 1425436"/>
              <a:gd name="connsiteY26" fmla="*/ 976685 h 1544091"/>
              <a:gd name="connsiteX27" fmla="*/ 712625 w 1425436"/>
              <a:gd name="connsiteY27" fmla="*/ 943012 h 1544091"/>
              <a:gd name="connsiteX28" fmla="*/ 712625 w 1425436"/>
              <a:gd name="connsiteY28" fmla="*/ 831391 h 1544091"/>
              <a:gd name="connsiteX29" fmla="*/ 8296 w 1425436"/>
              <a:gd name="connsiteY29" fmla="*/ 1284387 h 1544091"/>
              <a:gd name="connsiteX30" fmla="*/ 216842 w 1425436"/>
              <a:gd name="connsiteY30" fmla="*/ 1544092 h 1544091"/>
              <a:gd name="connsiteX31" fmla="*/ 1208595 w 1425436"/>
              <a:gd name="connsiteY31" fmla="*/ 1544092 h 1544091"/>
              <a:gd name="connsiteX32" fmla="*/ 1417141 w 1425436"/>
              <a:gd name="connsiteY32" fmla="*/ 1284387 h 1544091"/>
              <a:gd name="connsiteX33" fmla="*/ 712625 w 1425436"/>
              <a:gd name="connsiteY33" fmla="*/ 831391 h 1544091"/>
            </a:gdLst>
            <a:rect l="l" t="t" r="r" b="b"/>
            <a:pathLst>
              <a:path w="1425436" h="1544091">
                <a:moveTo>
                  <a:pt x="712625" y="111621"/>
                </a:moveTo>
                <a:cubicBezTo>
                  <a:pt x="784435" y="111621"/>
                  <a:pt x="851780" y="139526"/>
                  <a:pt x="902567" y="190314"/>
                </a:cubicBezTo>
                <a:cubicBezTo>
                  <a:pt x="953355" y="241102"/>
                  <a:pt x="981260" y="308446"/>
                  <a:pt x="981260" y="380256"/>
                </a:cubicBezTo>
                <a:cubicBezTo>
                  <a:pt x="981260" y="452065"/>
                  <a:pt x="953355" y="519410"/>
                  <a:pt x="902567" y="570198"/>
                </a:cubicBezTo>
                <a:cubicBezTo>
                  <a:pt x="851780" y="620985"/>
                  <a:pt x="784435" y="648891"/>
                  <a:pt x="712625" y="648891"/>
                </a:cubicBezTo>
                <a:cubicBezTo>
                  <a:pt x="640816" y="648891"/>
                  <a:pt x="573471" y="620985"/>
                  <a:pt x="522684" y="570198"/>
                </a:cubicBezTo>
                <a:cubicBezTo>
                  <a:pt x="472082" y="519224"/>
                  <a:pt x="444177" y="451693"/>
                  <a:pt x="444177" y="380070"/>
                </a:cubicBezTo>
                <a:cubicBezTo>
                  <a:pt x="444177" y="308446"/>
                  <a:pt x="472082" y="240916"/>
                  <a:pt x="522870" y="190128"/>
                </a:cubicBezTo>
                <a:cubicBezTo>
                  <a:pt x="573471" y="139526"/>
                  <a:pt x="641002" y="111621"/>
                  <a:pt x="712625" y="111621"/>
                </a:cubicBezTo>
                <a:moveTo>
                  <a:pt x="712625" y="0"/>
                </a:moveTo>
                <a:cubicBezTo>
                  <a:pt x="502778" y="0"/>
                  <a:pt x="332556" y="170036"/>
                  <a:pt x="332556" y="380070"/>
                </a:cubicBezTo>
                <a:cubicBezTo>
                  <a:pt x="332556" y="589917"/>
                  <a:pt x="502778" y="760140"/>
                  <a:pt x="712625" y="760140"/>
                </a:cubicBezTo>
                <a:cubicBezTo>
                  <a:pt x="922473" y="760140"/>
                  <a:pt x="1092695" y="589917"/>
                  <a:pt x="1092695" y="380070"/>
                </a:cubicBezTo>
                <a:cubicBezTo>
                  <a:pt x="1092881" y="170036"/>
                  <a:pt x="922659" y="0"/>
                  <a:pt x="712625" y="0"/>
                </a:cubicBezTo>
                <a:close/>
                <a:moveTo>
                  <a:pt x="712625" y="943012"/>
                </a:moveTo>
                <a:cubicBezTo>
                  <a:pt x="813643" y="943012"/>
                  <a:pt x="903126" y="954360"/>
                  <a:pt x="978842" y="976685"/>
                </a:cubicBezTo>
                <a:cubicBezTo>
                  <a:pt x="1043582" y="995846"/>
                  <a:pt x="1099951" y="1023752"/>
                  <a:pt x="1146087" y="1059470"/>
                </a:cubicBezTo>
                <a:cubicBezTo>
                  <a:pt x="1186829" y="1091096"/>
                  <a:pt x="1220315" y="1128675"/>
                  <a:pt x="1248593" y="1174440"/>
                </a:cubicBezTo>
                <a:cubicBezTo>
                  <a:pt x="1273708" y="1215368"/>
                  <a:pt x="1293985" y="1261877"/>
                  <a:pt x="1310356" y="1316385"/>
                </a:cubicBezTo>
                <a:cubicBezTo>
                  <a:pt x="1320774" y="1350801"/>
                  <a:pt x="1306264" y="1377404"/>
                  <a:pt x="1296590" y="1390241"/>
                </a:cubicBezTo>
                <a:cubicBezTo>
                  <a:pt x="1276684" y="1417030"/>
                  <a:pt x="1244686" y="1432285"/>
                  <a:pt x="1208595" y="1432285"/>
                </a:cubicBezTo>
                <a:lnTo>
                  <a:pt x="216842" y="1432285"/>
                </a:lnTo>
                <a:cubicBezTo>
                  <a:pt x="180937" y="1432285"/>
                  <a:pt x="148753" y="1417030"/>
                  <a:pt x="128847" y="1390241"/>
                </a:cubicBezTo>
                <a:cubicBezTo>
                  <a:pt x="119359" y="1377404"/>
                  <a:pt x="104849" y="1350801"/>
                  <a:pt x="115081" y="1316385"/>
                </a:cubicBezTo>
                <a:cubicBezTo>
                  <a:pt x="131452" y="1261877"/>
                  <a:pt x="151543" y="1215368"/>
                  <a:pt x="176844" y="1174440"/>
                </a:cubicBezTo>
                <a:cubicBezTo>
                  <a:pt x="204936" y="1128675"/>
                  <a:pt x="238422" y="1090910"/>
                  <a:pt x="279350" y="1059470"/>
                </a:cubicBezTo>
                <a:cubicBezTo>
                  <a:pt x="325486" y="1023752"/>
                  <a:pt x="381855" y="995846"/>
                  <a:pt x="446595" y="976685"/>
                </a:cubicBezTo>
                <a:cubicBezTo>
                  <a:pt x="522125" y="954360"/>
                  <a:pt x="611794" y="943012"/>
                  <a:pt x="712625" y="943012"/>
                </a:cubicBezTo>
                <a:moveTo>
                  <a:pt x="712625" y="831391"/>
                </a:moveTo>
                <a:cubicBezTo>
                  <a:pt x="244561" y="831391"/>
                  <a:pt x="77501" y="1053331"/>
                  <a:pt x="8296" y="1284387"/>
                </a:cubicBezTo>
                <a:cubicBezTo>
                  <a:pt x="-30771" y="1414611"/>
                  <a:pt x="73037" y="1544092"/>
                  <a:pt x="216842" y="1544092"/>
                </a:cubicBezTo>
                <a:lnTo>
                  <a:pt x="1208595" y="1544092"/>
                </a:lnTo>
                <a:cubicBezTo>
                  <a:pt x="1352400" y="1544092"/>
                  <a:pt x="1456208" y="1414611"/>
                  <a:pt x="1417141" y="1284387"/>
                </a:cubicBezTo>
                <a:cubicBezTo>
                  <a:pt x="1347750" y="1053331"/>
                  <a:pt x="1180690" y="831391"/>
                  <a:pt x="712625" y="83139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1" flipV="0">
            <a:off x="650050" y="1918023"/>
            <a:ext cx="184513" cy="184513"/>
          </a:xfrm>
          <a:custGeom>
            <a:avLst/>
            <a:gdLst>
              <a:gd name="connsiteX0" fmla="*/ 104503 w 184513"/>
              <a:gd name="connsiteY0" fmla="*/ 0 h 184513"/>
              <a:gd name="connsiteX1" fmla="*/ 80010 w 184513"/>
              <a:gd name="connsiteY1" fmla="*/ 0 h 184513"/>
              <a:gd name="connsiteX2" fmla="*/ 80010 w 184513"/>
              <a:gd name="connsiteY2" fmla="*/ 80010 h 184513"/>
              <a:gd name="connsiteX3" fmla="*/ 0 w 184513"/>
              <a:gd name="connsiteY3" fmla="*/ 80010 h 184513"/>
              <a:gd name="connsiteX4" fmla="*/ 0 w 184513"/>
              <a:gd name="connsiteY4" fmla="*/ 104503 h 184513"/>
              <a:gd name="connsiteX5" fmla="*/ 80010 w 184513"/>
              <a:gd name="connsiteY5" fmla="*/ 104503 h 184513"/>
              <a:gd name="connsiteX6" fmla="*/ 80010 w 184513"/>
              <a:gd name="connsiteY6" fmla="*/ 184513 h 184513"/>
              <a:gd name="connsiteX7" fmla="*/ 104503 w 184513"/>
              <a:gd name="connsiteY7" fmla="*/ 184513 h 184513"/>
              <a:gd name="connsiteX8" fmla="*/ 104503 w 184513"/>
              <a:gd name="connsiteY8" fmla="*/ 104503 h 184513"/>
              <a:gd name="connsiteX9" fmla="*/ 184513 w 184513"/>
              <a:gd name="connsiteY9" fmla="*/ 104503 h 184513"/>
              <a:gd name="connsiteX10" fmla="*/ 184513 w 184513"/>
              <a:gd name="connsiteY10" fmla="*/ 80010 h 184513"/>
              <a:gd name="connsiteX11" fmla="*/ 104503 w 184513"/>
              <a:gd name="connsiteY11" fmla="*/ 80010 h 184513"/>
            </a:gdLst>
            <a:rect l="l" t="t" r="r" b="b"/>
            <a:pathLst>
              <a:path w="184513" h="184513">
                <a:moveTo>
                  <a:pt x="104503" y="0"/>
                </a:moveTo>
                <a:lnTo>
                  <a:pt x="80010" y="0"/>
                </a:lnTo>
                <a:lnTo>
                  <a:pt x="80010" y="80010"/>
                </a:lnTo>
                <a:lnTo>
                  <a:pt x="0" y="80010"/>
                </a:lnTo>
                <a:lnTo>
                  <a:pt x="0" y="104503"/>
                </a:lnTo>
                <a:lnTo>
                  <a:pt x="80010" y="104503"/>
                </a:lnTo>
                <a:lnTo>
                  <a:pt x="80010" y="184513"/>
                </a:lnTo>
                <a:lnTo>
                  <a:pt x="104503" y="184513"/>
                </a:lnTo>
                <a:lnTo>
                  <a:pt x="104503" y="104503"/>
                </a:lnTo>
                <a:lnTo>
                  <a:pt x="184513" y="104503"/>
                </a:lnTo>
                <a:lnTo>
                  <a:pt x="184513" y="80010"/>
                </a:lnTo>
                <a:lnTo>
                  <a:pt x="104503" y="80010"/>
                </a:lnTo>
                <a:close/>
              </a:path>
            </a:pathLst>
          </a:custGeom>
          <a:solidFill>
            <a:schemeClr val="accent2"/>
          </a:solidFill>
          <a:ln w="1632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1" flipV="0">
            <a:off x="788366" y="2115629"/>
            <a:ext cx="101867" cy="101867"/>
          </a:xfrm>
          <a:custGeom>
            <a:avLst/>
            <a:gdLst>
              <a:gd name="connsiteX0" fmla="*/ 104503 w 184513"/>
              <a:gd name="connsiteY0" fmla="*/ 0 h 184513"/>
              <a:gd name="connsiteX1" fmla="*/ 80010 w 184513"/>
              <a:gd name="connsiteY1" fmla="*/ 0 h 184513"/>
              <a:gd name="connsiteX2" fmla="*/ 80010 w 184513"/>
              <a:gd name="connsiteY2" fmla="*/ 80010 h 184513"/>
              <a:gd name="connsiteX3" fmla="*/ 0 w 184513"/>
              <a:gd name="connsiteY3" fmla="*/ 80010 h 184513"/>
              <a:gd name="connsiteX4" fmla="*/ 0 w 184513"/>
              <a:gd name="connsiteY4" fmla="*/ 104503 h 184513"/>
              <a:gd name="connsiteX5" fmla="*/ 80010 w 184513"/>
              <a:gd name="connsiteY5" fmla="*/ 104503 h 184513"/>
              <a:gd name="connsiteX6" fmla="*/ 80010 w 184513"/>
              <a:gd name="connsiteY6" fmla="*/ 184513 h 184513"/>
              <a:gd name="connsiteX7" fmla="*/ 104503 w 184513"/>
              <a:gd name="connsiteY7" fmla="*/ 184513 h 184513"/>
              <a:gd name="connsiteX8" fmla="*/ 104503 w 184513"/>
              <a:gd name="connsiteY8" fmla="*/ 104503 h 184513"/>
              <a:gd name="connsiteX9" fmla="*/ 184513 w 184513"/>
              <a:gd name="connsiteY9" fmla="*/ 104503 h 184513"/>
              <a:gd name="connsiteX10" fmla="*/ 184513 w 184513"/>
              <a:gd name="connsiteY10" fmla="*/ 80010 h 184513"/>
              <a:gd name="connsiteX11" fmla="*/ 104503 w 184513"/>
              <a:gd name="connsiteY11" fmla="*/ 80010 h 184513"/>
            </a:gdLst>
            <a:rect l="l" t="t" r="r" b="b"/>
            <a:pathLst>
              <a:path w="184513" h="184513">
                <a:moveTo>
                  <a:pt x="104503" y="0"/>
                </a:moveTo>
                <a:lnTo>
                  <a:pt x="80010" y="0"/>
                </a:lnTo>
                <a:lnTo>
                  <a:pt x="80010" y="80010"/>
                </a:lnTo>
                <a:lnTo>
                  <a:pt x="0" y="80010"/>
                </a:lnTo>
                <a:lnTo>
                  <a:pt x="0" y="104503"/>
                </a:lnTo>
                <a:lnTo>
                  <a:pt x="80010" y="104503"/>
                </a:lnTo>
                <a:lnTo>
                  <a:pt x="80010" y="184513"/>
                </a:lnTo>
                <a:lnTo>
                  <a:pt x="104503" y="184513"/>
                </a:lnTo>
                <a:lnTo>
                  <a:pt x="104503" y="104503"/>
                </a:lnTo>
                <a:lnTo>
                  <a:pt x="184513" y="104503"/>
                </a:lnTo>
                <a:lnTo>
                  <a:pt x="184513" y="80010"/>
                </a:lnTo>
                <a:lnTo>
                  <a:pt x="104503" y="80010"/>
                </a:lnTo>
                <a:close/>
              </a:path>
            </a:pathLst>
          </a:custGeom>
          <a:solidFill>
            <a:schemeClr val="accent1"/>
          </a:solidFill>
          <a:ln w="1632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920186" y="1480632"/>
            <a:ext cx="1179586" cy="14394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3949EE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03</a:t>
            </a:r>
            <a:endParaRPr kumimoji="1" lang="zh-CN" altLang="en-US"/>
          </a:p>
        </p:txBody>
      </p:sp>
      <p:cxnSp>
        <p:nvCxnSpPr>
          <p:cNvPr id="16" name="标题 1"/>
          <p:cNvCxnSpPr/>
          <p:nvPr/>
        </p:nvCxnSpPr>
        <p:spPr>
          <a:xfrm rot="0" flipH="0" flipV="0">
            <a:off x="1929538" y="2580053"/>
            <a:ext cx="672826" cy="0"/>
          </a:xfrm>
          <a:prstGeom prst="line">
            <a:avLst/>
          </a:prstGeom>
          <a:noFill/>
          <a:ln w="12700" cap="sq">
            <a:solidFill>
              <a:schemeClr val="accent2">
                <a:alpha val="50000"/>
              </a:schemeClr>
            </a:solidFill>
            <a:prstDash val="dash"/>
            <a:miter/>
          </a:ln>
        </p:spPr>
      </p:cxnSp>
      <p:sp>
        <p:nvSpPr>
          <p:cNvPr id="17" name="标题 1"/>
          <p:cNvSpPr txBox="1"/>
          <p:nvPr/>
        </p:nvSpPr>
        <p:spPr>
          <a:xfrm rot="0" flipH="0" flipV="0">
            <a:off x="9540239" y="241508"/>
            <a:ext cx="2230733" cy="29733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2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5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0" flipH="0" flipV="0">
            <a:off x="11386534" y="325289"/>
            <a:ext cx="129755" cy="129774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0" flipV="0">
            <a:off x="9743840" y="254366"/>
            <a:ext cx="1542030" cy="24622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PowerPoint design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0" flipH="0" flipV="0">
            <a:off x="920186" y="3027823"/>
            <a:ext cx="4583574" cy="15354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3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幻灯片 3：执行概要</a:t>
            </a: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rot="0" flipH="0" flipV="0">
            <a:off x="5319247" y="4306073"/>
            <a:ext cx="184513" cy="184513"/>
          </a:xfrm>
          <a:custGeom>
            <a:avLst/>
            <a:gdLst>
              <a:gd name="connsiteX0" fmla="*/ 104503 w 184513"/>
              <a:gd name="connsiteY0" fmla="*/ 0 h 184513"/>
              <a:gd name="connsiteX1" fmla="*/ 80010 w 184513"/>
              <a:gd name="connsiteY1" fmla="*/ 0 h 184513"/>
              <a:gd name="connsiteX2" fmla="*/ 80010 w 184513"/>
              <a:gd name="connsiteY2" fmla="*/ 80010 h 184513"/>
              <a:gd name="connsiteX3" fmla="*/ 0 w 184513"/>
              <a:gd name="connsiteY3" fmla="*/ 80010 h 184513"/>
              <a:gd name="connsiteX4" fmla="*/ 0 w 184513"/>
              <a:gd name="connsiteY4" fmla="*/ 104503 h 184513"/>
              <a:gd name="connsiteX5" fmla="*/ 80010 w 184513"/>
              <a:gd name="connsiteY5" fmla="*/ 104503 h 184513"/>
              <a:gd name="connsiteX6" fmla="*/ 80010 w 184513"/>
              <a:gd name="connsiteY6" fmla="*/ 184513 h 184513"/>
              <a:gd name="connsiteX7" fmla="*/ 104503 w 184513"/>
              <a:gd name="connsiteY7" fmla="*/ 184513 h 184513"/>
              <a:gd name="connsiteX8" fmla="*/ 104503 w 184513"/>
              <a:gd name="connsiteY8" fmla="*/ 104503 h 184513"/>
              <a:gd name="connsiteX9" fmla="*/ 184513 w 184513"/>
              <a:gd name="connsiteY9" fmla="*/ 104503 h 184513"/>
              <a:gd name="connsiteX10" fmla="*/ 184513 w 184513"/>
              <a:gd name="connsiteY10" fmla="*/ 80010 h 184513"/>
              <a:gd name="connsiteX11" fmla="*/ 104503 w 184513"/>
              <a:gd name="connsiteY11" fmla="*/ 80010 h 184513"/>
            </a:gdLst>
            <a:rect l="l" t="t" r="r" b="b"/>
            <a:pathLst>
              <a:path w="184513" h="184513">
                <a:moveTo>
                  <a:pt x="104503" y="0"/>
                </a:moveTo>
                <a:lnTo>
                  <a:pt x="80010" y="0"/>
                </a:lnTo>
                <a:lnTo>
                  <a:pt x="80010" y="80010"/>
                </a:lnTo>
                <a:lnTo>
                  <a:pt x="0" y="80010"/>
                </a:lnTo>
                <a:lnTo>
                  <a:pt x="0" y="104503"/>
                </a:lnTo>
                <a:lnTo>
                  <a:pt x="80010" y="104503"/>
                </a:lnTo>
                <a:lnTo>
                  <a:pt x="80010" y="184513"/>
                </a:lnTo>
                <a:lnTo>
                  <a:pt x="104503" y="184513"/>
                </a:lnTo>
                <a:lnTo>
                  <a:pt x="104503" y="104503"/>
                </a:lnTo>
                <a:lnTo>
                  <a:pt x="184513" y="104503"/>
                </a:lnTo>
                <a:lnTo>
                  <a:pt x="184513" y="80010"/>
                </a:lnTo>
                <a:lnTo>
                  <a:pt x="104503" y="80010"/>
                </a:lnTo>
                <a:close/>
              </a:path>
            </a:pathLst>
          </a:custGeom>
          <a:solidFill>
            <a:schemeClr val="accent2"/>
          </a:solidFill>
          <a:ln w="1632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rot="0" flipH="0" flipV="0">
            <a:off x="5263577" y="4503679"/>
            <a:ext cx="101867" cy="101867"/>
          </a:xfrm>
          <a:custGeom>
            <a:avLst/>
            <a:gdLst>
              <a:gd name="connsiteX0" fmla="*/ 104503 w 184513"/>
              <a:gd name="connsiteY0" fmla="*/ 0 h 184513"/>
              <a:gd name="connsiteX1" fmla="*/ 80010 w 184513"/>
              <a:gd name="connsiteY1" fmla="*/ 0 h 184513"/>
              <a:gd name="connsiteX2" fmla="*/ 80010 w 184513"/>
              <a:gd name="connsiteY2" fmla="*/ 80010 h 184513"/>
              <a:gd name="connsiteX3" fmla="*/ 0 w 184513"/>
              <a:gd name="connsiteY3" fmla="*/ 80010 h 184513"/>
              <a:gd name="connsiteX4" fmla="*/ 0 w 184513"/>
              <a:gd name="connsiteY4" fmla="*/ 104503 h 184513"/>
              <a:gd name="connsiteX5" fmla="*/ 80010 w 184513"/>
              <a:gd name="connsiteY5" fmla="*/ 104503 h 184513"/>
              <a:gd name="connsiteX6" fmla="*/ 80010 w 184513"/>
              <a:gd name="connsiteY6" fmla="*/ 184513 h 184513"/>
              <a:gd name="connsiteX7" fmla="*/ 104503 w 184513"/>
              <a:gd name="connsiteY7" fmla="*/ 184513 h 184513"/>
              <a:gd name="connsiteX8" fmla="*/ 104503 w 184513"/>
              <a:gd name="connsiteY8" fmla="*/ 104503 h 184513"/>
              <a:gd name="connsiteX9" fmla="*/ 184513 w 184513"/>
              <a:gd name="connsiteY9" fmla="*/ 104503 h 184513"/>
              <a:gd name="connsiteX10" fmla="*/ 184513 w 184513"/>
              <a:gd name="connsiteY10" fmla="*/ 80010 h 184513"/>
              <a:gd name="connsiteX11" fmla="*/ 104503 w 184513"/>
              <a:gd name="connsiteY11" fmla="*/ 80010 h 184513"/>
            </a:gdLst>
            <a:rect l="l" t="t" r="r" b="b"/>
            <a:pathLst>
              <a:path w="184513" h="184513">
                <a:moveTo>
                  <a:pt x="104503" y="0"/>
                </a:moveTo>
                <a:lnTo>
                  <a:pt x="80010" y="0"/>
                </a:lnTo>
                <a:lnTo>
                  <a:pt x="80010" y="80010"/>
                </a:lnTo>
                <a:lnTo>
                  <a:pt x="0" y="80010"/>
                </a:lnTo>
                <a:lnTo>
                  <a:pt x="0" y="104503"/>
                </a:lnTo>
                <a:lnTo>
                  <a:pt x="80010" y="104503"/>
                </a:lnTo>
                <a:lnTo>
                  <a:pt x="80010" y="184513"/>
                </a:lnTo>
                <a:lnTo>
                  <a:pt x="104503" y="184513"/>
                </a:lnTo>
                <a:lnTo>
                  <a:pt x="104503" y="104503"/>
                </a:lnTo>
                <a:lnTo>
                  <a:pt x="184513" y="104503"/>
                </a:lnTo>
                <a:lnTo>
                  <a:pt x="184513" y="80010"/>
                </a:lnTo>
                <a:lnTo>
                  <a:pt x="104503" y="80010"/>
                </a:lnTo>
                <a:close/>
              </a:path>
            </a:pathLst>
          </a:custGeom>
          <a:solidFill>
            <a:schemeClr val="accent1"/>
          </a:solidFill>
          <a:ln w="1632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 rot="21239739" flipH="0" flipV="0">
            <a:off x="340012" y="3241517"/>
            <a:ext cx="5890453" cy="381346"/>
          </a:xfrm>
          <a:prstGeom prst="ellipse">
            <a:avLst/>
          </a:prstGeom>
          <a:noFill/>
          <a:ln w="25400" cap="flat">
            <a:gradFill>
              <a:gsLst>
                <a:gs pos="20000">
                  <a:schemeClr val="accent2">
                    <a:alpha val="0"/>
                  </a:schemeClr>
                </a:gs>
                <a:gs pos="70000">
                  <a:schemeClr val="accent2">
                    <a:alpha val="80000"/>
                  </a:schemeClr>
                </a:gs>
                <a:gs pos="90000">
                  <a:schemeClr val="accent2"/>
                </a:gs>
              </a:gsLst>
              <a:lin ang="5400000" scaled="0"/>
            </a:gradFill>
            <a:miter/>
          </a:ln>
          <a:effectLst/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3610610" y="1861458"/>
            <a:ext cx="7879714" cy="756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>
            <a:solidFill>
              <a:schemeClr val="bg1">
                <a:lumMod val="75000"/>
              </a:schemeClr>
            </a:solidFill>
            <a:miter/>
          </a:ln>
        </p:spPr>
        <p:txBody>
          <a:bodyPr vert="horz" wrap="square" lIns="216000" tIns="45720" rIns="216000" bIns="45720" rtlCol="0" anchor="ctr"/>
          <a:lstStyle/>
          <a:p>
            <a:pPr algn="l">
              <a:lnSpc>
                <a:spcPct val="12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688975" y="1465457"/>
            <a:ext cx="2921635" cy="1152000"/>
          </a:xfrm>
          <a:prstGeom prst="round1Rect">
            <a:avLst>
              <a:gd name="adj" fmla="val 40491"/>
            </a:avLst>
          </a:prstGeom>
          <a:gradFill>
            <a:gsLst>
              <a:gs pos="1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 cap="sq">
            <a:noFill/>
            <a:prstDash val="solid"/>
            <a:miter/>
          </a:ln>
          <a:effectLst>
            <a:outerShdw dist="190500" blurRad="330200" dir="5400000" sx="90000" sy="90000" kx="0" ky="0" algn="t" rotWithShape="0">
              <a:schemeClr val="accent1">
                <a:lumMod val="75000"/>
                <a:alpha val="25000"/>
              </a:schemeClr>
            </a:outerShdw>
          </a:effectLst>
        </p:spPr>
        <p:txBody>
          <a:bodyPr vert="horz" wrap="square" lIns="45720" tIns="22860" rIns="45720" bIns="2286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3246045" y="1446408"/>
            <a:ext cx="383615" cy="383615"/>
          </a:xfrm>
          <a:custGeom>
            <a:avLst/>
            <a:gdLst>
              <a:gd name="connsiteX0" fmla="*/ 0 w 510591"/>
              <a:gd name="connsiteY0" fmla="*/ 0 h 510591"/>
              <a:gd name="connsiteX1" fmla="*/ 187095 w 510591"/>
              <a:gd name="connsiteY1" fmla="*/ 0 h 510591"/>
              <a:gd name="connsiteX2" fmla="*/ 510591 w 510591"/>
              <a:gd name="connsiteY2" fmla="*/ 323496 h 510591"/>
              <a:gd name="connsiteX3" fmla="*/ 510591 w 510591"/>
              <a:gd name="connsiteY3" fmla="*/ 510591 h 510591"/>
              <a:gd name="connsiteX4" fmla="*/ 0 w 510591"/>
              <a:gd name="connsiteY4" fmla="*/ 0 h 510591"/>
            </a:gdLst>
            <a:rect l="l" t="t" r="r" b="b"/>
            <a:pathLst>
              <a:path w="510591" h="510591">
                <a:moveTo>
                  <a:pt x="0" y="0"/>
                </a:moveTo>
                <a:lnTo>
                  <a:pt x="187095" y="0"/>
                </a:lnTo>
                <a:cubicBezTo>
                  <a:pt x="365757" y="0"/>
                  <a:pt x="510591" y="144834"/>
                  <a:pt x="510591" y="323496"/>
                </a:cubicBezTo>
                <a:lnTo>
                  <a:pt x="510591" y="510591"/>
                </a:lnTo>
                <a:cubicBezTo>
                  <a:pt x="510591" y="228599"/>
                  <a:pt x="281992" y="0"/>
                  <a:pt x="0" y="0"/>
                </a:cubicBezTo>
                <a:close/>
              </a:path>
            </a:pathLst>
          </a:custGeom>
          <a:gradFill>
            <a:gsLst>
              <a:gs pos="1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 cap="sq">
            <a:noFill/>
            <a:prstDash val="solid"/>
            <a:miter/>
          </a:ln>
          <a:effectLst>
            <a:outerShdw dist="190500" blurRad="330200" dir="5400000" sx="90000" sy="90000" kx="0" ky="0" algn="t" rotWithShape="0">
              <a:schemeClr val="accent1">
                <a:lumMod val="75000"/>
                <a:alpha val="25000"/>
              </a:schemeClr>
            </a:outerShdw>
          </a:effectLst>
        </p:spPr>
        <p:txBody>
          <a:bodyPr vert="horz" wrap="square" lIns="45720" tIns="22860" rIns="45720" bIns="2286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822295" y="1677796"/>
            <a:ext cx="2674044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筹备期规划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3858330" y="1900276"/>
            <a:ext cx="7384274" cy="66318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987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在筹备期，完成选址、装修、设备采购等基础建设工作，确保设施符合智能化养老服务标准。
组建专业团队，包括医护人员、护理人员、技术团队等，进行培训和磨合，为开业做好准备。
开展市场调研，了解客户需求，制定服务套餐和定价策略，为开业初期运营奠定基础。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3610610" y="3461724"/>
            <a:ext cx="7879714" cy="756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>
            <a:solidFill>
              <a:schemeClr val="bg1">
                <a:lumMod val="75000"/>
              </a:schemeClr>
            </a:solidFill>
            <a:miter/>
          </a:ln>
        </p:spPr>
        <p:txBody>
          <a:bodyPr vert="horz" wrap="square" lIns="216000" tIns="45720" rIns="216000" bIns="45720" rtlCol="0" anchor="ctr"/>
          <a:lstStyle/>
          <a:p>
            <a:pPr algn="l">
              <a:lnSpc>
                <a:spcPct val="12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688975" y="3065724"/>
            <a:ext cx="2921635" cy="1152000"/>
          </a:xfrm>
          <a:prstGeom prst="round1Rect">
            <a:avLst>
              <a:gd name="adj" fmla="val 40491"/>
            </a:avLst>
          </a:prstGeom>
          <a:gradFill>
            <a:gsLst>
              <a:gs pos="1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 cap="sq">
            <a:noFill/>
            <a:prstDash val="solid"/>
            <a:miter/>
          </a:ln>
          <a:effectLst>
            <a:outerShdw dist="190500" blurRad="330200" dir="5400000" sx="90000" sy="90000" kx="0" ky="0" algn="t" rotWithShape="0">
              <a:schemeClr val="accent1">
                <a:lumMod val="75000"/>
                <a:alpha val="25000"/>
              </a:schemeClr>
            </a:outerShdw>
          </a:effectLst>
        </p:spPr>
        <p:txBody>
          <a:bodyPr vert="horz" wrap="square" lIns="45720" tIns="22860" rIns="45720" bIns="2286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3246045" y="3046675"/>
            <a:ext cx="383615" cy="383615"/>
          </a:xfrm>
          <a:custGeom>
            <a:avLst/>
            <a:gdLst>
              <a:gd name="connsiteX0" fmla="*/ 0 w 510591"/>
              <a:gd name="connsiteY0" fmla="*/ 0 h 510591"/>
              <a:gd name="connsiteX1" fmla="*/ 187095 w 510591"/>
              <a:gd name="connsiteY1" fmla="*/ 0 h 510591"/>
              <a:gd name="connsiteX2" fmla="*/ 510591 w 510591"/>
              <a:gd name="connsiteY2" fmla="*/ 323496 h 510591"/>
              <a:gd name="connsiteX3" fmla="*/ 510591 w 510591"/>
              <a:gd name="connsiteY3" fmla="*/ 510591 h 510591"/>
              <a:gd name="connsiteX4" fmla="*/ 0 w 510591"/>
              <a:gd name="connsiteY4" fmla="*/ 0 h 510591"/>
            </a:gdLst>
            <a:rect l="l" t="t" r="r" b="b"/>
            <a:pathLst>
              <a:path w="510591" h="510591">
                <a:moveTo>
                  <a:pt x="0" y="0"/>
                </a:moveTo>
                <a:lnTo>
                  <a:pt x="187095" y="0"/>
                </a:lnTo>
                <a:cubicBezTo>
                  <a:pt x="365757" y="0"/>
                  <a:pt x="510591" y="144834"/>
                  <a:pt x="510591" y="323496"/>
                </a:cubicBezTo>
                <a:lnTo>
                  <a:pt x="510591" y="510591"/>
                </a:lnTo>
                <a:cubicBezTo>
                  <a:pt x="510591" y="228599"/>
                  <a:pt x="281992" y="0"/>
                  <a:pt x="0" y="0"/>
                </a:cubicBezTo>
                <a:close/>
              </a:path>
            </a:pathLst>
          </a:custGeom>
          <a:gradFill>
            <a:gsLst>
              <a:gs pos="1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 cap="sq">
            <a:noFill/>
            <a:prstDash val="solid"/>
            <a:miter/>
          </a:ln>
          <a:effectLst>
            <a:outerShdw dist="190500" blurRad="330200" dir="5400000" sx="90000" sy="90000" kx="0" ky="0" algn="t" rotWithShape="0">
              <a:schemeClr val="accent1">
                <a:lumMod val="75000"/>
                <a:alpha val="25000"/>
              </a:schemeClr>
            </a:outerShdw>
          </a:effectLst>
        </p:spPr>
        <p:txBody>
          <a:bodyPr vert="horz" wrap="square" lIns="45720" tIns="22860" rIns="45720" bIns="2286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822295" y="3278063"/>
            <a:ext cx="2674044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开业初期规划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3858330" y="3511146"/>
            <a:ext cx="7384274" cy="6544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987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开业初期，通过优质服务和口碑积累客户资源，计划入住率达到 50%以上。
开展品牌推广活动，提升品牌知名度，吸引更多客户关注，逐步提高入住率至 80%以上。
收集客户反馈，优化服务流程，提升服务质量，为长期发展积累经验。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3610610" y="5061991"/>
            <a:ext cx="7879714" cy="756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>
            <a:solidFill>
              <a:schemeClr val="bg1">
                <a:lumMod val="75000"/>
              </a:schemeClr>
            </a:solidFill>
            <a:miter/>
          </a:ln>
        </p:spPr>
        <p:txBody>
          <a:bodyPr vert="horz" wrap="square" lIns="216000" tIns="45720" rIns="216000" bIns="45720" rtlCol="0" anchor="ctr"/>
          <a:lstStyle/>
          <a:p>
            <a:pPr algn="l">
              <a:lnSpc>
                <a:spcPct val="12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688975" y="4665991"/>
            <a:ext cx="2921635" cy="1152000"/>
          </a:xfrm>
          <a:prstGeom prst="round1Rect">
            <a:avLst>
              <a:gd name="adj" fmla="val 40491"/>
            </a:avLst>
          </a:prstGeom>
          <a:gradFill>
            <a:gsLst>
              <a:gs pos="1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 cap="sq">
            <a:noFill/>
            <a:prstDash val="solid"/>
            <a:miter/>
          </a:ln>
          <a:effectLst>
            <a:outerShdw dist="190500" blurRad="330200" dir="5400000" sx="90000" sy="90000" kx="0" ky="0" algn="t" rotWithShape="0">
              <a:schemeClr val="accent1">
                <a:lumMod val="75000"/>
                <a:alpha val="25000"/>
              </a:schemeClr>
            </a:outerShdw>
          </a:effectLst>
        </p:spPr>
        <p:txBody>
          <a:bodyPr vert="horz" wrap="square" lIns="45720" tIns="22860" rIns="45720" bIns="2286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3246045" y="4646942"/>
            <a:ext cx="383615" cy="383615"/>
          </a:xfrm>
          <a:custGeom>
            <a:avLst/>
            <a:gdLst>
              <a:gd name="connsiteX0" fmla="*/ 0 w 510591"/>
              <a:gd name="connsiteY0" fmla="*/ 0 h 510591"/>
              <a:gd name="connsiteX1" fmla="*/ 187095 w 510591"/>
              <a:gd name="connsiteY1" fmla="*/ 0 h 510591"/>
              <a:gd name="connsiteX2" fmla="*/ 510591 w 510591"/>
              <a:gd name="connsiteY2" fmla="*/ 323496 h 510591"/>
              <a:gd name="connsiteX3" fmla="*/ 510591 w 510591"/>
              <a:gd name="connsiteY3" fmla="*/ 510591 h 510591"/>
              <a:gd name="connsiteX4" fmla="*/ 0 w 510591"/>
              <a:gd name="connsiteY4" fmla="*/ 0 h 510591"/>
            </a:gdLst>
            <a:rect l="l" t="t" r="r" b="b"/>
            <a:pathLst>
              <a:path w="510591" h="510591">
                <a:moveTo>
                  <a:pt x="0" y="0"/>
                </a:moveTo>
                <a:lnTo>
                  <a:pt x="187095" y="0"/>
                </a:lnTo>
                <a:cubicBezTo>
                  <a:pt x="365757" y="0"/>
                  <a:pt x="510591" y="144834"/>
                  <a:pt x="510591" y="323496"/>
                </a:cubicBezTo>
                <a:lnTo>
                  <a:pt x="510591" y="510591"/>
                </a:lnTo>
                <a:cubicBezTo>
                  <a:pt x="510591" y="228599"/>
                  <a:pt x="281992" y="0"/>
                  <a:pt x="0" y="0"/>
                </a:cubicBezTo>
                <a:close/>
              </a:path>
            </a:pathLst>
          </a:custGeom>
          <a:gradFill>
            <a:gsLst>
              <a:gs pos="1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 cap="sq">
            <a:noFill/>
            <a:prstDash val="solid"/>
            <a:miter/>
          </a:ln>
          <a:effectLst>
            <a:outerShdw dist="190500" blurRad="330200" dir="5400000" sx="90000" sy="90000" kx="0" ky="0" algn="t" rotWithShape="0">
              <a:schemeClr val="accent1">
                <a:lumMod val="75000"/>
                <a:alpha val="25000"/>
              </a:schemeClr>
            </a:outerShdw>
          </a:effectLst>
        </p:spPr>
        <p:txBody>
          <a:bodyPr vert="horz" wrap="square" lIns="45720" tIns="22860" rIns="45720" bIns="2286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0" flipV="0">
            <a:off x="822295" y="4878330"/>
            <a:ext cx="2674044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长期发展规划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0" flipH="0" flipV="0">
            <a:off x="3858330" y="5111413"/>
            <a:ext cx="7384274" cy="6544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987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长期发展将拓展服务范围，增加康复护理、老年教育等特色服务，打造综合性智能养老机构。
与周边医院建立医联体合作，实现医疗资源共享，提升养老服务的医疗保障水平。
持续投入研发，优化升级技术系统，保持技术领先优势，推动养老服务智能化转型。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0" flipH="0" flipV="0">
            <a:off x="316690" y="373380"/>
            <a:ext cx="8171180" cy="65532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0" flipV="0">
            <a:off x="783520" y="484345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项目计划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0" flipH="0" flipV="0">
            <a:off x="324256" y="626624"/>
            <a:ext cx="402076" cy="402076"/>
          </a:xfrm>
          <a:prstGeom prst="rtTriangl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3" name=""/>
          <p:cNvGrpSpPr/>
          <p:nvPr/>
        </p:nvGrpSpPr>
        <p:grpSpPr>
          <a:xfrm>
            <a:off x="4445002" y="2835106"/>
            <a:ext cx="3301999" cy="2786676"/>
            <a:chOff x="4445002" y="2835106"/>
            <a:chExt cx="3301999" cy="2786676"/>
          </a:xfrm>
        </p:grpSpPr>
        <p:sp>
          <p:nvSpPr>
            <p:cNvPr id="4" name="标题 1"/>
            <p:cNvSpPr txBox="1"/>
            <p:nvPr/>
          </p:nvSpPr>
          <p:spPr>
            <a:xfrm rot="0" flipH="0" flipV="0">
              <a:off x="5482829" y="3592568"/>
              <a:ext cx="1295674" cy="1347290"/>
            </a:xfrm>
            <a:custGeom>
              <a:avLst/>
              <a:gdLst>
                <a:gd name="connsiteX0" fmla="*/ 198153 w 692417"/>
                <a:gd name="connsiteY0" fmla="*/ 663680 h 720001"/>
                <a:gd name="connsiteX1" fmla="*/ 239787 w 692417"/>
                <a:gd name="connsiteY1" fmla="*/ 663680 h 720001"/>
                <a:gd name="connsiteX2" fmla="*/ 295235 w 692417"/>
                <a:gd name="connsiteY2" fmla="*/ 663680 h 720001"/>
                <a:gd name="connsiteX3" fmla="*/ 397182 w 692417"/>
                <a:gd name="connsiteY3" fmla="*/ 663680 h 720001"/>
                <a:gd name="connsiteX4" fmla="*/ 452630 w 692417"/>
                <a:gd name="connsiteY4" fmla="*/ 663680 h 720001"/>
                <a:gd name="connsiteX5" fmla="*/ 494264 w 692417"/>
                <a:gd name="connsiteY5" fmla="*/ 663680 h 720001"/>
                <a:gd name="connsiteX6" fmla="*/ 522425 w 692417"/>
                <a:gd name="connsiteY6" fmla="*/ 691841 h 720001"/>
                <a:gd name="connsiteX7" fmla="*/ 494264 w 692417"/>
                <a:gd name="connsiteY7" fmla="*/ 720001 h 720001"/>
                <a:gd name="connsiteX8" fmla="*/ 452630 w 692417"/>
                <a:gd name="connsiteY8" fmla="*/ 720001 h 720001"/>
                <a:gd name="connsiteX9" fmla="*/ 397182 w 692417"/>
                <a:gd name="connsiteY9" fmla="*/ 720001 h 720001"/>
                <a:gd name="connsiteX10" fmla="*/ 295235 w 692417"/>
                <a:gd name="connsiteY10" fmla="*/ 720001 h 720001"/>
                <a:gd name="connsiteX11" fmla="*/ 239787 w 692417"/>
                <a:gd name="connsiteY11" fmla="*/ 720001 h 720001"/>
                <a:gd name="connsiteX12" fmla="*/ 198153 w 692417"/>
                <a:gd name="connsiteY12" fmla="*/ 720001 h 720001"/>
                <a:gd name="connsiteX13" fmla="*/ 169992 w 692417"/>
                <a:gd name="connsiteY13" fmla="*/ 691841 h 720001"/>
                <a:gd name="connsiteX14" fmla="*/ 198153 w 692417"/>
                <a:gd name="connsiteY14" fmla="*/ 663680 h 720001"/>
                <a:gd name="connsiteX15" fmla="*/ 154400 w 692417"/>
                <a:gd name="connsiteY15" fmla="*/ 572143 h 720001"/>
                <a:gd name="connsiteX16" fmla="*/ 154241 w 692417"/>
                <a:gd name="connsiteY16" fmla="*/ 572597 h 720001"/>
                <a:gd name="connsiteX17" fmla="*/ 160423 w 692417"/>
                <a:gd name="connsiteY17" fmla="*/ 572597 h 720001"/>
                <a:gd name="connsiteX18" fmla="*/ 346215 w 692417"/>
                <a:gd name="connsiteY18" fmla="*/ 0 h 720001"/>
                <a:gd name="connsiteX19" fmla="*/ 456041 w 692417"/>
                <a:gd name="connsiteY19" fmla="*/ 22341 h 720001"/>
                <a:gd name="connsiteX20" fmla="*/ 545873 w 692417"/>
                <a:gd name="connsiteY20" fmla="*/ 82980 h 720001"/>
                <a:gd name="connsiteX21" fmla="*/ 606513 w 692417"/>
                <a:gd name="connsiteY21" fmla="*/ 172812 h 720001"/>
                <a:gd name="connsiteX22" fmla="*/ 628853 w 692417"/>
                <a:gd name="connsiteY22" fmla="*/ 282638 h 720001"/>
                <a:gd name="connsiteX23" fmla="*/ 628853 w 692417"/>
                <a:gd name="connsiteY23" fmla="*/ 493091 h 720001"/>
                <a:gd name="connsiteX24" fmla="*/ 687990 w 692417"/>
                <a:gd name="connsiteY24" fmla="*/ 585551 h 720001"/>
                <a:gd name="connsiteX25" fmla="*/ 688929 w 692417"/>
                <a:gd name="connsiteY25" fmla="*/ 614275 h 720001"/>
                <a:gd name="connsiteX26" fmla="*/ 664336 w 692417"/>
                <a:gd name="connsiteY26" fmla="*/ 628918 h 720001"/>
                <a:gd name="connsiteX27" fmla="*/ 28189 w 692417"/>
                <a:gd name="connsiteY27" fmla="*/ 628918 h 720001"/>
                <a:gd name="connsiteX28" fmla="*/ 3596 w 692417"/>
                <a:gd name="connsiteY28" fmla="*/ 614462 h 720001"/>
                <a:gd name="connsiteX29" fmla="*/ 4159 w 692417"/>
                <a:gd name="connsiteY29" fmla="*/ 585927 h 720001"/>
                <a:gd name="connsiteX30" fmla="*/ 63578 w 692417"/>
                <a:gd name="connsiteY30" fmla="*/ 489336 h 720001"/>
                <a:gd name="connsiteX31" fmla="*/ 63578 w 692417"/>
                <a:gd name="connsiteY31" fmla="*/ 282638 h 720001"/>
                <a:gd name="connsiteX32" fmla="*/ 85919 w 692417"/>
                <a:gd name="connsiteY32" fmla="*/ 172812 h 720001"/>
                <a:gd name="connsiteX33" fmla="*/ 146558 w 692417"/>
                <a:gd name="connsiteY33" fmla="*/ 82980 h 720001"/>
                <a:gd name="connsiteX34" fmla="*/ 236389 w 692417"/>
                <a:gd name="connsiteY34" fmla="*/ 22341 h 720001"/>
                <a:gd name="connsiteX35" fmla="*/ 346215 w 692417"/>
                <a:gd name="connsiteY35" fmla="*/ 0 h 720001"/>
              </a:gdLst>
              <a:rect l="l" t="t" r="r" b="b"/>
              <a:pathLst>
                <a:path w="692417" h="720001">
                  <a:moveTo>
                    <a:pt x="198153" y="663680"/>
                  </a:moveTo>
                  <a:lnTo>
                    <a:pt x="239787" y="663680"/>
                  </a:lnTo>
                  <a:lnTo>
                    <a:pt x="295235" y="663680"/>
                  </a:lnTo>
                  <a:lnTo>
                    <a:pt x="397182" y="663680"/>
                  </a:lnTo>
                  <a:lnTo>
                    <a:pt x="452630" y="663680"/>
                  </a:lnTo>
                  <a:lnTo>
                    <a:pt x="494264" y="663680"/>
                  </a:lnTo>
                  <a:cubicBezTo>
                    <a:pt x="509847" y="663680"/>
                    <a:pt x="522425" y="676259"/>
                    <a:pt x="522425" y="691841"/>
                  </a:cubicBezTo>
                  <a:cubicBezTo>
                    <a:pt x="522425" y="707423"/>
                    <a:pt x="509753" y="720001"/>
                    <a:pt x="494264" y="720001"/>
                  </a:cubicBezTo>
                  <a:lnTo>
                    <a:pt x="452630" y="720001"/>
                  </a:lnTo>
                  <a:lnTo>
                    <a:pt x="397182" y="720001"/>
                  </a:lnTo>
                  <a:lnTo>
                    <a:pt x="295235" y="720001"/>
                  </a:lnTo>
                  <a:lnTo>
                    <a:pt x="239787" y="720001"/>
                  </a:lnTo>
                  <a:lnTo>
                    <a:pt x="198153" y="720001"/>
                  </a:lnTo>
                  <a:cubicBezTo>
                    <a:pt x="182571" y="720001"/>
                    <a:pt x="169992" y="707423"/>
                    <a:pt x="169992" y="691841"/>
                  </a:cubicBezTo>
                  <a:cubicBezTo>
                    <a:pt x="169992" y="676259"/>
                    <a:pt x="182571" y="663680"/>
                    <a:pt x="198153" y="663680"/>
                  </a:cubicBezTo>
                  <a:close/>
                  <a:moveTo>
                    <a:pt x="154400" y="572143"/>
                  </a:moveTo>
                  <a:lnTo>
                    <a:pt x="154241" y="572597"/>
                  </a:lnTo>
                  <a:lnTo>
                    <a:pt x="160423" y="572597"/>
                  </a:lnTo>
                  <a:close/>
                  <a:moveTo>
                    <a:pt x="346215" y="0"/>
                  </a:moveTo>
                  <a:cubicBezTo>
                    <a:pt x="384232" y="0"/>
                    <a:pt x="421122" y="7510"/>
                    <a:pt x="456041" y="22341"/>
                  </a:cubicBezTo>
                  <a:cubicBezTo>
                    <a:pt x="489646" y="36609"/>
                    <a:pt x="519872" y="57072"/>
                    <a:pt x="545873" y="82980"/>
                  </a:cubicBezTo>
                  <a:cubicBezTo>
                    <a:pt x="571875" y="108981"/>
                    <a:pt x="592245" y="139207"/>
                    <a:pt x="606513" y="172812"/>
                  </a:cubicBezTo>
                  <a:cubicBezTo>
                    <a:pt x="621344" y="207637"/>
                    <a:pt x="628853" y="244621"/>
                    <a:pt x="628853" y="282638"/>
                  </a:cubicBezTo>
                  <a:lnTo>
                    <a:pt x="628853" y="493091"/>
                  </a:lnTo>
                  <a:lnTo>
                    <a:pt x="687990" y="585551"/>
                  </a:lnTo>
                  <a:cubicBezTo>
                    <a:pt x="693528" y="594187"/>
                    <a:pt x="693904" y="605263"/>
                    <a:pt x="688929" y="614275"/>
                  </a:cubicBezTo>
                  <a:cubicBezTo>
                    <a:pt x="684048" y="623286"/>
                    <a:pt x="674567" y="628918"/>
                    <a:pt x="664336" y="628918"/>
                  </a:cubicBezTo>
                  <a:lnTo>
                    <a:pt x="28189" y="628918"/>
                  </a:lnTo>
                  <a:cubicBezTo>
                    <a:pt x="17958" y="628918"/>
                    <a:pt x="8571" y="623380"/>
                    <a:pt x="3596" y="614462"/>
                  </a:cubicBezTo>
                  <a:cubicBezTo>
                    <a:pt x="-1380" y="605545"/>
                    <a:pt x="-1192" y="594656"/>
                    <a:pt x="4159" y="585927"/>
                  </a:cubicBezTo>
                  <a:lnTo>
                    <a:pt x="63578" y="489336"/>
                  </a:lnTo>
                  <a:lnTo>
                    <a:pt x="63578" y="282638"/>
                  </a:lnTo>
                  <a:cubicBezTo>
                    <a:pt x="63578" y="244621"/>
                    <a:pt x="71087" y="207731"/>
                    <a:pt x="85919" y="172812"/>
                  </a:cubicBezTo>
                  <a:cubicBezTo>
                    <a:pt x="100186" y="139207"/>
                    <a:pt x="120650" y="108981"/>
                    <a:pt x="146558" y="82980"/>
                  </a:cubicBezTo>
                  <a:cubicBezTo>
                    <a:pt x="172465" y="56978"/>
                    <a:pt x="202785" y="36609"/>
                    <a:pt x="236389" y="22341"/>
                  </a:cubicBezTo>
                  <a:cubicBezTo>
                    <a:pt x="271214" y="7510"/>
                    <a:pt x="308199" y="0"/>
                    <a:pt x="346215" y="0"/>
                  </a:cubicBezTo>
                  <a:close/>
                </a:path>
              </a:pathLst>
            </a:custGeom>
            <a:solidFill>
              <a:schemeClr val="accent1"/>
            </a:solidFill>
            <a:ln cap="sq">
              <a:noFill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5" name="标题 1"/>
            <p:cNvSpPr txBox="1"/>
            <p:nvPr/>
          </p:nvSpPr>
          <p:spPr>
            <a:xfrm rot="0" flipH="0" flipV="0">
              <a:off x="4445002" y="3901969"/>
              <a:ext cx="3068138" cy="1719813"/>
            </a:xfrm>
            <a:custGeom>
              <a:avLst/>
              <a:gdLst>
                <a:gd name="T0" fmla="*/ 289 w 526"/>
                <a:gd name="T1" fmla="*/ 240 h 295"/>
                <a:gd name="T2" fmla="*/ 109 w 526"/>
                <a:gd name="T3" fmla="*/ 85 h 295"/>
                <a:gd name="T4" fmla="*/ 108 w 526"/>
                <a:gd name="T5" fmla="*/ 80 h 295"/>
                <a:gd name="T6" fmla="*/ 154 w 526"/>
                <a:gd name="T7" fmla="*/ 85 h 295"/>
                <a:gd name="T8" fmla="*/ 116 w 526"/>
                <a:gd name="T9" fmla="*/ 39 h 295"/>
                <a:gd name="T10" fmla="*/ 116 w 526"/>
                <a:gd name="T11" fmla="*/ 39 h 295"/>
                <a:gd name="T12" fmla="*/ 85 w 526"/>
                <a:gd name="T13" fmla="*/ 0 h 295"/>
                <a:gd name="T14" fmla="*/ 0 w 526"/>
                <a:gd name="T15" fmla="*/ 68 h 295"/>
                <a:gd name="T16" fmla="*/ 52 w 526"/>
                <a:gd name="T17" fmla="*/ 74 h 295"/>
                <a:gd name="T18" fmla="*/ 53 w 526"/>
                <a:gd name="T19" fmla="*/ 77 h 295"/>
                <a:gd name="T20" fmla="*/ 289 w 526"/>
                <a:gd name="T21" fmla="*/ 295 h 295"/>
                <a:gd name="T22" fmla="*/ 526 w 526"/>
                <a:gd name="T23" fmla="*/ 65 h 295"/>
                <a:gd name="T24" fmla="*/ 502 w 526"/>
                <a:gd name="T25" fmla="*/ 96 h 295"/>
                <a:gd name="T26" fmla="*/ 498 w 526"/>
                <a:gd name="T27" fmla="*/ 98 h 295"/>
                <a:gd name="T28" fmla="*/ 498 w 526"/>
                <a:gd name="T29" fmla="*/ 98 h 295"/>
                <a:gd name="T30" fmla="*/ 496 w 526"/>
                <a:gd name="T31" fmla="*/ 97 h 295"/>
                <a:gd name="T32" fmla="*/ 496 w 526"/>
                <a:gd name="T33" fmla="*/ 97 h 295"/>
                <a:gd name="T34" fmla="*/ 494 w 526"/>
                <a:gd name="T35" fmla="*/ 97 h 295"/>
                <a:gd name="T36" fmla="*/ 470 w 526"/>
                <a:gd name="T37" fmla="*/ 77 h 295"/>
                <a:gd name="T38" fmla="*/ 289 w 526"/>
                <a:gd name="T39" fmla="*/ 240 h 295"/>
              </a:gdLst>
              <a:rect l="0" t="0" r="r" b="b"/>
              <a:pathLst>
                <a:path w="526" h="295">
                  <a:moveTo>
                    <a:pt x="289" y="240"/>
                  </a:moveTo>
                  <a:cubicBezTo>
                    <a:pt x="200" y="240"/>
                    <a:pt x="122" y="174"/>
                    <a:pt x="109" y="85"/>
                  </a:cubicBezTo>
                  <a:cubicBezTo>
                    <a:pt x="108" y="80"/>
                    <a:pt x="108" y="80"/>
                    <a:pt x="108" y="80"/>
                  </a:cubicBezTo>
                  <a:cubicBezTo>
                    <a:pt x="154" y="85"/>
                    <a:pt x="154" y="85"/>
                    <a:pt x="154" y="85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52" y="74"/>
                    <a:pt x="52" y="74"/>
                    <a:pt x="52" y="74"/>
                  </a:cubicBezTo>
                  <a:cubicBezTo>
                    <a:pt x="53" y="77"/>
                    <a:pt x="53" y="77"/>
                    <a:pt x="53" y="77"/>
                  </a:cubicBezTo>
                  <a:cubicBezTo>
                    <a:pt x="63" y="200"/>
                    <a:pt x="166" y="295"/>
                    <a:pt x="289" y="295"/>
                  </a:cubicBezTo>
                  <a:cubicBezTo>
                    <a:pt x="417" y="295"/>
                    <a:pt x="522" y="193"/>
                    <a:pt x="526" y="65"/>
                  </a:cubicBezTo>
                  <a:cubicBezTo>
                    <a:pt x="502" y="96"/>
                    <a:pt x="502" y="96"/>
                    <a:pt x="502" y="96"/>
                  </a:cubicBezTo>
                  <a:cubicBezTo>
                    <a:pt x="501" y="97"/>
                    <a:pt x="499" y="98"/>
                    <a:pt x="498" y="98"/>
                  </a:cubicBezTo>
                  <a:cubicBezTo>
                    <a:pt x="498" y="98"/>
                    <a:pt x="498" y="98"/>
                    <a:pt x="498" y="98"/>
                  </a:cubicBezTo>
                  <a:cubicBezTo>
                    <a:pt x="497" y="98"/>
                    <a:pt x="497" y="98"/>
                    <a:pt x="496" y="97"/>
                  </a:cubicBezTo>
                  <a:cubicBezTo>
                    <a:pt x="496" y="97"/>
                    <a:pt x="496" y="97"/>
                    <a:pt x="496" y="97"/>
                  </a:cubicBezTo>
                  <a:cubicBezTo>
                    <a:pt x="495" y="97"/>
                    <a:pt x="495" y="97"/>
                    <a:pt x="494" y="97"/>
                  </a:cubicBezTo>
                  <a:cubicBezTo>
                    <a:pt x="470" y="77"/>
                    <a:pt x="470" y="77"/>
                    <a:pt x="470" y="77"/>
                  </a:cubicBezTo>
                  <a:cubicBezTo>
                    <a:pt x="460" y="169"/>
                    <a:pt x="382" y="240"/>
                    <a:pt x="289" y="240"/>
                  </a:cubicBezTo>
                  <a:close/>
                </a:path>
              </a:pathLst>
            </a:custGeom>
            <a:solidFill>
              <a:schemeClr val="tx2">
                <a:alpha val="15000"/>
              </a:schemeClr>
            </a:solidFill>
            <a:ln w="12700" cap="sq">
              <a:noFill/>
              <a:miter/>
            </a:ln>
          </p:spPr>
          <p:txBody>
            <a:bodyPr vert="horz" wrap="square" lIns="180000" tIns="46800" rIns="180000" bIns="4680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6" name="标题 1"/>
            <p:cNvSpPr txBox="1"/>
            <p:nvPr/>
          </p:nvSpPr>
          <p:spPr>
            <a:xfrm rot="0" flipH="0" flipV="0">
              <a:off x="4771994" y="2835106"/>
              <a:ext cx="2975007" cy="1556317"/>
            </a:xfrm>
            <a:custGeom>
              <a:avLst/>
              <a:gdLst>
                <a:gd name="T0" fmla="*/ 233 w 510"/>
                <a:gd name="T1" fmla="*/ 55 h 267"/>
                <a:gd name="T2" fmla="*/ 408 w 510"/>
                <a:gd name="T3" fmla="*/ 188 h 267"/>
                <a:gd name="T4" fmla="*/ 410 w 510"/>
                <a:gd name="T5" fmla="*/ 193 h 267"/>
                <a:gd name="T6" fmla="*/ 356 w 510"/>
                <a:gd name="T7" fmla="*/ 199 h 267"/>
                <a:gd name="T8" fmla="*/ 407 w 510"/>
                <a:gd name="T9" fmla="*/ 240 h 267"/>
                <a:gd name="T10" fmla="*/ 407 w 510"/>
                <a:gd name="T11" fmla="*/ 240 h 267"/>
                <a:gd name="T12" fmla="*/ 441 w 510"/>
                <a:gd name="T13" fmla="*/ 267 h 267"/>
                <a:gd name="T14" fmla="*/ 510 w 510"/>
                <a:gd name="T15" fmla="*/ 182 h 267"/>
                <a:gd name="T16" fmla="*/ 465 w 510"/>
                <a:gd name="T17" fmla="*/ 187 h 267"/>
                <a:gd name="T18" fmla="*/ 464 w 510"/>
                <a:gd name="T19" fmla="*/ 183 h 267"/>
                <a:gd name="T20" fmla="*/ 233 w 510"/>
                <a:gd name="T21" fmla="*/ 0 h 267"/>
                <a:gd name="T22" fmla="*/ 0 w 510"/>
                <a:gd name="T23" fmla="*/ 191 h 267"/>
                <a:gd name="T24" fmla="*/ 26 w 510"/>
                <a:gd name="T25" fmla="*/ 170 h 267"/>
                <a:gd name="T26" fmla="*/ 30 w 510"/>
                <a:gd name="T27" fmla="*/ 169 h 267"/>
                <a:gd name="T28" fmla="*/ 34 w 510"/>
                <a:gd name="T29" fmla="*/ 171 h 267"/>
                <a:gd name="T30" fmla="*/ 55 w 510"/>
                <a:gd name="T31" fmla="*/ 198 h 267"/>
                <a:gd name="T32" fmla="*/ 233 w 510"/>
                <a:gd name="T33" fmla="*/ 55 h 267"/>
              </a:gdLst>
              <a:rect l="0" t="0" r="r" b="b"/>
              <a:pathLst>
                <a:path w="510" h="267">
                  <a:moveTo>
                    <a:pt x="233" y="55"/>
                  </a:moveTo>
                  <a:cubicBezTo>
                    <a:pt x="314" y="55"/>
                    <a:pt x="387" y="110"/>
                    <a:pt x="408" y="188"/>
                  </a:cubicBezTo>
                  <a:cubicBezTo>
                    <a:pt x="410" y="193"/>
                    <a:pt x="410" y="193"/>
                    <a:pt x="410" y="193"/>
                  </a:cubicBezTo>
                  <a:cubicBezTo>
                    <a:pt x="356" y="199"/>
                    <a:pt x="356" y="199"/>
                    <a:pt x="356" y="199"/>
                  </a:cubicBezTo>
                  <a:cubicBezTo>
                    <a:pt x="407" y="240"/>
                    <a:pt x="407" y="240"/>
                    <a:pt x="407" y="240"/>
                  </a:cubicBezTo>
                  <a:cubicBezTo>
                    <a:pt x="407" y="240"/>
                    <a:pt x="407" y="240"/>
                    <a:pt x="407" y="240"/>
                  </a:cubicBezTo>
                  <a:cubicBezTo>
                    <a:pt x="441" y="267"/>
                    <a:pt x="441" y="267"/>
                    <a:pt x="441" y="267"/>
                  </a:cubicBezTo>
                  <a:cubicBezTo>
                    <a:pt x="510" y="182"/>
                    <a:pt x="510" y="182"/>
                    <a:pt x="510" y="182"/>
                  </a:cubicBezTo>
                  <a:cubicBezTo>
                    <a:pt x="465" y="187"/>
                    <a:pt x="465" y="187"/>
                    <a:pt x="465" y="187"/>
                  </a:cubicBezTo>
                  <a:cubicBezTo>
                    <a:pt x="464" y="183"/>
                    <a:pt x="464" y="183"/>
                    <a:pt x="464" y="183"/>
                  </a:cubicBezTo>
                  <a:cubicBezTo>
                    <a:pt x="439" y="75"/>
                    <a:pt x="344" y="0"/>
                    <a:pt x="233" y="0"/>
                  </a:cubicBezTo>
                  <a:cubicBezTo>
                    <a:pt x="120" y="0"/>
                    <a:pt x="22" y="81"/>
                    <a:pt x="0" y="191"/>
                  </a:cubicBezTo>
                  <a:cubicBezTo>
                    <a:pt x="26" y="170"/>
                    <a:pt x="26" y="170"/>
                    <a:pt x="26" y="170"/>
                  </a:cubicBezTo>
                  <a:cubicBezTo>
                    <a:pt x="27" y="169"/>
                    <a:pt x="29" y="169"/>
                    <a:pt x="30" y="169"/>
                  </a:cubicBezTo>
                  <a:cubicBezTo>
                    <a:pt x="32" y="169"/>
                    <a:pt x="33" y="170"/>
                    <a:pt x="34" y="171"/>
                  </a:cubicBezTo>
                  <a:cubicBezTo>
                    <a:pt x="55" y="198"/>
                    <a:pt x="55" y="198"/>
                    <a:pt x="55" y="198"/>
                  </a:cubicBezTo>
                  <a:cubicBezTo>
                    <a:pt x="74" y="115"/>
                    <a:pt x="147" y="55"/>
                    <a:pt x="233" y="55"/>
                  </a:cubicBezTo>
                  <a:close/>
                </a:path>
              </a:pathLst>
            </a:custGeom>
            <a:solidFill>
              <a:schemeClr val="tx2">
                <a:alpha val="15000"/>
              </a:schemeClr>
            </a:solidFill>
            <a:ln w="12700" cap="sq">
              <a:noFill/>
              <a:miter/>
            </a:ln>
          </p:spPr>
          <p:txBody>
            <a:bodyPr vert="horz" wrap="square" lIns="180000" tIns="46800" rIns="180000" bIns="4680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7" name="标题 1"/>
          <p:cNvSpPr txBox="1"/>
          <p:nvPr/>
        </p:nvSpPr>
        <p:spPr>
          <a:xfrm rot="0" flipH="0" flipV="0">
            <a:off x="8048234" y="3609675"/>
            <a:ext cx="3470666" cy="1172797"/>
          </a:xfrm>
          <a:prstGeom prst="roundRect">
            <a:avLst>
              <a:gd name="adj" fmla="val 0"/>
            </a:avLst>
          </a:prstGeom>
          <a:solidFill>
            <a:schemeClr val="tx2">
              <a:alpha val="15000"/>
            </a:schemeClr>
          </a:solidFill>
          <a:ln w="605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8145273" y="3832982"/>
            <a:ext cx="3373627" cy="890732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077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智能生活辅助设备涵盖智能床、智能马桶等，帮助老人完成日常起居活动，提升生活自理能力，减轻护理人员工作负担。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8243919" y="3317494"/>
            <a:ext cx="481369" cy="48136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vert="horz" wrap="none" lIns="108000" tIns="108000" rIns="108000" bIns="10800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8366141" y="3446525"/>
            <a:ext cx="236925" cy="223307"/>
          </a:xfrm>
          <a:custGeom>
            <a:avLst/>
            <a:gdLst>
              <a:gd name="connsiteX0" fmla="*/ 565749 w 763907"/>
              <a:gd name="connsiteY0" fmla="*/ 529546 h 720000"/>
              <a:gd name="connsiteX1" fmla="*/ 585849 w 763907"/>
              <a:gd name="connsiteY1" fmla="*/ 537865 h 720000"/>
              <a:gd name="connsiteX2" fmla="*/ 698960 w 763907"/>
              <a:gd name="connsiteY2" fmla="*/ 650977 h 720000"/>
              <a:gd name="connsiteX3" fmla="*/ 698960 w 763907"/>
              <a:gd name="connsiteY3" fmla="*/ 691178 h 720000"/>
              <a:gd name="connsiteX4" fmla="*/ 678860 w 763907"/>
              <a:gd name="connsiteY4" fmla="*/ 699521 h 720000"/>
              <a:gd name="connsiteX5" fmla="*/ 658760 w 763907"/>
              <a:gd name="connsiteY5" fmla="*/ 691178 h 720000"/>
              <a:gd name="connsiteX6" fmla="*/ 545648 w 763907"/>
              <a:gd name="connsiteY6" fmla="*/ 578066 h 720000"/>
              <a:gd name="connsiteX7" fmla="*/ 545648 w 763907"/>
              <a:gd name="connsiteY7" fmla="*/ 537865 h 720000"/>
              <a:gd name="connsiteX8" fmla="*/ 565749 w 763907"/>
              <a:gd name="connsiteY8" fmla="*/ 529546 h 720000"/>
              <a:gd name="connsiteX9" fmla="*/ 565749 w 763907"/>
              <a:gd name="connsiteY9" fmla="*/ 359807 h 720000"/>
              <a:gd name="connsiteX10" fmla="*/ 735464 w 763907"/>
              <a:gd name="connsiteY10" fmla="*/ 359807 h 720000"/>
              <a:gd name="connsiteX11" fmla="*/ 763907 w 763907"/>
              <a:gd name="connsiteY11" fmla="*/ 388251 h 720000"/>
              <a:gd name="connsiteX12" fmla="*/ 735464 w 763907"/>
              <a:gd name="connsiteY12" fmla="*/ 416695 h 720000"/>
              <a:gd name="connsiteX13" fmla="*/ 565749 w 763907"/>
              <a:gd name="connsiteY13" fmla="*/ 416695 h 720000"/>
              <a:gd name="connsiteX14" fmla="*/ 537305 w 763907"/>
              <a:gd name="connsiteY14" fmla="*/ 388251 h 720000"/>
              <a:gd name="connsiteX15" fmla="*/ 565749 w 763907"/>
              <a:gd name="connsiteY15" fmla="*/ 359807 h 720000"/>
              <a:gd name="connsiteX16" fmla="*/ 678860 w 763907"/>
              <a:gd name="connsiteY16" fmla="*/ 77005 h 720000"/>
              <a:gd name="connsiteX17" fmla="*/ 698960 w 763907"/>
              <a:gd name="connsiteY17" fmla="*/ 85325 h 720000"/>
              <a:gd name="connsiteX18" fmla="*/ 698960 w 763907"/>
              <a:gd name="connsiteY18" fmla="*/ 125525 h 720000"/>
              <a:gd name="connsiteX19" fmla="*/ 585849 w 763907"/>
              <a:gd name="connsiteY19" fmla="*/ 238636 h 720000"/>
              <a:gd name="connsiteX20" fmla="*/ 565749 w 763907"/>
              <a:gd name="connsiteY20" fmla="*/ 246980 h 720000"/>
              <a:gd name="connsiteX21" fmla="*/ 545648 w 763907"/>
              <a:gd name="connsiteY21" fmla="*/ 238636 h 720000"/>
              <a:gd name="connsiteX22" fmla="*/ 545648 w 763907"/>
              <a:gd name="connsiteY22" fmla="*/ 198436 h 720000"/>
              <a:gd name="connsiteX23" fmla="*/ 658760 w 763907"/>
              <a:gd name="connsiteY23" fmla="*/ 85325 h 720000"/>
              <a:gd name="connsiteX24" fmla="*/ 678860 w 763907"/>
              <a:gd name="connsiteY24" fmla="*/ 77005 h 720000"/>
              <a:gd name="connsiteX25" fmla="*/ 362802 w 763907"/>
              <a:gd name="connsiteY25" fmla="*/ 5 h 720000"/>
              <a:gd name="connsiteX26" fmla="*/ 422012 w 763907"/>
              <a:gd name="connsiteY26" fmla="*/ 16490 h 720000"/>
              <a:gd name="connsiteX27" fmla="*/ 481080 w 763907"/>
              <a:gd name="connsiteY27" fmla="*/ 119457 h 720000"/>
              <a:gd name="connsiteX28" fmla="*/ 481080 w 763907"/>
              <a:gd name="connsiteY28" fmla="*/ 600631 h 720000"/>
              <a:gd name="connsiteX29" fmla="*/ 422012 w 763907"/>
              <a:gd name="connsiteY29" fmla="*/ 703598 h 720000"/>
              <a:gd name="connsiteX30" fmla="*/ 361806 w 763907"/>
              <a:gd name="connsiteY30" fmla="*/ 720000 h 720000"/>
              <a:gd name="connsiteX31" fmla="*/ 303306 w 763907"/>
              <a:gd name="connsiteY31" fmla="*/ 704546 h 720000"/>
              <a:gd name="connsiteX32" fmla="*/ 60870 w 763907"/>
              <a:gd name="connsiteY32" fmla="*/ 568300 h 720000"/>
              <a:gd name="connsiteX33" fmla="*/ 0 w 763907"/>
              <a:gd name="connsiteY33" fmla="*/ 464291 h 720000"/>
              <a:gd name="connsiteX34" fmla="*/ 0 w 763907"/>
              <a:gd name="connsiteY34" fmla="*/ 255702 h 720000"/>
              <a:gd name="connsiteX35" fmla="*/ 60870 w 763907"/>
              <a:gd name="connsiteY35" fmla="*/ 151693 h 720000"/>
              <a:gd name="connsiteX36" fmla="*/ 303306 w 763907"/>
              <a:gd name="connsiteY36" fmla="*/ 15447 h 720000"/>
              <a:gd name="connsiteX37" fmla="*/ 362802 w 763907"/>
              <a:gd name="connsiteY37" fmla="*/ 5 h 720000"/>
            </a:gdLst>
            <a:rect l="l" t="t" r="r" b="b"/>
            <a:pathLst>
              <a:path w="763907" h="720000">
                <a:moveTo>
                  <a:pt x="565749" y="529546"/>
                </a:moveTo>
                <a:cubicBezTo>
                  <a:pt x="573025" y="529546"/>
                  <a:pt x="580302" y="532319"/>
                  <a:pt x="585849" y="537865"/>
                </a:cubicBezTo>
                <a:lnTo>
                  <a:pt x="698960" y="650977"/>
                </a:lnTo>
                <a:cubicBezTo>
                  <a:pt x="710054" y="662070"/>
                  <a:pt x="710054" y="680084"/>
                  <a:pt x="698960" y="691178"/>
                </a:cubicBezTo>
                <a:cubicBezTo>
                  <a:pt x="693461" y="696677"/>
                  <a:pt x="686161" y="699521"/>
                  <a:pt x="678860" y="699521"/>
                </a:cubicBezTo>
                <a:cubicBezTo>
                  <a:pt x="671560" y="699521"/>
                  <a:pt x="664259" y="696771"/>
                  <a:pt x="658760" y="691178"/>
                </a:cubicBezTo>
                <a:lnTo>
                  <a:pt x="545648" y="578066"/>
                </a:lnTo>
                <a:cubicBezTo>
                  <a:pt x="534555" y="566973"/>
                  <a:pt x="534555" y="548959"/>
                  <a:pt x="545648" y="537865"/>
                </a:cubicBezTo>
                <a:cubicBezTo>
                  <a:pt x="551195" y="532319"/>
                  <a:pt x="558471" y="529546"/>
                  <a:pt x="565749" y="529546"/>
                </a:cubicBezTo>
                <a:close/>
                <a:moveTo>
                  <a:pt x="565749" y="359807"/>
                </a:moveTo>
                <a:lnTo>
                  <a:pt x="735464" y="359807"/>
                </a:lnTo>
                <a:cubicBezTo>
                  <a:pt x="751202" y="359807"/>
                  <a:pt x="763907" y="372512"/>
                  <a:pt x="763907" y="388251"/>
                </a:cubicBezTo>
                <a:cubicBezTo>
                  <a:pt x="763907" y="403990"/>
                  <a:pt x="751107" y="416695"/>
                  <a:pt x="735464" y="416695"/>
                </a:cubicBezTo>
                <a:lnTo>
                  <a:pt x="565749" y="416695"/>
                </a:lnTo>
                <a:cubicBezTo>
                  <a:pt x="550010" y="416695"/>
                  <a:pt x="537305" y="403990"/>
                  <a:pt x="537305" y="388251"/>
                </a:cubicBezTo>
                <a:cubicBezTo>
                  <a:pt x="537305" y="372512"/>
                  <a:pt x="550010" y="359807"/>
                  <a:pt x="565749" y="359807"/>
                </a:cubicBezTo>
                <a:close/>
                <a:moveTo>
                  <a:pt x="678860" y="77005"/>
                </a:moveTo>
                <a:cubicBezTo>
                  <a:pt x="686137" y="77005"/>
                  <a:pt x="693414" y="79778"/>
                  <a:pt x="698960" y="85325"/>
                </a:cubicBezTo>
                <a:cubicBezTo>
                  <a:pt x="710054" y="96418"/>
                  <a:pt x="710054" y="114432"/>
                  <a:pt x="698960" y="125525"/>
                </a:cubicBezTo>
                <a:lnTo>
                  <a:pt x="585849" y="238636"/>
                </a:lnTo>
                <a:cubicBezTo>
                  <a:pt x="580350" y="244231"/>
                  <a:pt x="573049" y="246980"/>
                  <a:pt x="565749" y="246980"/>
                </a:cubicBezTo>
                <a:cubicBezTo>
                  <a:pt x="558448" y="246980"/>
                  <a:pt x="551147" y="244231"/>
                  <a:pt x="545648" y="238636"/>
                </a:cubicBezTo>
                <a:cubicBezTo>
                  <a:pt x="534555" y="227543"/>
                  <a:pt x="534555" y="209529"/>
                  <a:pt x="545648" y="198436"/>
                </a:cubicBezTo>
                <a:lnTo>
                  <a:pt x="658760" y="85325"/>
                </a:lnTo>
                <a:cubicBezTo>
                  <a:pt x="664306" y="79778"/>
                  <a:pt x="671583" y="77005"/>
                  <a:pt x="678860" y="77005"/>
                </a:cubicBezTo>
                <a:close/>
                <a:moveTo>
                  <a:pt x="362802" y="5"/>
                </a:moveTo>
                <a:cubicBezTo>
                  <a:pt x="383186" y="183"/>
                  <a:pt x="403524" y="5682"/>
                  <a:pt x="422012" y="16490"/>
                </a:cubicBezTo>
                <a:cubicBezTo>
                  <a:pt x="458989" y="38108"/>
                  <a:pt x="481080" y="76601"/>
                  <a:pt x="481080" y="119457"/>
                </a:cubicBezTo>
                <a:lnTo>
                  <a:pt x="481080" y="600631"/>
                </a:lnTo>
                <a:cubicBezTo>
                  <a:pt x="481080" y="643486"/>
                  <a:pt x="458989" y="681980"/>
                  <a:pt x="422012" y="703598"/>
                </a:cubicBezTo>
                <a:cubicBezTo>
                  <a:pt x="403240" y="714501"/>
                  <a:pt x="382475" y="720000"/>
                  <a:pt x="361806" y="720000"/>
                </a:cubicBezTo>
                <a:cubicBezTo>
                  <a:pt x="341706" y="720000"/>
                  <a:pt x="321700" y="714881"/>
                  <a:pt x="303306" y="704546"/>
                </a:cubicBezTo>
                <a:lnTo>
                  <a:pt x="60870" y="568300"/>
                </a:lnTo>
                <a:cubicBezTo>
                  <a:pt x="23324" y="547157"/>
                  <a:pt x="0" y="507336"/>
                  <a:pt x="0" y="464291"/>
                </a:cubicBezTo>
                <a:lnTo>
                  <a:pt x="0" y="255702"/>
                </a:lnTo>
                <a:cubicBezTo>
                  <a:pt x="0" y="212657"/>
                  <a:pt x="23324" y="172742"/>
                  <a:pt x="60870" y="151693"/>
                </a:cubicBezTo>
                <a:lnTo>
                  <a:pt x="303306" y="15447"/>
                </a:lnTo>
                <a:cubicBezTo>
                  <a:pt x="321984" y="4970"/>
                  <a:pt x="342417" y="-173"/>
                  <a:pt x="362802" y="5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670024" y="2646351"/>
            <a:ext cx="3470666" cy="1172796"/>
          </a:xfrm>
          <a:prstGeom prst="roundRect">
            <a:avLst>
              <a:gd name="adj" fmla="val 0"/>
            </a:avLst>
          </a:prstGeom>
          <a:solidFill>
            <a:schemeClr val="tx2">
              <a:alpha val="15000"/>
            </a:schemeClr>
          </a:solidFill>
          <a:ln w="605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767063" y="2869657"/>
            <a:ext cx="3373627" cy="890732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077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AI 健康监测系统可实时采集老人生命体征数据，如心率、血压、血糖等，通过大数据分析及时发现异常并预警，保障老人健康安全。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865709" y="2354169"/>
            <a:ext cx="481369" cy="48136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vert="horz" wrap="none" lIns="108000" tIns="108000" rIns="108000" bIns="10800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983641" y="2472102"/>
            <a:ext cx="245504" cy="245504"/>
          </a:xfrm>
          <a:custGeom>
            <a:avLst/>
            <a:gdLst>
              <a:gd name="connsiteX0" fmla="*/ 438553 w 720000"/>
              <a:gd name="connsiteY0" fmla="*/ 189601 h 720000"/>
              <a:gd name="connsiteX1" fmla="*/ 503636 w 720000"/>
              <a:gd name="connsiteY1" fmla="*/ 216365 h 720000"/>
              <a:gd name="connsiteX2" fmla="*/ 503636 w 720000"/>
              <a:gd name="connsiteY2" fmla="*/ 346445 h 720000"/>
              <a:gd name="connsiteX3" fmla="*/ 362260 w 720000"/>
              <a:gd name="connsiteY3" fmla="*/ 487907 h 720000"/>
              <a:gd name="connsiteX4" fmla="*/ 191861 w 720000"/>
              <a:gd name="connsiteY4" fmla="*/ 528226 h 720000"/>
              <a:gd name="connsiteX5" fmla="*/ 232180 w 720000"/>
              <a:gd name="connsiteY5" fmla="*/ 357827 h 720000"/>
              <a:gd name="connsiteX6" fmla="*/ 373556 w 720000"/>
              <a:gd name="connsiteY6" fmla="*/ 216452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339581 w 720000"/>
              <a:gd name="connsiteY9" fmla="*/ 182476 h 720000"/>
              <a:gd name="connsiteX10" fmla="*/ 198205 w 720000"/>
              <a:gd name="connsiteY10" fmla="*/ 323852 h 720000"/>
              <a:gd name="connsiteX11" fmla="*/ 141637 w 720000"/>
              <a:gd name="connsiteY11" fmla="*/ 578364 h 720000"/>
              <a:gd name="connsiteX12" fmla="*/ 396149 w 720000"/>
              <a:gd name="connsiteY12" fmla="*/ 521796 h 720000"/>
              <a:gd name="connsiteX13" fmla="*/ 537524 w 720000"/>
              <a:gd name="connsiteY13" fmla="*/ 380420 h 720000"/>
              <a:gd name="connsiteX14" fmla="*/ 537524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0 h 720000"/>
              <a:gd name="connsiteX17" fmla="*/ 600000 w 720000"/>
              <a:gd name="connsiteY17" fmla="*/ 0 h 720000"/>
              <a:gd name="connsiteX18" fmla="*/ 720000 w 720000"/>
              <a:gd name="connsiteY18" fmla="*/ 120000 h 720000"/>
              <a:gd name="connsiteX19" fmla="*/ 720000 w 720000"/>
              <a:gd name="connsiteY19" fmla="*/ 600000 h 720000"/>
              <a:gd name="connsiteX20" fmla="*/ 600000 w 720000"/>
              <a:gd name="connsiteY20" fmla="*/ 720000 h 720000"/>
              <a:gd name="connsiteX21" fmla="*/ 120000 w 720000"/>
              <a:gd name="connsiteY21" fmla="*/ 720000 h 720000"/>
              <a:gd name="connsiteX22" fmla="*/ 0 w 720000"/>
              <a:gd name="connsiteY22" fmla="*/ 600000 h 720000"/>
              <a:gd name="connsiteX23" fmla="*/ 0 w 720000"/>
              <a:gd name="connsiteY23" fmla="*/ 120000 h 720000"/>
              <a:gd name="connsiteX24" fmla="*/ 120000 w 720000"/>
              <a:gd name="connsiteY24" fmla="*/ 0 h 720000"/>
            </a:gdLst>
            <a:rect l="l" t="t" r="r" b="b"/>
            <a:pathLst>
              <a:path w="720000" h="720000">
                <a:moveTo>
                  <a:pt x="438553" y="189601"/>
                </a:moveTo>
                <a:cubicBezTo>
                  <a:pt x="463230" y="189601"/>
                  <a:pt x="486344" y="199073"/>
                  <a:pt x="503636" y="216365"/>
                </a:cubicBezTo>
                <a:cubicBezTo>
                  <a:pt x="539523" y="252252"/>
                  <a:pt x="539523" y="310557"/>
                  <a:pt x="503636" y="346445"/>
                </a:cubicBezTo>
                <a:lnTo>
                  <a:pt x="362260" y="487907"/>
                </a:lnTo>
                <a:cubicBezTo>
                  <a:pt x="342622" y="507545"/>
                  <a:pt x="266503" y="522665"/>
                  <a:pt x="191861" y="528226"/>
                </a:cubicBezTo>
                <a:cubicBezTo>
                  <a:pt x="197336" y="453584"/>
                  <a:pt x="212456" y="377465"/>
                  <a:pt x="232180" y="357827"/>
                </a:cubicBezTo>
                <a:lnTo>
                  <a:pt x="373556" y="216452"/>
                </a:lnTo>
                <a:cubicBezTo>
                  <a:pt x="390761" y="199073"/>
                  <a:pt x="413875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02666" y="141636"/>
                  <a:pt x="366778" y="155278"/>
                  <a:pt x="339581" y="182476"/>
                </a:cubicBezTo>
                <a:lnTo>
                  <a:pt x="198205" y="323852"/>
                </a:lnTo>
                <a:cubicBezTo>
                  <a:pt x="143723" y="378335"/>
                  <a:pt x="141637" y="578364"/>
                  <a:pt x="141637" y="578364"/>
                </a:cubicBezTo>
                <a:cubicBezTo>
                  <a:pt x="141637" y="578364"/>
                  <a:pt x="341753" y="576278"/>
                  <a:pt x="396149" y="521796"/>
                </a:cubicBezTo>
                <a:lnTo>
                  <a:pt x="537524" y="380420"/>
                </a:lnTo>
                <a:cubicBezTo>
                  <a:pt x="592007" y="325938"/>
                  <a:pt x="592007" y="236872"/>
                  <a:pt x="537524" y="182476"/>
                </a:cubicBezTo>
                <a:cubicBezTo>
                  <a:pt x="510327" y="155191"/>
                  <a:pt x="474440" y="141636"/>
                  <a:pt x="438553" y="141636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670024" y="4573001"/>
            <a:ext cx="3470666" cy="1172797"/>
          </a:xfrm>
          <a:prstGeom prst="roundRect">
            <a:avLst>
              <a:gd name="adj" fmla="val 0"/>
            </a:avLst>
          </a:prstGeom>
          <a:solidFill>
            <a:schemeClr val="tx2">
              <a:alpha val="15000"/>
            </a:schemeClr>
          </a:solidFill>
          <a:ln w="605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0" flipV="0">
            <a:off x="767063" y="4796308"/>
            <a:ext cx="3373627" cy="890732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个性化服务方案根据老人身体状况、兴趣爱好、生活习惯等制定，满足老人多样化需求，提升老人满意度。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0" flipH="0" flipV="0">
            <a:off x="865709" y="4280820"/>
            <a:ext cx="481369" cy="48136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vert="horz" wrap="none" lIns="108000" tIns="108000" rIns="108000" bIns="10800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0" flipH="0" flipV="0">
            <a:off x="987125" y="4406084"/>
            <a:ext cx="238536" cy="230840"/>
          </a:xfrm>
          <a:custGeom>
            <a:avLst/>
            <a:gdLst>
              <a:gd name="connsiteX0" fmla="*/ 311954 w 744004"/>
              <a:gd name="connsiteY0" fmla="*/ 337123 h 720001"/>
              <a:gd name="connsiteX1" fmla="*/ 168770 w 744004"/>
              <a:gd name="connsiteY1" fmla="*/ 337123 h 720001"/>
              <a:gd name="connsiteX2" fmla="*/ 49673 w 744004"/>
              <a:gd name="connsiteY2" fmla="*/ 287618 h 720001"/>
              <a:gd name="connsiteX3" fmla="*/ 167 w 744004"/>
              <a:gd name="connsiteY3" fmla="*/ 168520 h 720001"/>
              <a:gd name="connsiteX4" fmla="*/ 49590 w 744004"/>
              <a:gd name="connsiteY4" fmla="*/ 49507 h 720001"/>
              <a:gd name="connsiteX5" fmla="*/ 168687 w 744004"/>
              <a:gd name="connsiteY5" fmla="*/ 0 h 720001"/>
              <a:gd name="connsiteX6" fmla="*/ 287784 w 744004"/>
              <a:gd name="connsiteY6" fmla="*/ 49507 h 720001"/>
              <a:gd name="connsiteX7" fmla="*/ 337290 w 744004"/>
              <a:gd name="connsiteY7" fmla="*/ 168604 h 720001"/>
              <a:gd name="connsiteX8" fmla="*/ 337290 w 744004"/>
              <a:gd name="connsiteY8" fmla="*/ 311787 h 720001"/>
              <a:gd name="connsiteX9" fmla="*/ 311954 w 744004"/>
              <a:gd name="connsiteY9" fmla="*/ 337123 h 720001"/>
              <a:gd name="connsiteX10" fmla="*/ 575401 w 744004"/>
              <a:gd name="connsiteY10" fmla="*/ 337207 h 720001"/>
              <a:gd name="connsiteX11" fmla="*/ 432218 w 744004"/>
              <a:gd name="connsiteY11" fmla="*/ 337207 h 720001"/>
              <a:gd name="connsiteX12" fmla="*/ 406882 w 744004"/>
              <a:gd name="connsiteY12" fmla="*/ 311870 h 720001"/>
              <a:gd name="connsiteX13" fmla="*/ 406882 w 744004"/>
              <a:gd name="connsiteY13" fmla="*/ 168687 h 720001"/>
              <a:gd name="connsiteX14" fmla="*/ 456387 w 744004"/>
              <a:gd name="connsiteY14" fmla="*/ 49590 h 720001"/>
              <a:gd name="connsiteX15" fmla="*/ 575401 w 744004"/>
              <a:gd name="connsiteY15" fmla="*/ 0 h 720001"/>
              <a:gd name="connsiteX16" fmla="*/ 694498 w 744004"/>
              <a:gd name="connsiteY16" fmla="*/ 49507 h 720001"/>
              <a:gd name="connsiteX17" fmla="*/ 744004 w 744004"/>
              <a:gd name="connsiteY17" fmla="*/ 168604 h 720001"/>
              <a:gd name="connsiteX18" fmla="*/ 694498 w 744004"/>
              <a:gd name="connsiteY18" fmla="*/ 287701 h 720001"/>
              <a:gd name="connsiteX19" fmla="*/ 575401 w 744004"/>
              <a:gd name="connsiteY19" fmla="*/ 337207 h 720001"/>
              <a:gd name="connsiteX20" fmla="*/ 168604 w 744004"/>
              <a:gd name="connsiteY20" fmla="*/ 720001 h 720001"/>
              <a:gd name="connsiteX21" fmla="*/ 49507 w 744004"/>
              <a:gd name="connsiteY21" fmla="*/ 670495 h 720001"/>
              <a:gd name="connsiteX22" fmla="*/ 0 w 744004"/>
              <a:gd name="connsiteY22" fmla="*/ 551398 h 720001"/>
              <a:gd name="connsiteX23" fmla="*/ 49507 w 744004"/>
              <a:gd name="connsiteY23" fmla="*/ 432301 h 720001"/>
              <a:gd name="connsiteX24" fmla="*/ 168687 w 744004"/>
              <a:gd name="connsiteY24" fmla="*/ 382879 h 720001"/>
              <a:gd name="connsiteX25" fmla="*/ 311871 w 744004"/>
              <a:gd name="connsiteY25" fmla="*/ 382879 h 720001"/>
              <a:gd name="connsiteX26" fmla="*/ 337207 w 744004"/>
              <a:gd name="connsiteY26" fmla="*/ 408215 h 720001"/>
              <a:gd name="connsiteX27" fmla="*/ 337207 w 744004"/>
              <a:gd name="connsiteY27" fmla="*/ 551398 h 720001"/>
              <a:gd name="connsiteX28" fmla="*/ 287701 w 744004"/>
              <a:gd name="connsiteY28" fmla="*/ 670495 h 720001"/>
              <a:gd name="connsiteX29" fmla="*/ 168604 w 744004"/>
              <a:gd name="connsiteY29" fmla="*/ 720001 h 720001"/>
              <a:gd name="connsiteX30" fmla="*/ 575401 w 744004"/>
              <a:gd name="connsiteY30" fmla="*/ 720001 h 720001"/>
              <a:gd name="connsiteX31" fmla="*/ 456304 w 744004"/>
              <a:gd name="connsiteY31" fmla="*/ 670495 h 720001"/>
              <a:gd name="connsiteX32" fmla="*/ 406798 w 744004"/>
              <a:gd name="connsiteY32" fmla="*/ 551398 h 720001"/>
              <a:gd name="connsiteX33" fmla="*/ 406798 w 744004"/>
              <a:gd name="connsiteY33" fmla="*/ 408215 h 720001"/>
              <a:gd name="connsiteX34" fmla="*/ 432218 w 744004"/>
              <a:gd name="connsiteY34" fmla="*/ 382879 h 720001"/>
              <a:gd name="connsiteX35" fmla="*/ 575401 w 744004"/>
              <a:gd name="connsiteY35" fmla="*/ 382879 h 720001"/>
              <a:gd name="connsiteX36" fmla="*/ 694498 w 744004"/>
              <a:gd name="connsiteY36" fmla="*/ 432385 h 720001"/>
              <a:gd name="connsiteX37" fmla="*/ 744004 w 744004"/>
              <a:gd name="connsiteY37" fmla="*/ 551398 h 720001"/>
              <a:gd name="connsiteX38" fmla="*/ 694498 w 744004"/>
              <a:gd name="connsiteY38" fmla="*/ 670495 h 720001"/>
              <a:gd name="connsiteX39" fmla="*/ 575401 w 744004"/>
              <a:gd name="connsiteY39" fmla="*/ 720001 h 720001"/>
            </a:gdLst>
            <a:rect l="l" t="t" r="r" b="b"/>
            <a:pathLst>
              <a:path w="744004" h="720001">
                <a:moveTo>
                  <a:pt x="311954" y="337123"/>
                </a:moveTo>
                <a:lnTo>
                  <a:pt x="168770" y="337123"/>
                </a:lnTo>
                <a:cubicBezTo>
                  <a:pt x="123932" y="337123"/>
                  <a:pt x="81594" y="319538"/>
                  <a:pt x="49673" y="287618"/>
                </a:cubicBezTo>
                <a:cubicBezTo>
                  <a:pt x="17753" y="255697"/>
                  <a:pt x="167" y="213442"/>
                  <a:pt x="167" y="168520"/>
                </a:cubicBezTo>
                <a:cubicBezTo>
                  <a:pt x="167" y="123598"/>
                  <a:pt x="17669" y="81427"/>
                  <a:pt x="49590" y="49507"/>
                </a:cubicBezTo>
                <a:cubicBezTo>
                  <a:pt x="81510" y="17586"/>
                  <a:pt x="123848" y="0"/>
                  <a:pt x="168687" y="0"/>
                </a:cubicBezTo>
                <a:cubicBezTo>
                  <a:pt x="213526" y="0"/>
                  <a:pt x="255864" y="17586"/>
                  <a:pt x="287784" y="49507"/>
                </a:cubicBezTo>
                <a:cubicBezTo>
                  <a:pt x="319705" y="81427"/>
                  <a:pt x="337290" y="123682"/>
                  <a:pt x="337290" y="168604"/>
                </a:cubicBezTo>
                <a:lnTo>
                  <a:pt x="337290" y="311787"/>
                </a:lnTo>
                <a:cubicBezTo>
                  <a:pt x="337290" y="325789"/>
                  <a:pt x="325956" y="337123"/>
                  <a:pt x="311954" y="337123"/>
                </a:cubicBezTo>
                <a:close/>
                <a:moveTo>
                  <a:pt x="575401" y="337207"/>
                </a:moveTo>
                <a:lnTo>
                  <a:pt x="432218" y="337207"/>
                </a:lnTo>
                <a:cubicBezTo>
                  <a:pt x="418216" y="337207"/>
                  <a:pt x="406882" y="325872"/>
                  <a:pt x="406882" y="311870"/>
                </a:cubicBezTo>
                <a:lnTo>
                  <a:pt x="406882" y="168687"/>
                </a:lnTo>
                <a:cubicBezTo>
                  <a:pt x="406882" y="123849"/>
                  <a:pt x="424467" y="81510"/>
                  <a:pt x="456387" y="49590"/>
                </a:cubicBezTo>
                <a:cubicBezTo>
                  <a:pt x="488308" y="17669"/>
                  <a:pt x="530563" y="0"/>
                  <a:pt x="575401" y="0"/>
                </a:cubicBezTo>
                <a:cubicBezTo>
                  <a:pt x="620240" y="0"/>
                  <a:pt x="662578" y="17586"/>
                  <a:pt x="694498" y="49507"/>
                </a:cubicBezTo>
                <a:cubicBezTo>
                  <a:pt x="726419" y="81427"/>
                  <a:pt x="744004" y="123765"/>
                  <a:pt x="744004" y="168604"/>
                </a:cubicBezTo>
                <a:cubicBezTo>
                  <a:pt x="744004" y="213442"/>
                  <a:pt x="726419" y="255780"/>
                  <a:pt x="694498" y="287701"/>
                </a:cubicBezTo>
                <a:cubicBezTo>
                  <a:pt x="662578" y="319621"/>
                  <a:pt x="620323" y="337207"/>
                  <a:pt x="575401" y="337207"/>
                </a:cubicBezTo>
                <a:close/>
                <a:moveTo>
                  <a:pt x="168604" y="720001"/>
                </a:moveTo>
                <a:cubicBezTo>
                  <a:pt x="123682" y="720001"/>
                  <a:pt x="81427" y="702416"/>
                  <a:pt x="49507" y="670495"/>
                </a:cubicBezTo>
                <a:cubicBezTo>
                  <a:pt x="17586" y="638575"/>
                  <a:pt x="0" y="596320"/>
                  <a:pt x="0" y="551398"/>
                </a:cubicBezTo>
                <a:cubicBezTo>
                  <a:pt x="0" y="506476"/>
                  <a:pt x="17586" y="464221"/>
                  <a:pt x="49507" y="432301"/>
                </a:cubicBezTo>
                <a:cubicBezTo>
                  <a:pt x="81510" y="400464"/>
                  <a:pt x="123848" y="382879"/>
                  <a:pt x="168687" y="382879"/>
                </a:cubicBezTo>
                <a:lnTo>
                  <a:pt x="311871" y="382879"/>
                </a:lnTo>
                <a:cubicBezTo>
                  <a:pt x="325872" y="382879"/>
                  <a:pt x="337207" y="394297"/>
                  <a:pt x="337207" y="408215"/>
                </a:cubicBezTo>
                <a:lnTo>
                  <a:pt x="337207" y="551398"/>
                </a:lnTo>
                <a:cubicBezTo>
                  <a:pt x="337207" y="596237"/>
                  <a:pt x="319621" y="638575"/>
                  <a:pt x="287701" y="670495"/>
                </a:cubicBezTo>
                <a:cubicBezTo>
                  <a:pt x="255781" y="702416"/>
                  <a:pt x="213526" y="720001"/>
                  <a:pt x="168604" y="720001"/>
                </a:cubicBezTo>
                <a:close/>
                <a:moveTo>
                  <a:pt x="575401" y="720001"/>
                </a:moveTo>
                <a:cubicBezTo>
                  <a:pt x="530563" y="720001"/>
                  <a:pt x="488224" y="702416"/>
                  <a:pt x="456304" y="670495"/>
                </a:cubicBezTo>
                <a:cubicBezTo>
                  <a:pt x="424383" y="638575"/>
                  <a:pt x="406798" y="596320"/>
                  <a:pt x="406798" y="551398"/>
                </a:cubicBezTo>
                <a:lnTo>
                  <a:pt x="406798" y="408215"/>
                </a:lnTo>
                <a:cubicBezTo>
                  <a:pt x="406882" y="394213"/>
                  <a:pt x="418216" y="382879"/>
                  <a:pt x="432218" y="382879"/>
                </a:cubicBezTo>
                <a:lnTo>
                  <a:pt x="575401" y="382879"/>
                </a:lnTo>
                <a:cubicBezTo>
                  <a:pt x="620240" y="382879"/>
                  <a:pt x="662578" y="400464"/>
                  <a:pt x="694498" y="432385"/>
                </a:cubicBezTo>
                <a:cubicBezTo>
                  <a:pt x="726419" y="464305"/>
                  <a:pt x="744004" y="506560"/>
                  <a:pt x="744004" y="551398"/>
                </a:cubicBezTo>
                <a:cubicBezTo>
                  <a:pt x="744004" y="596237"/>
                  <a:pt x="726419" y="638575"/>
                  <a:pt x="694498" y="670495"/>
                </a:cubicBezTo>
                <a:cubicBezTo>
                  <a:pt x="662578" y="702416"/>
                  <a:pt x="620323" y="720001"/>
                  <a:pt x="575401" y="720001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0" flipV="0">
            <a:off x="1166223" y="1317785"/>
            <a:ext cx="9846853" cy="864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5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智能化养老服务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0" flipH="0" flipV="0">
            <a:off x="316690" y="373380"/>
            <a:ext cx="8171180" cy="65532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rot="0" flipH="0" flipV="0">
            <a:off x="783520" y="484345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产品（服务）介绍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rot="0" flipH="0" flipV="0">
            <a:off x="324256" y="626624"/>
            <a:ext cx="402076" cy="402076"/>
          </a:xfrm>
          <a:prstGeom prst="rtTriangl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5059307" y="2302743"/>
            <a:ext cx="3986213" cy="4168775"/>
          </a:xfrm>
          <a:custGeom>
            <a:avLst/>
            <a:gdLst>
              <a:gd name="T0" fmla="*/ 435 w 1252"/>
              <a:gd name="T1" fmla="*/ 647 h 1304"/>
              <a:gd name="T2" fmla="*/ 406 w 1252"/>
              <a:gd name="T3" fmla="*/ 663 h 1304"/>
              <a:gd name="T4" fmla="*/ 175 w 1252"/>
              <a:gd name="T5" fmla="*/ 663 h 1304"/>
              <a:gd name="T6" fmla="*/ 146 w 1252"/>
              <a:gd name="T7" fmla="*/ 647 h 1304"/>
              <a:gd name="T8" fmla="*/ 64 w 1252"/>
              <a:gd name="T9" fmla="*/ 505 h 1304"/>
              <a:gd name="T10" fmla="*/ 6 w 1252"/>
              <a:gd name="T11" fmla="*/ 505 h 1304"/>
              <a:gd name="T12" fmla="*/ 6 w 1252"/>
              <a:gd name="T13" fmla="*/ 505 h 1304"/>
              <a:gd name="T14" fmla="*/ 6 w 1252"/>
              <a:gd name="T15" fmla="*/ 539 h 1304"/>
              <a:gd name="T16" fmla="*/ 107 w 1252"/>
              <a:gd name="T17" fmla="*/ 714 h 1304"/>
              <a:gd name="T18" fmla="*/ 136 w 1252"/>
              <a:gd name="T19" fmla="*/ 731 h 1304"/>
              <a:gd name="T20" fmla="*/ 445 w 1252"/>
              <a:gd name="T21" fmla="*/ 731 h 1304"/>
              <a:gd name="T22" fmla="*/ 474 w 1252"/>
              <a:gd name="T23" fmla="*/ 714 h 1304"/>
              <a:gd name="T24" fmla="*/ 763 w 1252"/>
              <a:gd name="T25" fmla="*/ 213 h 1304"/>
              <a:gd name="T26" fmla="*/ 792 w 1252"/>
              <a:gd name="T27" fmla="*/ 196 h 1304"/>
              <a:gd name="T28" fmla="*/ 1023 w 1252"/>
              <a:gd name="T29" fmla="*/ 196 h 1304"/>
              <a:gd name="T30" fmla="*/ 1052 w 1252"/>
              <a:gd name="T31" fmla="*/ 213 h 1304"/>
              <a:gd name="T32" fmla="*/ 1168 w 1252"/>
              <a:gd name="T33" fmla="*/ 413 h 1304"/>
              <a:gd name="T34" fmla="*/ 1168 w 1252"/>
              <a:gd name="T35" fmla="*/ 446 h 1304"/>
              <a:gd name="T36" fmla="*/ 1052 w 1252"/>
              <a:gd name="T37" fmla="*/ 647 h 1304"/>
              <a:gd name="T38" fmla="*/ 1023 w 1252"/>
              <a:gd name="T39" fmla="*/ 663 h 1304"/>
              <a:gd name="T40" fmla="*/ 792 w 1252"/>
              <a:gd name="T41" fmla="*/ 663 h 1304"/>
              <a:gd name="T42" fmla="*/ 763 w 1252"/>
              <a:gd name="T43" fmla="*/ 647 h 1304"/>
              <a:gd name="T44" fmla="*/ 682 w 1252"/>
              <a:gd name="T45" fmla="*/ 506 h 1304"/>
              <a:gd name="T46" fmla="*/ 623 w 1252"/>
              <a:gd name="T47" fmla="*/ 506 h 1304"/>
              <a:gd name="T48" fmla="*/ 623 w 1252"/>
              <a:gd name="T49" fmla="*/ 506 h 1304"/>
              <a:gd name="T50" fmla="*/ 623 w 1252"/>
              <a:gd name="T51" fmla="*/ 539 h 1304"/>
              <a:gd name="T52" fmla="*/ 724 w 1252"/>
              <a:gd name="T53" fmla="*/ 714 h 1304"/>
              <a:gd name="T54" fmla="*/ 753 w 1252"/>
              <a:gd name="T55" fmla="*/ 731 h 1304"/>
              <a:gd name="T56" fmla="*/ 1062 w 1252"/>
              <a:gd name="T57" fmla="*/ 731 h 1304"/>
              <a:gd name="T58" fmla="*/ 1091 w 1252"/>
              <a:gd name="T59" fmla="*/ 714 h 1304"/>
              <a:gd name="T60" fmla="*/ 1246 w 1252"/>
              <a:gd name="T61" fmla="*/ 446 h 1304"/>
              <a:gd name="T62" fmla="*/ 1246 w 1252"/>
              <a:gd name="T63" fmla="*/ 413 h 1304"/>
              <a:gd name="T64" fmla="*/ 1091 w 1252"/>
              <a:gd name="T65" fmla="*/ 145 h 1304"/>
              <a:gd name="T66" fmla="*/ 1062 w 1252"/>
              <a:gd name="T67" fmla="*/ 129 h 1304"/>
              <a:gd name="T68" fmla="*/ 753 w 1252"/>
              <a:gd name="T69" fmla="*/ 129 h 1304"/>
              <a:gd name="T70" fmla="*/ 724 w 1252"/>
              <a:gd name="T71" fmla="*/ 145 h 1304"/>
              <a:gd name="T72" fmla="*/ 435 w 1252"/>
              <a:gd name="T73" fmla="*/ 647 h 1304"/>
            </a:gdLst>
            <a:rect l="0" t="0" r="r" b="b"/>
            <a:pathLst>
              <a:path w="1252" h="1304">
                <a:moveTo>
                  <a:pt x="435" y="647"/>
                </a:moveTo>
                <a:cubicBezTo>
                  <a:pt x="429" y="657"/>
                  <a:pt x="418" y="663"/>
                  <a:pt x="406" y="663"/>
                </a:cubicBezTo>
                <a:cubicBezTo>
                  <a:pt x="175" y="663"/>
                  <a:pt x="175" y="663"/>
                  <a:pt x="175" y="663"/>
                </a:cubicBezTo>
                <a:cubicBezTo>
                  <a:pt x="163" y="663"/>
                  <a:pt x="152" y="657"/>
                  <a:pt x="146" y="647"/>
                </a:cubicBezTo>
                <a:cubicBezTo>
                  <a:pt x="64" y="505"/>
                  <a:pt x="64" y="505"/>
                  <a:pt x="64" y="505"/>
                </a:cubicBezTo>
                <a:cubicBezTo>
                  <a:pt x="51" y="483"/>
                  <a:pt x="19" y="483"/>
                  <a:pt x="6" y="505"/>
                </a:cubicBezTo>
                <a:cubicBezTo>
                  <a:pt x="6" y="505"/>
                  <a:pt x="6" y="505"/>
                  <a:pt x="6" y="505"/>
                </a:cubicBezTo>
                <a:cubicBezTo>
                  <a:pt x="0" y="516"/>
                  <a:pt x="0" y="528"/>
                  <a:pt x="6" y="539"/>
                </a:cubicBezTo>
                <a:cubicBezTo>
                  <a:pt x="107" y="714"/>
                  <a:pt x="107" y="714"/>
                  <a:pt x="107" y="714"/>
                </a:cubicBezTo>
                <a:cubicBezTo>
                  <a:pt x="113" y="724"/>
                  <a:pt x="124" y="731"/>
                  <a:pt x="136" y="731"/>
                </a:cubicBezTo>
                <a:cubicBezTo>
                  <a:pt x="445" y="731"/>
                  <a:pt x="445" y="731"/>
                  <a:pt x="445" y="731"/>
                </a:cubicBezTo>
                <a:cubicBezTo>
                  <a:pt x="457" y="731"/>
                  <a:pt x="468" y="724"/>
                  <a:pt x="474" y="714"/>
                </a:cubicBezTo>
                <a:cubicBezTo>
                  <a:pt x="664" y="384"/>
                  <a:pt x="614" y="471"/>
                  <a:pt x="763" y="213"/>
                </a:cubicBezTo>
                <a:cubicBezTo>
                  <a:pt x="769" y="202"/>
                  <a:pt x="780" y="196"/>
                  <a:pt x="792" y="196"/>
                </a:cubicBezTo>
                <a:cubicBezTo>
                  <a:pt x="1023" y="196"/>
                  <a:pt x="1023" y="196"/>
                  <a:pt x="1023" y="196"/>
                </a:cubicBezTo>
                <a:cubicBezTo>
                  <a:pt x="1035" y="196"/>
                  <a:pt x="1046" y="202"/>
                  <a:pt x="1052" y="213"/>
                </a:cubicBezTo>
                <a:cubicBezTo>
                  <a:pt x="1168" y="413"/>
                  <a:pt x="1168" y="413"/>
                  <a:pt x="1168" y="413"/>
                </a:cubicBezTo>
                <a:cubicBezTo>
                  <a:pt x="1174" y="423"/>
                  <a:pt x="1174" y="436"/>
                  <a:pt x="1168" y="446"/>
                </a:cubicBezTo>
                <a:cubicBezTo>
                  <a:pt x="1052" y="647"/>
                  <a:pt x="1052" y="647"/>
                  <a:pt x="1052" y="647"/>
                </a:cubicBezTo>
                <a:cubicBezTo>
                  <a:pt x="1046" y="657"/>
                  <a:pt x="1035" y="663"/>
                  <a:pt x="1023" y="663"/>
                </a:cubicBezTo>
                <a:cubicBezTo>
                  <a:pt x="792" y="663"/>
                  <a:pt x="792" y="663"/>
                  <a:pt x="792" y="663"/>
                </a:cubicBezTo>
                <a:cubicBezTo>
                  <a:pt x="780" y="663"/>
                  <a:pt x="769" y="657"/>
                  <a:pt x="763" y="647"/>
                </a:cubicBezTo>
                <a:cubicBezTo>
                  <a:pt x="682" y="506"/>
                  <a:pt x="682" y="506"/>
                  <a:pt x="682" y="506"/>
                </a:cubicBezTo>
                <a:cubicBezTo>
                  <a:pt x="669" y="483"/>
                  <a:pt x="636" y="483"/>
                  <a:pt x="623" y="506"/>
                </a:cubicBezTo>
                <a:cubicBezTo>
                  <a:pt x="623" y="506"/>
                  <a:pt x="623" y="506"/>
                  <a:pt x="623" y="506"/>
                </a:cubicBezTo>
                <a:cubicBezTo>
                  <a:pt x="617" y="516"/>
                  <a:pt x="617" y="529"/>
                  <a:pt x="623" y="539"/>
                </a:cubicBezTo>
                <a:cubicBezTo>
                  <a:pt x="724" y="714"/>
                  <a:pt x="724" y="714"/>
                  <a:pt x="724" y="714"/>
                </a:cubicBezTo>
                <a:cubicBezTo>
                  <a:pt x="730" y="724"/>
                  <a:pt x="741" y="731"/>
                  <a:pt x="753" y="731"/>
                </a:cubicBezTo>
                <a:cubicBezTo>
                  <a:pt x="1062" y="731"/>
                  <a:pt x="1062" y="731"/>
                  <a:pt x="1062" y="731"/>
                </a:cubicBezTo>
                <a:cubicBezTo>
                  <a:pt x="1074" y="731"/>
                  <a:pt x="1085" y="724"/>
                  <a:pt x="1091" y="714"/>
                </a:cubicBezTo>
                <a:cubicBezTo>
                  <a:pt x="1246" y="446"/>
                  <a:pt x="1246" y="446"/>
                  <a:pt x="1246" y="446"/>
                </a:cubicBezTo>
                <a:cubicBezTo>
                  <a:pt x="1252" y="436"/>
                  <a:pt x="1252" y="423"/>
                  <a:pt x="1246" y="413"/>
                </a:cubicBezTo>
                <a:cubicBezTo>
                  <a:pt x="1091" y="145"/>
                  <a:pt x="1091" y="145"/>
                  <a:pt x="1091" y="145"/>
                </a:cubicBezTo>
                <a:cubicBezTo>
                  <a:pt x="1085" y="135"/>
                  <a:pt x="1074" y="129"/>
                  <a:pt x="1062" y="129"/>
                </a:cubicBezTo>
                <a:cubicBezTo>
                  <a:pt x="753" y="129"/>
                  <a:pt x="753" y="129"/>
                  <a:pt x="753" y="129"/>
                </a:cubicBezTo>
                <a:cubicBezTo>
                  <a:pt x="741" y="129"/>
                  <a:pt x="730" y="135"/>
                  <a:pt x="724" y="145"/>
                </a:cubicBezTo>
                <a:cubicBezTo>
                  <a:pt x="55" y="1304"/>
                  <a:pt x="808" y="0"/>
                  <a:pt x="435" y="647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57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10800000" scaled="0"/>
          </a:gra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2920943" y="2715492"/>
            <a:ext cx="3983038" cy="1924050"/>
          </a:xfrm>
          <a:custGeom>
            <a:avLst/>
            <a:gdLst>
              <a:gd name="T0" fmla="*/ 816 w 1251"/>
              <a:gd name="T1" fmla="*/ 84 h 602"/>
              <a:gd name="T2" fmla="*/ 845 w 1251"/>
              <a:gd name="T3" fmla="*/ 67 h 602"/>
              <a:gd name="T4" fmla="*/ 1076 w 1251"/>
              <a:gd name="T5" fmla="*/ 67 h 602"/>
              <a:gd name="T6" fmla="*/ 1106 w 1251"/>
              <a:gd name="T7" fmla="*/ 84 h 602"/>
              <a:gd name="T8" fmla="*/ 1187 w 1251"/>
              <a:gd name="T9" fmla="*/ 225 h 602"/>
              <a:gd name="T10" fmla="*/ 1245 w 1251"/>
              <a:gd name="T11" fmla="*/ 225 h 602"/>
              <a:gd name="T12" fmla="*/ 1245 w 1251"/>
              <a:gd name="T13" fmla="*/ 225 h 602"/>
              <a:gd name="T14" fmla="*/ 1245 w 1251"/>
              <a:gd name="T15" fmla="*/ 191 h 602"/>
              <a:gd name="T16" fmla="*/ 1144 w 1251"/>
              <a:gd name="T17" fmla="*/ 16 h 602"/>
              <a:gd name="T18" fmla="*/ 1115 w 1251"/>
              <a:gd name="T19" fmla="*/ 0 h 602"/>
              <a:gd name="T20" fmla="*/ 807 w 1251"/>
              <a:gd name="T21" fmla="*/ 0 h 602"/>
              <a:gd name="T22" fmla="*/ 777 w 1251"/>
              <a:gd name="T23" fmla="*/ 16 h 602"/>
              <a:gd name="T24" fmla="*/ 488 w 1251"/>
              <a:gd name="T25" fmla="*/ 518 h 602"/>
              <a:gd name="T26" fmla="*/ 459 w 1251"/>
              <a:gd name="T27" fmla="*/ 534 h 602"/>
              <a:gd name="T28" fmla="*/ 228 w 1251"/>
              <a:gd name="T29" fmla="*/ 534 h 602"/>
              <a:gd name="T30" fmla="*/ 199 w 1251"/>
              <a:gd name="T31" fmla="*/ 518 h 602"/>
              <a:gd name="T32" fmla="*/ 83 w 1251"/>
              <a:gd name="T33" fmla="*/ 317 h 602"/>
              <a:gd name="T34" fmla="*/ 83 w 1251"/>
              <a:gd name="T35" fmla="*/ 284 h 602"/>
              <a:gd name="T36" fmla="*/ 199 w 1251"/>
              <a:gd name="T37" fmla="*/ 84 h 602"/>
              <a:gd name="T38" fmla="*/ 228 w 1251"/>
              <a:gd name="T39" fmla="*/ 67 h 602"/>
              <a:gd name="T40" fmla="*/ 459 w 1251"/>
              <a:gd name="T41" fmla="*/ 67 h 602"/>
              <a:gd name="T42" fmla="*/ 488 w 1251"/>
              <a:gd name="T43" fmla="*/ 84 h 602"/>
              <a:gd name="T44" fmla="*/ 570 w 1251"/>
              <a:gd name="T45" fmla="*/ 225 h 602"/>
              <a:gd name="T46" fmla="*/ 628 w 1251"/>
              <a:gd name="T47" fmla="*/ 225 h 602"/>
              <a:gd name="T48" fmla="*/ 628 w 1251"/>
              <a:gd name="T49" fmla="*/ 225 h 602"/>
              <a:gd name="T50" fmla="*/ 628 w 1251"/>
              <a:gd name="T51" fmla="*/ 191 h 602"/>
              <a:gd name="T52" fmla="*/ 527 w 1251"/>
              <a:gd name="T53" fmla="*/ 16 h 602"/>
              <a:gd name="T54" fmla="*/ 498 w 1251"/>
              <a:gd name="T55" fmla="*/ 0 h 602"/>
              <a:gd name="T56" fmla="*/ 189 w 1251"/>
              <a:gd name="T57" fmla="*/ 0 h 602"/>
              <a:gd name="T58" fmla="*/ 160 w 1251"/>
              <a:gd name="T59" fmla="*/ 16 h 602"/>
              <a:gd name="T60" fmla="*/ 6 w 1251"/>
              <a:gd name="T61" fmla="*/ 284 h 602"/>
              <a:gd name="T62" fmla="*/ 6 w 1251"/>
              <a:gd name="T63" fmla="*/ 317 h 602"/>
              <a:gd name="T64" fmla="*/ 160 w 1251"/>
              <a:gd name="T65" fmla="*/ 585 h 602"/>
              <a:gd name="T66" fmla="*/ 189 w 1251"/>
              <a:gd name="T67" fmla="*/ 602 h 602"/>
              <a:gd name="T68" fmla="*/ 498 w 1251"/>
              <a:gd name="T69" fmla="*/ 602 h 602"/>
              <a:gd name="T70" fmla="*/ 527 w 1251"/>
              <a:gd name="T71" fmla="*/ 585 h 602"/>
              <a:gd name="T72" fmla="*/ 816 w 1251"/>
              <a:gd name="T73" fmla="*/ 84 h 602"/>
            </a:gdLst>
            <a:rect l="0" t="0" r="r" b="b"/>
            <a:pathLst>
              <a:path w="1251" h="602">
                <a:moveTo>
                  <a:pt x="816" y="84"/>
                </a:moveTo>
                <a:cubicBezTo>
                  <a:pt x="822" y="73"/>
                  <a:pt x="833" y="67"/>
                  <a:pt x="845" y="67"/>
                </a:cubicBezTo>
                <a:cubicBezTo>
                  <a:pt x="1076" y="67"/>
                  <a:pt x="1076" y="67"/>
                  <a:pt x="1076" y="67"/>
                </a:cubicBezTo>
                <a:cubicBezTo>
                  <a:pt x="1088" y="67"/>
                  <a:pt x="1100" y="73"/>
                  <a:pt x="1106" y="84"/>
                </a:cubicBezTo>
                <a:cubicBezTo>
                  <a:pt x="1187" y="225"/>
                  <a:pt x="1187" y="225"/>
                  <a:pt x="1187" y="225"/>
                </a:cubicBezTo>
                <a:cubicBezTo>
                  <a:pt x="1200" y="247"/>
                  <a:pt x="1233" y="247"/>
                  <a:pt x="1245" y="225"/>
                </a:cubicBezTo>
                <a:cubicBezTo>
                  <a:pt x="1245" y="225"/>
                  <a:pt x="1245" y="225"/>
                  <a:pt x="1245" y="225"/>
                </a:cubicBezTo>
                <a:cubicBezTo>
                  <a:pt x="1251" y="215"/>
                  <a:pt x="1251" y="202"/>
                  <a:pt x="1245" y="191"/>
                </a:cubicBezTo>
                <a:cubicBezTo>
                  <a:pt x="1144" y="16"/>
                  <a:pt x="1144" y="16"/>
                  <a:pt x="1144" y="16"/>
                </a:cubicBezTo>
                <a:cubicBezTo>
                  <a:pt x="1138" y="6"/>
                  <a:pt x="1127" y="0"/>
                  <a:pt x="1115" y="0"/>
                </a:cubicBezTo>
                <a:cubicBezTo>
                  <a:pt x="807" y="0"/>
                  <a:pt x="807" y="0"/>
                  <a:pt x="807" y="0"/>
                </a:cubicBezTo>
                <a:cubicBezTo>
                  <a:pt x="795" y="0"/>
                  <a:pt x="783" y="6"/>
                  <a:pt x="777" y="16"/>
                </a:cubicBezTo>
                <a:cubicBezTo>
                  <a:pt x="777" y="16"/>
                  <a:pt x="557" y="399"/>
                  <a:pt x="488" y="518"/>
                </a:cubicBezTo>
                <a:cubicBezTo>
                  <a:pt x="482" y="528"/>
                  <a:pt x="471" y="534"/>
                  <a:pt x="459" y="534"/>
                </a:cubicBezTo>
                <a:cubicBezTo>
                  <a:pt x="228" y="534"/>
                  <a:pt x="228" y="534"/>
                  <a:pt x="228" y="534"/>
                </a:cubicBezTo>
                <a:cubicBezTo>
                  <a:pt x="216" y="534"/>
                  <a:pt x="205" y="528"/>
                  <a:pt x="199" y="518"/>
                </a:cubicBezTo>
                <a:cubicBezTo>
                  <a:pt x="83" y="317"/>
                  <a:pt x="83" y="317"/>
                  <a:pt x="83" y="317"/>
                </a:cubicBezTo>
                <a:cubicBezTo>
                  <a:pt x="77" y="307"/>
                  <a:pt x="77" y="294"/>
                  <a:pt x="83" y="284"/>
                </a:cubicBezTo>
                <a:cubicBezTo>
                  <a:pt x="199" y="84"/>
                  <a:pt x="199" y="84"/>
                  <a:pt x="199" y="84"/>
                </a:cubicBezTo>
                <a:cubicBezTo>
                  <a:pt x="205" y="73"/>
                  <a:pt x="216" y="67"/>
                  <a:pt x="228" y="67"/>
                </a:cubicBezTo>
                <a:cubicBezTo>
                  <a:pt x="459" y="67"/>
                  <a:pt x="459" y="67"/>
                  <a:pt x="459" y="67"/>
                </a:cubicBezTo>
                <a:cubicBezTo>
                  <a:pt x="471" y="67"/>
                  <a:pt x="482" y="73"/>
                  <a:pt x="488" y="84"/>
                </a:cubicBezTo>
                <a:cubicBezTo>
                  <a:pt x="570" y="225"/>
                  <a:pt x="570" y="225"/>
                  <a:pt x="570" y="225"/>
                </a:cubicBezTo>
                <a:cubicBezTo>
                  <a:pt x="582" y="247"/>
                  <a:pt x="615" y="247"/>
                  <a:pt x="628" y="225"/>
                </a:cubicBezTo>
                <a:cubicBezTo>
                  <a:pt x="628" y="225"/>
                  <a:pt x="628" y="225"/>
                  <a:pt x="628" y="225"/>
                </a:cubicBezTo>
                <a:cubicBezTo>
                  <a:pt x="634" y="214"/>
                  <a:pt x="634" y="201"/>
                  <a:pt x="628" y="191"/>
                </a:cubicBezTo>
                <a:cubicBezTo>
                  <a:pt x="527" y="16"/>
                  <a:pt x="527" y="16"/>
                  <a:pt x="527" y="16"/>
                </a:cubicBezTo>
                <a:cubicBezTo>
                  <a:pt x="521" y="6"/>
                  <a:pt x="510" y="0"/>
                  <a:pt x="498" y="0"/>
                </a:cubicBezTo>
                <a:cubicBezTo>
                  <a:pt x="189" y="0"/>
                  <a:pt x="189" y="0"/>
                  <a:pt x="189" y="0"/>
                </a:cubicBezTo>
                <a:cubicBezTo>
                  <a:pt x="177" y="0"/>
                  <a:pt x="166" y="6"/>
                  <a:pt x="160" y="16"/>
                </a:cubicBezTo>
                <a:cubicBezTo>
                  <a:pt x="6" y="284"/>
                  <a:pt x="6" y="284"/>
                  <a:pt x="6" y="284"/>
                </a:cubicBezTo>
                <a:cubicBezTo>
                  <a:pt x="0" y="294"/>
                  <a:pt x="0" y="307"/>
                  <a:pt x="6" y="317"/>
                </a:cubicBezTo>
                <a:cubicBezTo>
                  <a:pt x="160" y="585"/>
                  <a:pt x="160" y="585"/>
                  <a:pt x="160" y="585"/>
                </a:cubicBezTo>
                <a:cubicBezTo>
                  <a:pt x="166" y="595"/>
                  <a:pt x="177" y="602"/>
                  <a:pt x="189" y="602"/>
                </a:cubicBezTo>
                <a:cubicBezTo>
                  <a:pt x="498" y="602"/>
                  <a:pt x="498" y="602"/>
                  <a:pt x="498" y="602"/>
                </a:cubicBezTo>
                <a:cubicBezTo>
                  <a:pt x="510" y="602"/>
                  <a:pt x="521" y="595"/>
                  <a:pt x="527" y="585"/>
                </a:cubicBezTo>
                <a:cubicBezTo>
                  <a:pt x="558" y="530"/>
                  <a:pt x="585" y="485"/>
                  <a:pt x="816" y="8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57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10800000" scaled="0"/>
          </a:gra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4250957" y="1069585"/>
            <a:ext cx="3580679" cy="69367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36000" rIns="0" bIns="36000" rtlCol="0" anchor="b"/>
          <a:lstStyle/>
          <a:p>
            <a:pPr algn="ctr">
              <a:lnSpc>
                <a:spcPct val="12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B0F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政策支持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4250957" y="1775734"/>
            <a:ext cx="3580679" cy="9244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36000" rIns="0" bIns="36000" rtlCol="0" anchor="t"/>
          <a:lstStyle/>
          <a:p>
            <a:pPr algn="ctr">
              <a:lnSpc>
                <a:spcPct val="120000"/>
              </a:lnSpc>
            </a:pPr>
            <a:r>
              <a:rPr kumimoji="1" lang="en-US" altLang="zh-CN" sz="112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国家出台多项政策鼓励社会力量参与养老服务，推动养老服务智能化发展，给予税收优惠、财政补贴等扶持政策。
地方政府积极响应，简化养老机构审批流程，提供土地资源支持，为 AI 芯颐养院建设运营创造良好政策环境。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2259754" y="4702933"/>
            <a:ext cx="3580679" cy="69367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36000" rIns="0" bIns="36000" rtlCol="0" anchor="b"/>
          <a:lstStyle/>
          <a:p>
            <a:pPr algn="ctr">
              <a:lnSpc>
                <a:spcPct val="12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B0F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老龄化加剧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2259754" y="5409082"/>
            <a:ext cx="3580679" cy="9244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36000" rIns="0" bIns="36000" rtlCol="0" anchor="t"/>
          <a:lstStyle/>
          <a:p>
            <a:pPr algn="ctr">
              <a:lnSpc>
                <a:spcPct val="120000"/>
              </a:lnSpc>
            </a:pPr>
            <a:r>
              <a:rPr kumimoji="1" lang="en-US" altLang="zh-CN" sz="112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我国 60 岁及以上人口占比超 18%，且呈上升趋势，养老需求持续增长，为智能养老服务提供广阔市场空间。
老年人口结构中，高龄、失能、半失能老人数量增加，对专业、智能养老服务的需求更为迫切。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7635599" y="3314700"/>
            <a:ext cx="682418" cy="618692"/>
          </a:xfrm>
          <a:custGeom>
            <a:avLst/>
            <a:gdLst>
              <a:gd name="connsiteX0" fmla="*/ 351048 w 1543905"/>
              <a:gd name="connsiteY0" fmla="*/ 523317 h 1399728"/>
              <a:gd name="connsiteX1" fmla="*/ 351048 w 1543905"/>
              <a:gd name="connsiteY1" fmla="*/ 523317 h 1399728"/>
              <a:gd name="connsiteX2" fmla="*/ 351420 w 1543905"/>
              <a:gd name="connsiteY2" fmla="*/ 523503 h 1399728"/>
              <a:gd name="connsiteX3" fmla="*/ 351420 w 1543905"/>
              <a:gd name="connsiteY3" fmla="*/ 1020031 h 1399728"/>
              <a:gd name="connsiteX4" fmla="*/ 351048 w 1543905"/>
              <a:gd name="connsiteY4" fmla="*/ 1020403 h 1399728"/>
              <a:gd name="connsiteX5" fmla="*/ 163525 w 1543905"/>
              <a:gd name="connsiteY5" fmla="*/ 1020403 h 1399728"/>
              <a:gd name="connsiteX6" fmla="*/ 163153 w 1543905"/>
              <a:gd name="connsiteY6" fmla="*/ 1020031 h 1399728"/>
              <a:gd name="connsiteX7" fmla="*/ 163153 w 1543905"/>
              <a:gd name="connsiteY7" fmla="*/ 523503 h 1399728"/>
              <a:gd name="connsiteX8" fmla="*/ 163153 w 1543905"/>
              <a:gd name="connsiteY8" fmla="*/ 523317 h 1399728"/>
              <a:gd name="connsiteX9" fmla="*/ 163339 w 1543905"/>
              <a:gd name="connsiteY9" fmla="*/ 523131 h 1399728"/>
              <a:gd name="connsiteX10" fmla="*/ 351048 w 1543905"/>
              <a:gd name="connsiteY10" fmla="*/ 523131 h 1399728"/>
              <a:gd name="connsiteX11" fmla="*/ 351048 w 1543905"/>
              <a:gd name="connsiteY11" fmla="*/ 411696 h 1399728"/>
              <a:gd name="connsiteX12" fmla="*/ 163339 w 1543905"/>
              <a:gd name="connsiteY12" fmla="*/ 411696 h 1399728"/>
              <a:gd name="connsiteX13" fmla="*/ 51346 w 1543905"/>
              <a:gd name="connsiteY13" fmla="*/ 523689 h 1399728"/>
              <a:gd name="connsiteX14" fmla="*/ 51346 w 1543905"/>
              <a:gd name="connsiteY14" fmla="*/ 1020217 h 1399728"/>
              <a:gd name="connsiteX15" fmla="*/ 163339 w 1543905"/>
              <a:gd name="connsiteY15" fmla="*/ 1132210 h 1399728"/>
              <a:gd name="connsiteX16" fmla="*/ 351048 w 1543905"/>
              <a:gd name="connsiteY16" fmla="*/ 1132210 h 1399728"/>
              <a:gd name="connsiteX17" fmla="*/ 463042 w 1543905"/>
              <a:gd name="connsiteY17" fmla="*/ 1020217 h 1399728"/>
              <a:gd name="connsiteX18" fmla="*/ 463042 w 1543905"/>
              <a:gd name="connsiteY18" fmla="*/ 523503 h 1399728"/>
              <a:gd name="connsiteX19" fmla="*/ 351048 w 1543905"/>
              <a:gd name="connsiteY19" fmla="*/ 411696 h 1399728"/>
              <a:gd name="connsiteX20" fmla="*/ 865808 w 1543905"/>
              <a:gd name="connsiteY20" fmla="*/ 111621 h 1399728"/>
              <a:gd name="connsiteX21" fmla="*/ 866180 w 1543905"/>
              <a:gd name="connsiteY21" fmla="*/ 111807 h 1399728"/>
              <a:gd name="connsiteX22" fmla="*/ 866180 w 1543905"/>
              <a:gd name="connsiteY22" fmla="*/ 1020031 h 1399728"/>
              <a:gd name="connsiteX23" fmla="*/ 865808 w 1543905"/>
              <a:gd name="connsiteY23" fmla="*/ 1020403 h 1399728"/>
              <a:gd name="connsiteX24" fmla="*/ 678284 w 1543905"/>
              <a:gd name="connsiteY24" fmla="*/ 1020403 h 1399728"/>
              <a:gd name="connsiteX25" fmla="*/ 677912 w 1543905"/>
              <a:gd name="connsiteY25" fmla="*/ 1020031 h 1399728"/>
              <a:gd name="connsiteX26" fmla="*/ 677912 w 1543905"/>
              <a:gd name="connsiteY26" fmla="*/ 111993 h 1399728"/>
              <a:gd name="connsiteX27" fmla="*/ 677912 w 1543905"/>
              <a:gd name="connsiteY27" fmla="*/ 111807 h 1399728"/>
              <a:gd name="connsiteX28" fmla="*/ 678098 w 1543905"/>
              <a:gd name="connsiteY28" fmla="*/ 111621 h 1399728"/>
              <a:gd name="connsiteX29" fmla="*/ 865808 w 1543905"/>
              <a:gd name="connsiteY29" fmla="*/ 111621 h 1399728"/>
              <a:gd name="connsiteX30" fmla="*/ 865808 w 1543905"/>
              <a:gd name="connsiteY30" fmla="*/ 0 h 1399728"/>
              <a:gd name="connsiteX31" fmla="*/ 677912 w 1543905"/>
              <a:gd name="connsiteY31" fmla="*/ 0 h 1399728"/>
              <a:gd name="connsiteX32" fmla="*/ 565919 w 1543905"/>
              <a:gd name="connsiteY32" fmla="*/ 111993 h 1399728"/>
              <a:gd name="connsiteX33" fmla="*/ 565919 w 1543905"/>
              <a:gd name="connsiteY33" fmla="*/ 1020217 h 1399728"/>
              <a:gd name="connsiteX34" fmla="*/ 677912 w 1543905"/>
              <a:gd name="connsiteY34" fmla="*/ 1132210 h 1399728"/>
              <a:gd name="connsiteX35" fmla="*/ 865622 w 1543905"/>
              <a:gd name="connsiteY35" fmla="*/ 1132210 h 1399728"/>
              <a:gd name="connsiteX36" fmla="*/ 977615 w 1543905"/>
              <a:gd name="connsiteY36" fmla="*/ 1020217 h 1399728"/>
              <a:gd name="connsiteX37" fmla="*/ 977615 w 1543905"/>
              <a:gd name="connsiteY37" fmla="*/ 111993 h 1399728"/>
              <a:gd name="connsiteX38" fmla="*/ 865808 w 1543905"/>
              <a:gd name="connsiteY38" fmla="*/ 0 h 1399728"/>
              <a:gd name="connsiteX39" fmla="*/ 1380381 w 1543905"/>
              <a:gd name="connsiteY39" fmla="*/ 729072 h 1399728"/>
              <a:gd name="connsiteX40" fmla="*/ 1380753 w 1543905"/>
              <a:gd name="connsiteY40" fmla="*/ 729258 h 1399728"/>
              <a:gd name="connsiteX41" fmla="*/ 1380753 w 1543905"/>
              <a:gd name="connsiteY41" fmla="*/ 1020031 h 1399728"/>
              <a:gd name="connsiteX42" fmla="*/ 1380381 w 1543905"/>
              <a:gd name="connsiteY42" fmla="*/ 1020403 h 1399728"/>
              <a:gd name="connsiteX43" fmla="*/ 1192858 w 1543905"/>
              <a:gd name="connsiteY43" fmla="*/ 1020403 h 1399728"/>
              <a:gd name="connsiteX44" fmla="*/ 1192485 w 1543905"/>
              <a:gd name="connsiteY44" fmla="*/ 1020031 h 1399728"/>
              <a:gd name="connsiteX45" fmla="*/ 1192485 w 1543905"/>
              <a:gd name="connsiteY45" fmla="*/ 729444 h 1399728"/>
              <a:gd name="connsiteX46" fmla="*/ 1192485 w 1543905"/>
              <a:gd name="connsiteY46" fmla="*/ 729258 h 1399728"/>
              <a:gd name="connsiteX47" fmla="*/ 1192671 w 1543905"/>
              <a:gd name="connsiteY47" fmla="*/ 729072 h 1399728"/>
              <a:gd name="connsiteX48" fmla="*/ 1380381 w 1543905"/>
              <a:gd name="connsiteY48" fmla="*/ 729072 h 1399728"/>
              <a:gd name="connsiteX49" fmla="*/ 1380381 w 1543905"/>
              <a:gd name="connsiteY49" fmla="*/ 617451 h 1399728"/>
              <a:gd name="connsiteX50" fmla="*/ 1192671 w 1543905"/>
              <a:gd name="connsiteY50" fmla="*/ 617451 h 1399728"/>
              <a:gd name="connsiteX51" fmla="*/ 1080678 w 1543905"/>
              <a:gd name="connsiteY51" fmla="*/ 729444 h 1399728"/>
              <a:gd name="connsiteX52" fmla="*/ 1080678 w 1543905"/>
              <a:gd name="connsiteY52" fmla="*/ 1020031 h 1399728"/>
              <a:gd name="connsiteX53" fmla="*/ 1192671 w 1543905"/>
              <a:gd name="connsiteY53" fmla="*/ 1132024 h 1399728"/>
              <a:gd name="connsiteX54" fmla="*/ 1380381 w 1543905"/>
              <a:gd name="connsiteY54" fmla="*/ 1132024 h 1399728"/>
              <a:gd name="connsiteX55" fmla="*/ 1492374 w 1543905"/>
              <a:gd name="connsiteY55" fmla="*/ 1020031 h 1399728"/>
              <a:gd name="connsiteX56" fmla="*/ 1492374 w 1543905"/>
              <a:gd name="connsiteY56" fmla="*/ 729444 h 1399728"/>
              <a:gd name="connsiteX57" fmla="*/ 1380381 w 1543905"/>
              <a:gd name="connsiteY57" fmla="*/ 617451 h 1399728"/>
              <a:gd name="connsiteX58" fmla="*/ 1481956 w 1543905"/>
              <a:gd name="connsiteY58" fmla="*/ 1276201 h 1399728"/>
              <a:gd name="connsiteX59" fmla="*/ 61764 w 1543905"/>
              <a:gd name="connsiteY59" fmla="*/ 1276201 h 1399728"/>
              <a:gd name="connsiteX60" fmla="*/ 0 w 1543905"/>
              <a:gd name="connsiteY60" fmla="*/ 1337965 h 1399728"/>
              <a:gd name="connsiteX61" fmla="*/ 61764 w 1543905"/>
              <a:gd name="connsiteY61" fmla="*/ 1399729 h 1399728"/>
              <a:gd name="connsiteX62" fmla="*/ 1482142 w 1543905"/>
              <a:gd name="connsiteY62" fmla="*/ 1399729 h 1399728"/>
              <a:gd name="connsiteX63" fmla="*/ 1543906 w 1543905"/>
              <a:gd name="connsiteY63" fmla="*/ 1337965 h 1399728"/>
              <a:gd name="connsiteX64" fmla="*/ 1481956 w 1543905"/>
              <a:gd name="connsiteY64" fmla="*/ 1276201 h 1399728"/>
            </a:gdLst>
            <a:rect l="l" t="t" r="r" b="b"/>
            <a:pathLst>
              <a:path w="1543905" h="1399728">
                <a:moveTo>
                  <a:pt x="351048" y="523317"/>
                </a:moveTo>
                <a:cubicBezTo>
                  <a:pt x="351234" y="523317"/>
                  <a:pt x="351234" y="523317"/>
                  <a:pt x="351048" y="523317"/>
                </a:cubicBezTo>
                <a:cubicBezTo>
                  <a:pt x="351234" y="523317"/>
                  <a:pt x="351420" y="523503"/>
                  <a:pt x="351420" y="523503"/>
                </a:cubicBezTo>
                <a:lnTo>
                  <a:pt x="351420" y="1020031"/>
                </a:lnTo>
                <a:lnTo>
                  <a:pt x="351048" y="1020403"/>
                </a:lnTo>
                <a:lnTo>
                  <a:pt x="163525" y="1020403"/>
                </a:lnTo>
                <a:lnTo>
                  <a:pt x="163153" y="1020031"/>
                </a:lnTo>
                <a:lnTo>
                  <a:pt x="163153" y="523503"/>
                </a:lnTo>
                <a:lnTo>
                  <a:pt x="163153" y="523317"/>
                </a:lnTo>
                <a:lnTo>
                  <a:pt x="163339" y="523131"/>
                </a:lnTo>
                <a:lnTo>
                  <a:pt x="351048" y="523131"/>
                </a:lnTo>
                <a:moveTo>
                  <a:pt x="351048" y="411696"/>
                </a:moveTo>
                <a:lnTo>
                  <a:pt x="163339" y="411696"/>
                </a:lnTo>
                <a:cubicBezTo>
                  <a:pt x="101575" y="411696"/>
                  <a:pt x="51346" y="461739"/>
                  <a:pt x="51346" y="523689"/>
                </a:cubicBezTo>
                <a:lnTo>
                  <a:pt x="51346" y="1020217"/>
                </a:lnTo>
                <a:cubicBezTo>
                  <a:pt x="51346" y="1081795"/>
                  <a:pt x="101761" y="1132210"/>
                  <a:pt x="163339" y="1132210"/>
                </a:cubicBezTo>
                <a:lnTo>
                  <a:pt x="351048" y="1132210"/>
                </a:lnTo>
                <a:cubicBezTo>
                  <a:pt x="412626" y="1132210"/>
                  <a:pt x="463042" y="1081795"/>
                  <a:pt x="463042" y="1020217"/>
                </a:cubicBezTo>
                <a:lnTo>
                  <a:pt x="463042" y="523503"/>
                </a:lnTo>
                <a:cubicBezTo>
                  <a:pt x="463042" y="461739"/>
                  <a:pt x="412998" y="411696"/>
                  <a:pt x="351048" y="411696"/>
                </a:cubicBezTo>
                <a:close/>
                <a:moveTo>
                  <a:pt x="865808" y="111621"/>
                </a:moveTo>
                <a:cubicBezTo>
                  <a:pt x="865994" y="111621"/>
                  <a:pt x="866180" y="111807"/>
                  <a:pt x="866180" y="111807"/>
                </a:cubicBezTo>
                <a:lnTo>
                  <a:pt x="866180" y="1020031"/>
                </a:lnTo>
                <a:lnTo>
                  <a:pt x="865808" y="1020403"/>
                </a:lnTo>
                <a:lnTo>
                  <a:pt x="678284" y="1020403"/>
                </a:lnTo>
                <a:lnTo>
                  <a:pt x="677912" y="1020031"/>
                </a:lnTo>
                <a:lnTo>
                  <a:pt x="677912" y="111993"/>
                </a:lnTo>
                <a:lnTo>
                  <a:pt x="677912" y="111807"/>
                </a:lnTo>
                <a:lnTo>
                  <a:pt x="678098" y="111621"/>
                </a:lnTo>
                <a:lnTo>
                  <a:pt x="865808" y="111621"/>
                </a:lnTo>
                <a:moveTo>
                  <a:pt x="865808" y="0"/>
                </a:moveTo>
                <a:lnTo>
                  <a:pt x="677912" y="0"/>
                </a:lnTo>
                <a:cubicBezTo>
                  <a:pt x="616148" y="0"/>
                  <a:pt x="565919" y="50043"/>
                  <a:pt x="565919" y="111993"/>
                </a:cubicBezTo>
                <a:lnTo>
                  <a:pt x="565919" y="1020217"/>
                </a:lnTo>
                <a:cubicBezTo>
                  <a:pt x="565919" y="1081795"/>
                  <a:pt x="616335" y="1132210"/>
                  <a:pt x="677912" y="1132210"/>
                </a:cubicBezTo>
                <a:lnTo>
                  <a:pt x="865622" y="1132210"/>
                </a:lnTo>
                <a:cubicBezTo>
                  <a:pt x="927199" y="1132210"/>
                  <a:pt x="977615" y="1081795"/>
                  <a:pt x="977615" y="1020217"/>
                </a:cubicBezTo>
                <a:lnTo>
                  <a:pt x="977615" y="111993"/>
                </a:lnTo>
                <a:cubicBezTo>
                  <a:pt x="977615" y="50043"/>
                  <a:pt x="927571" y="0"/>
                  <a:pt x="865808" y="0"/>
                </a:cubicBezTo>
                <a:close/>
                <a:moveTo>
                  <a:pt x="1380381" y="729072"/>
                </a:moveTo>
                <a:cubicBezTo>
                  <a:pt x="1380567" y="729072"/>
                  <a:pt x="1380753" y="729258"/>
                  <a:pt x="1380753" y="729258"/>
                </a:cubicBezTo>
                <a:lnTo>
                  <a:pt x="1380753" y="1020031"/>
                </a:lnTo>
                <a:lnTo>
                  <a:pt x="1380381" y="1020403"/>
                </a:lnTo>
                <a:lnTo>
                  <a:pt x="1192858" y="1020403"/>
                </a:lnTo>
                <a:lnTo>
                  <a:pt x="1192485" y="1020031"/>
                </a:lnTo>
                <a:lnTo>
                  <a:pt x="1192485" y="729444"/>
                </a:lnTo>
                <a:lnTo>
                  <a:pt x="1192485" y="729258"/>
                </a:lnTo>
                <a:lnTo>
                  <a:pt x="1192671" y="729072"/>
                </a:lnTo>
                <a:lnTo>
                  <a:pt x="1380381" y="729072"/>
                </a:lnTo>
                <a:moveTo>
                  <a:pt x="1380381" y="617451"/>
                </a:moveTo>
                <a:lnTo>
                  <a:pt x="1192671" y="617451"/>
                </a:lnTo>
                <a:cubicBezTo>
                  <a:pt x="1130908" y="617451"/>
                  <a:pt x="1080678" y="667494"/>
                  <a:pt x="1080678" y="729444"/>
                </a:cubicBezTo>
                <a:lnTo>
                  <a:pt x="1080678" y="1020031"/>
                </a:lnTo>
                <a:cubicBezTo>
                  <a:pt x="1080678" y="1081608"/>
                  <a:pt x="1131094" y="1132024"/>
                  <a:pt x="1192671" y="1132024"/>
                </a:cubicBezTo>
                <a:lnTo>
                  <a:pt x="1380381" y="1132024"/>
                </a:lnTo>
                <a:cubicBezTo>
                  <a:pt x="1441959" y="1132024"/>
                  <a:pt x="1492374" y="1081608"/>
                  <a:pt x="1492374" y="1020031"/>
                </a:cubicBezTo>
                <a:lnTo>
                  <a:pt x="1492374" y="729444"/>
                </a:lnTo>
                <a:cubicBezTo>
                  <a:pt x="1492374" y="667680"/>
                  <a:pt x="1442145" y="617451"/>
                  <a:pt x="1380381" y="617451"/>
                </a:cubicBezTo>
                <a:close/>
                <a:moveTo>
                  <a:pt x="1481956" y="1276201"/>
                </a:moveTo>
                <a:lnTo>
                  <a:pt x="61764" y="1276201"/>
                </a:lnTo>
                <a:cubicBezTo>
                  <a:pt x="27719" y="1276201"/>
                  <a:pt x="0" y="1303920"/>
                  <a:pt x="0" y="1337965"/>
                </a:cubicBezTo>
                <a:cubicBezTo>
                  <a:pt x="0" y="1372009"/>
                  <a:pt x="27719" y="1399729"/>
                  <a:pt x="61764" y="1399729"/>
                </a:cubicBezTo>
                <a:lnTo>
                  <a:pt x="1482142" y="1399729"/>
                </a:lnTo>
                <a:cubicBezTo>
                  <a:pt x="1516187" y="1399729"/>
                  <a:pt x="1543906" y="1372009"/>
                  <a:pt x="1543906" y="1337965"/>
                </a:cubicBezTo>
                <a:cubicBezTo>
                  <a:pt x="1543720" y="1303734"/>
                  <a:pt x="1516187" y="1276201"/>
                  <a:pt x="1481956" y="1276201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5695149" y="3314700"/>
            <a:ext cx="639318" cy="618692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3764520" y="3314700"/>
            <a:ext cx="571148" cy="618692"/>
          </a:xfrm>
          <a:custGeom>
            <a:avLst/>
            <a:gdLst>
              <a:gd name="connsiteX0" fmla="*/ 712625 w 1425436"/>
              <a:gd name="connsiteY0" fmla="*/ 111621 h 1544091"/>
              <a:gd name="connsiteX1" fmla="*/ 902567 w 1425436"/>
              <a:gd name="connsiteY1" fmla="*/ 190314 h 1544091"/>
              <a:gd name="connsiteX2" fmla="*/ 981260 w 1425436"/>
              <a:gd name="connsiteY2" fmla="*/ 380256 h 1544091"/>
              <a:gd name="connsiteX3" fmla="*/ 902567 w 1425436"/>
              <a:gd name="connsiteY3" fmla="*/ 570198 h 1544091"/>
              <a:gd name="connsiteX4" fmla="*/ 712625 w 1425436"/>
              <a:gd name="connsiteY4" fmla="*/ 648891 h 1544091"/>
              <a:gd name="connsiteX5" fmla="*/ 522684 w 1425436"/>
              <a:gd name="connsiteY5" fmla="*/ 570198 h 1544091"/>
              <a:gd name="connsiteX6" fmla="*/ 444177 w 1425436"/>
              <a:gd name="connsiteY6" fmla="*/ 380070 h 1544091"/>
              <a:gd name="connsiteX7" fmla="*/ 522870 w 1425436"/>
              <a:gd name="connsiteY7" fmla="*/ 190128 h 1544091"/>
              <a:gd name="connsiteX8" fmla="*/ 712625 w 1425436"/>
              <a:gd name="connsiteY8" fmla="*/ 111621 h 1544091"/>
              <a:gd name="connsiteX9" fmla="*/ 712625 w 1425436"/>
              <a:gd name="connsiteY9" fmla="*/ 0 h 1544091"/>
              <a:gd name="connsiteX10" fmla="*/ 332556 w 1425436"/>
              <a:gd name="connsiteY10" fmla="*/ 380070 h 1544091"/>
              <a:gd name="connsiteX11" fmla="*/ 712625 w 1425436"/>
              <a:gd name="connsiteY11" fmla="*/ 760140 h 1544091"/>
              <a:gd name="connsiteX12" fmla="*/ 1092695 w 1425436"/>
              <a:gd name="connsiteY12" fmla="*/ 380070 h 1544091"/>
              <a:gd name="connsiteX13" fmla="*/ 712625 w 1425436"/>
              <a:gd name="connsiteY13" fmla="*/ 0 h 1544091"/>
              <a:gd name="connsiteX14" fmla="*/ 712625 w 1425436"/>
              <a:gd name="connsiteY14" fmla="*/ 943012 h 1544091"/>
              <a:gd name="connsiteX15" fmla="*/ 978842 w 1425436"/>
              <a:gd name="connsiteY15" fmla="*/ 976685 h 1544091"/>
              <a:gd name="connsiteX16" fmla="*/ 1146087 w 1425436"/>
              <a:gd name="connsiteY16" fmla="*/ 1059470 h 1544091"/>
              <a:gd name="connsiteX17" fmla="*/ 1248593 w 1425436"/>
              <a:gd name="connsiteY17" fmla="*/ 1174440 h 1544091"/>
              <a:gd name="connsiteX18" fmla="*/ 1310356 w 1425436"/>
              <a:gd name="connsiteY18" fmla="*/ 1316385 h 1544091"/>
              <a:gd name="connsiteX19" fmla="*/ 1296590 w 1425436"/>
              <a:gd name="connsiteY19" fmla="*/ 1390241 h 1544091"/>
              <a:gd name="connsiteX20" fmla="*/ 1208595 w 1425436"/>
              <a:gd name="connsiteY20" fmla="*/ 1432285 h 1544091"/>
              <a:gd name="connsiteX21" fmla="*/ 216842 w 1425436"/>
              <a:gd name="connsiteY21" fmla="*/ 1432285 h 1544091"/>
              <a:gd name="connsiteX22" fmla="*/ 128847 w 1425436"/>
              <a:gd name="connsiteY22" fmla="*/ 1390241 h 1544091"/>
              <a:gd name="connsiteX23" fmla="*/ 115081 w 1425436"/>
              <a:gd name="connsiteY23" fmla="*/ 1316385 h 1544091"/>
              <a:gd name="connsiteX24" fmla="*/ 176844 w 1425436"/>
              <a:gd name="connsiteY24" fmla="*/ 1174440 h 1544091"/>
              <a:gd name="connsiteX25" fmla="*/ 279350 w 1425436"/>
              <a:gd name="connsiteY25" fmla="*/ 1059470 h 1544091"/>
              <a:gd name="connsiteX26" fmla="*/ 446595 w 1425436"/>
              <a:gd name="connsiteY26" fmla="*/ 976685 h 1544091"/>
              <a:gd name="connsiteX27" fmla="*/ 712625 w 1425436"/>
              <a:gd name="connsiteY27" fmla="*/ 943012 h 1544091"/>
              <a:gd name="connsiteX28" fmla="*/ 712625 w 1425436"/>
              <a:gd name="connsiteY28" fmla="*/ 831391 h 1544091"/>
              <a:gd name="connsiteX29" fmla="*/ 8296 w 1425436"/>
              <a:gd name="connsiteY29" fmla="*/ 1284387 h 1544091"/>
              <a:gd name="connsiteX30" fmla="*/ 216842 w 1425436"/>
              <a:gd name="connsiteY30" fmla="*/ 1544092 h 1544091"/>
              <a:gd name="connsiteX31" fmla="*/ 1208595 w 1425436"/>
              <a:gd name="connsiteY31" fmla="*/ 1544092 h 1544091"/>
              <a:gd name="connsiteX32" fmla="*/ 1417141 w 1425436"/>
              <a:gd name="connsiteY32" fmla="*/ 1284387 h 1544091"/>
              <a:gd name="connsiteX33" fmla="*/ 712625 w 1425436"/>
              <a:gd name="connsiteY33" fmla="*/ 831391 h 1544091"/>
            </a:gdLst>
            <a:rect l="l" t="t" r="r" b="b"/>
            <a:pathLst>
              <a:path w="1425436" h="1544091">
                <a:moveTo>
                  <a:pt x="712625" y="111621"/>
                </a:moveTo>
                <a:cubicBezTo>
                  <a:pt x="784435" y="111621"/>
                  <a:pt x="851780" y="139526"/>
                  <a:pt x="902567" y="190314"/>
                </a:cubicBezTo>
                <a:cubicBezTo>
                  <a:pt x="953355" y="241102"/>
                  <a:pt x="981260" y="308446"/>
                  <a:pt x="981260" y="380256"/>
                </a:cubicBezTo>
                <a:cubicBezTo>
                  <a:pt x="981260" y="452065"/>
                  <a:pt x="953355" y="519410"/>
                  <a:pt x="902567" y="570198"/>
                </a:cubicBezTo>
                <a:cubicBezTo>
                  <a:pt x="851780" y="620985"/>
                  <a:pt x="784435" y="648891"/>
                  <a:pt x="712625" y="648891"/>
                </a:cubicBezTo>
                <a:cubicBezTo>
                  <a:pt x="640816" y="648891"/>
                  <a:pt x="573471" y="620985"/>
                  <a:pt x="522684" y="570198"/>
                </a:cubicBezTo>
                <a:cubicBezTo>
                  <a:pt x="472082" y="519224"/>
                  <a:pt x="444177" y="451693"/>
                  <a:pt x="444177" y="380070"/>
                </a:cubicBezTo>
                <a:cubicBezTo>
                  <a:pt x="444177" y="308446"/>
                  <a:pt x="472082" y="240916"/>
                  <a:pt x="522870" y="190128"/>
                </a:cubicBezTo>
                <a:cubicBezTo>
                  <a:pt x="573471" y="139526"/>
                  <a:pt x="641002" y="111621"/>
                  <a:pt x="712625" y="111621"/>
                </a:cubicBezTo>
                <a:moveTo>
                  <a:pt x="712625" y="0"/>
                </a:moveTo>
                <a:cubicBezTo>
                  <a:pt x="502778" y="0"/>
                  <a:pt x="332556" y="170036"/>
                  <a:pt x="332556" y="380070"/>
                </a:cubicBezTo>
                <a:cubicBezTo>
                  <a:pt x="332556" y="589917"/>
                  <a:pt x="502778" y="760140"/>
                  <a:pt x="712625" y="760140"/>
                </a:cubicBezTo>
                <a:cubicBezTo>
                  <a:pt x="922473" y="760140"/>
                  <a:pt x="1092695" y="589917"/>
                  <a:pt x="1092695" y="380070"/>
                </a:cubicBezTo>
                <a:cubicBezTo>
                  <a:pt x="1092881" y="170036"/>
                  <a:pt x="922659" y="0"/>
                  <a:pt x="712625" y="0"/>
                </a:cubicBezTo>
                <a:close/>
                <a:moveTo>
                  <a:pt x="712625" y="943012"/>
                </a:moveTo>
                <a:cubicBezTo>
                  <a:pt x="813643" y="943012"/>
                  <a:pt x="903126" y="954360"/>
                  <a:pt x="978842" y="976685"/>
                </a:cubicBezTo>
                <a:cubicBezTo>
                  <a:pt x="1043582" y="995846"/>
                  <a:pt x="1099951" y="1023752"/>
                  <a:pt x="1146087" y="1059470"/>
                </a:cubicBezTo>
                <a:cubicBezTo>
                  <a:pt x="1186829" y="1091096"/>
                  <a:pt x="1220315" y="1128675"/>
                  <a:pt x="1248593" y="1174440"/>
                </a:cubicBezTo>
                <a:cubicBezTo>
                  <a:pt x="1273708" y="1215368"/>
                  <a:pt x="1293985" y="1261877"/>
                  <a:pt x="1310356" y="1316385"/>
                </a:cubicBezTo>
                <a:cubicBezTo>
                  <a:pt x="1320774" y="1350801"/>
                  <a:pt x="1306264" y="1377404"/>
                  <a:pt x="1296590" y="1390241"/>
                </a:cubicBezTo>
                <a:cubicBezTo>
                  <a:pt x="1276684" y="1417030"/>
                  <a:pt x="1244686" y="1432285"/>
                  <a:pt x="1208595" y="1432285"/>
                </a:cubicBezTo>
                <a:lnTo>
                  <a:pt x="216842" y="1432285"/>
                </a:lnTo>
                <a:cubicBezTo>
                  <a:pt x="180937" y="1432285"/>
                  <a:pt x="148753" y="1417030"/>
                  <a:pt x="128847" y="1390241"/>
                </a:cubicBezTo>
                <a:cubicBezTo>
                  <a:pt x="119359" y="1377404"/>
                  <a:pt x="104849" y="1350801"/>
                  <a:pt x="115081" y="1316385"/>
                </a:cubicBezTo>
                <a:cubicBezTo>
                  <a:pt x="131452" y="1261877"/>
                  <a:pt x="151543" y="1215368"/>
                  <a:pt x="176844" y="1174440"/>
                </a:cubicBezTo>
                <a:cubicBezTo>
                  <a:pt x="204936" y="1128675"/>
                  <a:pt x="238422" y="1090910"/>
                  <a:pt x="279350" y="1059470"/>
                </a:cubicBezTo>
                <a:cubicBezTo>
                  <a:pt x="325486" y="1023752"/>
                  <a:pt x="381855" y="995846"/>
                  <a:pt x="446595" y="976685"/>
                </a:cubicBezTo>
                <a:cubicBezTo>
                  <a:pt x="522125" y="954360"/>
                  <a:pt x="611794" y="943012"/>
                  <a:pt x="712625" y="943012"/>
                </a:cubicBezTo>
                <a:moveTo>
                  <a:pt x="712625" y="831391"/>
                </a:moveTo>
                <a:cubicBezTo>
                  <a:pt x="244561" y="831391"/>
                  <a:pt x="77501" y="1053331"/>
                  <a:pt x="8296" y="1284387"/>
                </a:cubicBezTo>
                <a:cubicBezTo>
                  <a:pt x="-30771" y="1414611"/>
                  <a:pt x="73037" y="1544092"/>
                  <a:pt x="216842" y="1544092"/>
                </a:cubicBezTo>
                <a:lnTo>
                  <a:pt x="1208595" y="1544092"/>
                </a:lnTo>
                <a:cubicBezTo>
                  <a:pt x="1352400" y="1544092"/>
                  <a:pt x="1456208" y="1414611"/>
                  <a:pt x="1417141" y="1284387"/>
                </a:cubicBezTo>
                <a:cubicBezTo>
                  <a:pt x="1347750" y="1053331"/>
                  <a:pt x="1180690" y="831391"/>
                  <a:pt x="712625" y="831391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6186468" y="4702933"/>
            <a:ext cx="3580679" cy="69367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36000" rIns="0" bIns="36000" rtlCol="0" anchor="b"/>
          <a:lstStyle/>
          <a:p>
            <a:pPr algn="ctr">
              <a:lnSpc>
                <a:spcPct val="12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B0F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市场需求升级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6186468" y="5409082"/>
            <a:ext cx="3580679" cy="9244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36000" rIns="0" bIns="36000" rtlCol="0" anchor="t"/>
          <a:lstStyle/>
          <a:p>
            <a:pPr algn="ctr">
              <a:lnSpc>
                <a:spcPct val="120000"/>
              </a:lnSpc>
            </a:pPr>
            <a:r>
              <a:rPr kumimoji="1" lang="en-US" altLang="zh-CN" sz="112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随着经济发展，老年人消费观念转变，对养老品质要求提高，愿意为高端、智能养老服务支付更高费用。
市场调研显示，超 70%的子女希望为父母选择具有智能化设施和服务的养老机构，以保障老人健康和生活便利。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316690" y="373380"/>
            <a:ext cx="8171180" cy="65532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783520" y="484345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市场机遇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0" flipV="0">
            <a:off x="324256" y="626624"/>
            <a:ext cx="402076" cy="402076"/>
          </a:xfrm>
          <a:prstGeom prst="rtTriangl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666749" y="2051051"/>
            <a:ext cx="10858499" cy="3829050"/>
          </a:xfrm>
          <a:prstGeom prst="roundRect">
            <a:avLst>
              <a:gd name="adj" fmla="val 3845"/>
            </a:avLst>
          </a:prstGeom>
          <a:gradFill>
            <a:gsLst>
              <a:gs pos="29000">
                <a:schemeClr val="bg1"/>
              </a:gs>
              <a:gs pos="100000">
                <a:schemeClr val="accent1">
                  <a:lumMod val="40000"/>
                  <a:lumOff val="60000"/>
                  <a:alpha val="40000"/>
                </a:schemeClr>
              </a:gs>
            </a:gsLst>
            <a:lin ang="5400000" scaled="0"/>
          </a:gradFill>
          <a:ln w="12700" cap="sq">
            <a:noFill/>
            <a:miter/>
          </a:ln>
          <a:effectLst>
            <a:outerShdw dist="0" blurRad="190500" dir="0" sx="100000" sy="100000" kx="0" ky="0" algn="ctr" rotWithShape="0">
              <a:schemeClr val="accent1">
                <a:alpha val="8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1657351" y="2985025"/>
            <a:ext cx="2525832" cy="226136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AI 芯颐养院采用先进 AI 技术，如深度学习算法、物联网技术，实现设备互联互通和智能化管理，技术应用水平处于行业前沿。
持续投入研发，与高校、科研机构合作，不断优化升级技术系统，保持技术领先优势。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1657351" y="2722938"/>
            <a:ext cx="2525832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B0F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技术领先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1043195" y="5318386"/>
            <a:ext cx="3132000" cy="3600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1043195" y="2703358"/>
            <a:ext cx="537956" cy="537956"/>
          </a:xfrm>
          <a:prstGeom prst="flowChartConnector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34925" cap="sq">
            <a:solidFill>
              <a:schemeClr val="bg1"/>
            </a:solidFill>
            <a:miter/>
          </a:ln>
          <a:effectLst>
            <a:outerShdw dist="0" blurRad="63500" dir="0" sx="102000" sy="102000" kx="0" ky="0" algn="ctr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1162242" y="2833639"/>
            <a:ext cx="299863" cy="277395"/>
          </a:xfrm>
          <a:custGeom>
            <a:avLst/>
            <a:gdLst>
              <a:gd name="connsiteX0" fmla="*/ 56258 w 778320"/>
              <a:gd name="connsiteY0" fmla="*/ 333700 h 720001"/>
              <a:gd name="connsiteX1" fmla="*/ 56258 w 778320"/>
              <a:gd name="connsiteY1" fmla="*/ 627457 h 720001"/>
              <a:gd name="connsiteX2" fmla="*/ 66946 w 778320"/>
              <a:gd name="connsiteY2" fmla="*/ 653054 h 720001"/>
              <a:gd name="connsiteX3" fmla="*/ 92544 w 778320"/>
              <a:gd name="connsiteY3" fmla="*/ 663743 h 720001"/>
              <a:gd name="connsiteX4" fmla="*/ 685683 w 778320"/>
              <a:gd name="connsiteY4" fmla="*/ 663743 h 720001"/>
              <a:gd name="connsiteX5" fmla="*/ 711281 w 778320"/>
              <a:gd name="connsiteY5" fmla="*/ 653054 h 720001"/>
              <a:gd name="connsiteX6" fmla="*/ 721969 w 778320"/>
              <a:gd name="connsiteY6" fmla="*/ 627457 h 720001"/>
              <a:gd name="connsiteX7" fmla="*/ 721969 w 778320"/>
              <a:gd name="connsiteY7" fmla="*/ 333700 h 720001"/>
              <a:gd name="connsiteX8" fmla="*/ 92544 w 778320"/>
              <a:gd name="connsiteY8" fmla="*/ 142049 h 720001"/>
              <a:gd name="connsiteX9" fmla="*/ 56258 w 778320"/>
              <a:gd name="connsiteY9" fmla="*/ 178336 h 720001"/>
              <a:gd name="connsiteX10" fmla="*/ 56258 w 778320"/>
              <a:gd name="connsiteY10" fmla="*/ 277443 h 720001"/>
              <a:gd name="connsiteX11" fmla="*/ 721969 w 778320"/>
              <a:gd name="connsiteY11" fmla="*/ 277443 h 720001"/>
              <a:gd name="connsiteX12" fmla="*/ 721969 w 778320"/>
              <a:gd name="connsiteY12" fmla="*/ 178336 h 720001"/>
              <a:gd name="connsiteX13" fmla="*/ 685683 w 778320"/>
              <a:gd name="connsiteY13" fmla="*/ 142049 h 720001"/>
              <a:gd name="connsiteX14" fmla="*/ 561355 w 778320"/>
              <a:gd name="connsiteY14" fmla="*/ 142049 h 720001"/>
              <a:gd name="connsiteX15" fmla="*/ 561355 w 778320"/>
              <a:gd name="connsiteY15" fmla="*/ 201026 h 720001"/>
              <a:gd name="connsiteX16" fmla="*/ 533226 w 778320"/>
              <a:gd name="connsiteY16" fmla="*/ 229249 h 720001"/>
              <a:gd name="connsiteX17" fmla="*/ 505097 w 778320"/>
              <a:gd name="connsiteY17" fmla="*/ 201120 h 720001"/>
              <a:gd name="connsiteX18" fmla="*/ 505097 w 778320"/>
              <a:gd name="connsiteY18" fmla="*/ 142049 h 720001"/>
              <a:gd name="connsiteX19" fmla="*/ 273129 w 778320"/>
              <a:gd name="connsiteY19" fmla="*/ 142049 h 720001"/>
              <a:gd name="connsiteX20" fmla="*/ 273129 w 778320"/>
              <a:gd name="connsiteY20" fmla="*/ 201026 h 720001"/>
              <a:gd name="connsiteX21" fmla="*/ 245001 w 778320"/>
              <a:gd name="connsiteY21" fmla="*/ 229249 h 720001"/>
              <a:gd name="connsiteX22" fmla="*/ 216872 w 778320"/>
              <a:gd name="connsiteY22" fmla="*/ 201120 h 720001"/>
              <a:gd name="connsiteX23" fmla="*/ 216872 w 778320"/>
              <a:gd name="connsiteY23" fmla="*/ 142049 h 720001"/>
              <a:gd name="connsiteX24" fmla="*/ 245001 w 778320"/>
              <a:gd name="connsiteY24" fmla="*/ 0 h 720001"/>
              <a:gd name="connsiteX25" fmla="*/ 273129 w 778320"/>
              <a:gd name="connsiteY25" fmla="*/ 28129 h 720001"/>
              <a:gd name="connsiteX26" fmla="*/ 273129 w 778320"/>
              <a:gd name="connsiteY26" fmla="*/ 85792 h 720001"/>
              <a:gd name="connsiteX27" fmla="*/ 505097 w 778320"/>
              <a:gd name="connsiteY27" fmla="*/ 85792 h 720001"/>
              <a:gd name="connsiteX28" fmla="*/ 505097 w 778320"/>
              <a:gd name="connsiteY28" fmla="*/ 28129 h 720001"/>
              <a:gd name="connsiteX29" fmla="*/ 533226 w 778320"/>
              <a:gd name="connsiteY29" fmla="*/ 0 h 720001"/>
              <a:gd name="connsiteX30" fmla="*/ 561355 w 778320"/>
              <a:gd name="connsiteY30" fmla="*/ 28129 h 720001"/>
              <a:gd name="connsiteX31" fmla="*/ 561355 w 778320"/>
              <a:gd name="connsiteY31" fmla="*/ 85792 h 720001"/>
              <a:gd name="connsiteX32" fmla="*/ 685683 w 778320"/>
              <a:gd name="connsiteY32" fmla="*/ 85792 h 720001"/>
              <a:gd name="connsiteX33" fmla="*/ 778320 w 778320"/>
              <a:gd name="connsiteY33" fmla="*/ 178336 h 720001"/>
              <a:gd name="connsiteX34" fmla="*/ 778320 w 778320"/>
              <a:gd name="connsiteY34" fmla="*/ 627457 h 720001"/>
              <a:gd name="connsiteX35" fmla="*/ 685777 w 778320"/>
              <a:gd name="connsiteY35" fmla="*/ 720001 h 720001"/>
              <a:gd name="connsiteX36" fmla="*/ 92544 w 778320"/>
              <a:gd name="connsiteY36" fmla="*/ 720001 h 720001"/>
              <a:gd name="connsiteX37" fmla="*/ 0 w 778320"/>
              <a:gd name="connsiteY37" fmla="*/ 627457 h 720001"/>
              <a:gd name="connsiteX38" fmla="*/ 0 w 778320"/>
              <a:gd name="connsiteY38" fmla="*/ 333700 h 720001"/>
              <a:gd name="connsiteX39" fmla="*/ 0 w 778320"/>
              <a:gd name="connsiteY39" fmla="*/ 277443 h 720001"/>
              <a:gd name="connsiteX40" fmla="*/ 0 w 778320"/>
              <a:gd name="connsiteY40" fmla="*/ 178336 h 720001"/>
              <a:gd name="connsiteX41" fmla="*/ 92544 w 778320"/>
              <a:gd name="connsiteY41" fmla="*/ 85792 h 720001"/>
              <a:gd name="connsiteX42" fmla="*/ 216872 w 778320"/>
              <a:gd name="connsiteY42" fmla="*/ 85792 h 720001"/>
              <a:gd name="connsiteX43" fmla="*/ 216872 w 778320"/>
              <a:gd name="connsiteY43" fmla="*/ 28129 h 720001"/>
              <a:gd name="connsiteX44" fmla="*/ 245001 w 778320"/>
              <a:gd name="connsiteY44" fmla="*/ 0 h 720001"/>
            </a:gdLst>
            <a:rect l="l" t="t" r="r" b="b"/>
            <a:pathLst>
              <a:path w="778320" h="720001">
                <a:moveTo>
                  <a:pt x="56258" y="333700"/>
                </a:moveTo>
                <a:lnTo>
                  <a:pt x="56258" y="627457"/>
                </a:lnTo>
                <a:cubicBezTo>
                  <a:pt x="56258" y="637115"/>
                  <a:pt x="60008" y="646116"/>
                  <a:pt x="66946" y="653054"/>
                </a:cubicBezTo>
                <a:cubicBezTo>
                  <a:pt x="73885" y="659899"/>
                  <a:pt x="82980" y="663743"/>
                  <a:pt x="92544" y="663743"/>
                </a:cubicBezTo>
                <a:lnTo>
                  <a:pt x="685683" y="663743"/>
                </a:lnTo>
                <a:cubicBezTo>
                  <a:pt x="695341" y="663743"/>
                  <a:pt x="704342" y="659993"/>
                  <a:pt x="711281" y="653054"/>
                </a:cubicBezTo>
                <a:cubicBezTo>
                  <a:pt x="718125" y="646116"/>
                  <a:pt x="721969" y="637021"/>
                  <a:pt x="721969" y="627457"/>
                </a:cubicBezTo>
                <a:lnTo>
                  <a:pt x="721969" y="333700"/>
                </a:lnTo>
                <a:close/>
                <a:moveTo>
                  <a:pt x="92544" y="142049"/>
                </a:moveTo>
                <a:cubicBezTo>
                  <a:pt x="72478" y="142049"/>
                  <a:pt x="56258" y="158364"/>
                  <a:pt x="56258" y="178336"/>
                </a:cubicBezTo>
                <a:lnTo>
                  <a:pt x="56258" y="277443"/>
                </a:lnTo>
                <a:lnTo>
                  <a:pt x="721969" y="277443"/>
                </a:lnTo>
                <a:lnTo>
                  <a:pt x="721969" y="178336"/>
                </a:lnTo>
                <a:cubicBezTo>
                  <a:pt x="721969" y="158270"/>
                  <a:pt x="705655" y="142049"/>
                  <a:pt x="685683" y="142049"/>
                </a:cubicBezTo>
                <a:lnTo>
                  <a:pt x="561355" y="142049"/>
                </a:lnTo>
                <a:lnTo>
                  <a:pt x="561355" y="201026"/>
                </a:lnTo>
                <a:cubicBezTo>
                  <a:pt x="561355" y="216591"/>
                  <a:pt x="548790" y="229249"/>
                  <a:pt x="533226" y="229249"/>
                </a:cubicBezTo>
                <a:cubicBezTo>
                  <a:pt x="517661" y="229249"/>
                  <a:pt x="505097" y="216685"/>
                  <a:pt x="505097" y="201120"/>
                </a:cubicBezTo>
                <a:lnTo>
                  <a:pt x="505097" y="142049"/>
                </a:lnTo>
                <a:lnTo>
                  <a:pt x="273129" y="142049"/>
                </a:lnTo>
                <a:lnTo>
                  <a:pt x="273129" y="201026"/>
                </a:lnTo>
                <a:cubicBezTo>
                  <a:pt x="273129" y="216591"/>
                  <a:pt x="260565" y="229249"/>
                  <a:pt x="245001" y="229249"/>
                </a:cubicBezTo>
                <a:cubicBezTo>
                  <a:pt x="229436" y="229249"/>
                  <a:pt x="216872" y="216685"/>
                  <a:pt x="216872" y="201120"/>
                </a:cubicBezTo>
                <a:lnTo>
                  <a:pt x="216872" y="142049"/>
                </a:lnTo>
                <a:close/>
                <a:moveTo>
                  <a:pt x="245001" y="0"/>
                </a:moveTo>
                <a:cubicBezTo>
                  <a:pt x="260565" y="0"/>
                  <a:pt x="273129" y="12564"/>
                  <a:pt x="273129" y="28129"/>
                </a:cubicBezTo>
                <a:lnTo>
                  <a:pt x="273129" y="85792"/>
                </a:lnTo>
                <a:lnTo>
                  <a:pt x="505097" y="85792"/>
                </a:lnTo>
                <a:lnTo>
                  <a:pt x="505097" y="28129"/>
                </a:lnTo>
                <a:cubicBezTo>
                  <a:pt x="505097" y="12564"/>
                  <a:pt x="517661" y="0"/>
                  <a:pt x="533226" y="0"/>
                </a:cubicBezTo>
                <a:cubicBezTo>
                  <a:pt x="548790" y="0"/>
                  <a:pt x="561355" y="12564"/>
                  <a:pt x="561355" y="28129"/>
                </a:cubicBezTo>
                <a:lnTo>
                  <a:pt x="561355" y="85792"/>
                </a:lnTo>
                <a:lnTo>
                  <a:pt x="685683" y="85792"/>
                </a:lnTo>
                <a:cubicBezTo>
                  <a:pt x="736784" y="85792"/>
                  <a:pt x="778227" y="127235"/>
                  <a:pt x="778320" y="178336"/>
                </a:cubicBezTo>
                <a:lnTo>
                  <a:pt x="778320" y="627457"/>
                </a:lnTo>
                <a:cubicBezTo>
                  <a:pt x="778320" y="678370"/>
                  <a:pt x="736690" y="720001"/>
                  <a:pt x="685777" y="720001"/>
                </a:cubicBezTo>
                <a:lnTo>
                  <a:pt x="92544" y="720001"/>
                </a:lnTo>
                <a:cubicBezTo>
                  <a:pt x="41631" y="720001"/>
                  <a:pt x="0" y="678370"/>
                  <a:pt x="0" y="627457"/>
                </a:cubicBezTo>
                <a:lnTo>
                  <a:pt x="0" y="333700"/>
                </a:lnTo>
                <a:lnTo>
                  <a:pt x="0" y="277443"/>
                </a:lnTo>
                <a:lnTo>
                  <a:pt x="0" y="178336"/>
                </a:lnTo>
                <a:cubicBezTo>
                  <a:pt x="0" y="127235"/>
                  <a:pt x="41443" y="85792"/>
                  <a:pt x="92544" y="85792"/>
                </a:cubicBezTo>
                <a:lnTo>
                  <a:pt x="216872" y="85792"/>
                </a:lnTo>
                <a:lnTo>
                  <a:pt x="216872" y="28129"/>
                </a:lnTo>
                <a:cubicBezTo>
                  <a:pt x="216872" y="12564"/>
                  <a:pt x="229436" y="0"/>
                  <a:pt x="245001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5175238" y="2985025"/>
            <a:ext cx="2525832" cy="226136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专业护理团队经严格培训，掌握智能设备操作和护理技能，为老人提供贴心、专业的护理服务。
个性化服务方案满足老人多样化需求，服务质量高，口碑好，形成品牌竞争力。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5175238" y="2722938"/>
            <a:ext cx="2525832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B0F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服务优质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4564158" y="5318386"/>
            <a:ext cx="3132000" cy="3600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4564158" y="2703358"/>
            <a:ext cx="537956" cy="537956"/>
          </a:xfrm>
          <a:prstGeom prst="flowChartConnector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34925" cap="sq">
            <a:solidFill>
              <a:schemeClr val="bg1"/>
            </a:solidFill>
            <a:miter/>
          </a:ln>
          <a:effectLst>
            <a:outerShdw dist="0" blurRad="63500" dir="0" sx="102000" sy="102000" kx="0" ky="0" algn="ctr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4685809" y="2833477"/>
            <a:ext cx="294655" cy="277719"/>
          </a:xfrm>
          <a:custGeom>
            <a:avLst/>
            <a:gdLst>
              <a:gd name="connsiteX0" fmla="*/ 1110072 w 1498885"/>
              <a:gd name="connsiteY0" fmla="*/ 1039039 h 1412736"/>
              <a:gd name="connsiteX1" fmla="*/ 1149511 w 1498885"/>
              <a:gd name="connsiteY1" fmla="*/ 1055363 h 1412736"/>
              <a:gd name="connsiteX2" fmla="*/ 1371451 w 1498885"/>
              <a:gd name="connsiteY2" fmla="*/ 1277303 h 1412736"/>
              <a:gd name="connsiteX3" fmla="*/ 1371451 w 1498885"/>
              <a:gd name="connsiteY3" fmla="*/ 1356182 h 1412736"/>
              <a:gd name="connsiteX4" fmla="*/ 1332012 w 1498885"/>
              <a:gd name="connsiteY4" fmla="*/ 1372553 h 1412736"/>
              <a:gd name="connsiteX5" fmla="*/ 1292572 w 1498885"/>
              <a:gd name="connsiteY5" fmla="*/ 1356182 h 1412736"/>
              <a:gd name="connsiteX6" fmla="*/ 1070632 w 1498885"/>
              <a:gd name="connsiteY6" fmla="*/ 1134242 h 1412736"/>
              <a:gd name="connsiteX7" fmla="*/ 1070632 w 1498885"/>
              <a:gd name="connsiteY7" fmla="*/ 1055363 h 1412736"/>
              <a:gd name="connsiteX8" fmla="*/ 1110072 w 1498885"/>
              <a:gd name="connsiteY8" fmla="*/ 1039039 h 1412736"/>
              <a:gd name="connsiteX9" fmla="*/ 1110072 w 1498885"/>
              <a:gd name="connsiteY9" fmla="*/ 705989 h 1412736"/>
              <a:gd name="connsiteX10" fmla="*/ 1443075 w 1498885"/>
              <a:gd name="connsiteY10" fmla="*/ 705989 h 1412736"/>
              <a:gd name="connsiteX11" fmla="*/ 1498885 w 1498885"/>
              <a:gd name="connsiteY11" fmla="*/ 761800 h 1412736"/>
              <a:gd name="connsiteX12" fmla="*/ 1443075 w 1498885"/>
              <a:gd name="connsiteY12" fmla="*/ 817611 h 1412736"/>
              <a:gd name="connsiteX13" fmla="*/ 1110072 w 1498885"/>
              <a:gd name="connsiteY13" fmla="*/ 817611 h 1412736"/>
              <a:gd name="connsiteX14" fmla="*/ 1054261 w 1498885"/>
              <a:gd name="connsiteY14" fmla="*/ 761800 h 1412736"/>
              <a:gd name="connsiteX15" fmla="*/ 1110072 w 1498885"/>
              <a:gd name="connsiteY15" fmla="*/ 705989 h 1412736"/>
              <a:gd name="connsiteX16" fmla="*/ 1332012 w 1498885"/>
              <a:gd name="connsiteY16" fmla="*/ 151093 h 1412736"/>
              <a:gd name="connsiteX17" fmla="*/ 1371451 w 1498885"/>
              <a:gd name="connsiteY17" fmla="*/ 167418 h 1412736"/>
              <a:gd name="connsiteX18" fmla="*/ 1371451 w 1498885"/>
              <a:gd name="connsiteY18" fmla="*/ 246297 h 1412736"/>
              <a:gd name="connsiteX19" fmla="*/ 1149511 w 1498885"/>
              <a:gd name="connsiteY19" fmla="*/ 468236 h 1412736"/>
              <a:gd name="connsiteX20" fmla="*/ 1110072 w 1498885"/>
              <a:gd name="connsiteY20" fmla="*/ 484608 h 1412736"/>
              <a:gd name="connsiteX21" fmla="*/ 1070632 w 1498885"/>
              <a:gd name="connsiteY21" fmla="*/ 468236 h 1412736"/>
              <a:gd name="connsiteX22" fmla="*/ 1070632 w 1498885"/>
              <a:gd name="connsiteY22" fmla="*/ 389358 h 1412736"/>
              <a:gd name="connsiteX23" fmla="*/ 1292572 w 1498885"/>
              <a:gd name="connsiteY23" fmla="*/ 167418 h 1412736"/>
              <a:gd name="connsiteX24" fmla="*/ 1332012 w 1498885"/>
              <a:gd name="connsiteY24" fmla="*/ 151093 h 1412736"/>
              <a:gd name="connsiteX25" fmla="*/ 709724 w 1498885"/>
              <a:gd name="connsiteY25" fmla="*/ 111607 h 1412736"/>
              <a:gd name="connsiteX26" fmla="*/ 649635 w 1498885"/>
              <a:gd name="connsiteY26" fmla="*/ 127420 h 1412736"/>
              <a:gd name="connsiteX27" fmla="*/ 174129 w 1498885"/>
              <a:gd name="connsiteY27" fmla="*/ 394752 h 1412736"/>
              <a:gd name="connsiteX28" fmla="*/ 111621 w 1498885"/>
              <a:gd name="connsiteY28" fmla="*/ 501536 h 1412736"/>
              <a:gd name="connsiteX29" fmla="*/ 111621 w 1498885"/>
              <a:gd name="connsiteY29" fmla="*/ 910814 h 1412736"/>
              <a:gd name="connsiteX30" fmla="*/ 174129 w 1498885"/>
              <a:gd name="connsiteY30" fmla="*/ 1017598 h 1412736"/>
              <a:gd name="connsiteX31" fmla="*/ 649821 w 1498885"/>
              <a:gd name="connsiteY31" fmla="*/ 1284930 h 1412736"/>
              <a:gd name="connsiteX32" fmla="*/ 771674 w 1498885"/>
              <a:gd name="connsiteY32" fmla="*/ 1283814 h 1412736"/>
              <a:gd name="connsiteX33" fmla="*/ 832321 w 1498885"/>
              <a:gd name="connsiteY33" fmla="*/ 1178146 h 1412736"/>
              <a:gd name="connsiteX34" fmla="*/ 832321 w 1498885"/>
              <a:gd name="connsiteY34" fmla="*/ 234204 h 1412736"/>
              <a:gd name="connsiteX35" fmla="*/ 771674 w 1498885"/>
              <a:gd name="connsiteY35" fmla="*/ 128536 h 1412736"/>
              <a:gd name="connsiteX36" fmla="*/ 709724 w 1498885"/>
              <a:gd name="connsiteY36" fmla="*/ 111607 h 1412736"/>
              <a:gd name="connsiteX37" fmla="*/ 711864 w 1498885"/>
              <a:gd name="connsiteY37" fmla="*/ 9 h 1412736"/>
              <a:gd name="connsiteX38" fmla="*/ 828043 w 1498885"/>
              <a:gd name="connsiteY38" fmla="*/ 32356 h 1412736"/>
              <a:gd name="connsiteX39" fmla="*/ 943942 w 1498885"/>
              <a:gd name="connsiteY39" fmla="*/ 234390 h 1412736"/>
              <a:gd name="connsiteX40" fmla="*/ 943942 w 1498885"/>
              <a:gd name="connsiteY40" fmla="*/ 1178518 h 1412736"/>
              <a:gd name="connsiteX41" fmla="*/ 828043 w 1498885"/>
              <a:gd name="connsiteY41" fmla="*/ 1380552 h 1412736"/>
              <a:gd name="connsiteX42" fmla="*/ 709910 w 1498885"/>
              <a:gd name="connsiteY42" fmla="*/ 1412736 h 1412736"/>
              <a:gd name="connsiteX43" fmla="*/ 595126 w 1498885"/>
              <a:gd name="connsiteY43" fmla="*/ 1382413 h 1412736"/>
              <a:gd name="connsiteX44" fmla="*/ 119435 w 1498885"/>
              <a:gd name="connsiteY44" fmla="*/ 1115080 h 1412736"/>
              <a:gd name="connsiteX45" fmla="*/ 0 w 1498885"/>
              <a:gd name="connsiteY45" fmla="*/ 911000 h 1412736"/>
              <a:gd name="connsiteX46" fmla="*/ 0 w 1498885"/>
              <a:gd name="connsiteY46" fmla="*/ 501722 h 1412736"/>
              <a:gd name="connsiteX47" fmla="*/ 119435 w 1498885"/>
              <a:gd name="connsiteY47" fmla="*/ 297642 h 1412736"/>
              <a:gd name="connsiteX48" fmla="*/ 595126 w 1498885"/>
              <a:gd name="connsiteY48" fmla="*/ 30309 h 1412736"/>
              <a:gd name="connsiteX49" fmla="*/ 711864 w 1498885"/>
              <a:gd name="connsiteY49" fmla="*/ 9 h 1412736"/>
            </a:gdLst>
            <a:rect l="l" t="t" r="r" b="b"/>
            <a:pathLst>
              <a:path w="1498885" h="1412736">
                <a:moveTo>
                  <a:pt x="1110072" y="1039039"/>
                </a:moveTo>
                <a:cubicBezTo>
                  <a:pt x="1124350" y="1039039"/>
                  <a:pt x="1138628" y="1044480"/>
                  <a:pt x="1149511" y="1055363"/>
                </a:cubicBezTo>
                <a:lnTo>
                  <a:pt x="1371451" y="1277303"/>
                </a:lnTo>
                <a:cubicBezTo>
                  <a:pt x="1393217" y="1299070"/>
                  <a:pt x="1393217" y="1334416"/>
                  <a:pt x="1371451" y="1356182"/>
                </a:cubicBezTo>
                <a:cubicBezTo>
                  <a:pt x="1360661" y="1366972"/>
                  <a:pt x="1346336" y="1372553"/>
                  <a:pt x="1332012" y="1372553"/>
                </a:cubicBezTo>
                <a:cubicBezTo>
                  <a:pt x="1317687" y="1372553"/>
                  <a:pt x="1303362" y="1367158"/>
                  <a:pt x="1292572" y="1356182"/>
                </a:cubicBezTo>
                <a:lnTo>
                  <a:pt x="1070632" y="1134242"/>
                </a:lnTo>
                <a:cubicBezTo>
                  <a:pt x="1048866" y="1112476"/>
                  <a:pt x="1048866" y="1077130"/>
                  <a:pt x="1070632" y="1055363"/>
                </a:cubicBezTo>
                <a:cubicBezTo>
                  <a:pt x="1081515" y="1044480"/>
                  <a:pt x="1095793" y="1039039"/>
                  <a:pt x="1110072" y="1039039"/>
                </a:cubicBezTo>
                <a:close/>
                <a:moveTo>
                  <a:pt x="1110072" y="705989"/>
                </a:moveTo>
                <a:lnTo>
                  <a:pt x="1443075" y="705989"/>
                </a:lnTo>
                <a:cubicBezTo>
                  <a:pt x="1473956" y="705989"/>
                  <a:pt x="1498885" y="730918"/>
                  <a:pt x="1498885" y="761800"/>
                </a:cubicBezTo>
                <a:cubicBezTo>
                  <a:pt x="1498885" y="792682"/>
                  <a:pt x="1473770" y="817611"/>
                  <a:pt x="1443075" y="817611"/>
                </a:cubicBezTo>
                <a:lnTo>
                  <a:pt x="1110072" y="817611"/>
                </a:lnTo>
                <a:cubicBezTo>
                  <a:pt x="1079190" y="817611"/>
                  <a:pt x="1054261" y="792682"/>
                  <a:pt x="1054261" y="761800"/>
                </a:cubicBezTo>
                <a:cubicBezTo>
                  <a:pt x="1054261" y="730918"/>
                  <a:pt x="1079190" y="705989"/>
                  <a:pt x="1110072" y="705989"/>
                </a:cubicBezTo>
                <a:close/>
                <a:moveTo>
                  <a:pt x="1332012" y="151093"/>
                </a:moveTo>
                <a:cubicBezTo>
                  <a:pt x="1346290" y="151093"/>
                  <a:pt x="1360568" y="156535"/>
                  <a:pt x="1371451" y="167418"/>
                </a:cubicBezTo>
                <a:cubicBezTo>
                  <a:pt x="1393217" y="189184"/>
                  <a:pt x="1393217" y="224530"/>
                  <a:pt x="1371451" y="246297"/>
                </a:cubicBezTo>
                <a:lnTo>
                  <a:pt x="1149511" y="468236"/>
                </a:lnTo>
                <a:cubicBezTo>
                  <a:pt x="1138721" y="479213"/>
                  <a:pt x="1124396" y="484608"/>
                  <a:pt x="1110072" y="484608"/>
                </a:cubicBezTo>
                <a:cubicBezTo>
                  <a:pt x="1095747" y="484608"/>
                  <a:pt x="1081422" y="479213"/>
                  <a:pt x="1070632" y="468236"/>
                </a:cubicBezTo>
                <a:cubicBezTo>
                  <a:pt x="1048866" y="446470"/>
                  <a:pt x="1048866" y="411124"/>
                  <a:pt x="1070632" y="389358"/>
                </a:cubicBezTo>
                <a:lnTo>
                  <a:pt x="1292572" y="167418"/>
                </a:lnTo>
                <a:cubicBezTo>
                  <a:pt x="1303455" y="156535"/>
                  <a:pt x="1317733" y="151093"/>
                  <a:pt x="1332012" y="151093"/>
                </a:cubicBezTo>
                <a:close/>
                <a:moveTo>
                  <a:pt x="709724" y="111607"/>
                </a:moveTo>
                <a:cubicBezTo>
                  <a:pt x="689074" y="111607"/>
                  <a:pt x="668610" y="116816"/>
                  <a:pt x="649635" y="127420"/>
                </a:cubicBezTo>
                <a:lnTo>
                  <a:pt x="174129" y="394752"/>
                </a:lnTo>
                <a:cubicBezTo>
                  <a:pt x="135620" y="416332"/>
                  <a:pt x="111621" y="457260"/>
                  <a:pt x="111621" y="501536"/>
                </a:cubicBezTo>
                <a:lnTo>
                  <a:pt x="111621" y="910814"/>
                </a:lnTo>
                <a:cubicBezTo>
                  <a:pt x="111621" y="955090"/>
                  <a:pt x="135620" y="996018"/>
                  <a:pt x="174129" y="1017598"/>
                </a:cubicBezTo>
                <a:lnTo>
                  <a:pt x="649821" y="1284930"/>
                </a:lnTo>
                <a:cubicBezTo>
                  <a:pt x="688144" y="1306510"/>
                  <a:pt x="733723" y="1306138"/>
                  <a:pt x="771674" y="1283814"/>
                </a:cubicBezTo>
                <a:cubicBezTo>
                  <a:pt x="809625" y="1261676"/>
                  <a:pt x="832321" y="1222050"/>
                  <a:pt x="832321" y="1178146"/>
                </a:cubicBezTo>
                <a:lnTo>
                  <a:pt x="832321" y="234204"/>
                </a:lnTo>
                <a:cubicBezTo>
                  <a:pt x="832321" y="190113"/>
                  <a:pt x="809625" y="150674"/>
                  <a:pt x="771674" y="128536"/>
                </a:cubicBezTo>
                <a:cubicBezTo>
                  <a:pt x="752326" y="117188"/>
                  <a:pt x="731118" y="111607"/>
                  <a:pt x="709724" y="111607"/>
                </a:cubicBezTo>
                <a:close/>
                <a:moveTo>
                  <a:pt x="711864" y="9"/>
                </a:moveTo>
                <a:cubicBezTo>
                  <a:pt x="751861" y="358"/>
                  <a:pt x="791766" y="11148"/>
                  <a:pt x="828043" y="32356"/>
                </a:cubicBezTo>
                <a:cubicBezTo>
                  <a:pt x="900596" y="74772"/>
                  <a:pt x="943942" y="150302"/>
                  <a:pt x="943942" y="234390"/>
                </a:cubicBezTo>
                <a:lnTo>
                  <a:pt x="943942" y="1178518"/>
                </a:lnTo>
                <a:cubicBezTo>
                  <a:pt x="943942" y="1262606"/>
                  <a:pt x="900596" y="1338136"/>
                  <a:pt x="828043" y="1380552"/>
                </a:cubicBezTo>
                <a:cubicBezTo>
                  <a:pt x="791208" y="1401946"/>
                  <a:pt x="750466" y="1412736"/>
                  <a:pt x="709910" y="1412736"/>
                </a:cubicBezTo>
                <a:cubicBezTo>
                  <a:pt x="670471" y="1412736"/>
                  <a:pt x="631217" y="1402691"/>
                  <a:pt x="595126" y="1382413"/>
                </a:cubicBezTo>
                <a:lnTo>
                  <a:pt x="119435" y="1115080"/>
                </a:lnTo>
                <a:cubicBezTo>
                  <a:pt x="45765" y="1073594"/>
                  <a:pt x="0" y="995460"/>
                  <a:pt x="0" y="911000"/>
                </a:cubicBezTo>
                <a:lnTo>
                  <a:pt x="0" y="501722"/>
                </a:lnTo>
                <a:cubicBezTo>
                  <a:pt x="0" y="417262"/>
                  <a:pt x="45765" y="338942"/>
                  <a:pt x="119435" y="297642"/>
                </a:cubicBezTo>
                <a:lnTo>
                  <a:pt x="595126" y="30309"/>
                </a:lnTo>
                <a:cubicBezTo>
                  <a:pt x="631775" y="9752"/>
                  <a:pt x="671866" y="-340"/>
                  <a:pt x="711864" y="9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8696201" y="2985025"/>
            <a:ext cx="2525832" cy="226136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项目团队在养老行业经验丰富，具有良好的行业声誉和品牌影响力，为 AI 芯颐养院品牌建设奠定基础。
通过品牌营销活动，提升品牌知名度和美誉度，吸引更多客户选择 AI 芯颐养院。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8696201" y="2722938"/>
            <a:ext cx="2525832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B0F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品牌优势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0" flipV="0">
            <a:off x="8082045" y="5318386"/>
            <a:ext cx="3132000" cy="3600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0" flipH="0" flipV="0">
            <a:off x="8082045" y="2703358"/>
            <a:ext cx="537956" cy="537956"/>
          </a:xfrm>
          <a:prstGeom prst="flowChartConnector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34925" cap="sq">
            <a:solidFill>
              <a:schemeClr val="bg1"/>
            </a:solidFill>
            <a:miter/>
          </a:ln>
          <a:effectLst>
            <a:outerShdw dist="0" blurRad="63500" dir="0" sx="102000" sy="102000" kx="0" ky="0" algn="ctr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0" flipH="0" flipV="0">
            <a:off x="8201092" y="2833639"/>
            <a:ext cx="299863" cy="277395"/>
          </a:xfrm>
          <a:custGeom>
            <a:avLst/>
            <a:gdLst>
              <a:gd name="connsiteX0" fmla="*/ 56258 w 778320"/>
              <a:gd name="connsiteY0" fmla="*/ 333700 h 720001"/>
              <a:gd name="connsiteX1" fmla="*/ 56258 w 778320"/>
              <a:gd name="connsiteY1" fmla="*/ 627457 h 720001"/>
              <a:gd name="connsiteX2" fmla="*/ 66946 w 778320"/>
              <a:gd name="connsiteY2" fmla="*/ 653054 h 720001"/>
              <a:gd name="connsiteX3" fmla="*/ 92544 w 778320"/>
              <a:gd name="connsiteY3" fmla="*/ 663743 h 720001"/>
              <a:gd name="connsiteX4" fmla="*/ 685683 w 778320"/>
              <a:gd name="connsiteY4" fmla="*/ 663743 h 720001"/>
              <a:gd name="connsiteX5" fmla="*/ 711281 w 778320"/>
              <a:gd name="connsiteY5" fmla="*/ 653054 h 720001"/>
              <a:gd name="connsiteX6" fmla="*/ 721969 w 778320"/>
              <a:gd name="connsiteY6" fmla="*/ 627457 h 720001"/>
              <a:gd name="connsiteX7" fmla="*/ 721969 w 778320"/>
              <a:gd name="connsiteY7" fmla="*/ 333700 h 720001"/>
              <a:gd name="connsiteX8" fmla="*/ 92544 w 778320"/>
              <a:gd name="connsiteY8" fmla="*/ 142049 h 720001"/>
              <a:gd name="connsiteX9" fmla="*/ 56258 w 778320"/>
              <a:gd name="connsiteY9" fmla="*/ 178336 h 720001"/>
              <a:gd name="connsiteX10" fmla="*/ 56258 w 778320"/>
              <a:gd name="connsiteY10" fmla="*/ 277443 h 720001"/>
              <a:gd name="connsiteX11" fmla="*/ 721969 w 778320"/>
              <a:gd name="connsiteY11" fmla="*/ 277443 h 720001"/>
              <a:gd name="connsiteX12" fmla="*/ 721969 w 778320"/>
              <a:gd name="connsiteY12" fmla="*/ 178336 h 720001"/>
              <a:gd name="connsiteX13" fmla="*/ 685683 w 778320"/>
              <a:gd name="connsiteY13" fmla="*/ 142049 h 720001"/>
              <a:gd name="connsiteX14" fmla="*/ 561355 w 778320"/>
              <a:gd name="connsiteY14" fmla="*/ 142049 h 720001"/>
              <a:gd name="connsiteX15" fmla="*/ 561355 w 778320"/>
              <a:gd name="connsiteY15" fmla="*/ 201026 h 720001"/>
              <a:gd name="connsiteX16" fmla="*/ 533226 w 778320"/>
              <a:gd name="connsiteY16" fmla="*/ 229249 h 720001"/>
              <a:gd name="connsiteX17" fmla="*/ 505097 w 778320"/>
              <a:gd name="connsiteY17" fmla="*/ 201120 h 720001"/>
              <a:gd name="connsiteX18" fmla="*/ 505097 w 778320"/>
              <a:gd name="connsiteY18" fmla="*/ 142049 h 720001"/>
              <a:gd name="connsiteX19" fmla="*/ 273129 w 778320"/>
              <a:gd name="connsiteY19" fmla="*/ 142049 h 720001"/>
              <a:gd name="connsiteX20" fmla="*/ 273129 w 778320"/>
              <a:gd name="connsiteY20" fmla="*/ 201026 h 720001"/>
              <a:gd name="connsiteX21" fmla="*/ 245001 w 778320"/>
              <a:gd name="connsiteY21" fmla="*/ 229249 h 720001"/>
              <a:gd name="connsiteX22" fmla="*/ 216872 w 778320"/>
              <a:gd name="connsiteY22" fmla="*/ 201120 h 720001"/>
              <a:gd name="connsiteX23" fmla="*/ 216872 w 778320"/>
              <a:gd name="connsiteY23" fmla="*/ 142049 h 720001"/>
              <a:gd name="connsiteX24" fmla="*/ 245001 w 778320"/>
              <a:gd name="connsiteY24" fmla="*/ 0 h 720001"/>
              <a:gd name="connsiteX25" fmla="*/ 273129 w 778320"/>
              <a:gd name="connsiteY25" fmla="*/ 28129 h 720001"/>
              <a:gd name="connsiteX26" fmla="*/ 273129 w 778320"/>
              <a:gd name="connsiteY26" fmla="*/ 85792 h 720001"/>
              <a:gd name="connsiteX27" fmla="*/ 505097 w 778320"/>
              <a:gd name="connsiteY27" fmla="*/ 85792 h 720001"/>
              <a:gd name="connsiteX28" fmla="*/ 505097 w 778320"/>
              <a:gd name="connsiteY28" fmla="*/ 28129 h 720001"/>
              <a:gd name="connsiteX29" fmla="*/ 533226 w 778320"/>
              <a:gd name="connsiteY29" fmla="*/ 0 h 720001"/>
              <a:gd name="connsiteX30" fmla="*/ 561355 w 778320"/>
              <a:gd name="connsiteY30" fmla="*/ 28129 h 720001"/>
              <a:gd name="connsiteX31" fmla="*/ 561355 w 778320"/>
              <a:gd name="connsiteY31" fmla="*/ 85792 h 720001"/>
              <a:gd name="connsiteX32" fmla="*/ 685683 w 778320"/>
              <a:gd name="connsiteY32" fmla="*/ 85792 h 720001"/>
              <a:gd name="connsiteX33" fmla="*/ 778320 w 778320"/>
              <a:gd name="connsiteY33" fmla="*/ 178336 h 720001"/>
              <a:gd name="connsiteX34" fmla="*/ 778320 w 778320"/>
              <a:gd name="connsiteY34" fmla="*/ 627457 h 720001"/>
              <a:gd name="connsiteX35" fmla="*/ 685777 w 778320"/>
              <a:gd name="connsiteY35" fmla="*/ 720001 h 720001"/>
              <a:gd name="connsiteX36" fmla="*/ 92544 w 778320"/>
              <a:gd name="connsiteY36" fmla="*/ 720001 h 720001"/>
              <a:gd name="connsiteX37" fmla="*/ 0 w 778320"/>
              <a:gd name="connsiteY37" fmla="*/ 627457 h 720001"/>
              <a:gd name="connsiteX38" fmla="*/ 0 w 778320"/>
              <a:gd name="connsiteY38" fmla="*/ 333700 h 720001"/>
              <a:gd name="connsiteX39" fmla="*/ 0 w 778320"/>
              <a:gd name="connsiteY39" fmla="*/ 277443 h 720001"/>
              <a:gd name="connsiteX40" fmla="*/ 0 w 778320"/>
              <a:gd name="connsiteY40" fmla="*/ 178336 h 720001"/>
              <a:gd name="connsiteX41" fmla="*/ 92544 w 778320"/>
              <a:gd name="connsiteY41" fmla="*/ 85792 h 720001"/>
              <a:gd name="connsiteX42" fmla="*/ 216872 w 778320"/>
              <a:gd name="connsiteY42" fmla="*/ 85792 h 720001"/>
              <a:gd name="connsiteX43" fmla="*/ 216872 w 778320"/>
              <a:gd name="connsiteY43" fmla="*/ 28129 h 720001"/>
              <a:gd name="connsiteX44" fmla="*/ 245001 w 778320"/>
              <a:gd name="connsiteY44" fmla="*/ 0 h 720001"/>
            </a:gdLst>
            <a:rect l="l" t="t" r="r" b="b"/>
            <a:pathLst>
              <a:path w="778320" h="720001">
                <a:moveTo>
                  <a:pt x="56258" y="333700"/>
                </a:moveTo>
                <a:lnTo>
                  <a:pt x="56258" y="627457"/>
                </a:lnTo>
                <a:cubicBezTo>
                  <a:pt x="56258" y="637115"/>
                  <a:pt x="60008" y="646116"/>
                  <a:pt x="66946" y="653054"/>
                </a:cubicBezTo>
                <a:cubicBezTo>
                  <a:pt x="73885" y="659899"/>
                  <a:pt x="82980" y="663743"/>
                  <a:pt x="92544" y="663743"/>
                </a:cubicBezTo>
                <a:lnTo>
                  <a:pt x="685683" y="663743"/>
                </a:lnTo>
                <a:cubicBezTo>
                  <a:pt x="695341" y="663743"/>
                  <a:pt x="704342" y="659993"/>
                  <a:pt x="711281" y="653054"/>
                </a:cubicBezTo>
                <a:cubicBezTo>
                  <a:pt x="718125" y="646116"/>
                  <a:pt x="721969" y="637021"/>
                  <a:pt x="721969" y="627457"/>
                </a:cubicBezTo>
                <a:lnTo>
                  <a:pt x="721969" y="333700"/>
                </a:lnTo>
                <a:close/>
                <a:moveTo>
                  <a:pt x="92544" y="142049"/>
                </a:moveTo>
                <a:cubicBezTo>
                  <a:pt x="72478" y="142049"/>
                  <a:pt x="56258" y="158364"/>
                  <a:pt x="56258" y="178336"/>
                </a:cubicBezTo>
                <a:lnTo>
                  <a:pt x="56258" y="277443"/>
                </a:lnTo>
                <a:lnTo>
                  <a:pt x="721969" y="277443"/>
                </a:lnTo>
                <a:lnTo>
                  <a:pt x="721969" y="178336"/>
                </a:lnTo>
                <a:cubicBezTo>
                  <a:pt x="721969" y="158270"/>
                  <a:pt x="705655" y="142049"/>
                  <a:pt x="685683" y="142049"/>
                </a:cubicBezTo>
                <a:lnTo>
                  <a:pt x="561355" y="142049"/>
                </a:lnTo>
                <a:lnTo>
                  <a:pt x="561355" y="201026"/>
                </a:lnTo>
                <a:cubicBezTo>
                  <a:pt x="561355" y="216591"/>
                  <a:pt x="548790" y="229249"/>
                  <a:pt x="533226" y="229249"/>
                </a:cubicBezTo>
                <a:cubicBezTo>
                  <a:pt x="517661" y="229249"/>
                  <a:pt x="505097" y="216685"/>
                  <a:pt x="505097" y="201120"/>
                </a:cubicBezTo>
                <a:lnTo>
                  <a:pt x="505097" y="142049"/>
                </a:lnTo>
                <a:lnTo>
                  <a:pt x="273129" y="142049"/>
                </a:lnTo>
                <a:lnTo>
                  <a:pt x="273129" y="201026"/>
                </a:lnTo>
                <a:cubicBezTo>
                  <a:pt x="273129" y="216591"/>
                  <a:pt x="260565" y="229249"/>
                  <a:pt x="245001" y="229249"/>
                </a:cubicBezTo>
                <a:cubicBezTo>
                  <a:pt x="229436" y="229249"/>
                  <a:pt x="216872" y="216685"/>
                  <a:pt x="216872" y="201120"/>
                </a:cubicBezTo>
                <a:lnTo>
                  <a:pt x="216872" y="142049"/>
                </a:lnTo>
                <a:close/>
                <a:moveTo>
                  <a:pt x="245001" y="0"/>
                </a:moveTo>
                <a:cubicBezTo>
                  <a:pt x="260565" y="0"/>
                  <a:pt x="273129" y="12564"/>
                  <a:pt x="273129" y="28129"/>
                </a:cubicBezTo>
                <a:lnTo>
                  <a:pt x="273129" y="85792"/>
                </a:lnTo>
                <a:lnTo>
                  <a:pt x="505097" y="85792"/>
                </a:lnTo>
                <a:lnTo>
                  <a:pt x="505097" y="28129"/>
                </a:lnTo>
                <a:cubicBezTo>
                  <a:pt x="505097" y="12564"/>
                  <a:pt x="517661" y="0"/>
                  <a:pt x="533226" y="0"/>
                </a:cubicBezTo>
                <a:cubicBezTo>
                  <a:pt x="548790" y="0"/>
                  <a:pt x="561355" y="12564"/>
                  <a:pt x="561355" y="28129"/>
                </a:cubicBezTo>
                <a:lnTo>
                  <a:pt x="561355" y="85792"/>
                </a:lnTo>
                <a:lnTo>
                  <a:pt x="685683" y="85792"/>
                </a:lnTo>
                <a:cubicBezTo>
                  <a:pt x="736784" y="85792"/>
                  <a:pt x="778227" y="127235"/>
                  <a:pt x="778320" y="178336"/>
                </a:cubicBezTo>
                <a:lnTo>
                  <a:pt x="778320" y="627457"/>
                </a:lnTo>
                <a:cubicBezTo>
                  <a:pt x="778320" y="678370"/>
                  <a:pt x="736690" y="720001"/>
                  <a:pt x="685777" y="720001"/>
                </a:cubicBezTo>
                <a:lnTo>
                  <a:pt x="92544" y="720001"/>
                </a:lnTo>
                <a:cubicBezTo>
                  <a:pt x="41631" y="720001"/>
                  <a:pt x="0" y="678370"/>
                  <a:pt x="0" y="627457"/>
                </a:cubicBezTo>
                <a:lnTo>
                  <a:pt x="0" y="333700"/>
                </a:lnTo>
                <a:lnTo>
                  <a:pt x="0" y="277443"/>
                </a:lnTo>
                <a:lnTo>
                  <a:pt x="0" y="178336"/>
                </a:lnTo>
                <a:cubicBezTo>
                  <a:pt x="0" y="127235"/>
                  <a:pt x="41443" y="85792"/>
                  <a:pt x="92544" y="85792"/>
                </a:cubicBezTo>
                <a:lnTo>
                  <a:pt x="216872" y="85792"/>
                </a:lnTo>
                <a:lnTo>
                  <a:pt x="216872" y="28129"/>
                </a:lnTo>
                <a:cubicBezTo>
                  <a:pt x="216872" y="12564"/>
                  <a:pt x="229436" y="0"/>
                  <a:pt x="245001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0" flipV="0">
            <a:off x="316690" y="373380"/>
            <a:ext cx="8171180" cy="65532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0" flipH="0" flipV="0">
            <a:off x="783520" y="484345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竞争优势</a:t>
            </a: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rot="0" flipH="0" flipV="0">
            <a:off x="324256" y="626624"/>
            <a:ext cx="402076" cy="402076"/>
          </a:xfrm>
          <a:prstGeom prst="rtTriangl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3198585" y="2114758"/>
            <a:ext cx="1832430" cy="1628932"/>
          </a:xfrm>
          <a:custGeom>
            <a:avLst/>
            <a:gdLst>
              <a:gd name="connsiteX0" fmla="*/ 5274051 w 5335865"/>
              <a:gd name="connsiteY0" fmla="*/ 2141364 h 4743296"/>
              <a:gd name="connsiteX1" fmla="*/ 4170340 w 5335865"/>
              <a:gd name="connsiteY1" fmla="*/ 230284 h 4743296"/>
              <a:gd name="connsiteX2" fmla="*/ 3771242 w 5335865"/>
              <a:gd name="connsiteY2" fmla="*/ 0 h 4743296"/>
              <a:gd name="connsiteX3" fmla="*/ 1564737 w 5335865"/>
              <a:gd name="connsiteY3" fmla="*/ 0 h 4743296"/>
              <a:gd name="connsiteX4" fmla="*/ 1165640 w 5335865"/>
              <a:gd name="connsiteY4" fmla="*/ 230284 h 4743296"/>
              <a:gd name="connsiteX5" fmla="*/ 61929 w 5335865"/>
              <a:gd name="connsiteY5" fmla="*/ 2141364 h 4743296"/>
              <a:gd name="connsiteX6" fmla="*/ 61929 w 5335865"/>
              <a:gd name="connsiteY6" fmla="*/ 2602849 h 4743296"/>
              <a:gd name="connsiteX7" fmla="*/ 1165640 w 5335865"/>
              <a:gd name="connsiteY7" fmla="*/ 4513012 h 4743296"/>
              <a:gd name="connsiteX8" fmla="*/ 1564737 w 5335865"/>
              <a:gd name="connsiteY8" fmla="*/ 4743296 h 4743296"/>
              <a:gd name="connsiteX9" fmla="*/ 3771242 w 5335865"/>
              <a:gd name="connsiteY9" fmla="*/ 4743296 h 4743296"/>
              <a:gd name="connsiteX10" fmla="*/ 4170340 w 5335865"/>
              <a:gd name="connsiteY10" fmla="*/ 4513012 h 4743296"/>
              <a:gd name="connsiteX11" fmla="*/ 5273133 w 5335865"/>
              <a:gd name="connsiteY11" fmla="*/ 2601932 h 4743296"/>
              <a:gd name="connsiteX12" fmla="*/ 5274051 w 5335865"/>
              <a:gd name="connsiteY12" fmla="*/ 2141364 h 4743296"/>
            </a:gdLst>
            <a:rect l="l" t="t" r="r" b="b"/>
            <a:pathLst>
              <a:path w="5335865" h="4743296">
                <a:moveTo>
                  <a:pt x="5274051" y="2141364"/>
                </a:moveTo>
                <a:lnTo>
                  <a:pt x="4170340" y="230284"/>
                </a:lnTo>
                <a:cubicBezTo>
                  <a:pt x="4088685" y="88077"/>
                  <a:pt x="3936386" y="0"/>
                  <a:pt x="3771242" y="0"/>
                </a:cubicBezTo>
                <a:lnTo>
                  <a:pt x="1564737" y="0"/>
                </a:lnTo>
                <a:cubicBezTo>
                  <a:pt x="1399594" y="0"/>
                  <a:pt x="1247294" y="88077"/>
                  <a:pt x="1165640" y="230284"/>
                </a:cubicBezTo>
                <a:lnTo>
                  <a:pt x="61929" y="2141364"/>
                </a:lnTo>
                <a:cubicBezTo>
                  <a:pt x="-20643" y="2284489"/>
                  <a:pt x="-20643" y="2459725"/>
                  <a:pt x="61929" y="2602849"/>
                </a:cubicBezTo>
                <a:lnTo>
                  <a:pt x="1165640" y="4513012"/>
                </a:lnTo>
                <a:cubicBezTo>
                  <a:pt x="1248212" y="4656137"/>
                  <a:pt x="1400511" y="4743296"/>
                  <a:pt x="1564737" y="4743296"/>
                </a:cubicBezTo>
                <a:lnTo>
                  <a:pt x="3771242" y="4743296"/>
                </a:lnTo>
                <a:cubicBezTo>
                  <a:pt x="3936386" y="4743296"/>
                  <a:pt x="4088685" y="4655220"/>
                  <a:pt x="4170340" y="4513012"/>
                </a:cubicBezTo>
                <a:lnTo>
                  <a:pt x="5273133" y="2601932"/>
                </a:lnTo>
                <a:cubicBezTo>
                  <a:pt x="5356623" y="2459725"/>
                  <a:pt x="5356623" y="2284489"/>
                  <a:pt x="5274051" y="2141364"/>
                </a:cubicBezTo>
                <a:close/>
              </a:path>
            </a:pathLst>
          </a:custGeom>
          <a:noFill/>
          <a:ln w="25400" cap="flat">
            <a:solidFill>
              <a:schemeClr val="bg1">
                <a:lumMod val="8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7160985" y="2114758"/>
            <a:ext cx="1832430" cy="1628932"/>
          </a:xfrm>
          <a:custGeom>
            <a:avLst/>
            <a:gdLst>
              <a:gd name="connsiteX0" fmla="*/ 5274051 w 5335865"/>
              <a:gd name="connsiteY0" fmla="*/ 2141364 h 4743296"/>
              <a:gd name="connsiteX1" fmla="*/ 4170340 w 5335865"/>
              <a:gd name="connsiteY1" fmla="*/ 230284 h 4743296"/>
              <a:gd name="connsiteX2" fmla="*/ 3771242 w 5335865"/>
              <a:gd name="connsiteY2" fmla="*/ 0 h 4743296"/>
              <a:gd name="connsiteX3" fmla="*/ 1564737 w 5335865"/>
              <a:gd name="connsiteY3" fmla="*/ 0 h 4743296"/>
              <a:gd name="connsiteX4" fmla="*/ 1165640 w 5335865"/>
              <a:gd name="connsiteY4" fmla="*/ 230284 h 4743296"/>
              <a:gd name="connsiteX5" fmla="*/ 61929 w 5335865"/>
              <a:gd name="connsiteY5" fmla="*/ 2141364 h 4743296"/>
              <a:gd name="connsiteX6" fmla="*/ 61929 w 5335865"/>
              <a:gd name="connsiteY6" fmla="*/ 2602849 h 4743296"/>
              <a:gd name="connsiteX7" fmla="*/ 1165640 w 5335865"/>
              <a:gd name="connsiteY7" fmla="*/ 4513012 h 4743296"/>
              <a:gd name="connsiteX8" fmla="*/ 1564737 w 5335865"/>
              <a:gd name="connsiteY8" fmla="*/ 4743296 h 4743296"/>
              <a:gd name="connsiteX9" fmla="*/ 3771242 w 5335865"/>
              <a:gd name="connsiteY9" fmla="*/ 4743296 h 4743296"/>
              <a:gd name="connsiteX10" fmla="*/ 4170340 w 5335865"/>
              <a:gd name="connsiteY10" fmla="*/ 4513012 h 4743296"/>
              <a:gd name="connsiteX11" fmla="*/ 5273133 w 5335865"/>
              <a:gd name="connsiteY11" fmla="*/ 2601932 h 4743296"/>
              <a:gd name="connsiteX12" fmla="*/ 5274051 w 5335865"/>
              <a:gd name="connsiteY12" fmla="*/ 2141364 h 4743296"/>
            </a:gdLst>
            <a:rect l="l" t="t" r="r" b="b"/>
            <a:pathLst>
              <a:path w="5335865" h="4743296">
                <a:moveTo>
                  <a:pt x="5274051" y="2141364"/>
                </a:moveTo>
                <a:lnTo>
                  <a:pt x="4170340" y="230284"/>
                </a:lnTo>
                <a:cubicBezTo>
                  <a:pt x="4088685" y="88077"/>
                  <a:pt x="3936386" y="0"/>
                  <a:pt x="3771242" y="0"/>
                </a:cubicBezTo>
                <a:lnTo>
                  <a:pt x="1564737" y="0"/>
                </a:lnTo>
                <a:cubicBezTo>
                  <a:pt x="1399594" y="0"/>
                  <a:pt x="1247294" y="88077"/>
                  <a:pt x="1165640" y="230284"/>
                </a:cubicBezTo>
                <a:lnTo>
                  <a:pt x="61929" y="2141364"/>
                </a:lnTo>
                <a:cubicBezTo>
                  <a:pt x="-20643" y="2284489"/>
                  <a:pt x="-20643" y="2459725"/>
                  <a:pt x="61929" y="2602849"/>
                </a:cubicBezTo>
                <a:lnTo>
                  <a:pt x="1165640" y="4513012"/>
                </a:lnTo>
                <a:cubicBezTo>
                  <a:pt x="1248212" y="4656137"/>
                  <a:pt x="1400511" y="4743296"/>
                  <a:pt x="1564737" y="4743296"/>
                </a:cubicBezTo>
                <a:lnTo>
                  <a:pt x="3771242" y="4743296"/>
                </a:lnTo>
                <a:cubicBezTo>
                  <a:pt x="3936386" y="4743296"/>
                  <a:pt x="4088685" y="4655220"/>
                  <a:pt x="4170340" y="4513012"/>
                </a:cubicBezTo>
                <a:lnTo>
                  <a:pt x="5273133" y="2601932"/>
                </a:lnTo>
                <a:cubicBezTo>
                  <a:pt x="5356623" y="2459725"/>
                  <a:pt x="5356623" y="2284489"/>
                  <a:pt x="5274051" y="2141364"/>
                </a:cubicBezTo>
                <a:close/>
              </a:path>
            </a:pathLst>
          </a:custGeom>
          <a:noFill/>
          <a:ln w="25400" cap="flat">
            <a:solidFill>
              <a:schemeClr val="bg1">
                <a:lumMod val="8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4798029" y="1775398"/>
            <a:ext cx="2595942" cy="2307652"/>
          </a:xfrm>
          <a:custGeom>
            <a:avLst/>
            <a:gdLst>
              <a:gd name="connsiteX0" fmla="*/ 5274051 w 5335865"/>
              <a:gd name="connsiteY0" fmla="*/ 2141364 h 4743296"/>
              <a:gd name="connsiteX1" fmla="*/ 4170340 w 5335865"/>
              <a:gd name="connsiteY1" fmla="*/ 230284 h 4743296"/>
              <a:gd name="connsiteX2" fmla="*/ 3771242 w 5335865"/>
              <a:gd name="connsiteY2" fmla="*/ 0 h 4743296"/>
              <a:gd name="connsiteX3" fmla="*/ 1564737 w 5335865"/>
              <a:gd name="connsiteY3" fmla="*/ 0 h 4743296"/>
              <a:gd name="connsiteX4" fmla="*/ 1165640 w 5335865"/>
              <a:gd name="connsiteY4" fmla="*/ 230284 h 4743296"/>
              <a:gd name="connsiteX5" fmla="*/ 61929 w 5335865"/>
              <a:gd name="connsiteY5" fmla="*/ 2141364 h 4743296"/>
              <a:gd name="connsiteX6" fmla="*/ 61929 w 5335865"/>
              <a:gd name="connsiteY6" fmla="*/ 2602849 h 4743296"/>
              <a:gd name="connsiteX7" fmla="*/ 1165640 w 5335865"/>
              <a:gd name="connsiteY7" fmla="*/ 4513012 h 4743296"/>
              <a:gd name="connsiteX8" fmla="*/ 1564737 w 5335865"/>
              <a:gd name="connsiteY8" fmla="*/ 4743296 h 4743296"/>
              <a:gd name="connsiteX9" fmla="*/ 3771242 w 5335865"/>
              <a:gd name="connsiteY9" fmla="*/ 4743296 h 4743296"/>
              <a:gd name="connsiteX10" fmla="*/ 4170340 w 5335865"/>
              <a:gd name="connsiteY10" fmla="*/ 4513012 h 4743296"/>
              <a:gd name="connsiteX11" fmla="*/ 5273133 w 5335865"/>
              <a:gd name="connsiteY11" fmla="*/ 2601932 h 4743296"/>
              <a:gd name="connsiteX12" fmla="*/ 5274051 w 5335865"/>
              <a:gd name="connsiteY12" fmla="*/ 2141364 h 4743296"/>
            </a:gdLst>
            <a:rect l="l" t="t" r="r" b="b"/>
            <a:pathLst>
              <a:path w="5335865" h="4743296">
                <a:moveTo>
                  <a:pt x="5274051" y="2141364"/>
                </a:moveTo>
                <a:lnTo>
                  <a:pt x="4170340" y="230284"/>
                </a:lnTo>
                <a:cubicBezTo>
                  <a:pt x="4088685" y="88077"/>
                  <a:pt x="3936386" y="0"/>
                  <a:pt x="3771242" y="0"/>
                </a:cubicBezTo>
                <a:lnTo>
                  <a:pt x="1564737" y="0"/>
                </a:lnTo>
                <a:cubicBezTo>
                  <a:pt x="1399594" y="0"/>
                  <a:pt x="1247294" y="88077"/>
                  <a:pt x="1165640" y="230284"/>
                </a:cubicBezTo>
                <a:lnTo>
                  <a:pt x="61929" y="2141364"/>
                </a:lnTo>
                <a:cubicBezTo>
                  <a:pt x="-20643" y="2284489"/>
                  <a:pt x="-20643" y="2459725"/>
                  <a:pt x="61929" y="2602849"/>
                </a:cubicBezTo>
                <a:lnTo>
                  <a:pt x="1165640" y="4513012"/>
                </a:lnTo>
                <a:cubicBezTo>
                  <a:pt x="1248212" y="4656137"/>
                  <a:pt x="1400511" y="4743296"/>
                  <a:pt x="1564737" y="4743296"/>
                </a:cubicBezTo>
                <a:lnTo>
                  <a:pt x="3771242" y="4743296"/>
                </a:lnTo>
                <a:cubicBezTo>
                  <a:pt x="3936386" y="4743296"/>
                  <a:pt x="4088685" y="4655220"/>
                  <a:pt x="4170340" y="4513012"/>
                </a:cubicBezTo>
                <a:lnTo>
                  <a:pt x="5273133" y="2601932"/>
                </a:lnTo>
                <a:cubicBezTo>
                  <a:pt x="5356623" y="2459725"/>
                  <a:pt x="5356623" y="2284489"/>
                  <a:pt x="5274051" y="214136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835629" y="1775398"/>
            <a:ext cx="2595942" cy="2307652"/>
          </a:xfrm>
          <a:custGeom>
            <a:avLst/>
            <a:gdLst>
              <a:gd name="connsiteX0" fmla="*/ 5274051 w 5335865"/>
              <a:gd name="connsiteY0" fmla="*/ 2141364 h 4743296"/>
              <a:gd name="connsiteX1" fmla="*/ 4170340 w 5335865"/>
              <a:gd name="connsiteY1" fmla="*/ 230284 h 4743296"/>
              <a:gd name="connsiteX2" fmla="*/ 3771242 w 5335865"/>
              <a:gd name="connsiteY2" fmla="*/ 0 h 4743296"/>
              <a:gd name="connsiteX3" fmla="*/ 1564737 w 5335865"/>
              <a:gd name="connsiteY3" fmla="*/ 0 h 4743296"/>
              <a:gd name="connsiteX4" fmla="*/ 1165640 w 5335865"/>
              <a:gd name="connsiteY4" fmla="*/ 230284 h 4743296"/>
              <a:gd name="connsiteX5" fmla="*/ 61929 w 5335865"/>
              <a:gd name="connsiteY5" fmla="*/ 2141364 h 4743296"/>
              <a:gd name="connsiteX6" fmla="*/ 61929 w 5335865"/>
              <a:gd name="connsiteY6" fmla="*/ 2602849 h 4743296"/>
              <a:gd name="connsiteX7" fmla="*/ 1165640 w 5335865"/>
              <a:gd name="connsiteY7" fmla="*/ 4513012 h 4743296"/>
              <a:gd name="connsiteX8" fmla="*/ 1564737 w 5335865"/>
              <a:gd name="connsiteY8" fmla="*/ 4743296 h 4743296"/>
              <a:gd name="connsiteX9" fmla="*/ 3771242 w 5335865"/>
              <a:gd name="connsiteY9" fmla="*/ 4743296 h 4743296"/>
              <a:gd name="connsiteX10" fmla="*/ 4170340 w 5335865"/>
              <a:gd name="connsiteY10" fmla="*/ 4513012 h 4743296"/>
              <a:gd name="connsiteX11" fmla="*/ 5273133 w 5335865"/>
              <a:gd name="connsiteY11" fmla="*/ 2601932 h 4743296"/>
              <a:gd name="connsiteX12" fmla="*/ 5274051 w 5335865"/>
              <a:gd name="connsiteY12" fmla="*/ 2141364 h 4743296"/>
            </a:gdLst>
            <a:rect l="l" t="t" r="r" b="b"/>
            <a:pathLst>
              <a:path w="5335865" h="4743296">
                <a:moveTo>
                  <a:pt x="5274051" y="2141364"/>
                </a:moveTo>
                <a:lnTo>
                  <a:pt x="4170340" y="230284"/>
                </a:lnTo>
                <a:cubicBezTo>
                  <a:pt x="4088685" y="88077"/>
                  <a:pt x="3936386" y="0"/>
                  <a:pt x="3771242" y="0"/>
                </a:cubicBezTo>
                <a:lnTo>
                  <a:pt x="1564737" y="0"/>
                </a:lnTo>
                <a:cubicBezTo>
                  <a:pt x="1399594" y="0"/>
                  <a:pt x="1247294" y="88077"/>
                  <a:pt x="1165640" y="230284"/>
                </a:cubicBezTo>
                <a:lnTo>
                  <a:pt x="61929" y="2141364"/>
                </a:lnTo>
                <a:cubicBezTo>
                  <a:pt x="-20643" y="2284489"/>
                  <a:pt x="-20643" y="2459725"/>
                  <a:pt x="61929" y="2602849"/>
                </a:cubicBezTo>
                <a:lnTo>
                  <a:pt x="1165640" y="4513012"/>
                </a:lnTo>
                <a:cubicBezTo>
                  <a:pt x="1248212" y="4656137"/>
                  <a:pt x="1400511" y="4743296"/>
                  <a:pt x="1564737" y="4743296"/>
                </a:cubicBezTo>
                <a:lnTo>
                  <a:pt x="3771242" y="4743296"/>
                </a:lnTo>
                <a:cubicBezTo>
                  <a:pt x="3936386" y="4743296"/>
                  <a:pt x="4088685" y="4655220"/>
                  <a:pt x="4170340" y="4513012"/>
                </a:cubicBezTo>
                <a:lnTo>
                  <a:pt x="5273133" y="2601932"/>
                </a:lnTo>
                <a:cubicBezTo>
                  <a:pt x="5356623" y="2459725"/>
                  <a:pt x="5356623" y="2284489"/>
                  <a:pt x="5274051" y="214136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8760429" y="1775398"/>
            <a:ext cx="2595942" cy="2307652"/>
          </a:xfrm>
          <a:custGeom>
            <a:avLst/>
            <a:gdLst>
              <a:gd name="connsiteX0" fmla="*/ 5274051 w 5335865"/>
              <a:gd name="connsiteY0" fmla="*/ 2141364 h 4743296"/>
              <a:gd name="connsiteX1" fmla="*/ 4170340 w 5335865"/>
              <a:gd name="connsiteY1" fmla="*/ 230284 h 4743296"/>
              <a:gd name="connsiteX2" fmla="*/ 3771242 w 5335865"/>
              <a:gd name="connsiteY2" fmla="*/ 0 h 4743296"/>
              <a:gd name="connsiteX3" fmla="*/ 1564737 w 5335865"/>
              <a:gd name="connsiteY3" fmla="*/ 0 h 4743296"/>
              <a:gd name="connsiteX4" fmla="*/ 1165640 w 5335865"/>
              <a:gd name="connsiteY4" fmla="*/ 230284 h 4743296"/>
              <a:gd name="connsiteX5" fmla="*/ 61929 w 5335865"/>
              <a:gd name="connsiteY5" fmla="*/ 2141364 h 4743296"/>
              <a:gd name="connsiteX6" fmla="*/ 61929 w 5335865"/>
              <a:gd name="connsiteY6" fmla="*/ 2602849 h 4743296"/>
              <a:gd name="connsiteX7" fmla="*/ 1165640 w 5335865"/>
              <a:gd name="connsiteY7" fmla="*/ 4513012 h 4743296"/>
              <a:gd name="connsiteX8" fmla="*/ 1564737 w 5335865"/>
              <a:gd name="connsiteY8" fmla="*/ 4743296 h 4743296"/>
              <a:gd name="connsiteX9" fmla="*/ 3771242 w 5335865"/>
              <a:gd name="connsiteY9" fmla="*/ 4743296 h 4743296"/>
              <a:gd name="connsiteX10" fmla="*/ 4170340 w 5335865"/>
              <a:gd name="connsiteY10" fmla="*/ 4513012 h 4743296"/>
              <a:gd name="connsiteX11" fmla="*/ 5273133 w 5335865"/>
              <a:gd name="connsiteY11" fmla="*/ 2601932 h 4743296"/>
              <a:gd name="connsiteX12" fmla="*/ 5274051 w 5335865"/>
              <a:gd name="connsiteY12" fmla="*/ 2141364 h 4743296"/>
            </a:gdLst>
            <a:rect l="l" t="t" r="r" b="b"/>
            <a:pathLst>
              <a:path w="5335865" h="4743296">
                <a:moveTo>
                  <a:pt x="5274051" y="2141364"/>
                </a:moveTo>
                <a:lnTo>
                  <a:pt x="4170340" y="230284"/>
                </a:lnTo>
                <a:cubicBezTo>
                  <a:pt x="4088685" y="88077"/>
                  <a:pt x="3936386" y="0"/>
                  <a:pt x="3771242" y="0"/>
                </a:cubicBezTo>
                <a:lnTo>
                  <a:pt x="1564737" y="0"/>
                </a:lnTo>
                <a:cubicBezTo>
                  <a:pt x="1399594" y="0"/>
                  <a:pt x="1247294" y="88077"/>
                  <a:pt x="1165640" y="230284"/>
                </a:cubicBezTo>
                <a:lnTo>
                  <a:pt x="61929" y="2141364"/>
                </a:lnTo>
                <a:cubicBezTo>
                  <a:pt x="-20643" y="2284489"/>
                  <a:pt x="-20643" y="2459725"/>
                  <a:pt x="61929" y="2602849"/>
                </a:cubicBezTo>
                <a:lnTo>
                  <a:pt x="1165640" y="4513012"/>
                </a:lnTo>
                <a:cubicBezTo>
                  <a:pt x="1248212" y="4656137"/>
                  <a:pt x="1400511" y="4743296"/>
                  <a:pt x="1564737" y="4743296"/>
                </a:cubicBezTo>
                <a:lnTo>
                  <a:pt x="3771242" y="4743296"/>
                </a:lnTo>
                <a:cubicBezTo>
                  <a:pt x="3936386" y="4743296"/>
                  <a:pt x="4088685" y="4655220"/>
                  <a:pt x="4170340" y="4513012"/>
                </a:cubicBezTo>
                <a:lnTo>
                  <a:pt x="5273133" y="2601932"/>
                </a:lnTo>
                <a:cubicBezTo>
                  <a:pt x="5356623" y="2459725"/>
                  <a:pt x="5356623" y="2284489"/>
                  <a:pt x="5274051" y="214136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9743173" y="2569224"/>
            <a:ext cx="630455" cy="720000"/>
          </a:xfrm>
          <a:custGeom>
            <a:avLst/>
            <a:gdLst>
              <a:gd name="connsiteX0" fmla="*/ 1449958 w 1449958"/>
              <a:gd name="connsiteY0" fmla="*/ 669913 h 1655898"/>
              <a:gd name="connsiteX1" fmla="*/ 1449586 w 1449958"/>
              <a:gd name="connsiteY1" fmla="*/ 666192 h 1655898"/>
              <a:gd name="connsiteX2" fmla="*/ 1449586 w 1449958"/>
              <a:gd name="connsiteY2" fmla="*/ 665634 h 1655898"/>
              <a:gd name="connsiteX3" fmla="*/ 1448098 w 1449958"/>
              <a:gd name="connsiteY3" fmla="*/ 658006 h 1655898"/>
              <a:gd name="connsiteX4" fmla="*/ 1445307 w 1449958"/>
              <a:gd name="connsiteY4" fmla="*/ 650379 h 1655898"/>
              <a:gd name="connsiteX5" fmla="*/ 1443633 w 1449958"/>
              <a:gd name="connsiteY5" fmla="*/ 646844 h 1655898"/>
              <a:gd name="connsiteX6" fmla="*/ 1441772 w 1449958"/>
              <a:gd name="connsiteY6" fmla="*/ 643496 h 1655898"/>
              <a:gd name="connsiteX7" fmla="*/ 1441400 w 1449958"/>
              <a:gd name="connsiteY7" fmla="*/ 643124 h 1655898"/>
              <a:gd name="connsiteX8" fmla="*/ 1439354 w 1449958"/>
              <a:gd name="connsiteY8" fmla="*/ 640147 h 1655898"/>
              <a:gd name="connsiteX9" fmla="*/ 1439168 w 1449958"/>
              <a:gd name="connsiteY9" fmla="*/ 639775 h 1655898"/>
              <a:gd name="connsiteX10" fmla="*/ 1436936 w 1449958"/>
              <a:gd name="connsiteY10" fmla="*/ 636798 h 1655898"/>
              <a:gd name="connsiteX11" fmla="*/ 1436378 w 1449958"/>
              <a:gd name="connsiteY11" fmla="*/ 636240 h 1655898"/>
              <a:gd name="connsiteX12" fmla="*/ 1433773 w 1449958"/>
              <a:gd name="connsiteY12" fmla="*/ 633450 h 1655898"/>
              <a:gd name="connsiteX13" fmla="*/ 816136 w 1449958"/>
              <a:gd name="connsiteY13" fmla="*/ 15813 h 1655898"/>
              <a:gd name="connsiteX14" fmla="*/ 813346 w 1449958"/>
              <a:gd name="connsiteY14" fmla="*/ 13208 h 1655898"/>
              <a:gd name="connsiteX15" fmla="*/ 812788 w 1449958"/>
              <a:gd name="connsiteY15" fmla="*/ 12650 h 1655898"/>
              <a:gd name="connsiteX16" fmla="*/ 809997 w 1449958"/>
              <a:gd name="connsiteY16" fmla="*/ 10418 h 1655898"/>
              <a:gd name="connsiteX17" fmla="*/ 809625 w 1449958"/>
              <a:gd name="connsiteY17" fmla="*/ 10232 h 1655898"/>
              <a:gd name="connsiteX18" fmla="*/ 806834 w 1449958"/>
              <a:gd name="connsiteY18" fmla="*/ 8372 h 1655898"/>
              <a:gd name="connsiteX19" fmla="*/ 806276 w 1449958"/>
              <a:gd name="connsiteY19" fmla="*/ 8000 h 1655898"/>
              <a:gd name="connsiteX20" fmla="*/ 802928 w 1449958"/>
              <a:gd name="connsiteY20" fmla="*/ 6139 h 1655898"/>
              <a:gd name="connsiteX21" fmla="*/ 802742 w 1449958"/>
              <a:gd name="connsiteY21" fmla="*/ 6139 h 1655898"/>
              <a:gd name="connsiteX22" fmla="*/ 799207 w 1449958"/>
              <a:gd name="connsiteY22" fmla="*/ 4465 h 1655898"/>
              <a:gd name="connsiteX23" fmla="*/ 799021 w 1449958"/>
              <a:gd name="connsiteY23" fmla="*/ 4465 h 1655898"/>
              <a:gd name="connsiteX24" fmla="*/ 791580 w 1449958"/>
              <a:gd name="connsiteY24" fmla="*/ 1860 h 1655898"/>
              <a:gd name="connsiteX25" fmla="*/ 791394 w 1449958"/>
              <a:gd name="connsiteY25" fmla="*/ 1860 h 1655898"/>
              <a:gd name="connsiteX26" fmla="*/ 783766 w 1449958"/>
              <a:gd name="connsiteY26" fmla="*/ 372 h 1655898"/>
              <a:gd name="connsiteX27" fmla="*/ 783022 w 1449958"/>
              <a:gd name="connsiteY27" fmla="*/ 372 h 1655898"/>
              <a:gd name="connsiteX28" fmla="*/ 779301 w 1449958"/>
              <a:gd name="connsiteY28" fmla="*/ 0 h 1655898"/>
              <a:gd name="connsiteX29" fmla="*/ 261751 w 1449958"/>
              <a:gd name="connsiteY29" fmla="*/ 0 h 1655898"/>
              <a:gd name="connsiteX30" fmla="*/ 0 w 1449958"/>
              <a:gd name="connsiteY30" fmla="*/ 261751 h 1655898"/>
              <a:gd name="connsiteX31" fmla="*/ 0 w 1449958"/>
              <a:gd name="connsiteY31" fmla="*/ 1394148 h 1655898"/>
              <a:gd name="connsiteX32" fmla="*/ 261751 w 1449958"/>
              <a:gd name="connsiteY32" fmla="*/ 1655899 h 1655898"/>
              <a:gd name="connsiteX33" fmla="*/ 1188207 w 1449958"/>
              <a:gd name="connsiteY33" fmla="*/ 1655899 h 1655898"/>
              <a:gd name="connsiteX34" fmla="*/ 1449958 w 1449958"/>
              <a:gd name="connsiteY34" fmla="*/ 1394148 h 1655898"/>
              <a:gd name="connsiteX35" fmla="*/ 1449958 w 1449958"/>
              <a:gd name="connsiteY35" fmla="*/ 672889 h 1655898"/>
              <a:gd name="connsiteX36" fmla="*/ 1449958 w 1449958"/>
              <a:gd name="connsiteY36" fmla="*/ 669913 h 1655898"/>
              <a:gd name="connsiteX37" fmla="*/ 832321 w 1449958"/>
              <a:gd name="connsiteY37" fmla="*/ 466948 h 1655898"/>
              <a:gd name="connsiteX38" fmla="*/ 832321 w 1449958"/>
              <a:gd name="connsiteY38" fmla="*/ 189942 h 1655898"/>
              <a:gd name="connsiteX39" fmla="*/ 1259458 w 1449958"/>
              <a:gd name="connsiteY39" fmla="*/ 617079 h 1655898"/>
              <a:gd name="connsiteX40" fmla="*/ 982452 w 1449958"/>
              <a:gd name="connsiteY40" fmla="*/ 617079 h 1655898"/>
              <a:gd name="connsiteX41" fmla="*/ 832321 w 1449958"/>
              <a:gd name="connsiteY41" fmla="*/ 466948 h 1655898"/>
              <a:gd name="connsiteX42" fmla="*/ 1338337 w 1449958"/>
              <a:gd name="connsiteY42" fmla="*/ 1393403 h 1655898"/>
              <a:gd name="connsiteX43" fmla="*/ 1188207 w 1449958"/>
              <a:gd name="connsiteY43" fmla="*/ 1543534 h 1655898"/>
              <a:gd name="connsiteX44" fmla="*/ 261751 w 1449958"/>
              <a:gd name="connsiteY44" fmla="*/ 1543534 h 1655898"/>
              <a:gd name="connsiteX45" fmla="*/ 111621 w 1449958"/>
              <a:gd name="connsiteY45" fmla="*/ 1393403 h 1655898"/>
              <a:gd name="connsiteX46" fmla="*/ 111621 w 1449958"/>
              <a:gd name="connsiteY46" fmla="*/ 261007 h 1655898"/>
              <a:gd name="connsiteX47" fmla="*/ 261751 w 1449958"/>
              <a:gd name="connsiteY47" fmla="*/ 110877 h 1655898"/>
              <a:gd name="connsiteX48" fmla="*/ 720700 w 1449958"/>
              <a:gd name="connsiteY48" fmla="*/ 110877 h 1655898"/>
              <a:gd name="connsiteX49" fmla="*/ 720700 w 1449958"/>
              <a:gd name="connsiteY49" fmla="*/ 466948 h 1655898"/>
              <a:gd name="connsiteX50" fmla="*/ 982452 w 1449958"/>
              <a:gd name="connsiteY50" fmla="*/ 728700 h 1655898"/>
              <a:gd name="connsiteX51" fmla="*/ 1338523 w 1449958"/>
              <a:gd name="connsiteY51" fmla="*/ 728700 h 1655898"/>
              <a:gd name="connsiteX52" fmla="*/ 1338523 w 1449958"/>
              <a:gd name="connsiteY52" fmla="*/ 1393403 h 1655898"/>
            </a:gdLst>
            <a:rect l="l" t="t" r="r" b="b"/>
            <a:pathLst>
              <a:path w="1449958" h="1655898">
                <a:moveTo>
                  <a:pt x="1449958" y="669913"/>
                </a:moveTo>
                <a:cubicBezTo>
                  <a:pt x="1449958" y="668610"/>
                  <a:pt x="1449772" y="667308"/>
                  <a:pt x="1449586" y="666192"/>
                </a:cubicBezTo>
                <a:lnTo>
                  <a:pt x="1449586" y="665634"/>
                </a:lnTo>
                <a:cubicBezTo>
                  <a:pt x="1449214" y="663029"/>
                  <a:pt x="1448656" y="660425"/>
                  <a:pt x="1448098" y="658006"/>
                </a:cubicBezTo>
                <a:cubicBezTo>
                  <a:pt x="1447354" y="655402"/>
                  <a:pt x="1446423" y="652797"/>
                  <a:pt x="1445307" y="650379"/>
                </a:cubicBezTo>
                <a:cubicBezTo>
                  <a:pt x="1444749" y="649077"/>
                  <a:pt x="1444191" y="647960"/>
                  <a:pt x="1443633" y="646844"/>
                </a:cubicBezTo>
                <a:cubicBezTo>
                  <a:pt x="1443075" y="645728"/>
                  <a:pt x="1442331" y="644612"/>
                  <a:pt x="1441772" y="643496"/>
                </a:cubicBezTo>
                <a:cubicBezTo>
                  <a:pt x="1441587" y="643310"/>
                  <a:pt x="1441587" y="643124"/>
                  <a:pt x="1441400" y="643124"/>
                </a:cubicBezTo>
                <a:cubicBezTo>
                  <a:pt x="1440842" y="642193"/>
                  <a:pt x="1440098" y="641077"/>
                  <a:pt x="1439354" y="640147"/>
                </a:cubicBezTo>
                <a:cubicBezTo>
                  <a:pt x="1439354" y="640147"/>
                  <a:pt x="1439168" y="639961"/>
                  <a:pt x="1439168" y="639775"/>
                </a:cubicBezTo>
                <a:cubicBezTo>
                  <a:pt x="1438424" y="638845"/>
                  <a:pt x="1437680" y="637729"/>
                  <a:pt x="1436936" y="636798"/>
                </a:cubicBezTo>
                <a:lnTo>
                  <a:pt x="1436378" y="636240"/>
                </a:lnTo>
                <a:cubicBezTo>
                  <a:pt x="1435633" y="635310"/>
                  <a:pt x="1434703" y="634380"/>
                  <a:pt x="1433773" y="633450"/>
                </a:cubicBezTo>
                <a:lnTo>
                  <a:pt x="816136" y="15813"/>
                </a:lnTo>
                <a:cubicBezTo>
                  <a:pt x="815206" y="14883"/>
                  <a:pt x="814276" y="14139"/>
                  <a:pt x="813346" y="13208"/>
                </a:cubicBezTo>
                <a:lnTo>
                  <a:pt x="812788" y="12650"/>
                </a:lnTo>
                <a:lnTo>
                  <a:pt x="809997" y="10418"/>
                </a:lnTo>
                <a:cubicBezTo>
                  <a:pt x="809811" y="10418"/>
                  <a:pt x="809811" y="10232"/>
                  <a:pt x="809625" y="10232"/>
                </a:cubicBezTo>
                <a:cubicBezTo>
                  <a:pt x="808695" y="9488"/>
                  <a:pt x="807765" y="8930"/>
                  <a:pt x="806834" y="8372"/>
                </a:cubicBezTo>
                <a:cubicBezTo>
                  <a:pt x="806649" y="8186"/>
                  <a:pt x="806462" y="8186"/>
                  <a:pt x="806276" y="8000"/>
                </a:cubicBezTo>
                <a:cubicBezTo>
                  <a:pt x="805160" y="7255"/>
                  <a:pt x="804044" y="6697"/>
                  <a:pt x="802928" y="6139"/>
                </a:cubicBezTo>
                <a:lnTo>
                  <a:pt x="802742" y="6139"/>
                </a:lnTo>
                <a:cubicBezTo>
                  <a:pt x="801626" y="5581"/>
                  <a:pt x="800509" y="5023"/>
                  <a:pt x="799207" y="4465"/>
                </a:cubicBezTo>
                <a:lnTo>
                  <a:pt x="799021" y="4465"/>
                </a:lnTo>
                <a:cubicBezTo>
                  <a:pt x="796603" y="3349"/>
                  <a:pt x="793998" y="2418"/>
                  <a:pt x="791580" y="1860"/>
                </a:cubicBezTo>
                <a:lnTo>
                  <a:pt x="791394" y="1860"/>
                </a:lnTo>
                <a:cubicBezTo>
                  <a:pt x="788975" y="1116"/>
                  <a:pt x="786371" y="744"/>
                  <a:pt x="783766" y="372"/>
                </a:cubicBezTo>
                <a:lnTo>
                  <a:pt x="783022" y="372"/>
                </a:lnTo>
                <a:cubicBezTo>
                  <a:pt x="781720" y="186"/>
                  <a:pt x="780604" y="186"/>
                  <a:pt x="779301" y="0"/>
                </a:cubicBezTo>
                <a:lnTo>
                  <a:pt x="261751" y="0"/>
                </a:lnTo>
                <a:cubicBezTo>
                  <a:pt x="117388" y="0"/>
                  <a:pt x="0" y="117388"/>
                  <a:pt x="0" y="261751"/>
                </a:cubicBezTo>
                <a:lnTo>
                  <a:pt x="0" y="1394148"/>
                </a:lnTo>
                <a:cubicBezTo>
                  <a:pt x="0" y="1538511"/>
                  <a:pt x="117388" y="1655899"/>
                  <a:pt x="261751" y="1655899"/>
                </a:cubicBezTo>
                <a:lnTo>
                  <a:pt x="1188207" y="1655899"/>
                </a:lnTo>
                <a:cubicBezTo>
                  <a:pt x="1332570" y="1655899"/>
                  <a:pt x="1449958" y="1538511"/>
                  <a:pt x="1449958" y="1394148"/>
                </a:cubicBezTo>
                <a:lnTo>
                  <a:pt x="1449958" y="672889"/>
                </a:lnTo>
                <a:lnTo>
                  <a:pt x="1449958" y="669913"/>
                </a:lnTo>
                <a:close/>
                <a:moveTo>
                  <a:pt x="832321" y="466948"/>
                </a:moveTo>
                <a:lnTo>
                  <a:pt x="832321" y="189942"/>
                </a:lnTo>
                <a:lnTo>
                  <a:pt x="1259458" y="617079"/>
                </a:lnTo>
                <a:lnTo>
                  <a:pt x="982452" y="617079"/>
                </a:lnTo>
                <a:cubicBezTo>
                  <a:pt x="899666" y="617079"/>
                  <a:pt x="832321" y="549734"/>
                  <a:pt x="832321" y="466948"/>
                </a:cubicBezTo>
                <a:close/>
                <a:moveTo>
                  <a:pt x="1338337" y="1393403"/>
                </a:moveTo>
                <a:cubicBezTo>
                  <a:pt x="1338337" y="1476189"/>
                  <a:pt x="1270992" y="1543534"/>
                  <a:pt x="1188207" y="1543534"/>
                </a:cubicBezTo>
                <a:lnTo>
                  <a:pt x="261751" y="1543534"/>
                </a:lnTo>
                <a:cubicBezTo>
                  <a:pt x="178966" y="1543534"/>
                  <a:pt x="111621" y="1476189"/>
                  <a:pt x="111621" y="1393403"/>
                </a:cubicBezTo>
                <a:lnTo>
                  <a:pt x="111621" y="261007"/>
                </a:lnTo>
                <a:cubicBezTo>
                  <a:pt x="111621" y="178222"/>
                  <a:pt x="178966" y="110877"/>
                  <a:pt x="261751" y="110877"/>
                </a:cubicBezTo>
                <a:lnTo>
                  <a:pt x="720700" y="110877"/>
                </a:lnTo>
                <a:lnTo>
                  <a:pt x="720700" y="466948"/>
                </a:lnTo>
                <a:cubicBezTo>
                  <a:pt x="720700" y="611312"/>
                  <a:pt x="838088" y="728700"/>
                  <a:pt x="982452" y="728700"/>
                </a:cubicBezTo>
                <a:lnTo>
                  <a:pt x="1338523" y="728700"/>
                </a:lnTo>
                <a:lnTo>
                  <a:pt x="1338523" y="1393403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5684800" y="2569224"/>
            <a:ext cx="822400" cy="720000"/>
          </a:xfrm>
          <a:custGeom>
            <a:avLst/>
            <a:gdLst>
              <a:gd name="connsiteX0" fmla="*/ 411292 w 822400"/>
              <a:gd name="connsiteY0" fmla="*/ 234366 h 720000"/>
              <a:gd name="connsiteX1" fmla="*/ 285658 w 822400"/>
              <a:gd name="connsiteY1" fmla="*/ 360000 h 720000"/>
              <a:gd name="connsiteX2" fmla="*/ 411292 w 822400"/>
              <a:gd name="connsiteY2" fmla="*/ 485635 h 720000"/>
              <a:gd name="connsiteX3" fmla="*/ 536927 w 822400"/>
              <a:gd name="connsiteY3" fmla="*/ 360000 h 720000"/>
              <a:gd name="connsiteX4" fmla="*/ 411292 w 822400"/>
              <a:gd name="connsiteY4" fmla="*/ 234366 h 720000"/>
              <a:gd name="connsiteX5" fmla="*/ 411292 w 822400"/>
              <a:gd name="connsiteY5" fmla="*/ 178938 h 720000"/>
              <a:gd name="connsiteX6" fmla="*/ 592354 w 822400"/>
              <a:gd name="connsiteY6" fmla="*/ 360000 h 720000"/>
              <a:gd name="connsiteX7" fmla="*/ 411292 w 822400"/>
              <a:gd name="connsiteY7" fmla="*/ 541063 h 720000"/>
              <a:gd name="connsiteX8" fmla="*/ 230230 w 822400"/>
              <a:gd name="connsiteY8" fmla="*/ 360000 h 720000"/>
              <a:gd name="connsiteX9" fmla="*/ 411292 w 822400"/>
              <a:gd name="connsiteY9" fmla="*/ 178938 h 720000"/>
              <a:gd name="connsiteX10" fmla="*/ 235403 w 822400"/>
              <a:gd name="connsiteY10" fmla="*/ 55427 h 720000"/>
              <a:gd name="connsiteX11" fmla="*/ 59514 w 822400"/>
              <a:gd name="connsiteY11" fmla="*/ 360000 h 720000"/>
              <a:gd name="connsiteX12" fmla="*/ 235403 w 822400"/>
              <a:gd name="connsiteY12" fmla="*/ 664573 h 720000"/>
              <a:gd name="connsiteX13" fmla="*/ 587089 w 822400"/>
              <a:gd name="connsiteY13" fmla="*/ 664573 h 720000"/>
              <a:gd name="connsiteX14" fmla="*/ 762978 w 822400"/>
              <a:gd name="connsiteY14" fmla="*/ 360000 h 720000"/>
              <a:gd name="connsiteX15" fmla="*/ 587089 w 822400"/>
              <a:gd name="connsiteY15" fmla="*/ 55427 h 720000"/>
              <a:gd name="connsiteX16" fmla="*/ 219883 w 822400"/>
              <a:gd name="connsiteY16" fmla="*/ 0 h 720000"/>
              <a:gd name="connsiteX17" fmla="*/ 602516 w 822400"/>
              <a:gd name="connsiteY17" fmla="*/ 0 h 720000"/>
              <a:gd name="connsiteX18" fmla="*/ 627274 w 822400"/>
              <a:gd name="connsiteY18" fmla="*/ 14319 h 720000"/>
              <a:gd name="connsiteX19" fmla="*/ 818590 w 822400"/>
              <a:gd name="connsiteY19" fmla="*/ 345682 h 720000"/>
              <a:gd name="connsiteX20" fmla="*/ 818590 w 822400"/>
              <a:gd name="connsiteY20" fmla="*/ 374319 h 720000"/>
              <a:gd name="connsiteX21" fmla="*/ 627366 w 822400"/>
              <a:gd name="connsiteY21" fmla="*/ 705682 h 720000"/>
              <a:gd name="connsiteX22" fmla="*/ 602608 w 822400"/>
              <a:gd name="connsiteY22" fmla="*/ 720000 h 720000"/>
              <a:gd name="connsiteX23" fmla="*/ 219976 w 822400"/>
              <a:gd name="connsiteY23" fmla="*/ 720000 h 720000"/>
              <a:gd name="connsiteX24" fmla="*/ 195218 w 822400"/>
              <a:gd name="connsiteY24" fmla="*/ 705682 h 720000"/>
              <a:gd name="connsiteX25" fmla="*/ 3810 w 822400"/>
              <a:gd name="connsiteY25" fmla="*/ 374319 h 720000"/>
              <a:gd name="connsiteX26" fmla="*/ 3810 w 822400"/>
              <a:gd name="connsiteY26" fmla="*/ 345682 h 720000"/>
              <a:gd name="connsiteX27" fmla="*/ 195126 w 822400"/>
              <a:gd name="connsiteY27" fmla="*/ 14319 h 720000"/>
              <a:gd name="connsiteX28" fmla="*/ 219883 w 822400"/>
              <a:gd name="connsiteY28" fmla="*/ 0 h 720000"/>
            </a:gdLst>
            <a:rect l="l" t="t" r="r" b="b"/>
            <a:pathLst>
              <a:path w="822400" h="720000">
                <a:moveTo>
                  <a:pt x="411292" y="234366"/>
                </a:moveTo>
                <a:cubicBezTo>
                  <a:pt x="342008" y="234366"/>
                  <a:pt x="285658" y="290716"/>
                  <a:pt x="285658" y="360000"/>
                </a:cubicBezTo>
                <a:cubicBezTo>
                  <a:pt x="285658" y="429284"/>
                  <a:pt x="342008" y="485635"/>
                  <a:pt x="411292" y="485635"/>
                </a:cubicBezTo>
                <a:cubicBezTo>
                  <a:pt x="480576" y="485635"/>
                  <a:pt x="536927" y="429284"/>
                  <a:pt x="536927" y="360000"/>
                </a:cubicBezTo>
                <a:cubicBezTo>
                  <a:pt x="536927" y="290716"/>
                  <a:pt x="480576" y="234366"/>
                  <a:pt x="411292" y="234366"/>
                </a:cubicBezTo>
                <a:close/>
                <a:moveTo>
                  <a:pt x="411292" y="178938"/>
                </a:moveTo>
                <a:cubicBezTo>
                  <a:pt x="511153" y="178938"/>
                  <a:pt x="592354" y="260139"/>
                  <a:pt x="592354" y="360000"/>
                </a:cubicBezTo>
                <a:cubicBezTo>
                  <a:pt x="592354" y="459861"/>
                  <a:pt x="511153" y="541063"/>
                  <a:pt x="411292" y="541063"/>
                </a:cubicBezTo>
                <a:cubicBezTo>
                  <a:pt x="311431" y="541063"/>
                  <a:pt x="230230" y="459861"/>
                  <a:pt x="230230" y="360000"/>
                </a:cubicBezTo>
                <a:cubicBezTo>
                  <a:pt x="230230" y="260139"/>
                  <a:pt x="311431" y="178938"/>
                  <a:pt x="411292" y="178938"/>
                </a:cubicBezTo>
                <a:close/>
                <a:moveTo>
                  <a:pt x="235403" y="55427"/>
                </a:moveTo>
                <a:lnTo>
                  <a:pt x="59514" y="360000"/>
                </a:lnTo>
                <a:lnTo>
                  <a:pt x="235403" y="664573"/>
                </a:lnTo>
                <a:lnTo>
                  <a:pt x="587089" y="664573"/>
                </a:lnTo>
                <a:lnTo>
                  <a:pt x="762978" y="360000"/>
                </a:lnTo>
                <a:lnTo>
                  <a:pt x="587089" y="55427"/>
                </a:lnTo>
                <a:close/>
                <a:moveTo>
                  <a:pt x="219883" y="0"/>
                </a:moveTo>
                <a:lnTo>
                  <a:pt x="602516" y="0"/>
                </a:lnTo>
                <a:cubicBezTo>
                  <a:pt x="612678" y="0"/>
                  <a:pt x="622193" y="5450"/>
                  <a:pt x="627274" y="14319"/>
                </a:cubicBezTo>
                <a:lnTo>
                  <a:pt x="818590" y="345682"/>
                </a:lnTo>
                <a:cubicBezTo>
                  <a:pt x="823671" y="354550"/>
                  <a:pt x="823671" y="365451"/>
                  <a:pt x="818590" y="374319"/>
                </a:cubicBezTo>
                <a:lnTo>
                  <a:pt x="627366" y="705682"/>
                </a:lnTo>
                <a:cubicBezTo>
                  <a:pt x="622285" y="714550"/>
                  <a:pt x="612770" y="720000"/>
                  <a:pt x="602608" y="720000"/>
                </a:cubicBezTo>
                <a:lnTo>
                  <a:pt x="219976" y="720000"/>
                </a:lnTo>
                <a:cubicBezTo>
                  <a:pt x="209814" y="720000"/>
                  <a:pt x="200299" y="714550"/>
                  <a:pt x="195218" y="705682"/>
                </a:cubicBezTo>
                <a:lnTo>
                  <a:pt x="3810" y="374319"/>
                </a:lnTo>
                <a:cubicBezTo>
                  <a:pt x="-1271" y="365543"/>
                  <a:pt x="-1271" y="354550"/>
                  <a:pt x="3810" y="345682"/>
                </a:cubicBezTo>
                <a:lnTo>
                  <a:pt x="195126" y="14319"/>
                </a:lnTo>
                <a:cubicBezTo>
                  <a:pt x="200207" y="5450"/>
                  <a:pt x="209721" y="0"/>
                  <a:pt x="219883" y="0"/>
                </a:cubicBezTo>
                <a:close/>
              </a:path>
            </a:pathLst>
          </a:custGeom>
          <a:solidFill>
            <a:schemeClr val="bg1"/>
          </a:solidFill>
          <a:ln w="1553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1773600" y="2569224"/>
            <a:ext cx="720000" cy="720000"/>
          </a:xfrm>
          <a:custGeom>
            <a:avLst/>
            <a:gdLst>
              <a:gd name="connsiteX0" fmla="*/ 438553 w 720000"/>
              <a:gd name="connsiteY0" fmla="*/ 189601 h 720000"/>
              <a:gd name="connsiteX1" fmla="*/ 373556 w 720000"/>
              <a:gd name="connsiteY1" fmla="*/ 216451 h 720000"/>
              <a:gd name="connsiteX2" fmla="*/ 232180 w 720000"/>
              <a:gd name="connsiteY2" fmla="*/ 357827 h 720000"/>
              <a:gd name="connsiteX3" fmla="*/ 191861 w 720000"/>
              <a:gd name="connsiteY3" fmla="*/ 528226 h 720000"/>
              <a:gd name="connsiteX4" fmla="*/ 362260 w 720000"/>
              <a:gd name="connsiteY4" fmla="*/ 487907 h 720000"/>
              <a:gd name="connsiteX5" fmla="*/ 503636 w 720000"/>
              <a:gd name="connsiteY5" fmla="*/ 346444 h 720000"/>
              <a:gd name="connsiteX6" fmla="*/ 503636 w 720000"/>
              <a:gd name="connsiteY6" fmla="*/ 216365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537524 w 720000"/>
              <a:gd name="connsiteY9" fmla="*/ 182476 h 720000"/>
              <a:gd name="connsiteX10" fmla="*/ 537524 w 720000"/>
              <a:gd name="connsiteY10" fmla="*/ 380420 h 720000"/>
              <a:gd name="connsiteX11" fmla="*/ 396149 w 720000"/>
              <a:gd name="connsiteY11" fmla="*/ 521796 h 720000"/>
              <a:gd name="connsiteX12" fmla="*/ 141637 w 720000"/>
              <a:gd name="connsiteY12" fmla="*/ 578364 h 720000"/>
              <a:gd name="connsiteX13" fmla="*/ 198205 w 720000"/>
              <a:gd name="connsiteY13" fmla="*/ 323852 h 720000"/>
              <a:gd name="connsiteX14" fmla="*/ 339581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47965 h 720000"/>
              <a:gd name="connsiteX17" fmla="*/ 47965 w 720000"/>
              <a:gd name="connsiteY17" fmla="*/ 120000 h 720000"/>
              <a:gd name="connsiteX18" fmla="*/ 47965 w 720000"/>
              <a:gd name="connsiteY18" fmla="*/ 600000 h 720000"/>
              <a:gd name="connsiteX19" fmla="*/ 120000 w 720000"/>
              <a:gd name="connsiteY19" fmla="*/ 672035 h 720000"/>
              <a:gd name="connsiteX20" fmla="*/ 600000 w 720000"/>
              <a:gd name="connsiteY20" fmla="*/ 672035 h 720000"/>
              <a:gd name="connsiteX21" fmla="*/ 672035 w 720000"/>
              <a:gd name="connsiteY21" fmla="*/ 600000 h 720000"/>
              <a:gd name="connsiteX22" fmla="*/ 672035 w 720000"/>
              <a:gd name="connsiteY22" fmla="*/ 120000 h 720000"/>
              <a:gd name="connsiteX23" fmla="*/ 600000 w 720000"/>
              <a:gd name="connsiteY23" fmla="*/ 47965 h 720000"/>
              <a:gd name="connsiteX24" fmla="*/ 120000 w 720000"/>
              <a:gd name="connsiteY24" fmla="*/ 0 h 720000"/>
              <a:gd name="connsiteX25" fmla="*/ 600000 w 720000"/>
              <a:gd name="connsiteY25" fmla="*/ 0 h 720000"/>
              <a:gd name="connsiteX26" fmla="*/ 720000 w 720000"/>
              <a:gd name="connsiteY26" fmla="*/ 120000 h 720000"/>
              <a:gd name="connsiteX27" fmla="*/ 720000 w 720000"/>
              <a:gd name="connsiteY27" fmla="*/ 600000 h 720000"/>
              <a:gd name="connsiteX28" fmla="*/ 600000 w 720000"/>
              <a:gd name="connsiteY28" fmla="*/ 720000 h 720000"/>
              <a:gd name="connsiteX29" fmla="*/ 120000 w 720000"/>
              <a:gd name="connsiteY29" fmla="*/ 720000 h 720000"/>
              <a:gd name="connsiteX30" fmla="*/ 0 w 720000"/>
              <a:gd name="connsiteY30" fmla="*/ 600000 h 720000"/>
              <a:gd name="connsiteX31" fmla="*/ 0 w 720000"/>
              <a:gd name="connsiteY31" fmla="*/ 120000 h 720000"/>
              <a:gd name="connsiteX32" fmla="*/ 120000 w 720000"/>
              <a:gd name="connsiteY32" fmla="*/ 0 h 720000"/>
            </a:gdLst>
            <a:rect l="l" t="t" r="r" b="b"/>
            <a:pathLst>
              <a:path w="720000" h="720000">
                <a:moveTo>
                  <a:pt x="438553" y="189601"/>
                </a:moveTo>
                <a:cubicBezTo>
                  <a:pt x="413875" y="189601"/>
                  <a:pt x="390761" y="199073"/>
                  <a:pt x="373556" y="216451"/>
                </a:cubicBezTo>
                <a:lnTo>
                  <a:pt x="232180" y="357827"/>
                </a:lnTo>
                <a:cubicBezTo>
                  <a:pt x="212456" y="377465"/>
                  <a:pt x="197336" y="453584"/>
                  <a:pt x="191861" y="528226"/>
                </a:cubicBezTo>
                <a:cubicBezTo>
                  <a:pt x="266503" y="522665"/>
                  <a:pt x="342622" y="507545"/>
                  <a:pt x="362260" y="487907"/>
                </a:cubicBezTo>
                <a:lnTo>
                  <a:pt x="503636" y="346444"/>
                </a:lnTo>
                <a:cubicBezTo>
                  <a:pt x="539523" y="310557"/>
                  <a:pt x="539523" y="252252"/>
                  <a:pt x="503636" y="216365"/>
                </a:cubicBezTo>
                <a:cubicBezTo>
                  <a:pt x="486344" y="199073"/>
                  <a:pt x="463230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74440" y="141636"/>
                  <a:pt x="510327" y="155191"/>
                  <a:pt x="537524" y="182476"/>
                </a:cubicBezTo>
                <a:cubicBezTo>
                  <a:pt x="592007" y="236872"/>
                  <a:pt x="592007" y="325938"/>
                  <a:pt x="537524" y="380420"/>
                </a:cubicBezTo>
                <a:lnTo>
                  <a:pt x="396149" y="521796"/>
                </a:lnTo>
                <a:cubicBezTo>
                  <a:pt x="341753" y="576278"/>
                  <a:pt x="141637" y="578364"/>
                  <a:pt x="141637" y="578364"/>
                </a:cubicBezTo>
                <a:cubicBezTo>
                  <a:pt x="141637" y="578364"/>
                  <a:pt x="143723" y="378334"/>
                  <a:pt x="198205" y="323852"/>
                </a:cubicBezTo>
                <a:lnTo>
                  <a:pt x="339581" y="182476"/>
                </a:lnTo>
                <a:cubicBezTo>
                  <a:pt x="366778" y="155278"/>
                  <a:pt x="402666" y="141636"/>
                  <a:pt x="438553" y="141636"/>
                </a:cubicBezTo>
                <a:close/>
                <a:moveTo>
                  <a:pt x="120000" y="47965"/>
                </a:moveTo>
                <a:cubicBezTo>
                  <a:pt x="80290" y="47965"/>
                  <a:pt x="47965" y="80290"/>
                  <a:pt x="47965" y="120000"/>
                </a:cubicBezTo>
                <a:lnTo>
                  <a:pt x="47965" y="600000"/>
                </a:lnTo>
                <a:cubicBezTo>
                  <a:pt x="47965" y="639711"/>
                  <a:pt x="80290" y="672035"/>
                  <a:pt x="120000" y="672035"/>
                </a:cubicBezTo>
                <a:lnTo>
                  <a:pt x="600000" y="672035"/>
                </a:lnTo>
                <a:cubicBezTo>
                  <a:pt x="639711" y="672035"/>
                  <a:pt x="672035" y="639711"/>
                  <a:pt x="672035" y="600000"/>
                </a:cubicBezTo>
                <a:lnTo>
                  <a:pt x="672035" y="120000"/>
                </a:lnTo>
                <a:cubicBezTo>
                  <a:pt x="672035" y="80290"/>
                  <a:pt x="639711" y="47965"/>
                  <a:pt x="600000" y="47965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744588" y="4489774"/>
            <a:ext cx="2781300" cy="1477272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38102" tIns="38102" rIns="38102" bIns="38102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164">
                <a:ln w="12700">
                  <a:noFill/>
                </a:ln>
                <a:solidFill>
                  <a:srgbClr val="0084B4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以科技为手段，为老年人打造高品质、科技化养老生活，改善传统养老模式，让老人享受舒适、便捷、安全的养老环境。
关注老人精神文化需求，丰富文化娱乐活动，提升老人生活幸福感和获得感。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733083" y="4183171"/>
            <a:ext cx="2800548" cy="316382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64008" tIns="32004" rIns="64008" bIns="32004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84B4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提升养老品质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4706988" y="4489774"/>
            <a:ext cx="2781300" cy="1477272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38102" tIns="38102" rIns="38102" bIns="38102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164">
                <a:ln w="12700">
                  <a:noFill/>
                </a:ln>
                <a:solidFill>
                  <a:srgbClr val="0084B4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推动养老服务智能化转型，为行业提供可借鉴的经验和模式，促进养老服务行业整体发展水平提升。
积极承担社会责任，参与养老服务标准制定和行业规范建设，引领行业健康发展。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4695483" y="4183171"/>
            <a:ext cx="2800548" cy="316382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64008" tIns="32004" rIns="64008" bIns="32004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84B4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引领行业发展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8669388" y="4489774"/>
            <a:ext cx="2781300" cy="1477272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38102" tIns="38102" rIns="38102" bIns="38102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164">
                <a:ln w="12700">
                  <a:noFill/>
                </a:ln>
                <a:solidFill>
                  <a:srgbClr val="0084B4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为子女解决养老难题，让他们安心工作和生活，缓解家庭养老压力，促进家庭和谐稳定。
定期组织家属活动，加强家属与老人沟通交流，增进家庭感情，构建和谐养老家庭关系。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0" flipV="0">
            <a:off x="8657883" y="4183171"/>
            <a:ext cx="2800548" cy="316382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64008" tIns="32004" rIns="64008" bIns="32004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84B4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促进家庭和谐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0" flipH="0" flipV="0">
            <a:off x="316690" y="373380"/>
            <a:ext cx="8171180" cy="65532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0" flipH="0" flipV="0">
            <a:off x="783520" y="484345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重要使命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0" flipV="0">
            <a:off x="324256" y="626624"/>
            <a:ext cx="402076" cy="402076"/>
          </a:xfrm>
          <a:prstGeom prst="rtTriangl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cxnSp>
        <p:nvCxnSpPr>
          <p:cNvPr id="3" name="标题 1"/>
          <p:cNvCxnSpPr/>
          <p:nvPr/>
        </p:nvCxnSpPr>
        <p:spPr>
          <a:xfrm rot="0" flipH="0" flipV="0">
            <a:off x="1887621" y="2177718"/>
            <a:ext cx="3967747" cy="0"/>
          </a:xfrm>
          <a:prstGeom prst="line">
            <a:avLst/>
          </a:prstGeom>
          <a:noFill/>
          <a:ln w="12700" cap="sq">
            <a:solidFill>
              <a:schemeClr val="accent1"/>
            </a:solidFill>
            <a:miter/>
          </a:ln>
        </p:spPr>
      </p:cxnSp>
      <p:sp>
        <p:nvSpPr>
          <p:cNvPr id="4" name="标题 1"/>
          <p:cNvSpPr txBox="1"/>
          <p:nvPr/>
        </p:nvSpPr>
        <p:spPr>
          <a:xfrm rot="0" flipH="0" flipV="0">
            <a:off x="660400" y="1584160"/>
            <a:ext cx="1363579" cy="136357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2140898" y="2304943"/>
            <a:ext cx="3714469" cy="1124057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12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前期市场调研显示，本地市场对高端智能养老服务需求旺盛，潜在客户群体庞大，项目具有良好的市场前景。
调研结果为项目定位、服务设计、营销策略制定提供了科学依据，确保项目与市场需求相匹配。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2140899" y="1351554"/>
            <a:ext cx="2963437" cy="762552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B0F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市场调研成果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5221258" y="1866044"/>
            <a:ext cx="634110" cy="311674"/>
          </a:xfrm>
          <a:custGeom>
            <a:avLst/>
            <a:gdLst>
              <a:gd name="connsiteX0" fmla="*/ 414968 w 829937"/>
              <a:gd name="connsiteY0" fmla="*/ 0 h 407926"/>
              <a:gd name="connsiteX1" fmla="*/ 822280 w 829937"/>
              <a:gd name="connsiteY1" fmla="*/ 331968 h 407926"/>
              <a:gd name="connsiteX2" fmla="*/ 829937 w 829937"/>
              <a:gd name="connsiteY2" fmla="*/ 407926 h 407926"/>
              <a:gd name="connsiteX3" fmla="*/ 0 w 829937"/>
              <a:gd name="connsiteY3" fmla="*/ 407926 h 407926"/>
              <a:gd name="connsiteX4" fmla="*/ 7657 w 829937"/>
              <a:gd name="connsiteY4" fmla="*/ 331968 h 407926"/>
              <a:gd name="connsiteX5" fmla="*/ 414968 w 829937"/>
              <a:gd name="connsiteY5" fmla="*/ 0 h 407926"/>
            </a:gdLst>
            <a:rect l="l" t="t" r="r" b="b"/>
            <a:pathLst>
              <a:path w="829937" h="407926">
                <a:moveTo>
                  <a:pt x="414968" y="0"/>
                </a:moveTo>
                <a:cubicBezTo>
                  <a:pt x="615883" y="0"/>
                  <a:pt x="783512" y="142514"/>
                  <a:pt x="822280" y="331968"/>
                </a:cubicBezTo>
                <a:lnTo>
                  <a:pt x="829937" y="407926"/>
                </a:lnTo>
                <a:lnTo>
                  <a:pt x="0" y="407926"/>
                </a:lnTo>
                <a:lnTo>
                  <a:pt x="7657" y="331968"/>
                </a:lnTo>
                <a:cubicBezTo>
                  <a:pt x="46425" y="142514"/>
                  <a:pt x="214053" y="0"/>
                  <a:pt x="414968" y="0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752950" y="1676710"/>
            <a:ext cx="1178478" cy="1178478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1140967" y="2089782"/>
            <a:ext cx="402445" cy="352335"/>
          </a:xfrm>
          <a:custGeom>
            <a:avLst/>
            <a:gdLst>
              <a:gd name="connsiteX0" fmla="*/ 411292 w 822400"/>
              <a:gd name="connsiteY0" fmla="*/ 234366 h 720000"/>
              <a:gd name="connsiteX1" fmla="*/ 285658 w 822400"/>
              <a:gd name="connsiteY1" fmla="*/ 360000 h 720000"/>
              <a:gd name="connsiteX2" fmla="*/ 411292 w 822400"/>
              <a:gd name="connsiteY2" fmla="*/ 485635 h 720000"/>
              <a:gd name="connsiteX3" fmla="*/ 536927 w 822400"/>
              <a:gd name="connsiteY3" fmla="*/ 360000 h 720000"/>
              <a:gd name="connsiteX4" fmla="*/ 411292 w 822400"/>
              <a:gd name="connsiteY4" fmla="*/ 234366 h 720000"/>
              <a:gd name="connsiteX5" fmla="*/ 411292 w 822400"/>
              <a:gd name="connsiteY5" fmla="*/ 178938 h 720000"/>
              <a:gd name="connsiteX6" fmla="*/ 592354 w 822400"/>
              <a:gd name="connsiteY6" fmla="*/ 360000 h 720000"/>
              <a:gd name="connsiteX7" fmla="*/ 411292 w 822400"/>
              <a:gd name="connsiteY7" fmla="*/ 541063 h 720000"/>
              <a:gd name="connsiteX8" fmla="*/ 230230 w 822400"/>
              <a:gd name="connsiteY8" fmla="*/ 360000 h 720000"/>
              <a:gd name="connsiteX9" fmla="*/ 411292 w 822400"/>
              <a:gd name="connsiteY9" fmla="*/ 178938 h 720000"/>
              <a:gd name="connsiteX10" fmla="*/ 235403 w 822400"/>
              <a:gd name="connsiteY10" fmla="*/ 55427 h 720000"/>
              <a:gd name="connsiteX11" fmla="*/ 59514 w 822400"/>
              <a:gd name="connsiteY11" fmla="*/ 360000 h 720000"/>
              <a:gd name="connsiteX12" fmla="*/ 235403 w 822400"/>
              <a:gd name="connsiteY12" fmla="*/ 664573 h 720000"/>
              <a:gd name="connsiteX13" fmla="*/ 587089 w 822400"/>
              <a:gd name="connsiteY13" fmla="*/ 664573 h 720000"/>
              <a:gd name="connsiteX14" fmla="*/ 762978 w 822400"/>
              <a:gd name="connsiteY14" fmla="*/ 360000 h 720000"/>
              <a:gd name="connsiteX15" fmla="*/ 587089 w 822400"/>
              <a:gd name="connsiteY15" fmla="*/ 55427 h 720000"/>
              <a:gd name="connsiteX16" fmla="*/ 219883 w 822400"/>
              <a:gd name="connsiteY16" fmla="*/ 0 h 720000"/>
              <a:gd name="connsiteX17" fmla="*/ 602516 w 822400"/>
              <a:gd name="connsiteY17" fmla="*/ 0 h 720000"/>
              <a:gd name="connsiteX18" fmla="*/ 627274 w 822400"/>
              <a:gd name="connsiteY18" fmla="*/ 14319 h 720000"/>
              <a:gd name="connsiteX19" fmla="*/ 818590 w 822400"/>
              <a:gd name="connsiteY19" fmla="*/ 345682 h 720000"/>
              <a:gd name="connsiteX20" fmla="*/ 818590 w 822400"/>
              <a:gd name="connsiteY20" fmla="*/ 374319 h 720000"/>
              <a:gd name="connsiteX21" fmla="*/ 627366 w 822400"/>
              <a:gd name="connsiteY21" fmla="*/ 705682 h 720000"/>
              <a:gd name="connsiteX22" fmla="*/ 602608 w 822400"/>
              <a:gd name="connsiteY22" fmla="*/ 720000 h 720000"/>
              <a:gd name="connsiteX23" fmla="*/ 219976 w 822400"/>
              <a:gd name="connsiteY23" fmla="*/ 720000 h 720000"/>
              <a:gd name="connsiteX24" fmla="*/ 195218 w 822400"/>
              <a:gd name="connsiteY24" fmla="*/ 705682 h 720000"/>
              <a:gd name="connsiteX25" fmla="*/ 3810 w 822400"/>
              <a:gd name="connsiteY25" fmla="*/ 374319 h 720000"/>
              <a:gd name="connsiteX26" fmla="*/ 3810 w 822400"/>
              <a:gd name="connsiteY26" fmla="*/ 345682 h 720000"/>
              <a:gd name="connsiteX27" fmla="*/ 195126 w 822400"/>
              <a:gd name="connsiteY27" fmla="*/ 14319 h 720000"/>
              <a:gd name="connsiteX28" fmla="*/ 219883 w 822400"/>
              <a:gd name="connsiteY28" fmla="*/ 0 h 720000"/>
            </a:gdLst>
            <a:rect l="l" t="t" r="r" b="b"/>
            <a:pathLst>
              <a:path w="822400" h="720000">
                <a:moveTo>
                  <a:pt x="411292" y="234366"/>
                </a:moveTo>
                <a:cubicBezTo>
                  <a:pt x="342008" y="234366"/>
                  <a:pt x="285658" y="290716"/>
                  <a:pt x="285658" y="360000"/>
                </a:cubicBezTo>
                <a:cubicBezTo>
                  <a:pt x="285658" y="429284"/>
                  <a:pt x="342008" y="485635"/>
                  <a:pt x="411292" y="485635"/>
                </a:cubicBezTo>
                <a:cubicBezTo>
                  <a:pt x="480576" y="485635"/>
                  <a:pt x="536927" y="429284"/>
                  <a:pt x="536927" y="360000"/>
                </a:cubicBezTo>
                <a:cubicBezTo>
                  <a:pt x="536927" y="290716"/>
                  <a:pt x="480576" y="234366"/>
                  <a:pt x="411292" y="234366"/>
                </a:cubicBezTo>
                <a:close/>
                <a:moveTo>
                  <a:pt x="411292" y="178938"/>
                </a:moveTo>
                <a:cubicBezTo>
                  <a:pt x="511153" y="178938"/>
                  <a:pt x="592354" y="260139"/>
                  <a:pt x="592354" y="360000"/>
                </a:cubicBezTo>
                <a:cubicBezTo>
                  <a:pt x="592354" y="459861"/>
                  <a:pt x="511153" y="541063"/>
                  <a:pt x="411292" y="541063"/>
                </a:cubicBezTo>
                <a:cubicBezTo>
                  <a:pt x="311431" y="541063"/>
                  <a:pt x="230230" y="459861"/>
                  <a:pt x="230230" y="360000"/>
                </a:cubicBezTo>
                <a:cubicBezTo>
                  <a:pt x="230230" y="260139"/>
                  <a:pt x="311431" y="178938"/>
                  <a:pt x="411292" y="178938"/>
                </a:cubicBezTo>
                <a:close/>
                <a:moveTo>
                  <a:pt x="235403" y="55427"/>
                </a:moveTo>
                <a:lnTo>
                  <a:pt x="59514" y="360000"/>
                </a:lnTo>
                <a:lnTo>
                  <a:pt x="235403" y="664573"/>
                </a:lnTo>
                <a:lnTo>
                  <a:pt x="587089" y="664573"/>
                </a:lnTo>
                <a:lnTo>
                  <a:pt x="762978" y="360000"/>
                </a:lnTo>
                <a:lnTo>
                  <a:pt x="587089" y="55427"/>
                </a:lnTo>
                <a:close/>
                <a:moveTo>
                  <a:pt x="219883" y="0"/>
                </a:moveTo>
                <a:lnTo>
                  <a:pt x="602516" y="0"/>
                </a:lnTo>
                <a:cubicBezTo>
                  <a:pt x="612678" y="0"/>
                  <a:pt x="622193" y="5450"/>
                  <a:pt x="627274" y="14319"/>
                </a:cubicBezTo>
                <a:lnTo>
                  <a:pt x="818590" y="345682"/>
                </a:lnTo>
                <a:cubicBezTo>
                  <a:pt x="823671" y="354550"/>
                  <a:pt x="823671" y="365451"/>
                  <a:pt x="818590" y="374319"/>
                </a:cubicBezTo>
                <a:lnTo>
                  <a:pt x="627366" y="705682"/>
                </a:lnTo>
                <a:cubicBezTo>
                  <a:pt x="622285" y="714550"/>
                  <a:pt x="612770" y="720000"/>
                  <a:pt x="602608" y="720000"/>
                </a:cubicBezTo>
                <a:lnTo>
                  <a:pt x="219976" y="720000"/>
                </a:lnTo>
                <a:cubicBezTo>
                  <a:pt x="209814" y="720000"/>
                  <a:pt x="200299" y="714550"/>
                  <a:pt x="195218" y="705682"/>
                </a:cubicBezTo>
                <a:lnTo>
                  <a:pt x="3810" y="374319"/>
                </a:lnTo>
                <a:cubicBezTo>
                  <a:pt x="-1271" y="365543"/>
                  <a:pt x="-1271" y="354550"/>
                  <a:pt x="3810" y="345682"/>
                </a:cubicBezTo>
                <a:lnTo>
                  <a:pt x="195126" y="14319"/>
                </a:lnTo>
                <a:cubicBezTo>
                  <a:pt x="200207" y="5450"/>
                  <a:pt x="209721" y="0"/>
                  <a:pt x="219883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cxnSp>
        <p:nvCxnSpPr>
          <p:cNvPr id="10" name="标题 1"/>
          <p:cNvCxnSpPr/>
          <p:nvPr/>
        </p:nvCxnSpPr>
        <p:spPr>
          <a:xfrm rot="0" flipH="0" flipV="0">
            <a:off x="7551153" y="2177718"/>
            <a:ext cx="3967747" cy="0"/>
          </a:xfrm>
          <a:prstGeom prst="line">
            <a:avLst/>
          </a:prstGeom>
          <a:noFill/>
          <a:ln w="12700" cap="sq">
            <a:solidFill>
              <a:schemeClr val="accent1"/>
            </a:solidFill>
            <a:miter/>
          </a:ln>
        </p:spPr>
      </p:cxnSp>
      <p:sp>
        <p:nvSpPr>
          <p:cNvPr id="11" name="标题 1"/>
          <p:cNvSpPr txBox="1"/>
          <p:nvPr/>
        </p:nvSpPr>
        <p:spPr>
          <a:xfrm rot="0" flipH="0" flipV="0">
            <a:off x="6323932" y="1584160"/>
            <a:ext cx="1363579" cy="136357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7804430" y="2304943"/>
            <a:ext cx="3714469" cy="1124057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12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已与多家医疗机构、养老服务企业、社区达成初步合作意向，为项目运营提供医疗支持、资源共享、客户引流等合作机会。
合作伙伴的加入将增强项目综合实力，提升项目竞争力和市场影响力。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7804431" y="1351554"/>
            <a:ext cx="2963437" cy="762552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B0F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合作意向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10884790" y="1866044"/>
            <a:ext cx="634110" cy="311674"/>
          </a:xfrm>
          <a:custGeom>
            <a:avLst/>
            <a:gdLst>
              <a:gd name="connsiteX0" fmla="*/ 414968 w 829937"/>
              <a:gd name="connsiteY0" fmla="*/ 0 h 407926"/>
              <a:gd name="connsiteX1" fmla="*/ 822280 w 829937"/>
              <a:gd name="connsiteY1" fmla="*/ 331968 h 407926"/>
              <a:gd name="connsiteX2" fmla="*/ 829937 w 829937"/>
              <a:gd name="connsiteY2" fmla="*/ 407926 h 407926"/>
              <a:gd name="connsiteX3" fmla="*/ 0 w 829937"/>
              <a:gd name="connsiteY3" fmla="*/ 407926 h 407926"/>
              <a:gd name="connsiteX4" fmla="*/ 7657 w 829937"/>
              <a:gd name="connsiteY4" fmla="*/ 331968 h 407926"/>
              <a:gd name="connsiteX5" fmla="*/ 414968 w 829937"/>
              <a:gd name="connsiteY5" fmla="*/ 0 h 407926"/>
            </a:gdLst>
            <a:rect l="l" t="t" r="r" b="b"/>
            <a:pathLst>
              <a:path w="829937" h="407926">
                <a:moveTo>
                  <a:pt x="414968" y="0"/>
                </a:moveTo>
                <a:cubicBezTo>
                  <a:pt x="615883" y="0"/>
                  <a:pt x="783512" y="142514"/>
                  <a:pt x="822280" y="331968"/>
                </a:cubicBezTo>
                <a:lnTo>
                  <a:pt x="829937" y="407926"/>
                </a:lnTo>
                <a:lnTo>
                  <a:pt x="0" y="407926"/>
                </a:lnTo>
                <a:lnTo>
                  <a:pt x="7657" y="331968"/>
                </a:lnTo>
                <a:cubicBezTo>
                  <a:pt x="46425" y="142514"/>
                  <a:pt x="214053" y="0"/>
                  <a:pt x="414968" y="0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6416482" y="1676710"/>
            <a:ext cx="1178478" cy="1178478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0" flipV="0">
            <a:off x="6804499" y="2083518"/>
            <a:ext cx="402445" cy="364863"/>
          </a:xfrm>
          <a:custGeom>
            <a:avLst/>
            <a:gdLst>
              <a:gd name="connsiteX0" fmla="*/ 351048 w 1543905"/>
              <a:gd name="connsiteY0" fmla="*/ 523317 h 1399728"/>
              <a:gd name="connsiteX1" fmla="*/ 351048 w 1543905"/>
              <a:gd name="connsiteY1" fmla="*/ 523317 h 1399728"/>
              <a:gd name="connsiteX2" fmla="*/ 351420 w 1543905"/>
              <a:gd name="connsiteY2" fmla="*/ 523503 h 1399728"/>
              <a:gd name="connsiteX3" fmla="*/ 351420 w 1543905"/>
              <a:gd name="connsiteY3" fmla="*/ 1020031 h 1399728"/>
              <a:gd name="connsiteX4" fmla="*/ 351048 w 1543905"/>
              <a:gd name="connsiteY4" fmla="*/ 1020403 h 1399728"/>
              <a:gd name="connsiteX5" fmla="*/ 163525 w 1543905"/>
              <a:gd name="connsiteY5" fmla="*/ 1020403 h 1399728"/>
              <a:gd name="connsiteX6" fmla="*/ 163153 w 1543905"/>
              <a:gd name="connsiteY6" fmla="*/ 1020031 h 1399728"/>
              <a:gd name="connsiteX7" fmla="*/ 163153 w 1543905"/>
              <a:gd name="connsiteY7" fmla="*/ 523503 h 1399728"/>
              <a:gd name="connsiteX8" fmla="*/ 163153 w 1543905"/>
              <a:gd name="connsiteY8" fmla="*/ 523317 h 1399728"/>
              <a:gd name="connsiteX9" fmla="*/ 163339 w 1543905"/>
              <a:gd name="connsiteY9" fmla="*/ 523131 h 1399728"/>
              <a:gd name="connsiteX10" fmla="*/ 351048 w 1543905"/>
              <a:gd name="connsiteY10" fmla="*/ 523131 h 1399728"/>
              <a:gd name="connsiteX11" fmla="*/ 351048 w 1543905"/>
              <a:gd name="connsiteY11" fmla="*/ 411696 h 1399728"/>
              <a:gd name="connsiteX12" fmla="*/ 163339 w 1543905"/>
              <a:gd name="connsiteY12" fmla="*/ 411696 h 1399728"/>
              <a:gd name="connsiteX13" fmla="*/ 51346 w 1543905"/>
              <a:gd name="connsiteY13" fmla="*/ 523689 h 1399728"/>
              <a:gd name="connsiteX14" fmla="*/ 51346 w 1543905"/>
              <a:gd name="connsiteY14" fmla="*/ 1020217 h 1399728"/>
              <a:gd name="connsiteX15" fmla="*/ 163339 w 1543905"/>
              <a:gd name="connsiteY15" fmla="*/ 1132210 h 1399728"/>
              <a:gd name="connsiteX16" fmla="*/ 351048 w 1543905"/>
              <a:gd name="connsiteY16" fmla="*/ 1132210 h 1399728"/>
              <a:gd name="connsiteX17" fmla="*/ 463042 w 1543905"/>
              <a:gd name="connsiteY17" fmla="*/ 1020217 h 1399728"/>
              <a:gd name="connsiteX18" fmla="*/ 463042 w 1543905"/>
              <a:gd name="connsiteY18" fmla="*/ 523503 h 1399728"/>
              <a:gd name="connsiteX19" fmla="*/ 351048 w 1543905"/>
              <a:gd name="connsiteY19" fmla="*/ 411696 h 1399728"/>
              <a:gd name="connsiteX20" fmla="*/ 865808 w 1543905"/>
              <a:gd name="connsiteY20" fmla="*/ 111621 h 1399728"/>
              <a:gd name="connsiteX21" fmla="*/ 866180 w 1543905"/>
              <a:gd name="connsiteY21" fmla="*/ 111807 h 1399728"/>
              <a:gd name="connsiteX22" fmla="*/ 866180 w 1543905"/>
              <a:gd name="connsiteY22" fmla="*/ 1020031 h 1399728"/>
              <a:gd name="connsiteX23" fmla="*/ 865808 w 1543905"/>
              <a:gd name="connsiteY23" fmla="*/ 1020403 h 1399728"/>
              <a:gd name="connsiteX24" fmla="*/ 678284 w 1543905"/>
              <a:gd name="connsiteY24" fmla="*/ 1020403 h 1399728"/>
              <a:gd name="connsiteX25" fmla="*/ 677912 w 1543905"/>
              <a:gd name="connsiteY25" fmla="*/ 1020031 h 1399728"/>
              <a:gd name="connsiteX26" fmla="*/ 677912 w 1543905"/>
              <a:gd name="connsiteY26" fmla="*/ 111993 h 1399728"/>
              <a:gd name="connsiteX27" fmla="*/ 677912 w 1543905"/>
              <a:gd name="connsiteY27" fmla="*/ 111807 h 1399728"/>
              <a:gd name="connsiteX28" fmla="*/ 678098 w 1543905"/>
              <a:gd name="connsiteY28" fmla="*/ 111621 h 1399728"/>
              <a:gd name="connsiteX29" fmla="*/ 865808 w 1543905"/>
              <a:gd name="connsiteY29" fmla="*/ 111621 h 1399728"/>
              <a:gd name="connsiteX30" fmla="*/ 865808 w 1543905"/>
              <a:gd name="connsiteY30" fmla="*/ 0 h 1399728"/>
              <a:gd name="connsiteX31" fmla="*/ 677912 w 1543905"/>
              <a:gd name="connsiteY31" fmla="*/ 0 h 1399728"/>
              <a:gd name="connsiteX32" fmla="*/ 565919 w 1543905"/>
              <a:gd name="connsiteY32" fmla="*/ 111993 h 1399728"/>
              <a:gd name="connsiteX33" fmla="*/ 565919 w 1543905"/>
              <a:gd name="connsiteY33" fmla="*/ 1020217 h 1399728"/>
              <a:gd name="connsiteX34" fmla="*/ 677912 w 1543905"/>
              <a:gd name="connsiteY34" fmla="*/ 1132210 h 1399728"/>
              <a:gd name="connsiteX35" fmla="*/ 865622 w 1543905"/>
              <a:gd name="connsiteY35" fmla="*/ 1132210 h 1399728"/>
              <a:gd name="connsiteX36" fmla="*/ 977615 w 1543905"/>
              <a:gd name="connsiteY36" fmla="*/ 1020217 h 1399728"/>
              <a:gd name="connsiteX37" fmla="*/ 977615 w 1543905"/>
              <a:gd name="connsiteY37" fmla="*/ 111993 h 1399728"/>
              <a:gd name="connsiteX38" fmla="*/ 865808 w 1543905"/>
              <a:gd name="connsiteY38" fmla="*/ 0 h 1399728"/>
              <a:gd name="connsiteX39" fmla="*/ 1380381 w 1543905"/>
              <a:gd name="connsiteY39" fmla="*/ 729072 h 1399728"/>
              <a:gd name="connsiteX40" fmla="*/ 1380753 w 1543905"/>
              <a:gd name="connsiteY40" fmla="*/ 729258 h 1399728"/>
              <a:gd name="connsiteX41" fmla="*/ 1380753 w 1543905"/>
              <a:gd name="connsiteY41" fmla="*/ 1020031 h 1399728"/>
              <a:gd name="connsiteX42" fmla="*/ 1380381 w 1543905"/>
              <a:gd name="connsiteY42" fmla="*/ 1020403 h 1399728"/>
              <a:gd name="connsiteX43" fmla="*/ 1192858 w 1543905"/>
              <a:gd name="connsiteY43" fmla="*/ 1020403 h 1399728"/>
              <a:gd name="connsiteX44" fmla="*/ 1192485 w 1543905"/>
              <a:gd name="connsiteY44" fmla="*/ 1020031 h 1399728"/>
              <a:gd name="connsiteX45" fmla="*/ 1192485 w 1543905"/>
              <a:gd name="connsiteY45" fmla="*/ 729444 h 1399728"/>
              <a:gd name="connsiteX46" fmla="*/ 1192485 w 1543905"/>
              <a:gd name="connsiteY46" fmla="*/ 729258 h 1399728"/>
              <a:gd name="connsiteX47" fmla="*/ 1192671 w 1543905"/>
              <a:gd name="connsiteY47" fmla="*/ 729072 h 1399728"/>
              <a:gd name="connsiteX48" fmla="*/ 1380381 w 1543905"/>
              <a:gd name="connsiteY48" fmla="*/ 729072 h 1399728"/>
              <a:gd name="connsiteX49" fmla="*/ 1380381 w 1543905"/>
              <a:gd name="connsiteY49" fmla="*/ 617451 h 1399728"/>
              <a:gd name="connsiteX50" fmla="*/ 1192671 w 1543905"/>
              <a:gd name="connsiteY50" fmla="*/ 617451 h 1399728"/>
              <a:gd name="connsiteX51" fmla="*/ 1080678 w 1543905"/>
              <a:gd name="connsiteY51" fmla="*/ 729444 h 1399728"/>
              <a:gd name="connsiteX52" fmla="*/ 1080678 w 1543905"/>
              <a:gd name="connsiteY52" fmla="*/ 1020031 h 1399728"/>
              <a:gd name="connsiteX53" fmla="*/ 1192671 w 1543905"/>
              <a:gd name="connsiteY53" fmla="*/ 1132024 h 1399728"/>
              <a:gd name="connsiteX54" fmla="*/ 1380381 w 1543905"/>
              <a:gd name="connsiteY54" fmla="*/ 1132024 h 1399728"/>
              <a:gd name="connsiteX55" fmla="*/ 1492374 w 1543905"/>
              <a:gd name="connsiteY55" fmla="*/ 1020031 h 1399728"/>
              <a:gd name="connsiteX56" fmla="*/ 1492374 w 1543905"/>
              <a:gd name="connsiteY56" fmla="*/ 729444 h 1399728"/>
              <a:gd name="connsiteX57" fmla="*/ 1380381 w 1543905"/>
              <a:gd name="connsiteY57" fmla="*/ 617451 h 1399728"/>
              <a:gd name="connsiteX58" fmla="*/ 1481956 w 1543905"/>
              <a:gd name="connsiteY58" fmla="*/ 1276201 h 1399728"/>
              <a:gd name="connsiteX59" fmla="*/ 61764 w 1543905"/>
              <a:gd name="connsiteY59" fmla="*/ 1276201 h 1399728"/>
              <a:gd name="connsiteX60" fmla="*/ 0 w 1543905"/>
              <a:gd name="connsiteY60" fmla="*/ 1337965 h 1399728"/>
              <a:gd name="connsiteX61" fmla="*/ 61764 w 1543905"/>
              <a:gd name="connsiteY61" fmla="*/ 1399729 h 1399728"/>
              <a:gd name="connsiteX62" fmla="*/ 1482142 w 1543905"/>
              <a:gd name="connsiteY62" fmla="*/ 1399729 h 1399728"/>
              <a:gd name="connsiteX63" fmla="*/ 1543906 w 1543905"/>
              <a:gd name="connsiteY63" fmla="*/ 1337965 h 1399728"/>
              <a:gd name="connsiteX64" fmla="*/ 1481956 w 1543905"/>
              <a:gd name="connsiteY64" fmla="*/ 1276201 h 1399728"/>
            </a:gdLst>
            <a:rect l="l" t="t" r="r" b="b"/>
            <a:pathLst>
              <a:path w="1543905" h="1399728">
                <a:moveTo>
                  <a:pt x="351048" y="523317"/>
                </a:moveTo>
                <a:cubicBezTo>
                  <a:pt x="351234" y="523317"/>
                  <a:pt x="351234" y="523317"/>
                  <a:pt x="351048" y="523317"/>
                </a:cubicBezTo>
                <a:cubicBezTo>
                  <a:pt x="351234" y="523317"/>
                  <a:pt x="351420" y="523503"/>
                  <a:pt x="351420" y="523503"/>
                </a:cubicBezTo>
                <a:lnTo>
                  <a:pt x="351420" y="1020031"/>
                </a:lnTo>
                <a:lnTo>
                  <a:pt x="351048" y="1020403"/>
                </a:lnTo>
                <a:lnTo>
                  <a:pt x="163525" y="1020403"/>
                </a:lnTo>
                <a:lnTo>
                  <a:pt x="163153" y="1020031"/>
                </a:lnTo>
                <a:lnTo>
                  <a:pt x="163153" y="523503"/>
                </a:lnTo>
                <a:lnTo>
                  <a:pt x="163153" y="523317"/>
                </a:lnTo>
                <a:lnTo>
                  <a:pt x="163339" y="523131"/>
                </a:lnTo>
                <a:lnTo>
                  <a:pt x="351048" y="523131"/>
                </a:lnTo>
                <a:moveTo>
                  <a:pt x="351048" y="411696"/>
                </a:moveTo>
                <a:lnTo>
                  <a:pt x="163339" y="411696"/>
                </a:lnTo>
                <a:cubicBezTo>
                  <a:pt x="101575" y="411696"/>
                  <a:pt x="51346" y="461739"/>
                  <a:pt x="51346" y="523689"/>
                </a:cubicBezTo>
                <a:lnTo>
                  <a:pt x="51346" y="1020217"/>
                </a:lnTo>
                <a:cubicBezTo>
                  <a:pt x="51346" y="1081795"/>
                  <a:pt x="101761" y="1132210"/>
                  <a:pt x="163339" y="1132210"/>
                </a:cubicBezTo>
                <a:lnTo>
                  <a:pt x="351048" y="1132210"/>
                </a:lnTo>
                <a:cubicBezTo>
                  <a:pt x="412626" y="1132210"/>
                  <a:pt x="463042" y="1081795"/>
                  <a:pt x="463042" y="1020217"/>
                </a:cubicBezTo>
                <a:lnTo>
                  <a:pt x="463042" y="523503"/>
                </a:lnTo>
                <a:cubicBezTo>
                  <a:pt x="463042" y="461739"/>
                  <a:pt x="412998" y="411696"/>
                  <a:pt x="351048" y="411696"/>
                </a:cubicBezTo>
                <a:close/>
                <a:moveTo>
                  <a:pt x="865808" y="111621"/>
                </a:moveTo>
                <a:cubicBezTo>
                  <a:pt x="865994" y="111621"/>
                  <a:pt x="866180" y="111807"/>
                  <a:pt x="866180" y="111807"/>
                </a:cubicBezTo>
                <a:lnTo>
                  <a:pt x="866180" y="1020031"/>
                </a:lnTo>
                <a:lnTo>
                  <a:pt x="865808" y="1020403"/>
                </a:lnTo>
                <a:lnTo>
                  <a:pt x="678284" y="1020403"/>
                </a:lnTo>
                <a:lnTo>
                  <a:pt x="677912" y="1020031"/>
                </a:lnTo>
                <a:lnTo>
                  <a:pt x="677912" y="111993"/>
                </a:lnTo>
                <a:lnTo>
                  <a:pt x="677912" y="111807"/>
                </a:lnTo>
                <a:lnTo>
                  <a:pt x="678098" y="111621"/>
                </a:lnTo>
                <a:lnTo>
                  <a:pt x="865808" y="111621"/>
                </a:lnTo>
                <a:moveTo>
                  <a:pt x="865808" y="0"/>
                </a:moveTo>
                <a:lnTo>
                  <a:pt x="677912" y="0"/>
                </a:lnTo>
                <a:cubicBezTo>
                  <a:pt x="616148" y="0"/>
                  <a:pt x="565919" y="50043"/>
                  <a:pt x="565919" y="111993"/>
                </a:cubicBezTo>
                <a:lnTo>
                  <a:pt x="565919" y="1020217"/>
                </a:lnTo>
                <a:cubicBezTo>
                  <a:pt x="565919" y="1081795"/>
                  <a:pt x="616335" y="1132210"/>
                  <a:pt x="677912" y="1132210"/>
                </a:cubicBezTo>
                <a:lnTo>
                  <a:pt x="865622" y="1132210"/>
                </a:lnTo>
                <a:cubicBezTo>
                  <a:pt x="927199" y="1132210"/>
                  <a:pt x="977615" y="1081795"/>
                  <a:pt x="977615" y="1020217"/>
                </a:cubicBezTo>
                <a:lnTo>
                  <a:pt x="977615" y="111993"/>
                </a:lnTo>
                <a:cubicBezTo>
                  <a:pt x="977615" y="50043"/>
                  <a:pt x="927571" y="0"/>
                  <a:pt x="865808" y="0"/>
                </a:cubicBezTo>
                <a:close/>
                <a:moveTo>
                  <a:pt x="1380381" y="729072"/>
                </a:moveTo>
                <a:cubicBezTo>
                  <a:pt x="1380567" y="729072"/>
                  <a:pt x="1380753" y="729258"/>
                  <a:pt x="1380753" y="729258"/>
                </a:cubicBezTo>
                <a:lnTo>
                  <a:pt x="1380753" y="1020031"/>
                </a:lnTo>
                <a:lnTo>
                  <a:pt x="1380381" y="1020403"/>
                </a:lnTo>
                <a:lnTo>
                  <a:pt x="1192858" y="1020403"/>
                </a:lnTo>
                <a:lnTo>
                  <a:pt x="1192485" y="1020031"/>
                </a:lnTo>
                <a:lnTo>
                  <a:pt x="1192485" y="729444"/>
                </a:lnTo>
                <a:lnTo>
                  <a:pt x="1192485" y="729258"/>
                </a:lnTo>
                <a:lnTo>
                  <a:pt x="1192671" y="729072"/>
                </a:lnTo>
                <a:lnTo>
                  <a:pt x="1380381" y="729072"/>
                </a:lnTo>
                <a:moveTo>
                  <a:pt x="1380381" y="617451"/>
                </a:moveTo>
                <a:lnTo>
                  <a:pt x="1192671" y="617451"/>
                </a:lnTo>
                <a:cubicBezTo>
                  <a:pt x="1130908" y="617451"/>
                  <a:pt x="1080678" y="667494"/>
                  <a:pt x="1080678" y="729444"/>
                </a:cubicBezTo>
                <a:lnTo>
                  <a:pt x="1080678" y="1020031"/>
                </a:lnTo>
                <a:cubicBezTo>
                  <a:pt x="1080678" y="1081608"/>
                  <a:pt x="1131094" y="1132024"/>
                  <a:pt x="1192671" y="1132024"/>
                </a:cubicBezTo>
                <a:lnTo>
                  <a:pt x="1380381" y="1132024"/>
                </a:lnTo>
                <a:cubicBezTo>
                  <a:pt x="1441959" y="1132024"/>
                  <a:pt x="1492374" y="1081608"/>
                  <a:pt x="1492374" y="1020031"/>
                </a:cubicBezTo>
                <a:lnTo>
                  <a:pt x="1492374" y="729444"/>
                </a:lnTo>
                <a:cubicBezTo>
                  <a:pt x="1492374" y="667680"/>
                  <a:pt x="1442145" y="617451"/>
                  <a:pt x="1380381" y="617451"/>
                </a:cubicBezTo>
                <a:close/>
                <a:moveTo>
                  <a:pt x="1481956" y="1276201"/>
                </a:moveTo>
                <a:lnTo>
                  <a:pt x="61764" y="1276201"/>
                </a:lnTo>
                <a:cubicBezTo>
                  <a:pt x="27719" y="1276201"/>
                  <a:pt x="0" y="1303920"/>
                  <a:pt x="0" y="1337965"/>
                </a:cubicBezTo>
                <a:cubicBezTo>
                  <a:pt x="0" y="1372009"/>
                  <a:pt x="27719" y="1399729"/>
                  <a:pt x="61764" y="1399729"/>
                </a:cubicBezTo>
                <a:lnTo>
                  <a:pt x="1482142" y="1399729"/>
                </a:lnTo>
                <a:cubicBezTo>
                  <a:pt x="1516187" y="1399729"/>
                  <a:pt x="1543906" y="1372009"/>
                  <a:pt x="1543906" y="1337965"/>
                </a:cubicBezTo>
                <a:cubicBezTo>
                  <a:pt x="1543720" y="1303734"/>
                  <a:pt x="1516187" y="1276201"/>
                  <a:pt x="1481956" y="127620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cxnSp>
        <p:nvCxnSpPr>
          <p:cNvPr id="17" name="标题 1"/>
          <p:cNvCxnSpPr/>
          <p:nvPr/>
        </p:nvCxnSpPr>
        <p:spPr>
          <a:xfrm rot="0" flipH="0" flipV="0">
            <a:off x="4719387" y="4382388"/>
            <a:ext cx="3967747" cy="0"/>
          </a:xfrm>
          <a:prstGeom prst="line">
            <a:avLst/>
          </a:prstGeom>
          <a:noFill/>
          <a:ln w="12700" cap="sq">
            <a:solidFill>
              <a:schemeClr val="accent2"/>
            </a:solidFill>
            <a:miter/>
          </a:ln>
        </p:spPr>
      </p:cxnSp>
      <p:sp>
        <p:nvSpPr>
          <p:cNvPr id="18" name="标题 1"/>
          <p:cNvSpPr txBox="1"/>
          <p:nvPr/>
        </p:nvSpPr>
        <p:spPr>
          <a:xfrm rot="0" flipH="0" flipV="0">
            <a:off x="3492166" y="3788830"/>
            <a:ext cx="1363579" cy="1363579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0" flipV="0">
            <a:off x="4972664" y="4509613"/>
            <a:ext cx="3714469" cy="1124057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12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项目前期筹备工作顺利推进，已完成选址、设计规划、部分设备采购等工作，为项目按时开业奠定坚实基础。
项目团队稳定，各项工作按计划有序开展，确保项目按时间节点推进。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0" flipH="0" flipV="0">
            <a:off x="4972665" y="3556224"/>
            <a:ext cx="2963437" cy="762552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3949EE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项目进展</a:t>
            </a: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rot="0" flipH="0" flipV="0">
            <a:off x="8053024" y="4070714"/>
            <a:ext cx="634110" cy="311674"/>
          </a:xfrm>
          <a:custGeom>
            <a:avLst/>
            <a:gdLst>
              <a:gd name="connsiteX0" fmla="*/ 414968 w 829937"/>
              <a:gd name="connsiteY0" fmla="*/ 0 h 407926"/>
              <a:gd name="connsiteX1" fmla="*/ 822280 w 829937"/>
              <a:gd name="connsiteY1" fmla="*/ 331968 h 407926"/>
              <a:gd name="connsiteX2" fmla="*/ 829937 w 829937"/>
              <a:gd name="connsiteY2" fmla="*/ 407926 h 407926"/>
              <a:gd name="connsiteX3" fmla="*/ 0 w 829937"/>
              <a:gd name="connsiteY3" fmla="*/ 407926 h 407926"/>
              <a:gd name="connsiteX4" fmla="*/ 7657 w 829937"/>
              <a:gd name="connsiteY4" fmla="*/ 331968 h 407926"/>
              <a:gd name="connsiteX5" fmla="*/ 414968 w 829937"/>
              <a:gd name="connsiteY5" fmla="*/ 0 h 407926"/>
            </a:gdLst>
            <a:rect l="l" t="t" r="r" b="b"/>
            <a:pathLst>
              <a:path w="829937" h="407926">
                <a:moveTo>
                  <a:pt x="414968" y="0"/>
                </a:moveTo>
                <a:cubicBezTo>
                  <a:pt x="615883" y="0"/>
                  <a:pt x="783512" y="142514"/>
                  <a:pt x="822280" y="331968"/>
                </a:cubicBezTo>
                <a:lnTo>
                  <a:pt x="829937" y="407926"/>
                </a:lnTo>
                <a:lnTo>
                  <a:pt x="0" y="407926"/>
                </a:lnTo>
                <a:lnTo>
                  <a:pt x="7657" y="331968"/>
                </a:lnTo>
                <a:cubicBezTo>
                  <a:pt x="46425" y="142514"/>
                  <a:pt x="214053" y="0"/>
                  <a:pt x="414968" y="0"/>
                </a:cubicBezTo>
                <a:close/>
              </a:path>
            </a:pathLst>
          </a:cu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rot="0" flipH="0" flipV="0">
            <a:off x="3584716" y="3881380"/>
            <a:ext cx="1178478" cy="1178478"/>
          </a:xfrm>
          <a:prstGeom prst="ellipse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 rot="0" flipH="0" flipV="0">
            <a:off x="3972733" y="4284475"/>
            <a:ext cx="402445" cy="372290"/>
          </a:xfrm>
          <a:custGeom>
            <a:avLst/>
            <a:gdLst>
              <a:gd name="connsiteX0" fmla="*/ 56258 w 778320"/>
              <a:gd name="connsiteY0" fmla="*/ 333700 h 720001"/>
              <a:gd name="connsiteX1" fmla="*/ 56258 w 778320"/>
              <a:gd name="connsiteY1" fmla="*/ 627457 h 720001"/>
              <a:gd name="connsiteX2" fmla="*/ 66946 w 778320"/>
              <a:gd name="connsiteY2" fmla="*/ 653054 h 720001"/>
              <a:gd name="connsiteX3" fmla="*/ 92544 w 778320"/>
              <a:gd name="connsiteY3" fmla="*/ 663743 h 720001"/>
              <a:gd name="connsiteX4" fmla="*/ 685683 w 778320"/>
              <a:gd name="connsiteY4" fmla="*/ 663743 h 720001"/>
              <a:gd name="connsiteX5" fmla="*/ 711281 w 778320"/>
              <a:gd name="connsiteY5" fmla="*/ 653054 h 720001"/>
              <a:gd name="connsiteX6" fmla="*/ 721969 w 778320"/>
              <a:gd name="connsiteY6" fmla="*/ 627457 h 720001"/>
              <a:gd name="connsiteX7" fmla="*/ 721969 w 778320"/>
              <a:gd name="connsiteY7" fmla="*/ 333700 h 720001"/>
              <a:gd name="connsiteX8" fmla="*/ 92544 w 778320"/>
              <a:gd name="connsiteY8" fmla="*/ 142049 h 720001"/>
              <a:gd name="connsiteX9" fmla="*/ 56258 w 778320"/>
              <a:gd name="connsiteY9" fmla="*/ 178336 h 720001"/>
              <a:gd name="connsiteX10" fmla="*/ 56258 w 778320"/>
              <a:gd name="connsiteY10" fmla="*/ 277443 h 720001"/>
              <a:gd name="connsiteX11" fmla="*/ 721969 w 778320"/>
              <a:gd name="connsiteY11" fmla="*/ 277443 h 720001"/>
              <a:gd name="connsiteX12" fmla="*/ 721969 w 778320"/>
              <a:gd name="connsiteY12" fmla="*/ 178336 h 720001"/>
              <a:gd name="connsiteX13" fmla="*/ 685683 w 778320"/>
              <a:gd name="connsiteY13" fmla="*/ 142049 h 720001"/>
              <a:gd name="connsiteX14" fmla="*/ 561355 w 778320"/>
              <a:gd name="connsiteY14" fmla="*/ 142049 h 720001"/>
              <a:gd name="connsiteX15" fmla="*/ 561355 w 778320"/>
              <a:gd name="connsiteY15" fmla="*/ 201026 h 720001"/>
              <a:gd name="connsiteX16" fmla="*/ 533226 w 778320"/>
              <a:gd name="connsiteY16" fmla="*/ 229249 h 720001"/>
              <a:gd name="connsiteX17" fmla="*/ 505097 w 778320"/>
              <a:gd name="connsiteY17" fmla="*/ 201120 h 720001"/>
              <a:gd name="connsiteX18" fmla="*/ 505097 w 778320"/>
              <a:gd name="connsiteY18" fmla="*/ 142049 h 720001"/>
              <a:gd name="connsiteX19" fmla="*/ 273129 w 778320"/>
              <a:gd name="connsiteY19" fmla="*/ 142049 h 720001"/>
              <a:gd name="connsiteX20" fmla="*/ 273129 w 778320"/>
              <a:gd name="connsiteY20" fmla="*/ 201026 h 720001"/>
              <a:gd name="connsiteX21" fmla="*/ 245001 w 778320"/>
              <a:gd name="connsiteY21" fmla="*/ 229249 h 720001"/>
              <a:gd name="connsiteX22" fmla="*/ 216872 w 778320"/>
              <a:gd name="connsiteY22" fmla="*/ 201120 h 720001"/>
              <a:gd name="connsiteX23" fmla="*/ 216872 w 778320"/>
              <a:gd name="connsiteY23" fmla="*/ 142049 h 720001"/>
              <a:gd name="connsiteX24" fmla="*/ 245001 w 778320"/>
              <a:gd name="connsiteY24" fmla="*/ 0 h 720001"/>
              <a:gd name="connsiteX25" fmla="*/ 273129 w 778320"/>
              <a:gd name="connsiteY25" fmla="*/ 28129 h 720001"/>
              <a:gd name="connsiteX26" fmla="*/ 273129 w 778320"/>
              <a:gd name="connsiteY26" fmla="*/ 85792 h 720001"/>
              <a:gd name="connsiteX27" fmla="*/ 505097 w 778320"/>
              <a:gd name="connsiteY27" fmla="*/ 85792 h 720001"/>
              <a:gd name="connsiteX28" fmla="*/ 505097 w 778320"/>
              <a:gd name="connsiteY28" fmla="*/ 28129 h 720001"/>
              <a:gd name="connsiteX29" fmla="*/ 533226 w 778320"/>
              <a:gd name="connsiteY29" fmla="*/ 0 h 720001"/>
              <a:gd name="connsiteX30" fmla="*/ 561355 w 778320"/>
              <a:gd name="connsiteY30" fmla="*/ 28129 h 720001"/>
              <a:gd name="connsiteX31" fmla="*/ 561355 w 778320"/>
              <a:gd name="connsiteY31" fmla="*/ 85792 h 720001"/>
              <a:gd name="connsiteX32" fmla="*/ 685683 w 778320"/>
              <a:gd name="connsiteY32" fmla="*/ 85792 h 720001"/>
              <a:gd name="connsiteX33" fmla="*/ 778320 w 778320"/>
              <a:gd name="connsiteY33" fmla="*/ 178336 h 720001"/>
              <a:gd name="connsiteX34" fmla="*/ 778320 w 778320"/>
              <a:gd name="connsiteY34" fmla="*/ 627457 h 720001"/>
              <a:gd name="connsiteX35" fmla="*/ 685777 w 778320"/>
              <a:gd name="connsiteY35" fmla="*/ 720001 h 720001"/>
              <a:gd name="connsiteX36" fmla="*/ 92544 w 778320"/>
              <a:gd name="connsiteY36" fmla="*/ 720001 h 720001"/>
              <a:gd name="connsiteX37" fmla="*/ 0 w 778320"/>
              <a:gd name="connsiteY37" fmla="*/ 627457 h 720001"/>
              <a:gd name="connsiteX38" fmla="*/ 0 w 778320"/>
              <a:gd name="connsiteY38" fmla="*/ 333700 h 720001"/>
              <a:gd name="connsiteX39" fmla="*/ 0 w 778320"/>
              <a:gd name="connsiteY39" fmla="*/ 277443 h 720001"/>
              <a:gd name="connsiteX40" fmla="*/ 0 w 778320"/>
              <a:gd name="connsiteY40" fmla="*/ 178336 h 720001"/>
              <a:gd name="connsiteX41" fmla="*/ 92544 w 778320"/>
              <a:gd name="connsiteY41" fmla="*/ 85792 h 720001"/>
              <a:gd name="connsiteX42" fmla="*/ 216872 w 778320"/>
              <a:gd name="connsiteY42" fmla="*/ 85792 h 720001"/>
              <a:gd name="connsiteX43" fmla="*/ 216872 w 778320"/>
              <a:gd name="connsiteY43" fmla="*/ 28129 h 720001"/>
              <a:gd name="connsiteX44" fmla="*/ 245001 w 778320"/>
              <a:gd name="connsiteY44" fmla="*/ 0 h 720001"/>
            </a:gdLst>
            <a:rect l="l" t="t" r="r" b="b"/>
            <a:pathLst>
              <a:path w="778320" h="720001">
                <a:moveTo>
                  <a:pt x="56258" y="333700"/>
                </a:moveTo>
                <a:lnTo>
                  <a:pt x="56258" y="627457"/>
                </a:lnTo>
                <a:cubicBezTo>
                  <a:pt x="56258" y="637115"/>
                  <a:pt x="60008" y="646116"/>
                  <a:pt x="66946" y="653054"/>
                </a:cubicBezTo>
                <a:cubicBezTo>
                  <a:pt x="73885" y="659899"/>
                  <a:pt x="82980" y="663743"/>
                  <a:pt x="92544" y="663743"/>
                </a:cubicBezTo>
                <a:lnTo>
                  <a:pt x="685683" y="663743"/>
                </a:lnTo>
                <a:cubicBezTo>
                  <a:pt x="695341" y="663743"/>
                  <a:pt x="704342" y="659993"/>
                  <a:pt x="711281" y="653054"/>
                </a:cubicBezTo>
                <a:cubicBezTo>
                  <a:pt x="718125" y="646116"/>
                  <a:pt x="721969" y="637021"/>
                  <a:pt x="721969" y="627457"/>
                </a:cubicBezTo>
                <a:lnTo>
                  <a:pt x="721969" y="333700"/>
                </a:lnTo>
                <a:close/>
                <a:moveTo>
                  <a:pt x="92544" y="142049"/>
                </a:moveTo>
                <a:cubicBezTo>
                  <a:pt x="72478" y="142049"/>
                  <a:pt x="56258" y="158364"/>
                  <a:pt x="56258" y="178336"/>
                </a:cubicBezTo>
                <a:lnTo>
                  <a:pt x="56258" y="277443"/>
                </a:lnTo>
                <a:lnTo>
                  <a:pt x="721969" y="277443"/>
                </a:lnTo>
                <a:lnTo>
                  <a:pt x="721969" y="178336"/>
                </a:lnTo>
                <a:cubicBezTo>
                  <a:pt x="721969" y="158270"/>
                  <a:pt x="705655" y="142049"/>
                  <a:pt x="685683" y="142049"/>
                </a:cubicBezTo>
                <a:lnTo>
                  <a:pt x="561355" y="142049"/>
                </a:lnTo>
                <a:lnTo>
                  <a:pt x="561355" y="201026"/>
                </a:lnTo>
                <a:cubicBezTo>
                  <a:pt x="561355" y="216591"/>
                  <a:pt x="548790" y="229249"/>
                  <a:pt x="533226" y="229249"/>
                </a:cubicBezTo>
                <a:cubicBezTo>
                  <a:pt x="517661" y="229249"/>
                  <a:pt x="505097" y="216685"/>
                  <a:pt x="505097" y="201120"/>
                </a:cubicBezTo>
                <a:lnTo>
                  <a:pt x="505097" y="142049"/>
                </a:lnTo>
                <a:lnTo>
                  <a:pt x="273129" y="142049"/>
                </a:lnTo>
                <a:lnTo>
                  <a:pt x="273129" y="201026"/>
                </a:lnTo>
                <a:cubicBezTo>
                  <a:pt x="273129" y="216591"/>
                  <a:pt x="260565" y="229249"/>
                  <a:pt x="245001" y="229249"/>
                </a:cubicBezTo>
                <a:cubicBezTo>
                  <a:pt x="229436" y="229249"/>
                  <a:pt x="216872" y="216685"/>
                  <a:pt x="216872" y="201120"/>
                </a:cubicBezTo>
                <a:lnTo>
                  <a:pt x="216872" y="142049"/>
                </a:lnTo>
                <a:close/>
                <a:moveTo>
                  <a:pt x="245001" y="0"/>
                </a:moveTo>
                <a:cubicBezTo>
                  <a:pt x="260565" y="0"/>
                  <a:pt x="273129" y="12564"/>
                  <a:pt x="273129" y="28129"/>
                </a:cubicBezTo>
                <a:lnTo>
                  <a:pt x="273129" y="85792"/>
                </a:lnTo>
                <a:lnTo>
                  <a:pt x="505097" y="85792"/>
                </a:lnTo>
                <a:lnTo>
                  <a:pt x="505097" y="28129"/>
                </a:lnTo>
                <a:cubicBezTo>
                  <a:pt x="505097" y="12564"/>
                  <a:pt x="517661" y="0"/>
                  <a:pt x="533226" y="0"/>
                </a:cubicBezTo>
                <a:cubicBezTo>
                  <a:pt x="548790" y="0"/>
                  <a:pt x="561355" y="12564"/>
                  <a:pt x="561355" y="28129"/>
                </a:cubicBezTo>
                <a:lnTo>
                  <a:pt x="561355" y="85792"/>
                </a:lnTo>
                <a:lnTo>
                  <a:pt x="685683" y="85792"/>
                </a:lnTo>
                <a:cubicBezTo>
                  <a:pt x="736784" y="85792"/>
                  <a:pt x="778227" y="127235"/>
                  <a:pt x="778320" y="178336"/>
                </a:cubicBezTo>
                <a:lnTo>
                  <a:pt x="778320" y="627457"/>
                </a:lnTo>
                <a:cubicBezTo>
                  <a:pt x="778320" y="678370"/>
                  <a:pt x="736690" y="720001"/>
                  <a:pt x="685777" y="720001"/>
                </a:cubicBezTo>
                <a:lnTo>
                  <a:pt x="92544" y="720001"/>
                </a:lnTo>
                <a:cubicBezTo>
                  <a:pt x="41631" y="720001"/>
                  <a:pt x="0" y="678370"/>
                  <a:pt x="0" y="627457"/>
                </a:cubicBezTo>
                <a:lnTo>
                  <a:pt x="0" y="333700"/>
                </a:lnTo>
                <a:lnTo>
                  <a:pt x="0" y="277443"/>
                </a:lnTo>
                <a:lnTo>
                  <a:pt x="0" y="178336"/>
                </a:lnTo>
                <a:cubicBezTo>
                  <a:pt x="0" y="127235"/>
                  <a:pt x="41443" y="85792"/>
                  <a:pt x="92544" y="85792"/>
                </a:cubicBezTo>
                <a:lnTo>
                  <a:pt x="216872" y="85792"/>
                </a:lnTo>
                <a:lnTo>
                  <a:pt x="216872" y="28129"/>
                </a:lnTo>
                <a:cubicBezTo>
                  <a:pt x="216872" y="12564"/>
                  <a:pt x="229436" y="0"/>
                  <a:pt x="245001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 rot="0" flipH="0" flipV="0">
            <a:off x="316690" y="373380"/>
            <a:ext cx="8171180" cy="65532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rot="0" flipH="0" flipV="0">
            <a:off x="783520" y="484345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关键成果</a:t>
            </a: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 rot="0" flipH="0" flipV="0">
            <a:off x="324256" y="626624"/>
            <a:ext cx="402076" cy="402076"/>
          </a:xfrm>
          <a:prstGeom prst="rtTriangl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2">
            <a:alphaModFix amt="100000"/>
          </a:blip>
          <a:srcRect l="2858" t="11915" r="21252" b="11915"/>
          <a:stretch>
            <a:fillRect/>
          </a:stretch>
        </p:blipFill>
        <p:spPr>
          <a:xfrm rot="0" flipH="0" flipV="0"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" name="标题 1"/>
          <p:cNvSpPr txBox="1"/>
          <p:nvPr/>
        </p:nvSpPr>
        <p:spPr>
          <a:xfrm rot="0" flipH="0" flipV="0">
            <a:off x="-1" y="0"/>
            <a:ext cx="10883569" cy="6858000"/>
          </a:xfrm>
          <a:prstGeom prst="rect">
            <a:avLst/>
          </a:prstGeom>
          <a:gradFill>
            <a:gsLst>
              <a:gs pos="12000">
                <a:schemeClr val="bg1"/>
              </a:gs>
              <a:gs pos="80000">
                <a:schemeClr val="bg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421027" y="333692"/>
            <a:ext cx="1321317" cy="164080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1693998" y="6276762"/>
            <a:ext cx="268552" cy="26855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1763397" y="6346151"/>
            <a:ext cx="129755" cy="129774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1273479" y="6276762"/>
            <a:ext cx="268552" cy="26855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1338911" y="6346151"/>
            <a:ext cx="137688" cy="129774"/>
          </a:xfrm>
          <a:custGeom>
            <a:avLst/>
            <a:gdLst>
              <a:gd name="connsiteX0" fmla="*/ 1110072 w 1498885"/>
              <a:gd name="connsiteY0" fmla="*/ 1039039 h 1412736"/>
              <a:gd name="connsiteX1" fmla="*/ 1149511 w 1498885"/>
              <a:gd name="connsiteY1" fmla="*/ 1055363 h 1412736"/>
              <a:gd name="connsiteX2" fmla="*/ 1371451 w 1498885"/>
              <a:gd name="connsiteY2" fmla="*/ 1277303 h 1412736"/>
              <a:gd name="connsiteX3" fmla="*/ 1371451 w 1498885"/>
              <a:gd name="connsiteY3" fmla="*/ 1356182 h 1412736"/>
              <a:gd name="connsiteX4" fmla="*/ 1332012 w 1498885"/>
              <a:gd name="connsiteY4" fmla="*/ 1372553 h 1412736"/>
              <a:gd name="connsiteX5" fmla="*/ 1292572 w 1498885"/>
              <a:gd name="connsiteY5" fmla="*/ 1356182 h 1412736"/>
              <a:gd name="connsiteX6" fmla="*/ 1070632 w 1498885"/>
              <a:gd name="connsiteY6" fmla="*/ 1134242 h 1412736"/>
              <a:gd name="connsiteX7" fmla="*/ 1070632 w 1498885"/>
              <a:gd name="connsiteY7" fmla="*/ 1055363 h 1412736"/>
              <a:gd name="connsiteX8" fmla="*/ 1110072 w 1498885"/>
              <a:gd name="connsiteY8" fmla="*/ 1039039 h 1412736"/>
              <a:gd name="connsiteX9" fmla="*/ 1110072 w 1498885"/>
              <a:gd name="connsiteY9" fmla="*/ 705989 h 1412736"/>
              <a:gd name="connsiteX10" fmla="*/ 1443075 w 1498885"/>
              <a:gd name="connsiteY10" fmla="*/ 705989 h 1412736"/>
              <a:gd name="connsiteX11" fmla="*/ 1498885 w 1498885"/>
              <a:gd name="connsiteY11" fmla="*/ 761800 h 1412736"/>
              <a:gd name="connsiteX12" fmla="*/ 1443075 w 1498885"/>
              <a:gd name="connsiteY12" fmla="*/ 817611 h 1412736"/>
              <a:gd name="connsiteX13" fmla="*/ 1110072 w 1498885"/>
              <a:gd name="connsiteY13" fmla="*/ 817611 h 1412736"/>
              <a:gd name="connsiteX14" fmla="*/ 1054261 w 1498885"/>
              <a:gd name="connsiteY14" fmla="*/ 761800 h 1412736"/>
              <a:gd name="connsiteX15" fmla="*/ 1110072 w 1498885"/>
              <a:gd name="connsiteY15" fmla="*/ 705989 h 1412736"/>
              <a:gd name="connsiteX16" fmla="*/ 1332012 w 1498885"/>
              <a:gd name="connsiteY16" fmla="*/ 151093 h 1412736"/>
              <a:gd name="connsiteX17" fmla="*/ 1371451 w 1498885"/>
              <a:gd name="connsiteY17" fmla="*/ 167418 h 1412736"/>
              <a:gd name="connsiteX18" fmla="*/ 1371451 w 1498885"/>
              <a:gd name="connsiteY18" fmla="*/ 246297 h 1412736"/>
              <a:gd name="connsiteX19" fmla="*/ 1149511 w 1498885"/>
              <a:gd name="connsiteY19" fmla="*/ 468236 h 1412736"/>
              <a:gd name="connsiteX20" fmla="*/ 1110072 w 1498885"/>
              <a:gd name="connsiteY20" fmla="*/ 484608 h 1412736"/>
              <a:gd name="connsiteX21" fmla="*/ 1070632 w 1498885"/>
              <a:gd name="connsiteY21" fmla="*/ 468236 h 1412736"/>
              <a:gd name="connsiteX22" fmla="*/ 1070632 w 1498885"/>
              <a:gd name="connsiteY22" fmla="*/ 389358 h 1412736"/>
              <a:gd name="connsiteX23" fmla="*/ 1292572 w 1498885"/>
              <a:gd name="connsiteY23" fmla="*/ 167418 h 1412736"/>
              <a:gd name="connsiteX24" fmla="*/ 1332012 w 1498885"/>
              <a:gd name="connsiteY24" fmla="*/ 151093 h 1412736"/>
              <a:gd name="connsiteX25" fmla="*/ 709724 w 1498885"/>
              <a:gd name="connsiteY25" fmla="*/ 111607 h 1412736"/>
              <a:gd name="connsiteX26" fmla="*/ 649635 w 1498885"/>
              <a:gd name="connsiteY26" fmla="*/ 127420 h 1412736"/>
              <a:gd name="connsiteX27" fmla="*/ 174129 w 1498885"/>
              <a:gd name="connsiteY27" fmla="*/ 394752 h 1412736"/>
              <a:gd name="connsiteX28" fmla="*/ 111621 w 1498885"/>
              <a:gd name="connsiteY28" fmla="*/ 501536 h 1412736"/>
              <a:gd name="connsiteX29" fmla="*/ 111621 w 1498885"/>
              <a:gd name="connsiteY29" fmla="*/ 910814 h 1412736"/>
              <a:gd name="connsiteX30" fmla="*/ 174129 w 1498885"/>
              <a:gd name="connsiteY30" fmla="*/ 1017598 h 1412736"/>
              <a:gd name="connsiteX31" fmla="*/ 649821 w 1498885"/>
              <a:gd name="connsiteY31" fmla="*/ 1284930 h 1412736"/>
              <a:gd name="connsiteX32" fmla="*/ 771674 w 1498885"/>
              <a:gd name="connsiteY32" fmla="*/ 1283814 h 1412736"/>
              <a:gd name="connsiteX33" fmla="*/ 832321 w 1498885"/>
              <a:gd name="connsiteY33" fmla="*/ 1178146 h 1412736"/>
              <a:gd name="connsiteX34" fmla="*/ 832321 w 1498885"/>
              <a:gd name="connsiteY34" fmla="*/ 234204 h 1412736"/>
              <a:gd name="connsiteX35" fmla="*/ 771674 w 1498885"/>
              <a:gd name="connsiteY35" fmla="*/ 128536 h 1412736"/>
              <a:gd name="connsiteX36" fmla="*/ 709724 w 1498885"/>
              <a:gd name="connsiteY36" fmla="*/ 111607 h 1412736"/>
              <a:gd name="connsiteX37" fmla="*/ 711864 w 1498885"/>
              <a:gd name="connsiteY37" fmla="*/ 9 h 1412736"/>
              <a:gd name="connsiteX38" fmla="*/ 828043 w 1498885"/>
              <a:gd name="connsiteY38" fmla="*/ 32356 h 1412736"/>
              <a:gd name="connsiteX39" fmla="*/ 943942 w 1498885"/>
              <a:gd name="connsiteY39" fmla="*/ 234390 h 1412736"/>
              <a:gd name="connsiteX40" fmla="*/ 943942 w 1498885"/>
              <a:gd name="connsiteY40" fmla="*/ 1178518 h 1412736"/>
              <a:gd name="connsiteX41" fmla="*/ 828043 w 1498885"/>
              <a:gd name="connsiteY41" fmla="*/ 1380552 h 1412736"/>
              <a:gd name="connsiteX42" fmla="*/ 709910 w 1498885"/>
              <a:gd name="connsiteY42" fmla="*/ 1412736 h 1412736"/>
              <a:gd name="connsiteX43" fmla="*/ 595126 w 1498885"/>
              <a:gd name="connsiteY43" fmla="*/ 1382413 h 1412736"/>
              <a:gd name="connsiteX44" fmla="*/ 119435 w 1498885"/>
              <a:gd name="connsiteY44" fmla="*/ 1115080 h 1412736"/>
              <a:gd name="connsiteX45" fmla="*/ 0 w 1498885"/>
              <a:gd name="connsiteY45" fmla="*/ 911000 h 1412736"/>
              <a:gd name="connsiteX46" fmla="*/ 0 w 1498885"/>
              <a:gd name="connsiteY46" fmla="*/ 501722 h 1412736"/>
              <a:gd name="connsiteX47" fmla="*/ 119435 w 1498885"/>
              <a:gd name="connsiteY47" fmla="*/ 297642 h 1412736"/>
              <a:gd name="connsiteX48" fmla="*/ 595126 w 1498885"/>
              <a:gd name="connsiteY48" fmla="*/ 30309 h 1412736"/>
              <a:gd name="connsiteX49" fmla="*/ 711864 w 1498885"/>
              <a:gd name="connsiteY49" fmla="*/ 9 h 1412736"/>
            </a:gdLst>
            <a:rect l="l" t="t" r="r" b="b"/>
            <a:pathLst>
              <a:path w="1498885" h="1412736">
                <a:moveTo>
                  <a:pt x="1110072" y="1039039"/>
                </a:moveTo>
                <a:cubicBezTo>
                  <a:pt x="1124350" y="1039039"/>
                  <a:pt x="1138628" y="1044480"/>
                  <a:pt x="1149511" y="1055363"/>
                </a:cubicBezTo>
                <a:lnTo>
                  <a:pt x="1371451" y="1277303"/>
                </a:lnTo>
                <a:cubicBezTo>
                  <a:pt x="1393217" y="1299070"/>
                  <a:pt x="1393217" y="1334416"/>
                  <a:pt x="1371451" y="1356182"/>
                </a:cubicBezTo>
                <a:cubicBezTo>
                  <a:pt x="1360661" y="1366972"/>
                  <a:pt x="1346336" y="1372553"/>
                  <a:pt x="1332012" y="1372553"/>
                </a:cubicBezTo>
                <a:cubicBezTo>
                  <a:pt x="1317687" y="1372553"/>
                  <a:pt x="1303362" y="1367158"/>
                  <a:pt x="1292572" y="1356182"/>
                </a:cubicBezTo>
                <a:lnTo>
                  <a:pt x="1070632" y="1134242"/>
                </a:lnTo>
                <a:cubicBezTo>
                  <a:pt x="1048866" y="1112476"/>
                  <a:pt x="1048866" y="1077130"/>
                  <a:pt x="1070632" y="1055363"/>
                </a:cubicBezTo>
                <a:cubicBezTo>
                  <a:pt x="1081515" y="1044480"/>
                  <a:pt x="1095793" y="1039039"/>
                  <a:pt x="1110072" y="1039039"/>
                </a:cubicBezTo>
                <a:close/>
                <a:moveTo>
                  <a:pt x="1110072" y="705989"/>
                </a:moveTo>
                <a:lnTo>
                  <a:pt x="1443075" y="705989"/>
                </a:lnTo>
                <a:cubicBezTo>
                  <a:pt x="1473956" y="705989"/>
                  <a:pt x="1498885" y="730918"/>
                  <a:pt x="1498885" y="761800"/>
                </a:cubicBezTo>
                <a:cubicBezTo>
                  <a:pt x="1498885" y="792682"/>
                  <a:pt x="1473770" y="817611"/>
                  <a:pt x="1443075" y="817611"/>
                </a:cubicBezTo>
                <a:lnTo>
                  <a:pt x="1110072" y="817611"/>
                </a:lnTo>
                <a:cubicBezTo>
                  <a:pt x="1079190" y="817611"/>
                  <a:pt x="1054261" y="792682"/>
                  <a:pt x="1054261" y="761800"/>
                </a:cubicBezTo>
                <a:cubicBezTo>
                  <a:pt x="1054261" y="730918"/>
                  <a:pt x="1079190" y="705989"/>
                  <a:pt x="1110072" y="705989"/>
                </a:cubicBezTo>
                <a:close/>
                <a:moveTo>
                  <a:pt x="1332012" y="151093"/>
                </a:moveTo>
                <a:cubicBezTo>
                  <a:pt x="1346290" y="151093"/>
                  <a:pt x="1360568" y="156535"/>
                  <a:pt x="1371451" y="167418"/>
                </a:cubicBezTo>
                <a:cubicBezTo>
                  <a:pt x="1393217" y="189184"/>
                  <a:pt x="1393217" y="224530"/>
                  <a:pt x="1371451" y="246297"/>
                </a:cubicBezTo>
                <a:lnTo>
                  <a:pt x="1149511" y="468236"/>
                </a:lnTo>
                <a:cubicBezTo>
                  <a:pt x="1138721" y="479213"/>
                  <a:pt x="1124396" y="484608"/>
                  <a:pt x="1110072" y="484608"/>
                </a:cubicBezTo>
                <a:cubicBezTo>
                  <a:pt x="1095747" y="484608"/>
                  <a:pt x="1081422" y="479213"/>
                  <a:pt x="1070632" y="468236"/>
                </a:cubicBezTo>
                <a:cubicBezTo>
                  <a:pt x="1048866" y="446470"/>
                  <a:pt x="1048866" y="411124"/>
                  <a:pt x="1070632" y="389358"/>
                </a:cubicBezTo>
                <a:lnTo>
                  <a:pt x="1292572" y="167418"/>
                </a:lnTo>
                <a:cubicBezTo>
                  <a:pt x="1303455" y="156535"/>
                  <a:pt x="1317733" y="151093"/>
                  <a:pt x="1332012" y="151093"/>
                </a:cubicBezTo>
                <a:close/>
                <a:moveTo>
                  <a:pt x="709724" y="111607"/>
                </a:moveTo>
                <a:cubicBezTo>
                  <a:pt x="689074" y="111607"/>
                  <a:pt x="668610" y="116816"/>
                  <a:pt x="649635" y="127420"/>
                </a:cubicBezTo>
                <a:lnTo>
                  <a:pt x="174129" y="394752"/>
                </a:lnTo>
                <a:cubicBezTo>
                  <a:pt x="135620" y="416332"/>
                  <a:pt x="111621" y="457260"/>
                  <a:pt x="111621" y="501536"/>
                </a:cubicBezTo>
                <a:lnTo>
                  <a:pt x="111621" y="910814"/>
                </a:lnTo>
                <a:cubicBezTo>
                  <a:pt x="111621" y="955090"/>
                  <a:pt x="135620" y="996018"/>
                  <a:pt x="174129" y="1017598"/>
                </a:cubicBezTo>
                <a:lnTo>
                  <a:pt x="649821" y="1284930"/>
                </a:lnTo>
                <a:cubicBezTo>
                  <a:pt x="688144" y="1306510"/>
                  <a:pt x="733723" y="1306138"/>
                  <a:pt x="771674" y="1283814"/>
                </a:cubicBezTo>
                <a:cubicBezTo>
                  <a:pt x="809625" y="1261676"/>
                  <a:pt x="832321" y="1222050"/>
                  <a:pt x="832321" y="1178146"/>
                </a:cubicBezTo>
                <a:lnTo>
                  <a:pt x="832321" y="234204"/>
                </a:lnTo>
                <a:cubicBezTo>
                  <a:pt x="832321" y="190113"/>
                  <a:pt x="809625" y="150674"/>
                  <a:pt x="771674" y="128536"/>
                </a:cubicBezTo>
                <a:cubicBezTo>
                  <a:pt x="752326" y="117188"/>
                  <a:pt x="731118" y="111607"/>
                  <a:pt x="709724" y="111607"/>
                </a:cubicBezTo>
                <a:close/>
                <a:moveTo>
                  <a:pt x="711864" y="9"/>
                </a:moveTo>
                <a:cubicBezTo>
                  <a:pt x="751861" y="358"/>
                  <a:pt x="791766" y="11148"/>
                  <a:pt x="828043" y="32356"/>
                </a:cubicBezTo>
                <a:cubicBezTo>
                  <a:pt x="900596" y="74772"/>
                  <a:pt x="943942" y="150302"/>
                  <a:pt x="943942" y="234390"/>
                </a:cubicBezTo>
                <a:lnTo>
                  <a:pt x="943942" y="1178518"/>
                </a:lnTo>
                <a:cubicBezTo>
                  <a:pt x="943942" y="1262606"/>
                  <a:pt x="900596" y="1338136"/>
                  <a:pt x="828043" y="1380552"/>
                </a:cubicBezTo>
                <a:cubicBezTo>
                  <a:pt x="791208" y="1401946"/>
                  <a:pt x="750466" y="1412736"/>
                  <a:pt x="709910" y="1412736"/>
                </a:cubicBezTo>
                <a:cubicBezTo>
                  <a:pt x="670471" y="1412736"/>
                  <a:pt x="631217" y="1402691"/>
                  <a:pt x="595126" y="1382413"/>
                </a:cubicBezTo>
                <a:lnTo>
                  <a:pt x="119435" y="1115080"/>
                </a:lnTo>
                <a:cubicBezTo>
                  <a:pt x="45765" y="1073594"/>
                  <a:pt x="0" y="995460"/>
                  <a:pt x="0" y="911000"/>
                </a:cubicBezTo>
                <a:lnTo>
                  <a:pt x="0" y="501722"/>
                </a:lnTo>
                <a:cubicBezTo>
                  <a:pt x="0" y="417262"/>
                  <a:pt x="45765" y="338942"/>
                  <a:pt x="119435" y="297642"/>
                </a:cubicBezTo>
                <a:lnTo>
                  <a:pt x="595126" y="30309"/>
                </a:lnTo>
                <a:cubicBezTo>
                  <a:pt x="631775" y="9752"/>
                  <a:pt x="671866" y="-340"/>
                  <a:pt x="711864" y="9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852960" y="6276762"/>
            <a:ext cx="268552" cy="26855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920186" y="6346151"/>
            <a:ext cx="134100" cy="129774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432441" y="6276762"/>
            <a:ext cx="268552" cy="26855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506816" y="6346151"/>
            <a:ext cx="119802" cy="129774"/>
          </a:xfrm>
          <a:custGeom>
            <a:avLst/>
            <a:gdLst>
              <a:gd name="connsiteX0" fmla="*/ 712625 w 1425436"/>
              <a:gd name="connsiteY0" fmla="*/ 111621 h 1544091"/>
              <a:gd name="connsiteX1" fmla="*/ 902567 w 1425436"/>
              <a:gd name="connsiteY1" fmla="*/ 190314 h 1544091"/>
              <a:gd name="connsiteX2" fmla="*/ 981260 w 1425436"/>
              <a:gd name="connsiteY2" fmla="*/ 380256 h 1544091"/>
              <a:gd name="connsiteX3" fmla="*/ 902567 w 1425436"/>
              <a:gd name="connsiteY3" fmla="*/ 570198 h 1544091"/>
              <a:gd name="connsiteX4" fmla="*/ 712625 w 1425436"/>
              <a:gd name="connsiteY4" fmla="*/ 648891 h 1544091"/>
              <a:gd name="connsiteX5" fmla="*/ 522684 w 1425436"/>
              <a:gd name="connsiteY5" fmla="*/ 570198 h 1544091"/>
              <a:gd name="connsiteX6" fmla="*/ 444177 w 1425436"/>
              <a:gd name="connsiteY6" fmla="*/ 380070 h 1544091"/>
              <a:gd name="connsiteX7" fmla="*/ 522870 w 1425436"/>
              <a:gd name="connsiteY7" fmla="*/ 190128 h 1544091"/>
              <a:gd name="connsiteX8" fmla="*/ 712625 w 1425436"/>
              <a:gd name="connsiteY8" fmla="*/ 111621 h 1544091"/>
              <a:gd name="connsiteX9" fmla="*/ 712625 w 1425436"/>
              <a:gd name="connsiteY9" fmla="*/ 0 h 1544091"/>
              <a:gd name="connsiteX10" fmla="*/ 332556 w 1425436"/>
              <a:gd name="connsiteY10" fmla="*/ 380070 h 1544091"/>
              <a:gd name="connsiteX11" fmla="*/ 712625 w 1425436"/>
              <a:gd name="connsiteY11" fmla="*/ 760140 h 1544091"/>
              <a:gd name="connsiteX12" fmla="*/ 1092695 w 1425436"/>
              <a:gd name="connsiteY12" fmla="*/ 380070 h 1544091"/>
              <a:gd name="connsiteX13" fmla="*/ 712625 w 1425436"/>
              <a:gd name="connsiteY13" fmla="*/ 0 h 1544091"/>
              <a:gd name="connsiteX14" fmla="*/ 712625 w 1425436"/>
              <a:gd name="connsiteY14" fmla="*/ 943012 h 1544091"/>
              <a:gd name="connsiteX15" fmla="*/ 978842 w 1425436"/>
              <a:gd name="connsiteY15" fmla="*/ 976685 h 1544091"/>
              <a:gd name="connsiteX16" fmla="*/ 1146087 w 1425436"/>
              <a:gd name="connsiteY16" fmla="*/ 1059470 h 1544091"/>
              <a:gd name="connsiteX17" fmla="*/ 1248593 w 1425436"/>
              <a:gd name="connsiteY17" fmla="*/ 1174440 h 1544091"/>
              <a:gd name="connsiteX18" fmla="*/ 1310356 w 1425436"/>
              <a:gd name="connsiteY18" fmla="*/ 1316385 h 1544091"/>
              <a:gd name="connsiteX19" fmla="*/ 1296590 w 1425436"/>
              <a:gd name="connsiteY19" fmla="*/ 1390241 h 1544091"/>
              <a:gd name="connsiteX20" fmla="*/ 1208595 w 1425436"/>
              <a:gd name="connsiteY20" fmla="*/ 1432285 h 1544091"/>
              <a:gd name="connsiteX21" fmla="*/ 216842 w 1425436"/>
              <a:gd name="connsiteY21" fmla="*/ 1432285 h 1544091"/>
              <a:gd name="connsiteX22" fmla="*/ 128847 w 1425436"/>
              <a:gd name="connsiteY22" fmla="*/ 1390241 h 1544091"/>
              <a:gd name="connsiteX23" fmla="*/ 115081 w 1425436"/>
              <a:gd name="connsiteY23" fmla="*/ 1316385 h 1544091"/>
              <a:gd name="connsiteX24" fmla="*/ 176844 w 1425436"/>
              <a:gd name="connsiteY24" fmla="*/ 1174440 h 1544091"/>
              <a:gd name="connsiteX25" fmla="*/ 279350 w 1425436"/>
              <a:gd name="connsiteY25" fmla="*/ 1059470 h 1544091"/>
              <a:gd name="connsiteX26" fmla="*/ 446595 w 1425436"/>
              <a:gd name="connsiteY26" fmla="*/ 976685 h 1544091"/>
              <a:gd name="connsiteX27" fmla="*/ 712625 w 1425436"/>
              <a:gd name="connsiteY27" fmla="*/ 943012 h 1544091"/>
              <a:gd name="connsiteX28" fmla="*/ 712625 w 1425436"/>
              <a:gd name="connsiteY28" fmla="*/ 831391 h 1544091"/>
              <a:gd name="connsiteX29" fmla="*/ 8296 w 1425436"/>
              <a:gd name="connsiteY29" fmla="*/ 1284387 h 1544091"/>
              <a:gd name="connsiteX30" fmla="*/ 216842 w 1425436"/>
              <a:gd name="connsiteY30" fmla="*/ 1544092 h 1544091"/>
              <a:gd name="connsiteX31" fmla="*/ 1208595 w 1425436"/>
              <a:gd name="connsiteY31" fmla="*/ 1544092 h 1544091"/>
              <a:gd name="connsiteX32" fmla="*/ 1417141 w 1425436"/>
              <a:gd name="connsiteY32" fmla="*/ 1284387 h 1544091"/>
              <a:gd name="connsiteX33" fmla="*/ 712625 w 1425436"/>
              <a:gd name="connsiteY33" fmla="*/ 831391 h 1544091"/>
            </a:gdLst>
            <a:rect l="l" t="t" r="r" b="b"/>
            <a:pathLst>
              <a:path w="1425436" h="1544091">
                <a:moveTo>
                  <a:pt x="712625" y="111621"/>
                </a:moveTo>
                <a:cubicBezTo>
                  <a:pt x="784435" y="111621"/>
                  <a:pt x="851780" y="139526"/>
                  <a:pt x="902567" y="190314"/>
                </a:cubicBezTo>
                <a:cubicBezTo>
                  <a:pt x="953355" y="241102"/>
                  <a:pt x="981260" y="308446"/>
                  <a:pt x="981260" y="380256"/>
                </a:cubicBezTo>
                <a:cubicBezTo>
                  <a:pt x="981260" y="452065"/>
                  <a:pt x="953355" y="519410"/>
                  <a:pt x="902567" y="570198"/>
                </a:cubicBezTo>
                <a:cubicBezTo>
                  <a:pt x="851780" y="620985"/>
                  <a:pt x="784435" y="648891"/>
                  <a:pt x="712625" y="648891"/>
                </a:cubicBezTo>
                <a:cubicBezTo>
                  <a:pt x="640816" y="648891"/>
                  <a:pt x="573471" y="620985"/>
                  <a:pt x="522684" y="570198"/>
                </a:cubicBezTo>
                <a:cubicBezTo>
                  <a:pt x="472082" y="519224"/>
                  <a:pt x="444177" y="451693"/>
                  <a:pt x="444177" y="380070"/>
                </a:cubicBezTo>
                <a:cubicBezTo>
                  <a:pt x="444177" y="308446"/>
                  <a:pt x="472082" y="240916"/>
                  <a:pt x="522870" y="190128"/>
                </a:cubicBezTo>
                <a:cubicBezTo>
                  <a:pt x="573471" y="139526"/>
                  <a:pt x="641002" y="111621"/>
                  <a:pt x="712625" y="111621"/>
                </a:cubicBezTo>
                <a:moveTo>
                  <a:pt x="712625" y="0"/>
                </a:moveTo>
                <a:cubicBezTo>
                  <a:pt x="502778" y="0"/>
                  <a:pt x="332556" y="170036"/>
                  <a:pt x="332556" y="380070"/>
                </a:cubicBezTo>
                <a:cubicBezTo>
                  <a:pt x="332556" y="589917"/>
                  <a:pt x="502778" y="760140"/>
                  <a:pt x="712625" y="760140"/>
                </a:cubicBezTo>
                <a:cubicBezTo>
                  <a:pt x="922473" y="760140"/>
                  <a:pt x="1092695" y="589917"/>
                  <a:pt x="1092695" y="380070"/>
                </a:cubicBezTo>
                <a:cubicBezTo>
                  <a:pt x="1092881" y="170036"/>
                  <a:pt x="922659" y="0"/>
                  <a:pt x="712625" y="0"/>
                </a:cubicBezTo>
                <a:close/>
                <a:moveTo>
                  <a:pt x="712625" y="943012"/>
                </a:moveTo>
                <a:cubicBezTo>
                  <a:pt x="813643" y="943012"/>
                  <a:pt x="903126" y="954360"/>
                  <a:pt x="978842" y="976685"/>
                </a:cubicBezTo>
                <a:cubicBezTo>
                  <a:pt x="1043582" y="995846"/>
                  <a:pt x="1099951" y="1023752"/>
                  <a:pt x="1146087" y="1059470"/>
                </a:cubicBezTo>
                <a:cubicBezTo>
                  <a:pt x="1186829" y="1091096"/>
                  <a:pt x="1220315" y="1128675"/>
                  <a:pt x="1248593" y="1174440"/>
                </a:cubicBezTo>
                <a:cubicBezTo>
                  <a:pt x="1273708" y="1215368"/>
                  <a:pt x="1293985" y="1261877"/>
                  <a:pt x="1310356" y="1316385"/>
                </a:cubicBezTo>
                <a:cubicBezTo>
                  <a:pt x="1320774" y="1350801"/>
                  <a:pt x="1306264" y="1377404"/>
                  <a:pt x="1296590" y="1390241"/>
                </a:cubicBezTo>
                <a:cubicBezTo>
                  <a:pt x="1276684" y="1417030"/>
                  <a:pt x="1244686" y="1432285"/>
                  <a:pt x="1208595" y="1432285"/>
                </a:cubicBezTo>
                <a:lnTo>
                  <a:pt x="216842" y="1432285"/>
                </a:lnTo>
                <a:cubicBezTo>
                  <a:pt x="180937" y="1432285"/>
                  <a:pt x="148753" y="1417030"/>
                  <a:pt x="128847" y="1390241"/>
                </a:cubicBezTo>
                <a:cubicBezTo>
                  <a:pt x="119359" y="1377404"/>
                  <a:pt x="104849" y="1350801"/>
                  <a:pt x="115081" y="1316385"/>
                </a:cubicBezTo>
                <a:cubicBezTo>
                  <a:pt x="131452" y="1261877"/>
                  <a:pt x="151543" y="1215368"/>
                  <a:pt x="176844" y="1174440"/>
                </a:cubicBezTo>
                <a:cubicBezTo>
                  <a:pt x="204936" y="1128675"/>
                  <a:pt x="238422" y="1090910"/>
                  <a:pt x="279350" y="1059470"/>
                </a:cubicBezTo>
                <a:cubicBezTo>
                  <a:pt x="325486" y="1023752"/>
                  <a:pt x="381855" y="995846"/>
                  <a:pt x="446595" y="976685"/>
                </a:cubicBezTo>
                <a:cubicBezTo>
                  <a:pt x="522125" y="954360"/>
                  <a:pt x="611794" y="943012"/>
                  <a:pt x="712625" y="943012"/>
                </a:cubicBezTo>
                <a:moveTo>
                  <a:pt x="712625" y="831391"/>
                </a:moveTo>
                <a:cubicBezTo>
                  <a:pt x="244561" y="831391"/>
                  <a:pt x="77501" y="1053331"/>
                  <a:pt x="8296" y="1284387"/>
                </a:cubicBezTo>
                <a:cubicBezTo>
                  <a:pt x="-30771" y="1414611"/>
                  <a:pt x="73037" y="1544092"/>
                  <a:pt x="216842" y="1544092"/>
                </a:cubicBezTo>
                <a:lnTo>
                  <a:pt x="1208595" y="1544092"/>
                </a:lnTo>
                <a:cubicBezTo>
                  <a:pt x="1352400" y="1544092"/>
                  <a:pt x="1456208" y="1414611"/>
                  <a:pt x="1417141" y="1284387"/>
                </a:cubicBezTo>
                <a:cubicBezTo>
                  <a:pt x="1347750" y="1053331"/>
                  <a:pt x="1180690" y="831391"/>
                  <a:pt x="712625" y="83139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1" flipV="0">
            <a:off x="650050" y="1918023"/>
            <a:ext cx="184513" cy="184513"/>
          </a:xfrm>
          <a:custGeom>
            <a:avLst/>
            <a:gdLst>
              <a:gd name="connsiteX0" fmla="*/ 104503 w 184513"/>
              <a:gd name="connsiteY0" fmla="*/ 0 h 184513"/>
              <a:gd name="connsiteX1" fmla="*/ 80010 w 184513"/>
              <a:gd name="connsiteY1" fmla="*/ 0 h 184513"/>
              <a:gd name="connsiteX2" fmla="*/ 80010 w 184513"/>
              <a:gd name="connsiteY2" fmla="*/ 80010 h 184513"/>
              <a:gd name="connsiteX3" fmla="*/ 0 w 184513"/>
              <a:gd name="connsiteY3" fmla="*/ 80010 h 184513"/>
              <a:gd name="connsiteX4" fmla="*/ 0 w 184513"/>
              <a:gd name="connsiteY4" fmla="*/ 104503 h 184513"/>
              <a:gd name="connsiteX5" fmla="*/ 80010 w 184513"/>
              <a:gd name="connsiteY5" fmla="*/ 104503 h 184513"/>
              <a:gd name="connsiteX6" fmla="*/ 80010 w 184513"/>
              <a:gd name="connsiteY6" fmla="*/ 184513 h 184513"/>
              <a:gd name="connsiteX7" fmla="*/ 104503 w 184513"/>
              <a:gd name="connsiteY7" fmla="*/ 184513 h 184513"/>
              <a:gd name="connsiteX8" fmla="*/ 104503 w 184513"/>
              <a:gd name="connsiteY8" fmla="*/ 104503 h 184513"/>
              <a:gd name="connsiteX9" fmla="*/ 184513 w 184513"/>
              <a:gd name="connsiteY9" fmla="*/ 104503 h 184513"/>
              <a:gd name="connsiteX10" fmla="*/ 184513 w 184513"/>
              <a:gd name="connsiteY10" fmla="*/ 80010 h 184513"/>
              <a:gd name="connsiteX11" fmla="*/ 104503 w 184513"/>
              <a:gd name="connsiteY11" fmla="*/ 80010 h 184513"/>
            </a:gdLst>
            <a:rect l="l" t="t" r="r" b="b"/>
            <a:pathLst>
              <a:path w="184513" h="184513">
                <a:moveTo>
                  <a:pt x="104503" y="0"/>
                </a:moveTo>
                <a:lnTo>
                  <a:pt x="80010" y="0"/>
                </a:lnTo>
                <a:lnTo>
                  <a:pt x="80010" y="80010"/>
                </a:lnTo>
                <a:lnTo>
                  <a:pt x="0" y="80010"/>
                </a:lnTo>
                <a:lnTo>
                  <a:pt x="0" y="104503"/>
                </a:lnTo>
                <a:lnTo>
                  <a:pt x="80010" y="104503"/>
                </a:lnTo>
                <a:lnTo>
                  <a:pt x="80010" y="184513"/>
                </a:lnTo>
                <a:lnTo>
                  <a:pt x="104503" y="184513"/>
                </a:lnTo>
                <a:lnTo>
                  <a:pt x="104503" y="104503"/>
                </a:lnTo>
                <a:lnTo>
                  <a:pt x="184513" y="104503"/>
                </a:lnTo>
                <a:lnTo>
                  <a:pt x="184513" y="80010"/>
                </a:lnTo>
                <a:lnTo>
                  <a:pt x="104503" y="80010"/>
                </a:lnTo>
                <a:close/>
              </a:path>
            </a:pathLst>
          </a:custGeom>
          <a:solidFill>
            <a:schemeClr val="accent2"/>
          </a:solidFill>
          <a:ln w="1632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1" flipV="0">
            <a:off x="788366" y="2115629"/>
            <a:ext cx="101867" cy="101867"/>
          </a:xfrm>
          <a:custGeom>
            <a:avLst/>
            <a:gdLst>
              <a:gd name="connsiteX0" fmla="*/ 104503 w 184513"/>
              <a:gd name="connsiteY0" fmla="*/ 0 h 184513"/>
              <a:gd name="connsiteX1" fmla="*/ 80010 w 184513"/>
              <a:gd name="connsiteY1" fmla="*/ 0 h 184513"/>
              <a:gd name="connsiteX2" fmla="*/ 80010 w 184513"/>
              <a:gd name="connsiteY2" fmla="*/ 80010 h 184513"/>
              <a:gd name="connsiteX3" fmla="*/ 0 w 184513"/>
              <a:gd name="connsiteY3" fmla="*/ 80010 h 184513"/>
              <a:gd name="connsiteX4" fmla="*/ 0 w 184513"/>
              <a:gd name="connsiteY4" fmla="*/ 104503 h 184513"/>
              <a:gd name="connsiteX5" fmla="*/ 80010 w 184513"/>
              <a:gd name="connsiteY5" fmla="*/ 104503 h 184513"/>
              <a:gd name="connsiteX6" fmla="*/ 80010 w 184513"/>
              <a:gd name="connsiteY6" fmla="*/ 184513 h 184513"/>
              <a:gd name="connsiteX7" fmla="*/ 104503 w 184513"/>
              <a:gd name="connsiteY7" fmla="*/ 184513 h 184513"/>
              <a:gd name="connsiteX8" fmla="*/ 104503 w 184513"/>
              <a:gd name="connsiteY8" fmla="*/ 104503 h 184513"/>
              <a:gd name="connsiteX9" fmla="*/ 184513 w 184513"/>
              <a:gd name="connsiteY9" fmla="*/ 104503 h 184513"/>
              <a:gd name="connsiteX10" fmla="*/ 184513 w 184513"/>
              <a:gd name="connsiteY10" fmla="*/ 80010 h 184513"/>
              <a:gd name="connsiteX11" fmla="*/ 104503 w 184513"/>
              <a:gd name="connsiteY11" fmla="*/ 80010 h 184513"/>
            </a:gdLst>
            <a:rect l="l" t="t" r="r" b="b"/>
            <a:pathLst>
              <a:path w="184513" h="184513">
                <a:moveTo>
                  <a:pt x="104503" y="0"/>
                </a:moveTo>
                <a:lnTo>
                  <a:pt x="80010" y="0"/>
                </a:lnTo>
                <a:lnTo>
                  <a:pt x="80010" y="80010"/>
                </a:lnTo>
                <a:lnTo>
                  <a:pt x="0" y="80010"/>
                </a:lnTo>
                <a:lnTo>
                  <a:pt x="0" y="104503"/>
                </a:lnTo>
                <a:lnTo>
                  <a:pt x="80010" y="104503"/>
                </a:lnTo>
                <a:lnTo>
                  <a:pt x="80010" y="184513"/>
                </a:lnTo>
                <a:lnTo>
                  <a:pt x="104503" y="184513"/>
                </a:lnTo>
                <a:lnTo>
                  <a:pt x="104503" y="104503"/>
                </a:lnTo>
                <a:lnTo>
                  <a:pt x="184513" y="104503"/>
                </a:lnTo>
                <a:lnTo>
                  <a:pt x="184513" y="80010"/>
                </a:lnTo>
                <a:lnTo>
                  <a:pt x="104503" y="80010"/>
                </a:lnTo>
                <a:close/>
              </a:path>
            </a:pathLst>
          </a:custGeom>
          <a:solidFill>
            <a:schemeClr val="accent1"/>
          </a:solidFill>
          <a:ln w="1632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920186" y="1480632"/>
            <a:ext cx="1179586" cy="14394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3949EE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04</a:t>
            </a:r>
            <a:endParaRPr kumimoji="1" lang="zh-CN" altLang="en-US"/>
          </a:p>
        </p:txBody>
      </p:sp>
      <p:cxnSp>
        <p:nvCxnSpPr>
          <p:cNvPr id="16" name="标题 1"/>
          <p:cNvCxnSpPr/>
          <p:nvPr/>
        </p:nvCxnSpPr>
        <p:spPr>
          <a:xfrm rot="0" flipH="0" flipV="0">
            <a:off x="1929538" y="2580053"/>
            <a:ext cx="672826" cy="0"/>
          </a:xfrm>
          <a:prstGeom prst="line">
            <a:avLst/>
          </a:prstGeom>
          <a:noFill/>
          <a:ln w="12700" cap="sq">
            <a:solidFill>
              <a:schemeClr val="accent2">
                <a:alpha val="50000"/>
              </a:schemeClr>
            </a:solidFill>
            <a:prstDash val="dash"/>
            <a:miter/>
          </a:ln>
        </p:spPr>
      </p:cxnSp>
      <p:sp>
        <p:nvSpPr>
          <p:cNvPr id="17" name="标题 1"/>
          <p:cNvSpPr txBox="1"/>
          <p:nvPr/>
        </p:nvSpPr>
        <p:spPr>
          <a:xfrm rot="0" flipH="0" flipV="0">
            <a:off x="9540239" y="241508"/>
            <a:ext cx="2230733" cy="29733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2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5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0" flipH="0" flipV="0">
            <a:off x="11386534" y="325289"/>
            <a:ext cx="129755" cy="129774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0" flipV="0">
            <a:off x="9743840" y="254366"/>
            <a:ext cx="1542030" cy="24622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PowerPoint design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0" flipH="0" flipV="0">
            <a:off x="920186" y="3027823"/>
            <a:ext cx="4583574" cy="15354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3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幻灯片 4：企业介绍</a:t>
            </a: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rot="0" flipH="0" flipV="0">
            <a:off x="5319247" y="4306073"/>
            <a:ext cx="184513" cy="184513"/>
          </a:xfrm>
          <a:custGeom>
            <a:avLst/>
            <a:gdLst>
              <a:gd name="connsiteX0" fmla="*/ 104503 w 184513"/>
              <a:gd name="connsiteY0" fmla="*/ 0 h 184513"/>
              <a:gd name="connsiteX1" fmla="*/ 80010 w 184513"/>
              <a:gd name="connsiteY1" fmla="*/ 0 h 184513"/>
              <a:gd name="connsiteX2" fmla="*/ 80010 w 184513"/>
              <a:gd name="connsiteY2" fmla="*/ 80010 h 184513"/>
              <a:gd name="connsiteX3" fmla="*/ 0 w 184513"/>
              <a:gd name="connsiteY3" fmla="*/ 80010 h 184513"/>
              <a:gd name="connsiteX4" fmla="*/ 0 w 184513"/>
              <a:gd name="connsiteY4" fmla="*/ 104503 h 184513"/>
              <a:gd name="connsiteX5" fmla="*/ 80010 w 184513"/>
              <a:gd name="connsiteY5" fmla="*/ 104503 h 184513"/>
              <a:gd name="connsiteX6" fmla="*/ 80010 w 184513"/>
              <a:gd name="connsiteY6" fmla="*/ 184513 h 184513"/>
              <a:gd name="connsiteX7" fmla="*/ 104503 w 184513"/>
              <a:gd name="connsiteY7" fmla="*/ 184513 h 184513"/>
              <a:gd name="connsiteX8" fmla="*/ 104503 w 184513"/>
              <a:gd name="connsiteY8" fmla="*/ 104503 h 184513"/>
              <a:gd name="connsiteX9" fmla="*/ 184513 w 184513"/>
              <a:gd name="connsiteY9" fmla="*/ 104503 h 184513"/>
              <a:gd name="connsiteX10" fmla="*/ 184513 w 184513"/>
              <a:gd name="connsiteY10" fmla="*/ 80010 h 184513"/>
              <a:gd name="connsiteX11" fmla="*/ 104503 w 184513"/>
              <a:gd name="connsiteY11" fmla="*/ 80010 h 184513"/>
            </a:gdLst>
            <a:rect l="l" t="t" r="r" b="b"/>
            <a:pathLst>
              <a:path w="184513" h="184513">
                <a:moveTo>
                  <a:pt x="104503" y="0"/>
                </a:moveTo>
                <a:lnTo>
                  <a:pt x="80010" y="0"/>
                </a:lnTo>
                <a:lnTo>
                  <a:pt x="80010" y="80010"/>
                </a:lnTo>
                <a:lnTo>
                  <a:pt x="0" y="80010"/>
                </a:lnTo>
                <a:lnTo>
                  <a:pt x="0" y="104503"/>
                </a:lnTo>
                <a:lnTo>
                  <a:pt x="80010" y="104503"/>
                </a:lnTo>
                <a:lnTo>
                  <a:pt x="80010" y="184513"/>
                </a:lnTo>
                <a:lnTo>
                  <a:pt x="104503" y="184513"/>
                </a:lnTo>
                <a:lnTo>
                  <a:pt x="104503" y="104503"/>
                </a:lnTo>
                <a:lnTo>
                  <a:pt x="184513" y="104503"/>
                </a:lnTo>
                <a:lnTo>
                  <a:pt x="184513" y="80010"/>
                </a:lnTo>
                <a:lnTo>
                  <a:pt x="104503" y="80010"/>
                </a:lnTo>
                <a:close/>
              </a:path>
            </a:pathLst>
          </a:custGeom>
          <a:solidFill>
            <a:schemeClr val="accent2"/>
          </a:solidFill>
          <a:ln w="1632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rot="0" flipH="0" flipV="0">
            <a:off x="5263577" y="4503679"/>
            <a:ext cx="101867" cy="101867"/>
          </a:xfrm>
          <a:custGeom>
            <a:avLst/>
            <a:gdLst>
              <a:gd name="connsiteX0" fmla="*/ 104503 w 184513"/>
              <a:gd name="connsiteY0" fmla="*/ 0 h 184513"/>
              <a:gd name="connsiteX1" fmla="*/ 80010 w 184513"/>
              <a:gd name="connsiteY1" fmla="*/ 0 h 184513"/>
              <a:gd name="connsiteX2" fmla="*/ 80010 w 184513"/>
              <a:gd name="connsiteY2" fmla="*/ 80010 h 184513"/>
              <a:gd name="connsiteX3" fmla="*/ 0 w 184513"/>
              <a:gd name="connsiteY3" fmla="*/ 80010 h 184513"/>
              <a:gd name="connsiteX4" fmla="*/ 0 w 184513"/>
              <a:gd name="connsiteY4" fmla="*/ 104503 h 184513"/>
              <a:gd name="connsiteX5" fmla="*/ 80010 w 184513"/>
              <a:gd name="connsiteY5" fmla="*/ 104503 h 184513"/>
              <a:gd name="connsiteX6" fmla="*/ 80010 w 184513"/>
              <a:gd name="connsiteY6" fmla="*/ 184513 h 184513"/>
              <a:gd name="connsiteX7" fmla="*/ 104503 w 184513"/>
              <a:gd name="connsiteY7" fmla="*/ 184513 h 184513"/>
              <a:gd name="connsiteX8" fmla="*/ 104503 w 184513"/>
              <a:gd name="connsiteY8" fmla="*/ 104503 h 184513"/>
              <a:gd name="connsiteX9" fmla="*/ 184513 w 184513"/>
              <a:gd name="connsiteY9" fmla="*/ 104503 h 184513"/>
              <a:gd name="connsiteX10" fmla="*/ 184513 w 184513"/>
              <a:gd name="connsiteY10" fmla="*/ 80010 h 184513"/>
              <a:gd name="connsiteX11" fmla="*/ 104503 w 184513"/>
              <a:gd name="connsiteY11" fmla="*/ 80010 h 184513"/>
            </a:gdLst>
            <a:rect l="l" t="t" r="r" b="b"/>
            <a:pathLst>
              <a:path w="184513" h="184513">
                <a:moveTo>
                  <a:pt x="104503" y="0"/>
                </a:moveTo>
                <a:lnTo>
                  <a:pt x="80010" y="0"/>
                </a:lnTo>
                <a:lnTo>
                  <a:pt x="80010" y="80010"/>
                </a:lnTo>
                <a:lnTo>
                  <a:pt x="0" y="80010"/>
                </a:lnTo>
                <a:lnTo>
                  <a:pt x="0" y="104503"/>
                </a:lnTo>
                <a:lnTo>
                  <a:pt x="80010" y="104503"/>
                </a:lnTo>
                <a:lnTo>
                  <a:pt x="80010" y="184513"/>
                </a:lnTo>
                <a:lnTo>
                  <a:pt x="104503" y="184513"/>
                </a:lnTo>
                <a:lnTo>
                  <a:pt x="104503" y="104503"/>
                </a:lnTo>
                <a:lnTo>
                  <a:pt x="184513" y="104503"/>
                </a:lnTo>
                <a:lnTo>
                  <a:pt x="184513" y="80010"/>
                </a:lnTo>
                <a:lnTo>
                  <a:pt x="104503" y="80010"/>
                </a:lnTo>
                <a:close/>
              </a:path>
            </a:pathLst>
          </a:custGeom>
          <a:solidFill>
            <a:schemeClr val="accent1"/>
          </a:solidFill>
          <a:ln w="1632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 rot="21239739" flipH="0" flipV="0">
            <a:off x="340012" y="3241517"/>
            <a:ext cx="5890453" cy="381346"/>
          </a:xfrm>
          <a:prstGeom prst="ellipse">
            <a:avLst/>
          </a:prstGeom>
          <a:noFill/>
          <a:ln w="25400" cap="flat">
            <a:gradFill>
              <a:gsLst>
                <a:gs pos="20000">
                  <a:schemeClr val="accent2">
                    <a:alpha val="0"/>
                  </a:schemeClr>
                </a:gs>
                <a:gs pos="70000">
                  <a:schemeClr val="accent2">
                    <a:alpha val="80000"/>
                  </a:schemeClr>
                </a:gs>
                <a:gs pos="90000">
                  <a:schemeClr val="accent2"/>
                </a:gs>
              </a:gsLst>
              <a:lin ang="5400000" scaled="0"/>
            </a:gradFill>
            <a:miter/>
          </a:ln>
          <a:effectLst/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3" name=""/>
          <p:cNvGrpSpPr/>
          <p:nvPr/>
        </p:nvGrpSpPr>
        <p:grpSpPr>
          <a:xfrm>
            <a:off x="3362333" y="4124335"/>
            <a:ext cx="5467334" cy="2733665"/>
            <a:chOff x="3362333" y="4124335"/>
            <a:chExt cx="5467334" cy="2733665"/>
          </a:xfrm>
        </p:grpSpPr>
        <p:sp>
          <p:nvSpPr>
            <p:cNvPr id="4" name="标题 1"/>
            <p:cNvSpPr txBox="1"/>
            <p:nvPr/>
          </p:nvSpPr>
          <p:spPr>
            <a:xfrm rot="0" flipH="0" flipV="0">
              <a:off x="3362333" y="4124335"/>
              <a:ext cx="5467334" cy="2733665"/>
            </a:xfrm>
            <a:custGeom>
              <a:avLst/>
              <a:gdLst>
                <a:gd name="connsiteX0" fmla="*/ 2435515 w 4871030"/>
                <a:gd name="connsiteY0" fmla="*/ 0 h 2435515"/>
                <a:gd name="connsiteX1" fmla="*/ 4871030 w 4871030"/>
                <a:gd name="connsiteY1" fmla="*/ 2435515 h 2435515"/>
                <a:gd name="connsiteX2" fmla="*/ 0 w 4871030"/>
                <a:gd name="connsiteY2" fmla="*/ 2435515 h 2435515"/>
                <a:gd name="connsiteX3" fmla="*/ 2435515 w 4871030"/>
                <a:gd name="connsiteY3" fmla="*/ 0 h 2435515"/>
              </a:gdLst>
              <a:rect l="l" t="t" r="r" b="b"/>
              <a:pathLst>
                <a:path w="4871030" h="2435515">
                  <a:moveTo>
                    <a:pt x="2435515" y="0"/>
                  </a:moveTo>
                  <a:cubicBezTo>
                    <a:pt x="3780613" y="0"/>
                    <a:pt x="4871030" y="1090417"/>
                    <a:pt x="4871030" y="2435515"/>
                  </a:cubicBezTo>
                  <a:lnTo>
                    <a:pt x="0" y="2435515"/>
                  </a:lnTo>
                  <a:cubicBezTo>
                    <a:pt x="0" y="1090417"/>
                    <a:pt x="1090417" y="0"/>
                    <a:pt x="2435515" y="0"/>
                  </a:cubicBezTo>
                  <a:close/>
                </a:path>
              </a:pathLst>
            </a:custGeom>
            <a:noFill/>
            <a:ln w="6350" cap="sq">
              <a:gradFill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16200000" scaled="0"/>
              </a:gradFill>
              <a:miter/>
            </a:ln>
            <a:effectLst/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5" name="标题 1"/>
            <p:cNvSpPr txBox="1"/>
            <p:nvPr/>
          </p:nvSpPr>
          <p:spPr>
            <a:xfrm rot="0" flipH="0" flipV="0">
              <a:off x="3660485" y="4422485"/>
              <a:ext cx="4871030" cy="2435515"/>
            </a:xfrm>
            <a:custGeom>
              <a:avLst/>
              <a:gdLst>
                <a:gd name="connsiteX0" fmla="*/ 2435515 w 4871030"/>
                <a:gd name="connsiteY0" fmla="*/ 0 h 2435515"/>
                <a:gd name="connsiteX1" fmla="*/ 4871030 w 4871030"/>
                <a:gd name="connsiteY1" fmla="*/ 2435515 h 2435515"/>
                <a:gd name="connsiteX2" fmla="*/ 0 w 4871030"/>
                <a:gd name="connsiteY2" fmla="*/ 2435515 h 2435515"/>
                <a:gd name="connsiteX3" fmla="*/ 2435515 w 4871030"/>
                <a:gd name="connsiteY3" fmla="*/ 0 h 2435515"/>
              </a:gdLst>
              <a:rect l="l" t="t" r="r" b="b"/>
              <a:pathLst>
                <a:path w="4871030" h="2435515">
                  <a:moveTo>
                    <a:pt x="2435515" y="0"/>
                  </a:moveTo>
                  <a:cubicBezTo>
                    <a:pt x="3780613" y="0"/>
                    <a:pt x="4871030" y="1090417"/>
                    <a:pt x="4871030" y="2435515"/>
                  </a:cubicBezTo>
                  <a:lnTo>
                    <a:pt x="0" y="2435515"/>
                  </a:lnTo>
                  <a:cubicBezTo>
                    <a:pt x="0" y="1090417"/>
                    <a:pt x="1090417" y="0"/>
                    <a:pt x="2435515" y="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50000">
                  <a:schemeClr val="accent1">
                    <a:alpha val="9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7200000" scaled="0"/>
            </a:gradFill>
            <a:ln w="6350" cap="sq">
              <a:gradFill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0"/>
              </a:gradFill>
              <a:miter/>
            </a:ln>
            <a:effectLst/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6" name="标题 1"/>
          <p:cNvSpPr txBox="1"/>
          <p:nvPr/>
        </p:nvSpPr>
        <p:spPr>
          <a:xfrm rot="8100000" flipH="0" flipV="0">
            <a:off x="4959815" y="1360681"/>
            <a:ext cx="2272370" cy="2272370"/>
          </a:xfrm>
          <a:prstGeom prst="arc">
            <a:avLst/>
          </a:prstGeom>
          <a:noFill/>
          <a:ln w="6350" cap="sq">
            <a:solidFill>
              <a:schemeClr val="accent1">
                <a:alpha val="50000"/>
              </a:schemeClr>
            </a:solidFill>
            <a:miter/>
            <a:headEnd type="oval"/>
            <a:tailEnd type="oval"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5058533" flipH="0" flipV="0">
            <a:off x="1654293" y="2727284"/>
            <a:ext cx="2272370" cy="2272370"/>
          </a:xfrm>
          <a:prstGeom prst="arc">
            <a:avLst/>
          </a:prstGeom>
          <a:noFill/>
          <a:ln w="6350" cap="sq">
            <a:solidFill>
              <a:schemeClr val="accent1">
                <a:alpha val="50000"/>
              </a:schemeClr>
            </a:solidFill>
            <a:miter/>
            <a:headEnd type="oval"/>
            <a:tailEnd type="oval"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11253932" flipH="0" flipV="0">
            <a:off x="8266316" y="2727284"/>
            <a:ext cx="2272370" cy="2272370"/>
          </a:xfrm>
          <a:prstGeom prst="arc">
            <a:avLst/>
          </a:prstGeom>
          <a:noFill/>
          <a:ln w="6350" cap="sq">
            <a:solidFill>
              <a:schemeClr val="accent1">
                <a:alpha val="50000"/>
              </a:schemeClr>
            </a:solidFill>
            <a:miter/>
            <a:headEnd type="oval"/>
            <a:tailEnd type="oval"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5063105" y="1463971"/>
            <a:ext cx="2065791" cy="2065791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1757583" y="2830574"/>
            <a:ext cx="2065791" cy="2065791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8369606" y="2830574"/>
            <a:ext cx="2065791" cy="2065791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1">
            <a:off x="5998415" y="3674531"/>
            <a:ext cx="195171" cy="632628"/>
          </a:xfrm>
          <a:custGeom>
            <a:avLst/>
            <a:gdLst>
              <a:gd name="connsiteX0" fmla="*/ 0 w 314325"/>
              <a:gd name="connsiteY0" fmla="*/ 157163 h 632628"/>
              <a:gd name="connsiteX1" fmla="*/ 157163 w 314325"/>
              <a:gd name="connsiteY1" fmla="*/ 0 h 632628"/>
              <a:gd name="connsiteX2" fmla="*/ 314325 w 314325"/>
              <a:gd name="connsiteY2" fmla="*/ 157163 h 632628"/>
              <a:gd name="connsiteX3" fmla="*/ 235744 w 314325"/>
              <a:gd name="connsiteY3" fmla="*/ 157163 h 632628"/>
              <a:gd name="connsiteX4" fmla="*/ 156210 w 314325"/>
              <a:gd name="connsiteY4" fmla="*/ 632628 h 632628"/>
              <a:gd name="connsiteX5" fmla="*/ 78581 w 314325"/>
              <a:gd name="connsiteY5" fmla="*/ 157163 h 632628"/>
              <a:gd name="connsiteX6" fmla="*/ 0 w 314325"/>
              <a:gd name="connsiteY6" fmla="*/ 157163 h 632628"/>
              <a:gd name="connsiteX7" fmla="*/ 0 w 314325"/>
              <a:gd name="connsiteY7" fmla="*/ 157163 h 634581"/>
              <a:gd name="connsiteX8" fmla="*/ 0 w 314325"/>
              <a:gd name="connsiteY8" fmla="*/ 157163 h 634581"/>
            </a:gdLst>
            <a:rect l="l" t="t" r="r" b="b"/>
            <a:pathLst>
              <a:path w="314325" h="632628">
                <a:moveTo>
                  <a:pt x="0" y="157163"/>
                </a:moveTo>
                <a:lnTo>
                  <a:pt x="157163" y="0"/>
                </a:lnTo>
                <a:lnTo>
                  <a:pt x="314325" y="157163"/>
                </a:lnTo>
                <a:lnTo>
                  <a:pt x="235744" y="157163"/>
                </a:lnTo>
                <a:lnTo>
                  <a:pt x="156210" y="632628"/>
                </a:lnTo>
                <a:lnTo>
                  <a:pt x="78581" y="157163"/>
                </a:lnTo>
                <a:lnTo>
                  <a:pt x="0" y="157163"/>
                </a:ln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path path="circle">
              <a:fillToRect t="100000" l="100000"/>
            </a:path>
            <a:tileRect b="-100000" r="-100000"/>
          </a:gradFill>
          <a:ln w="38100" cap="sq">
            <a:noFill/>
            <a:miter/>
          </a:ln>
          <a:effectLst>
            <a:outerShdw dist="203200" blurRad="381000" dir="5400000" sx="90000" sy="90000" kx="0" ky="0" algn="t" rotWithShape="0">
              <a:schemeClr val="accent4">
                <a:alpha val="50000"/>
              </a:schemeClr>
            </a:outerShdw>
          </a:effectLst>
        </p:spPr>
        <p:txBody>
          <a:bodyPr vert="horz" wrap="non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18441724" flipH="0" flipV="1">
            <a:off x="3902503" y="4538193"/>
            <a:ext cx="195171" cy="632628"/>
          </a:xfrm>
          <a:custGeom>
            <a:avLst/>
            <a:gdLst>
              <a:gd name="connsiteX0" fmla="*/ 0 w 314325"/>
              <a:gd name="connsiteY0" fmla="*/ 157163 h 632628"/>
              <a:gd name="connsiteX1" fmla="*/ 157163 w 314325"/>
              <a:gd name="connsiteY1" fmla="*/ 0 h 632628"/>
              <a:gd name="connsiteX2" fmla="*/ 314325 w 314325"/>
              <a:gd name="connsiteY2" fmla="*/ 157163 h 632628"/>
              <a:gd name="connsiteX3" fmla="*/ 235744 w 314325"/>
              <a:gd name="connsiteY3" fmla="*/ 157163 h 632628"/>
              <a:gd name="connsiteX4" fmla="*/ 156210 w 314325"/>
              <a:gd name="connsiteY4" fmla="*/ 632628 h 632628"/>
              <a:gd name="connsiteX5" fmla="*/ 78581 w 314325"/>
              <a:gd name="connsiteY5" fmla="*/ 157163 h 632628"/>
              <a:gd name="connsiteX6" fmla="*/ 0 w 314325"/>
              <a:gd name="connsiteY6" fmla="*/ 157163 h 632628"/>
              <a:gd name="connsiteX7" fmla="*/ 0 w 314325"/>
              <a:gd name="connsiteY7" fmla="*/ 157163 h 634581"/>
              <a:gd name="connsiteX8" fmla="*/ 0 w 314325"/>
              <a:gd name="connsiteY8" fmla="*/ 157163 h 634581"/>
            </a:gdLst>
            <a:rect l="l" t="t" r="r" b="b"/>
            <a:pathLst>
              <a:path w="314325" h="632628">
                <a:moveTo>
                  <a:pt x="0" y="157163"/>
                </a:moveTo>
                <a:lnTo>
                  <a:pt x="157163" y="0"/>
                </a:lnTo>
                <a:lnTo>
                  <a:pt x="314325" y="157163"/>
                </a:lnTo>
                <a:lnTo>
                  <a:pt x="235744" y="157163"/>
                </a:lnTo>
                <a:lnTo>
                  <a:pt x="156210" y="632628"/>
                </a:lnTo>
                <a:lnTo>
                  <a:pt x="78581" y="157163"/>
                </a:lnTo>
                <a:lnTo>
                  <a:pt x="0" y="157163"/>
                </a:ln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path path="circle">
              <a:fillToRect t="100000" l="100000"/>
            </a:path>
            <a:tileRect b="-100000" r="-100000"/>
          </a:gradFill>
          <a:ln w="38100" cap="sq">
            <a:noFill/>
            <a:miter/>
          </a:ln>
          <a:effectLst>
            <a:outerShdw dist="203200" blurRad="381000" dir="5400000" sx="90000" sy="90000" kx="0" ky="0" algn="t" rotWithShape="0">
              <a:schemeClr val="accent4">
                <a:alpha val="50000"/>
              </a:schemeClr>
            </a:outerShdw>
          </a:effectLst>
        </p:spPr>
        <p:txBody>
          <a:bodyPr vert="horz" wrap="non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3158276" flipH="1" flipV="1">
            <a:off x="8097172" y="4538193"/>
            <a:ext cx="195171" cy="632628"/>
          </a:xfrm>
          <a:custGeom>
            <a:avLst/>
            <a:gdLst>
              <a:gd name="connsiteX0" fmla="*/ 0 w 314325"/>
              <a:gd name="connsiteY0" fmla="*/ 157163 h 632628"/>
              <a:gd name="connsiteX1" fmla="*/ 157163 w 314325"/>
              <a:gd name="connsiteY1" fmla="*/ 0 h 632628"/>
              <a:gd name="connsiteX2" fmla="*/ 314325 w 314325"/>
              <a:gd name="connsiteY2" fmla="*/ 157163 h 632628"/>
              <a:gd name="connsiteX3" fmla="*/ 235744 w 314325"/>
              <a:gd name="connsiteY3" fmla="*/ 157163 h 632628"/>
              <a:gd name="connsiteX4" fmla="*/ 156210 w 314325"/>
              <a:gd name="connsiteY4" fmla="*/ 632628 h 632628"/>
              <a:gd name="connsiteX5" fmla="*/ 78581 w 314325"/>
              <a:gd name="connsiteY5" fmla="*/ 157163 h 632628"/>
              <a:gd name="connsiteX6" fmla="*/ 0 w 314325"/>
              <a:gd name="connsiteY6" fmla="*/ 157163 h 632628"/>
              <a:gd name="connsiteX7" fmla="*/ 0 w 314325"/>
              <a:gd name="connsiteY7" fmla="*/ 157163 h 634581"/>
              <a:gd name="connsiteX8" fmla="*/ 0 w 314325"/>
              <a:gd name="connsiteY8" fmla="*/ 157163 h 634581"/>
            </a:gdLst>
            <a:rect l="l" t="t" r="r" b="b"/>
            <a:pathLst>
              <a:path w="314325" h="632628">
                <a:moveTo>
                  <a:pt x="0" y="157163"/>
                </a:moveTo>
                <a:lnTo>
                  <a:pt x="157163" y="0"/>
                </a:lnTo>
                <a:lnTo>
                  <a:pt x="314325" y="157163"/>
                </a:lnTo>
                <a:lnTo>
                  <a:pt x="235744" y="157163"/>
                </a:lnTo>
                <a:lnTo>
                  <a:pt x="156210" y="632628"/>
                </a:lnTo>
                <a:lnTo>
                  <a:pt x="78581" y="157163"/>
                </a:lnTo>
                <a:lnTo>
                  <a:pt x="0" y="157163"/>
                </a:ln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path path="circle">
              <a:fillToRect t="100000" l="100000"/>
            </a:path>
            <a:tileRect b="-100000" r="-100000"/>
          </a:gradFill>
          <a:ln w="38100" cap="sq">
            <a:noFill/>
            <a:miter/>
          </a:ln>
          <a:effectLst>
            <a:outerShdw dist="203200" blurRad="381000" dir="5400000" sx="90000" sy="90000" kx="0" ky="0" algn="t" rotWithShape="0">
              <a:schemeClr val="accent4">
                <a:alpha val="50000"/>
              </a:schemeClr>
            </a:outerShdw>
          </a:effectLst>
        </p:spPr>
        <p:txBody>
          <a:bodyPr vert="horz" wrap="non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5843035" y="1663509"/>
            <a:ext cx="505929" cy="505929"/>
          </a:xfrm>
          <a:custGeom>
            <a:avLst/>
            <a:gdLst>
              <a:gd name="connsiteX0" fmla="*/ 438553 w 720000"/>
              <a:gd name="connsiteY0" fmla="*/ 189601 h 720000"/>
              <a:gd name="connsiteX1" fmla="*/ 503636 w 720000"/>
              <a:gd name="connsiteY1" fmla="*/ 216365 h 720000"/>
              <a:gd name="connsiteX2" fmla="*/ 503636 w 720000"/>
              <a:gd name="connsiteY2" fmla="*/ 346445 h 720000"/>
              <a:gd name="connsiteX3" fmla="*/ 362260 w 720000"/>
              <a:gd name="connsiteY3" fmla="*/ 487907 h 720000"/>
              <a:gd name="connsiteX4" fmla="*/ 191861 w 720000"/>
              <a:gd name="connsiteY4" fmla="*/ 528226 h 720000"/>
              <a:gd name="connsiteX5" fmla="*/ 232180 w 720000"/>
              <a:gd name="connsiteY5" fmla="*/ 357827 h 720000"/>
              <a:gd name="connsiteX6" fmla="*/ 373556 w 720000"/>
              <a:gd name="connsiteY6" fmla="*/ 216452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339581 w 720000"/>
              <a:gd name="connsiteY9" fmla="*/ 182476 h 720000"/>
              <a:gd name="connsiteX10" fmla="*/ 198205 w 720000"/>
              <a:gd name="connsiteY10" fmla="*/ 323852 h 720000"/>
              <a:gd name="connsiteX11" fmla="*/ 141637 w 720000"/>
              <a:gd name="connsiteY11" fmla="*/ 578364 h 720000"/>
              <a:gd name="connsiteX12" fmla="*/ 396149 w 720000"/>
              <a:gd name="connsiteY12" fmla="*/ 521796 h 720000"/>
              <a:gd name="connsiteX13" fmla="*/ 537524 w 720000"/>
              <a:gd name="connsiteY13" fmla="*/ 380420 h 720000"/>
              <a:gd name="connsiteX14" fmla="*/ 537524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0 h 720000"/>
              <a:gd name="connsiteX17" fmla="*/ 600000 w 720000"/>
              <a:gd name="connsiteY17" fmla="*/ 0 h 720000"/>
              <a:gd name="connsiteX18" fmla="*/ 720000 w 720000"/>
              <a:gd name="connsiteY18" fmla="*/ 120000 h 720000"/>
              <a:gd name="connsiteX19" fmla="*/ 720000 w 720000"/>
              <a:gd name="connsiteY19" fmla="*/ 600000 h 720000"/>
              <a:gd name="connsiteX20" fmla="*/ 600000 w 720000"/>
              <a:gd name="connsiteY20" fmla="*/ 720000 h 720000"/>
              <a:gd name="connsiteX21" fmla="*/ 120000 w 720000"/>
              <a:gd name="connsiteY21" fmla="*/ 720000 h 720000"/>
              <a:gd name="connsiteX22" fmla="*/ 0 w 720000"/>
              <a:gd name="connsiteY22" fmla="*/ 600000 h 720000"/>
              <a:gd name="connsiteX23" fmla="*/ 0 w 720000"/>
              <a:gd name="connsiteY23" fmla="*/ 120000 h 720000"/>
              <a:gd name="connsiteX24" fmla="*/ 120000 w 720000"/>
              <a:gd name="connsiteY24" fmla="*/ 0 h 720000"/>
            </a:gdLst>
            <a:rect l="l" t="t" r="r" b="b"/>
            <a:pathLst>
              <a:path w="720000" h="720000">
                <a:moveTo>
                  <a:pt x="438553" y="189601"/>
                </a:moveTo>
                <a:cubicBezTo>
                  <a:pt x="463230" y="189601"/>
                  <a:pt x="486344" y="199073"/>
                  <a:pt x="503636" y="216365"/>
                </a:cubicBezTo>
                <a:cubicBezTo>
                  <a:pt x="539523" y="252252"/>
                  <a:pt x="539523" y="310557"/>
                  <a:pt x="503636" y="346445"/>
                </a:cubicBezTo>
                <a:lnTo>
                  <a:pt x="362260" y="487907"/>
                </a:lnTo>
                <a:cubicBezTo>
                  <a:pt x="342622" y="507545"/>
                  <a:pt x="266503" y="522665"/>
                  <a:pt x="191861" y="528226"/>
                </a:cubicBezTo>
                <a:cubicBezTo>
                  <a:pt x="197336" y="453584"/>
                  <a:pt x="212456" y="377465"/>
                  <a:pt x="232180" y="357827"/>
                </a:cubicBezTo>
                <a:lnTo>
                  <a:pt x="373556" y="216452"/>
                </a:lnTo>
                <a:cubicBezTo>
                  <a:pt x="390761" y="199073"/>
                  <a:pt x="413875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02666" y="141636"/>
                  <a:pt x="366778" y="155278"/>
                  <a:pt x="339581" y="182476"/>
                </a:cubicBezTo>
                <a:lnTo>
                  <a:pt x="198205" y="323852"/>
                </a:lnTo>
                <a:cubicBezTo>
                  <a:pt x="143723" y="378335"/>
                  <a:pt x="141637" y="578364"/>
                  <a:pt x="141637" y="578364"/>
                </a:cubicBezTo>
                <a:cubicBezTo>
                  <a:pt x="141637" y="578364"/>
                  <a:pt x="341753" y="576278"/>
                  <a:pt x="396149" y="521796"/>
                </a:cubicBezTo>
                <a:lnTo>
                  <a:pt x="537524" y="380420"/>
                </a:lnTo>
                <a:cubicBezTo>
                  <a:pt x="592007" y="325938"/>
                  <a:pt x="592007" y="236872"/>
                  <a:pt x="537524" y="182476"/>
                </a:cubicBezTo>
                <a:cubicBezTo>
                  <a:pt x="510327" y="155191"/>
                  <a:pt x="474440" y="141636"/>
                  <a:pt x="438553" y="141636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0" flipV="0">
            <a:off x="9146774" y="3063019"/>
            <a:ext cx="505929" cy="418474"/>
          </a:xfrm>
          <a:custGeom>
            <a:avLst/>
            <a:gdLst>
              <a:gd name="connsiteX0" fmla="*/ 114387 w 870468"/>
              <a:gd name="connsiteY0" fmla="*/ 394297 h 720000"/>
              <a:gd name="connsiteX1" fmla="*/ 125598 w 870468"/>
              <a:gd name="connsiteY1" fmla="*/ 421319 h 720000"/>
              <a:gd name="connsiteX2" fmla="*/ 153878 w 870468"/>
              <a:gd name="connsiteY2" fmla="*/ 433051 h 720000"/>
              <a:gd name="connsiteX3" fmla="*/ 449972 w 870468"/>
              <a:gd name="connsiteY3" fmla="*/ 433051 h 720000"/>
              <a:gd name="connsiteX4" fmla="*/ 478295 w 870468"/>
              <a:gd name="connsiteY4" fmla="*/ 421319 h 720000"/>
              <a:gd name="connsiteX5" fmla="*/ 489465 w 870468"/>
              <a:gd name="connsiteY5" fmla="*/ 394297 h 720000"/>
              <a:gd name="connsiteX6" fmla="*/ 116266 w 870468"/>
              <a:gd name="connsiteY6" fmla="*/ 68594 h 720000"/>
              <a:gd name="connsiteX7" fmla="*/ 68708 w 870468"/>
              <a:gd name="connsiteY7" fmla="*/ 116152 h 720000"/>
              <a:gd name="connsiteX8" fmla="*/ 68708 w 870468"/>
              <a:gd name="connsiteY8" fmla="*/ 241561 h 720000"/>
              <a:gd name="connsiteX9" fmla="*/ 801875 w 870468"/>
              <a:gd name="connsiteY9" fmla="*/ 241561 h 720000"/>
              <a:gd name="connsiteX10" fmla="*/ 801875 w 870468"/>
              <a:gd name="connsiteY10" fmla="*/ 116152 h 720000"/>
              <a:gd name="connsiteX11" fmla="*/ 754317 w 870468"/>
              <a:gd name="connsiteY11" fmla="*/ 68594 h 720000"/>
              <a:gd name="connsiteX12" fmla="*/ 598821 w 870468"/>
              <a:gd name="connsiteY12" fmla="*/ 68594 h 720000"/>
              <a:gd name="connsiteX13" fmla="*/ 116266 w 870468"/>
              <a:gd name="connsiteY13" fmla="*/ 0 h 720000"/>
              <a:gd name="connsiteX14" fmla="*/ 598821 w 870468"/>
              <a:gd name="connsiteY14" fmla="*/ 0 h 720000"/>
              <a:gd name="connsiteX15" fmla="*/ 754317 w 870468"/>
              <a:gd name="connsiteY15" fmla="*/ 0 h 720000"/>
              <a:gd name="connsiteX16" fmla="*/ 870468 w 870468"/>
              <a:gd name="connsiteY16" fmla="*/ 116152 h 720000"/>
              <a:gd name="connsiteX17" fmla="*/ 870468 w 870468"/>
              <a:gd name="connsiteY17" fmla="*/ 360001 h 720000"/>
              <a:gd name="connsiteX18" fmla="*/ 870468 w 870468"/>
              <a:gd name="connsiteY18" fmla="*/ 603736 h 720000"/>
              <a:gd name="connsiteX19" fmla="*/ 754317 w 870468"/>
              <a:gd name="connsiteY19" fmla="*/ 720000 h 720000"/>
              <a:gd name="connsiteX20" fmla="*/ 598821 w 870468"/>
              <a:gd name="connsiteY20" fmla="*/ 720000 h 720000"/>
              <a:gd name="connsiteX21" fmla="*/ 116266 w 870468"/>
              <a:gd name="connsiteY21" fmla="*/ 720000 h 720000"/>
              <a:gd name="connsiteX22" fmla="*/ 115 w 870468"/>
              <a:gd name="connsiteY22" fmla="*/ 603850 h 720000"/>
              <a:gd name="connsiteX23" fmla="*/ 115 w 870468"/>
              <a:gd name="connsiteY23" fmla="*/ 360279 h 720000"/>
              <a:gd name="connsiteX24" fmla="*/ 0 w 870468"/>
              <a:gd name="connsiteY24" fmla="*/ 360001 h 720000"/>
              <a:gd name="connsiteX25" fmla="*/ 115 w 870468"/>
              <a:gd name="connsiteY25" fmla="*/ 359723 h 720000"/>
              <a:gd name="connsiteX26" fmla="*/ 115 w 870468"/>
              <a:gd name="connsiteY26" fmla="*/ 116152 h 720000"/>
              <a:gd name="connsiteX27" fmla="*/ 116266 w 870468"/>
              <a:gd name="connsiteY27" fmla="*/ 0 h 720000"/>
            </a:gdLst>
            <a:rect l="l" t="t" r="r" b="b"/>
            <a:pathLst>
              <a:path w="870468" h="720000">
                <a:moveTo>
                  <a:pt x="114387" y="394297"/>
                </a:moveTo>
                <a:lnTo>
                  <a:pt x="125598" y="421319"/>
                </a:lnTo>
                <a:cubicBezTo>
                  <a:pt x="132843" y="428564"/>
                  <a:pt x="142846" y="433051"/>
                  <a:pt x="153878" y="433051"/>
                </a:cubicBezTo>
                <a:lnTo>
                  <a:pt x="449972" y="433051"/>
                </a:lnTo>
                <a:cubicBezTo>
                  <a:pt x="461061" y="433051"/>
                  <a:pt x="471064" y="428564"/>
                  <a:pt x="478295" y="421319"/>
                </a:cubicBezTo>
                <a:lnTo>
                  <a:pt x="489465" y="394297"/>
                </a:lnTo>
                <a:close/>
                <a:moveTo>
                  <a:pt x="116266" y="68594"/>
                </a:moveTo>
                <a:cubicBezTo>
                  <a:pt x="89972" y="68594"/>
                  <a:pt x="68708" y="89972"/>
                  <a:pt x="68708" y="116152"/>
                </a:cubicBezTo>
                <a:lnTo>
                  <a:pt x="68708" y="241561"/>
                </a:lnTo>
                <a:lnTo>
                  <a:pt x="801875" y="241561"/>
                </a:lnTo>
                <a:lnTo>
                  <a:pt x="801875" y="116152"/>
                </a:lnTo>
                <a:cubicBezTo>
                  <a:pt x="801875" y="89858"/>
                  <a:pt x="780497" y="68594"/>
                  <a:pt x="754317" y="68594"/>
                </a:cubicBezTo>
                <a:lnTo>
                  <a:pt x="598821" y="68594"/>
                </a:lnTo>
                <a:close/>
                <a:moveTo>
                  <a:pt x="116266" y="0"/>
                </a:moveTo>
                <a:lnTo>
                  <a:pt x="598821" y="0"/>
                </a:lnTo>
                <a:lnTo>
                  <a:pt x="754317" y="0"/>
                </a:lnTo>
                <a:cubicBezTo>
                  <a:pt x="818338" y="0"/>
                  <a:pt x="870468" y="52131"/>
                  <a:pt x="870468" y="116152"/>
                </a:cubicBezTo>
                <a:lnTo>
                  <a:pt x="870468" y="360001"/>
                </a:lnTo>
                <a:lnTo>
                  <a:pt x="870468" y="603736"/>
                </a:lnTo>
                <a:cubicBezTo>
                  <a:pt x="870468" y="667870"/>
                  <a:pt x="818338" y="720000"/>
                  <a:pt x="754317" y="720000"/>
                </a:cubicBezTo>
                <a:lnTo>
                  <a:pt x="598821" y="720000"/>
                </a:lnTo>
                <a:lnTo>
                  <a:pt x="116266" y="720000"/>
                </a:lnTo>
                <a:cubicBezTo>
                  <a:pt x="52246" y="720000"/>
                  <a:pt x="115" y="667870"/>
                  <a:pt x="115" y="603850"/>
                </a:cubicBezTo>
                <a:lnTo>
                  <a:pt x="115" y="360279"/>
                </a:lnTo>
                <a:lnTo>
                  <a:pt x="0" y="360001"/>
                </a:lnTo>
                <a:lnTo>
                  <a:pt x="115" y="359723"/>
                </a:lnTo>
                <a:lnTo>
                  <a:pt x="115" y="116152"/>
                </a:lnTo>
                <a:cubicBezTo>
                  <a:pt x="115" y="52131"/>
                  <a:pt x="52246" y="0"/>
                  <a:pt x="116266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0" flipH="0" flipV="0">
            <a:off x="2558258" y="3019291"/>
            <a:ext cx="443006" cy="505929"/>
          </a:xfrm>
          <a:custGeom>
            <a:avLst/>
            <a:gdLst>
              <a:gd name="connsiteX0" fmla="*/ 361901 w 630455"/>
              <a:gd name="connsiteY0" fmla="*/ 82589 h 720001"/>
              <a:gd name="connsiteX1" fmla="*/ 361901 w 630455"/>
              <a:gd name="connsiteY1" fmla="*/ 203034 h 720001"/>
              <a:gd name="connsiteX2" fmla="*/ 427179 w 630455"/>
              <a:gd name="connsiteY2" fmla="*/ 268312 h 720001"/>
              <a:gd name="connsiteX3" fmla="*/ 547624 w 630455"/>
              <a:gd name="connsiteY3" fmla="*/ 268312 h 720001"/>
              <a:gd name="connsiteX4" fmla="*/ 113812 w 630455"/>
              <a:gd name="connsiteY4" fmla="*/ 0 h 720001"/>
              <a:gd name="connsiteX5" fmla="*/ 338847 w 630455"/>
              <a:gd name="connsiteY5" fmla="*/ 0 h 720001"/>
              <a:gd name="connsiteX6" fmla="*/ 340465 w 630455"/>
              <a:gd name="connsiteY6" fmla="*/ 162 h 720001"/>
              <a:gd name="connsiteX7" fmla="*/ 340789 w 630455"/>
              <a:gd name="connsiteY7" fmla="*/ 162 h 720001"/>
              <a:gd name="connsiteX8" fmla="*/ 344106 w 630455"/>
              <a:gd name="connsiteY8" fmla="*/ 809 h 720001"/>
              <a:gd name="connsiteX9" fmla="*/ 344186 w 630455"/>
              <a:gd name="connsiteY9" fmla="*/ 809 h 720001"/>
              <a:gd name="connsiteX10" fmla="*/ 347422 w 630455"/>
              <a:gd name="connsiteY10" fmla="*/ 1942 h 720001"/>
              <a:gd name="connsiteX11" fmla="*/ 347503 w 630455"/>
              <a:gd name="connsiteY11" fmla="*/ 1942 h 720001"/>
              <a:gd name="connsiteX12" fmla="*/ 349040 w 630455"/>
              <a:gd name="connsiteY12" fmla="*/ 2670 h 720001"/>
              <a:gd name="connsiteX13" fmla="*/ 349121 w 630455"/>
              <a:gd name="connsiteY13" fmla="*/ 2670 h 720001"/>
              <a:gd name="connsiteX14" fmla="*/ 350576 w 630455"/>
              <a:gd name="connsiteY14" fmla="*/ 3479 h 720001"/>
              <a:gd name="connsiteX15" fmla="*/ 350819 w 630455"/>
              <a:gd name="connsiteY15" fmla="*/ 3640 h 720001"/>
              <a:gd name="connsiteX16" fmla="*/ 352033 w 630455"/>
              <a:gd name="connsiteY16" fmla="*/ 4449 h 720001"/>
              <a:gd name="connsiteX17" fmla="*/ 352194 w 630455"/>
              <a:gd name="connsiteY17" fmla="*/ 4530 h 720001"/>
              <a:gd name="connsiteX18" fmla="*/ 353408 w 630455"/>
              <a:gd name="connsiteY18" fmla="*/ 5501 h 720001"/>
              <a:gd name="connsiteX19" fmla="*/ 353651 w 630455"/>
              <a:gd name="connsiteY19" fmla="*/ 5743 h 720001"/>
              <a:gd name="connsiteX20" fmla="*/ 354864 w 630455"/>
              <a:gd name="connsiteY20" fmla="*/ 6876 h 720001"/>
              <a:gd name="connsiteX21" fmla="*/ 623418 w 630455"/>
              <a:gd name="connsiteY21" fmla="*/ 275430 h 720001"/>
              <a:gd name="connsiteX22" fmla="*/ 624551 w 630455"/>
              <a:gd name="connsiteY22" fmla="*/ 276643 h 720001"/>
              <a:gd name="connsiteX23" fmla="*/ 624793 w 630455"/>
              <a:gd name="connsiteY23" fmla="*/ 276886 h 720001"/>
              <a:gd name="connsiteX24" fmla="*/ 625764 w 630455"/>
              <a:gd name="connsiteY24" fmla="*/ 278180 h 720001"/>
              <a:gd name="connsiteX25" fmla="*/ 625845 w 630455"/>
              <a:gd name="connsiteY25" fmla="*/ 278342 h 720001"/>
              <a:gd name="connsiteX26" fmla="*/ 626734 w 630455"/>
              <a:gd name="connsiteY26" fmla="*/ 279637 h 720001"/>
              <a:gd name="connsiteX27" fmla="*/ 626896 w 630455"/>
              <a:gd name="connsiteY27" fmla="*/ 279798 h 720001"/>
              <a:gd name="connsiteX28" fmla="*/ 627705 w 630455"/>
              <a:gd name="connsiteY28" fmla="*/ 281254 h 720001"/>
              <a:gd name="connsiteX29" fmla="*/ 628433 w 630455"/>
              <a:gd name="connsiteY29" fmla="*/ 282791 h 720001"/>
              <a:gd name="connsiteX30" fmla="*/ 629646 w 630455"/>
              <a:gd name="connsiteY30" fmla="*/ 286107 h 720001"/>
              <a:gd name="connsiteX31" fmla="*/ 630293 w 630455"/>
              <a:gd name="connsiteY31" fmla="*/ 289424 h 720001"/>
              <a:gd name="connsiteX32" fmla="*/ 630293 w 630455"/>
              <a:gd name="connsiteY32" fmla="*/ 289667 h 720001"/>
              <a:gd name="connsiteX33" fmla="*/ 630455 w 630455"/>
              <a:gd name="connsiteY33" fmla="*/ 291285 h 720001"/>
              <a:gd name="connsiteX34" fmla="*/ 630455 w 630455"/>
              <a:gd name="connsiteY34" fmla="*/ 292579 h 720001"/>
              <a:gd name="connsiteX35" fmla="*/ 630455 w 630455"/>
              <a:gd name="connsiteY35" fmla="*/ 606189 h 720001"/>
              <a:gd name="connsiteX36" fmla="*/ 516644 w 630455"/>
              <a:gd name="connsiteY36" fmla="*/ 720001 h 720001"/>
              <a:gd name="connsiteX37" fmla="*/ 113812 w 630455"/>
              <a:gd name="connsiteY37" fmla="*/ 720001 h 720001"/>
              <a:gd name="connsiteX38" fmla="*/ 0 w 630455"/>
              <a:gd name="connsiteY38" fmla="*/ 606189 h 720001"/>
              <a:gd name="connsiteX39" fmla="*/ 0 w 630455"/>
              <a:gd name="connsiteY39" fmla="*/ 113812 h 720001"/>
              <a:gd name="connsiteX40" fmla="*/ 113812 w 630455"/>
              <a:gd name="connsiteY40" fmla="*/ 0 h 720001"/>
            </a:gdLst>
            <a:rect l="l" t="t" r="r" b="b"/>
            <a:pathLst>
              <a:path w="630455" h="720001">
                <a:moveTo>
                  <a:pt x="361901" y="82589"/>
                </a:moveTo>
                <a:lnTo>
                  <a:pt x="361901" y="203034"/>
                </a:lnTo>
                <a:cubicBezTo>
                  <a:pt x="361901" y="239030"/>
                  <a:pt x="391183" y="268312"/>
                  <a:pt x="427179" y="268312"/>
                </a:cubicBezTo>
                <a:lnTo>
                  <a:pt x="547624" y="268312"/>
                </a:lnTo>
                <a:close/>
                <a:moveTo>
                  <a:pt x="113812" y="0"/>
                </a:moveTo>
                <a:lnTo>
                  <a:pt x="338847" y="0"/>
                </a:lnTo>
                <a:cubicBezTo>
                  <a:pt x="339414" y="81"/>
                  <a:pt x="339899" y="81"/>
                  <a:pt x="340465" y="162"/>
                </a:cubicBezTo>
                <a:lnTo>
                  <a:pt x="340789" y="162"/>
                </a:lnTo>
                <a:cubicBezTo>
                  <a:pt x="341922" y="324"/>
                  <a:pt x="343054" y="485"/>
                  <a:pt x="344106" y="809"/>
                </a:cubicBezTo>
                <a:lnTo>
                  <a:pt x="344186" y="809"/>
                </a:lnTo>
                <a:cubicBezTo>
                  <a:pt x="345238" y="1052"/>
                  <a:pt x="346371" y="1456"/>
                  <a:pt x="347422" y="1942"/>
                </a:cubicBezTo>
                <a:lnTo>
                  <a:pt x="347503" y="1942"/>
                </a:lnTo>
                <a:cubicBezTo>
                  <a:pt x="348069" y="2184"/>
                  <a:pt x="348555" y="2427"/>
                  <a:pt x="349040" y="2670"/>
                </a:cubicBezTo>
                <a:lnTo>
                  <a:pt x="349121" y="2670"/>
                </a:lnTo>
                <a:cubicBezTo>
                  <a:pt x="349606" y="2912"/>
                  <a:pt x="350091" y="3155"/>
                  <a:pt x="350576" y="3479"/>
                </a:cubicBezTo>
                <a:cubicBezTo>
                  <a:pt x="350657" y="3560"/>
                  <a:pt x="350739" y="3560"/>
                  <a:pt x="350819" y="3640"/>
                </a:cubicBezTo>
                <a:cubicBezTo>
                  <a:pt x="351224" y="3883"/>
                  <a:pt x="351628" y="4126"/>
                  <a:pt x="352033" y="4449"/>
                </a:cubicBezTo>
                <a:cubicBezTo>
                  <a:pt x="352113" y="4449"/>
                  <a:pt x="352113" y="4530"/>
                  <a:pt x="352194" y="4530"/>
                </a:cubicBezTo>
                <a:lnTo>
                  <a:pt x="353408" y="5501"/>
                </a:lnTo>
                <a:lnTo>
                  <a:pt x="353651" y="5743"/>
                </a:lnTo>
                <a:cubicBezTo>
                  <a:pt x="354055" y="6148"/>
                  <a:pt x="354459" y="6472"/>
                  <a:pt x="354864" y="6876"/>
                </a:cubicBezTo>
                <a:lnTo>
                  <a:pt x="623418" y="275430"/>
                </a:lnTo>
                <a:cubicBezTo>
                  <a:pt x="623822" y="275835"/>
                  <a:pt x="624227" y="276239"/>
                  <a:pt x="624551" y="276643"/>
                </a:cubicBezTo>
                <a:lnTo>
                  <a:pt x="624793" y="276886"/>
                </a:lnTo>
                <a:cubicBezTo>
                  <a:pt x="625117" y="277291"/>
                  <a:pt x="625440" y="277776"/>
                  <a:pt x="625764" y="278180"/>
                </a:cubicBezTo>
                <a:cubicBezTo>
                  <a:pt x="625764" y="278261"/>
                  <a:pt x="625845" y="278342"/>
                  <a:pt x="625845" y="278342"/>
                </a:cubicBezTo>
                <a:cubicBezTo>
                  <a:pt x="626168" y="278747"/>
                  <a:pt x="626491" y="279232"/>
                  <a:pt x="626734" y="279637"/>
                </a:cubicBezTo>
                <a:cubicBezTo>
                  <a:pt x="626815" y="279637"/>
                  <a:pt x="626815" y="279717"/>
                  <a:pt x="626896" y="279798"/>
                </a:cubicBezTo>
                <a:cubicBezTo>
                  <a:pt x="627139" y="280284"/>
                  <a:pt x="627462" y="280769"/>
                  <a:pt x="627705" y="281254"/>
                </a:cubicBezTo>
                <a:cubicBezTo>
                  <a:pt x="627948" y="281739"/>
                  <a:pt x="628190" y="282225"/>
                  <a:pt x="628433" y="282791"/>
                </a:cubicBezTo>
                <a:cubicBezTo>
                  <a:pt x="628918" y="283843"/>
                  <a:pt x="629323" y="284975"/>
                  <a:pt x="629646" y="286107"/>
                </a:cubicBezTo>
                <a:cubicBezTo>
                  <a:pt x="629889" y="287159"/>
                  <a:pt x="630132" y="288291"/>
                  <a:pt x="630293" y="289424"/>
                </a:cubicBezTo>
                <a:lnTo>
                  <a:pt x="630293" y="289667"/>
                </a:lnTo>
                <a:cubicBezTo>
                  <a:pt x="630374" y="290152"/>
                  <a:pt x="630455" y="290718"/>
                  <a:pt x="630455" y="291285"/>
                </a:cubicBezTo>
                <a:lnTo>
                  <a:pt x="630455" y="292579"/>
                </a:lnTo>
                <a:lnTo>
                  <a:pt x="630455" y="606189"/>
                </a:lnTo>
                <a:cubicBezTo>
                  <a:pt x="630455" y="668959"/>
                  <a:pt x="579414" y="720001"/>
                  <a:pt x="516644" y="720001"/>
                </a:cubicBezTo>
                <a:lnTo>
                  <a:pt x="113812" y="720001"/>
                </a:lnTo>
                <a:cubicBezTo>
                  <a:pt x="51042" y="720001"/>
                  <a:pt x="0" y="668959"/>
                  <a:pt x="0" y="606189"/>
                </a:cubicBezTo>
                <a:lnTo>
                  <a:pt x="0" y="113812"/>
                </a:lnTo>
                <a:cubicBezTo>
                  <a:pt x="0" y="51042"/>
                  <a:pt x="51042" y="0"/>
                  <a:pt x="113812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0" flipH="0" flipV="0">
            <a:off x="5177384" y="4908340"/>
            <a:ext cx="1941029" cy="1759767"/>
          </a:xfrm>
          <a:custGeom>
            <a:avLst/>
            <a:gdLst>
              <a:gd name="connsiteX0" fmla="*/ 31770 w 794163"/>
              <a:gd name="connsiteY0" fmla="*/ 656460 h 720001"/>
              <a:gd name="connsiteX1" fmla="*/ 762297 w 794163"/>
              <a:gd name="connsiteY1" fmla="*/ 656460 h 720001"/>
              <a:gd name="connsiteX2" fmla="*/ 794163 w 794163"/>
              <a:gd name="connsiteY2" fmla="*/ 688230 h 720001"/>
              <a:gd name="connsiteX3" fmla="*/ 762392 w 794163"/>
              <a:gd name="connsiteY3" fmla="*/ 720001 h 720001"/>
              <a:gd name="connsiteX4" fmla="*/ 31770 w 794163"/>
              <a:gd name="connsiteY4" fmla="*/ 720001 h 720001"/>
              <a:gd name="connsiteX5" fmla="*/ 0 w 794163"/>
              <a:gd name="connsiteY5" fmla="*/ 688230 h 720001"/>
              <a:gd name="connsiteX6" fmla="*/ 31770 w 794163"/>
              <a:gd name="connsiteY6" fmla="*/ 656460 h 720001"/>
              <a:gd name="connsiteX7" fmla="*/ 613493 w 794163"/>
              <a:gd name="connsiteY7" fmla="*/ 317608 h 720001"/>
              <a:gd name="connsiteX8" fmla="*/ 710048 w 794163"/>
              <a:gd name="connsiteY8" fmla="*/ 317608 h 720001"/>
              <a:gd name="connsiteX9" fmla="*/ 767655 w 794163"/>
              <a:gd name="connsiteY9" fmla="*/ 375216 h 720001"/>
              <a:gd name="connsiteX10" fmla="*/ 767655 w 794163"/>
              <a:gd name="connsiteY10" fmla="*/ 524689 h 720001"/>
              <a:gd name="connsiteX11" fmla="*/ 710048 w 794163"/>
              <a:gd name="connsiteY11" fmla="*/ 582297 h 720001"/>
              <a:gd name="connsiteX12" fmla="*/ 613493 w 794163"/>
              <a:gd name="connsiteY12" fmla="*/ 582297 h 720001"/>
              <a:gd name="connsiteX13" fmla="*/ 555885 w 794163"/>
              <a:gd name="connsiteY13" fmla="*/ 524689 h 720001"/>
              <a:gd name="connsiteX14" fmla="*/ 555885 w 794163"/>
              <a:gd name="connsiteY14" fmla="*/ 375216 h 720001"/>
              <a:gd name="connsiteX15" fmla="*/ 613493 w 794163"/>
              <a:gd name="connsiteY15" fmla="*/ 317608 h 720001"/>
              <a:gd name="connsiteX16" fmla="*/ 84019 w 794163"/>
              <a:gd name="connsiteY16" fmla="*/ 211770 h 720001"/>
              <a:gd name="connsiteX17" fmla="*/ 180574 w 794163"/>
              <a:gd name="connsiteY17" fmla="*/ 211770 h 720001"/>
              <a:gd name="connsiteX18" fmla="*/ 238182 w 794163"/>
              <a:gd name="connsiteY18" fmla="*/ 269282 h 720001"/>
              <a:gd name="connsiteX19" fmla="*/ 238182 w 794163"/>
              <a:gd name="connsiteY19" fmla="*/ 524785 h 720001"/>
              <a:gd name="connsiteX20" fmla="*/ 180574 w 794163"/>
              <a:gd name="connsiteY20" fmla="*/ 582393 h 720001"/>
              <a:gd name="connsiteX21" fmla="*/ 84019 w 794163"/>
              <a:gd name="connsiteY21" fmla="*/ 582393 h 720001"/>
              <a:gd name="connsiteX22" fmla="*/ 26411 w 794163"/>
              <a:gd name="connsiteY22" fmla="*/ 524785 h 720001"/>
              <a:gd name="connsiteX23" fmla="*/ 26411 w 794163"/>
              <a:gd name="connsiteY23" fmla="*/ 269378 h 720001"/>
              <a:gd name="connsiteX24" fmla="*/ 84019 w 794163"/>
              <a:gd name="connsiteY24" fmla="*/ 211770 h 720001"/>
              <a:gd name="connsiteX25" fmla="*/ 348708 w 794163"/>
              <a:gd name="connsiteY25" fmla="*/ 0 h 720001"/>
              <a:gd name="connsiteX26" fmla="*/ 445359 w 794163"/>
              <a:gd name="connsiteY26" fmla="*/ 0 h 720001"/>
              <a:gd name="connsiteX27" fmla="*/ 502871 w 794163"/>
              <a:gd name="connsiteY27" fmla="*/ 57607 h 720001"/>
              <a:gd name="connsiteX28" fmla="*/ 502871 w 794163"/>
              <a:gd name="connsiteY28" fmla="*/ 524785 h 720001"/>
              <a:gd name="connsiteX29" fmla="*/ 445263 w 794163"/>
              <a:gd name="connsiteY29" fmla="*/ 582393 h 720001"/>
              <a:gd name="connsiteX30" fmla="*/ 348708 w 794163"/>
              <a:gd name="connsiteY30" fmla="*/ 582393 h 720001"/>
              <a:gd name="connsiteX31" fmla="*/ 291100 w 794163"/>
              <a:gd name="connsiteY31" fmla="*/ 524785 h 720001"/>
              <a:gd name="connsiteX32" fmla="*/ 291100 w 794163"/>
              <a:gd name="connsiteY32" fmla="*/ 57607 h 720001"/>
              <a:gd name="connsiteX33" fmla="*/ 348708 w 794163"/>
              <a:gd name="connsiteY33" fmla="*/ 0 h 720001"/>
            </a:gdLst>
            <a:rect l="l" t="t" r="r" b="b"/>
            <a:pathLst>
              <a:path w="794163" h="720001">
                <a:moveTo>
                  <a:pt x="31770" y="656460"/>
                </a:moveTo>
                <a:lnTo>
                  <a:pt x="762297" y="656460"/>
                </a:lnTo>
                <a:cubicBezTo>
                  <a:pt x="779904" y="656460"/>
                  <a:pt x="794067" y="670622"/>
                  <a:pt x="794163" y="688230"/>
                </a:cubicBezTo>
                <a:cubicBezTo>
                  <a:pt x="794163" y="705742"/>
                  <a:pt x="779904" y="720001"/>
                  <a:pt x="762392" y="720001"/>
                </a:cubicBezTo>
                <a:lnTo>
                  <a:pt x="31770" y="720001"/>
                </a:lnTo>
                <a:cubicBezTo>
                  <a:pt x="14258" y="720001"/>
                  <a:pt x="0" y="705742"/>
                  <a:pt x="0" y="688230"/>
                </a:cubicBezTo>
                <a:cubicBezTo>
                  <a:pt x="0" y="670718"/>
                  <a:pt x="14258" y="656460"/>
                  <a:pt x="31770" y="656460"/>
                </a:cubicBezTo>
                <a:close/>
                <a:moveTo>
                  <a:pt x="613493" y="317608"/>
                </a:moveTo>
                <a:lnTo>
                  <a:pt x="710048" y="317608"/>
                </a:lnTo>
                <a:cubicBezTo>
                  <a:pt x="741818" y="317608"/>
                  <a:pt x="767655" y="343445"/>
                  <a:pt x="767655" y="375216"/>
                </a:cubicBezTo>
                <a:lnTo>
                  <a:pt x="767655" y="524689"/>
                </a:lnTo>
                <a:cubicBezTo>
                  <a:pt x="767655" y="556364"/>
                  <a:pt x="741723" y="582297"/>
                  <a:pt x="710048" y="582297"/>
                </a:cubicBezTo>
                <a:lnTo>
                  <a:pt x="613493" y="582297"/>
                </a:lnTo>
                <a:cubicBezTo>
                  <a:pt x="581818" y="582297"/>
                  <a:pt x="555885" y="556364"/>
                  <a:pt x="555885" y="524689"/>
                </a:cubicBezTo>
                <a:lnTo>
                  <a:pt x="555885" y="375216"/>
                </a:lnTo>
                <a:cubicBezTo>
                  <a:pt x="555885" y="343349"/>
                  <a:pt x="581722" y="317608"/>
                  <a:pt x="613493" y="317608"/>
                </a:cubicBezTo>
                <a:close/>
                <a:moveTo>
                  <a:pt x="84019" y="211770"/>
                </a:moveTo>
                <a:lnTo>
                  <a:pt x="180574" y="211770"/>
                </a:lnTo>
                <a:cubicBezTo>
                  <a:pt x="212440" y="211770"/>
                  <a:pt x="238182" y="237512"/>
                  <a:pt x="238182" y="269282"/>
                </a:cubicBezTo>
                <a:lnTo>
                  <a:pt x="238182" y="524785"/>
                </a:lnTo>
                <a:cubicBezTo>
                  <a:pt x="238182" y="556460"/>
                  <a:pt x="212248" y="582393"/>
                  <a:pt x="180574" y="582393"/>
                </a:cubicBezTo>
                <a:lnTo>
                  <a:pt x="84019" y="582393"/>
                </a:lnTo>
                <a:cubicBezTo>
                  <a:pt x="52344" y="582393"/>
                  <a:pt x="26411" y="556460"/>
                  <a:pt x="26411" y="524785"/>
                </a:cubicBezTo>
                <a:lnTo>
                  <a:pt x="26411" y="269378"/>
                </a:lnTo>
                <a:cubicBezTo>
                  <a:pt x="26411" y="237512"/>
                  <a:pt x="52248" y="211770"/>
                  <a:pt x="84019" y="211770"/>
                </a:cubicBezTo>
                <a:close/>
                <a:moveTo>
                  <a:pt x="348708" y="0"/>
                </a:moveTo>
                <a:lnTo>
                  <a:pt x="445359" y="0"/>
                </a:lnTo>
                <a:cubicBezTo>
                  <a:pt x="477129" y="0"/>
                  <a:pt x="502871" y="25741"/>
                  <a:pt x="502871" y="57607"/>
                </a:cubicBezTo>
                <a:lnTo>
                  <a:pt x="502871" y="524785"/>
                </a:lnTo>
                <a:cubicBezTo>
                  <a:pt x="502871" y="556460"/>
                  <a:pt x="476937" y="582393"/>
                  <a:pt x="445263" y="582393"/>
                </a:cubicBezTo>
                <a:lnTo>
                  <a:pt x="348708" y="582393"/>
                </a:lnTo>
                <a:cubicBezTo>
                  <a:pt x="317033" y="582393"/>
                  <a:pt x="291100" y="556460"/>
                  <a:pt x="291100" y="524785"/>
                </a:cubicBezTo>
                <a:lnTo>
                  <a:pt x="291100" y="57607"/>
                </a:lnTo>
                <a:cubicBezTo>
                  <a:pt x="291100" y="25741"/>
                  <a:pt x="316937" y="0"/>
                  <a:pt x="348708" y="0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0" flipV="0">
            <a:off x="2272669" y="3633848"/>
            <a:ext cx="1104898" cy="3315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成立背景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0" flipH="0" flipV="0">
            <a:off x="2272669" y="4014848"/>
            <a:ext cx="1104898" cy="7633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504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随着人口老龄化加剧，传统养老服务模式难以满足市场需求，AI 芯颐养院应运而生，旨在为老年人提供智能化、高品质养老服务。
项目团队凭借在养老行业多年积累的经验和资源，敏锐捕捉市场机遇，决定投身智能养老领域，填补市场空白。</a:t>
            </a: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rot="0" flipH="0" flipV="0">
            <a:off x="5549269" y="2287648"/>
            <a:ext cx="1104898" cy="3315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发展历程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rot="0" flipH="0" flipV="0">
            <a:off x="5549269" y="2668648"/>
            <a:ext cx="1104898" cy="7633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578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项目筹备阶段，团队深入调研市场需求，考察国内外先进养老机构，确定项目定位和发展方向。
目前处于建设阶段，各项工程进展顺利，预计明年上半年正式开业运营，开启智能养老新征程。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 rot="0" flipH="0" flipV="0">
            <a:off x="8851269" y="3633848"/>
            <a:ext cx="1104898" cy="3315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企业性质</a:t>
            </a: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 rot="0" flipH="0" flipV="0">
            <a:off x="8851269" y="4014848"/>
            <a:ext cx="1104898" cy="7633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578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AI 芯颐养院为民营股份制企业，由多位行业专家、企业家共同投资成立，具有灵活的经营机制和创新的发展理念。
企业秉持社会责任与经济效益并重原则，致力于打造可持续发展的智能养老品牌。</a:t>
            </a: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rot="0" flipH="0" flipV="0">
            <a:off x="316690" y="373380"/>
            <a:ext cx="8171180" cy="65532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 rot="0" flipH="0" flipV="0">
            <a:off x="783520" y="484345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企业简介</a:t>
            </a:r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 rot="0" flipH="0" flipV="0">
            <a:off x="324256" y="626624"/>
            <a:ext cx="402076" cy="402076"/>
          </a:xfrm>
          <a:prstGeom prst="rtTriangl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642409" y="1960121"/>
            <a:ext cx="509042" cy="3653651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  <a:effectLst>
            <a:outerShdw dist="38100" blurRad="139700" dir="2700015" sx="100000" sy="100000" kx="0" ky="0" algn="b" rotWithShape="0">
              <a:schemeClr val="accent1">
                <a:lumMod val="100000"/>
                <a:alpha val="21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1">
            <a:off x="996669" y="1960118"/>
            <a:ext cx="3046854" cy="3653651"/>
          </a:xfrm>
          <a:custGeom>
            <a:avLst/>
            <a:gdLst>
              <a:gd name="connsiteX0" fmla="*/ 41650 w 3720467"/>
              <a:gd name="connsiteY0" fmla="*/ 0 h 1376497"/>
              <a:gd name="connsiteX1" fmla="*/ 3720467 w 3720467"/>
              <a:gd name="connsiteY1" fmla="*/ 0 h 1376497"/>
              <a:gd name="connsiteX2" fmla="*/ 3720467 w 3720467"/>
              <a:gd name="connsiteY2" fmla="*/ 1376497 h 1376497"/>
              <a:gd name="connsiteX3" fmla="*/ 41650 w 3720467"/>
              <a:gd name="connsiteY3" fmla="*/ 1376497 h 1376497"/>
              <a:gd name="connsiteX4" fmla="*/ 41650 w 3720467"/>
              <a:gd name="connsiteY4" fmla="*/ 0 h 1376497"/>
            </a:gdLst>
            <a:rect l="l" t="t" r="r" b="b"/>
            <a:pathLst>
              <a:path w="3720467" h="1376497">
                <a:moveTo>
                  <a:pt x="41650" y="0"/>
                </a:moveTo>
                <a:lnTo>
                  <a:pt x="3720467" y="0"/>
                </a:lnTo>
                <a:lnTo>
                  <a:pt x="3720467" y="1376497"/>
                </a:lnTo>
                <a:lnTo>
                  <a:pt x="41650" y="1376497"/>
                </a:lnTo>
                <a:cubicBezTo>
                  <a:pt x="-118988" y="930021"/>
                  <a:pt x="251715" y="520616"/>
                  <a:pt x="41650" y="0"/>
                </a:cubicBez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  <a:effectLst>
            <a:outerShdw dist="38100" blurRad="139700" dir="2700015" sx="100000" sy="100000" kx="0" ky="0" algn="b" rotWithShape="0">
              <a:schemeClr val="accent1">
                <a:lumMod val="100000"/>
                <a:alpha val="21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642409" y="1960121"/>
            <a:ext cx="43800" cy="3653651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5400000" scaled="0"/>
          </a:gradFill>
          <a:ln w="12700" cap="sq">
            <a:noFill/>
            <a:miter/>
          </a:ln>
          <a:effectLst>
            <a:outerShdw dist="38100" blurRad="139700" dir="2700015" sx="100000" sy="100000" kx="0" ky="0" algn="b" rotWithShape="0">
              <a:schemeClr val="accent1">
                <a:lumMod val="100000"/>
                <a:alpha val="21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1222198" y="2775991"/>
            <a:ext cx="72697" cy="7269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83000">
                <a:schemeClr val="accent1"/>
              </a:gs>
            </a:gsLst>
            <a:lin ang="2700000" scaled="0"/>
          </a:gradFill>
          <a:ln w="12700" cap="sq">
            <a:noFill/>
            <a:miter/>
          </a:ln>
          <a:effectLst>
            <a:outerShdw dist="38100" blurRad="139700" dir="2700015" sx="100000" sy="100000" kx="0" ky="0" algn="b" rotWithShape="0">
              <a:schemeClr val="accent1">
                <a:lumMod val="100000"/>
                <a:alpha val="21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cxnSp>
        <p:nvCxnSpPr>
          <p:cNvPr id="7" name="标题 1"/>
          <p:cNvCxnSpPr/>
          <p:nvPr/>
        </p:nvCxnSpPr>
        <p:spPr>
          <a:xfrm rot="0" flipH="0" flipV="0">
            <a:off x="1294896" y="2812339"/>
            <a:ext cx="2448000" cy="0"/>
          </a:xfrm>
          <a:prstGeom prst="line">
            <a:avLst/>
          </a:prstGeom>
          <a:noFill/>
          <a:ln w="6350" cap="sq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  <a:prstDash val="solid"/>
            <a:miter/>
          </a:ln>
        </p:spPr>
      </p:cxnSp>
      <p:sp>
        <p:nvSpPr>
          <p:cNvPr id="8" name="标题 1"/>
          <p:cNvSpPr txBox="1"/>
          <p:nvPr/>
        </p:nvSpPr>
        <p:spPr>
          <a:xfrm rot="0" flipH="0" flipV="0">
            <a:off x="1269074" y="2055528"/>
            <a:ext cx="2538819" cy="6219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gradFill>
                  <a:gsLst>
                    <a:gs pos="0">
                      <a:srgbClr val="00B0F0">
                        <a:alpha val="100000"/>
                      </a:srgbClr>
                    </a:gs>
                    <a:gs pos="100000">
                      <a:srgbClr val="0084B4">
                        <a:alpha val="100000"/>
                      </a:srgbClr>
                    </a:gs>
                  </a:gsLst>
                  <a:lin ang="2700000" scaled="0"/>
                </a:gradFill>
                <a:latin typeface="Source Han Sans CN Bold"/>
                <a:ea typeface="Source Han Sans CN Bold"/>
                <a:cs typeface="Source Han Sans CN Bold"/>
              </a:rPr>
              <a:t>价值观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1313704" y="2898042"/>
            <a:ext cx="2538819" cy="240550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以老人为中心，尊重老人、关爱老人、服务老人，将老人需求放在首位，为老人创造温馨、舒适养老环境。
坚持诚信经营，遵守法律法规，对客户、合作伙伴、员工诚实守信，树立良好企业形象。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4381568" y="1970585"/>
            <a:ext cx="509042" cy="3653651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  <a:effectLst>
            <a:outerShdw dist="38100" blurRad="139700" dir="2700015" sx="100000" sy="100000" kx="0" ky="0" algn="b" rotWithShape="0">
              <a:schemeClr val="accent1">
                <a:lumMod val="100000"/>
                <a:alpha val="21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1">
            <a:off x="4735828" y="1970582"/>
            <a:ext cx="3046854" cy="3653651"/>
          </a:xfrm>
          <a:custGeom>
            <a:avLst/>
            <a:gdLst>
              <a:gd name="connsiteX0" fmla="*/ 41650 w 3720467"/>
              <a:gd name="connsiteY0" fmla="*/ 0 h 1376497"/>
              <a:gd name="connsiteX1" fmla="*/ 3720467 w 3720467"/>
              <a:gd name="connsiteY1" fmla="*/ 0 h 1376497"/>
              <a:gd name="connsiteX2" fmla="*/ 3720467 w 3720467"/>
              <a:gd name="connsiteY2" fmla="*/ 1376497 h 1376497"/>
              <a:gd name="connsiteX3" fmla="*/ 41650 w 3720467"/>
              <a:gd name="connsiteY3" fmla="*/ 1376497 h 1376497"/>
              <a:gd name="connsiteX4" fmla="*/ 41650 w 3720467"/>
              <a:gd name="connsiteY4" fmla="*/ 0 h 1376497"/>
            </a:gdLst>
            <a:rect l="l" t="t" r="r" b="b"/>
            <a:pathLst>
              <a:path w="3720467" h="1376497">
                <a:moveTo>
                  <a:pt x="41650" y="0"/>
                </a:moveTo>
                <a:lnTo>
                  <a:pt x="3720467" y="0"/>
                </a:lnTo>
                <a:lnTo>
                  <a:pt x="3720467" y="1376497"/>
                </a:lnTo>
                <a:lnTo>
                  <a:pt x="41650" y="1376497"/>
                </a:lnTo>
                <a:cubicBezTo>
                  <a:pt x="-118988" y="930021"/>
                  <a:pt x="251715" y="520616"/>
                  <a:pt x="41650" y="0"/>
                </a:cubicBez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  <a:effectLst>
            <a:outerShdw dist="38100" blurRad="139700" dir="2700015" sx="100000" sy="100000" kx="0" ky="0" algn="b" rotWithShape="0">
              <a:schemeClr val="accent1">
                <a:lumMod val="100000"/>
                <a:alpha val="21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4381569" y="1970585"/>
            <a:ext cx="43800" cy="3653651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5400000" scaled="0"/>
          </a:gradFill>
          <a:ln w="12700" cap="sq">
            <a:noFill/>
            <a:miter/>
          </a:ln>
          <a:effectLst>
            <a:outerShdw dist="38100" blurRad="139700" dir="2700015" sx="100000" sy="100000" kx="0" ky="0" algn="b" rotWithShape="0">
              <a:schemeClr val="accent1">
                <a:lumMod val="100000"/>
                <a:alpha val="21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4961358" y="2775991"/>
            <a:ext cx="72697" cy="7269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83000">
                <a:schemeClr val="accent1"/>
              </a:gs>
            </a:gsLst>
            <a:lin ang="2700000" scaled="0"/>
          </a:gradFill>
          <a:ln w="12700" cap="sq">
            <a:noFill/>
            <a:miter/>
          </a:ln>
          <a:effectLst>
            <a:outerShdw dist="38100" blurRad="139700" dir="2700015" sx="100000" sy="100000" kx="0" ky="0" algn="b" rotWithShape="0">
              <a:schemeClr val="accent1">
                <a:lumMod val="100000"/>
                <a:alpha val="21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cxnSp>
        <p:nvCxnSpPr>
          <p:cNvPr id="14" name="标题 1"/>
          <p:cNvCxnSpPr/>
          <p:nvPr/>
        </p:nvCxnSpPr>
        <p:spPr>
          <a:xfrm rot="0" flipH="0" flipV="0">
            <a:off x="5034055" y="2812339"/>
            <a:ext cx="2448000" cy="0"/>
          </a:xfrm>
          <a:prstGeom prst="line">
            <a:avLst/>
          </a:prstGeom>
          <a:noFill/>
          <a:ln w="6350" cap="sq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  <a:prstDash val="solid"/>
            <a:miter/>
          </a:ln>
        </p:spPr>
      </p:cxnSp>
      <p:sp>
        <p:nvSpPr>
          <p:cNvPr id="15" name="标题 1"/>
          <p:cNvSpPr txBox="1"/>
          <p:nvPr/>
        </p:nvSpPr>
        <p:spPr>
          <a:xfrm rot="0" flipH="0" flipV="0">
            <a:off x="5008233" y="2065992"/>
            <a:ext cx="2538819" cy="6219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gradFill>
                  <a:gsLst>
                    <a:gs pos="0">
                      <a:srgbClr val="00B0F0">
                        <a:alpha val="100000"/>
                      </a:srgbClr>
                    </a:gs>
                    <a:gs pos="100000">
                      <a:srgbClr val="0084B4">
                        <a:alpha val="100000"/>
                      </a:srgbClr>
                    </a:gs>
                  </a:gsLst>
                  <a:lin ang="2700000" scaled="0"/>
                </a:gradFill>
                <a:latin typeface="Source Han Sans CN Bold"/>
                <a:ea typeface="Source Han Sans CN Bold"/>
                <a:cs typeface="Source Han Sans CN Bold"/>
              </a:rPr>
              <a:t>服务理念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0" flipV="0">
            <a:off x="5052864" y="2908506"/>
            <a:ext cx="2538819" cy="240550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“科技关爱，颐养天年”，运用先进科技手段为老人提供全方位、个性化关爱服务，让老人安享幸福晚年。
注重服务细节，从老人入住到离院，全程提供贴心、周到服务，提升老人满意度和忠诚度。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0" flipH="0" flipV="0">
            <a:off x="8120727" y="1981048"/>
            <a:ext cx="509042" cy="3653651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  <a:effectLst>
            <a:outerShdw dist="38100" blurRad="139700" dir="2700015" sx="100000" sy="100000" kx="0" ky="0" algn="b" rotWithShape="0">
              <a:schemeClr val="accent1">
                <a:lumMod val="100000"/>
                <a:alpha val="21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0" flipH="0" flipV="1">
            <a:off x="8474987" y="1981045"/>
            <a:ext cx="3046854" cy="3653651"/>
          </a:xfrm>
          <a:custGeom>
            <a:avLst/>
            <a:gdLst>
              <a:gd name="connsiteX0" fmla="*/ 41650 w 3720467"/>
              <a:gd name="connsiteY0" fmla="*/ 0 h 1376497"/>
              <a:gd name="connsiteX1" fmla="*/ 3720467 w 3720467"/>
              <a:gd name="connsiteY1" fmla="*/ 0 h 1376497"/>
              <a:gd name="connsiteX2" fmla="*/ 3720467 w 3720467"/>
              <a:gd name="connsiteY2" fmla="*/ 1376497 h 1376497"/>
              <a:gd name="connsiteX3" fmla="*/ 41650 w 3720467"/>
              <a:gd name="connsiteY3" fmla="*/ 1376497 h 1376497"/>
              <a:gd name="connsiteX4" fmla="*/ 41650 w 3720467"/>
              <a:gd name="connsiteY4" fmla="*/ 0 h 1376497"/>
            </a:gdLst>
            <a:rect l="l" t="t" r="r" b="b"/>
            <a:pathLst>
              <a:path w="3720467" h="1376497">
                <a:moveTo>
                  <a:pt x="41650" y="0"/>
                </a:moveTo>
                <a:lnTo>
                  <a:pt x="3720467" y="0"/>
                </a:lnTo>
                <a:lnTo>
                  <a:pt x="3720467" y="1376497"/>
                </a:lnTo>
                <a:lnTo>
                  <a:pt x="41650" y="1376497"/>
                </a:lnTo>
                <a:cubicBezTo>
                  <a:pt x="-118988" y="930021"/>
                  <a:pt x="251715" y="520616"/>
                  <a:pt x="41650" y="0"/>
                </a:cubicBez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  <a:effectLst>
            <a:outerShdw dist="38100" blurRad="139700" dir="2700015" sx="100000" sy="100000" kx="0" ky="0" algn="b" rotWithShape="0">
              <a:schemeClr val="accent1">
                <a:lumMod val="100000"/>
                <a:alpha val="21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0" flipV="0">
            <a:off x="8120728" y="1981048"/>
            <a:ext cx="43800" cy="3653651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5400000" scaled="0"/>
          </a:gradFill>
          <a:ln w="12700" cap="sq">
            <a:noFill/>
            <a:miter/>
          </a:ln>
          <a:effectLst>
            <a:outerShdw dist="38100" blurRad="139700" dir="2700015" sx="100000" sy="100000" kx="0" ky="0" algn="b" rotWithShape="0">
              <a:schemeClr val="accent1">
                <a:lumMod val="100000"/>
                <a:alpha val="21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0" flipH="0" flipV="0">
            <a:off x="8700516" y="2775991"/>
            <a:ext cx="72697" cy="7269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83000">
                <a:schemeClr val="accent1"/>
              </a:gs>
            </a:gsLst>
            <a:lin ang="2700000" scaled="0"/>
          </a:gradFill>
          <a:ln w="12700" cap="sq">
            <a:noFill/>
            <a:miter/>
          </a:ln>
          <a:effectLst>
            <a:outerShdw dist="38100" blurRad="139700" dir="2700015" sx="100000" sy="100000" kx="0" ky="0" algn="b" rotWithShape="0">
              <a:schemeClr val="accent1">
                <a:lumMod val="100000"/>
                <a:alpha val="21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cxnSp>
        <p:nvCxnSpPr>
          <p:cNvPr id="21" name="标题 1"/>
          <p:cNvCxnSpPr/>
          <p:nvPr/>
        </p:nvCxnSpPr>
        <p:spPr>
          <a:xfrm rot="0" flipH="0" flipV="0">
            <a:off x="8773213" y="2812339"/>
            <a:ext cx="2448000" cy="0"/>
          </a:xfrm>
          <a:prstGeom prst="line">
            <a:avLst/>
          </a:prstGeom>
          <a:noFill/>
          <a:ln w="6350" cap="sq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  <a:prstDash val="solid"/>
            <a:miter/>
          </a:ln>
        </p:spPr>
      </p:cxnSp>
      <p:sp>
        <p:nvSpPr>
          <p:cNvPr id="22" name="标题 1"/>
          <p:cNvSpPr txBox="1"/>
          <p:nvPr/>
        </p:nvSpPr>
        <p:spPr>
          <a:xfrm rot="0" flipH="0" flipV="0">
            <a:off x="8747392" y="2076455"/>
            <a:ext cx="2538819" cy="6219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gradFill>
                  <a:gsLst>
                    <a:gs pos="0">
                      <a:srgbClr val="00B0F0">
                        <a:alpha val="100000"/>
                      </a:srgbClr>
                    </a:gs>
                    <a:gs pos="100000">
                      <a:srgbClr val="0084B4">
                        <a:alpha val="100000"/>
                      </a:srgbClr>
                    </a:gs>
                  </a:gsLst>
                  <a:lin ang="2700000" scaled="0"/>
                </a:gradFill>
                <a:latin typeface="Source Han Sans CN Bold"/>
                <a:ea typeface="Source Han Sans CN Bold"/>
                <a:cs typeface="Source Han Sans CN Bold"/>
              </a:rPr>
              <a:t>发展理念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 rot="0" flipH="0" flipV="0">
            <a:off x="8792021" y="2918969"/>
            <a:ext cx="2538819" cy="240550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创新驱动，不断探索养老服务新模式、新技术，保持企业竞争力。
合作共赢，与各方建立良好合作关系，实现资源共享、优势互补，共同发展。</a:t>
            </a: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 rot="0" flipH="0" flipV="0">
            <a:off x="316690" y="373380"/>
            <a:ext cx="8171180" cy="65532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rot="0" flipH="0" flipV="0">
            <a:off x="783520" y="484345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企业文化</a:t>
            </a: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 rot="0" flipH="0" flipV="0">
            <a:off x="324256" y="626624"/>
            <a:ext cx="402076" cy="402076"/>
          </a:xfrm>
          <a:prstGeom prst="rtTriangl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0" y="6753325"/>
            <a:ext cx="12192000" cy="114300"/>
          </a:xfrm>
          <a:custGeom>
            <a:avLst/>
            <a:gdLst>
              <a:gd name="connsiteX0" fmla="*/ 0 w 12192000"/>
              <a:gd name="connsiteY0" fmla="*/ 0 h 114300"/>
              <a:gd name="connsiteX1" fmla="*/ 12192000 w 12192000"/>
              <a:gd name="connsiteY1" fmla="*/ 0 h 114300"/>
              <a:gd name="connsiteX2" fmla="*/ 12192000 w 12192000"/>
              <a:gd name="connsiteY2" fmla="*/ 114300 h 114300"/>
              <a:gd name="connsiteX3" fmla="*/ 0 w 12192000"/>
              <a:gd name="connsiteY3" fmla="*/ 114300 h 114300"/>
            </a:gdLst>
            <a:rect l="l" t="t" r="r" b="b"/>
            <a:pathLst>
              <a:path w="12192000" h="114300">
                <a:moveTo>
                  <a:pt x="0" y="0"/>
                </a:moveTo>
                <a:lnTo>
                  <a:pt x="12192000" y="0"/>
                </a:lnTo>
                <a:lnTo>
                  <a:pt x="12192000" y="114300"/>
                </a:lnTo>
                <a:lnTo>
                  <a:pt x="0" y="1143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712149" y="1760576"/>
            <a:ext cx="3513745" cy="3897273"/>
          </a:xfrm>
          <a:prstGeom prst="roundRect">
            <a:avLst>
              <a:gd name="adj" fmla="val 5304"/>
            </a:avLst>
          </a:prstGeom>
          <a:solidFill>
            <a:schemeClr val="bg1"/>
          </a:solidFill>
          <a:ln w="12700" cap="sq">
            <a:noFill/>
            <a:miter/>
          </a:ln>
          <a:effectLst>
            <a:outerShdw dist="0" blurRad="127000" dir="0" sx="102000" sy="102000" kx="0" ky="0" algn="ctr" rotWithShape="0">
              <a:schemeClr val="accent1">
                <a:alpha val="15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905657" y="2278336"/>
            <a:ext cx="3126728" cy="285952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AI 健康监测系统 24 小时实时监测老人健康数据，自动分析生成健康报告，及时发现潜在健康问题并预警，医护人员可快速响应，保障老人健康安全。
智能生活辅助设备如智能床可自动调节高度、硬度，智能马桶具备自动冲洗、烘干、体检功能，为老人生活提供便利，提升生活自理能力。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905658" y="1863846"/>
            <a:ext cx="3126727" cy="39104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905656" y="1922461"/>
            <a:ext cx="3126730" cy="276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B0F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智能化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4346490" y="1760576"/>
            <a:ext cx="3513745" cy="3897273"/>
          </a:xfrm>
          <a:prstGeom prst="roundRect">
            <a:avLst>
              <a:gd name="adj" fmla="val 5304"/>
            </a:avLst>
          </a:prstGeom>
          <a:solidFill>
            <a:schemeClr val="accent1"/>
          </a:solidFill>
          <a:ln w="12700" cap="sq">
            <a:noFill/>
            <a:miter/>
          </a:ln>
          <a:effectLst>
            <a:outerShdw dist="0" blurRad="127000" dir="0" sx="102000" sy="102000" kx="0" ky="0" algn="ctr" rotWithShape="0">
              <a:schemeClr val="accent1">
                <a:alpha val="15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4539998" y="2278336"/>
            <a:ext cx="3126728" cy="285952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根据老人身体状况、兴趣爱好、生活习惯等制定个性化护理计划，包括饮食、康复训练、文化娱乐等方面。
为每位老人建立专属健康档案和生活档案，定期评估服务效果，及时调整服务内容，满足老人个性化需求。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4539999" y="1863846"/>
            <a:ext cx="3126727" cy="39104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solidFill>
              <a:schemeClr val="bg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4539997" y="1922461"/>
            <a:ext cx="3126730" cy="276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个性化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7973405" y="1760576"/>
            <a:ext cx="3513745" cy="3897273"/>
          </a:xfrm>
          <a:prstGeom prst="roundRect">
            <a:avLst>
              <a:gd name="adj" fmla="val 5304"/>
            </a:avLst>
          </a:prstGeom>
          <a:solidFill>
            <a:schemeClr val="bg1"/>
          </a:solidFill>
          <a:ln w="12700" cap="sq">
            <a:noFill/>
            <a:miter/>
          </a:ln>
          <a:effectLst>
            <a:outerShdw dist="0" blurRad="127000" dir="0" sx="102000" sy="102000" kx="0" ky="0" algn="ctr" rotWithShape="0">
              <a:schemeClr val="accent1">
                <a:alpha val="15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8166913" y="2278336"/>
            <a:ext cx="3126728" cy="285952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养老院内部装修风格温馨舒适，设计符合老人生活习惯和心理需求，营造家的氛围。
护理人员经过专业培训，具备爱心、耐心和责任心，以亲切、温暖态度对待每位老人，给予老人情感关怀和心理慰藉。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8166914" y="1863846"/>
            <a:ext cx="3126727" cy="39104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8166912" y="1922461"/>
            <a:ext cx="3126730" cy="276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B0F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人性化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0" flipV="0">
            <a:off x="316690" y="373380"/>
            <a:ext cx="8171180" cy="65532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0" flipH="0" flipV="0">
            <a:off x="783520" y="484345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产品特色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0" flipH="0" flipV="0">
            <a:off x="324256" y="626624"/>
            <a:ext cx="402076" cy="402076"/>
          </a:xfrm>
          <a:prstGeom prst="rtTriangl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0" y="6134100"/>
            <a:ext cx="12192000" cy="622301"/>
          </a:xfrm>
          <a:custGeom>
            <a:avLst/>
            <a:gdLst>
              <a:gd name="connsiteX0" fmla="*/ 0 w 12192000"/>
              <a:gd name="connsiteY0" fmla="*/ 0 h 934513"/>
              <a:gd name="connsiteX1" fmla="*/ 164392 w 12192000"/>
              <a:gd name="connsiteY1" fmla="*/ 51265 h 934513"/>
              <a:gd name="connsiteX2" fmla="*/ 6096000 w 12192000"/>
              <a:gd name="connsiteY2" fmla="*/ 648763 h 934513"/>
              <a:gd name="connsiteX3" fmla="*/ 12027608 w 12192000"/>
              <a:gd name="connsiteY3" fmla="*/ 51265 h 934513"/>
              <a:gd name="connsiteX4" fmla="*/ 12192000 w 12192000"/>
              <a:gd name="connsiteY4" fmla="*/ 0 h 934513"/>
              <a:gd name="connsiteX5" fmla="*/ 12192000 w 12192000"/>
              <a:gd name="connsiteY5" fmla="*/ 934513 h 934513"/>
              <a:gd name="connsiteX6" fmla="*/ 0 w 12192000"/>
              <a:gd name="connsiteY6" fmla="*/ 934513 h 934513"/>
            </a:gdLst>
            <a:rect l="l" t="t" r="r" b="b"/>
            <a:pathLst>
              <a:path w="12192000" h="934513">
                <a:moveTo>
                  <a:pt x="0" y="0"/>
                </a:moveTo>
                <a:lnTo>
                  <a:pt x="164392" y="51265"/>
                </a:lnTo>
                <a:cubicBezTo>
                  <a:pt x="1449887" y="411753"/>
                  <a:pt x="3626847" y="648763"/>
                  <a:pt x="6096000" y="648763"/>
                </a:cubicBezTo>
                <a:cubicBezTo>
                  <a:pt x="8565153" y="648763"/>
                  <a:pt x="10742113" y="411753"/>
                  <a:pt x="12027608" y="51265"/>
                </a:cubicBezTo>
                <a:lnTo>
                  <a:pt x="12192000" y="0"/>
                </a:lnTo>
                <a:lnTo>
                  <a:pt x="12192000" y="934513"/>
                </a:lnTo>
                <a:lnTo>
                  <a:pt x="0" y="934513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0" y="6235700"/>
            <a:ext cx="12192000" cy="622301"/>
          </a:xfrm>
          <a:custGeom>
            <a:avLst/>
            <a:gdLst>
              <a:gd name="connsiteX0" fmla="*/ 0 w 12192000"/>
              <a:gd name="connsiteY0" fmla="*/ 0 h 934513"/>
              <a:gd name="connsiteX1" fmla="*/ 164392 w 12192000"/>
              <a:gd name="connsiteY1" fmla="*/ 51265 h 934513"/>
              <a:gd name="connsiteX2" fmla="*/ 6096000 w 12192000"/>
              <a:gd name="connsiteY2" fmla="*/ 648763 h 934513"/>
              <a:gd name="connsiteX3" fmla="*/ 12027608 w 12192000"/>
              <a:gd name="connsiteY3" fmla="*/ 51265 h 934513"/>
              <a:gd name="connsiteX4" fmla="*/ 12192000 w 12192000"/>
              <a:gd name="connsiteY4" fmla="*/ 0 h 934513"/>
              <a:gd name="connsiteX5" fmla="*/ 12192000 w 12192000"/>
              <a:gd name="connsiteY5" fmla="*/ 934513 h 934513"/>
              <a:gd name="connsiteX6" fmla="*/ 0 w 12192000"/>
              <a:gd name="connsiteY6" fmla="*/ 934513 h 934513"/>
            </a:gdLst>
            <a:rect l="l" t="t" r="r" b="b"/>
            <a:pathLst>
              <a:path w="12192000" h="934513">
                <a:moveTo>
                  <a:pt x="0" y="0"/>
                </a:moveTo>
                <a:lnTo>
                  <a:pt x="164392" y="51265"/>
                </a:lnTo>
                <a:cubicBezTo>
                  <a:pt x="1449887" y="411753"/>
                  <a:pt x="3626847" y="648763"/>
                  <a:pt x="6096000" y="648763"/>
                </a:cubicBezTo>
                <a:cubicBezTo>
                  <a:pt x="8565153" y="648763"/>
                  <a:pt x="10742113" y="411753"/>
                  <a:pt x="12027608" y="51265"/>
                </a:cubicBezTo>
                <a:lnTo>
                  <a:pt x="12192000" y="0"/>
                </a:lnTo>
                <a:lnTo>
                  <a:pt x="12192000" y="934513"/>
                </a:lnTo>
                <a:lnTo>
                  <a:pt x="0" y="934513"/>
                </a:lnTo>
                <a:close/>
              </a:path>
            </a:pathLst>
          </a:custGeom>
          <a:gradFill>
            <a:gsLst>
              <a:gs pos="29000">
                <a:schemeClr val="accent1">
                  <a:alpha val="67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0" scaled="0"/>
          </a:gra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1">
            <a:off x="802683" y="1508318"/>
            <a:ext cx="3394118" cy="3544010"/>
          </a:xfrm>
          <a:custGeom>
            <a:avLst/>
            <a:gdLst>
              <a:gd name="connsiteX0" fmla="*/ 961715 w 1923430"/>
              <a:gd name="connsiteY0" fmla="*/ 0 h 3713632"/>
              <a:gd name="connsiteX1" fmla="*/ 1118515 w 1923430"/>
              <a:gd name="connsiteY1" fmla="*/ 270344 h 3713632"/>
              <a:gd name="connsiteX2" fmla="*/ 1831452 w 1923430"/>
              <a:gd name="connsiteY2" fmla="*/ 270344 h 3713632"/>
              <a:gd name="connsiteX3" fmla="*/ 1923430 w 1923430"/>
              <a:gd name="connsiteY3" fmla="*/ 362322 h 3713632"/>
              <a:gd name="connsiteX4" fmla="*/ 1923430 w 1923430"/>
              <a:gd name="connsiteY4" fmla="*/ 3621654 h 3713632"/>
              <a:gd name="connsiteX5" fmla="*/ 1831452 w 1923430"/>
              <a:gd name="connsiteY5" fmla="*/ 3713632 h 3713632"/>
              <a:gd name="connsiteX6" fmla="*/ 91978 w 1923430"/>
              <a:gd name="connsiteY6" fmla="*/ 3713632 h 3713632"/>
              <a:gd name="connsiteX7" fmla="*/ 0 w 1923430"/>
              <a:gd name="connsiteY7" fmla="*/ 3621654 h 3713632"/>
              <a:gd name="connsiteX8" fmla="*/ 0 w 1923430"/>
              <a:gd name="connsiteY8" fmla="*/ 362322 h 3713632"/>
              <a:gd name="connsiteX9" fmla="*/ 91978 w 1923430"/>
              <a:gd name="connsiteY9" fmla="*/ 270344 h 3713632"/>
              <a:gd name="connsiteX10" fmla="*/ 804916 w 1923430"/>
              <a:gd name="connsiteY10" fmla="*/ 270344 h 3713632"/>
            </a:gdLst>
            <a:rect l="l" t="t" r="r" b="b"/>
            <a:pathLst>
              <a:path w="1923430" h="3713632">
                <a:moveTo>
                  <a:pt x="961715" y="0"/>
                </a:moveTo>
                <a:lnTo>
                  <a:pt x="1118515" y="270344"/>
                </a:lnTo>
                <a:lnTo>
                  <a:pt x="1831452" y="270344"/>
                </a:lnTo>
                <a:cubicBezTo>
                  <a:pt x="1882250" y="270344"/>
                  <a:pt x="1923430" y="311524"/>
                  <a:pt x="1923430" y="362322"/>
                </a:cubicBezTo>
                <a:lnTo>
                  <a:pt x="1923430" y="3621654"/>
                </a:lnTo>
                <a:cubicBezTo>
                  <a:pt x="1923430" y="3672452"/>
                  <a:pt x="1882250" y="3713632"/>
                  <a:pt x="1831452" y="3713632"/>
                </a:cubicBezTo>
                <a:lnTo>
                  <a:pt x="91978" y="3713632"/>
                </a:lnTo>
                <a:cubicBezTo>
                  <a:pt x="41180" y="3713632"/>
                  <a:pt x="0" y="3672452"/>
                  <a:pt x="0" y="3621654"/>
                </a:cubicBezTo>
                <a:lnTo>
                  <a:pt x="0" y="362322"/>
                </a:lnTo>
                <a:cubicBezTo>
                  <a:pt x="0" y="311524"/>
                  <a:pt x="41180" y="270344"/>
                  <a:pt x="91978" y="270344"/>
                </a:cubicBezTo>
                <a:lnTo>
                  <a:pt x="804916" y="270344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1">
            <a:off x="726483" y="1416039"/>
            <a:ext cx="3394118" cy="3544010"/>
          </a:xfrm>
          <a:custGeom>
            <a:avLst/>
            <a:gdLst>
              <a:gd name="connsiteX0" fmla="*/ 961715 w 1923430"/>
              <a:gd name="connsiteY0" fmla="*/ 0 h 3713632"/>
              <a:gd name="connsiteX1" fmla="*/ 1118515 w 1923430"/>
              <a:gd name="connsiteY1" fmla="*/ 270344 h 3713632"/>
              <a:gd name="connsiteX2" fmla="*/ 1831452 w 1923430"/>
              <a:gd name="connsiteY2" fmla="*/ 270344 h 3713632"/>
              <a:gd name="connsiteX3" fmla="*/ 1923430 w 1923430"/>
              <a:gd name="connsiteY3" fmla="*/ 362322 h 3713632"/>
              <a:gd name="connsiteX4" fmla="*/ 1923430 w 1923430"/>
              <a:gd name="connsiteY4" fmla="*/ 3621654 h 3713632"/>
              <a:gd name="connsiteX5" fmla="*/ 1831452 w 1923430"/>
              <a:gd name="connsiteY5" fmla="*/ 3713632 h 3713632"/>
              <a:gd name="connsiteX6" fmla="*/ 91978 w 1923430"/>
              <a:gd name="connsiteY6" fmla="*/ 3713632 h 3713632"/>
              <a:gd name="connsiteX7" fmla="*/ 0 w 1923430"/>
              <a:gd name="connsiteY7" fmla="*/ 3621654 h 3713632"/>
              <a:gd name="connsiteX8" fmla="*/ 0 w 1923430"/>
              <a:gd name="connsiteY8" fmla="*/ 362322 h 3713632"/>
              <a:gd name="connsiteX9" fmla="*/ 91978 w 1923430"/>
              <a:gd name="connsiteY9" fmla="*/ 270344 h 3713632"/>
              <a:gd name="connsiteX10" fmla="*/ 804916 w 1923430"/>
              <a:gd name="connsiteY10" fmla="*/ 270344 h 3713632"/>
            </a:gdLst>
            <a:rect l="l" t="t" r="r" b="b"/>
            <a:pathLst>
              <a:path w="1923430" h="3713632">
                <a:moveTo>
                  <a:pt x="961715" y="0"/>
                </a:moveTo>
                <a:lnTo>
                  <a:pt x="1118515" y="270344"/>
                </a:lnTo>
                <a:lnTo>
                  <a:pt x="1831452" y="270344"/>
                </a:lnTo>
                <a:cubicBezTo>
                  <a:pt x="1882250" y="270344"/>
                  <a:pt x="1923430" y="311524"/>
                  <a:pt x="1923430" y="362322"/>
                </a:cubicBezTo>
                <a:lnTo>
                  <a:pt x="1923430" y="3621654"/>
                </a:lnTo>
                <a:cubicBezTo>
                  <a:pt x="1923430" y="3672452"/>
                  <a:pt x="1882250" y="3713632"/>
                  <a:pt x="1831452" y="3713632"/>
                </a:cubicBezTo>
                <a:lnTo>
                  <a:pt x="91978" y="3713632"/>
                </a:lnTo>
                <a:cubicBezTo>
                  <a:pt x="41180" y="3713632"/>
                  <a:pt x="0" y="3672452"/>
                  <a:pt x="0" y="3621654"/>
                </a:cubicBezTo>
                <a:lnTo>
                  <a:pt x="0" y="362322"/>
                </a:lnTo>
                <a:cubicBezTo>
                  <a:pt x="0" y="311524"/>
                  <a:pt x="41180" y="270344"/>
                  <a:pt x="91978" y="270344"/>
                </a:cubicBezTo>
                <a:lnTo>
                  <a:pt x="804916" y="270344"/>
                </a:lnTo>
                <a:close/>
              </a:path>
            </a:pathLst>
          </a:cu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dist="38100" blurRad="50800" dir="2700000" sx="100000" sy="100000" kx="0" ky="0" algn="tl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881340" y="1485394"/>
            <a:ext cx="3084405" cy="776619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45720" rIns="36000" bIns="45720" rtlCol="0" anchor="b"/>
          <a:lstStyle/>
          <a:p>
            <a:pPr algn="ctr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B0F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短期目标（1 - 2 年）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881340" y="2357006"/>
            <a:ext cx="3084405" cy="210188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3600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确保项目顺利开业运营，入住率达到 50%以上，实现收支平衡。
完善智能化服务系统，提升服务质量，树立良好品牌形象，成为本地高端智能养老机构标杆。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1">
            <a:off x="4475141" y="1501711"/>
            <a:ext cx="3394118" cy="3544010"/>
          </a:xfrm>
          <a:custGeom>
            <a:avLst/>
            <a:gdLst>
              <a:gd name="connsiteX0" fmla="*/ 961715 w 1923430"/>
              <a:gd name="connsiteY0" fmla="*/ 0 h 3713632"/>
              <a:gd name="connsiteX1" fmla="*/ 1118515 w 1923430"/>
              <a:gd name="connsiteY1" fmla="*/ 270344 h 3713632"/>
              <a:gd name="connsiteX2" fmla="*/ 1831452 w 1923430"/>
              <a:gd name="connsiteY2" fmla="*/ 270344 h 3713632"/>
              <a:gd name="connsiteX3" fmla="*/ 1923430 w 1923430"/>
              <a:gd name="connsiteY3" fmla="*/ 362322 h 3713632"/>
              <a:gd name="connsiteX4" fmla="*/ 1923430 w 1923430"/>
              <a:gd name="connsiteY4" fmla="*/ 3621654 h 3713632"/>
              <a:gd name="connsiteX5" fmla="*/ 1831452 w 1923430"/>
              <a:gd name="connsiteY5" fmla="*/ 3713632 h 3713632"/>
              <a:gd name="connsiteX6" fmla="*/ 91978 w 1923430"/>
              <a:gd name="connsiteY6" fmla="*/ 3713632 h 3713632"/>
              <a:gd name="connsiteX7" fmla="*/ 0 w 1923430"/>
              <a:gd name="connsiteY7" fmla="*/ 3621654 h 3713632"/>
              <a:gd name="connsiteX8" fmla="*/ 0 w 1923430"/>
              <a:gd name="connsiteY8" fmla="*/ 362322 h 3713632"/>
              <a:gd name="connsiteX9" fmla="*/ 91978 w 1923430"/>
              <a:gd name="connsiteY9" fmla="*/ 270344 h 3713632"/>
              <a:gd name="connsiteX10" fmla="*/ 804916 w 1923430"/>
              <a:gd name="connsiteY10" fmla="*/ 270344 h 3713632"/>
            </a:gdLst>
            <a:rect l="l" t="t" r="r" b="b"/>
            <a:pathLst>
              <a:path w="1923430" h="3713632">
                <a:moveTo>
                  <a:pt x="961715" y="0"/>
                </a:moveTo>
                <a:lnTo>
                  <a:pt x="1118515" y="270344"/>
                </a:lnTo>
                <a:lnTo>
                  <a:pt x="1831452" y="270344"/>
                </a:lnTo>
                <a:cubicBezTo>
                  <a:pt x="1882250" y="270344"/>
                  <a:pt x="1923430" y="311524"/>
                  <a:pt x="1923430" y="362322"/>
                </a:cubicBezTo>
                <a:lnTo>
                  <a:pt x="1923430" y="3621654"/>
                </a:lnTo>
                <a:cubicBezTo>
                  <a:pt x="1923430" y="3672452"/>
                  <a:pt x="1882250" y="3713632"/>
                  <a:pt x="1831452" y="3713632"/>
                </a:cubicBezTo>
                <a:lnTo>
                  <a:pt x="91978" y="3713632"/>
                </a:lnTo>
                <a:cubicBezTo>
                  <a:pt x="41180" y="3713632"/>
                  <a:pt x="0" y="3672452"/>
                  <a:pt x="0" y="3621654"/>
                </a:cubicBezTo>
                <a:lnTo>
                  <a:pt x="0" y="362322"/>
                </a:lnTo>
                <a:cubicBezTo>
                  <a:pt x="0" y="311524"/>
                  <a:pt x="41180" y="270344"/>
                  <a:pt x="91978" y="270344"/>
                </a:cubicBezTo>
                <a:lnTo>
                  <a:pt x="804916" y="270344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1">
            <a:off x="4398941" y="1409432"/>
            <a:ext cx="3394118" cy="3544010"/>
          </a:xfrm>
          <a:custGeom>
            <a:avLst/>
            <a:gdLst>
              <a:gd name="connsiteX0" fmla="*/ 961715 w 1923430"/>
              <a:gd name="connsiteY0" fmla="*/ 0 h 3713632"/>
              <a:gd name="connsiteX1" fmla="*/ 1118515 w 1923430"/>
              <a:gd name="connsiteY1" fmla="*/ 270344 h 3713632"/>
              <a:gd name="connsiteX2" fmla="*/ 1831452 w 1923430"/>
              <a:gd name="connsiteY2" fmla="*/ 270344 h 3713632"/>
              <a:gd name="connsiteX3" fmla="*/ 1923430 w 1923430"/>
              <a:gd name="connsiteY3" fmla="*/ 362322 h 3713632"/>
              <a:gd name="connsiteX4" fmla="*/ 1923430 w 1923430"/>
              <a:gd name="connsiteY4" fmla="*/ 3621654 h 3713632"/>
              <a:gd name="connsiteX5" fmla="*/ 1831452 w 1923430"/>
              <a:gd name="connsiteY5" fmla="*/ 3713632 h 3713632"/>
              <a:gd name="connsiteX6" fmla="*/ 91978 w 1923430"/>
              <a:gd name="connsiteY6" fmla="*/ 3713632 h 3713632"/>
              <a:gd name="connsiteX7" fmla="*/ 0 w 1923430"/>
              <a:gd name="connsiteY7" fmla="*/ 3621654 h 3713632"/>
              <a:gd name="connsiteX8" fmla="*/ 0 w 1923430"/>
              <a:gd name="connsiteY8" fmla="*/ 362322 h 3713632"/>
              <a:gd name="connsiteX9" fmla="*/ 91978 w 1923430"/>
              <a:gd name="connsiteY9" fmla="*/ 270344 h 3713632"/>
              <a:gd name="connsiteX10" fmla="*/ 804916 w 1923430"/>
              <a:gd name="connsiteY10" fmla="*/ 270344 h 3713632"/>
            </a:gdLst>
            <a:rect l="l" t="t" r="r" b="b"/>
            <a:pathLst>
              <a:path w="1923430" h="3713632">
                <a:moveTo>
                  <a:pt x="961715" y="0"/>
                </a:moveTo>
                <a:lnTo>
                  <a:pt x="1118515" y="270344"/>
                </a:lnTo>
                <a:lnTo>
                  <a:pt x="1831452" y="270344"/>
                </a:lnTo>
                <a:cubicBezTo>
                  <a:pt x="1882250" y="270344"/>
                  <a:pt x="1923430" y="311524"/>
                  <a:pt x="1923430" y="362322"/>
                </a:cubicBezTo>
                <a:lnTo>
                  <a:pt x="1923430" y="3621654"/>
                </a:lnTo>
                <a:cubicBezTo>
                  <a:pt x="1923430" y="3672452"/>
                  <a:pt x="1882250" y="3713632"/>
                  <a:pt x="1831452" y="3713632"/>
                </a:cubicBezTo>
                <a:lnTo>
                  <a:pt x="91978" y="3713632"/>
                </a:lnTo>
                <a:cubicBezTo>
                  <a:pt x="41180" y="3713632"/>
                  <a:pt x="0" y="3672452"/>
                  <a:pt x="0" y="3621654"/>
                </a:cubicBezTo>
                <a:lnTo>
                  <a:pt x="0" y="362322"/>
                </a:lnTo>
                <a:cubicBezTo>
                  <a:pt x="0" y="311524"/>
                  <a:pt x="41180" y="270344"/>
                  <a:pt x="91978" y="270344"/>
                </a:cubicBezTo>
                <a:lnTo>
                  <a:pt x="804916" y="270344"/>
                </a:lnTo>
                <a:close/>
              </a:path>
            </a:pathLst>
          </a:cu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dist="38100" blurRad="50800" dir="2700000" sx="100000" sy="100000" kx="0" ky="0" algn="tl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4553798" y="1478787"/>
            <a:ext cx="3084405" cy="776619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45720" rIns="36000" bIns="45720" rtlCol="0" anchor="b"/>
          <a:lstStyle/>
          <a:p>
            <a:pPr algn="ctr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B0F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中期目标（3 - 5 年）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4553798" y="2350399"/>
            <a:ext cx="3084405" cy="210188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3600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拓展服务范围，增加康复护理、老年教育、心理辅导等特色服务项目，满足老人多样化需求。
与周边医院建立紧密医联体合作，实现医疗资源共享，提升养老服务的医疗保障水平，入住率达到 80%以上。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1">
            <a:off x="8071399" y="1508318"/>
            <a:ext cx="3394118" cy="3544010"/>
          </a:xfrm>
          <a:custGeom>
            <a:avLst/>
            <a:gdLst>
              <a:gd name="connsiteX0" fmla="*/ 961715 w 1923430"/>
              <a:gd name="connsiteY0" fmla="*/ 0 h 3713632"/>
              <a:gd name="connsiteX1" fmla="*/ 1118515 w 1923430"/>
              <a:gd name="connsiteY1" fmla="*/ 270344 h 3713632"/>
              <a:gd name="connsiteX2" fmla="*/ 1831452 w 1923430"/>
              <a:gd name="connsiteY2" fmla="*/ 270344 h 3713632"/>
              <a:gd name="connsiteX3" fmla="*/ 1923430 w 1923430"/>
              <a:gd name="connsiteY3" fmla="*/ 362322 h 3713632"/>
              <a:gd name="connsiteX4" fmla="*/ 1923430 w 1923430"/>
              <a:gd name="connsiteY4" fmla="*/ 3621654 h 3713632"/>
              <a:gd name="connsiteX5" fmla="*/ 1831452 w 1923430"/>
              <a:gd name="connsiteY5" fmla="*/ 3713632 h 3713632"/>
              <a:gd name="connsiteX6" fmla="*/ 91978 w 1923430"/>
              <a:gd name="connsiteY6" fmla="*/ 3713632 h 3713632"/>
              <a:gd name="connsiteX7" fmla="*/ 0 w 1923430"/>
              <a:gd name="connsiteY7" fmla="*/ 3621654 h 3713632"/>
              <a:gd name="connsiteX8" fmla="*/ 0 w 1923430"/>
              <a:gd name="connsiteY8" fmla="*/ 362322 h 3713632"/>
              <a:gd name="connsiteX9" fmla="*/ 91978 w 1923430"/>
              <a:gd name="connsiteY9" fmla="*/ 270344 h 3713632"/>
              <a:gd name="connsiteX10" fmla="*/ 804916 w 1923430"/>
              <a:gd name="connsiteY10" fmla="*/ 270344 h 3713632"/>
            </a:gdLst>
            <a:rect l="l" t="t" r="r" b="b"/>
            <a:pathLst>
              <a:path w="1923430" h="3713632">
                <a:moveTo>
                  <a:pt x="961715" y="0"/>
                </a:moveTo>
                <a:lnTo>
                  <a:pt x="1118515" y="270344"/>
                </a:lnTo>
                <a:lnTo>
                  <a:pt x="1831452" y="270344"/>
                </a:lnTo>
                <a:cubicBezTo>
                  <a:pt x="1882250" y="270344"/>
                  <a:pt x="1923430" y="311524"/>
                  <a:pt x="1923430" y="362322"/>
                </a:cubicBezTo>
                <a:lnTo>
                  <a:pt x="1923430" y="3621654"/>
                </a:lnTo>
                <a:cubicBezTo>
                  <a:pt x="1923430" y="3672452"/>
                  <a:pt x="1882250" y="3713632"/>
                  <a:pt x="1831452" y="3713632"/>
                </a:cubicBezTo>
                <a:lnTo>
                  <a:pt x="91978" y="3713632"/>
                </a:lnTo>
                <a:cubicBezTo>
                  <a:pt x="41180" y="3713632"/>
                  <a:pt x="0" y="3672452"/>
                  <a:pt x="0" y="3621654"/>
                </a:cubicBezTo>
                <a:lnTo>
                  <a:pt x="0" y="362322"/>
                </a:lnTo>
                <a:cubicBezTo>
                  <a:pt x="0" y="311524"/>
                  <a:pt x="41180" y="270344"/>
                  <a:pt x="91978" y="270344"/>
                </a:cubicBezTo>
                <a:lnTo>
                  <a:pt x="804916" y="270344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1">
            <a:off x="7995199" y="1416039"/>
            <a:ext cx="3394118" cy="3544010"/>
          </a:xfrm>
          <a:custGeom>
            <a:avLst/>
            <a:gdLst>
              <a:gd name="connsiteX0" fmla="*/ 961715 w 1923430"/>
              <a:gd name="connsiteY0" fmla="*/ 0 h 3713632"/>
              <a:gd name="connsiteX1" fmla="*/ 1118515 w 1923430"/>
              <a:gd name="connsiteY1" fmla="*/ 270344 h 3713632"/>
              <a:gd name="connsiteX2" fmla="*/ 1831452 w 1923430"/>
              <a:gd name="connsiteY2" fmla="*/ 270344 h 3713632"/>
              <a:gd name="connsiteX3" fmla="*/ 1923430 w 1923430"/>
              <a:gd name="connsiteY3" fmla="*/ 362322 h 3713632"/>
              <a:gd name="connsiteX4" fmla="*/ 1923430 w 1923430"/>
              <a:gd name="connsiteY4" fmla="*/ 3621654 h 3713632"/>
              <a:gd name="connsiteX5" fmla="*/ 1831452 w 1923430"/>
              <a:gd name="connsiteY5" fmla="*/ 3713632 h 3713632"/>
              <a:gd name="connsiteX6" fmla="*/ 91978 w 1923430"/>
              <a:gd name="connsiteY6" fmla="*/ 3713632 h 3713632"/>
              <a:gd name="connsiteX7" fmla="*/ 0 w 1923430"/>
              <a:gd name="connsiteY7" fmla="*/ 3621654 h 3713632"/>
              <a:gd name="connsiteX8" fmla="*/ 0 w 1923430"/>
              <a:gd name="connsiteY8" fmla="*/ 362322 h 3713632"/>
              <a:gd name="connsiteX9" fmla="*/ 91978 w 1923430"/>
              <a:gd name="connsiteY9" fmla="*/ 270344 h 3713632"/>
              <a:gd name="connsiteX10" fmla="*/ 804916 w 1923430"/>
              <a:gd name="connsiteY10" fmla="*/ 270344 h 3713632"/>
            </a:gdLst>
            <a:rect l="l" t="t" r="r" b="b"/>
            <a:pathLst>
              <a:path w="1923430" h="3713632">
                <a:moveTo>
                  <a:pt x="961715" y="0"/>
                </a:moveTo>
                <a:lnTo>
                  <a:pt x="1118515" y="270344"/>
                </a:lnTo>
                <a:lnTo>
                  <a:pt x="1831452" y="270344"/>
                </a:lnTo>
                <a:cubicBezTo>
                  <a:pt x="1882250" y="270344"/>
                  <a:pt x="1923430" y="311524"/>
                  <a:pt x="1923430" y="362322"/>
                </a:cubicBezTo>
                <a:lnTo>
                  <a:pt x="1923430" y="3621654"/>
                </a:lnTo>
                <a:cubicBezTo>
                  <a:pt x="1923430" y="3672452"/>
                  <a:pt x="1882250" y="3713632"/>
                  <a:pt x="1831452" y="3713632"/>
                </a:cubicBezTo>
                <a:lnTo>
                  <a:pt x="91978" y="3713632"/>
                </a:lnTo>
                <a:cubicBezTo>
                  <a:pt x="41180" y="3713632"/>
                  <a:pt x="0" y="3672452"/>
                  <a:pt x="0" y="3621654"/>
                </a:cubicBezTo>
                <a:lnTo>
                  <a:pt x="0" y="362322"/>
                </a:lnTo>
                <a:cubicBezTo>
                  <a:pt x="0" y="311524"/>
                  <a:pt x="41180" y="270344"/>
                  <a:pt x="91978" y="270344"/>
                </a:cubicBezTo>
                <a:lnTo>
                  <a:pt x="804916" y="270344"/>
                </a:lnTo>
                <a:close/>
              </a:path>
            </a:pathLst>
          </a:cu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dist="38100" blurRad="50800" dir="2700000" sx="100000" sy="100000" kx="0" ky="0" algn="tl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8150056" y="1485394"/>
            <a:ext cx="3084405" cy="776619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45720" rIns="36000" bIns="45720" rtlCol="0" anchor="b"/>
          <a:lstStyle/>
          <a:p>
            <a:pPr algn="ctr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B0F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长期目标（5 年以上）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0" flipV="0">
            <a:off x="8150056" y="2357006"/>
            <a:ext cx="3084405" cy="210188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3600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在本地市场形成品牌影响力，拓展至周边城市，建立连锁化智能养老机构，输出管理模式和技术服务。
参与养老服务标准制定和行业规范建设，引领智能养老行业发展，成为国内知名智能养老品牌。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0" flipH="0" flipV="0">
            <a:off x="601937" y="5235637"/>
            <a:ext cx="10967720" cy="182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0" flipH="0" flipV="0">
            <a:off x="2143712" y="5031903"/>
            <a:ext cx="590140" cy="590140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  <a:effectLst>
            <a:outerShdw dist="34671" blurRad="127127" dir="2700004" sx="100000" sy="100000" kx="0" ky="0" algn="tl" rotWithShape="0">
              <a:schemeClr val="accent1">
                <a:alpha val="21000"/>
              </a:schemeClr>
            </a:outerShdw>
          </a:effectLst>
        </p:spPr>
        <p:txBody>
          <a:bodyPr vert="horz" wrap="square" lIns="83210" tIns="41605" rIns="83210" bIns="41605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0" flipV="0">
            <a:off x="2157927" y="5046118"/>
            <a:ext cx="561711" cy="561711"/>
          </a:xfrm>
          <a:prstGeom prst="ellipse">
            <a:avLst/>
          </a:prstGeom>
          <a:gradFill>
            <a:gsLst>
              <a:gs pos="7000">
                <a:schemeClr val="accent1">
                  <a:lumMod val="60000"/>
                  <a:lumOff val="40000"/>
                </a:schemeClr>
              </a:gs>
              <a:gs pos="86000">
                <a:schemeClr val="accent1"/>
              </a:gs>
            </a:gsLst>
            <a:path path="circle">
              <a:fillToRect b="100000" r="100000"/>
            </a:path>
            <a:tileRect t="-100000" l="-100000"/>
          </a:gradFill>
          <a:ln w="11557" cap="sq">
            <a:solidFill>
              <a:schemeClr val="bg1"/>
            </a:solidFill>
            <a:miter/>
          </a:ln>
          <a:effectLst/>
        </p:spPr>
        <p:txBody>
          <a:bodyPr vert="horz" wrap="square" lIns="47655" tIns="23827" rIns="47655" bIns="23827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0" flipH="0" flipV="0">
            <a:off x="5816170" y="5031903"/>
            <a:ext cx="590140" cy="590140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  <a:effectLst>
            <a:outerShdw dist="34671" blurRad="127127" dir="2700004" sx="100000" sy="100000" kx="0" ky="0" algn="tl" rotWithShape="0">
              <a:schemeClr val="accent1">
                <a:alpha val="21000"/>
              </a:schemeClr>
            </a:outerShdw>
          </a:effectLst>
        </p:spPr>
        <p:txBody>
          <a:bodyPr vert="horz" wrap="square" lIns="83210" tIns="41605" rIns="83210" bIns="41605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rot="0" flipH="0" flipV="0">
            <a:off x="5830385" y="5046118"/>
            <a:ext cx="561711" cy="561711"/>
          </a:xfrm>
          <a:prstGeom prst="ellipse">
            <a:avLst/>
          </a:prstGeom>
          <a:gradFill>
            <a:gsLst>
              <a:gs pos="7000">
                <a:schemeClr val="accent1">
                  <a:lumMod val="60000"/>
                  <a:lumOff val="40000"/>
                </a:schemeClr>
              </a:gs>
              <a:gs pos="86000">
                <a:schemeClr val="accent1"/>
              </a:gs>
            </a:gsLst>
            <a:path path="circle">
              <a:fillToRect b="100000" r="100000"/>
            </a:path>
            <a:tileRect t="-100000" l="-100000"/>
          </a:gradFill>
          <a:ln w="11557" cap="sq">
            <a:solidFill>
              <a:schemeClr val="bg1"/>
            </a:solidFill>
            <a:miter/>
          </a:ln>
          <a:effectLst/>
        </p:spPr>
        <p:txBody>
          <a:bodyPr vert="horz" wrap="square" lIns="47655" tIns="23827" rIns="47655" bIns="23827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rot="0" flipH="0" flipV="0">
            <a:off x="9412428" y="5031903"/>
            <a:ext cx="590140" cy="590140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  <a:effectLst>
            <a:outerShdw dist="34671" blurRad="127127" dir="2700004" sx="100000" sy="100000" kx="0" ky="0" algn="tl" rotWithShape="0">
              <a:schemeClr val="accent1">
                <a:alpha val="21000"/>
              </a:schemeClr>
            </a:outerShdw>
          </a:effectLst>
        </p:spPr>
        <p:txBody>
          <a:bodyPr vert="horz" wrap="square" lIns="83210" tIns="41605" rIns="83210" bIns="41605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 rot="0" flipH="0" flipV="0">
            <a:off x="9426643" y="5046118"/>
            <a:ext cx="561711" cy="561711"/>
          </a:xfrm>
          <a:prstGeom prst="ellipse">
            <a:avLst/>
          </a:prstGeom>
          <a:gradFill>
            <a:gsLst>
              <a:gs pos="7000">
                <a:schemeClr val="accent1">
                  <a:lumMod val="60000"/>
                  <a:lumOff val="40000"/>
                </a:schemeClr>
              </a:gs>
              <a:gs pos="86000">
                <a:schemeClr val="accent1"/>
              </a:gs>
            </a:gsLst>
            <a:path path="circle">
              <a:fillToRect b="100000" r="100000"/>
            </a:path>
            <a:tileRect t="-100000" l="-100000"/>
          </a:gradFill>
          <a:ln w="11557" cap="sq">
            <a:solidFill>
              <a:schemeClr val="bg1"/>
            </a:solidFill>
            <a:miter/>
          </a:ln>
          <a:effectLst/>
        </p:spPr>
        <p:txBody>
          <a:bodyPr vert="horz" wrap="square" lIns="47655" tIns="23827" rIns="47655" bIns="23827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 rot="0" flipH="0" flipV="0">
            <a:off x="5957741" y="5192587"/>
            <a:ext cx="306998" cy="268773"/>
          </a:xfrm>
          <a:custGeom>
            <a:avLst/>
            <a:gdLst>
              <a:gd name="connsiteX0" fmla="*/ 411293 w 822401"/>
              <a:gd name="connsiteY0" fmla="*/ 234366 h 720000"/>
              <a:gd name="connsiteX1" fmla="*/ 536928 w 822401"/>
              <a:gd name="connsiteY1" fmla="*/ 360000 h 720000"/>
              <a:gd name="connsiteX2" fmla="*/ 411293 w 822401"/>
              <a:gd name="connsiteY2" fmla="*/ 485635 h 720000"/>
              <a:gd name="connsiteX3" fmla="*/ 285659 w 822401"/>
              <a:gd name="connsiteY3" fmla="*/ 360000 h 720000"/>
              <a:gd name="connsiteX4" fmla="*/ 411293 w 822401"/>
              <a:gd name="connsiteY4" fmla="*/ 234366 h 720000"/>
              <a:gd name="connsiteX5" fmla="*/ 411293 w 822401"/>
              <a:gd name="connsiteY5" fmla="*/ 178938 h 720000"/>
              <a:gd name="connsiteX6" fmla="*/ 230231 w 822401"/>
              <a:gd name="connsiteY6" fmla="*/ 360000 h 720000"/>
              <a:gd name="connsiteX7" fmla="*/ 411293 w 822401"/>
              <a:gd name="connsiteY7" fmla="*/ 541063 h 720000"/>
              <a:gd name="connsiteX8" fmla="*/ 592355 w 822401"/>
              <a:gd name="connsiteY8" fmla="*/ 360000 h 720000"/>
              <a:gd name="connsiteX9" fmla="*/ 411293 w 822401"/>
              <a:gd name="connsiteY9" fmla="*/ 178938 h 720000"/>
              <a:gd name="connsiteX10" fmla="*/ 219884 w 822401"/>
              <a:gd name="connsiteY10" fmla="*/ 0 h 720000"/>
              <a:gd name="connsiteX11" fmla="*/ 602517 w 822401"/>
              <a:gd name="connsiteY11" fmla="*/ 0 h 720000"/>
              <a:gd name="connsiteX12" fmla="*/ 627275 w 822401"/>
              <a:gd name="connsiteY12" fmla="*/ 14319 h 720000"/>
              <a:gd name="connsiteX13" fmla="*/ 818591 w 822401"/>
              <a:gd name="connsiteY13" fmla="*/ 345682 h 720000"/>
              <a:gd name="connsiteX14" fmla="*/ 818591 w 822401"/>
              <a:gd name="connsiteY14" fmla="*/ 374319 h 720000"/>
              <a:gd name="connsiteX15" fmla="*/ 627367 w 822401"/>
              <a:gd name="connsiteY15" fmla="*/ 705682 h 720000"/>
              <a:gd name="connsiteX16" fmla="*/ 602609 w 822401"/>
              <a:gd name="connsiteY16" fmla="*/ 720000 h 720000"/>
              <a:gd name="connsiteX17" fmla="*/ 219977 w 822401"/>
              <a:gd name="connsiteY17" fmla="*/ 720000 h 720000"/>
              <a:gd name="connsiteX18" fmla="*/ 195219 w 822401"/>
              <a:gd name="connsiteY18" fmla="*/ 705682 h 720000"/>
              <a:gd name="connsiteX19" fmla="*/ 3811 w 822401"/>
              <a:gd name="connsiteY19" fmla="*/ 374319 h 720000"/>
              <a:gd name="connsiteX20" fmla="*/ 3811 w 822401"/>
              <a:gd name="connsiteY20" fmla="*/ 345682 h 720000"/>
              <a:gd name="connsiteX21" fmla="*/ 195127 w 822401"/>
              <a:gd name="connsiteY21" fmla="*/ 14319 h 720000"/>
              <a:gd name="connsiteX22" fmla="*/ 219884 w 822401"/>
              <a:gd name="connsiteY22" fmla="*/ 0 h 720000"/>
            </a:gdLst>
            <a:rect l="l" t="t" r="r" b="b"/>
            <a:pathLst>
              <a:path w="822401" h="720000">
                <a:moveTo>
                  <a:pt x="411293" y="234366"/>
                </a:moveTo>
                <a:cubicBezTo>
                  <a:pt x="480577" y="234366"/>
                  <a:pt x="536928" y="290716"/>
                  <a:pt x="536928" y="360000"/>
                </a:cubicBezTo>
                <a:cubicBezTo>
                  <a:pt x="536928" y="429284"/>
                  <a:pt x="480577" y="485635"/>
                  <a:pt x="411293" y="485635"/>
                </a:cubicBezTo>
                <a:cubicBezTo>
                  <a:pt x="342009" y="485635"/>
                  <a:pt x="285659" y="429284"/>
                  <a:pt x="285659" y="360000"/>
                </a:cubicBezTo>
                <a:cubicBezTo>
                  <a:pt x="285659" y="290716"/>
                  <a:pt x="342009" y="234366"/>
                  <a:pt x="411293" y="234366"/>
                </a:cubicBezTo>
                <a:close/>
                <a:moveTo>
                  <a:pt x="411293" y="178938"/>
                </a:moveTo>
                <a:cubicBezTo>
                  <a:pt x="311432" y="178938"/>
                  <a:pt x="230231" y="260139"/>
                  <a:pt x="230231" y="360000"/>
                </a:cubicBezTo>
                <a:cubicBezTo>
                  <a:pt x="230231" y="459862"/>
                  <a:pt x="311432" y="541063"/>
                  <a:pt x="411293" y="541063"/>
                </a:cubicBezTo>
                <a:cubicBezTo>
                  <a:pt x="511154" y="541063"/>
                  <a:pt x="592355" y="459862"/>
                  <a:pt x="592355" y="360000"/>
                </a:cubicBezTo>
                <a:cubicBezTo>
                  <a:pt x="592355" y="260139"/>
                  <a:pt x="511154" y="178938"/>
                  <a:pt x="411293" y="178938"/>
                </a:cubicBezTo>
                <a:close/>
                <a:moveTo>
                  <a:pt x="219884" y="0"/>
                </a:moveTo>
                <a:lnTo>
                  <a:pt x="602517" y="0"/>
                </a:lnTo>
                <a:cubicBezTo>
                  <a:pt x="612679" y="0"/>
                  <a:pt x="622194" y="5451"/>
                  <a:pt x="627275" y="14319"/>
                </a:cubicBezTo>
                <a:lnTo>
                  <a:pt x="818591" y="345682"/>
                </a:lnTo>
                <a:cubicBezTo>
                  <a:pt x="823672" y="354550"/>
                  <a:pt x="823672" y="365451"/>
                  <a:pt x="818591" y="374319"/>
                </a:cubicBezTo>
                <a:lnTo>
                  <a:pt x="627367" y="705682"/>
                </a:lnTo>
                <a:cubicBezTo>
                  <a:pt x="622286" y="714550"/>
                  <a:pt x="612771" y="720000"/>
                  <a:pt x="602609" y="720000"/>
                </a:cubicBezTo>
                <a:lnTo>
                  <a:pt x="219977" y="720000"/>
                </a:lnTo>
                <a:cubicBezTo>
                  <a:pt x="209815" y="720000"/>
                  <a:pt x="200300" y="714550"/>
                  <a:pt x="195219" y="705682"/>
                </a:cubicBezTo>
                <a:lnTo>
                  <a:pt x="3811" y="374319"/>
                </a:lnTo>
                <a:cubicBezTo>
                  <a:pt x="-1270" y="365543"/>
                  <a:pt x="-1270" y="354550"/>
                  <a:pt x="3811" y="345682"/>
                </a:cubicBezTo>
                <a:lnTo>
                  <a:pt x="195127" y="14319"/>
                </a:lnTo>
                <a:cubicBezTo>
                  <a:pt x="200208" y="5451"/>
                  <a:pt x="209723" y="0"/>
                  <a:pt x="219884" y="0"/>
                </a:cubicBezTo>
                <a:close/>
              </a:path>
            </a:pathLst>
          </a:custGeom>
          <a:solidFill>
            <a:schemeClr val="bg1"/>
          </a:solidFill>
          <a:ln w="1553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rot="0" flipH="0" flipV="0">
            <a:off x="9589825" y="5192587"/>
            <a:ext cx="235346" cy="268773"/>
          </a:xfrm>
          <a:custGeom>
            <a:avLst/>
            <a:gdLst>
              <a:gd name="connsiteX0" fmla="*/ 361901 w 630455"/>
              <a:gd name="connsiteY0" fmla="*/ 82589 h 720001"/>
              <a:gd name="connsiteX1" fmla="*/ 361901 w 630455"/>
              <a:gd name="connsiteY1" fmla="*/ 203034 h 720001"/>
              <a:gd name="connsiteX2" fmla="*/ 427179 w 630455"/>
              <a:gd name="connsiteY2" fmla="*/ 268312 h 720001"/>
              <a:gd name="connsiteX3" fmla="*/ 547624 w 630455"/>
              <a:gd name="connsiteY3" fmla="*/ 268312 h 720001"/>
              <a:gd name="connsiteX4" fmla="*/ 113812 w 630455"/>
              <a:gd name="connsiteY4" fmla="*/ 0 h 720001"/>
              <a:gd name="connsiteX5" fmla="*/ 338847 w 630455"/>
              <a:gd name="connsiteY5" fmla="*/ 0 h 720001"/>
              <a:gd name="connsiteX6" fmla="*/ 340465 w 630455"/>
              <a:gd name="connsiteY6" fmla="*/ 162 h 720001"/>
              <a:gd name="connsiteX7" fmla="*/ 340789 w 630455"/>
              <a:gd name="connsiteY7" fmla="*/ 162 h 720001"/>
              <a:gd name="connsiteX8" fmla="*/ 344106 w 630455"/>
              <a:gd name="connsiteY8" fmla="*/ 809 h 720001"/>
              <a:gd name="connsiteX9" fmla="*/ 344186 w 630455"/>
              <a:gd name="connsiteY9" fmla="*/ 809 h 720001"/>
              <a:gd name="connsiteX10" fmla="*/ 347422 w 630455"/>
              <a:gd name="connsiteY10" fmla="*/ 1942 h 720001"/>
              <a:gd name="connsiteX11" fmla="*/ 347503 w 630455"/>
              <a:gd name="connsiteY11" fmla="*/ 1942 h 720001"/>
              <a:gd name="connsiteX12" fmla="*/ 349040 w 630455"/>
              <a:gd name="connsiteY12" fmla="*/ 2670 h 720001"/>
              <a:gd name="connsiteX13" fmla="*/ 349121 w 630455"/>
              <a:gd name="connsiteY13" fmla="*/ 2670 h 720001"/>
              <a:gd name="connsiteX14" fmla="*/ 350576 w 630455"/>
              <a:gd name="connsiteY14" fmla="*/ 3479 h 720001"/>
              <a:gd name="connsiteX15" fmla="*/ 350819 w 630455"/>
              <a:gd name="connsiteY15" fmla="*/ 3640 h 720001"/>
              <a:gd name="connsiteX16" fmla="*/ 352033 w 630455"/>
              <a:gd name="connsiteY16" fmla="*/ 4449 h 720001"/>
              <a:gd name="connsiteX17" fmla="*/ 352194 w 630455"/>
              <a:gd name="connsiteY17" fmla="*/ 4530 h 720001"/>
              <a:gd name="connsiteX18" fmla="*/ 353408 w 630455"/>
              <a:gd name="connsiteY18" fmla="*/ 5501 h 720001"/>
              <a:gd name="connsiteX19" fmla="*/ 353651 w 630455"/>
              <a:gd name="connsiteY19" fmla="*/ 5743 h 720001"/>
              <a:gd name="connsiteX20" fmla="*/ 354864 w 630455"/>
              <a:gd name="connsiteY20" fmla="*/ 6876 h 720001"/>
              <a:gd name="connsiteX21" fmla="*/ 623418 w 630455"/>
              <a:gd name="connsiteY21" fmla="*/ 275430 h 720001"/>
              <a:gd name="connsiteX22" fmla="*/ 624551 w 630455"/>
              <a:gd name="connsiteY22" fmla="*/ 276643 h 720001"/>
              <a:gd name="connsiteX23" fmla="*/ 624793 w 630455"/>
              <a:gd name="connsiteY23" fmla="*/ 276886 h 720001"/>
              <a:gd name="connsiteX24" fmla="*/ 625764 w 630455"/>
              <a:gd name="connsiteY24" fmla="*/ 278180 h 720001"/>
              <a:gd name="connsiteX25" fmla="*/ 625845 w 630455"/>
              <a:gd name="connsiteY25" fmla="*/ 278342 h 720001"/>
              <a:gd name="connsiteX26" fmla="*/ 626734 w 630455"/>
              <a:gd name="connsiteY26" fmla="*/ 279637 h 720001"/>
              <a:gd name="connsiteX27" fmla="*/ 626896 w 630455"/>
              <a:gd name="connsiteY27" fmla="*/ 279798 h 720001"/>
              <a:gd name="connsiteX28" fmla="*/ 627705 w 630455"/>
              <a:gd name="connsiteY28" fmla="*/ 281254 h 720001"/>
              <a:gd name="connsiteX29" fmla="*/ 628433 w 630455"/>
              <a:gd name="connsiteY29" fmla="*/ 282791 h 720001"/>
              <a:gd name="connsiteX30" fmla="*/ 629646 w 630455"/>
              <a:gd name="connsiteY30" fmla="*/ 286107 h 720001"/>
              <a:gd name="connsiteX31" fmla="*/ 630293 w 630455"/>
              <a:gd name="connsiteY31" fmla="*/ 289424 h 720001"/>
              <a:gd name="connsiteX32" fmla="*/ 630293 w 630455"/>
              <a:gd name="connsiteY32" fmla="*/ 289667 h 720001"/>
              <a:gd name="connsiteX33" fmla="*/ 630455 w 630455"/>
              <a:gd name="connsiteY33" fmla="*/ 291285 h 720001"/>
              <a:gd name="connsiteX34" fmla="*/ 630455 w 630455"/>
              <a:gd name="connsiteY34" fmla="*/ 292579 h 720001"/>
              <a:gd name="connsiteX35" fmla="*/ 630455 w 630455"/>
              <a:gd name="connsiteY35" fmla="*/ 606189 h 720001"/>
              <a:gd name="connsiteX36" fmla="*/ 516644 w 630455"/>
              <a:gd name="connsiteY36" fmla="*/ 720001 h 720001"/>
              <a:gd name="connsiteX37" fmla="*/ 113812 w 630455"/>
              <a:gd name="connsiteY37" fmla="*/ 720001 h 720001"/>
              <a:gd name="connsiteX38" fmla="*/ 0 w 630455"/>
              <a:gd name="connsiteY38" fmla="*/ 606189 h 720001"/>
              <a:gd name="connsiteX39" fmla="*/ 0 w 630455"/>
              <a:gd name="connsiteY39" fmla="*/ 113812 h 720001"/>
              <a:gd name="connsiteX40" fmla="*/ 113812 w 630455"/>
              <a:gd name="connsiteY40" fmla="*/ 0 h 720001"/>
            </a:gdLst>
            <a:rect l="l" t="t" r="r" b="b"/>
            <a:pathLst>
              <a:path w="630455" h="720001">
                <a:moveTo>
                  <a:pt x="361901" y="82589"/>
                </a:moveTo>
                <a:lnTo>
                  <a:pt x="361901" y="203034"/>
                </a:lnTo>
                <a:cubicBezTo>
                  <a:pt x="361901" y="239030"/>
                  <a:pt x="391183" y="268312"/>
                  <a:pt x="427179" y="268312"/>
                </a:cubicBezTo>
                <a:lnTo>
                  <a:pt x="547624" y="268312"/>
                </a:lnTo>
                <a:close/>
                <a:moveTo>
                  <a:pt x="113812" y="0"/>
                </a:moveTo>
                <a:lnTo>
                  <a:pt x="338847" y="0"/>
                </a:lnTo>
                <a:cubicBezTo>
                  <a:pt x="339414" y="81"/>
                  <a:pt x="339899" y="81"/>
                  <a:pt x="340465" y="162"/>
                </a:cubicBezTo>
                <a:lnTo>
                  <a:pt x="340789" y="162"/>
                </a:lnTo>
                <a:cubicBezTo>
                  <a:pt x="341922" y="324"/>
                  <a:pt x="343054" y="485"/>
                  <a:pt x="344106" y="809"/>
                </a:cubicBezTo>
                <a:lnTo>
                  <a:pt x="344186" y="809"/>
                </a:lnTo>
                <a:cubicBezTo>
                  <a:pt x="345238" y="1052"/>
                  <a:pt x="346371" y="1456"/>
                  <a:pt x="347422" y="1942"/>
                </a:cubicBezTo>
                <a:lnTo>
                  <a:pt x="347503" y="1942"/>
                </a:lnTo>
                <a:cubicBezTo>
                  <a:pt x="348069" y="2184"/>
                  <a:pt x="348555" y="2427"/>
                  <a:pt x="349040" y="2670"/>
                </a:cubicBezTo>
                <a:lnTo>
                  <a:pt x="349121" y="2670"/>
                </a:lnTo>
                <a:cubicBezTo>
                  <a:pt x="349606" y="2912"/>
                  <a:pt x="350091" y="3155"/>
                  <a:pt x="350576" y="3479"/>
                </a:cubicBezTo>
                <a:cubicBezTo>
                  <a:pt x="350657" y="3560"/>
                  <a:pt x="350739" y="3560"/>
                  <a:pt x="350819" y="3640"/>
                </a:cubicBezTo>
                <a:cubicBezTo>
                  <a:pt x="351224" y="3883"/>
                  <a:pt x="351628" y="4126"/>
                  <a:pt x="352033" y="4449"/>
                </a:cubicBezTo>
                <a:cubicBezTo>
                  <a:pt x="352113" y="4449"/>
                  <a:pt x="352113" y="4530"/>
                  <a:pt x="352194" y="4530"/>
                </a:cubicBezTo>
                <a:lnTo>
                  <a:pt x="353408" y="5501"/>
                </a:lnTo>
                <a:lnTo>
                  <a:pt x="353651" y="5743"/>
                </a:lnTo>
                <a:cubicBezTo>
                  <a:pt x="354055" y="6148"/>
                  <a:pt x="354459" y="6472"/>
                  <a:pt x="354864" y="6876"/>
                </a:cubicBezTo>
                <a:lnTo>
                  <a:pt x="623418" y="275430"/>
                </a:lnTo>
                <a:cubicBezTo>
                  <a:pt x="623822" y="275835"/>
                  <a:pt x="624227" y="276239"/>
                  <a:pt x="624551" y="276643"/>
                </a:cubicBezTo>
                <a:lnTo>
                  <a:pt x="624793" y="276886"/>
                </a:lnTo>
                <a:cubicBezTo>
                  <a:pt x="625117" y="277291"/>
                  <a:pt x="625440" y="277776"/>
                  <a:pt x="625764" y="278180"/>
                </a:cubicBezTo>
                <a:cubicBezTo>
                  <a:pt x="625764" y="278261"/>
                  <a:pt x="625845" y="278342"/>
                  <a:pt x="625845" y="278342"/>
                </a:cubicBezTo>
                <a:cubicBezTo>
                  <a:pt x="626168" y="278747"/>
                  <a:pt x="626491" y="279232"/>
                  <a:pt x="626734" y="279637"/>
                </a:cubicBezTo>
                <a:cubicBezTo>
                  <a:pt x="626815" y="279637"/>
                  <a:pt x="626815" y="279717"/>
                  <a:pt x="626896" y="279798"/>
                </a:cubicBezTo>
                <a:cubicBezTo>
                  <a:pt x="627139" y="280284"/>
                  <a:pt x="627462" y="280769"/>
                  <a:pt x="627705" y="281254"/>
                </a:cubicBezTo>
                <a:cubicBezTo>
                  <a:pt x="627948" y="281739"/>
                  <a:pt x="628190" y="282225"/>
                  <a:pt x="628433" y="282791"/>
                </a:cubicBezTo>
                <a:cubicBezTo>
                  <a:pt x="628918" y="283843"/>
                  <a:pt x="629323" y="284975"/>
                  <a:pt x="629646" y="286107"/>
                </a:cubicBezTo>
                <a:cubicBezTo>
                  <a:pt x="629889" y="287159"/>
                  <a:pt x="630132" y="288291"/>
                  <a:pt x="630293" y="289424"/>
                </a:cubicBezTo>
                <a:lnTo>
                  <a:pt x="630293" y="289667"/>
                </a:lnTo>
                <a:cubicBezTo>
                  <a:pt x="630374" y="290152"/>
                  <a:pt x="630455" y="290718"/>
                  <a:pt x="630455" y="291285"/>
                </a:cubicBezTo>
                <a:lnTo>
                  <a:pt x="630455" y="292579"/>
                </a:lnTo>
                <a:lnTo>
                  <a:pt x="630455" y="606189"/>
                </a:lnTo>
                <a:cubicBezTo>
                  <a:pt x="630455" y="668959"/>
                  <a:pt x="579414" y="720001"/>
                  <a:pt x="516644" y="720001"/>
                </a:cubicBezTo>
                <a:lnTo>
                  <a:pt x="113812" y="720001"/>
                </a:lnTo>
                <a:cubicBezTo>
                  <a:pt x="51042" y="720001"/>
                  <a:pt x="0" y="668959"/>
                  <a:pt x="0" y="606189"/>
                </a:cubicBezTo>
                <a:lnTo>
                  <a:pt x="0" y="113812"/>
                </a:lnTo>
                <a:cubicBezTo>
                  <a:pt x="0" y="51042"/>
                  <a:pt x="51042" y="0"/>
                  <a:pt x="113812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 rot="0" flipH="0" flipV="0">
            <a:off x="2304396" y="5192587"/>
            <a:ext cx="268773" cy="268773"/>
          </a:xfrm>
          <a:custGeom>
            <a:avLst/>
            <a:gdLst>
              <a:gd name="connsiteX0" fmla="*/ 438553 w 720000"/>
              <a:gd name="connsiteY0" fmla="*/ 189601 h 720000"/>
              <a:gd name="connsiteX1" fmla="*/ 503636 w 720000"/>
              <a:gd name="connsiteY1" fmla="*/ 216365 h 720000"/>
              <a:gd name="connsiteX2" fmla="*/ 503636 w 720000"/>
              <a:gd name="connsiteY2" fmla="*/ 346445 h 720000"/>
              <a:gd name="connsiteX3" fmla="*/ 362260 w 720000"/>
              <a:gd name="connsiteY3" fmla="*/ 487907 h 720000"/>
              <a:gd name="connsiteX4" fmla="*/ 191861 w 720000"/>
              <a:gd name="connsiteY4" fmla="*/ 528226 h 720000"/>
              <a:gd name="connsiteX5" fmla="*/ 232180 w 720000"/>
              <a:gd name="connsiteY5" fmla="*/ 357827 h 720000"/>
              <a:gd name="connsiteX6" fmla="*/ 373556 w 720000"/>
              <a:gd name="connsiteY6" fmla="*/ 216452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339581 w 720000"/>
              <a:gd name="connsiteY9" fmla="*/ 182476 h 720000"/>
              <a:gd name="connsiteX10" fmla="*/ 198205 w 720000"/>
              <a:gd name="connsiteY10" fmla="*/ 323852 h 720000"/>
              <a:gd name="connsiteX11" fmla="*/ 141637 w 720000"/>
              <a:gd name="connsiteY11" fmla="*/ 578364 h 720000"/>
              <a:gd name="connsiteX12" fmla="*/ 396149 w 720000"/>
              <a:gd name="connsiteY12" fmla="*/ 521796 h 720000"/>
              <a:gd name="connsiteX13" fmla="*/ 537524 w 720000"/>
              <a:gd name="connsiteY13" fmla="*/ 380420 h 720000"/>
              <a:gd name="connsiteX14" fmla="*/ 537524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0 h 720000"/>
              <a:gd name="connsiteX17" fmla="*/ 600000 w 720000"/>
              <a:gd name="connsiteY17" fmla="*/ 0 h 720000"/>
              <a:gd name="connsiteX18" fmla="*/ 720000 w 720000"/>
              <a:gd name="connsiteY18" fmla="*/ 120000 h 720000"/>
              <a:gd name="connsiteX19" fmla="*/ 720000 w 720000"/>
              <a:gd name="connsiteY19" fmla="*/ 600000 h 720000"/>
              <a:gd name="connsiteX20" fmla="*/ 600000 w 720000"/>
              <a:gd name="connsiteY20" fmla="*/ 720000 h 720000"/>
              <a:gd name="connsiteX21" fmla="*/ 120000 w 720000"/>
              <a:gd name="connsiteY21" fmla="*/ 720000 h 720000"/>
              <a:gd name="connsiteX22" fmla="*/ 0 w 720000"/>
              <a:gd name="connsiteY22" fmla="*/ 600000 h 720000"/>
              <a:gd name="connsiteX23" fmla="*/ 0 w 720000"/>
              <a:gd name="connsiteY23" fmla="*/ 120000 h 720000"/>
              <a:gd name="connsiteX24" fmla="*/ 120000 w 720000"/>
              <a:gd name="connsiteY24" fmla="*/ 0 h 720000"/>
            </a:gdLst>
            <a:rect l="l" t="t" r="r" b="b"/>
            <a:pathLst>
              <a:path w="720000" h="720000">
                <a:moveTo>
                  <a:pt x="438553" y="189601"/>
                </a:moveTo>
                <a:cubicBezTo>
                  <a:pt x="463230" y="189601"/>
                  <a:pt x="486344" y="199073"/>
                  <a:pt x="503636" y="216365"/>
                </a:cubicBezTo>
                <a:cubicBezTo>
                  <a:pt x="539523" y="252252"/>
                  <a:pt x="539523" y="310557"/>
                  <a:pt x="503636" y="346445"/>
                </a:cubicBezTo>
                <a:lnTo>
                  <a:pt x="362260" y="487907"/>
                </a:lnTo>
                <a:cubicBezTo>
                  <a:pt x="342622" y="507545"/>
                  <a:pt x="266503" y="522665"/>
                  <a:pt x="191861" y="528226"/>
                </a:cubicBezTo>
                <a:cubicBezTo>
                  <a:pt x="197336" y="453584"/>
                  <a:pt x="212456" y="377465"/>
                  <a:pt x="232180" y="357827"/>
                </a:cubicBezTo>
                <a:lnTo>
                  <a:pt x="373556" y="216452"/>
                </a:lnTo>
                <a:cubicBezTo>
                  <a:pt x="390761" y="199073"/>
                  <a:pt x="413875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02666" y="141636"/>
                  <a:pt x="366778" y="155278"/>
                  <a:pt x="339581" y="182476"/>
                </a:cubicBezTo>
                <a:lnTo>
                  <a:pt x="198205" y="323852"/>
                </a:lnTo>
                <a:cubicBezTo>
                  <a:pt x="143723" y="378335"/>
                  <a:pt x="141637" y="578364"/>
                  <a:pt x="141637" y="578364"/>
                </a:cubicBezTo>
                <a:cubicBezTo>
                  <a:pt x="141637" y="578364"/>
                  <a:pt x="341753" y="576278"/>
                  <a:pt x="396149" y="521796"/>
                </a:cubicBezTo>
                <a:lnTo>
                  <a:pt x="537524" y="380420"/>
                </a:lnTo>
                <a:cubicBezTo>
                  <a:pt x="592007" y="325938"/>
                  <a:pt x="592007" y="236872"/>
                  <a:pt x="537524" y="182476"/>
                </a:cubicBezTo>
                <a:cubicBezTo>
                  <a:pt x="510327" y="155191"/>
                  <a:pt x="474440" y="141636"/>
                  <a:pt x="438553" y="141636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 rot="0" flipH="0" flipV="0">
            <a:off x="316690" y="373380"/>
            <a:ext cx="8171180" cy="65532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 rot="0" flipH="0" flipV="0">
            <a:off x="783520" y="484345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发展规划</a:t>
            </a: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 rot="0" flipH="0" flipV="0">
            <a:off x="324256" y="626624"/>
            <a:ext cx="402076" cy="402076"/>
          </a:xfrm>
          <a:prstGeom prst="rtTriangl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2">
            <a:alphaModFix amt="100000"/>
          </a:blip>
          <a:srcRect l="2858" t="11915" r="21252" b="11915"/>
          <a:stretch>
            <a:fillRect/>
          </a:stretch>
        </p:blipFill>
        <p:spPr>
          <a:xfrm rot="0" flipH="0" flipV="0"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" name="标题 1"/>
          <p:cNvSpPr txBox="1"/>
          <p:nvPr/>
        </p:nvSpPr>
        <p:spPr>
          <a:xfrm rot="0" flipH="0" flipV="0">
            <a:off x="-1" y="0"/>
            <a:ext cx="10883569" cy="6858000"/>
          </a:xfrm>
          <a:prstGeom prst="rect">
            <a:avLst/>
          </a:prstGeom>
          <a:gradFill>
            <a:gsLst>
              <a:gs pos="12000">
                <a:schemeClr val="bg1"/>
              </a:gs>
              <a:gs pos="80000">
                <a:schemeClr val="bg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421027" y="333692"/>
            <a:ext cx="1321317" cy="164080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1693998" y="6276762"/>
            <a:ext cx="268552" cy="26855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1763397" y="6346151"/>
            <a:ext cx="129755" cy="129774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1273479" y="6276762"/>
            <a:ext cx="268552" cy="26855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1338911" y="6346151"/>
            <a:ext cx="137688" cy="129774"/>
          </a:xfrm>
          <a:custGeom>
            <a:avLst/>
            <a:gdLst>
              <a:gd name="connsiteX0" fmla="*/ 1110072 w 1498885"/>
              <a:gd name="connsiteY0" fmla="*/ 1039039 h 1412736"/>
              <a:gd name="connsiteX1" fmla="*/ 1149511 w 1498885"/>
              <a:gd name="connsiteY1" fmla="*/ 1055363 h 1412736"/>
              <a:gd name="connsiteX2" fmla="*/ 1371451 w 1498885"/>
              <a:gd name="connsiteY2" fmla="*/ 1277303 h 1412736"/>
              <a:gd name="connsiteX3" fmla="*/ 1371451 w 1498885"/>
              <a:gd name="connsiteY3" fmla="*/ 1356182 h 1412736"/>
              <a:gd name="connsiteX4" fmla="*/ 1332012 w 1498885"/>
              <a:gd name="connsiteY4" fmla="*/ 1372553 h 1412736"/>
              <a:gd name="connsiteX5" fmla="*/ 1292572 w 1498885"/>
              <a:gd name="connsiteY5" fmla="*/ 1356182 h 1412736"/>
              <a:gd name="connsiteX6" fmla="*/ 1070632 w 1498885"/>
              <a:gd name="connsiteY6" fmla="*/ 1134242 h 1412736"/>
              <a:gd name="connsiteX7" fmla="*/ 1070632 w 1498885"/>
              <a:gd name="connsiteY7" fmla="*/ 1055363 h 1412736"/>
              <a:gd name="connsiteX8" fmla="*/ 1110072 w 1498885"/>
              <a:gd name="connsiteY8" fmla="*/ 1039039 h 1412736"/>
              <a:gd name="connsiteX9" fmla="*/ 1110072 w 1498885"/>
              <a:gd name="connsiteY9" fmla="*/ 705989 h 1412736"/>
              <a:gd name="connsiteX10" fmla="*/ 1443075 w 1498885"/>
              <a:gd name="connsiteY10" fmla="*/ 705989 h 1412736"/>
              <a:gd name="connsiteX11" fmla="*/ 1498885 w 1498885"/>
              <a:gd name="connsiteY11" fmla="*/ 761800 h 1412736"/>
              <a:gd name="connsiteX12" fmla="*/ 1443075 w 1498885"/>
              <a:gd name="connsiteY12" fmla="*/ 817611 h 1412736"/>
              <a:gd name="connsiteX13" fmla="*/ 1110072 w 1498885"/>
              <a:gd name="connsiteY13" fmla="*/ 817611 h 1412736"/>
              <a:gd name="connsiteX14" fmla="*/ 1054261 w 1498885"/>
              <a:gd name="connsiteY14" fmla="*/ 761800 h 1412736"/>
              <a:gd name="connsiteX15" fmla="*/ 1110072 w 1498885"/>
              <a:gd name="connsiteY15" fmla="*/ 705989 h 1412736"/>
              <a:gd name="connsiteX16" fmla="*/ 1332012 w 1498885"/>
              <a:gd name="connsiteY16" fmla="*/ 151093 h 1412736"/>
              <a:gd name="connsiteX17" fmla="*/ 1371451 w 1498885"/>
              <a:gd name="connsiteY17" fmla="*/ 167418 h 1412736"/>
              <a:gd name="connsiteX18" fmla="*/ 1371451 w 1498885"/>
              <a:gd name="connsiteY18" fmla="*/ 246297 h 1412736"/>
              <a:gd name="connsiteX19" fmla="*/ 1149511 w 1498885"/>
              <a:gd name="connsiteY19" fmla="*/ 468236 h 1412736"/>
              <a:gd name="connsiteX20" fmla="*/ 1110072 w 1498885"/>
              <a:gd name="connsiteY20" fmla="*/ 484608 h 1412736"/>
              <a:gd name="connsiteX21" fmla="*/ 1070632 w 1498885"/>
              <a:gd name="connsiteY21" fmla="*/ 468236 h 1412736"/>
              <a:gd name="connsiteX22" fmla="*/ 1070632 w 1498885"/>
              <a:gd name="connsiteY22" fmla="*/ 389358 h 1412736"/>
              <a:gd name="connsiteX23" fmla="*/ 1292572 w 1498885"/>
              <a:gd name="connsiteY23" fmla="*/ 167418 h 1412736"/>
              <a:gd name="connsiteX24" fmla="*/ 1332012 w 1498885"/>
              <a:gd name="connsiteY24" fmla="*/ 151093 h 1412736"/>
              <a:gd name="connsiteX25" fmla="*/ 709724 w 1498885"/>
              <a:gd name="connsiteY25" fmla="*/ 111607 h 1412736"/>
              <a:gd name="connsiteX26" fmla="*/ 649635 w 1498885"/>
              <a:gd name="connsiteY26" fmla="*/ 127420 h 1412736"/>
              <a:gd name="connsiteX27" fmla="*/ 174129 w 1498885"/>
              <a:gd name="connsiteY27" fmla="*/ 394752 h 1412736"/>
              <a:gd name="connsiteX28" fmla="*/ 111621 w 1498885"/>
              <a:gd name="connsiteY28" fmla="*/ 501536 h 1412736"/>
              <a:gd name="connsiteX29" fmla="*/ 111621 w 1498885"/>
              <a:gd name="connsiteY29" fmla="*/ 910814 h 1412736"/>
              <a:gd name="connsiteX30" fmla="*/ 174129 w 1498885"/>
              <a:gd name="connsiteY30" fmla="*/ 1017598 h 1412736"/>
              <a:gd name="connsiteX31" fmla="*/ 649821 w 1498885"/>
              <a:gd name="connsiteY31" fmla="*/ 1284930 h 1412736"/>
              <a:gd name="connsiteX32" fmla="*/ 771674 w 1498885"/>
              <a:gd name="connsiteY32" fmla="*/ 1283814 h 1412736"/>
              <a:gd name="connsiteX33" fmla="*/ 832321 w 1498885"/>
              <a:gd name="connsiteY33" fmla="*/ 1178146 h 1412736"/>
              <a:gd name="connsiteX34" fmla="*/ 832321 w 1498885"/>
              <a:gd name="connsiteY34" fmla="*/ 234204 h 1412736"/>
              <a:gd name="connsiteX35" fmla="*/ 771674 w 1498885"/>
              <a:gd name="connsiteY35" fmla="*/ 128536 h 1412736"/>
              <a:gd name="connsiteX36" fmla="*/ 709724 w 1498885"/>
              <a:gd name="connsiteY36" fmla="*/ 111607 h 1412736"/>
              <a:gd name="connsiteX37" fmla="*/ 711864 w 1498885"/>
              <a:gd name="connsiteY37" fmla="*/ 9 h 1412736"/>
              <a:gd name="connsiteX38" fmla="*/ 828043 w 1498885"/>
              <a:gd name="connsiteY38" fmla="*/ 32356 h 1412736"/>
              <a:gd name="connsiteX39" fmla="*/ 943942 w 1498885"/>
              <a:gd name="connsiteY39" fmla="*/ 234390 h 1412736"/>
              <a:gd name="connsiteX40" fmla="*/ 943942 w 1498885"/>
              <a:gd name="connsiteY40" fmla="*/ 1178518 h 1412736"/>
              <a:gd name="connsiteX41" fmla="*/ 828043 w 1498885"/>
              <a:gd name="connsiteY41" fmla="*/ 1380552 h 1412736"/>
              <a:gd name="connsiteX42" fmla="*/ 709910 w 1498885"/>
              <a:gd name="connsiteY42" fmla="*/ 1412736 h 1412736"/>
              <a:gd name="connsiteX43" fmla="*/ 595126 w 1498885"/>
              <a:gd name="connsiteY43" fmla="*/ 1382413 h 1412736"/>
              <a:gd name="connsiteX44" fmla="*/ 119435 w 1498885"/>
              <a:gd name="connsiteY44" fmla="*/ 1115080 h 1412736"/>
              <a:gd name="connsiteX45" fmla="*/ 0 w 1498885"/>
              <a:gd name="connsiteY45" fmla="*/ 911000 h 1412736"/>
              <a:gd name="connsiteX46" fmla="*/ 0 w 1498885"/>
              <a:gd name="connsiteY46" fmla="*/ 501722 h 1412736"/>
              <a:gd name="connsiteX47" fmla="*/ 119435 w 1498885"/>
              <a:gd name="connsiteY47" fmla="*/ 297642 h 1412736"/>
              <a:gd name="connsiteX48" fmla="*/ 595126 w 1498885"/>
              <a:gd name="connsiteY48" fmla="*/ 30309 h 1412736"/>
              <a:gd name="connsiteX49" fmla="*/ 711864 w 1498885"/>
              <a:gd name="connsiteY49" fmla="*/ 9 h 1412736"/>
            </a:gdLst>
            <a:rect l="l" t="t" r="r" b="b"/>
            <a:pathLst>
              <a:path w="1498885" h="1412736">
                <a:moveTo>
                  <a:pt x="1110072" y="1039039"/>
                </a:moveTo>
                <a:cubicBezTo>
                  <a:pt x="1124350" y="1039039"/>
                  <a:pt x="1138628" y="1044480"/>
                  <a:pt x="1149511" y="1055363"/>
                </a:cubicBezTo>
                <a:lnTo>
                  <a:pt x="1371451" y="1277303"/>
                </a:lnTo>
                <a:cubicBezTo>
                  <a:pt x="1393217" y="1299070"/>
                  <a:pt x="1393217" y="1334416"/>
                  <a:pt x="1371451" y="1356182"/>
                </a:cubicBezTo>
                <a:cubicBezTo>
                  <a:pt x="1360661" y="1366972"/>
                  <a:pt x="1346336" y="1372553"/>
                  <a:pt x="1332012" y="1372553"/>
                </a:cubicBezTo>
                <a:cubicBezTo>
                  <a:pt x="1317687" y="1372553"/>
                  <a:pt x="1303362" y="1367158"/>
                  <a:pt x="1292572" y="1356182"/>
                </a:cubicBezTo>
                <a:lnTo>
                  <a:pt x="1070632" y="1134242"/>
                </a:lnTo>
                <a:cubicBezTo>
                  <a:pt x="1048866" y="1112476"/>
                  <a:pt x="1048866" y="1077130"/>
                  <a:pt x="1070632" y="1055363"/>
                </a:cubicBezTo>
                <a:cubicBezTo>
                  <a:pt x="1081515" y="1044480"/>
                  <a:pt x="1095793" y="1039039"/>
                  <a:pt x="1110072" y="1039039"/>
                </a:cubicBezTo>
                <a:close/>
                <a:moveTo>
                  <a:pt x="1110072" y="705989"/>
                </a:moveTo>
                <a:lnTo>
                  <a:pt x="1443075" y="705989"/>
                </a:lnTo>
                <a:cubicBezTo>
                  <a:pt x="1473956" y="705989"/>
                  <a:pt x="1498885" y="730918"/>
                  <a:pt x="1498885" y="761800"/>
                </a:cubicBezTo>
                <a:cubicBezTo>
                  <a:pt x="1498885" y="792682"/>
                  <a:pt x="1473770" y="817611"/>
                  <a:pt x="1443075" y="817611"/>
                </a:cubicBezTo>
                <a:lnTo>
                  <a:pt x="1110072" y="817611"/>
                </a:lnTo>
                <a:cubicBezTo>
                  <a:pt x="1079190" y="817611"/>
                  <a:pt x="1054261" y="792682"/>
                  <a:pt x="1054261" y="761800"/>
                </a:cubicBezTo>
                <a:cubicBezTo>
                  <a:pt x="1054261" y="730918"/>
                  <a:pt x="1079190" y="705989"/>
                  <a:pt x="1110072" y="705989"/>
                </a:cubicBezTo>
                <a:close/>
                <a:moveTo>
                  <a:pt x="1332012" y="151093"/>
                </a:moveTo>
                <a:cubicBezTo>
                  <a:pt x="1346290" y="151093"/>
                  <a:pt x="1360568" y="156535"/>
                  <a:pt x="1371451" y="167418"/>
                </a:cubicBezTo>
                <a:cubicBezTo>
                  <a:pt x="1393217" y="189184"/>
                  <a:pt x="1393217" y="224530"/>
                  <a:pt x="1371451" y="246297"/>
                </a:cubicBezTo>
                <a:lnTo>
                  <a:pt x="1149511" y="468236"/>
                </a:lnTo>
                <a:cubicBezTo>
                  <a:pt x="1138721" y="479213"/>
                  <a:pt x="1124396" y="484608"/>
                  <a:pt x="1110072" y="484608"/>
                </a:cubicBezTo>
                <a:cubicBezTo>
                  <a:pt x="1095747" y="484608"/>
                  <a:pt x="1081422" y="479213"/>
                  <a:pt x="1070632" y="468236"/>
                </a:cubicBezTo>
                <a:cubicBezTo>
                  <a:pt x="1048866" y="446470"/>
                  <a:pt x="1048866" y="411124"/>
                  <a:pt x="1070632" y="389358"/>
                </a:cubicBezTo>
                <a:lnTo>
                  <a:pt x="1292572" y="167418"/>
                </a:lnTo>
                <a:cubicBezTo>
                  <a:pt x="1303455" y="156535"/>
                  <a:pt x="1317733" y="151093"/>
                  <a:pt x="1332012" y="151093"/>
                </a:cubicBezTo>
                <a:close/>
                <a:moveTo>
                  <a:pt x="709724" y="111607"/>
                </a:moveTo>
                <a:cubicBezTo>
                  <a:pt x="689074" y="111607"/>
                  <a:pt x="668610" y="116816"/>
                  <a:pt x="649635" y="127420"/>
                </a:cubicBezTo>
                <a:lnTo>
                  <a:pt x="174129" y="394752"/>
                </a:lnTo>
                <a:cubicBezTo>
                  <a:pt x="135620" y="416332"/>
                  <a:pt x="111621" y="457260"/>
                  <a:pt x="111621" y="501536"/>
                </a:cubicBezTo>
                <a:lnTo>
                  <a:pt x="111621" y="910814"/>
                </a:lnTo>
                <a:cubicBezTo>
                  <a:pt x="111621" y="955090"/>
                  <a:pt x="135620" y="996018"/>
                  <a:pt x="174129" y="1017598"/>
                </a:cubicBezTo>
                <a:lnTo>
                  <a:pt x="649821" y="1284930"/>
                </a:lnTo>
                <a:cubicBezTo>
                  <a:pt x="688144" y="1306510"/>
                  <a:pt x="733723" y="1306138"/>
                  <a:pt x="771674" y="1283814"/>
                </a:cubicBezTo>
                <a:cubicBezTo>
                  <a:pt x="809625" y="1261676"/>
                  <a:pt x="832321" y="1222050"/>
                  <a:pt x="832321" y="1178146"/>
                </a:cubicBezTo>
                <a:lnTo>
                  <a:pt x="832321" y="234204"/>
                </a:lnTo>
                <a:cubicBezTo>
                  <a:pt x="832321" y="190113"/>
                  <a:pt x="809625" y="150674"/>
                  <a:pt x="771674" y="128536"/>
                </a:cubicBezTo>
                <a:cubicBezTo>
                  <a:pt x="752326" y="117188"/>
                  <a:pt x="731118" y="111607"/>
                  <a:pt x="709724" y="111607"/>
                </a:cubicBezTo>
                <a:close/>
                <a:moveTo>
                  <a:pt x="711864" y="9"/>
                </a:moveTo>
                <a:cubicBezTo>
                  <a:pt x="751861" y="358"/>
                  <a:pt x="791766" y="11148"/>
                  <a:pt x="828043" y="32356"/>
                </a:cubicBezTo>
                <a:cubicBezTo>
                  <a:pt x="900596" y="74772"/>
                  <a:pt x="943942" y="150302"/>
                  <a:pt x="943942" y="234390"/>
                </a:cubicBezTo>
                <a:lnTo>
                  <a:pt x="943942" y="1178518"/>
                </a:lnTo>
                <a:cubicBezTo>
                  <a:pt x="943942" y="1262606"/>
                  <a:pt x="900596" y="1338136"/>
                  <a:pt x="828043" y="1380552"/>
                </a:cubicBezTo>
                <a:cubicBezTo>
                  <a:pt x="791208" y="1401946"/>
                  <a:pt x="750466" y="1412736"/>
                  <a:pt x="709910" y="1412736"/>
                </a:cubicBezTo>
                <a:cubicBezTo>
                  <a:pt x="670471" y="1412736"/>
                  <a:pt x="631217" y="1402691"/>
                  <a:pt x="595126" y="1382413"/>
                </a:cubicBezTo>
                <a:lnTo>
                  <a:pt x="119435" y="1115080"/>
                </a:lnTo>
                <a:cubicBezTo>
                  <a:pt x="45765" y="1073594"/>
                  <a:pt x="0" y="995460"/>
                  <a:pt x="0" y="911000"/>
                </a:cubicBezTo>
                <a:lnTo>
                  <a:pt x="0" y="501722"/>
                </a:lnTo>
                <a:cubicBezTo>
                  <a:pt x="0" y="417262"/>
                  <a:pt x="45765" y="338942"/>
                  <a:pt x="119435" y="297642"/>
                </a:cubicBezTo>
                <a:lnTo>
                  <a:pt x="595126" y="30309"/>
                </a:lnTo>
                <a:cubicBezTo>
                  <a:pt x="631775" y="9752"/>
                  <a:pt x="671866" y="-340"/>
                  <a:pt x="711864" y="9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852960" y="6276762"/>
            <a:ext cx="268552" cy="26855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920186" y="6346151"/>
            <a:ext cx="134100" cy="129774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432441" y="6276762"/>
            <a:ext cx="268552" cy="26855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506816" y="6346151"/>
            <a:ext cx="119802" cy="129774"/>
          </a:xfrm>
          <a:custGeom>
            <a:avLst/>
            <a:gdLst>
              <a:gd name="connsiteX0" fmla="*/ 712625 w 1425436"/>
              <a:gd name="connsiteY0" fmla="*/ 111621 h 1544091"/>
              <a:gd name="connsiteX1" fmla="*/ 902567 w 1425436"/>
              <a:gd name="connsiteY1" fmla="*/ 190314 h 1544091"/>
              <a:gd name="connsiteX2" fmla="*/ 981260 w 1425436"/>
              <a:gd name="connsiteY2" fmla="*/ 380256 h 1544091"/>
              <a:gd name="connsiteX3" fmla="*/ 902567 w 1425436"/>
              <a:gd name="connsiteY3" fmla="*/ 570198 h 1544091"/>
              <a:gd name="connsiteX4" fmla="*/ 712625 w 1425436"/>
              <a:gd name="connsiteY4" fmla="*/ 648891 h 1544091"/>
              <a:gd name="connsiteX5" fmla="*/ 522684 w 1425436"/>
              <a:gd name="connsiteY5" fmla="*/ 570198 h 1544091"/>
              <a:gd name="connsiteX6" fmla="*/ 444177 w 1425436"/>
              <a:gd name="connsiteY6" fmla="*/ 380070 h 1544091"/>
              <a:gd name="connsiteX7" fmla="*/ 522870 w 1425436"/>
              <a:gd name="connsiteY7" fmla="*/ 190128 h 1544091"/>
              <a:gd name="connsiteX8" fmla="*/ 712625 w 1425436"/>
              <a:gd name="connsiteY8" fmla="*/ 111621 h 1544091"/>
              <a:gd name="connsiteX9" fmla="*/ 712625 w 1425436"/>
              <a:gd name="connsiteY9" fmla="*/ 0 h 1544091"/>
              <a:gd name="connsiteX10" fmla="*/ 332556 w 1425436"/>
              <a:gd name="connsiteY10" fmla="*/ 380070 h 1544091"/>
              <a:gd name="connsiteX11" fmla="*/ 712625 w 1425436"/>
              <a:gd name="connsiteY11" fmla="*/ 760140 h 1544091"/>
              <a:gd name="connsiteX12" fmla="*/ 1092695 w 1425436"/>
              <a:gd name="connsiteY12" fmla="*/ 380070 h 1544091"/>
              <a:gd name="connsiteX13" fmla="*/ 712625 w 1425436"/>
              <a:gd name="connsiteY13" fmla="*/ 0 h 1544091"/>
              <a:gd name="connsiteX14" fmla="*/ 712625 w 1425436"/>
              <a:gd name="connsiteY14" fmla="*/ 943012 h 1544091"/>
              <a:gd name="connsiteX15" fmla="*/ 978842 w 1425436"/>
              <a:gd name="connsiteY15" fmla="*/ 976685 h 1544091"/>
              <a:gd name="connsiteX16" fmla="*/ 1146087 w 1425436"/>
              <a:gd name="connsiteY16" fmla="*/ 1059470 h 1544091"/>
              <a:gd name="connsiteX17" fmla="*/ 1248593 w 1425436"/>
              <a:gd name="connsiteY17" fmla="*/ 1174440 h 1544091"/>
              <a:gd name="connsiteX18" fmla="*/ 1310356 w 1425436"/>
              <a:gd name="connsiteY18" fmla="*/ 1316385 h 1544091"/>
              <a:gd name="connsiteX19" fmla="*/ 1296590 w 1425436"/>
              <a:gd name="connsiteY19" fmla="*/ 1390241 h 1544091"/>
              <a:gd name="connsiteX20" fmla="*/ 1208595 w 1425436"/>
              <a:gd name="connsiteY20" fmla="*/ 1432285 h 1544091"/>
              <a:gd name="connsiteX21" fmla="*/ 216842 w 1425436"/>
              <a:gd name="connsiteY21" fmla="*/ 1432285 h 1544091"/>
              <a:gd name="connsiteX22" fmla="*/ 128847 w 1425436"/>
              <a:gd name="connsiteY22" fmla="*/ 1390241 h 1544091"/>
              <a:gd name="connsiteX23" fmla="*/ 115081 w 1425436"/>
              <a:gd name="connsiteY23" fmla="*/ 1316385 h 1544091"/>
              <a:gd name="connsiteX24" fmla="*/ 176844 w 1425436"/>
              <a:gd name="connsiteY24" fmla="*/ 1174440 h 1544091"/>
              <a:gd name="connsiteX25" fmla="*/ 279350 w 1425436"/>
              <a:gd name="connsiteY25" fmla="*/ 1059470 h 1544091"/>
              <a:gd name="connsiteX26" fmla="*/ 446595 w 1425436"/>
              <a:gd name="connsiteY26" fmla="*/ 976685 h 1544091"/>
              <a:gd name="connsiteX27" fmla="*/ 712625 w 1425436"/>
              <a:gd name="connsiteY27" fmla="*/ 943012 h 1544091"/>
              <a:gd name="connsiteX28" fmla="*/ 712625 w 1425436"/>
              <a:gd name="connsiteY28" fmla="*/ 831391 h 1544091"/>
              <a:gd name="connsiteX29" fmla="*/ 8296 w 1425436"/>
              <a:gd name="connsiteY29" fmla="*/ 1284387 h 1544091"/>
              <a:gd name="connsiteX30" fmla="*/ 216842 w 1425436"/>
              <a:gd name="connsiteY30" fmla="*/ 1544092 h 1544091"/>
              <a:gd name="connsiteX31" fmla="*/ 1208595 w 1425436"/>
              <a:gd name="connsiteY31" fmla="*/ 1544092 h 1544091"/>
              <a:gd name="connsiteX32" fmla="*/ 1417141 w 1425436"/>
              <a:gd name="connsiteY32" fmla="*/ 1284387 h 1544091"/>
              <a:gd name="connsiteX33" fmla="*/ 712625 w 1425436"/>
              <a:gd name="connsiteY33" fmla="*/ 831391 h 1544091"/>
            </a:gdLst>
            <a:rect l="l" t="t" r="r" b="b"/>
            <a:pathLst>
              <a:path w="1425436" h="1544091">
                <a:moveTo>
                  <a:pt x="712625" y="111621"/>
                </a:moveTo>
                <a:cubicBezTo>
                  <a:pt x="784435" y="111621"/>
                  <a:pt x="851780" y="139526"/>
                  <a:pt x="902567" y="190314"/>
                </a:cubicBezTo>
                <a:cubicBezTo>
                  <a:pt x="953355" y="241102"/>
                  <a:pt x="981260" y="308446"/>
                  <a:pt x="981260" y="380256"/>
                </a:cubicBezTo>
                <a:cubicBezTo>
                  <a:pt x="981260" y="452065"/>
                  <a:pt x="953355" y="519410"/>
                  <a:pt x="902567" y="570198"/>
                </a:cubicBezTo>
                <a:cubicBezTo>
                  <a:pt x="851780" y="620985"/>
                  <a:pt x="784435" y="648891"/>
                  <a:pt x="712625" y="648891"/>
                </a:cubicBezTo>
                <a:cubicBezTo>
                  <a:pt x="640816" y="648891"/>
                  <a:pt x="573471" y="620985"/>
                  <a:pt x="522684" y="570198"/>
                </a:cubicBezTo>
                <a:cubicBezTo>
                  <a:pt x="472082" y="519224"/>
                  <a:pt x="444177" y="451693"/>
                  <a:pt x="444177" y="380070"/>
                </a:cubicBezTo>
                <a:cubicBezTo>
                  <a:pt x="444177" y="308446"/>
                  <a:pt x="472082" y="240916"/>
                  <a:pt x="522870" y="190128"/>
                </a:cubicBezTo>
                <a:cubicBezTo>
                  <a:pt x="573471" y="139526"/>
                  <a:pt x="641002" y="111621"/>
                  <a:pt x="712625" y="111621"/>
                </a:cubicBezTo>
                <a:moveTo>
                  <a:pt x="712625" y="0"/>
                </a:moveTo>
                <a:cubicBezTo>
                  <a:pt x="502778" y="0"/>
                  <a:pt x="332556" y="170036"/>
                  <a:pt x="332556" y="380070"/>
                </a:cubicBezTo>
                <a:cubicBezTo>
                  <a:pt x="332556" y="589917"/>
                  <a:pt x="502778" y="760140"/>
                  <a:pt x="712625" y="760140"/>
                </a:cubicBezTo>
                <a:cubicBezTo>
                  <a:pt x="922473" y="760140"/>
                  <a:pt x="1092695" y="589917"/>
                  <a:pt x="1092695" y="380070"/>
                </a:cubicBezTo>
                <a:cubicBezTo>
                  <a:pt x="1092881" y="170036"/>
                  <a:pt x="922659" y="0"/>
                  <a:pt x="712625" y="0"/>
                </a:cubicBezTo>
                <a:close/>
                <a:moveTo>
                  <a:pt x="712625" y="943012"/>
                </a:moveTo>
                <a:cubicBezTo>
                  <a:pt x="813643" y="943012"/>
                  <a:pt x="903126" y="954360"/>
                  <a:pt x="978842" y="976685"/>
                </a:cubicBezTo>
                <a:cubicBezTo>
                  <a:pt x="1043582" y="995846"/>
                  <a:pt x="1099951" y="1023752"/>
                  <a:pt x="1146087" y="1059470"/>
                </a:cubicBezTo>
                <a:cubicBezTo>
                  <a:pt x="1186829" y="1091096"/>
                  <a:pt x="1220315" y="1128675"/>
                  <a:pt x="1248593" y="1174440"/>
                </a:cubicBezTo>
                <a:cubicBezTo>
                  <a:pt x="1273708" y="1215368"/>
                  <a:pt x="1293985" y="1261877"/>
                  <a:pt x="1310356" y="1316385"/>
                </a:cubicBezTo>
                <a:cubicBezTo>
                  <a:pt x="1320774" y="1350801"/>
                  <a:pt x="1306264" y="1377404"/>
                  <a:pt x="1296590" y="1390241"/>
                </a:cubicBezTo>
                <a:cubicBezTo>
                  <a:pt x="1276684" y="1417030"/>
                  <a:pt x="1244686" y="1432285"/>
                  <a:pt x="1208595" y="1432285"/>
                </a:cubicBezTo>
                <a:lnTo>
                  <a:pt x="216842" y="1432285"/>
                </a:lnTo>
                <a:cubicBezTo>
                  <a:pt x="180937" y="1432285"/>
                  <a:pt x="148753" y="1417030"/>
                  <a:pt x="128847" y="1390241"/>
                </a:cubicBezTo>
                <a:cubicBezTo>
                  <a:pt x="119359" y="1377404"/>
                  <a:pt x="104849" y="1350801"/>
                  <a:pt x="115081" y="1316385"/>
                </a:cubicBezTo>
                <a:cubicBezTo>
                  <a:pt x="131452" y="1261877"/>
                  <a:pt x="151543" y="1215368"/>
                  <a:pt x="176844" y="1174440"/>
                </a:cubicBezTo>
                <a:cubicBezTo>
                  <a:pt x="204936" y="1128675"/>
                  <a:pt x="238422" y="1090910"/>
                  <a:pt x="279350" y="1059470"/>
                </a:cubicBezTo>
                <a:cubicBezTo>
                  <a:pt x="325486" y="1023752"/>
                  <a:pt x="381855" y="995846"/>
                  <a:pt x="446595" y="976685"/>
                </a:cubicBezTo>
                <a:cubicBezTo>
                  <a:pt x="522125" y="954360"/>
                  <a:pt x="611794" y="943012"/>
                  <a:pt x="712625" y="943012"/>
                </a:cubicBezTo>
                <a:moveTo>
                  <a:pt x="712625" y="831391"/>
                </a:moveTo>
                <a:cubicBezTo>
                  <a:pt x="244561" y="831391"/>
                  <a:pt x="77501" y="1053331"/>
                  <a:pt x="8296" y="1284387"/>
                </a:cubicBezTo>
                <a:cubicBezTo>
                  <a:pt x="-30771" y="1414611"/>
                  <a:pt x="73037" y="1544092"/>
                  <a:pt x="216842" y="1544092"/>
                </a:cubicBezTo>
                <a:lnTo>
                  <a:pt x="1208595" y="1544092"/>
                </a:lnTo>
                <a:cubicBezTo>
                  <a:pt x="1352400" y="1544092"/>
                  <a:pt x="1456208" y="1414611"/>
                  <a:pt x="1417141" y="1284387"/>
                </a:cubicBezTo>
                <a:cubicBezTo>
                  <a:pt x="1347750" y="1053331"/>
                  <a:pt x="1180690" y="831391"/>
                  <a:pt x="712625" y="83139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1" flipV="0">
            <a:off x="650050" y="1918023"/>
            <a:ext cx="184513" cy="184513"/>
          </a:xfrm>
          <a:custGeom>
            <a:avLst/>
            <a:gdLst>
              <a:gd name="connsiteX0" fmla="*/ 104503 w 184513"/>
              <a:gd name="connsiteY0" fmla="*/ 0 h 184513"/>
              <a:gd name="connsiteX1" fmla="*/ 80010 w 184513"/>
              <a:gd name="connsiteY1" fmla="*/ 0 h 184513"/>
              <a:gd name="connsiteX2" fmla="*/ 80010 w 184513"/>
              <a:gd name="connsiteY2" fmla="*/ 80010 h 184513"/>
              <a:gd name="connsiteX3" fmla="*/ 0 w 184513"/>
              <a:gd name="connsiteY3" fmla="*/ 80010 h 184513"/>
              <a:gd name="connsiteX4" fmla="*/ 0 w 184513"/>
              <a:gd name="connsiteY4" fmla="*/ 104503 h 184513"/>
              <a:gd name="connsiteX5" fmla="*/ 80010 w 184513"/>
              <a:gd name="connsiteY5" fmla="*/ 104503 h 184513"/>
              <a:gd name="connsiteX6" fmla="*/ 80010 w 184513"/>
              <a:gd name="connsiteY6" fmla="*/ 184513 h 184513"/>
              <a:gd name="connsiteX7" fmla="*/ 104503 w 184513"/>
              <a:gd name="connsiteY7" fmla="*/ 184513 h 184513"/>
              <a:gd name="connsiteX8" fmla="*/ 104503 w 184513"/>
              <a:gd name="connsiteY8" fmla="*/ 104503 h 184513"/>
              <a:gd name="connsiteX9" fmla="*/ 184513 w 184513"/>
              <a:gd name="connsiteY9" fmla="*/ 104503 h 184513"/>
              <a:gd name="connsiteX10" fmla="*/ 184513 w 184513"/>
              <a:gd name="connsiteY10" fmla="*/ 80010 h 184513"/>
              <a:gd name="connsiteX11" fmla="*/ 104503 w 184513"/>
              <a:gd name="connsiteY11" fmla="*/ 80010 h 184513"/>
            </a:gdLst>
            <a:rect l="l" t="t" r="r" b="b"/>
            <a:pathLst>
              <a:path w="184513" h="184513">
                <a:moveTo>
                  <a:pt x="104503" y="0"/>
                </a:moveTo>
                <a:lnTo>
                  <a:pt x="80010" y="0"/>
                </a:lnTo>
                <a:lnTo>
                  <a:pt x="80010" y="80010"/>
                </a:lnTo>
                <a:lnTo>
                  <a:pt x="0" y="80010"/>
                </a:lnTo>
                <a:lnTo>
                  <a:pt x="0" y="104503"/>
                </a:lnTo>
                <a:lnTo>
                  <a:pt x="80010" y="104503"/>
                </a:lnTo>
                <a:lnTo>
                  <a:pt x="80010" y="184513"/>
                </a:lnTo>
                <a:lnTo>
                  <a:pt x="104503" y="184513"/>
                </a:lnTo>
                <a:lnTo>
                  <a:pt x="104503" y="104503"/>
                </a:lnTo>
                <a:lnTo>
                  <a:pt x="184513" y="104503"/>
                </a:lnTo>
                <a:lnTo>
                  <a:pt x="184513" y="80010"/>
                </a:lnTo>
                <a:lnTo>
                  <a:pt x="104503" y="80010"/>
                </a:lnTo>
                <a:close/>
              </a:path>
            </a:pathLst>
          </a:custGeom>
          <a:solidFill>
            <a:schemeClr val="accent2"/>
          </a:solidFill>
          <a:ln w="1632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1" flipV="0">
            <a:off x="788366" y="2115629"/>
            <a:ext cx="101867" cy="101867"/>
          </a:xfrm>
          <a:custGeom>
            <a:avLst/>
            <a:gdLst>
              <a:gd name="connsiteX0" fmla="*/ 104503 w 184513"/>
              <a:gd name="connsiteY0" fmla="*/ 0 h 184513"/>
              <a:gd name="connsiteX1" fmla="*/ 80010 w 184513"/>
              <a:gd name="connsiteY1" fmla="*/ 0 h 184513"/>
              <a:gd name="connsiteX2" fmla="*/ 80010 w 184513"/>
              <a:gd name="connsiteY2" fmla="*/ 80010 h 184513"/>
              <a:gd name="connsiteX3" fmla="*/ 0 w 184513"/>
              <a:gd name="connsiteY3" fmla="*/ 80010 h 184513"/>
              <a:gd name="connsiteX4" fmla="*/ 0 w 184513"/>
              <a:gd name="connsiteY4" fmla="*/ 104503 h 184513"/>
              <a:gd name="connsiteX5" fmla="*/ 80010 w 184513"/>
              <a:gd name="connsiteY5" fmla="*/ 104503 h 184513"/>
              <a:gd name="connsiteX6" fmla="*/ 80010 w 184513"/>
              <a:gd name="connsiteY6" fmla="*/ 184513 h 184513"/>
              <a:gd name="connsiteX7" fmla="*/ 104503 w 184513"/>
              <a:gd name="connsiteY7" fmla="*/ 184513 h 184513"/>
              <a:gd name="connsiteX8" fmla="*/ 104503 w 184513"/>
              <a:gd name="connsiteY8" fmla="*/ 104503 h 184513"/>
              <a:gd name="connsiteX9" fmla="*/ 184513 w 184513"/>
              <a:gd name="connsiteY9" fmla="*/ 104503 h 184513"/>
              <a:gd name="connsiteX10" fmla="*/ 184513 w 184513"/>
              <a:gd name="connsiteY10" fmla="*/ 80010 h 184513"/>
              <a:gd name="connsiteX11" fmla="*/ 104503 w 184513"/>
              <a:gd name="connsiteY11" fmla="*/ 80010 h 184513"/>
            </a:gdLst>
            <a:rect l="l" t="t" r="r" b="b"/>
            <a:pathLst>
              <a:path w="184513" h="184513">
                <a:moveTo>
                  <a:pt x="104503" y="0"/>
                </a:moveTo>
                <a:lnTo>
                  <a:pt x="80010" y="0"/>
                </a:lnTo>
                <a:lnTo>
                  <a:pt x="80010" y="80010"/>
                </a:lnTo>
                <a:lnTo>
                  <a:pt x="0" y="80010"/>
                </a:lnTo>
                <a:lnTo>
                  <a:pt x="0" y="104503"/>
                </a:lnTo>
                <a:lnTo>
                  <a:pt x="80010" y="104503"/>
                </a:lnTo>
                <a:lnTo>
                  <a:pt x="80010" y="184513"/>
                </a:lnTo>
                <a:lnTo>
                  <a:pt x="104503" y="184513"/>
                </a:lnTo>
                <a:lnTo>
                  <a:pt x="104503" y="104503"/>
                </a:lnTo>
                <a:lnTo>
                  <a:pt x="184513" y="104503"/>
                </a:lnTo>
                <a:lnTo>
                  <a:pt x="184513" y="80010"/>
                </a:lnTo>
                <a:lnTo>
                  <a:pt x="104503" y="80010"/>
                </a:lnTo>
                <a:close/>
              </a:path>
            </a:pathLst>
          </a:custGeom>
          <a:solidFill>
            <a:schemeClr val="accent1"/>
          </a:solidFill>
          <a:ln w="1632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920186" y="1480632"/>
            <a:ext cx="1179586" cy="14394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3949EE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05</a:t>
            </a:r>
            <a:endParaRPr kumimoji="1" lang="zh-CN" altLang="en-US"/>
          </a:p>
        </p:txBody>
      </p:sp>
      <p:cxnSp>
        <p:nvCxnSpPr>
          <p:cNvPr id="16" name="标题 1"/>
          <p:cNvCxnSpPr/>
          <p:nvPr/>
        </p:nvCxnSpPr>
        <p:spPr>
          <a:xfrm rot="0" flipH="0" flipV="0">
            <a:off x="1929538" y="2580053"/>
            <a:ext cx="672826" cy="0"/>
          </a:xfrm>
          <a:prstGeom prst="line">
            <a:avLst/>
          </a:prstGeom>
          <a:noFill/>
          <a:ln w="12700" cap="sq">
            <a:solidFill>
              <a:schemeClr val="accent2">
                <a:alpha val="50000"/>
              </a:schemeClr>
            </a:solidFill>
            <a:prstDash val="dash"/>
            <a:miter/>
          </a:ln>
        </p:spPr>
      </p:cxnSp>
      <p:sp>
        <p:nvSpPr>
          <p:cNvPr id="17" name="标题 1"/>
          <p:cNvSpPr txBox="1"/>
          <p:nvPr/>
        </p:nvSpPr>
        <p:spPr>
          <a:xfrm rot="0" flipH="0" flipV="0">
            <a:off x="9540239" y="241508"/>
            <a:ext cx="2230733" cy="29733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2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5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0" flipH="0" flipV="0">
            <a:off x="11386534" y="325289"/>
            <a:ext cx="129755" cy="129774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0" flipV="0">
            <a:off x="9743840" y="254366"/>
            <a:ext cx="1542030" cy="24622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PowerPoint design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0" flipH="0" flipV="0">
            <a:off x="920186" y="3027823"/>
            <a:ext cx="4583574" cy="15354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3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幻灯片 5：管理团队</a:t>
            </a: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rot="0" flipH="0" flipV="0">
            <a:off x="5319247" y="4306073"/>
            <a:ext cx="184513" cy="184513"/>
          </a:xfrm>
          <a:custGeom>
            <a:avLst/>
            <a:gdLst>
              <a:gd name="connsiteX0" fmla="*/ 104503 w 184513"/>
              <a:gd name="connsiteY0" fmla="*/ 0 h 184513"/>
              <a:gd name="connsiteX1" fmla="*/ 80010 w 184513"/>
              <a:gd name="connsiteY1" fmla="*/ 0 h 184513"/>
              <a:gd name="connsiteX2" fmla="*/ 80010 w 184513"/>
              <a:gd name="connsiteY2" fmla="*/ 80010 h 184513"/>
              <a:gd name="connsiteX3" fmla="*/ 0 w 184513"/>
              <a:gd name="connsiteY3" fmla="*/ 80010 h 184513"/>
              <a:gd name="connsiteX4" fmla="*/ 0 w 184513"/>
              <a:gd name="connsiteY4" fmla="*/ 104503 h 184513"/>
              <a:gd name="connsiteX5" fmla="*/ 80010 w 184513"/>
              <a:gd name="connsiteY5" fmla="*/ 104503 h 184513"/>
              <a:gd name="connsiteX6" fmla="*/ 80010 w 184513"/>
              <a:gd name="connsiteY6" fmla="*/ 184513 h 184513"/>
              <a:gd name="connsiteX7" fmla="*/ 104503 w 184513"/>
              <a:gd name="connsiteY7" fmla="*/ 184513 h 184513"/>
              <a:gd name="connsiteX8" fmla="*/ 104503 w 184513"/>
              <a:gd name="connsiteY8" fmla="*/ 104503 h 184513"/>
              <a:gd name="connsiteX9" fmla="*/ 184513 w 184513"/>
              <a:gd name="connsiteY9" fmla="*/ 104503 h 184513"/>
              <a:gd name="connsiteX10" fmla="*/ 184513 w 184513"/>
              <a:gd name="connsiteY10" fmla="*/ 80010 h 184513"/>
              <a:gd name="connsiteX11" fmla="*/ 104503 w 184513"/>
              <a:gd name="connsiteY11" fmla="*/ 80010 h 184513"/>
            </a:gdLst>
            <a:rect l="l" t="t" r="r" b="b"/>
            <a:pathLst>
              <a:path w="184513" h="184513">
                <a:moveTo>
                  <a:pt x="104503" y="0"/>
                </a:moveTo>
                <a:lnTo>
                  <a:pt x="80010" y="0"/>
                </a:lnTo>
                <a:lnTo>
                  <a:pt x="80010" y="80010"/>
                </a:lnTo>
                <a:lnTo>
                  <a:pt x="0" y="80010"/>
                </a:lnTo>
                <a:lnTo>
                  <a:pt x="0" y="104503"/>
                </a:lnTo>
                <a:lnTo>
                  <a:pt x="80010" y="104503"/>
                </a:lnTo>
                <a:lnTo>
                  <a:pt x="80010" y="184513"/>
                </a:lnTo>
                <a:lnTo>
                  <a:pt x="104503" y="184513"/>
                </a:lnTo>
                <a:lnTo>
                  <a:pt x="104503" y="104503"/>
                </a:lnTo>
                <a:lnTo>
                  <a:pt x="184513" y="104503"/>
                </a:lnTo>
                <a:lnTo>
                  <a:pt x="184513" y="80010"/>
                </a:lnTo>
                <a:lnTo>
                  <a:pt x="104503" y="80010"/>
                </a:lnTo>
                <a:close/>
              </a:path>
            </a:pathLst>
          </a:custGeom>
          <a:solidFill>
            <a:schemeClr val="accent2"/>
          </a:solidFill>
          <a:ln w="1632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rot="0" flipH="0" flipV="0">
            <a:off x="5263577" y="4503679"/>
            <a:ext cx="101867" cy="101867"/>
          </a:xfrm>
          <a:custGeom>
            <a:avLst/>
            <a:gdLst>
              <a:gd name="connsiteX0" fmla="*/ 104503 w 184513"/>
              <a:gd name="connsiteY0" fmla="*/ 0 h 184513"/>
              <a:gd name="connsiteX1" fmla="*/ 80010 w 184513"/>
              <a:gd name="connsiteY1" fmla="*/ 0 h 184513"/>
              <a:gd name="connsiteX2" fmla="*/ 80010 w 184513"/>
              <a:gd name="connsiteY2" fmla="*/ 80010 h 184513"/>
              <a:gd name="connsiteX3" fmla="*/ 0 w 184513"/>
              <a:gd name="connsiteY3" fmla="*/ 80010 h 184513"/>
              <a:gd name="connsiteX4" fmla="*/ 0 w 184513"/>
              <a:gd name="connsiteY4" fmla="*/ 104503 h 184513"/>
              <a:gd name="connsiteX5" fmla="*/ 80010 w 184513"/>
              <a:gd name="connsiteY5" fmla="*/ 104503 h 184513"/>
              <a:gd name="connsiteX6" fmla="*/ 80010 w 184513"/>
              <a:gd name="connsiteY6" fmla="*/ 184513 h 184513"/>
              <a:gd name="connsiteX7" fmla="*/ 104503 w 184513"/>
              <a:gd name="connsiteY7" fmla="*/ 184513 h 184513"/>
              <a:gd name="connsiteX8" fmla="*/ 104503 w 184513"/>
              <a:gd name="connsiteY8" fmla="*/ 104503 h 184513"/>
              <a:gd name="connsiteX9" fmla="*/ 184513 w 184513"/>
              <a:gd name="connsiteY9" fmla="*/ 104503 h 184513"/>
              <a:gd name="connsiteX10" fmla="*/ 184513 w 184513"/>
              <a:gd name="connsiteY10" fmla="*/ 80010 h 184513"/>
              <a:gd name="connsiteX11" fmla="*/ 104503 w 184513"/>
              <a:gd name="connsiteY11" fmla="*/ 80010 h 184513"/>
            </a:gdLst>
            <a:rect l="l" t="t" r="r" b="b"/>
            <a:pathLst>
              <a:path w="184513" h="184513">
                <a:moveTo>
                  <a:pt x="104503" y="0"/>
                </a:moveTo>
                <a:lnTo>
                  <a:pt x="80010" y="0"/>
                </a:lnTo>
                <a:lnTo>
                  <a:pt x="80010" y="80010"/>
                </a:lnTo>
                <a:lnTo>
                  <a:pt x="0" y="80010"/>
                </a:lnTo>
                <a:lnTo>
                  <a:pt x="0" y="104503"/>
                </a:lnTo>
                <a:lnTo>
                  <a:pt x="80010" y="104503"/>
                </a:lnTo>
                <a:lnTo>
                  <a:pt x="80010" y="184513"/>
                </a:lnTo>
                <a:lnTo>
                  <a:pt x="104503" y="184513"/>
                </a:lnTo>
                <a:lnTo>
                  <a:pt x="104503" y="104503"/>
                </a:lnTo>
                <a:lnTo>
                  <a:pt x="184513" y="104503"/>
                </a:lnTo>
                <a:lnTo>
                  <a:pt x="184513" y="80010"/>
                </a:lnTo>
                <a:lnTo>
                  <a:pt x="104503" y="80010"/>
                </a:lnTo>
                <a:close/>
              </a:path>
            </a:pathLst>
          </a:custGeom>
          <a:solidFill>
            <a:schemeClr val="accent1"/>
          </a:solidFill>
          <a:ln w="1632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 rot="21239739" flipH="0" flipV="0">
            <a:off x="340012" y="3241517"/>
            <a:ext cx="5890453" cy="381346"/>
          </a:xfrm>
          <a:prstGeom prst="ellipse">
            <a:avLst/>
          </a:prstGeom>
          <a:noFill/>
          <a:ln w="25400" cap="flat">
            <a:gradFill>
              <a:gsLst>
                <a:gs pos="20000">
                  <a:schemeClr val="accent2">
                    <a:alpha val="0"/>
                  </a:schemeClr>
                </a:gs>
                <a:gs pos="70000">
                  <a:schemeClr val="accent2">
                    <a:alpha val="80000"/>
                  </a:schemeClr>
                </a:gs>
                <a:gs pos="90000">
                  <a:schemeClr val="accent2"/>
                </a:gs>
              </a:gsLst>
              <a:lin ang="5400000" scaled="0"/>
            </a:gradFill>
            <a:miter/>
          </a:ln>
          <a:effectLst/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6543026" y="3666140"/>
            <a:ext cx="18000" cy="190800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1405405" y="3652519"/>
            <a:ext cx="18000" cy="19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1340284" y="3578399"/>
            <a:ext cx="148242" cy="148242"/>
          </a:xfrm>
          <a:prstGeom prst="ellipse">
            <a:avLst/>
          </a:prstGeom>
          <a:solidFill>
            <a:schemeClr val="bg1"/>
          </a:solidFill>
          <a:ln w="15875" cap="rnd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6" name=""/>
          <p:cNvGrpSpPr/>
          <p:nvPr/>
        </p:nvGrpSpPr>
        <p:grpSpPr>
          <a:xfrm>
            <a:off x="1686819" y="2906015"/>
            <a:ext cx="1514254" cy="1514252"/>
            <a:chOff x="1686819" y="2906015"/>
            <a:chExt cx="1514254" cy="1514252"/>
          </a:xfrm>
        </p:grpSpPr>
        <p:sp>
          <p:nvSpPr>
            <p:cNvPr id="7" name="标题 1"/>
            <p:cNvSpPr txBox="1"/>
            <p:nvPr/>
          </p:nvSpPr>
          <p:spPr>
            <a:xfrm rot="0" flipH="0" flipV="0">
              <a:off x="1852451" y="3071649"/>
              <a:ext cx="1182989" cy="118298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 cap="rnd">
              <a:noFill/>
              <a:round/>
              <a:headEnd/>
              <a:tailEnd/>
            </a:ln>
            <a:effectLst/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8" name="标题 1"/>
            <p:cNvSpPr txBox="1"/>
            <p:nvPr/>
          </p:nvSpPr>
          <p:spPr>
            <a:xfrm rot="0" flipH="0" flipV="0">
              <a:off x="1686819" y="2906015"/>
              <a:ext cx="1514254" cy="1514252"/>
            </a:xfrm>
            <a:prstGeom prst="ellipse">
              <a:avLst/>
            </a:prstGeom>
            <a:noFill/>
            <a:ln w="15875" cap="rnd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/>
            <p:cNvSpPr txBox="1"/>
            <p:nvPr/>
          </p:nvSpPr>
          <p:spPr>
            <a:xfrm rot="0" flipH="0" flipV="0">
              <a:off x="2177246" y="3411771"/>
              <a:ext cx="533400" cy="502741"/>
            </a:xfrm>
            <a:custGeom>
              <a:avLst/>
              <a:gdLst>
                <a:gd name="connsiteX0" fmla="*/ 1110072 w 1498885"/>
                <a:gd name="connsiteY0" fmla="*/ 1039039 h 1412736"/>
                <a:gd name="connsiteX1" fmla="*/ 1149511 w 1498885"/>
                <a:gd name="connsiteY1" fmla="*/ 1055363 h 1412736"/>
                <a:gd name="connsiteX2" fmla="*/ 1371451 w 1498885"/>
                <a:gd name="connsiteY2" fmla="*/ 1277303 h 1412736"/>
                <a:gd name="connsiteX3" fmla="*/ 1371451 w 1498885"/>
                <a:gd name="connsiteY3" fmla="*/ 1356182 h 1412736"/>
                <a:gd name="connsiteX4" fmla="*/ 1332012 w 1498885"/>
                <a:gd name="connsiteY4" fmla="*/ 1372553 h 1412736"/>
                <a:gd name="connsiteX5" fmla="*/ 1292572 w 1498885"/>
                <a:gd name="connsiteY5" fmla="*/ 1356182 h 1412736"/>
                <a:gd name="connsiteX6" fmla="*/ 1070632 w 1498885"/>
                <a:gd name="connsiteY6" fmla="*/ 1134242 h 1412736"/>
                <a:gd name="connsiteX7" fmla="*/ 1070632 w 1498885"/>
                <a:gd name="connsiteY7" fmla="*/ 1055363 h 1412736"/>
                <a:gd name="connsiteX8" fmla="*/ 1110072 w 1498885"/>
                <a:gd name="connsiteY8" fmla="*/ 1039039 h 1412736"/>
                <a:gd name="connsiteX9" fmla="*/ 1110072 w 1498885"/>
                <a:gd name="connsiteY9" fmla="*/ 705989 h 1412736"/>
                <a:gd name="connsiteX10" fmla="*/ 1443075 w 1498885"/>
                <a:gd name="connsiteY10" fmla="*/ 705989 h 1412736"/>
                <a:gd name="connsiteX11" fmla="*/ 1498885 w 1498885"/>
                <a:gd name="connsiteY11" fmla="*/ 761800 h 1412736"/>
                <a:gd name="connsiteX12" fmla="*/ 1443075 w 1498885"/>
                <a:gd name="connsiteY12" fmla="*/ 817611 h 1412736"/>
                <a:gd name="connsiteX13" fmla="*/ 1110072 w 1498885"/>
                <a:gd name="connsiteY13" fmla="*/ 817611 h 1412736"/>
                <a:gd name="connsiteX14" fmla="*/ 1054261 w 1498885"/>
                <a:gd name="connsiteY14" fmla="*/ 761800 h 1412736"/>
                <a:gd name="connsiteX15" fmla="*/ 1110072 w 1498885"/>
                <a:gd name="connsiteY15" fmla="*/ 705989 h 1412736"/>
                <a:gd name="connsiteX16" fmla="*/ 1332012 w 1498885"/>
                <a:gd name="connsiteY16" fmla="*/ 151093 h 1412736"/>
                <a:gd name="connsiteX17" fmla="*/ 1371451 w 1498885"/>
                <a:gd name="connsiteY17" fmla="*/ 167418 h 1412736"/>
                <a:gd name="connsiteX18" fmla="*/ 1371451 w 1498885"/>
                <a:gd name="connsiteY18" fmla="*/ 246297 h 1412736"/>
                <a:gd name="connsiteX19" fmla="*/ 1149511 w 1498885"/>
                <a:gd name="connsiteY19" fmla="*/ 468236 h 1412736"/>
                <a:gd name="connsiteX20" fmla="*/ 1110072 w 1498885"/>
                <a:gd name="connsiteY20" fmla="*/ 484608 h 1412736"/>
                <a:gd name="connsiteX21" fmla="*/ 1070632 w 1498885"/>
                <a:gd name="connsiteY21" fmla="*/ 468236 h 1412736"/>
                <a:gd name="connsiteX22" fmla="*/ 1070632 w 1498885"/>
                <a:gd name="connsiteY22" fmla="*/ 389358 h 1412736"/>
                <a:gd name="connsiteX23" fmla="*/ 1292572 w 1498885"/>
                <a:gd name="connsiteY23" fmla="*/ 167418 h 1412736"/>
                <a:gd name="connsiteX24" fmla="*/ 1332012 w 1498885"/>
                <a:gd name="connsiteY24" fmla="*/ 151093 h 1412736"/>
                <a:gd name="connsiteX25" fmla="*/ 709724 w 1498885"/>
                <a:gd name="connsiteY25" fmla="*/ 111607 h 1412736"/>
                <a:gd name="connsiteX26" fmla="*/ 649635 w 1498885"/>
                <a:gd name="connsiteY26" fmla="*/ 127420 h 1412736"/>
                <a:gd name="connsiteX27" fmla="*/ 174129 w 1498885"/>
                <a:gd name="connsiteY27" fmla="*/ 394752 h 1412736"/>
                <a:gd name="connsiteX28" fmla="*/ 111621 w 1498885"/>
                <a:gd name="connsiteY28" fmla="*/ 501536 h 1412736"/>
                <a:gd name="connsiteX29" fmla="*/ 111621 w 1498885"/>
                <a:gd name="connsiteY29" fmla="*/ 910814 h 1412736"/>
                <a:gd name="connsiteX30" fmla="*/ 174129 w 1498885"/>
                <a:gd name="connsiteY30" fmla="*/ 1017598 h 1412736"/>
                <a:gd name="connsiteX31" fmla="*/ 649821 w 1498885"/>
                <a:gd name="connsiteY31" fmla="*/ 1284930 h 1412736"/>
                <a:gd name="connsiteX32" fmla="*/ 771674 w 1498885"/>
                <a:gd name="connsiteY32" fmla="*/ 1283814 h 1412736"/>
                <a:gd name="connsiteX33" fmla="*/ 832321 w 1498885"/>
                <a:gd name="connsiteY33" fmla="*/ 1178146 h 1412736"/>
                <a:gd name="connsiteX34" fmla="*/ 832321 w 1498885"/>
                <a:gd name="connsiteY34" fmla="*/ 234204 h 1412736"/>
                <a:gd name="connsiteX35" fmla="*/ 771674 w 1498885"/>
                <a:gd name="connsiteY35" fmla="*/ 128536 h 1412736"/>
                <a:gd name="connsiteX36" fmla="*/ 709724 w 1498885"/>
                <a:gd name="connsiteY36" fmla="*/ 111607 h 1412736"/>
                <a:gd name="connsiteX37" fmla="*/ 711864 w 1498885"/>
                <a:gd name="connsiteY37" fmla="*/ 9 h 1412736"/>
                <a:gd name="connsiteX38" fmla="*/ 828043 w 1498885"/>
                <a:gd name="connsiteY38" fmla="*/ 32356 h 1412736"/>
                <a:gd name="connsiteX39" fmla="*/ 943942 w 1498885"/>
                <a:gd name="connsiteY39" fmla="*/ 234390 h 1412736"/>
                <a:gd name="connsiteX40" fmla="*/ 943942 w 1498885"/>
                <a:gd name="connsiteY40" fmla="*/ 1178518 h 1412736"/>
                <a:gd name="connsiteX41" fmla="*/ 828043 w 1498885"/>
                <a:gd name="connsiteY41" fmla="*/ 1380552 h 1412736"/>
                <a:gd name="connsiteX42" fmla="*/ 709910 w 1498885"/>
                <a:gd name="connsiteY42" fmla="*/ 1412736 h 1412736"/>
                <a:gd name="connsiteX43" fmla="*/ 595126 w 1498885"/>
                <a:gd name="connsiteY43" fmla="*/ 1382413 h 1412736"/>
                <a:gd name="connsiteX44" fmla="*/ 119435 w 1498885"/>
                <a:gd name="connsiteY44" fmla="*/ 1115080 h 1412736"/>
                <a:gd name="connsiteX45" fmla="*/ 0 w 1498885"/>
                <a:gd name="connsiteY45" fmla="*/ 911000 h 1412736"/>
                <a:gd name="connsiteX46" fmla="*/ 0 w 1498885"/>
                <a:gd name="connsiteY46" fmla="*/ 501722 h 1412736"/>
                <a:gd name="connsiteX47" fmla="*/ 119435 w 1498885"/>
                <a:gd name="connsiteY47" fmla="*/ 297642 h 1412736"/>
                <a:gd name="connsiteX48" fmla="*/ 595126 w 1498885"/>
                <a:gd name="connsiteY48" fmla="*/ 30309 h 1412736"/>
                <a:gd name="connsiteX49" fmla="*/ 711864 w 1498885"/>
                <a:gd name="connsiteY49" fmla="*/ 9 h 1412736"/>
              </a:gdLst>
              <a:rect l="l" t="t" r="r" b="b"/>
              <a:pathLst>
                <a:path w="1498885" h="1412736">
                  <a:moveTo>
                    <a:pt x="1110072" y="1039039"/>
                  </a:moveTo>
                  <a:cubicBezTo>
                    <a:pt x="1124350" y="1039039"/>
                    <a:pt x="1138628" y="1044480"/>
                    <a:pt x="1149511" y="1055363"/>
                  </a:cubicBezTo>
                  <a:lnTo>
                    <a:pt x="1371451" y="1277303"/>
                  </a:lnTo>
                  <a:cubicBezTo>
                    <a:pt x="1393217" y="1299070"/>
                    <a:pt x="1393217" y="1334416"/>
                    <a:pt x="1371451" y="1356182"/>
                  </a:cubicBezTo>
                  <a:cubicBezTo>
                    <a:pt x="1360661" y="1366972"/>
                    <a:pt x="1346336" y="1372553"/>
                    <a:pt x="1332012" y="1372553"/>
                  </a:cubicBezTo>
                  <a:cubicBezTo>
                    <a:pt x="1317687" y="1372553"/>
                    <a:pt x="1303362" y="1367158"/>
                    <a:pt x="1292572" y="1356182"/>
                  </a:cubicBezTo>
                  <a:lnTo>
                    <a:pt x="1070632" y="1134242"/>
                  </a:lnTo>
                  <a:cubicBezTo>
                    <a:pt x="1048866" y="1112476"/>
                    <a:pt x="1048866" y="1077130"/>
                    <a:pt x="1070632" y="1055363"/>
                  </a:cubicBezTo>
                  <a:cubicBezTo>
                    <a:pt x="1081515" y="1044480"/>
                    <a:pt x="1095793" y="1039039"/>
                    <a:pt x="1110072" y="1039039"/>
                  </a:cubicBezTo>
                  <a:close/>
                  <a:moveTo>
                    <a:pt x="1110072" y="705989"/>
                  </a:moveTo>
                  <a:lnTo>
                    <a:pt x="1443075" y="705989"/>
                  </a:lnTo>
                  <a:cubicBezTo>
                    <a:pt x="1473956" y="705989"/>
                    <a:pt x="1498885" y="730918"/>
                    <a:pt x="1498885" y="761800"/>
                  </a:cubicBezTo>
                  <a:cubicBezTo>
                    <a:pt x="1498885" y="792682"/>
                    <a:pt x="1473770" y="817611"/>
                    <a:pt x="1443075" y="817611"/>
                  </a:cubicBezTo>
                  <a:lnTo>
                    <a:pt x="1110072" y="817611"/>
                  </a:lnTo>
                  <a:cubicBezTo>
                    <a:pt x="1079190" y="817611"/>
                    <a:pt x="1054261" y="792682"/>
                    <a:pt x="1054261" y="761800"/>
                  </a:cubicBezTo>
                  <a:cubicBezTo>
                    <a:pt x="1054261" y="730918"/>
                    <a:pt x="1079190" y="705989"/>
                    <a:pt x="1110072" y="705989"/>
                  </a:cubicBezTo>
                  <a:close/>
                  <a:moveTo>
                    <a:pt x="1332012" y="151093"/>
                  </a:moveTo>
                  <a:cubicBezTo>
                    <a:pt x="1346290" y="151093"/>
                    <a:pt x="1360568" y="156535"/>
                    <a:pt x="1371451" y="167418"/>
                  </a:cubicBezTo>
                  <a:cubicBezTo>
                    <a:pt x="1393217" y="189184"/>
                    <a:pt x="1393217" y="224530"/>
                    <a:pt x="1371451" y="246297"/>
                  </a:cubicBezTo>
                  <a:lnTo>
                    <a:pt x="1149511" y="468236"/>
                  </a:lnTo>
                  <a:cubicBezTo>
                    <a:pt x="1138721" y="479213"/>
                    <a:pt x="1124396" y="484608"/>
                    <a:pt x="1110072" y="484608"/>
                  </a:cubicBezTo>
                  <a:cubicBezTo>
                    <a:pt x="1095747" y="484608"/>
                    <a:pt x="1081422" y="479213"/>
                    <a:pt x="1070632" y="468236"/>
                  </a:cubicBezTo>
                  <a:cubicBezTo>
                    <a:pt x="1048866" y="446470"/>
                    <a:pt x="1048866" y="411124"/>
                    <a:pt x="1070632" y="389358"/>
                  </a:cubicBezTo>
                  <a:lnTo>
                    <a:pt x="1292572" y="167418"/>
                  </a:lnTo>
                  <a:cubicBezTo>
                    <a:pt x="1303455" y="156535"/>
                    <a:pt x="1317733" y="151093"/>
                    <a:pt x="1332012" y="151093"/>
                  </a:cubicBezTo>
                  <a:close/>
                  <a:moveTo>
                    <a:pt x="709724" y="111607"/>
                  </a:moveTo>
                  <a:cubicBezTo>
                    <a:pt x="689074" y="111607"/>
                    <a:pt x="668610" y="116816"/>
                    <a:pt x="649635" y="127420"/>
                  </a:cubicBezTo>
                  <a:lnTo>
                    <a:pt x="174129" y="394752"/>
                  </a:lnTo>
                  <a:cubicBezTo>
                    <a:pt x="135620" y="416332"/>
                    <a:pt x="111621" y="457260"/>
                    <a:pt x="111621" y="501536"/>
                  </a:cubicBezTo>
                  <a:lnTo>
                    <a:pt x="111621" y="910814"/>
                  </a:lnTo>
                  <a:cubicBezTo>
                    <a:pt x="111621" y="955090"/>
                    <a:pt x="135620" y="996018"/>
                    <a:pt x="174129" y="1017598"/>
                  </a:cubicBezTo>
                  <a:lnTo>
                    <a:pt x="649821" y="1284930"/>
                  </a:lnTo>
                  <a:cubicBezTo>
                    <a:pt x="688144" y="1306510"/>
                    <a:pt x="733723" y="1306138"/>
                    <a:pt x="771674" y="1283814"/>
                  </a:cubicBezTo>
                  <a:cubicBezTo>
                    <a:pt x="809625" y="1261676"/>
                    <a:pt x="832321" y="1222050"/>
                    <a:pt x="832321" y="1178146"/>
                  </a:cubicBezTo>
                  <a:lnTo>
                    <a:pt x="832321" y="234204"/>
                  </a:lnTo>
                  <a:cubicBezTo>
                    <a:pt x="832321" y="190113"/>
                    <a:pt x="809625" y="150674"/>
                    <a:pt x="771674" y="128536"/>
                  </a:cubicBezTo>
                  <a:cubicBezTo>
                    <a:pt x="752326" y="117188"/>
                    <a:pt x="731118" y="111607"/>
                    <a:pt x="709724" y="111607"/>
                  </a:cubicBezTo>
                  <a:close/>
                  <a:moveTo>
                    <a:pt x="711864" y="9"/>
                  </a:moveTo>
                  <a:cubicBezTo>
                    <a:pt x="751861" y="358"/>
                    <a:pt x="791766" y="11148"/>
                    <a:pt x="828043" y="32356"/>
                  </a:cubicBezTo>
                  <a:cubicBezTo>
                    <a:pt x="900596" y="74772"/>
                    <a:pt x="943942" y="150302"/>
                    <a:pt x="943942" y="234390"/>
                  </a:cubicBezTo>
                  <a:lnTo>
                    <a:pt x="943942" y="1178518"/>
                  </a:lnTo>
                  <a:cubicBezTo>
                    <a:pt x="943942" y="1262606"/>
                    <a:pt x="900596" y="1338136"/>
                    <a:pt x="828043" y="1380552"/>
                  </a:cubicBezTo>
                  <a:cubicBezTo>
                    <a:pt x="791208" y="1401946"/>
                    <a:pt x="750466" y="1412736"/>
                    <a:pt x="709910" y="1412736"/>
                  </a:cubicBezTo>
                  <a:cubicBezTo>
                    <a:pt x="670471" y="1412736"/>
                    <a:pt x="631217" y="1402691"/>
                    <a:pt x="595126" y="1382413"/>
                  </a:cubicBezTo>
                  <a:lnTo>
                    <a:pt x="119435" y="1115080"/>
                  </a:lnTo>
                  <a:cubicBezTo>
                    <a:pt x="45765" y="1073594"/>
                    <a:pt x="0" y="995460"/>
                    <a:pt x="0" y="911000"/>
                  </a:cubicBezTo>
                  <a:lnTo>
                    <a:pt x="0" y="501722"/>
                  </a:lnTo>
                  <a:cubicBezTo>
                    <a:pt x="0" y="417262"/>
                    <a:pt x="45765" y="338942"/>
                    <a:pt x="119435" y="297642"/>
                  </a:cubicBezTo>
                  <a:lnTo>
                    <a:pt x="595126" y="30309"/>
                  </a:lnTo>
                  <a:cubicBezTo>
                    <a:pt x="631775" y="9752"/>
                    <a:pt x="671866" y="-340"/>
                    <a:pt x="711864" y="9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9525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10" name="标题 1"/>
          <p:cNvSpPr txBox="1"/>
          <p:nvPr/>
        </p:nvSpPr>
        <p:spPr>
          <a:xfrm rot="0" flipH="0" flipV="0">
            <a:off x="6477904" y="3591099"/>
            <a:ext cx="148242" cy="148242"/>
          </a:xfrm>
          <a:prstGeom prst="ellipse">
            <a:avLst/>
          </a:prstGeom>
          <a:solidFill>
            <a:schemeClr val="bg1"/>
          </a:solidFill>
          <a:ln w="15875" cap="rnd">
            <a:solidFill>
              <a:schemeClr val="accent1"/>
            </a:solidFill>
            <a:round/>
            <a:headEnd/>
            <a:tailEnd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1" name=""/>
          <p:cNvGrpSpPr/>
          <p:nvPr/>
        </p:nvGrpSpPr>
        <p:grpSpPr>
          <a:xfrm>
            <a:off x="6824438" y="2918715"/>
            <a:ext cx="1514254" cy="1514252"/>
            <a:chOff x="6824438" y="2918715"/>
            <a:chExt cx="1514254" cy="1514252"/>
          </a:xfrm>
        </p:grpSpPr>
        <p:sp>
          <p:nvSpPr>
            <p:cNvPr id="12" name="标题 1"/>
            <p:cNvSpPr txBox="1"/>
            <p:nvPr/>
          </p:nvSpPr>
          <p:spPr>
            <a:xfrm rot="0" flipH="0" flipV="0">
              <a:off x="6990071" y="3084349"/>
              <a:ext cx="1182989" cy="118298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rnd">
              <a:noFill/>
              <a:round/>
              <a:headEnd/>
              <a:tailEnd/>
            </a:ln>
            <a:effectLst/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3" name="标题 1"/>
            <p:cNvSpPr txBox="1"/>
            <p:nvPr/>
          </p:nvSpPr>
          <p:spPr>
            <a:xfrm rot="0" flipH="0" flipV="0">
              <a:off x="6824438" y="2918715"/>
              <a:ext cx="1514254" cy="1514252"/>
            </a:xfrm>
            <a:prstGeom prst="ellipse">
              <a:avLst/>
            </a:prstGeom>
            <a:noFill/>
            <a:ln w="15875" cap="rnd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4" name="标题 1"/>
            <p:cNvSpPr txBox="1"/>
            <p:nvPr/>
          </p:nvSpPr>
          <p:spPr>
            <a:xfrm rot="0" flipH="0" flipV="0">
              <a:off x="7344128" y="3398520"/>
              <a:ext cx="492411" cy="533400"/>
            </a:xfrm>
            <a:custGeom>
              <a:avLst/>
              <a:gdLst>
                <a:gd name="connsiteX0" fmla="*/ 712625 w 1425436"/>
                <a:gd name="connsiteY0" fmla="*/ 111621 h 1544091"/>
                <a:gd name="connsiteX1" fmla="*/ 902567 w 1425436"/>
                <a:gd name="connsiteY1" fmla="*/ 190314 h 1544091"/>
                <a:gd name="connsiteX2" fmla="*/ 981260 w 1425436"/>
                <a:gd name="connsiteY2" fmla="*/ 380256 h 1544091"/>
                <a:gd name="connsiteX3" fmla="*/ 902567 w 1425436"/>
                <a:gd name="connsiteY3" fmla="*/ 570198 h 1544091"/>
                <a:gd name="connsiteX4" fmla="*/ 712625 w 1425436"/>
                <a:gd name="connsiteY4" fmla="*/ 648891 h 1544091"/>
                <a:gd name="connsiteX5" fmla="*/ 522684 w 1425436"/>
                <a:gd name="connsiteY5" fmla="*/ 570198 h 1544091"/>
                <a:gd name="connsiteX6" fmla="*/ 444177 w 1425436"/>
                <a:gd name="connsiteY6" fmla="*/ 380070 h 1544091"/>
                <a:gd name="connsiteX7" fmla="*/ 522870 w 1425436"/>
                <a:gd name="connsiteY7" fmla="*/ 190128 h 1544091"/>
                <a:gd name="connsiteX8" fmla="*/ 712625 w 1425436"/>
                <a:gd name="connsiteY8" fmla="*/ 111621 h 1544091"/>
                <a:gd name="connsiteX9" fmla="*/ 712625 w 1425436"/>
                <a:gd name="connsiteY9" fmla="*/ 0 h 1544091"/>
                <a:gd name="connsiteX10" fmla="*/ 332556 w 1425436"/>
                <a:gd name="connsiteY10" fmla="*/ 380070 h 1544091"/>
                <a:gd name="connsiteX11" fmla="*/ 712625 w 1425436"/>
                <a:gd name="connsiteY11" fmla="*/ 760140 h 1544091"/>
                <a:gd name="connsiteX12" fmla="*/ 1092695 w 1425436"/>
                <a:gd name="connsiteY12" fmla="*/ 380070 h 1544091"/>
                <a:gd name="connsiteX13" fmla="*/ 712625 w 1425436"/>
                <a:gd name="connsiteY13" fmla="*/ 0 h 1544091"/>
                <a:gd name="connsiteX14" fmla="*/ 712625 w 1425436"/>
                <a:gd name="connsiteY14" fmla="*/ 943012 h 1544091"/>
                <a:gd name="connsiteX15" fmla="*/ 978842 w 1425436"/>
                <a:gd name="connsiteY15" fmla="*/ 976685 h 1544091"/>
                <a:gd name="connsiteX16" fmla="*/ 1146087 w 1425436"/>
                <a:gd name="connsiteY16" fmla="*/ 1059470 h 1544091"/>
                <a:gd name="connsiteX17" fmla="*/ 1248593 w 1425436"/>
                <a:gd name="connsiteY17" fmla="*/ 1174440 h 1544091"/>
                <a:gd name="connsiteX18" fmla="*/ 1310356 w 1425436"/>
                <a:gd name="connsiteY18" fmla="*/ 1316385 h 1544091"/>
                <a:gd name="connsiteX19" fmla="*/ 1296590 w 1425436"/>
                <a:gd name="connsiteY19" fmla="*/ 1390241 h 1544091"/>
                <a:gd name="connsiteX20" fmla="*/ 1208595 w 1425436"/>
                <a:gd name="connsiteY20" fmla="*/ 1432285 h 1544091"/>
                <a:gd name="connsiteX21" fmla="*/ 216842 w 1425436"/>
                <a:gd name="connsiteY21" fmla="*/ 1432285 h 1544091"/>
                <a:gd name="connsiteX22" fmla="*/ 128847 w 1425436"/>
                <a:gd name="connsiteY22" fmla="*/ 1390241 h 1544091"/>
                <a:gd name="connsiteX23" fmla="*/ 115081 w 1425436"/>
                <a:gd name="connsiteY23" fmla="*/ 1316385 h 1544091"/>
                <a:gd name="connsiteX24" fmla="*/ 176844 w 1425436"/>
                <a:gd name="connsiteY24" fmla="*/ 1174440 h 1544091"/>
                <a:gd name="connsiteX25" fmla="*/ 279350 w 1425436"/>
                <a:gd name="connsiteY25" fmla="*/ 1059470 h 1544091"/>
                <a:gd name="connsiteX26" fmla="*/ 446595 w 1425436"/>
                <a:gd name="connsiteY26" fmla="*/ 976685 h 1544091"/>
                <a:gd name="connsiteX27" fmla="*/ 712625 w 1425436"/>
                <a:gd name="connsiteY27" fmla="*/ 943012 h 1544091"/>
                <a:gd name="connsiteX28" fmla="*/ 712625 w 1425436"/>
                <a:gd name="connsiteY28" fmla="*/ 831391 h 1544091"/>
                <a:gd name="connsiteX29" fmla="*/ 8296 w 1425436"/>
                <a:gd name="connsiteY29" fmla="*/ 1284387 h 1544091"/>
                <a:gd name="connsiteX30" fmla="*/ 216842 w 1425436"/>
                <a:gd name="connsiteY30" fmla="*/ 1544092 h 1544091"/>
                <a:gd name="connsiteX31" fmla="*/ 1208595 w 1425436"/>
                <a:gd name="connsiteY31" fmla="*/ 1544092 h 1544091"/>
                <a:gd name="connsiteX32" fmla="*/ 1417141 w 1425436"/>
                <a:gd name="connsiteY32" fmla="*/ 1284387 h 1544091"/>
                <a:gd name="connsiteX33" fmla="*/ 712625 w 1425436"/>
                <a:gd name="connsiteY33" fmla="*/ 831391 h 1544091"/>
              </a:gdLst>
              <a:rect l="l" t="t" r="r" b="b"/>
              <a:pathLst>
                <a:path w="1425436" h="1544091">
                  <a:moveTo>
                    <a:pt x="712625" y="111621"/>
                  </a:moveTo>
                  <a:cubicBezTo>
                    <a:pt x="784435" y="111621"/>
                    <a:pt x="851780" y="139526"/>
                    <a:pt x="902567" y="190314"/>
                  </a:cubicBezTo>
                  <a:cubicBezTo>
                    <a:pt x="953355" y="241102"/>
                    <a:pt x="981260" y="308446"/>
                    <a:pt x="981260" y="380256"/>
                  </a:cubicBezTo>
                  <a:cubicBezTo>
                    <a:pt x="981260" y="452065"/>
                    <a:pt x="953355" y="519410"/>
                    <a:pt x="902567" y="570198"/>
                  </a:cubicBezTo>
                  <a:cubicBezTo>
                    <a:pt x="851780" y="620985"/>
                    <a:pt x="784435" y="648891"/>
                    <a:pt x="712625" y="648891"/>
                  </a:cubicBezTo>
                  <a:cubicBezTo>
                    <a:pt x="640816" y="648891"/>
                    <a:pt x="573471" y="620985"/>
                    <a:pt x="522684" y="570198"/>
                  </a:cubicBezTo>
                  <a:cubicBezTo>
                    <a:pt x="472082" y="519224"/>
                    <a:pt x="444177" y="451693"/>
                    <a:pt x="444177" y="380070"/>
                  </a:cubicBezTo>
                  <a:cubicBezTo>
                    <a:pt x="444177" y="308446"/>
                    <a:pt x="472082" y="240916"/>
                    <a:pt x="522870" y="190128"/>
                  </a:cubicBezTo>
                  <a:cubicBezTo>
                    <a:pt x="573471" y="139526"/>
                    <a:pt x="641002" y="111621"/>
                    <a:pt x="712625" y="111621"/>
                  </a:cubicBezTo>
                  <a:moveTo>
                    <a:pt x="712625" y="0"/>
                  </a:moveTo>
                  <a:cubicBezTo>
                    <a:pt x="502778" y="0"/>
                    <a:pt x="332556" y="170036"/>
                    <a:pt x="332556" y="380070"/>
                  </a:cubicBezTo>
                  <a:cubicBezTo>
                    <a:pt x="332556" y="589917"/>
                    <a:pt x="502778" y="760140"/>
                    <a:pt x="712625" y="760140"/>
                  </a:cubicBezTo>
                  <a:cubicBezTo>
                    <a:pt x="922473" y="760140"/>
                    <a:pt x="1092695" y="589917"/>
                    <a:pt x="1092695" y="380070"/>
                  </a:cubicBezTo>
                  <a:cubicBezTo>
                    <a:pt x="1092881" y="170036"/>
                    <a:pt x="922659" y="0"/>
                    <a:pt x="712625" y="0"/>
                  </a:cubicBezTo>
                  <a:close/>
                  <a:moveTo>
                    <a:pt x="712625" y="943012"/>
                  </a:moveTo>
                  <a:cubicBezTo>
                    <a:pt x="813643" y="943012"/>
                    <a:pt x="903126" y="954360"/>
                    <a:pt x="978842" y="976685"/>
                  </a:cubicBezTo>
                  <a:cubicBezTo>
                    <a:pt x="1043582" y="995846"/>
                    <a:pt x="1099951" y="1023752"/>
                    <a:pt x="1146087" y="1059470"/>
                  </a:cubicBezTo>
                  <a:cubicBezTo>
                    <a:pt x="1186829" y="1091096"/>
                    <a:pt x="1220315" y="1128675"/>
                    <a:pt x="1248593" y="1174440"/>
                  </a:cubicBezTo>
                  <a:cubicBezTo>
                    <a:pt x="1273708" y="1215368"/>
                    <a:pt x="1293985" y="1261877"/>
                    <a:pt x="1310356" y="1316385"/>
                  </a:cubicBezTo>
                  <a:cubicBezTo>
                    <a:pt x="1320774" y="1350801"/>
                    <a:pt x="1306264" y="1377404"/>
                    <a:pt x="1296590" y="1390241"/>
                  </a:cubicBezTo>
                  <a:cubicBezTo>
                    <a:pt x="1276684" y="1417030"/>
                    <a:pt x="1244686" y="1432285"/>
                    <a:pt x="1208595" y="1432285"/>
                  </a:cubicBezTo>
                  <a:lnTo>
                    <a:pt x="216842" y="1432285"/>
                  </a:lnTo>
                  <a:cubicBezTo>
                    <a:pt x="180937" y="1432285"/>
                    <a:pt x="148753" y="1417030"/>
                    <a:pt x="128847" y="1390241"/>
                  </a:cubicBezTo>
                  <a:cubicBezTo>
                    <a:pt x="119359" y="1377404"/>
                    <a:pt x="104849" y="1350801"/>
                    <a:pt x="115081" y="1316385"/>
                  </a:cubicBezTo>
                  <a:cubicBezTo>
                    <a:pt x="131452" y="1261877"/>
                    <a:pt x="151543" y="1215368"/>
                    <a:pt x="176844" y="1174440"/>
                  </a:cubicBezTo>
                  <a:cubicBezTo>
                    <a:pt x="204936" y="1128675"/>
                    <a:pt x="238422" y="1090910"/>
                    <a:pt x="279350" y="1059470"/>
                  </a:cubicBezTo>
                  <a:cubicBezTo>
                    <a:pt x="325486" y="1023752"/>
                    <a:pt x="381855" y="995846"/>
                    <a:pt x="446595" y="976685"/>
                  </a:cubicBezTo>
                  <a:cubicBezTo>
                    <a:pt x="522125" y="954360"/>
                    <a:pt x="611794" y="943012"/>
                    <a:pt x="712625" y="943012"/>
                  </a:cubicBezTo>
                  <a:moveTo>
                    <a:pt x="712625" y="831391"/>
                  </a:moveTo>
                  <a:cubicBezTo>
                    <a:pt x="244561" y="831391"/>
                    <a:pt x="77501" y="1053331"/>
                    <a:pt x="8296" y="1284387"/>
                  </a:cubicBezTo>
                  <a:cubicBezTo>
                    <a:pt x="-30771" y="1414611"/>
                    <a:pt x="73037" y="1544092"/>
                    <a:pt x="216842" y="1544092"/>
                  </a:cubicBezTo>
                  <a:lnTo>
                    <a:pt x="1208595" y="1544092"/>
                  </a:lnTo>
                  <a:cubicBezTo>
                    <a:pt x="1352400" y="1544092"/>
                    <a:pt x="1456208" y="1414611"/>
                    <a:pt x="1417141" y="1284387"/>
                  </a:cubicBezTo>
                  <a:cubicBezTo>
                    <a:pt x="1347750" y="1053331"/>
                    <a:pt x="1180690" y="831391"/>
                    <a:pt x="712625" y="83139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15" name="标题 1"/>
          <p:cNvSpPr txBox="1"/>
          <p:nvPr/>
        </p:nvSpPr>
        <p:spPr>
          <a:xfrm rot="0" flipH="0" flipV="0">
            <a:off x="1602078" y="4607438"/>
            <a:ext cx="4226868" cy="104965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以组织架构图展示，包括院长、副院长、护理部、医疗部、后勤部、市场部、财务部等部门负责人及各岗位人员。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0" flipV="0">
            <a:off x="6739699" y="4607438"/>
            <a:ext cx="4214168" cy="95516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各部门职责明确，相互协作，确保养老院运营顺畅高效。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0" flipH="0" flipV="0">
            <a:off x="1351099" y="1307442"/>
            <a:ext cx="9609001" cy="127843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5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组织架构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0" flipH="0" flipV="0">
            <a:off x="316690" y="373380"/>
            <a:ext cx="8171180" cy="65532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0" flipV="0">
            <a:off x="783520" y="484345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团队结构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0" flipH="0" flipV="0">
            <a:off x="324256" y="626624"/>
            <a:ext cx="402076" cy="402076"/>
          </a:xfrm>
          <a:prstGeom prst="rtTriangl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1377553" y="2071930"/>
            <a:ext cx="9781782" cy="1718558"/>
          </a:xfrm>
          <a:prstGeom prst="roundRect">
            <a:avLst>
              <a:gd name="adj" fmla="val 3785"/>
            </a:avLst>
          </a:prstGeom>
          <a:solidFill>
            <a:schemeClr val="bg1">
              <a:lumMod val="95000"/>
            </a:schemeClr>
          </a:solidFill>
          <a:ln cap="sq">
            <a:noFill/>
            <a:prstDash val="solid"/>
            <a:miter/>
          </a:ln>
          <a:effectLst/>
        </p:spPr>
        <p:txBody>
          <a:bodyPr vert="horz" wrap="square" lIns="45720" tIns="22860" rIns="45720" bIns="2286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1377553" y="2037827"/>
            <a:ext cx="1933378" cy="1718558"/>
          </a:xfrm>
          <a:prstGeom prst="roundRect">
            <a:avLst>
              <a:gd name="adj" fmla="val 3785"/>
            </a:avLst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lumMod val="60000"/>
                  <a:lumOff val="40000"/>
                  <a:alpha val="100000"/>
                </a:schemeClr>
              </a:gs>
            </a:gsLst>
            <a:lin ang="16200000" scaled="0"/>
          </a:gradFill>
          <a:ln cap="sq">
            <a:noFill/>
            <a:prstDash val="solid"/>
            <a:miter/>
          </a:ln>
          <a:effectLst>
            <a:outerShdw dist="76200" blurRad="88900" dir="0" sx="100000" sy="100000" kx="0" ky="0" algn="l" rotWithShape="0">
              <a:schemeClr val="accent3">
                <a:lumMod val="50000"/>
                <a:alpha val="14000"/>
              </a:schemeClr>
            </a:outerShdw>
          </a:effectLst>
        </p:spPr>
        <p:txBody>
          <a:bodyPr vert="horz" wrap="square" lIns="45720" tIns="22860" rIns="45720" bIns="2286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2000530" y="2191757"/>
            <a:ext cx="687423" cy="687423"/>
          </a:xfrm>
          <a:custGeom>
            <a:avLst/>
            <a:gdLst>
              <a:gd name="connsiteX0" fmla="*/ 438553 w 720000"/>
              <a:gd name="connsiteY0" fmla="*/ 189601 h 720000"/>
              <a:gd name="connsiteX1" fmla="*/ 503636 w 720000"/>
              <a:gd name="connsiteY1" fmla="*/ 216365 h 720000"/>
              <a:gd name="connsiteX2" fmla="*/ 503636 w 720000"/>
              <a:gd name="connsiteY2" fmla="*/ 346445 h 720000"/>
              <a:gd name="connsiteX3" fmla="*/ 362260 w 720000"/>
              <a:gd name="connsiteY3" fmla="*/ 487907 h 720000"/>
              <a:gd name="connsiteX4" fmla="*/ 191861 w 720000"/>
              <a:gd name="connsiteY4" fmla="*/ 528226 h 720000"/>
              <a:gd name="connsiteX5" fmla="*/ 232180 w 720000"/>
              <a:gd name="connsiteY5" fmla="*/ 357827 h 720000"/>
              <a:gd name="connsiteX6" fmla="*/ 373556 w 720000"/>
              <a:gd name="connsiteY6" fmla="*/ 216452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339581 w 720000"/>
              <a:gd name="connsiteY9" fmla="*/ 182476 h 720000"/>
              <a:gd name="connsiteX10" fmla="*/ 198205 w 720000"/>
              <a:gd name="connsiteY10" fmla="*/ 323852 h 720000"/>
              <a:gd name="connsiteX11" fmla="*/ 141637 w 720000"/>
              <a:gd name="connsiteY11" fmla="*/ 578364 h 720000"/>
              <a:gd name="connsiteX12" fmla="*/ 396149 w 720000"/>
              <a:gd name="connsiteY12" fmla="*/ 521796 h 720000"/>
              <a:gd name="connsiteX13" fmla="*/ 537524 w 720000"/>
              <a:gd name="connsiteY13" fmla="*/ 380420 h 720000"/>
              <a:gd name="connsiteX14" fmla="*/ 537524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0 h 720000"/>
              <a:gd name="connsiteX17" fmla="*/ 600000 w 720000"/>
              <a:gd name="connsiteY17" fmla="*/ 0 h 720000"/>
              <a:gd name="connsiteX18" fmla="*/ 720000 w 720000"/>
              <a:gd name="connsiteY18" fmla="*/ 120000 h 720000"/>
              <a:gd name="connsiteX19" fmla="*/ 720000 w 720000"/>
              <a:gd name="connsiteY19" fmla="*/ 600000 h 720000"/>
              <a:gd name="connsiteX20" fmla="*/ 600000 w 720000"/>
              <a:gd name="connsiteY20" fmla="*/ 720000 h 720000"/>
              <a:gd name="connsiteX21" fmla="*/ 120000 w 720000"/>
              <a:gd name="connsiteY21" fmla="*/ 720000 h 720000"/>
              <a:gd name="connsiteX22" fmla="*/ 0 w 720000"/>
              <a:gd name="connsiteY22" fmla="*/ 600000 h 720000"/>
              <a:gd name="connsiteX23" fmla="*/ 0 w 720000"/>
              <a:gd name="connsiteY23" fmla="*/ 120000 h 720000"/>
              <a:gd name="connsiteX24" fmla="*/ 120000 w 720000"/>
              <a:gd name="connsiteY24" fmla="*/ 0 h 720000"/>
            </a:gdLst>
            <a:rect l="l" t="t" r="r" b="b"/>
            <a:pathLst>
              <a:path w="720000" h="720000">
                <a:moveTo>
                  <a:pt x="438553" y="189601"/>
                </a:moveTo>
                <a:cubicBezTo>
                  <a:pt x="463230" y="189601"/>
                  <a:pt x="486344" y="199073"/>
                  <a:pt x="503636" y="216365"/>
                </a:cubicBezTo>
                <a:cubicBezTo>
                  <a:pt x="539523" y="252252"/>
                  <a:pt x="539523" y="310557"/>
                  <a:pt x="503636" y="346445"/>
                </a:cubicBezTo>
                <a:lnTo>
                  <a:pt x="362260" y="487907"/>
                </a:lnTo>
                <a:cubicBezTo>
                  <a:pt x="342622" y="507545"/>
                  <a:pt x="266503" y="522665"/>
                  <a:pt x="191861" y="528226"/>
                </a:cubicBezTo>
                <a:cubicBezTo>
                  <a:pt x="197336" y="453584"/>
                  <a:pt x="212456" y="377465"/>
                  <a:pt x="232180" y="357827"/>
                </a:cubicBezTo>
                <a:lnTo>
                  <a:pt x="373556" y="216452"/>
                </a:lnTo>
                <a:cubicBezTo>
                  <a:pt x="390761" y="199073"/>
                  <a:pt x="413875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02666" y="141636"/>
                  <a:pt x="366778" y="155278"/>
                  <a:pt x="339581" y="182476"/>
                </a:cubicBezTo>
                <a:lnTo>
                  <a:pt x="198205" y="323852"/>
                </a:lnTo>
                <a:cubicBezTo>
                  <a:pt x="143723" y="378335"/>
                  <a:pt x="141637" y="578364"/>
                  <a:pt x="141637" y="578364"/>
                </a:cubicBezTo>
                <a:cubicBezTo>
                  <a:pt x="141637" y="578364"/>
                  <a:pt x="341753" y="576278"/>
                  <a:pt x="396149" y="521796"/>
                </a:cubicBezTo>
                <a:lnTo>
                  <a:pt x="537524" y="380420"/>
                </a:lnTo>
                <a:cubicBezTo>
                  <a:pt x="592007" y="325938"/>
                  <a:pt x="592007" y="236872"/>
                  <a:pt x="537524" y="182476"/>
                </a:cubicBezTo>
                <a:cubicBezTo>
                  <a:pt x="510327" y="155191"/>
                  <a:pt x="474440" y="141636"/>
                  <a:pt x="438553" y="141636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6200000" scaled="0"/>
          </a:gradFill>
          <a:ln cap="flat">
            <a:noFill/>
            <a:prstDash val="solid"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1484963" y="2987382"/>
            <a:ext cx="1718558" cy="77335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院长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3740570" y="2066590"/>
            <a:ext cx="6989310" cy="17120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院长具有 20 年以上养老行业管理经验，曾任职于多家知名养老机构，熟悉养老服务运营管理流程和行业规范，具备丰富的团队管理经验和战略规划能力。
在团队建设、服务质量提升、市场营销等方面有独到见解和成功实践经验，能带领团队实现养老院发展目标。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1377553" y="4170772"/>
            <a:ext cx="9781782" cy="1718558"/>
          </a:xfrm>
          <a:prstGeom prst="roundRect">
            <a:avLst>
              <a:gd name="adj" fmla="val 3785"/>
            </a:avLst>
          </a:prstGeom>
          <a:solidFill>
            <a:schemeClr val="bg1">
              <a:lumMod val="95000"/>
            </a:schemeClr>
          </a:solidFill>
          <a:ln cap="sq">
            <a:noFill/>
            <a:prstDash val="solid"/>
            <a:miter/>
          </a:ln>
          <a:effectLst/>
        </p:spPr>
        <p:txBody>
          <a:bodyPr vert="horz" wrap="square" lIns="45720" tIns="22860" rIns="45720" bIns="2286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1377553" y="4139239"/>
            <a:ext cx="1933378" cy="1718558"/>
          </a:xfrm>
          <a:prstGeom prst="roundRect">
            <a:avLst>
              <a:gd name="adj" fmla="val 3785"/>
            </a:avLst>
          </a:prstGeom>
          <a:gradFill>
            <a:gsLst>
              <a:gs pos="0">
                <a:schemeClr val="accent2">
                  <a:alpha val="100000"/>
                </a:schemeClr>
              </a:gs>
              <a:gs pos="100000">
                <a:schemeClr val="accent2">
                  <a:lumMod val="60000"/>
                  <a:lumOff val="40000"/>
                  <a:alpha val="100000"/>
                </a:schemeClr>
              </a:gs>
            </a:gsLst>
            <a:lin ang="16200000" scaled="0"/>
          </a:gradFill>
          <a:ln cap="sq">
            <a:noFill/>
            <a:prstDash val="solid"/>
            <a:miter/>
          </a:ln>
          <a:effectLst>
            <a:outerShdw dist="76200" blurRad="88900" dir="0" sx="100000" sy="100000" kx="0" ky="0" algn="l" rotWithShape="0">
              <a:schemeClr val="accent2">
                <a:lumMod val="50000"/>
                <a:alpha val="14000"/>
              </a:schemeClr>
            </a:outerShdw>
          </a:effectLst>
        </p:spPr>
        <p:txBody>
          <a:bodyPr vert="horz" wrap="square" lIns="45720" tIns="22860" rIns="45720" bIns="2286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1484963" y="5096546"/>
            <a:ext cx="1718558" cy="77335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各部门负责人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3740570" y="4179244"/>
            <a:ext cx="6989310" cy="17120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945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护理部负责人拥有 15 年以上护理工作经验，精通老年护理知识和技能，具备护理团队管理和质量控制能力，能制定科学合理的护理计划，确保老人得到专业护理服务。
医疗部负责人是资深医生，具有丰富的临床经验和老年病诊疗专长，能为老人提供及时准确的医疗服务，保障老人身体健康。
后勤部负责人擅长设施设备管理、物资采购和成本控制，确保养老院后勤保障工作高效有序，为养老服务提供有力支持。
市场部负责人熟悉养老市场特点和营销策略，具备较强的市场拓展能力和品牌推广经验，能有效提升养老院市场知名度和客户入住率。
财务部负责人具备扎实财务专业知识和丰富财务管理经验，能为养老院提供精准财务预算、成本核算和资金管理服务，保障养老院财务健康稳定。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2000530" y="4295549"/>
            <a:ext cx="687423" cy="687423"/>
          </a:xfrm>
          <a:custGeom>
            <a:avLst/>
            <a:gdLst>
              <a:gd name="connsiteX0" fmla="*/ 579031 w 719895"/>
              <a:gd name="connsiteY0" fmla="*/ 554022 h 720000"/>
              <a:gd name="connsiteX1" fmla="*/ 596778 w 719895"/>
              <a:gd name="connsiteY1" fmla="*/ 561368 h 720000"/>
              <a:gd name="connsiteX2" fmla="*/ 712550 w 719895"/>
              <a:gd name="connsiteY2" fmla="*/ 677140 h 720000"/>
              <a:gd name="connsiteX3" fmla="*/ 712550 w 719895"/>
              <a:gd name="connsiteY3" fmla="*/ 712634 h 720000"/>
              <a:gd name="connsiteX4" fmla="*/ 694887 w 719895"/>
              <a:gd name="connsiteY4" fmla="*/ 720000 h 720000"/>
              <a:gd name="connsiteX5" fmla="*/ 677140 w 719895"/>
              <a:gd name="connsiteY5" fmla="*/ 712634 h 720000"/>
              <a:gd name="connsiteX6" fmla="*/ 561284 w 719895"/>
              <a:gd name="connsiteY6" fmla="*/ 596861 h 720000"/>
              <a:gd name="connsiteX7" fmla="*/ 561284 w 719895"/>
              <a:gd name="connsiteY7" fmla="*/ 561368 h 720000"/>
              <a:gd name="connsiteX8" fmla="*/ 579031 w 719895"/>
              <a:gd name="connsiteY8" fmla="*/ 554022 h 720000"/>
              <a:gd name="connsiteX9" fmla="*/ 301109 w 719895"/>
              <a:gd name="connsiteY9" fmla="*/ 0 h 720000"/>
              <a:gd name="connsiteX10" fmla="*/ 602219 w 719895"/>
              <a:gd name="connsiteY10" fmla="*/ 301109 h 720000"/>
              <a:gd name="connsiteX11" fmla="*/ 301109 w 719895"/>
              <a:gd name="connsiteY11" fmla="*/ 602219 h 720000"/>
              <a:gd name="connsiteX12" fmla="*/ 0 w 719895"/>
              <a:gd name="connsiteY12" fmla="*/ 301109 h 720000"/>
              <a:gd name="connsiteX13" fmla="*/ 301109 w 719895"/>
              <a:gd name="connsiteY13" fmla="*/ 0 h 720000"/>
            </a:gdLst>
            <a:rect l="l" t="t" r="r" b="b"/>
            <a:pathLst>
              <a:path w="719895" h="720000">
                <a:moveTo>
                  <a:pt x="579031" y="554022"/>
                </a:moveTo>
                <a:cubicBezTo>
                  <a:pt x="585456" y="554022"/>
                  <a:pt x="591880" y="556471"/>
                  <a:pt x="596778" y="561368"/>
                </a:cubicBezTo>
                <a:lnTo>
                  <a:pt x="712550" y="677140"/>
                </a:lnTo>
                <a:cubicBezTo>
                  <a:pt x="722344" y="686935"/>
                  <a:pt x="722344" y="702840"/>
                  <a:pt x="712550" y="712634"/>
                </a:cubicBezTo>
                <a:cubicBezTo>
                  <a:pt x="707778" y="717573"/>
                  <a:pt x="701333" y="720000"/>
                  <a:pt x="694887" y="720000"/>
                </a:cubicBezTo>
                <a:cubicBezTo>
                  <a:pt x="688441" y="720000"/>
                  <a:pt x="681995" y="717573"/>
                  <a:pt x="677140" y="712634"/>
                </a:cubicBezTo>
                <a:lnTo>
                  <a:pt x="561284" y="596861"/>
                </a:lnTo>
                <a:cubicBezTo>
                  <a:pt x="551490" y="587067"/>
                  <a:pt x="551490" y="571162"/>
                  <a:pt x="561284" y="561368"/>
                </a:cubicBezTo>
                <a:cubicBezTo>
                  <a:pt x="566181" y="556471"/>
                  <a:pt x="572606" y="554022"/>
                  <a:pt x="579031" y="554022"/>
                </a:cubicBezTo>
                <a:close/>
                <a:moveTo>
                  <a:pt x="301109" y="0"/>
                </a:moveTo>
                <a:cubicBezTo>
                  <a:pt x="467443" y="0"/>
                  <a:pt x="602219" y="134859"/>
                  <a:pt x="602219" y="301109"/>
                </a:cubicBezTo>
                <a:cubicBezTo>
                  <a:pt x="602219" y="467443"/>
                  <a:pt x="467443" y="602219"/>
                  <a:pt x="301109" y="602219"/>
                </a:cubicBezTo>
                <a:cubicBezTo>
                  <a:pt x="134775" y="602219"/>
                  <a:pt x="0" y="467443"/>
                  <a:pt x="0" y="301109"/>
                </a:cubicBezTo>
                <a:cubicBezTo>
                  <a:pt x="0" y="134775"/>
                  <a:pt x="134775" y="0"/>
                  <a:pt x="301109" y="0"/>
                </a:cubicBezTo>
                <a:close/>
              </a:path>
            </a:pathLst>
          </a:custGeom>
          <a:gradFill>
            <a:gsLst>
              <a:gs pos="1000">
                <a:schemeClr val="bg1">
                  <a:alpha val="0"/>
                </a:schemeClr>
              </a:gs>
              <a:gs pos="100000">
                <a:schemeClr val="bg1"/>
              </a:gs>
            </a:gsLst>
            <a:lin ang="16200000" scaled="0"/>
          </a:gradFill>
          <a:ln cap="flat">
            <a:noFill/>
            <a:prstDash val="solid"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316690" y="373380"/>
            <a:ext cx="8171180" cy="65532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783520" y="484345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管理能力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324256" y="626624"/>
            <a:ext cx="402076" cy="402076"/>
          </a:xfrm>
          <a:prstGeom prst="rtTriangl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0" y="6134100"/>
            <a:ext cx="12192000" cy="622301"/>
          </a:xfrm>
          <a:custGeom>
            <a:avLst/>
            <a:gdLst>
              <a:gd name="connsiteX0" fmla="*/ 0 w 12192000"/>
              <a:gd name="connsiteY0" fmla="*/ 0 h 934513"/>
              <a:gd name="connsiteX1" fmla="*/ 164392 w 12192000"/>
              <a:gd name="connsiteY1" fmla="*/ 51265 h 934513"/>
              <a:gd name="connsiteX2" fmla="*/ 6096000 w 12192000"/>
              <a:gd name="connsiteY2" fmla="*/ 648763 h 934513"/>
              <a:gd name="connsiteX3" fmla="*/ 12027608 w 12192000"/>
              <a:gd name="connsiteY3" fmla="*/ 51265 h 934513"/>
              <a:gd name="connsiteX4" fmla="*/ 12192000 w 12192000"/>
              <a:gd name="connsiteY4" fmla="*/ 0 h 934513"/>
              <a:gd name="connsiteX5" fmla="*/ 12192000 w 12192000"/>
              <a:gd name="connsiteY5" fmla="*/ 934513 h 934513"/>
              <a:gd name="connsiteX6" fmla="*/ 0 w 12192000"/>
              <a:gd name="connsiteY6" fmla="*/ 934513 h 934513"/>
            </a:gdLst>
            <a:rect l="l" t="t" r="r" b="b"/>
            <a:pathLst>
              <a:path w="12192000" h="934513">
                <a:moveTo>
                  <a:pt x="0" y="0"/>
                </a:moveTo>
                <a:lnTo>
                  <a:pt x="164392" y="51265"/>
                </a:lnTo>
                <a:cubicBezTo>
                  <a:pt x="1449887" y="411753"/>
                  <a:pt x="3626847" y="648763"/>
                  <a:pt x="6096000" y="648763"/>
                </a:cubicBezTo>
                <a:cubicBezTo>
                  <a:pt x="8565153" y="648763"/>
                  <a:pt x="10742113" y="411753"/>
                  <a:pt x="12027608" y="51265"/>
                </a:cubicBezTo>
                <a:lnTo>
                  <a:pt x="12192000" y="0"/>
                </a:lnTo>
                <a:lnTo>
                  <a:pt x="12192000" y="934513"/>
                </a:lnTo>
                <a:lnTo>
                  <a:pt x="0" y="934513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0" y="6235700"/>
            <a:ext cx="12192000" cy="622301"/>
          </a:xfrm>
          <a:custGeom>
            <a:avLst/>
            <a:gdLst>
              <a:gd name="connsiteX0" fmla="*/ 0 w 12192000"/>
              <a:gd name="connsiteY0" fmla="*/ 0 h 934513"/>
              <a:gd name="connsiteX1" fmla="*/ 164392 w 12192000"/>
              <a:gd name="connsiteY1" fmla="*/ 51265 h 934513"/>
              <a:gd name="connsiteX2" fmla="*/ 6096000 w 12192000"/>
              <a:gd name="connsiteY2" fmla="*/ 648763 h 934513"/>
              <a:gd name="connsiteX3" fmla="*/ 12027608 w 12192000"/>
              <a:gd name="connsiteY3" fmla="*/ 51265 h 934513"/>
              <a:gd name="connsiteX4" fmla="*/ 12192000 w 12192000"/>
              <a:gd name="connsiteY4" fmla="*/ 0 h 934513"/>
              <a:gd name="connsiteX5" fmla="*/ 12192000 w 12192000"/>
              <a:gd name="connsiteY5" fmla="*/ 934513 h 934513"/>
              <a:gd name="connsiteX6" fmla="*/ 0 w 12192000"/>
              <a:gd name="connsiteY6" fmla="*/ 934513 h 934513"/>
            </a:gdLst>
            <a:rect l="l" t="t" r="r" b="b"/>
            <a:pathLst>
              <a:path w="12192000" h="934513">
                <a:moveTo>
                  <a:pt x="0" y="0"/>
                </a:moveTo>
                <a:lnTo>
                  <a:pt x="164392" y="51265"/>
                </a:lnTo>
                <a:cubicBezTo>
                  <a:pt x="1449887" y="411753"/>
                  <a:pt x="3626847" y="648763"/>
                  <a:pt x="6096000" y="648763"/>
                </a:cubicBezTo>
                <a:cubicBezTo>
                  <a:pt x="8565153" y="648763"/>
                  <a:pt x="10742113" y="411753"/>
                  <a:pt x="12027608" y="51265"/>
                </a:cubicBezTo>
                <a:lnTo>
                  <a:pt x="12192000" y="0"/>
                </a:lnTo>
                <a:lnTo>
                  <a:pt x="12192000" y="934513"/>
                </a:lnTo>
                <a:lnTo>
                  <a:pt x="0" y="934513"/>
                </a:lnTo>
                <a:close/>
              </a:path>
            </a:pathLst>
          </a:custGeom>
          <a:gradFill>
            <a:gsLst>
              <a:gs pos="29000">
                <a:schemeClr val="accent1">
                  <a:alpha val="67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0" scaled="0"/>
          </a:gra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1">
            <a:off x="802683" y="1508318"/>
            <a:ext cx="3394118" cy="3544010"/>
          </a:xfrm>
          <a:custGeom>
            <a:avLst/>
            <a:gdLst>
              <a:gd name="connsiteX0" fmla="*/ 961715 w 1923430"/>
              <a:gd name="connsiteY0" fmla="*/ 0 h 3713632"/>
              <a:gd name="connsiteX1" fmla="*/ 1118515 w 1923430"/>
              <a:gd name="connsiteY1" fmla="*/ 270344 h 3713632"/>
              <a:gd name="connsiteX2" fmla="*/ 1831452 w 1923430"/>
              <a:gd name="connsiteY2" fmla="*/ 270344 h 3713632"/>
              <a:gd name="connsiteX3" fmla="*/ 1923430 w 1923430"/>
              <a:gd name="connsiteY3" fmla="*/ 362322 h 3713632"/>
              <a:gd name="connsiteX4" fmla="*/ 1923430 w 1923430"/>
              <a:gd name="connsiteY4" fmla="*/ 3621654 h 3713632"/>
              <a:gd name="connsiteX5" fmla="*/ 1831452 w 1923430"/>
              <a:gd name="connsiteY5" fmla="*/ 3713632 h 3713632"/>
              <a:gd name="connsiteX6" fmla="*/ 91978 w 1923430"/>
              <a:gd name="connsiteY6" fmla="*/ 3713632 h 3713632"/>
              <a:gd name="connsiteX7" fmla="*/ 0 w 1923430"/>
              <a:gd name="connsiteY7" fmla="*/ 3621654 h 3713632"/>
              <a:gd name="connsiteX8" fmla="*/ 0 w 1923430"/>
              <a:gd name="connsiteY8" fmla="*/ 362322 h 3713632"/>
              <a:gd name="connsiteX9" fmla="*/ 91978 w 1923430"/>
              <a:gd name="connsiteY9" fmla="*/ 270344 h 3713632"/>
              <a:gd name="connsiteX10" fmla="*/ 804916 w 1923430"/>
              <a:gd name="connsiteY10" fmla="*/ 270344 h 3713632"/>
            </a:gdLst>
            <a:rect l="l" t="t" r="r" b="b"/>
            <a:pathLst>
              <a:path w="1923430" h="3713632">
                <a:moveTo>
                  <a:pt x="961715" y="0"/>
                </a:moveTo>
                <a:lnTo>
                  <a:pt x="1118515" y="270344"/>
                </a:lnTo>
                <a:lnTo>
                  <a:pt x="1831452" y="270344"/>
                </a:lnTo>
                <a:cubicBezTo>
                  <a:pt x="1882250" y="270344"/>
                  <a:pt x="1923430" y="311524"/>
                  <a:pt x="1923430" y="362322"/>
                </a:cubicBezTo>
                <a:lnTo>
                  <a:pt x="1923430" y="3621654"/>
                </a:lnTo>
                <a:cubicBezTo>
                  <a:pt x="1923430" y="3672452"/>
                  <a:pt x="1882250" y="3713632"/>
                  <a:pt x="1831452" y="3713632"/>
                </a:cubicBezTo>
                <a:lnTo>
                  <a:pt x="91978" y="3713632"/>
                </a:lnTo>
                <a:cubicBezTo>
                  <a:pt x="41180" y="3713632"/>
                  <a:pt x="0" y="3672452"/>
                  <a:pt x="0" y="3621654"/>
                </a:cubicBezTo>
                <a:lnTo>
                  <a:pt x="0" y="362322"/>
                </a:lnTo>
                <a:cubicBezTo>
                  <a:pt x="0" y="311524"/>
                  <a:pt x="41180" y="270344"/>
                  <a:pt x="91978" y="270344"/>
                </a:cubicBezTo>
                <a:lnTo>
                  <a:pt x="804916" y="270344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1">
            <a:off x="726483" y="1416039"/>
            <a:ext cx="3394118" cy="3544010"/>
          </a:xfrm>
          <a:custGeom>
            <a:avLst/>
            <a:gdLst>
              <a:gd name="connsiteX0" fmla="*/ 961715 w 1923430"/>
              <a:gd name="connsiteY0" fmla="*/ 0 h 3713632"/>
              <a:gd name="connsiteX1" fmla="*/ 1118515 w 1923430"/>
              <a:gd name="connsiteY1" fmla="*/ 270344 h 3713632"/>
              <a:gd name="connsiteX2" fmla="*/ 1831452 w 1923430"/>
              <a:gd name="connsiteY2" fmla="*/ 270344 h 3713632"/>
              <a:gd name="connsiteX3" fmla="*/ 1923430 w 1923430"/>
              <a:gd name="connsiteY3" fmla="*/ 362322 h 3713632"/>
              <a:gd name="connsiteX4" fmla="*/ 1923430 w 1923430"/>
              <a:gd name="connsiteY4" fmla="*/ 3621654 h 3713632"/>
              <a:gd name="connsiteX5" fmla="*/ 1831452 w 1923430"/>
              <a:gd name="connsiteY5" fmla="*/ 3713632 h 3713632"/>
              <a:gd name="connsiteX6" fmla="*/ 91978 w 1923430"/>
              <a:gd name="connsiteY6" fmla="*/ 3713632 h 3713632"/>
              <a:gd name="connsiteX7" fmla="*/ 0 w 1923430"/>
              <a:gd name="connsiteY7" fmla="*/ 3621654 h 3713632"/>
              <a:gd name="connsiteX8" fmla="*/ 0 w 1923430"/>
              <a:gd name="connsiteY8" fmla="*/ 362322 h 3713632"/>
              <a:gd name="connsiteX9" fmla="*/ 91978 w 1923430"/>
              <a:gd name="connsiteY9" fmla="*/ 270344 h 3713632"/>
              <a:gd name="connsiteX10" fmla="*/ 804916 w 1923430"/>
              <a:gd name="connsiteY10" fmla="*/ 270344 h 3713632"/>
            </a:gdLst>
            <a:rect l="l" t="t" r="r" b="b"/>
            <a:pathLst>
              <a:path w="1923430" h="3713632">
                <a:moveTo>
                  <a:pt x="961715" y="0"/>
                </a:moveTo>
                <a:lnTo>
                  <a:pt x="1118515" y="270344"/>
                </a:lnTo>
                <a:lnTo>
                  <a:pt x="1831452" y="270344"/>
                </a:lnTo>
                <a:cubicBezTo>
                  <a:pt x="1882250" y="270344"/>
                  <a:pt x="1923430" y="311524"/>
                  <a:pt x="1923430" y="362322"/>
                </a:cubicBezTo>
                <a:lnTo>
                  <a:pt x="1923430" y="3621654"/>
                </a:lnTo>
                <a:cubicBezTo>
                  <a:pt x="1923430" y="3672452"/>
                  <a:pt x="1882250" y="3713632"/>
                  <a:pt x="1831452" y="3713632"/>
                </a:cubicBezTo>
                <a:lnTo>
                  <a:pt x="91978" y="3713632"/>
                </a:lnTo>
                <a:cubicBezTo>
                  <a:pt x="41180" y="3713632"/>
                  <a:pt x="0" y="3672452"/>
                  <a:pt x="0" y="3621654"/>
                </a:cubicBezTo>
                <a:lnTo>
                  <a:pt x="0" y="362322"/>
                </a:lnTo>
                <a:cubicBezTo>
                  <a:pt x="0" y="311524"/>
                  <a:pt x="41180" y="270344"/>
                  <a:pt x="91978" y="270344"/>
                </a:cubicBezTo>
                <a:lnTo>
                  <a:pt x="804916" y="270344"/>
                </a:lnTo>
                <a:close/>
              </a:path>
            </a:pathLst>
          </a:cu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dist="38100" blurRad="50800" dir="2700000" sx="100000" sy="100000" kx="0" ky="0" algn="tl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881340" y="1485394"/>
            <a:ext cx="3084405" cy="776619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45720" rIns="36000" bIns="45720" rtlCol="0" anchor="b"/>
          <a:lstStyle/>
          <a:p>
            <a:pPr algn="ctr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B0F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责任心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881340" y="2357006"/>
            <a:ext cx="3084405" cy="210188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3600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团队成员深知养老服务责任重大，始终以高度责任心对待工作，关注老人身心健康，确保服务质量和安全。
在日常工作中，积极主动承担责任，勇于面对困难和挑战，为老人提供优质服务。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1">
            <a:off x="4475141" y="1501711"/>
            <a:ext cx="3394118" cy="3544010"/>
          </a:xfrm>
          <a:custGeom>
            <a:avLst/>
            <a:gdLst>
              <a:gd name="connsiteX0" fmla="*/ 961715 w 1923430"/>
              <a:gd name="connsiteY0" fmla="*/ 0 h 3713632"/>
              <a:gd name="connsiteX1" fmla="*/ 1118515 w 1923430"/>
              <a:gd name="connsiteY1" fmla="*/ 270344 h 3713632"/>
              <a:gd name="connsiteX2" fmla="*/ 1831452 w 1923430"/>
              <a:gd name="connsiteY2" fmla="*/ 270344 h 3713632"/>
              <a:gd name="connsiteX3" fmla="*/ 1923430 w 1923430"/>
              <a:gd name="connsiteY3" fmla="*/ 362322 h 3713632"/>
              <a:gd name="connsiteX4" fmla="*/ 1923430 w 1923430"/>
              <a:gd name="connsiteY4" fmla="*/ 3621654 h 3713632"/>
              <a:gd name="connsiteX5" fmla="*/ 1831452 w 1923430"/>
              <a:gd name="connsiteY5" fmla="*/ 3713632 h 3713632"/>
              <a:gd name="connsiteX6" fmla="*/ 91978 w 1923430"/>
              <a:gd name="connsiteY6" fmla="*/ 3713632 h 3713632"/>
              <a:gd name="connsiteX7" fmla="*/ 0 w 1923430"/>
              <a:gd name="connsiteY7" fmla="*/ 3621654 h 3713632"/>
              <a:gd name="connsiteX8" fmla="*/ 0 w 1923430"/>
              <a:gd name="connsiteY8" fmla="*/ 362322 h 3713632"/>
              <a:gd name="connsiteX9" fmla="*/ 91978 w 1923430"/>
              <a:gd name="connsiteY9" fmla="*/ 270344 h 3713632"/>
              <a:gd name="connsiteX10" fmla="*/ 804916 w 1923430"/>
              <a:gd name="connsiteY10" fmla="*/ 270344 h 3713632"/>
            </a:gdLst>
            <a:rect l="l" t="t" r="r" b="b"/>
            <a:pathLst>
              <a:path w="1923430" h="3713632">
                <a:moveTo>
                  <a:pt x="961715" y="0"/>
                </a:moveTo>
                <a:lnTo>
                  <a:pt x="1118515" y="270344"/>
                </a:lnTo>
                <a:lnTo>
                  <a:pt x="1831452" y="270344"/>
                </a:lnTo>
                <a:cubicBezTo>
                  <a:pt x="1882250" y="270344"/>
                  <a:pt x="1923430" y="311524"/>
                  <a:pt x="1923430" y="362322"/>
                </a:cubicBezTo>
                <a:lnTo>
                  <a:pt x="1923430" y="3621654"/>
                </a:lnTo>
                <a:cubicBezTo>
                  <a:pt x="1923430" y="3672452"/>
                  <a:pt x="1882250" y="3713632"/>
                  <a:pt x="1831452" y="3713632"/>
                </a:cubicBezTo>
                <a:lnTo>
                  <a:pt x="91978" y="3713632"/>
                </a:lnTo>
                <a:cubicBezTo>
                  <a:pt x="41180" y="3713632"/>
                  <a:pt x="0" y="3672452"/>
                  <a:pt x="0" y="3621654"/>
                </a:cubicBezTo>
                <a:lnTo>
                  <a:pt x="0" y="362322"/>
                </a:lnTo>
                <a:cubicBezTo>
                  <a:pt x="0" y="311524"/>
                  <a:pt x="41180" y="270344"/>
                  <a:pt x="91978" y="270344"/>
                </a:cubicBezTo>
                <a:lnTo>
                  <a:pt x="804916" y="270344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1">
            <a:off x="4398941" y="1409432"/>
            <a:ext cx="3394118" cy="3544010"/>
          </a:xfrm>
          <a:custGeom>
            <a:avLst/>
            <a:gdLst>
              <a:gd name="connsiteX0" fmla="*/ 961715 w 1923430"/>
              <a:gd name="connsiteY0" fmla="*/ 0 h 3713632"/>
              <a:gd name="connsiteX1" fmla="*/ 1118515 w 1923430"/>
              <a:gd name="connsiteY1" fmla="*/ 270344 h 3713632"/>
              <a:gd name="connsiteX2" fmla="*/ 1831452 w 1923430"/>
              <a:gd name="connsiteY2" fmla="*/ 270344 h 3713632"/>
              <a:gd name="connsiteX3" fmla="*/ 1923430 w 1923430"/>
              <a:gd name="connsiteY3" fmla="*/ 362322 h 3713632"/>
              <a:gd name="connsiteX4" fmla="*/ 1923430 w 1923430"/>
              <a:gd name="connsiteY4" fmla="*/ 3621654 h 3713632"/>
              <a:gd name="connsiteX5" fmla="*/ 1831452 w 1923430"/>
              <a:gd name="connsiteY5" fmla="*/ 3713632 h 3713632"/>
              <a:gd name="connsiteX6" fmla="*/ 91978 w 1923430"/>
              <a:gd name="connsiteY6" fmla="*/ 3713632 h 3713632"/>
              <a:gd name="connsiteX7" fmla="*/ 0 w 1923430"/>
              <a:gd name="connsiteY7" fmla="*/ 3621654 h 3713632"/>
              <a:gd name="connsiteX8" fmla="*/ 0 w 1923430"/>
              <a:gd name="connsiteY8" fmla="*/ 362322 h 3713632"/>
              <a:gd name="connsiteX9" fmla="*/ 91978 w 1923430"/>
              <a:gd name="connsiteY9" fmla="*/ 270344 h 3713632"/>
              <a:gd name="connsiteX10" fmla="*/ 804916 w 1923430"/>
              <a:gd name="connsiteY10" fmla="*/ 270344 h 3713632"/>
            </a:gdLst>
            <a:rect l="l" t="t" r="r" b="b"/>
            <a:pathLst>
              <a:path w="1923430" h="3713632">
                <a:moveTo>
                  <a:pt x="961715" y="0"/>
                </a:moveTo>
                <a:lnTo>
                  <a:pt x="1118515" y="270344"/>
                </a:lnTo>
                <a:lnTo>
                  <a:pt x="1831452" y="270344"/>
                </a:lnTo>
                <a:cubicBezTo>
                  <a:pt x="1882250" y="270344"/>
                  <a:pt x="1923430" y="311524"/>
                  <a:pt x="1923430" y="362322"/>
                </a:cubicBezTo>
                <a:lnTo>
                  <a:pt x="1923430" y="3621654"/>
                </a:lnTo>
                <a:cubicBezTo>
                  <a:pt x="1923430" y="3672452"/>
                  <a:pt x="1882250" y="3713632"/>
                  <a:pt x="1831452" y="3713632"/>
                </a:cubicBezTo>
                <a:lnTo>
                  <a:pt x="91978" y="3713632"/>
                </a:lnTo>
                <a:cubicBezTo>
                  <a:pt x="41180" y="3713632"/>
                  <a:pt x="0" y="3672452"/>
                  <a:pt x="0" y="3621654"/>
                </a:cubicBezTo>
                <a:lnTo>
                  <a:pt x="0" y="362322"/>
                </a:lnTo>
                <a:cubicBezTo>
                  <a:pt x="0" y="311524"/>
                  <a:pt x="41180" y="270344"/>
                  <a:pt x="91978" y="270344"/>
                </a:cubicBezTo>
                <a:lnTo>
                  <a:pt x="804916" y="270344"/>
                </a:lnTo>
                <a:close/>
              </a:path>
            </a:pathLst>
          </a:cu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dist="38100" blurRad="50800" dir="2700000" sx="100000" sy="100000" kx="0" ky="0" algn="tl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4553798" y="1478787"/>
            <a:ext cx="3084405" cy="776619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45720" rIns="36000" bIns="45720" rtlCol="0" anchor="b"/>
          <a:lstStyle/>
          <a:p>
            <a:pPr algn="ctr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B0F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爱心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4553798" y="2350399"/>
            <a:ext cx="3084405" cy="210188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3600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全体员工具备爱心和耐心，将老人视为亲人，给予老人充分关爱和尊重，营造温馨、和谐养老环境。
在老人生活照料、康复护理、心理慰藉等方面，用心用情服务，让老人感受到家的温暖。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1">
            <a:off x="8071399" y="1508318"/>
            <a:ext cx="3394118" cy="3544010"/>
          </a:xfrm>
          <a:custGeom>
            <a:avLst/>
            <a:gdLst>
              <a:gd name="connsiteX0" fmla="*/ 961715 w 1923430"/>
              <a:gd name="connsiteY0" fmla="*/ 0 h 3713632"/>
              <a:gd name="connsiteX1" fmla="*/ 1118515 w 1923430"/>
              <a:gd name="connsiteY1" fmla="*/ 270344 h 3713632"/>
              <a:gd name="connsiteX2" fmla="*/ 1831452 w 1923430"/>
              <a:gd name="connsiteY2" fmla="*/ 270344 h 3713632"/>
              <a:gd name="connsiteX3" fmla="*/ 1923430 w 1923430"/>
              <a:gd name="connsiteY3" fmla="*/ 362322 h 3713632"/>
              <a:gd name="connsiteX4" fmla="*/ 1923430 w 1923430"/>
              <a:gd name="connsiteY4" fmla="*/ 3621654 h 3713632"/>
              <a:gd name="connsiteX5" fmla="*/ 1831452 w 1923430"/>
              <a:gd name="connsiteY5" fmla="*/ 3713632 h 3713632"/>
              <a:gd name="connsiteX6" fmla="*/ 91978 w 1923430"/>
              <a:gd name="connsiteY6" fmla="*/ 3713632 h 3713632"/>
              <a:gd name="connsiteX7" fmla="*/ 0 w 1923430"/>
              <a:gd name="connsiteY7" fmla="*/ 3621654 h 3713632"/>
              <a:gd name="connsiteX8" fmla="*/ 0 w 1923430"/>
              <a:gd name="connsiteY8" fmla="*/ 362322 h 3713632"/>
              <a:gd name="connsiteX9" fmla="*/ 91978 w 1923430"/>
              <a:gd name="connsiteY9" fmla="*/ 270344 h 3713632"/>
              <a:gd name="connsiteX10" fmla="*/ 804916 w 1923430"/>
              <a:gd name="connsiteY10" fmla="*/ 270344 h 3713632"/>
            </a:gdLst>
            <a:rect l="l" t="t" r="r" b="b"/>
            <a:pathLst>
              <a:path w="1923430" h="3713632">
                <a:moveTo>
                  <a:pt x="961715" y="0"/>
                </a:moveTo>
                <a:lnTo>
                  <a:pt x="1118515" y="270344"/>
                </a:lnTo>
                <a:lnTo>
                  <a:pt x="1831452" y="270344"/>
                </a:lnTo>
                <a:cubicBezTo>
                  <a:pt x="1882250" y="270344"/>
                  <a:pt x="1923430" y="311524"/>
                  <a:pt x="1923430" y="362322"/>
                </a:cubicBezTo>
                <a:lnTo>
                  <a:pt x="1923430" y="3621654"/>
                </a:lnTo>
                <a:cubicBezTo>
                  <a:pt x="1923430" y="3672452"/>
                  <a:pt x="1882250" y="3713632"/>
                  <a:pt x="1831452" y="3713632"/>
                </a:cubicBezTo>
                <a:lnTo>
                  <a:pt x="91978" y="3713632"/>
                </a:lnTo>
                <a:cubicBezTo>
                  <a:pt x="41180" y="3713632"/>
                  <a:pt x="0" y="3672452"/>
                  <a:pt x="0" y="3621654"/>
                </a:cubicBezTo>
                <a:lnTo>
                  <a:pt x="0" y="362322"/>
                </a:lnTo>
                <a:cubicBezTo>
                  <a:pt x="0" y="311524"/>
                  <a:pt x="41180" y="270344"/>
                  <a:pt x="91978" y="270344"/>
                </a:cubicBezTo>
                <a:lnTo>
                  <a:pt x="804916" y="270344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1">
            <a:off x="7995199" y="1416039"/>
            <a:ext cx="3394118" cy="3544010"/>
          </a:xfrm>
          <a:custGeom>
            <a:avLst/>
            <a:gdLst>
              <a:gd name="connsiteX0" fmla="*/ 961715 w 1923430"/>
              <a:gd name="connsiteY0" fmla="*/ 0 h 3713632"/>
              <a:gd name="connsiteX1" fmla="*/ 1118515 w 1923430"/>
              <a:gd name="connsiteY1" fmla="*/ 270344 h 3713632"/>
              <a:gd name="connsiteX2" fmla="*/ 1831452 w 1923430"/>
              <a:gd name="connsiteY2" fmla="*/ 270344 h 3713632"/>
              <a:gd name="connsiteX3" fmla="*/ 1923430 w 1923430"/>
              <a:gd name="connsiteY3" fmla="*/ 362322 h 3713632"/>
              <a:gd name="connsiteX4" fmla="*/ 1923430 w 1923430"/>
              <a:gd name="connsiteY4" fmla="*/ 3621654 h 3713632"/>
              <a:gd name="connsiteX5" fmla="*/ 1831452 w 1923430"/>
              <a:gd name="connsiteY5" fmla="*/ 3713632 h 3713632"/>
              <a:gd name="connsiteX6" fmla="*/ 91978 w 1923430"/>
              <a:gd name="connsiteY6" fmla="*/ 3713632 h 3713632"/>
              <a:gd name="connsiteX7" fmla="*/ 0 w 1923430"/>
              <a:gd name="connsiteY7" fmla="*/ 3621654 h 3713632"/>
              <a:gd name="connsiteX8" fmla="*/ 0 w 1923430"/>
              <a:gd name="connsiteY8" fmla="*/ 362322 h 3713632"/>
              <a:gd name="connsiteX9" fmla="*/ 91978 w 1923430"/>
              <a:gd name="connsiteY9" fmla="*/ 270344 h 3713632"/>
              <a:gd name="connsiteX10" fmla="*/ 804916 w 1923430"/>
              <a:gd name="connsiteY10" fmla="*/ 270344 h 3713632"/>
            </a:gdLst>
            <a:rect l="l" t="t" r="r" b="b"/>
            <a:pathLst>
              <a:path w="1923430" h="3713632">
                <a:moveTo>
                  <a:pt x="961715" y="0"/>
                </a:moveTo>
                <a:lnTo>
                  <a:pt x="1118515" y="270344"/>
                </a:lnTo>
                <a:lnTo>
                  <a:pt x="1831452" y="270344"/>
                </a:lnTo>
                <a:cubicBezTo>
                  <a:pt x="1882250" y="270344"/>
                  <a:pt x="1923430" y="311524"/>
                  <a:pt x="1923430" y="362322"/>
                </a:cubicBezTo>
                <a:lnTo>
                  <a:pt x="1923430" y="3621654"/>
                </a:lnTo>
                <a:cubicBezTo>
                  <a:pt x="1923430" y="3672452"/>
                  <a:pt x="1882250" y="3713632"/>
                  <a:pt x="1831452" y="3713632"/>
                </a:cubicBezTo>
                <a:lnTo>
                  <a:pt x="91978" y="3713632"/>
                </a:lnTo>
                <a:cubicBezTo>
                  <a:pt x="41180" y="3713632"/>
                  <a:pt x="0" y="3672452"/>
                  <a:pt x="0" y="3621654"/>
                </a:cubicBezTo>
                <a:lnTo>
                  <a:pt x="0" y="362322"/>
                </a:lnTo>
                <a:cubicBezTo>
                  <a:pt x="0" y="311524"/>
                  <a:pt x="41180" y="270344"/>
                  <a:pt x="91978" y="270344"/>
                </a:cubicBezTo>
                <a:lnTo>
                  <a:pt x="804916" y="270344"/>
                </a:lnTo>
                <a:close/>
              </a:path>
            </a:pathLst>
          </a:cu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dist="38100" blurRad="50800" dir="2700000" sx="100000" sy="100000" kx="0" ky="0" algn="tl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8150056" y="1485394"/>
            <a:ext cx="3084405" cy="776619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45720" rIns="36000" bIns="45720" rtlCol="0" anchor="b"/>
          <a:lstStyle/>
          <a:p>
            <a:pPr algn="ctr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B0F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专业精神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0" flipV="0">
            <a:off x="8150056" y="2357006"/>
            <a:ext cx="3084405" cy="210188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3600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团队成员注重专业学习和技能提升，定期参加行业培训和学术交流活动，不断更新知识结构，提高专业水平。
在工作中秉持严谨专业态度，严格按照服务标准和操作规范执行，为老人提供高质量、专业化养老服务。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0" flipH="0" flipV="0">
            <a:off x="601937" y="5235637"/>
            <a:ext cx="10967720" cy="182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0" flipH="0" flipV="0">
            <a:off x="2143712" y="5031903"/>
            <a:ext cx="590140" cy="590140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  <a:effectLst>
            <a:outerShdw dist="34671" blurRad="127127" dir="2700004" sx="100000" sy="100000" kx="0" ky="0" algn="tl" rotWithShape="0">
              <a:schemeClr val="accent1">
                <a:alpha val="21000"/>
              </a:schemeClr>
            </a:outerShdw>
          </a:effectLst>
        </p:spPr>
        <p:txBody>
          <a:bodyPr vert="horz" wrap="square" lIns="83210" tIns="41605" rIns="83210" bIns="41605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0" flipV="0">
            <a:off x="2157927" y="5046118"/>
            <a:ext cx="561711" cy="561711"/>
          </a:xfrm>
          <a:prstGeom prst="ellipse">
            <a:avLst/>
          </a:prstGeom>
          <a:gradFill>
            <a:gsLst>
              <a:gs pos="7000">
                <a:schemeClr val="accent1">
                  <a:lumMod val="60000"/>
                  <a:lumOff val="40000"/>
                </a:schemeClr>
              </a:gs>
              <a:gs pos="86000">
                <a:schemeClr val="accent1"/>
              </a:gs>
            </a:gsLst>
            <a:path path="circle">
              <a:fillToRect b="100000" r="100000"/>
            </a:path>
            <a:tileRect t="-100000" l="-100000"/>
          </a:gradFill>
          <a:ln w="11557" cap="sq">
            <a:solidFill>
              <a:schemeClr val="bg1"/>
            </a:solidFill>
            <a:miter/>
          </a:ln>
          <a:effectLst/>
        </p:spPr>
        <p:txBody>
          <a:bodyPr vert="horz" wrap="square" lIns="47655" tIns="23827" rIns="47655" bIns="23827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0" flipH="0" flipV="0">
            <a:off x="5816170" y="5031903"/>
            <a:ext cx="590140" cy="590140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  <a:effectLst>
            <a:outerShdw dist="34671" blurRad="127127" dir="2700004" sx="100000" sy="100000" kx="0" ky="0" algn="tl" rotWithShape="0">
              <a:schemeClr val="accent1">
                <a:alpha val="21000"/>
              </a:schemeClr>
            </a:outerShdw>
          </a:effectLst>
        </p:spPr>
        <p:txBody>
          <a:bodyPr vert="horz" wrap="square" lIns="83210" tIns="41605" rIns="83210" bIns="41605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rot="0" flipH="0" flipV="0">
            <a:off x="5830385" y="5046118"/>
            <a:ext cx="561711" cy="561711"/>
          </a:xfrm>
          <a:prstGeom prst="ellipse">
            <a:avLst/>
          </a:prstGeom>
          <a:gradFill>
            <a:gsLst>
              <a:gs pos="7000">
                <a:schemeClr val="accent1">
                  <a:lumMod val="60000"/>
                  <a:lumOff val="40000"/>
                </a:schemeClr>
              </a:gs>
              <a:gs pos="86000">
                <a:schemeClr val="accent1"/>
              </a:gs>
            </a:gsLst>
            <a:path path="circle">
              <a:fillToRect b="100000" r="100000"/>
            </a:path>
            <a:tileRect t="-100000" l="-100000"/>
          </a:gradFill>
          <a:ln w="11557" cap="sq">
            <a:solidFill>
              <a:schemeClr val="bg1"/>
            </a:solidFill>
            <a:miter/>
          </a:ln>
          <a:effectLst/>
        </p:spPr>
        <p:txBody>
          <a:bodyPr vert="horz" wrap="square" lIns="47655" tIns="23827" rIns="47655" bIns="23827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rot="0" flipH="0" flipV="0">
            <a:off x="9412428" y="5031903"/>
            <a:ext cx="590140" cy="590140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  <a:effectLst>
            <a:outerShdw dist="34671" blurRad="127127" dir="2700004" sx="100000" sy="100000" kx="0" ky="0" algn="tl" rotWithShape="0">
              <a:schemeClr val="accent1">
                <a:alpha val="21000"/>
              </a:schemeClr>
            </a:outerShdw>
          </a:effectLst>
        </p:spPr>
        <p:txBody>
          <a:bodyPr vert="horz" wrap="square" lIns="83210" tIns="41605" rIns="83210" bIns="41605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 rot="0" flipH="0" flipV="0">
            <a:off x="9426643" y="5046118"/>
            <a:ext cx="561711" cy="561711"/>
          </a:xfrm>
          <a:prstGeom prst="ellipse">
            <a:avLst/>
          </a:prstGeom>
          <a:gradFill>
            <a:gsLst>
              <a:gs pos="7000">
                <a:schemeClr val="accent1">
                  <a:lumMod val="60000"/>
                  <a:lumOff val="40000"/>
                </a:schemeClr>
              </a:gs>
              <a:gs pos="86000">
                <a:schemeClr val="accent1"/>
              </a:gs>
            </a:gsLst>
            <a:path path="circle">
              <a:fillToRect b="100000" r="100000"/>
            </a:path>
            <a:tileRect t="-100000" l="-100000"/>
          </a:gradFill>
          <a:ln w="11557" cap="sq">
            <a:solidFill>
              <a:schemeClr val="bg1"/>
            </a:solidFill>
            <a:miter/>
          </a:ln>
          <a:effectLst/>
        </p:spPr>
        <p:txBody>
          <a:bodyPr vert="horz" wrap="square" lIns="47655" tIns="23827" rIns="47655" bIns="23827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 rot="0" flipH="0" flipV="0">
            <a:off x="5957741" y="5192587"/>
            <a:ext cx="306998" cy="268773"/>
          </a:xfrm>
          <a:custGeom>
            <a:avLst/>
            <a:gdLst>
              <a:gd name="connsiteX0" fmla="*/ 411293 w 822401"/>
              <a:gd name="connsiteY0" fmla="*/ 234366 h 720000"/>
              <a:gd name="connsiteX1" fmla="*/ 536928 w 822401"/>
              <a:gd name="connsiteY1" fmla="*/ 360000 h 720000"/>
              <a:gd name="connsiteX2" fmla="*/ 411293 w 822401"/>
              <a:gd name="connsiteY2" fmla="*/ 485635 h 720000"/>
              <a:gd name="connsiteX3" fmla="*/ 285659 w 822401"/>
              <a:gd name="connsiteY3" fmla="*/ 360000 h 720000"/>
              <a:gd name="connsiteX4" fmla="*/ 411293 w 822401"/>
              <a:gd name="connsiteY4" fmla="*/ 234366 h 720000"/>
              <a:gd name="connsiteX5" fmla="*/ 411293 w 822401"/>
              <a:gd name="connsiteY5" fmla="*/ 178938 h 720000"/>
              <a:gd name="connsiteX6" fmla="*/ 230231 w 822401"/>
              <a:gd name="connsiteY6" fmla="*/ 360000 h 720000"/>
              <a:gd name="connsiteX7" fmla="*/ 411293 w 822401"/>
              <a:gd name="connsiteY7" fmla="*/ 541063 h 720000"/>
              <a:gd name="connsiteX8" fmla="*/ 592355 w 822401"/>
              <a:gd name="connsiteY8" fmla="*/ 360000 h 720000"/>
              <a:gd name="connsiteX9" fmla="*/ 411293 w 822401"/>
              <a:gd name="connsiteY9" fmla="*/ 178938 h 720000"/>
              <a:gd name="connsiteX10" fmla="*/ 219884 w 822401"/>
              <a:gd name="connsiteY10" fmla="*/ 0 h 720000"/>
              <a:gd name="connsiteX11" fmla="*/ 602517 w 822401"/>
              <a:gd name="connsiteY11" fmla="*/ 0 h 720000"/>
              <a:gd name="connsiteX12" fmla="*/ 627275 w 822401"/>
              <a:gd name="connsiteY12" fmla="*/ 14319 h 720000"/>
              <a:gd name="connsiteX13" fmla="*/ 818591 w 822401"/>
              <a:gd name="connsiteY13" fmla="*/ 345682 h 720000"/>
              <a:gd name="connsiteX14" fmla="*/ 818591 w 822401"/>
              <a:gd name="connsiteY14" fmla="*/ 374319 h 720000"/>
              <a:gd name="connsiteX15" fmla="*/ 627367 w 822401"/>
              <a:gd name="connsiteY15" fmla="*/ 705682 h 720000"/>
              <a:gd name="connsiteX16" fmla="*/ 602609 w 822401"/>
              <a:gd name="connsiteY16" fmla="*/ 720000 h 720000"/>
              <a:gd name="connsiteX17" fmla="*/ 219977 w 822401"/>
              <a:gd name="connsiteY17" fmla="*/ 720000 h 720000"/>
              <a:gd name="connsiteX18" fmla="*/ 195219 w 822401"/>
              <a:gd name="connsiteY18" fmla="*/ 705682 h 720000"/>
              <a:gd name="connsiteX19" fmla="*/ 3811 w 822401"/>
              <a:gd name="connsiteY19" fmla="*/ 374319 h 720000"/>
              <a:gd name="connsiteX20" fmla="*/ 3811 w 822401"/>
              <a:gd name="connsiteY20" fmla="*/ 345682 h 720000"/>
              <a:gd name="connsiteX21" fmla="*/ 195127 w 822401"/>
              <a:gd name="connsiteY21" fmla="*/ 14319 h 720000"/>
              <a:gd name="connsiteX22" fmla="*/ 219884 w 822401"/>
              <a:gd name="connsiteY22" fmla="*/ 0 h 720000"/>
            </a:gdLst>
            <a:rect l="l" t="t" r="r" b="b"/>
            <a:pathLst>
              <a:path w="822401" h="720000">
                <a:moveTo>
                  <a:pt x="411293" y="234366"/>
                </a:moveTo>
                <a:cubicBezTo>
                  <a:pt x="480577" y="234366"/>
                  <a:pt x="536928" y="290716"/>
                  <a:pt x="536928" y="360000"/>
                </a:cubicBezTo>
                <a:cubicBezTo>
                  <a:pt x="536928" y="429284"/>
                  <a:pt x="480577" y="485635"/>
                  <a:pt x="411293" y="485635"/>
                </a:cubicBezTo>
                <a:cubicBezTo>
                  <a:pt x="342009" y="485635"/>
                  <a:pt x="285659" y="429284"/>
                  <a:pt x="285659" y="360000"/>
                </a:cubicBezTo>
                <a:cubicBezTo>
                  <a:pt x="285659" y="290716"/>
                  <a:pt x="342009" y="234366"/>
                  <a:pt x="411293" y="234366"/>
                </a:cubicBezTo>
                <a:close/>
                <a:moveTo>
                  <a:pt x="411293" y="178938"/>
                </a:moveTo>
                <a:cubicBezTo>
                  <a:pt x="311432" y="178938"/>
                  <a:pt x="230231" y="260139"/>
                  <a:pt x="230231" y="360000"/>
                </a:cubicBezTo>
                <a:cubicBezTo>
                  <a:pt x="230231" y="459862"/>
                  <a:pt x="311432" y="541063"/>
                  <a:pt x="411293" y="541063"/>
                </a:cubicBezTo>
                <a:cubicBezTo>
                  <a:pt x="511154" y="541063"/>
                  <a:pt x="592355" y="459862"/>
                  <a:pt x="592355" y="360000"/>
                </a:cubicBezTo>
                <a:cubicBezTo>
                  <a:pt x="592355" y="260139"/>
                  <a:pt x="511154" y="178938"/>
                  <a:pt x="411293" y="178938"/>
                </a:cubicBezTo>
                <a:close/>
                <a:moveTo>
                  <a:pt x="219884" y="0"/>
                </a:moveTo>
                <a:lnTo>
                  <a:pt x="602517" y="0"/>
                </a:lnTo>
                <a:cubicBezTo>
                  <a:pt x="612679" y="0"/>
                  <a:pt x="622194" y="5451"/>
                  <a:pt x="627275" y="14319"/>
                </a:cubicBezTo>
                <a:lnTo>
                  <a:pt x="818591" y="345682"/>
                </a:lnTo>
                <a:cubicBezTo>
                  <a:pt x="823672" y="354550"/>
                  <a:pt x="823672" y="365451"/>
                  <a:pt x="818591" y="374319"/>
                </a:cubicBezTo>
                <a:lnTo>
                  <a:pt x="627367" y="705682"/>
                </a:lnTo>
                <a:cubicBezTo>
                  <a:pt x="622286" y="714550"/>
                  <a:pt x="612771" y="720000"/>
                  <a:pt x="602609" y="720000"/>
                </a:cubicBezTo>
                <a:lnTo>
                  <a:pt x="219977" y="720000"/>
                </a:lnTo>
                <a:cubicBezTo>
                  <a:pt x="209815" y="720000"/>
                  <a:pt x="200300" y="714550"/>
                  <a:pt x="195219" y="705682"/>
                </a:cubicBezTo>
                <a:lnTo>
                  <a:pt x="3811" y="374319"/>
                </a:lnTo>
                <a:cubicBezTo>
                  <a:pt x="-1270" y="365543"/>
                  <a:pt x="-1270" y="354550"/>
                  <a:pt x="3811" y="345682"/>
                </a:cubicBezTo>
                <a:lnTo>
                  <a:pt x="195127" y="14319"/>
                </a:lnTo>
                <a:cubicBezTo>
                  <a:pt x="200208" y="5451"/>
                  <a:pt x="209723" y="0"/>
                  <a:pt x="219884" y="0"/>
                </a:cubicBezTo>
                <a:close/>
              </a:path>
            </a:pathLst>
          </a:custGeom>
          <a:solidFill>
            <a:schemeClr val="bg1"/>
          </a:solidFill>
          <a:ln w="1553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rot="0" flipH="0" flipV="0">
            <a:off x="9589825" y="5192587"/>
            <a:ext cx="235346" cy="268773"/>
          </a:xfrm>
          <a:custGeom>
            <a:avLst/>
            <a:gdLst>
              <a:gd name="connsiteX0" fmla="*/ 361901 w 630455"/>
              <a:gd name="connsiteY0" fmla="*/ 82589 h 720001"/>
              <a:gd name="connsiteX1" fmla="*/ 361901 w 630455"/>
              <a:gd name="connsiteY1" fmla="*/ 203034 h 720001"/>
              <a:gd name="connsiteX2" fmla="*/ 427179 w 630455"/>
              <a:gd name="connsiteY2" fmla="*/ 268312 h 720001"/>
              <a:gd name="connsiteX3" fmla="*/ 547624 w 630455"/>
              <a:gd name="connsiteY3" fmla="*/ 268312 h 720001"/>
              <a:gd name="connsiteX4" fmla="*/ 113812 w 630455"/>
              <a:gd name="connsiteY4" fmla="*/ 0 h 720001"/>
              <a:gd name="connsiteX5" fmla="*/ 338847 w 630455"/>
              <a:gd name="connsiteY5" fmla="*/ 0 h 720001"/>
              <a:gd name="connsiteX6" fmla="*/ 340465 w 630455"/>
              <a:gd name="connsiteY6" fmla="*/ 162 h 720001"/>
              <a:gd name="connsiteX7" fmla="*/ 340789 w 630455"/>
              <a:gd name="connsiteY7" fmla="*/ 162 h 720001"/>
              <a:gd name="connsiteX8" fmla="*/ 344106 w 630455"/>
              <a:gd name="connsiteY8" fmla="*/ 809 h 720001"/>
              <a:gd name="connsiteX9" fmla="*/ 344186 w 630455"/>
              <a:gd name="connsiteY9" fmla="*/ 809 h 720001"/>
              <a:gd name="connsiteX10" fmla="*/ 347422 w 630455"/>
              <a:gd name="connsiteY10" fmla="*/ 1942 h 720001"/>
              <a:gd name="connsiteX11" fmla="*/ 347503 w 630455"/>
              <a:gd name="connsiteY11" fmla="*/ 1942 h 720001"/>
              <a:gd name="connsiteX12" fmla="*/ 349040 w 630455"/>
              <a:gd name="connsiteY12" fmla="*/ 2670 h 720001"/>
              <a:gd name="connsiteX13" fmla="*/ 349121 w 630455"/>
              <a:gd name="connsiteY13" fmla="*/ 2670 h 720001"/>
              <a:gd name="connsiteX14" fmla="*/ 350576 w 630455"/>
              <a:gd name="connsiteY14" fmla="*/ 3479 h 720001"/>
              <a:gd name="connsiteX15" fmla="*/ 350819 w 630455"/>
              <a:gd name="connsiteY15" fmla="*/ 3640 h 720001"/>
              <a:gd name="connsiteX16" fmla="*/ 352033 w 630455"/>
              <a:gd name="connsiteY16" fmla="*/ 4449 h 720001"/>
              <a:gd name="connsiteX17" fmla="*/ 352194 w 630455"/>
              <a:gd name="connsiteY17" fmla="*/ 4530 h 720001"/>
              <a:gd name="connsiteX18" fmla="*/ 353408 w 630455"/>
              <a:gd name="connsiteY18" fmla="*/ 5501 h 720001"/>
              <a:gd name="connsiteX19" fmla="*/ 353651 w 630455"/>
              <a:gd name="connsiteY19" fmla="*/ 5743 h 720001"/>
              <a:gd name="connsiteX20" fmla="*/ 354864 w 630455"/>
              <a:gd name="connsiteY20" fmla="*/ 6876 h 720001"/>
              <a:gd name="connsiteX21" fmla="*/ 623418 w 630455"/>
              <a:gd name="connsiteY21" fmla="*/ 275430 h 720001"/>
              <a:gd name="connsiteX22" fmla="*/ 624551 w 630455"/>
              <a:gd name="connsiteY22" fmla="*/ 276643 h 720001"/>
              <a:gd name="connsiteX23" fmla="*/ 624793 w 630455"/>
              <a:gd name="connsiteY23" fmla="*/ 276886 h 720001"/>
              <a:gd name="connsiteX24" fmla="*/ 625764 w 630455"/>
              <a:gd name="connsiteY24" fmla="*/ 278180 h 720001"/>
              <a:gd name="connsiteX25" fmla="*/ 625845 w 630455"/>
              <a:gd name="connsiteY25" fmla="*/ 278342 h 720001"/>
              <a:gd name="connsiteX26" fmla="*/ 626734 w 630455"/>
              <a:gd name="connsiteY26" fmla="*/ 279637 h 720001"/>
              <a:gd name="connsiteX27" fmla="*/ 626896 w 630455"/>
              <a:gd name="connsiteY27" fmla="*/ 279798 h 720001"/>
              <a:gd name="connsiteX28" fmla="*/ 627705 w 630455"/>
              <a:gd name="connsiteY28" fmla="*/ 281254 h 720001"/>
              <a:gd name="connsiteX29" fmla="*/ 628433 w 630455"/>
              <a:gd name="connsiteY29" fmla="*/ 282791 h 720001"/>
              <a:gd name="connsiteX30" fmla="*/ 629646 w 630455"/>
              <a:gd name="connsiteY30" fmla="*/ 286107 h 720001"/>
              <a:gd name="connsiteX31" fmla="*/ 630293 w 630455"/>
              <a:gd name="connsiteY31" fmla="*/ 289424 h 720001"/>
              <a:gd name="connsiteX32" fmla="*/ 630293 w 630455"/>
              <a:gd name="connsiteY32" fmla="*/ 289667 h 720001"/>
              <a:gd name="connsiteX33" fmla="*/ 630455 w 630455"/>
              <a:gd name="connsiteY33" fmla="*/ 291285 h 720001"/>
              <a:gd name="connsiteX34" fmla="*/ 630455 w 630455"/>
              <a:gd name="connsiteY34" fmla="*/ 292579 h 720001"/>
              <a:gd name="connsiteX35" fmla="*/ 630455 w 630455"/>
              <a:gd name="connsiteY35" fmla="*/ 606189 h 720001"/>
              <a:gd name="connsiteX36" fmla="*/ 516644 w 630455"/>
              <a:gd name="connsiteY36" fmla="*/ 720001 h 720001"/>
              <a:gd name="connsiteX37" fmla="*/ 113812 w 630455"/>
              <a:gd name="connsiteY37" fmla="*/ 720001 h 720001"/>
              <a:gd name="connsiteX38" fmla="*/ 0 w 630455"/>
              <a:gd name="connsiteY38" fmla="*/ 606189 h 720001"/>
              <a:gd name="connsiteX39" fmla="*/ 0 w 630455"/>
              <a:gd name="connsiteY39" fmla="*/ 113812 h 720001"/>
              <a:gd name="connsiteX40" fmla="*/ 113812 w 630455"/>
              <a:gd name="connsiteY40" fmla="*/ 0 h 720001"/>
            </a:gdLst>
            <a:rect l="l" t="t" r="r" b="b"/>
            <a:pathLst>
              <a:path w="630455" h="720001">
                <a:moveTo>
                  <a:pt x="361901" y="82589"/>
                </a:moveTo>
                <a:lnTo>
                  <a:pt x="361901" y="203034"/>
                </a:lnTo>
                <a:cubicBezTo>
                  <a:pt x="361901" y="239030"/>
                  <a:pt x="391183" y="268312"/>
                  <a:pt x="427179" y="268312"/>
                </a:cubicBezTo>
                <a:lnTo>
                  <a:pt x="547624" y="268312"/>
                </a:lnTo>
                <a:close/>
                <a:moveTo>
                  <a:pt x="113812" y="0"/>
                </a:moveTo>
                <a:lnTo>
                  <a:pt x="338847" y="0"/>
                </a:lnTo>
                <a:cubicBezTo>
                  <a:pt x="339414" y="81"/>
                  <a:pt x="339899" y="81"/>
                  <a:pt x="340465" y="162"/>
                </a:cubicBezTo>
                <a:lnTo>
                  <a:pt x="340789" y="162"/>
                </a:lnTo>
                <a:cubicBezTo>
                  <a:pt x="341922" y="324"/>
                  <a:pt x="343054" y="485"/>
                  <a:pt x="344106" y="809"/>
                </a:cubicBezTo>
                <a:lnTo>
                  <a:pt x="344186" y="809"/>
                </a:lnTo>
                <a:cubicBezTo>
                  <a:pt x="345238" y="1052"/>
                  <a:pt x="346371" y="1456"/>
                  <a:pt x="347422" y="1942"/>
                </a:cubicBezTo>
                <a:lnTo>
                  <a:pt x="347503" y="1942"/>
                </a:lnTo>
                <a:cubicBezTo>
                  <a:pt x="348069" y="2184"/>
                  <a:pt x="348555" y="2427"/>
                  <a:pt x="349040" y="2670"/>
                </a:cubicBezTo>
                <a:lnTo>
                  <a:pt x="349121" y="2670"/>
                </a:lnTo>
                <a:cubicBezTo>
                  <a:pt x="349606" y="2912"/>
                  <a:pt x="350091" y="3155"/>
                  <a:pt x="350576" y="3479"/>
                </a:cubicBezTo>
                <a:cubicBezTo>
                  <a:pt x="350657" y="3560"/>
                  <a:pt x="350739" y="3560"/>
                  <a:pt x="350819" y="3640"/>
                </a:cubicBezTo>
                <a:cubicBezTo>
                  <a:pt x="351224" y="3883"/>
                  <a:pt x="351628" y="4126"/>
                  <a:pt x="352033" y="4449"/>
                </a:cubicBezTo>
                <a:cubicBezTo>
                  <a:pt x="352113" y="4449"/>
                  <a:pt x="352113" y="4530"/>
                  <a:pt x="352194" y="4530"/>
                </a:cubicBezTo>
                <a:lnTo>
                  <a:pt x="353408" y="5501"/>
                </a:lnTo>
                <a:lnTo>
                  <a:pt x="353651" y="5743"/>
                </a:lnTo>
                <a:cubicBezTo>
                  <a:pt x="354055" y="6148"/>
                  <a:pt x="354459" y="6472"/>
                  <a:pt x="354864" y="6876"/>
                </a:cubicBezTo>
                <a:lnTo>
                  <a:pt x="623418" y="275430"/>
                </a:lnTo>
                <a:cubicBezTo>
                  <a:pt x="623822" y="275835"/>
                  <a:pt x="624227" y="276239"/>
                  <a:pt x="624551" y="276643"/>
                </a:cubicBezTo>
                <a:lnTo>
                  <a:pt x="624793" y="276886"/>
                </a:lnTo>
                <a:cubicBezTo>
                  <a:pt x="625117" y="277291"/>
                  <a:pt x="625440" y="277776"/>
                  <a:pt x="625764" y="278180"/>
                </a:cubicBezTo>
                <a:cubicBezTo>
                  <a:pt x="625764" y="278261"/>
                  <a:pt x="625845" y="278342"/>
                  <a:pt x="625845" y="278342"/>
                </a:cubicBezTo>
                <a:cubicBezTo>
                  <a:pt x="626168" y="278747"/>
                  <a:pt x="626491" y="279232"/>
                  <a:pt x="626734" y="279637"/>
                </a:cubicBezTo>
                <a:cubicBezTo>
                  <a:pt x="626815" y="279637"/>
                  <a:pt x="626815" y="279717"/>
                  <a:pt x="626896" y="279798"/>
                </a:cubicBezTo>
                <a:cubicBezTo>
                  <a:pt x="627139" y="280284"/>
                  <a:pt x="627462" y="280769"/>
                  <a:pt x="627705" y="281254"/>
                </a:cubicBezTo>
                <a:cubicBezTo>
                  <a:pt x="627948" y="281739"/>
                  <a:pt x="628190" y="282225"/>
                  <a:pt x="628433" y="282791"/>
                </a:cubicBezTo>
                <a:cubicBezTo>
                  <a:pt x="628918" y="283843"/>
                  <a:pt x="629323" y="284975"/>
                  <a:pt x="629646" y="286107"/>
                </a:cubicBezTo>
                <a:cubicBezTo>
                  <a:pt x="629889" y="287159"/>
                  <a:pt x="630132" y="288291"/>
                  <a:pt x="630293" y="289424"/>
                </a:cubicBezTo>
                <a:lnTo>
                  <a:pt x="630293" y="289667"/>
                </a:lnTo>
                <a:cubicBezTo>
                  <a:pt x="630374" y="290152"/>
                  <a:pt x="630455" y="290718"/>
                  <a:pt x="630455" y="291285"/>
                </a:cubicBezTo>
                <a:lnTo>
                  <a:pt x="630455" y="292579"/>
                </a:lnTo>
                <a:lnTo>
                  <a:pt x="630455" y="606189"/>
                </a:lnTo>
                <a:cubicBezTo>
                  <a:pt x="630455" y="668959"/>
                  <a:pt x="579414" y="720001"/>
                  <a:pt x="516644" y="720001"/>
                </a:cubicBezTo>
                <a:lnTo>
                  <a:pt x="113812" y="720001"/>
                </a:lnTo>
                <a:cubicBezTo>
                  <a:pt x="51042" y="720001"/>
                  <a:pt x="0" y="668959"/>
                  <a:pt x="0" y="606189"/>
                </a:cubicBezTo>
                <a:lnTo>
                  <a:pt x="0" y="113812"/>
                </a:lnTo>
                <a:cubicBezTo>
                  <a:pt x="0" y="51042"/>
                  <a:pt x="51042" y="0"/>
                  <a:pt x="113812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 rot="0" flipH="0" flipV="0">
            <a:off x="2304396" y="5192587"/>
            <a:ext cx="268773" cy="268773"/>
          </a:xfrm>
          <a:custGeom>
            <a:avLst/>
            <a:gdLst>
              <a:gd name="connsiteX0" fmla="*/ 438553 w 720000"/>
              <a:gd name="connsiteY0" fmla="*/ 189601 h 720000"/>
              <a:gd name="connsiteX1" fmla="*/ 503636 w 720000"/>
              <a:gd name="connsiteY1" fmla="*/ 216365 h 720000"/>
              <a:gd name="connsiteX2" fmla="*/ 503636 w 720000"/>
              <a:gd name="connsiteY2" fmla="*/ 346445 h 720000"/>
              <a:gd name="connsiteX3" fmla="*/ 362260 w 720000"/>
              <a:gd name="connsiteY3" fmla="*/ 487907 h 720000"/>
              <a:gd name="connsiteX4" fmla="*/ 191861 w 720000"/>
              <a:gd name="connsiteY4" fmla="*/ 528226 h 720000"/>
              <a:gd name="connsiteX5" fmla="*/ 232180 w 720000"/>
              <a:gd name="connsiteY5" fmla="*/ 357827 h 720000"/>
              <a:gd name="connsiteX6" fmla="*/ 373556 w 720000"/>
              <a:gd name="connsiteY6" fmla="*/ 216452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339581 w 720000"/>
              <a:gd name="connsiteY9" fmla="*/ 182476 h 720000"/>
              <a:gd name="connsiteX10" fmla="*/ 198205 w 720000"/>
              <a:gd name="connsiteY10" fmla="*/ 323852 h 720000"/>
              <a:gd name="connsiteX11" fmla="*/ 141637 w 720000"/>
              <a:gd name="connsiteY11" fmla="*/ 578364 h 720000"/>
              <a:gd name="connsiteX12" fmla="*/ 396149 w 720000"/>
              <a:gd name="connsiteY12" fmla="*/ 521796 h 720000"/>
              <a:gd name="connsiteX13" fmla="*/ 537524 w 720000"/>
              <a:gd name="connsiteY13" fmla="*/ 380420 h 720000"/>
              <a:gd name="connsiteX14" fmla="*/ 537524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0 h 720000"/>
              <a:gd name="connsiteX17" fmla="*/ 600000 w 720000"/>
              <a:gd name="connsiteY17" fmla="*/ 0 h 720000"/>
              <a:gd name="connsiteX18" fmla="*/ 720000 w 720000"/>
              <a:gd name="connsiteY18" fmla="*/ 120000 h 720000"/>
              <a:gd name="connsiteX19" fmla="*/ 720000 w 720000"/>
              <a:gd name="connsiteY19" fmla="*/ 600000 h 720000"/>
              <a:gd name="connsiteX20" fmla="*/ 600000 w 720000"/>
              <a:gd name="connsiteY20" fmla="*/ 720000 h 720000"/>
              <a:gd name="connsiteX21" fmla="*/ 120000 w 720000"/>
              <a:gd name="connsiteY21" fmla="*/ 720000 h 720000"/>
              <a:gd name="connsiteX22" fmla="*/ 0 w 720000"/>
              <a:gd name="connsiteY22" fmla="*/ 600000 h 720000"/>
              <a:gd name="connsiteX23" fmla="*/ 0 w 720000"/>
              <a:gd name="connsiteY23" fmla="*/ 120000 h 720000"/>
              <a:gd name="connsiteX24" fmla="*/ 120000 w 720000"/>
              <a:gd name="connsiteY24" fmla="*/ 0 h 720000"/>
            </a:gdLst>
            <a:rect l="l" t="t" r="r" b="b"/>
            <a:pathLst>
              <a:path w="720000" h="720000">
                <a:moveTo>
                  <a:pt x="438553" y="189601"/>
                </a:moveTo>
                <a:cubicBezTo>
                  <a:pt x="463230" y="189601"/>
                  <a:pt x="486344" y="199073"/>
                  <a:pt x="503636" y="216365"/>
                </a:cubicBezTo>
                <a:cubicBezTo>
                  <a:pt x="539523" y="252252"/>
                  <a:pt x="539523" y="310557"/>
                  <a:pt x="503636" y="346445"/>
                </a:cubicBezTo>
                <a:lnTo>
                  <a:pt x="362260" y="487907"/>
                </a:lnTo>
                <a:cubicBezTo>
                  <a:pt x="342622" y="507545"/>
                  <a:pt x="266503" y="522665"/>
                  <a:pt x="191861" y="528226"/>
                </a:cubicBezTo>
                <a:cubicBezTo>
                  <a:pt x="197336" y="453584"/>
                  <a:pt x="212456" y="377465"/>
                  <a:pt x="232180" y="357827"/>
                </a:cubicBezTo>
                <a:lnTo>
                  <a:pt x="373556" y="216452"/>
                </a:lnTo>
                <a:cubicBezTo>
                  <a:pt x="390761" y="199073"/>
                  <a:pt x="413875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02666" y="141636"/>
                  <a:pt x="366778" y="155278"/>
                  <a:pt x="339581" y="182476"/>
                </a:cubicBezTo>
                <a:lnTo>
                  <a:pt x="198205" y="323852"/>
                </a:lnTo>
                <a:cubicBezTo>
                  <a:pt x="143723" y="378335"/>
                  <a:pt x="141637" y="578364"/>
                  <a:pt x="141637" y="578364"/>
                </a:cubicBezTo>
                <a:cubicBezTo>
                  <a:pt x="141637" y="578364"/>
                  <a:pt x="341753" y="576278"/>
                  <a:pt x="396149" y="521796"/>
                </a:cubicBezTo>
                <a:lnTo>
                  <a:pt x="537524" y="380420"/>
                </a:lnTo>
                <a:cubicBezTo>
                  <a:pt x="592007" y="325938"/>
                  <a:pt x="592007" y="236872"/>
                  <a:pt x="537524" y="182476"/>
                </a:cubicBezTo>
                <a:cubicBezTo>
                  <a:pt x="510327" y="155191"/>
                  <a:pt x="474440" y="141636"/>
                  <a:pt x="438553" y="141636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 rot="0" flipH="0" flipV="0">
            <a:off x="316690" y="373380"/>
            <a:ext cx="8171180" cy="65532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 rot="0" flipH="0" flipV="0">
            <a:off x="783520" y="484345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职业道德与素质</a:t>
            </a: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 rot="0" flipH="0" flipV="0">
            <a:off x="324256" y="626624"/>
            <a:ext cx="402076" cy="402076"/>
          </a:xfrm>
          <a:prstGeom prst="rtTriangl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2">
            <a:alphaModFix amt="100000"/>
          </a:blip>
          <a:srcRect l="2858" t="11915" r="21252" b="11915"/>
          <a:stretch>
            <a:fillRect/>
          </a:stretch>
        </p:blipFill>
        <p:spPr>
          <a:xfrm rot="0" flipH="0" flipV="0"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" name="标题 1"/>
          <p:cNvSpPr txBox="1"/>
          <p:nvPr/>
        </p:nvSpPr>
        <p:spPr>
          <a:xfrm rot="0" flipH="0" flipV="0">
            <a:off x="-1" y="0"/>
            <a:ext cx="10883569" cy="6858000"/>
          </a:xfrm>
          <a:prstGeom prst="rect">
            <a:avLst/>
          </a:prstGeom>
          <a:gradFill>
            <a:gsLst>
              <a:gs pos="12000">
                <a:schemeClr val="bg1"/>
              </a:gs>
              <a:gs pos="80000">
                <a:schemeClr val="bg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421027" y="333692"/>
            <a:ext cx="1321317" cy="164080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1693998" y="6276762"/>
            <a:ext cx="268552" cy="26855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1763397" y="6346151"/>
            <a:ext cx="129755" cy="129774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1273479" y="6276762"/>
            <a:ext cx="268552" cy="26855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1338911" y="6346151"/>
            <a:ext cx="137688" cy="129774"/>
          </a:xfrm>
          <a:custGeom>
            <a:avLst/>
            <a:gdLst>
              <a:gd name="connsiteX0" fmla="*/ 1110072 w 1498885"/>
              <a:gd name="connsiteY0" fmla="*/ 1039039 h 1412736"/>
              <a:gd name="connsiteX1" fmla="*/ 1149511 w 1498885"/>
              <a:gd name="connsiteY1" fmla="*/ 1055363 h 1412736"/>
              <a:gd name="connsiteX2" fmla="*/ 1371451 w 1498885"/>
              <a:gd name="connsiteY2" fmla="*/ 1277303 h 1412736"/>
              <a:gd name="connsiteX3" fmla="*/ 1371451 w 1498885"/>
              <a:gd name="connsiteY3" fmla="*/ 1356182 h 1412736"/>
              <a:gd name="connsiteX4" fmla="*/ 1332012 w 1498885"/>
              <a:gd name="connsiteY4" fmla="*/ 1372553 h 1412736"/>
              <a:gd name="connsiteX5" fmla="*/ 1292572 w 1498885"/>
              <a:gd name="connsiteY5" fmla="*/ 1356182 h 1412736"/>
              <a:gd name="connsiteX6" fmla="*/ 1070632 w 1498885"/>
              <a:gd name="connsiteY6" fmla="*/ 1134242 h 1412736"/>
              <a:gd name="connsiteX7" fmla="*/ 1070632 w 1498885"/>
              <a:gd name="connsiteY7" fmla="*/ 1055363 h 1412736"/>
              <a:gd name="connsiteX8" fmla="*/ 1110072 w 1498885"/>
              <a:gd name="connsiteY8" fmla="*/ 1039039 h 1412736"/>
              <a:gd name="connsiteX9" fmla="*/ 1110072 w 1498885"/>
              <a:gd name="connsiteY9" fmla="*/ 705989 h 1412736"/>
              <a:gd name="connsiteX10" fmla="*/ 1443075 w 1498885"/>
              <a:gd name="connsiteY10" fmla="*/ 705989 h 1412736"/>
              <a:gd name="connsiteX11" fmla="*/ 1498885 w 1498885"/>
              <a:gd name="connsiteY11" fmla="*/ 761800 h 1412736"/>
              <a:gd name="connsiteX12" fmla="*/ 1443075 w 1498885"/>
              <a:gd name="connsiteY12" fmla="*/ 817611 h 1412736"/>
              <a:gd name="connsiteX13" fmla="*/ 1110072 w 1498885"/>
              <a:gd name="connsiteY13" fmla="*/ 817611 h 1412736"/>
              <a:gd name="connsiteX14" fmla="*/ 1054261 w 1498885"/>
              <a:gd name="connsiteY14" fmla="*/ 761800 h 1412736"/>
              <a:gd name="connsiteX15" fmla="*/ 1110072 w 1498885"/>
              <a:gd name="connsiteY15" fmla="*/ 705989 h 1412736"/>
              <a:gd name="connsiteX16" fmla="*/ 1332012 w 1498885"/>
              <a:gd name="connsiteY16" fmla="*/ 151093 h 1412736"/>
              <a:gd name="connsiteX17" fmla="*/ 1371451 w 1498885"/>
              <a:gd name="connsiteY17" fmla="*/ 167418 h 1412736"/>
              <a:gd name="connsiteX18" fmla="*/ 1371451 w 1498885"/>
              <a:gd name="connsiteY18" fmla="*/ 246297 h 1412736"/>
              <a:gd name="connsiteX19" fmla="*/ 1149511 w 1498885"/>
              <a:gd name="connsiteY19" fmla="*/ 468236 h 1412736"/>
              <a:gd name="connsiteX20" fmla="*/ 1110072 w 1498885"/>
              <a:gd name="connsiteY20" fmla="*/ 484608 h 1412736"/>
              <a:gd name="connsiteX21" fmla="*/ 1070632 w 1498885"/>
              <a:gd name="connsiteY21" fmla="*/ 468236 h 1412736"/>
              <a:gd name="connsiteX22" fmla="*/ 1070632 w 1498885"/>
              <a:gd name="connsiteY22" fmla="*/ 389358 h 1412736"/>
              <a:gd name="connsiteX23" fmla="*/ 1292572 w 1498885"/>
              <a:gd name="connsiteY23" fmla="*/ 167418 h 1412736"/>
              <a:gd name="connsiteX24" fmla="*/ 1332012 w 1498885"/>
              <a:gd name="connsiteY24" fmla="*/ 151093 h 1412736"/>
              <a:gd name="connsiteX25" fmla="*/ 709724 w 1498885"/>
              <a:gd name="connsiteY25" fmla="*/ 111607 h 1412736"/>
              <a:gd name="connsiteX26" fmla="*/ 649635 w 1498885"/>
              <a:gd name="connsiteY26" fmla="*/ 127420 h 1412736"/>
              <a:gd name="connsiteX27" fmla="*/ 174129 w 1498885"/>
              <a:gd name="connsiteY27" fmla="*/ 394752 h 1412736"/>
              <a:gd name="connsiteX28" fmla="*/ 111621 w 1498885"/>
              <a:gd name="connsiteY28" fmla="*/ 501536 h 1412736"/>
              <a:gd name="connsiteX29" fmla="*/ 111621 w 1498885"/>
              <a:gd name="connsiteY29" fmla="*/ 910814 h 1412736"/>
              <a:gd name="connsiteX30" fmla="*/ 174129 w 1498885"/>
              <a:gd name="connsiteY30" fmla="*/ 1017598 h 1412736"/>
              <a:gd name="connsiteX31" fmla="*/ 649821 w 1498885"/>
              <a:gd name="connsiteY31" fmla="*/ 1284930 h 1412736"/>
              <a:gd name="connsiteX32" fmla="*/ 771674 w 1498885"/>
              <a:gd name="connsiteY32" fmla="*/ 1283814 h 1412736"/>
              <a:gd name="connsiteX33" fmla="*/ 832321 w 1498885"/>
              <a:gd name="connsiteY33" fmla="*/ 1178146 h 1412736"/>
              <a:gd name="connsiteX34" fmla="*/ 832321 w 1498885"/>
              <a:gd name="connsiteY34" fmla="*/ 234204 h 1412736"/>
              <a:gd name="connsiteX35" fmla="*/ 771674 w 1498885"/>
              <a:gd name="connsiteY35" fmla="*/ 128536 h 1412736"/>
              <a:gd name="connsiteX36" fmla="*/ 709724 w 1498885"/>
              <a:gd name="connsiteY36" fmla="*/ 111607 h 1412736"/>
              <a:gd name="connsiteX37" fmla="*/ 711864 w 1498885"/>
              <a:gd name="connsiteY37" fmla="*/ 9 h 1412736"/>
              <a:gd name="connsiteX38" fmla="*/ 828043 w 1498885"/>
              <a:gd name="connsiteY38" fmla="*/ 32356 h 1412736"/>
              <a:gd name="connsiteX39" fmla="*/ 943942 w 1498885"/>
              <a:gd name="connsiteY39" fmla="*/ 234390 h 1412736"/>
              <a:gd name="connsiteX40" fmla="*/ 943942 w 1498885"/>
              <a:gd name="connsiteY40" fmla="*/ 1178518 h 1412736"/>
              <a:gd name="connsiteX41" fmla="*/ 828043 w 1498885"/>
              <a:gd name="connsiteY41" fmla="*/ 1380552 h 1412736"/>
              <a:gd name="connsiteX42" fmla="*/ 709910 w 1498885"/>
              <a:gd name="connsiteY42" fmla="*/ 1412736 h 1412736"/>
              <a:gd name="connsiteX43" fmla="*/ 595126 w 1498885"/>
              <a:gd name="connsiteY43" fmla="*/ 1382413 h 1412736"/>
              <a:gd name="connsiteX44" fmla="*/ 119435 w 1498885"/>
              <a:gd name="connsiteY44" fmla="*/ 1115080 h 1412736"/>
              <a:gd name="connsiteX45" fmla="*/ 0 w 1498885"/>
              <a:gd name="connsiteY45" fmla="*/ 911000 h 1412736"/>
              <a:gd name="connsiteX46" fmla="*/ 0 w 1498885"/>
              <a:gd name="connsiteY46" fmla="*/ 501722 h 1412736"/>
              <a:gd name="connsiteX47" fmla="*/ 119435 w 1498885"/>
              <a:gd name="connsiteY47" fmla="*/ 297642 h 1412736"/>
              <a:gd name="connsiteX48" fmla="*/ 595126 w 1498885"/>
              <a:gd name="connsiteY48" fmla="*/ 30309 h 1412736"/>
              <a:gd name="connsiteX49" fmla="*/ 711864 w 1498885"/>
              <a:gd name="connsiteY49" fmla="*/ 9 h 1412736"/>
            </a:gdLst>
            <a:rect l="l" t="t" r="r" b="b"/>
            <a:pathLst>
              <a:path w="1498885" h="1412736">
                <a:moveTo>
                  <a:pt x="1110072" y="1039039"/>
                </a:moveTo>
                <a:cubicBezTo>
                  <a:pt x="1124350" y="1039039"/>
                  <a:pt x="1138628" y="1044480"/>
                  <a:pt x="1149511" y="1055363"/>
                </a:cubicBezTo>
                <a:lnTo>
                  <a:pt x="1371451" y="1277303"/>
                </a:lnTo>
                <a:cubicBezTo>
                  <a:pt x="1393217" y="1299070"/>
                  <a:pt x="1393217" y="1334416"/>
                  <a:pt x="1371451" y="1356182"/>
                </a:cubicBezTo>
                <a:cubicBezTo>
                  <a:pt x="1360661" y="1366972"/>
                  <a:pt x="1346336" y="1372553"/>
                  <a:pt x="1332012" y="1372553"/>
                </a:cubicBezTo>
                <a:cubicBezTo>
                  <a:pt x="1317687" y="1372553"/>
                  <a:pt x="1303362" y="1367158"/>
                  <a:pt x="1292572" y="1356182"/>
                </a:cubicBezTo>
                <a:lnTo>
                  <a:pt x="1070632" y="1134242"/>
                </a:lnTo>
                <a:cubicBezTo>
                  <a:pt x="1048866" y="1112476"/>
                  <a:pt x="1048866" y="1077130"/>
                  <a:pt x="1070632" y="1055363"/>
                </a:cubicBezTo>
                <a:cubicBezTo>
                  <a:pt x="1081515" y="1044480"/>
                  <a:pt x="1095793" y="1039039"/>
                  <a:pt x="1110072" y="1039039"/>
                </a:cubicBezTo>
                <a:close/>
                <a:moveTo>
                  <a:pt x="1110072" y="705989"/>
                </a:moveTo>
                <a:lnTo>
                  <a:pt x="1443075" y="705989"/>
                </a:lnTo>
                <a:cubicBezTo>
                  <a:pt x="1473956" y="705989"/>
                  <a:pt x="1498885" y="730918"/>
                  <a:pt x="1498885" y="761800"/>
                </a:cubicBezTo>
                <a:cubicBezTo>
                  <a:pt x="1498885" y="792682"/>
                  <a:pt x="1473770" y="817611"/>
                  <a:pt x="1443075" y="817611"/>
                </a:cubicBezTo>
                <a:lnTo>
                  <a:pt x="1110072" y="817611"/>
                </a:lnTo>
                <a:cubicBezTo>
                  <a:pt x="1079190" y="817611"/>
                  <a:pt x="1054261" y="792682"/>
                  <a:pt x="1054261" y="761800"/>
                </a:cubicBezTo>
                <a:cubicBezTo>
                  <a:pt x="1054261" y="730918"/>
                  <a:pt x="1079190" y="705989"/>
                  <a:pt x="1110072" y="705989"/>
                </a:cubicBezTo>
                <a:close/>
                <a:moveTo>
                  <a:pt x="1332012" y="151093"/>
                </a:moveTo>
                <a:cubicBezTo>
                  <a:pt x="1346290" y="151093"/>
                  <a:pt x="1360568" y="156535"/>
                  <a:pt x="1371451" y="167418"/>
                </a:cubicBezTo>
                <a:cubicBezTo>
                  <a:pt x="1393217" y="189184"/>
                  <a:pt x="1393217" y="224530"/>
                  <a:pt x="1371451" y="246297"/>
                </a:cubicBezTo>
                <a:lnTo>
                  <a:pt x="1149511" y="468236"/>
                </a:lnTo>
                <a:cubicBezTo>
                  <a:pt x="1138721" y="479213"/>
                  <a:pt x="1124396" y="484608"/>
                  <a:pt x="1110072" y="484608"/>
                </a:cubicBezTo>
                <a:cubicBezTo>
                  <a:pt x="1095747" y="484608"/>
                  <a:pt x="1081422" y="479213"/>
                  <a:pt x="1070632" y="468236"/>
                </a:cubicBezTo>
                <a:cubicBezTo>
                  <a:pt x="1048866" y="446470"/>
                  <a:pt x="1048866" y="411124"/>
                  <a:pt x="1070632" y="389358"/>
                </a:cubicBezTo>
                <a:lnTo>
                  <a:pt x="1292572" y="167418"/>
                </a:lnTo>
                <a:cubicBezTo>
                  <a:pt x="1303455" y="156535"/>
                  <a:pt x="1317733" y="151093"/>
                  <a:pt x="1332012" y="151093"/>
                </a:cubicBezTo>
                <a:close/>
                <a:moveTo>
                  <a:pt x="709724" y="111607"/>
                </a:moveTo>
                <a:cubicBezTo>
                  <a:pt x="689074" y="111607"/>
                  <a:pt x="668610" y="116816"/>
                  <a:pt x="649635" y="127420"/>
                </a:cubicBezTo>
                <a:lnTo>
                  <a:pt x="174129" y="394752"/>
                </a:lnTo>
                <a:cubicBezTo>
                  <a:pt x="135620" y="416332"/>
                  <a:pt x="111621" y="457260"/>
                  <a:pt x="111621" y="501536"/>
                </a:cubicBezTo>
                <a:lnTo>
                  <a:pt x="111621" y="910814"/>
                </a:lnTo>
                <a:cubicBezTo>
                  <a:pt x="111621" y="955090"/>
                  <a:pt x="135620" y="996018"/>
                  <a:pt x="174129" y="1017598"/>
                </a:cubicBezTo>
                <a:lnTo>
                  <a:pt x="649821" y="1284930"/>
                </a:lnTo>
                <a:cubicBezTo>
                  <a:pt x="688144" y="1306510"/>
                  <a:pt x="733723" y="1306138"/>
                  <a:pt x="771674" y="1283814"/>
                </a:cubicBezTo>
                <a:cubicBezTo>
                  <a:pt x="809625" y="1261676"/>
                  <a:pt x="832321" y="1222050"/>
                  <a:pt x="832321" y="1178146"/>
                </a:cubicBezTo>
                <a:lnTo>
                  <a:pt x="832321" y="234204"/>
                </a:lnTo>
                <a:cubicBezTo>
                  <a:pt x="832321" y="190113"/>
                  <a:pt x="809625" y="150674"/>
                  <a:pt x="771674" y="128536"/>
                </a:cubicBezTo>
                <a:cubicBezTo>
                  <a:pt x="752326" y="117188"/>
                  <a:pt x="731118" y="111607"/>
                  <a:pt x="709724" y="111607"/>
                </a:cubicBezTo>
                <a:close/>
                <a:moveTo>
                  <a:pt x="711864" y="9"/>
                </a:moveTo>
                <a:cubicBezTo>
                  <a:pt x="751861" y="358"/>
                  <a:pt x="791766" y="11148"/>
                  <a:pt x="828043" y="32356"/>
                </a:cubicBezTo>
                <a:cubicBezTo>
                  <a:pt x="900596" y="74772"/>
                  <a:pt x="943942" y="150302"/>
                  <a:pt x="943942" y="234390"/>
                </a:cubicBezTo>
                <a:lnTo>
                  <a:pt x="943942" y="1178518"/>
                </a:lnTo>
                <a:cubicBezTo>
                  <a:pt x="943942" y="1262606"/>
                  <a:pt x="900596" y="1338136"/>
                  <a:pt x="828043" y="1380552"/>
                </a:cubicBezTo>
                <a:cubicBezTo>
                  <a:pt x="791208" y="1401946"/>
                  <a:pt x="750466" y="1412736"/>
                  <a:pt x="709910" y="1412736"/>
                </a:cubicBezTo>
                <a:cubicBezTo>
                  <a:pt x="670471" y="1412736"/>
                  <a:pt x="631217" y="1402691"/>
                  <a:pt x="595126" y="1382413"/>
                </a:cubicBezTo>
                <a:lnTo>
                  <a:pt x="119435" y="1115080"/>
                </a:lnTo>
                <a:cubicBezTo>
                  <a:pt x="45765" y="1073594"/>
                  <a:pt x="0" y="995460"/>
                  <a:pt x="0" y="911000"/>
                </a:cubicBezTo>
                <a:lnTo>
                  <a:pt x="0" y="501722"/>
                </a:lnTo>
                <a:cubicBezTo>
                  <a:pt x="0" y="417262"/>
                  <a:pt x="45765" y="338942"/>
                  <a:pt x="119435" y="297642"/>
                </a:cubicBezTo>
                <a:lnTo>
                  <a:pt x="595126" y="30309"/>
                </a:lnTo>
                <a:cubicBezTo>
                  <a:pt x="631775" y="9752"/>
                  <a:pt x="671866" y="-340"/>
                  <a:pt x="711864" y="9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852960" y="6276762"/>
            <a:ext cx="268552" cy="26855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920186" y="6346151"/>
            <a:ext cx="134100" cy="129774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432441" y="6276762"/>
            <a:ext cx="268552" cy="26855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506816" y="6346151"/>
            <a:ext cx="119802" cy="129774"/>
          </a:xfrm>
          <a:custGeom>
            <a:avLst/>
            <a:gdLst>
              <a:gd name="connsiteX0" fmla="*/ 712625 w 1425436"/>
              <a:gd name="connsiteY0" fmla="*/ 111621 h 1544091"/>
              <a:gd name="connsiteX1" fmla="*/ 902567 w 1425436"/>
              <a:gd name="connsiteY1" fmla="*/ 190314 h 1544091"/>
              <a:gd name="connsiteX2" fmla="*/ 981260 w 1425436"/>
              <a:gd name="connsiteY2" fmla="*/ 380256 h 1544091"/>
              <a:gd name="connsiteX3" fmla="*/ 902567 w 1425436"/>
              <a:gd name="connsiteY3" fmla="*/ 570198 h 1544091"/>
              <a:gd name="connsiteX4" fmla="*/ 712625 w 1425436"/>
              <a:gd name="connsiteY4" fmla="*/ 648891 h 1544091"/>
              <a:gd name="connsiteX5" fmla="*/ 522684 w 1425436"/>
              <a:gd name="connsiteY5" fmla="*/ 570198 h 1544091"/>
              <a:gd name="connsiteX6" fmla="*/ 444177 w 1425436"/>
              <a:gd name="connsiteY6" fmla="*/ 380070 h 1544091"/>
              <a:gd name="connsiteX7" fmla="*/ 522870 w 1425436"/>
              <a:gd name="connsiteY7" fmla="*/ 190128 h 1544091"/>
              <a:gd name="connsiteX8" fmla="*/ 712625 w 1425436"/>
              <a:gd name="connsiteY8" fmla="*/ 111621 h 1544091"/>
              <a:gd name="connsiteX9" fmla="*/ 712625 w 1425436"/>
              <a:gd name="connsiteY9" fmla="*/ 0 h 1544091"/>
              <a:gd name="connsiteX10" fmla="*/ 332556 w 1425436"/>
              <a:gd name="connsiteY10" fmla="*/ 380070 h 1544091"/>
              <a:gd name="connsiteX11" fmla="*/ 712625 w 1425436"/>
              <a:gd name="connsiteY11" fmla="*/ 760140 h 1544091"/>
              <a:gd name="connsiteX12" fmla="*/ 1092695 w 1425436"/>
              <a:gd name="connsiteY12" fmla="*/ 380070 h 1544091"/>
              <a:gd name="connsiteX13" fmla="*/ 712625 w 1425436"/>
              <a:gd name="connsiteY13" fmla="*/ 0 h 1544091"/>
              <a:gd name="connsiteX14" fmla="*/ 712625 w 1425436"/>
              <a:gd name="connsiteY14" fmla="*/ 943012 h 1544091"/>
              <a:gd name="connsiteX15" fmla="*/ 978842 w 1425436"/>
              <a:gd name="connsiteY15" fmla="*/ 976685 h 1544091"/>
              <a:gd name="connsiteX16" fmla="*/ 1146087 w 1425436"/>
              <a:gd name="connsiteY16" fmla="*/ 1059470 h 1544091"/>
              <a:gd name="connsiteX17" fmla="*/ 1248593 w 1425436"/>
              <a:gd name="connsiteY17" fmla="*/ 1174440 h 1544091"/>
              <a:gd name="connsiteX18" fmla="*/ 1310356 w 1425436"/>
              <a:gd name="connsiteY18" fmla="*/ 1316385 h 1544091"/>
              <a:gd name="connsiteX19" fmla="*/ 1296590 w 1425436"/>
              <a:gd name="connsiteY19" fmla="*/ 1390241 h 1544091"/>
              <a:gd name="connsiteX20" fmla="*/ 1208595 w 1425436"/>
              <a:gd name="connsiteY20" fmla="*/ 1432285 h 1544091"/>
              <a:gd name="connsiteX21" fmla="*/ 216842 w 1425436"/>
              <a:gd name="connsiteY21" fmla="*/ 1432285 h 1544091"/>
              <a:gd name="connsiteX22" fmla="*/ 128847 w 1425436"/>
              <a:gd name="connsiteY22" fmla="*/ 1390241 h 1544091"/>
              <a:gd name="connsiteX23" fmla="*/ 115081 w 1425436"/>
              <a:gd name="connsiteY23" fmla="*/ 1316385 h 1544091"/>
              <a:gd name="connsiteX24" fmla="*/ 176844 w 1425436"/>
              <a:gd name="connsiteY24" fmla="*/ 1174440 h 1544091"/>
              <a:gd name="connsiteX25" fmla="*/ 279350 w 1425436"/>
              <a:gd name="connsiteY25" fmla="*/ 1059470 h 1544091"/>
              <a:gd name="connsiteX26" fmla="*/ 446595 w 1425436"/>
              <a:gd name="connsiteY26" fmla="*/ 976685 h 1544091"/>
              <a:gd name="connsiteX27" fmla="*/ 712625 w 1425436"/>
              <a:gd name="connsiteY27" fmla="*/ 943012 h 1544091"/>
              <a:gd name="connsiteX28" fmla="*/ 712625 w 1425436"/>
              <a:gd name="connsiteY28" fmla="*/ 831391 h 1544091"/>
              <a:gd name="connsiteX29" fmla="*/ 8296 w 1425436"/>
              <a:gd name="connsiteY29" fmla="*/ 1284387 h 1544091"/>
              <a:gd name="connsiteX30" fmla="*/ 216842 w 1425436"/>
              <a:gd name="connsiteY30" fmla="*/ 1544092 h 1544091"/>
              <a:gd name="connsiteX31" fmla="*/ 1208595 w 1425436"/>
              <a:gd name="connsiteY31" fmla="*/ 1544092 h 1544091"/>
              <a:gd name="connsiteX32" fmla="*/ 1417141 w 1425436"/>
              <a:gd name="connsiteY32" fmla="*/ 1284387 h 1544091"/>
              <a:gd name="connsiteX33" fmla="*/ 712625 w 1425436"/>
              <a:gd name="connsiteY33" fmla="*/ 831391 h 1544091"/>
            </a:gdLst>
            <a:rect l="l" t="t" r="r" b="b"/>
            <a:pathLst>
              <a:path w="1425436" h="1544091">
                <a:moveTo>
                  <a:pt x="712625" y="111621"/>
                </a:moveTo>
                <a:cubicBezTo>
                  <a:pt x="784435" y="111621"/>
                  <a:pt x="851780" y="139526"/>
                  <a:pt x="902567" y="190314"/>
                </a:cubicBezTo>
                <a:cubicBezTo>
                  <a:pt x="953355" y="241102"/>
                  <a:pt x="981260" y="308446"/>
                  <a:pt x="981260" y="380256"/>
                </a:cubicBezTo>
                <a:cubicBezTo>
                  <a:pt x="981260" y="452065"/>
                  <a:pt x="953355" y="519410"/>
                  <a:pt x="902567" y="570198"/>
                </a:cubicBezTo>
                <a:cubicBezTo>
                  <a:pt x="851780" y="620985"/>
                  <a:pt x="784435" y="648891"/>
                  <a:pt x="712625" y="648891"/>
                </a:cubicBezTo>
                <a:cubicBezTo>
                  <a:pt x="640816" y="648891"/>
                  <a:pt x="573471" y="620985"/>
                  <a:pt x="522684" y="570198"/>
                </a:cubicBezTo>
                <a:cubicBezTo>
                  <a:pt x="472082" y="519224"/>
                  <a:pt x="444177" y="451693"/>
                  <a:pt x="444177" y="380070"/>
                </a:cubicBezTo>
                <a:cubicBezTo>
                  <a:pt x="444177" y="308446"/>
                  <a:pt x="472082" y="240916"/>
                  <a:pt x="522870" y="190128"/>
                </a:cubicBezTo>
                <a:cubicBezTo>
                  <a:pt x="573471" y="139526"/>
                  <a:pt x="641002" y="111621"/>
                  <a:pt x="712625" y="111621"/>
                </a:cubicBezTo>
                <a:moveTo>
                  <a:pt x="712625" y="0"/>
                </a:moveTo>
                <a:cubicBezTo>
                  <a:pt x="502778" y="0"/>
                  <a:pt x="332556" y="170036"/>
                  <a:pt x="332556" y="380070"/>
                </a:cubicBezTo>
                <a:cubicBezTo>
                  <a:pt x="332556" y="589917"/>
                  <a:pt x="502778" y="760140"/>
                  <a:pt x="712625" y="760140"/>
                </a:cubicBezTo>
                <a:cubicBezTo>
                  <a:pt x="922473" y="760140"/>
                  <a:pt x="1092695" y="589917"/>
                  <a:pt x="1092695" y="380070"/>
                </a:cubicBezTo>
                <a:cubicBezTo>
                  <a:pt x="1092881" y="170036"/>
                  <a:pt x="922659" y="0"/>
                  <a:pt x="712625" y="0"/>
                </a:cubicBezTo>
                <a:close/>
                <a:moveTo>
                  <a:pt x="712625" y="943012"/>
                </a:moveTo>
                <a:cubicBezTo>
                  <a:pt x="813643" y="943012"/>
                  <a:pt x="903126" y="954360"/>
                  <a:pt x="978842" y="976685"/>
                </a:cubicBezTo>
                <a:cubicBezTo>
                  <a:pt x="1043582" y="995846"/>
                  <a:pt x="1099951" y="1023752"/>
                  <a:pt x="1146087" y="1059470"/>
                </a:cubicBezTo>
                <a:cubicBezTo>
                  <a:pt x="1186829" y="1091096"/>
                  <a:pt x="1220315" y="1128675"/>
                  <a:pt x="1248593" y="1174440"/>
                </a:cubicBezTo>
                <a:cubicBezTo>
                  <a:pt x="1273708" y="1215368"/>
                  <a:pt x="1293985" y="1261877"/>
                  <a:pt x="1310356" y="1316385"/>
                </a:cubicBezTo>
                <a:cubicBezTo>
                  <a:pt x="1320774" y="1350801"/>
                  <a:pt x="1306264" y="1377404"/>
                  <a:pt x="1296590" y="1390241"/>
                </a:cubicBezTo>
                <a:cubicBezTo>
                  <a:pt x="1276684" y="1417030"/>
                  <a:pt x="1244686" y="1432285"/>
                  <a:pt x="1208595" y="1432285"/>
                </a:cubicBezTo>
                <a:lnTo>
                  <a:pt x="216842" y="1432285"/>
                </a:lnTo>
                <a:cubicBezTo>
                  <a:pt x="180937" y="1432285"/>
                  <a:pt x="148753" y="1417030"/>
                  <a:pt x="128847" y="1390241"/>
                </a:cubicBezTo>
                <a:cubicBezTo>
                  <a:pt x="119359" y="1377404"/>
                  <a:pt x="104849" y="1350801"/>
                  <a:pt x="115081" y="1316385"/>
                </a:cubicBezTo>
                <a:cubicBezTo>
                  <a:pt x="131452" y="1261877"/>
                  <a:pt x="151543" y="1215368"/>
                  <a:pt x="176844" y="1174440"/>
                </a:cubicBezTo>
                <a:cubicBezTo>
                  <a:pt x="204936" y="1128675"/>
                  <a:pt x="238422" y="1090910"/>
                  <a:pt x="279350" y="1059470"/>
                </a:cubicBezTo>
                <a:cubicBezTo>
                  <a:pt x="325486" y="1023752"/>
                  <a:pt x="381855" y="995846"/>
                  <a:pt x="446595" y="976685"/>
                </a:cubicBezTo>
                <a:cubicBezTo>
                  <a:pt x="522125" y="954360"/>
                  <a:pt x="611794" y="943012"/>
                  <a:pt x="712625" y="943012"/>
                </a:cubicBezTo>
                <a:moveTo>
                  <a:pt x="712625" y="831391"/>
                </a:moveTo>
                <a:cubicBezTo>
                  <a:pt x="244561" y="831391"/>
                  <a:pt x="77501" y="1053331"/>
                  <a:pt x="8296" y="1284387"/>
                </a:cubicBezTo>
                <a:cubicBezTo>
                  <a:pt x="-30771" y="1414611"/>
                  <a:pt x="73037" y="1544092"/>
                  <a:pt x="216842" y="1544092"/>
                </a:cubicBezTo>
                <a:lnTo>
                  <a:pt x="1208595" y="1544092"/>
                </a:lnTo>
                <a:cubicBezTo>
                  <a:pt x="1352400" y="1544092"/>
                  <a:pt x="1456208" y="1414611"/>
                  <a:pt x="1417141" y="1284387"/>
                </a:cubicBezTo>
                <a:cubicBezTo>
                  <a:pt x="1347750" y="1053331"/>
                  <a:pt x="1180690" y="831391"/>
                  <a:pt x="712625" y="83139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1" flipV="0">
            <a:off x="650050" y="1918023"/>
            <a:ext cx="184513" cy="184513"/>
          </a:xfrm>
          <a:custGeom>
            <a:avLst/>
            <a:gdLst>
              <a:gd name="connsiteX0" fmla="*/ 104503 w 184513"/>
              <a:gd name="connsiteY0" fmla="*/ 0 h 184513"/>
              <a:gd name="connsiteX1" fmla="*/ 80010 w 184513"/>
              <a:gd name="connsiteY1" fmla="*/ 0 h 184513"/>
              <a:gd name="connsiteX2" fmla="*/ 80010 w 184513"/>
              <a:gd name="connsiteY2" fmla="*/ 80010 h 184513"/>
              <a:gd name="connsiteX3" fmla="*/ 0 w 184513"/>
              <a:gd name="connsiteY3" fmla="*/ 80010 h 184513"/>
              <a:gd name="connsiteX4" fmla="*/ 0 w 184513"/>
              <a:gd name="connsiteY4" fmla="*/ 104503 h 184513"/>
              <a:gd name="connsiteX5" fmla="*/ 80010 w 184513"/>
              <a:gd name="connsiteY5" fmla="*/ 104503 h 184513"/>
              <a:gd name="connsiteX6" fmla="*/ 80010 w 184513"/>
              <a:gd name="connsiteY6" fmla="*/ 184513 h 184513"/>
              <a:gd name="connsiteX7" fmla="*/ 104503 w 184513"/>
              <a:gd name="connsiteY7" fmla="*/ 184513 h 184513"/>
              <a:gd name="connsiteX8" fmla="*/ 104503 w 184513"/>
              <a:gd name="connsiteY8" fmla="*/ 104503 h 184513"/>
              <a:gd name="connsiteX9" fmla="*/ 184513 w 184513"/>
              <a:gd name="connsiteY9" fmla="*/ 104503 h 184513"/>
              <a:gd name="connsiteX10" fmla="*/ 184513 w 184513"/>
              <a:gd name="connsiteY10" fmla="*/ 80010 h 184513"/>
              <a:gd name="connsiteX11" fmla="*/ 104503 w 184513"/>
              <a:gd name="connsiteY11" fmla="*/ 80010 h 184513"/>
            </a:gdLst>
            <a:rect l="l" t="t" r="r" b="b"/>
            <a:pathLst>
              <a:path w="184513" h="184513">
                <a:moveTo>
                  <a:pt x="104503" y="0"/>
                </a:moveTo>
                <a:lnTo>
                  <a:pt x="80010" y="0"/>
                </a:lnTo>
                <a:lnTo>
                  <a:pt x="80010" y="80010"/>
                </a:lnTo>
                <a:lnTo>
                  <a:pt x="0" y="80010"/>
                </a:lnTo>
                <a:lnTo>
                  <a:pt x="0" y="104503"/>
                </a:lnTo>
                <a:lnTo>
                  <a:pt x="80010" y="104503"/>
                </a:lnTo>
                <a:lnTo>
                  <a:pt x="80010" y="184513"/>
                </a:lnTo>
                <a:lnTo>
                  <a:pt x="104503" y="184513"/>
                </a:lnTo>
                <a:lnTo>
                  <a:pt x="104503" y="104503"/>
                </a:lnTo>
                <a:lnTo>
                  <a:pt x="184513" y="104503"/>
                </a:lnTo>
                <a:lnTo>
                  <a:pt x="184513" y="80010"/>
                </a:lnTo>
                <a:lnTo>
                  <a:pt x="104503" y="80010"/>
                </a:lnTo>
                <a:close/>
              </a:path>
            </a:pathLst>
          </a:custGeom>
          <a:solidFill>
            <a:schemeClr val="accent2"/>
          </a:solidFill>
          <a:ln w="1632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1" flipV="0">
            <a:off x="788366" y="2115629"/>
            <a:ext cx="101867" cy="101867"/>
          </a:xfrm>
          <a:custGeom>
            <a:avLst/>
            <a:gdLst>
              <a:gd name="connsiteX0" fmla="*/ 104503 w 184513"/>
              <a:gd name="connsiteY0" fmla="*/ 0 h 184513"/>
              <a:gd name="connsiteX1" fmla="*/ 80010 w 184513"/>
              <a:gd name="connsiteY1" fmla="*/ 0 h 184513"/>
              <a:gd name="connsiteX2" fmla="*/ 80010 w 184513"/>
              <a:gd name="connsiteY2" fmla="*/ 80010 h 184513"/>
              <a:gd name="connsiteX3" fmla="*/ 0 w 184513"/>
              <a:gd name="connsiteY3" fmla="*/ 80010 h 184513"/>
              <a:gd name="connsiteX4" fmla="*/ 0 w 184513"/>
              <a:gd name="connsiteY4" fmla="*/ 104503 h 184513"/>
              <a:gd name="connsiteX5" fmla="*/ 80010 w 184513"/>
              <a:gd name="connsiteY5" fmla="*/ 104503 h 184513"/>
              <a:gd name="connsiteX6" fmla="*/ 80010 w 184513"/>
              <a:gd name="connsiteY6" fmla="*/ 184513 h 184513"/>
              <a:gd name="connsiteX7" fmla="*/ 104503 w 184513"/>
              <a:gd name="connsiteY7" fmla="*/ 184513 h 184513"/>
              <a:gd name="connsiteX8" fmla="*/ 104503 w 184513"/>
              <a:gd name="connsiteY8" fmla="*/ 104503 h 184513"/>
              <a:gd name="connsiteX9" fmla="*/ 184513 w 184513"/>
              <a:gd name="connsiteY9" fmla="*/ 104503 h 184513"/>
              <a:gd name="connsiteX10" fmla="*/ 184513 w 184513"/>
              <a:gd name="connsiteY10" fmla="*/ 80010 h 184513"/>
              <a:gd name="connsiteX11" fmla="*/ 104503 w 184513"/>
              <a:gd name="connsiteY11" fmla="*/ 80010 h 184513"/>
            </a:gdLst>
            <a:rect l="l" t="t" r="r" b="b"/>
            <a:pathLst>
              <a:path w="184513" h="184513">
                <a:moveTo>
                  <a:pt x="104503" y="0"/>
                </a:moveTo>
                <a:lnTo>
                  <a:pt x="80010" y="0"/>
                </a:lnTo>
                <a:lnTo>
                  <a:pt x="80010" y="80010"/>
                </a:lnTo>
                <a:lnTo>
                  <a:pt x="0" y="80010"/>
                </a:lnTo>
                <a:lnTo>
                  <a:pt x="0" y="104503"/>
                </a:lnTo>
                <a:lnTo>
                  <a:pt x="80010" y="104503"/>
                </a:lnTo>
                <a:lnTo>
                  <a:pt x="80010" y="184513"/>
                </a:lnTo>
                <a:lnTo>
                  <a:pt x="104503" y="184513"/>
                </a:lnTo>
                <a:lnTo>
                  <a:pt x="104503" y="104503"/>
                </a:lnTo>
                <a:lnTo>
                  <a:pt x="184513" y="104503"/>
                </a:lnTo>
                <a:lnTo>
                  <a:pt x="184513" y="80010"/>
                </a:lnTo>
                <a:lnTo>
                  <a:pt x="104503" y="80010"/>
                </a:lnTo>
                <a:close/>
              </a:path>
            </a:pathLst>
          </a:custGeom>
          <a:solidFill>
            <a:schemeClr val="accent1"/>
          </a:solidFill>
          <a:ln w="1632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920186" y="1480632"/>
            <a:ext cx="1179586" cy="14394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3949EE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06</a:t>
            </a:r>
            <a:endParaRPr kumimoji="1" lang="zh-CN" altLang="en-US"/>
          </a:p>
        </p:txBody>
      </p:sp>
      <p:cxnSp>
        <p:nvCxnSpPr>
          <p:cNvPr id="16" name="标题 1"/>
          <p:cNvCxnSpPr/>
          <p:nvPr/>
        </p:nvCxnSpPr>
        <p:spPr>
          <a:xfrm rot="0" flipH="0" flipV="0">
            <a:off x="1929538" y="2580053"/>
            <a:ext cx="672826" cy="0"/>
          </a:xfrm>
          <a:prstGeom prst="line">
            <a:avLst/>
          </a:prstGeom>
          <a:noFill/>
          <a:ln w="12700" cap="sq">
            <a:solidFill>
              <a:schemeClr val="accent2">
                <a:alpha val="50000"/>
              </a:schemeClr>
            </a:solidFill>
            <a:prstDash val="dash"/>
            <a:miter/>
          </a:ln>
        </p:spPr>
      </p:cxnSp>
      <p:sp>
        <p:nvSpPr>
          <p:cNvPr id="17" name="标题 1"/>
          <p:cNvSpPr txBox="1"/>
          <p:nvPr/>
        </p:nvSpPr>
        <p:spPr>
          <a:xfrm rot="0" flipH="0" flipV="0">
            <a:off x="9540239" y="241508"/>
            <a:ext cx="2230733" cy="29733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2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5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0" flipH="0" flipV="0">
            <a:off x="11386534" y="325289"/>
            <a:ext cx="129755" cy="129774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0" flipV="0">
            <a:off x="9743840" y="254366"/>
            <a:ext cx="1542030" cy="24622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PowerPoint design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0" flipH="0" flipV="0">
            <a:off x="920186" y="3027823"/>
            <a:ext cx="4583574" cy="15354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3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幻灯片 6：产品（服务）介绍</a:t>
            </a: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rot="0" flipH="0" flipV="0">
            <a:off x="5319247" y="4306073"/>
            <a:ext cx="184513" cy="184513"/>
          </a:xfrm>
          <a:custGeom>
            <a:avLst/>
            <a:gdLst>
              <a:gd name="connsiteX0" fmla="*/ 104503 w 184513"/>
              <a:gd name="connsiteY0" fmla="*/ 0 h 184513"/>
              <a:gd name="connsiteX1" fmla="*/ 80010 w 184513"/>
              <a:gd name="connsiteY1" fmla="*/ 0 h 184513"/>
              <a:gd name="connsiteX2" fmla="*/ 80010 w 184513"/>
              <a:gd name="connsiteY2" fmla="*/ 80010 h 184513"/>
              <a:gd name="connsiteX3" fmla="*/ 0 w 184513"/>
              <a:gd name="connsiteY3" fmla="*/ 80010 h 184513"/>
              <a:gd name="connsiteX4" fmla="*/ 0 w 184513"/>
              <a:gd name="connsiteY4" fmla="*/ 104503 h 184513"/>
              <a:gd name="connsiteX5" fmla="*/ 80010 w 184513"/>
              <a:gd name="connsiteY5" fmla="*/ 104503 h 184513"/>
              <a:gd name="connsiteX6" fmla="*/ 80010 w 184513"/>
              <a:gd name="connsiteY6" fmla="*/ 184513 h 184513"/>
              <a:gd name="connsiteX7" fmla="*/ 104503 w 184513"/>
              <a:gd name="connsiteY7" fmla="*/ 184513 h 184513"/>
              <a:gd name="connsiteX8" fmla="*/ 104503 w 184513"/>
              <a:gd name="connsiteY8" fmla="*/ 104503 h 184513"/>
              <a:gd name="connsiteX9" fmla="*/ 184513 w 184513"/>
              <a:gd name="connsiteY9" fmla="*/ 104503 h 184513"/>
              <a:gd name="connsiteX10" fmla="*/ 184513 w 184513"/>
              <a:gd name="connsiteY10" fmla="*/ 80010 h 184513"/>
              <a:gd name="connsiteX11" fmla="*/ 104503 w 184513"/>
              <a:gd name="connsiteY11" fmla="*/ 80010 h 184513"/>
            </a:gdLst>
            <a:rect l="l" t="t" r="r" b="b"/>
            <a:pathLst>
              <a:path w="184513" h="184513">
                <a:moveTo>
                  <a:pt x="104503" y="0"/>
                </a:moveTo>
                <a:lnTo>
                  <a:pt x="80010" y="0"/>
                </a:lnTo>
                <a:lnTo>
                  <a:pt x="80010" y="80010"/>
                </a:lnTo>
                <a:lnTo>
                  <a:pt x="0" y="80010"/>
                </a:lnTo>
                <a:lnTo>
                  <a:pt x="0" y="104503"/>
                </a:lnTo>
                <a:lnTo>
                  <a:pt x="80010" y="104503"/>
                </a:lnTo>
                <a:lnTo>
                  <a:pt x="80010" y="184513"/>
                </a:lnTo>
                <a:lnTo>
                  <a:pt x="104503" y="184513"/>
                </a:lnTo>
                <a:lnTo>
                  <a:pt x="104503" y="104503"/>
                </a:lnTo>
                <a:lnTo>
                  <a:pt x="184513" y="104503"/>
                </a:lnTo>
                <a:lnTo>
                  <a:pt x="184513" y="80010"/>
                </a:lnTo>
                <a:lnTo>
                  <a:pt x="104503" y="80010"/>
                </a:lnTo>
                <a:close/>
              </a:path>
            </a:pathLst>
          </a:custGeom>
          <a:solidFill>
            <a:schemeClr val="accent2"/>
          </a:solidFill>
          <a:ln w="1632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rot="0" flipH="0" flipV="0">
            <a:off x="5263577" y="4503679"/>
            <a:ext cx="101867" cy="101867"/>
          </a:xfrm>
          <a:custGeom>
            <a:avLst/>
            <a:gdLst>
              <a:gd name="connsiteX0" fmla="*/ 104503 w 184513"/>
              <a:gd name="connsiteY0" fmla="*/ 0 h 184513"/>
              <a:gd name="connsiteX1" fmla="*/ 80010 w 184513"/>
              <a:gd name="connsiteY1" fmla="*/ 0 h 184513"/>
              <a:gd name="connsiteX2" fmla="*/ 80010 w 184513"/>
              <a:gd name="connsiteY2" fmla="*/ 80010 h 184513"/>
              <a:gd name="connsiteX3" fmla="*/ 0 w 184513"/>
              <a:gd name="connsiteY3" fmla="*/ 80010 h 184513"/>
              <a:gd name="connsiteX4" fmla="*/ 0 w 184513"/>
              <a:gd name="connsiteY4" fmla="*/ 104503 h 184513"/>
              <a:gd name="connsiteX5" fmla="*/ 80010 w 184513"/>
              <a:gd name="connsiteY5" fmla="*/ 104503 h 184513"/>
              <a:gd name="connsiteX6" fmla="*/ 80010 w 184513"/>
              <a:gd name="connsiteY6" fmla="*/ 184513 h 184513"/>
              <a:gd name="connsiteX7" fmla="*/ 104503 w 184513"/>
              <a:gd name="connsiteY7" fmla="*/ 184513 h 184513"/>
              <a:gd name="connsiteX8" fmla="*/ 104503 w 184513"/>
              <a:gd name="connsiteY8" fmla="*/ 104503 h 184513"/>
              <a:gd name="connsiteX9" fmla="*/ 184513 w 184513"/>
              <a:gd name="connsiteY9" fmla="*/ 104503 h 184513"/>
              <a:gd name="connsiteX10" fmla="*/ 184513 w 184513"/>
              <a:gd name="connsiteY10" fmla="*/ 80010 h 184513"/>
              <a:gd name="connsiteX11" fmla="*/ 104503 w 184513"/>
              <a:gd name="connsiteY11" fmla="*/ 80010 h 184513"/>
            </a:gdLst>
            <a:rect l="l" t="t" r="r" b="b"/>
            <a:pathLst>
              <a:path w="184513" h="184513">
                <a:moveTo>
                  <a:pt x="104503" y="0"/>
                </a:moveTo>
                <a:lnTo>
                  <a:pt x="80010" y="0"/>
                </a:lnTo>
                <a:lnTo>
                  <a:pt x="80010" y="80010"/>
                </a:lnTo>
                <a:lnTo>
                  <a:pt x="0" y="80010"/>
                </a:lnTo>
                <a:lnTo>
                  <a:pt x="0" y="104503"/>
                </a:lnTo>
                <a:lnTo>
                  <a:pt x="80010" y="104503"/>
                </a:lnTo>
                <a:lnTo>
                  <a:pt x="80010" y="184513"/>
                </a:lnTo>
                <a:lnTo>
                  <a:pt x="104503" y="184513"/>
                </a:lnTo>
                <a:lnTo>
                  <a:pt x="104503" y="104503"/>
                </a:lnTo>
                <a:lnTo>
                  <a:pt x="184513" y="104503"/>
                </a:lnTo>
                <a:lnTo>
                  <a:pt x="184513" y="80010"/>
                </a:lnTo>
                <a:lnTo>
                  <a:pt x="104503" y="80010"/>
                </a:lnTo>
                <a:close/>
              </a:path>
            </a:pathLst>
          </a:custGeom>
          <a:solidFill>
            <a:schemeClr val="accent1"/>
          </a:solidFill>
          <a:ln w="1632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 rot="21239739" flipH="0" flipV="0">
            <a:off x="340012" y="3241517"/>
            <a:ext cx="5890453" cy="381346"/>
          </a:xfrm>
          <a:prstGeom prst="ellipse">
            <a:avLst/>
          </a:prstGeom>
          <a:noFill/>
          <a:ln w="25400" cap="flat">
            <a:gradFill>
              <a:gsLst>
                <a:gs pos="20000">
                  <a:schemeClr val="accent2">
                    <a:alpha val="0"/>
                  </a:schemeClr>
                </a:gs>
                <a:gs pos="70000">
                  <a:schemeClr val="accent2">
                    <a:alpha val="80000"/>
                  </a:schemeClr>
                </a:gs>
                <a:gs pos="90000">
                  <a:schemeClr val="accent2"/>
                </a:gs>
              </a:gsLst>
              <a:lin ang="5400000" scaled="0"/>
            </a:gradFill>
            <a:miter/>
          </a:ln>
          <a:effectLst/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8592364" y="3032222"/>
            <a:ext cx="2871636" cy="2159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36000" rIns="0" bIns="3600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以 AI 技术为核心，实现设备互联互通和智能化管理，提供个性化、人性化的养老服务，满足老人多样化需求。</a:t>
            </a: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740700" y="3032221"/>
            <a:ext cx="2833068" cy="2159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36000" rIns="0" bIns="36000" rtlCol="0" anchor="ctr"/>
          <a:lstStyle/>
          <a:p>
            <a:pPr algn="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该体系涵盖健康管理、生活照料、安全保障、文化娱乐等全方位服务，通过智能化设备和技术手段，为老人打造舒适、便捷、安全养老生活。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3946281" y="3127969"/>
            <a:ext cx="2282306" cy="1967504"/>
          </a:xfrm>
          <a:prstGeom prst="hexagon">
            <a:avLst/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  <a:effectLst>
            <a:outerShdw dist="12700" blurRad="38100" dir="5400000" sx="100000" sy="100000" kx="0" ky="0" algn="ctr" rotWithShape="0">
              <a:srgbClr val="000000">
                <a:alpha val="15000"/>
              </a:srgbClr>
            </a:outerShdw>
          </a:effectLst>
        </p:spPr>
        <p:txBody>
          <a:bodyPr vert="horz" wrap="square" lIns="0" tIns="0" rIns="0" bIns="45720" rtlCol="0" anchor="b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4792139" y="3825954"/>
            <a:ext cx="590589" cy="571535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5937547" y="3127969"/>
            <a:ext cx="2282306" cy="1967504"/>
          </a:xfrm>
          <a:prstGeom prst="hexagon">
            <a:avLst/>
          </a:prstGeom>
          <a:solidFill>
            <a:schemeClr val="accent1"/>
          </a:solidFill>
          <a:ln w="12700" cap="sq">
            <a:noFill/>
            <a:miter/>
          </a:ln>
          <a:effectLst>
            <a:outerShdw dist="254000" blurRad="762000" dir="5400000" sx="100000" sy="100000" kx="0" ky="0" algn="ctr" rotWithShape="0">
              <a:srgbClr val="000000">
                <a:alpha val="30000"/>
              </a:srgbClr>
            </a:outerShdw>
          </a:effectLst>
        </p:spPr>
        <p:txBody>
          <a:bodyPr vert="horz" wrap="square" lIns="0" tIns="0" rIns="0" bIns="45720" rtlCol="0" anchor="b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6777757" y="3821961"/>
            <a:ext cx="614860" cy="579520"/>
          </a:xfrm>
          <a:custGeom>
            <a:avLst/>
            <a:gdLst>
              <a:gd name="connsiteX0" fmla="*/ 1110072 w 1498885"/>
              <a:gd name="connsiteY0" fmla="*/ 1039039 h 1412736"/>
              <a:gd name="connsiteX1" fmla="*/ 1149511 w 1498885"/>
              <a:gd name="connsiteY1" fmla="*/ 1055363 h 1412736"/>
              <a:gd name="connsiteX2" fmla="*/ 1371451 w 1498885"/>
              <a:gd name="connsiteY2" fmla="*/ 1277303 h 1412736"/>
              <a:gd name="connsiteX3" fmla="*/ 1371451 w 1498885"/>
              <a:gd name="connsiteY3" fmla="*/ 1356182 h 1412736"/>
              <a:gd name="connsiteX4" fmla="*/ 1332012 w 1498885"/>
              <a:gd name="connsiteY4" fmla="*/ 1372553 h 1412736"/>
              <a:gd name="connsiteX5" fmla="*/ 1292572 w 1498885"/>
              <a:gd name="connsiteY5" fmla="*/ 1356182 h 1412736"/>
              <a:gd name="connsiteX6" fmla="*/ 1070632 w 1498885"/>
              <a:gd name="connsiteY6" fmla="*/ 1134242 h 1412736"/>
              <a:gd name="connsiteX7" fmla="*/ 1070632 w 1498885"/>
              <a:gd name="connsiteY7" fmla="*/ 1055363 h 1412736"/>
              <a:gd name="connsiteX8" fmla="*/ 1110072 w 1498885"/>
              <a:gd name="connsiteY8" fmla="*/ 1039039 h 1412736"/>
              <a:gd name="connsiteX9" fmla="*/ 1110072 w 1498885"/>
              <a:gd name="connsiteY9" fmla="*/ 705989 h 1412736"/>
              <a:gd name="connsiteX10" fmla="*/ 1443075 w 1498885"/>
              <a:gd name="connsiteY10" fmla="*/ 705989 h 1412736"/>
              <a:gd name="connsiteX11" fmla="*/ 1498885 w 1498885"/>
              <a:gd name="connsiteY11" fmla="*/ 761800 h 1412736"/>
              <a:gd name="connsiteX12" fmla="*/ 1443075 w 1498885"/>
              <a:gd name="connsiteY12" fmla="*/ 817611 h 1412736"/>
              <a:gd name="connsiteX13" fmla="*/ 1110072 w 1498885"/>
              <a:gd name="connsiteY13" fmla="*/ 817611 h 1412736"/>
              <a:gd name="connsiteX14" fmla="*/ 1054261 w 1498885"/>
              <a:gd name="connsiteY14" fmla="*/ 761800 h 1412736"/>
              <a:gd name="connsiteX15" fmla="*/ 1110072 w 1498885"/>
              <a:gd name="connsiteY15" fmla="*/ 705989 h 1412736"/>
              <a:gd name="connsiteX16" fmla="*/ 1332012 w 1498885"/>
              <a:gd name="connsiteY16" fmla="*/ 151093 h 1412736"/>
              <a:gd name="connsiteX17" fmla="*/ 1371451 w 1498885"/>
              <a:gd name="connsiteY17" fmla="*/ 167418 h 1412736"/>
              <a:gd name="connsiteX18" fmla="*/ 1371451 w 1498885"/>
              <a:gd name="connsiteY18" fmla="*/ 246297 h 1412736"/>
              <a:gd name="connsiteX19" fmla="*/ 1149511 w 1498885"/>
              <a:gd name="connsiteY19" fmla="*/ 468236 h 1412736"/>
              <a:gd name="connsiteX20" fmla="*/ 1110072 w 1498885"/>
              <a:gd name="connsiteY20" fmla="*/ 484608 h 1412736"/>
              <a:gd name="connsiteX21" fmla="*/ 1070632 w 1498885"/>
              <a:gd name="connsiteY21" fmla="*/ 468236 h 1412736"/>
              <a:gd name="connsiteX22" fmla="*/ 1070632 w 1498885"/>
              <a:gd name="connsiteY22" fmla="*/ 389358 h 1412736"/>
              <a:gd name="connsiteX23" fmla="*/ 1292572 w 1498885"/>
              <a:gd name="connsiteY23" fmla="*/ 167418 h 1412736"/>
              <a:gd name="connsiteX24" fmla="*/ 1332012 w 1498885"/>
              <a:gd name="connsiteY24" fmla="*/ 151093 h 1412736"/>
              <a:gd name="connsiteX25" fmla="*/ 709724 w 1498885"/>
              <a:gd name="connsiteY25" fmla="*/ 111607 h 1412736"/>
              <a:gd name="connsiteX26" fmla="*/ 649635 w 1498885"/>
              <a:gd name="connsiteY26" fmla="*/ 127420 h 1412736"/>
              <a:gd name="connsiteX27" fmla="*/ 174129 w 1498885"/>
              <a:gd name="connsiteY27" fmla="*/ 394752 h 1412736"/>
              <a:gd name="connsiteX28" fmla="*/ 111621 w 1498885"/>
              <a:gd name="connsiteY28" fmla="*/ 501536 h 1412736"/>
              <a:gd name="connsiteX29" fmla="*/ 111621 w 1498885"/>
              <a:gd name="connsiteY29" fmla="*/ 910814 h 1412736"/>
              <a:gd name="connsiteX30" fmla="*/ 174129 w 1498885"/>
              <a:gd name="connsiteY30" fmla="*/ 1017598 h 1412736"/>
              <a:gd name="connsiteX31" fmla="*/ 649821 w 1498885"/>
              <a:gd name="connsiteY31" fmla="*/ 1284930 h 1412736"/>
              <a:gd name="connsiteX32" fmla="*/ 771674 w 1498885"/>
              <a:gd name="connsiteY32" fmla="*/ 1283814 h 1412736"/>
              <a:gd name="connsiteX33" fmla="*/ 832321 w 1498885"/>
              <a:gd name="connsiteY33" fmla="*/ 1178146 h 1412736"/>
              <a:gd name="connsiteX34" fmla="*/ 832321 w 1498885"/>
              <a:gd name="connsiteY34" fmla="*/ 234204 h 1412736"/>
              <a:gd name="connsiteX35" fmla="*/ 771674 w 1498885"/>
              <a:gd name="connsiteY35" fmla="*/ 128536 h 1412736"/>
              <a:gd name="connsiteX36" fmla="*/ 709724 w 1498885"/>
              <a:gd name="connsiteY36" fmla="*/ 111607 h 1412736"/>
              <a:gd name="connsiteX37" fmla="*/ 711864 w 1498885"/>
              <a:gd name="connsiteY37" fmla="*/ 9 h 1412736"/>
              <a:gd name="connsiteX38" fmla="*/ 828043 w 1498885"/>
              <a:gd name="connsiteY38" fmla="*/ 32356 h 1412736"/>
              <a:gd name="connsiteX39" fmla="*/ 943942 w 1498885"/>
              <a:gd name="connsiteY39" fmla="*/ 234390 h 1412736"/>
              <a:gd name="connsiteX40" fmla="*/ 943942 w 1498885"/>
              <a:gd name="connsiteY40" fmla="*/ 1178518 h 1412736"/>
              <a:gd name="connsiteX41" fmla="*/ 828043 w 1498885"/>
              <a:gd name="connsiteY41" fmla="*/ 1380552 h 1412736"/>
              <a:gd name="connsiteX42" fmla="*/ 709910 w 1498885"/>
              <a:gd name="connsiteY42" fmla="*/ 1412736 h 1412736"/>
              <a:gd name="connsiteX43" fmla="*/ 595126 w 1498885"/>
              <a:gd name="connsiteY43" fmla="*/ 1382413 h 1412736"/>
              <a:gd name="connsiteX44" fmla="*/ 119435 w 1498885"/>
              <a:gd name="connsiteY44" fmla="*/ 1115080 h 1412736"/>
              <a:gd name="connsiteX45" fmla="*/ 0 w 1498885"/>
              <a:gd name="connsiteY45" fmla="*/ 911000 h 1412736"/>
              <a:gd name="connsiteX46" fmla="*/ 0 w 1498885"/>
              <a:gd name="connsiteY46" fmla="*/ 501722 h 1412736"/>
              <a:gd name="connsiteX47" fmla="*/ 119435 w 1498885"/>
              <a:gd name="connsiteY47" fmla="*/ 297642 h 1412736"/>
              <a:gd name="connsiteX48" fmla="*/ 595126 w 1498885"/>
              <a:gd name="connsiteY48" fmla="*/ 30309 h 1412736"/>
              <a:gd name="connsiteX49" fmla="*/ 711864 w 1498885"/>
              <a:gd name="connsiteY49" fmla="*/ 9 h 1412736"/>
            </a:gdLst>
            <a:rect l="l" t="t" r="r" b="b"/>
            <a:pathLst>
              <a:path w="1498885" h="1412736">
                <a:moveTo>
                  <a:pt x="1110072" y="1039039"/>
                </a:moveTo>
                <a:cubicBezTo>
                  <a:pt x="1124350" y="1039039"/>
                  <a:pt x="1138628" y="1044480"/>
                  <a:pt x="1149511" y="1055363"/>
                </a:cubicBezTo>
                <a:lnTo>
                  <a:pt x="1371451" y="1277303"/>
                </a:lnTo>
                <a:cubicBezTo>
                  <a:pt x="1393217" y="1299070"/>
                  <a:pt x="1393217" y="1334416"/>
                  <a:pt x="1371451" y="1356182"/>
                </a:cubicBezTo>
                <a:cubicBezTo>
                  <a:pt x="1360661" y="1366972"/>
                  <a:pt x="1346336" y="1372553"/>
                  <a:pt x="1332012" y="1372553"/>
                </a:cubicBezTo>
                <a:cubicBezTo>
                  <a:pt x="1317687" y="1372553"/>
                  <a:pt x="1303362" y="1367158"/>
                  <a:pt x="1292572" y="1356182"/>
                </a:cubicBezTo>
                <a:lnTo>
                  <a:pt x="1070632" y="1134242"/>
                </a:lnTo>
                <a:cubicBezTo>
                  <a:pt x="1048866" y="1112476"/>
                  <a:pt x="1048866" y="1077130"/>
                  <a:pt x="1070632" y="1055363"/>
                </a:cubicBezTo>
                <a:cubicBezTo>
                  <a:pt x="1081515" y="1044480"/>
                  <a:pt x="1095793" y="1039039"/>
                  <a:pt x="1110072" y="1039039"/>
                </a:cubicBezTo>
                <a:close/>
                <a:moveTo>
                  <a:pt x="1110072" y="705989"/>
                </a:moveTo>
                <a:lnTo>
                  <a:pt x="1443075" y="705989"/>
                </a:lnTo>
                <a:cubicBezTo>
                  <a:pt x="1473956" y="705989"/>
                  <a:pt x="1498885" y="730918"/>
                  <a:pt x="1498885" y="761800"/>
                </a:cubicBezTo>
                <a:cubicBezTo>
                  <a:pt x="1498885" y="792682"/>
                  <a:pt x="1473770" y="817611"/>
                  <a:pt x="1443075" y="817611"/>
                </a:cubicBezTo>
                <a:lnTo>
                  <a:pt x="1110072" y="817611"/>
                </a:lnTo>
                <a:cubicBezTo>
                  <a:pt x="1079190" y="817611"/>
                  <a:pt x="1054261" y="792682"/>
                  <a:pt x="1054261" y="761800"/>
                </a:cubicBezTo>
                <a:cubicBezTo>
                  <a:pt x="1054261" y="730918"/>
                  <a:pt x="1079190" y="705989"/>
                  <a:pt x="1110072" y="705989"/>
                </a:cubicBezTo>
                <a:close/>
                <a:moveTo>
                  <a:pt x="1332012" y="151093"/>
                </a:moveTo>
                <a:cubicBezTo>
                  <a:pt x="1346290" y="151093"/>
                  <a:pt x="1360568" y="156535"/>
                  <a:pt x="1371451" y="167418"/>
                </a:cubicBezTo>
                <a:cubicBezTo>
                  <a:pt x="1393217" y="189184"/>
                  <a:pt x="1393217" y="224530"/>
                  <a:pt x="1371451" y="246297"/>
                </a:cubicBezTo>
                <a:lnTo>
                  <a:pt x="1149511" y="468236"/>
                </a:lnTo>
                <a:cubicBezTo>
                  <a:pt x="1138721" y="479213"/>
                  <a:pt x="1124396" y="484608"/>
                  <a:pt x="1110072" y="484608"/>
                </a:cubicBezTo>
                <a:cubicBezTo>
                  <a:pt x="1095747" y="484608"/>
                  <a:pt x="1081422" y="479213"/>
                  <a:pt x="1070632" y="468236"/>
                </a:cubicBezTo>
                <a:cubicBezTo>
                  <a:pt x="1048866" y="446470"/>
                  <a:pt x="1048866" y="411124"/>
                  <a:pt x="1070632" y="389358"/>
                </a:cubicBezTo>
                <a:lnTo>
                  <a:pt x="1292572" y="167418"/>
                </a:lnTo>
                <a:cubicBezTo>
                  <a:pt x="1303455" y="156535"/>
                  <a:pt x="1317733" y="151093"/>
                  <a:pt x="1332012" y="151093"/>
                </a:cubicBezTo>
                <a:close/>
                <a:moveTo>
                  <a:pt x="709724" y="111607"/>
                </a:moveTo>
                <a:cubicBezTo>
                  <a:pt x="689074" y="111607"/>
                  <a:pt x="668610" y="116816"/>
                  <a:pt x="649635" y="127420"/>
                </a:cubicBezTo>
                <a:lnTo>
                  <a:pt x="174129" y="394752"/>
                </a:lnTo>
                <a:cubicBezTo>
                  <a:pt x="135620" y="416332"/>
                  <a:pt x="111621" y="457260"/>
                  <a:pt x="111621" y="501536"/>
                </a:cubicBezTo>
                <a:lnTo>
                  <a:pt x="111621" y="910814"/>
                </a:lnTo>
                <a:cubicBezTo>
                  <a:pt x="111621" y="955090"/>
                  <a:pt x="135620" y="996018"/>
                  <a:pt x="174129" y="1017598"/>
                </a:cubicBezTo>
                <a:lnTo>
                  <a:pt x="649821" y="1284930"/>
                </a:lnTo>
                <a:cubicBezTo>
                  <a:pt x="688144" y="1306510"/>
                  <a:pt x="733723" y="1306138"/>
                  <a:pt x="771674" y="1283814"/>
                </a:cubicBezTo>
                <a:cubicBezTo>
                  <a:pt x="809625" y="1261676"/>
                  <a:pt x="832321" y="1222050"/>
                  <a:pt x="832321" y="1178146"/>
                </a:cubicBezTo>
                <a:lnTo>
                  <a:pt x="832321" y="234204"/>
                </a:lnTo>
                <a:cubicBezTo>
                  <a:pt x="832321" y="190113"/>
                  <a:pt x="809625" y="150674"/>
                  <a:pt x="771674" y="128536"/>
                </a:cubicBezTo>
                <a:cubicBezTo>
                  <a:pt x="752326" y="117188"/>
                  <a:pt x="731118" y="111607"/>
                  <a:pt x="709724" y="111607"/>
                </a:cubicBezTo>
                <a:close/>
                <a:moveTo>
                  <a:pt x="711864" y="9"/>
                </a:moveTo>
                <a:cubicBezTo>
                  <a:pt x="751861" y="358"/>
                  <a:pt x="791766" y="11148"/>
                  <a:pt x="828043" y="32356"/>
                </a:cubicBezTo>
                <a:cubicBezTo>
                  <a:pt x="900596" y="74772"/>
                  <a:pt x="943942" y="150302"/>
                  <a:pt x="943942" y="234390"/>
                </a:cubicBezTo>
                <a:lnTo>
                  <a:pt x="943942" y="1178518"/>
                </a:lnTo>
                <a:cubicBezTo>
                  <a:pt x="943942" y="1262606"/>
                  <a:pt x="900596" y="1338136"/>
                  <a:pt x="828043" y="1380552"/>
                </a:cubicBezTo>
                <a:cubicBezTo>
                  <a:pt x="791208" y="1401946"/>
                  <a:pt x="750466" y="1412736"/>
                  <a:pt x="709910" y="1412736"/>
                </a:cubicBezTo>
                <a:cubicBezTo>
                  <a:pt x="670471" y="1412736"/>
                  <a:pt x="631217" y="1402691"/>
                  <a:pt x="595126" y="1382413"/>
                </a:cubicBezTo>
                <a:lnTo>
                  <a:pt x="119435" y="1115080"/>
                </a:lnTo>
                <a:cubicBezTo>
                  <a:pt x="45765" y="1073594"/>
                  <a:pt x="0" y="995460"/>
                  <a:pt x="0" y="911000"/>
                </a:cubicBezTo>
                <a:lnTo>
                  <a:pt x="0" y="501722"/>
                </a:lnTo>
                <a:cubicBezTo>
                  <a:pt x="0" y="417262"/>
                  <a:pt x="45765" y="338942"/>
                  <a:pt x="119435" y="297642"/>
                </a:cubicBezTo>
                <a:lnTo>
                  <a:pt x="595126" y="30309"/>
                </a:lnTo>
                <a:cubicBezTo>
                  <a:pt x="631775" y="9752"/>
                  <a:pt x="671866" y="-340"/>
                  <a:pt x="711864" y="9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1129231" y="1593941"/>
            <a:ext cx="9550400" cy="30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AI 芯颐养院全套智能养老服务体系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829571" y="1620566"/>
            <a:ext cx="139485" cy="894034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316690" y="373380"/>
            <a:ext cx="8171180" cy="65532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783520" y="484345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产品（服务）名称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324256" y="626624"/>
            <a:ext cx="402076" cy="402076"/>
          </a:xfrm>
          <a:prstGeom prst="rtTriangl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7575399" y="933288"/>
            <a:ext cx="863600" cy="5588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4000">
                <a:ln w="12700">
                  <a:noFill/>
                </a:ln>
                <a:solidFill>
                  <a:srgbClr val="00B0F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01</a:t>
            </a: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660400" y="1315387"/>
            <a:ext cx="7992000" cy="1512000"/>
          </a:xfrm>
          <a:prstGeom prst="roundRect">
            <a:avLst>
              <a:gd name="adj" fmla="val 7804"/>
            </a:avLst>
          </a:prstGeom>
          <a:solidFill>
            <a:schemeClr val="bg1"/>
          </a:solidFill>
          <a:ln w="6350" cap="sq">
            <a:solidFill>
              <a:schemeClr val="accent1">
                <a:lumMod val="60000"/>
                <a:lumOff val="40000"/>
              </a:schemeClr>
            </a:solidFill>
            <a:miter/>
          </a:ln>
          <a:effectLst>
            <a:outerShdw dist="127000" blurRad="317500" dir="5400000" sx="100000" sy="100000" kx="0" ky="0" algn="t" rotWithShape="0">
              <a:schemeClr val="accent1">
                <a:lumMod val="75000"/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just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1675597" y="1510516"/>
            <a:ext cx="6732000" cy="28096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健康管理功能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1675599" y="1876779"/>
            <a:ext cx="6732000" cy="8366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897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Subtopic 1：AI 健康监测系统实时采集老人生命体征数据，如心率、血压、血糖等，通过大数据分析及时发现异常并预警，保障老人健康安全。
Subtopic 2：为老人建立专属健康档案，记录健康数据和病史信息，医生根据档案制定个性化康复方案，定期评估康复效果，及时调整方案。
Subtopic 3：智能健康管理系统通过数据分析预测疾病风险，提前干预，减少疾病发生率，同时为老人提供健康咨询和指导服务。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964138" y="1535205"/>
            <a:ext cx="540007" cy="540000"/>
          </a:xfrm>
          <a:custGeom>
            <a:avLst/>
            <a:gdLst>
              <a:gd name="connsiteX0" fmla="*/ 438553 w 720000"/>
              <a:gd name="connsiteY0" fmla="*/ 189601 h 720000"/>
              <a:gd name="connsiteX1" fmla="*/ 373556 w 720000"/>
              <a:gd name="connsiteY1" fmla="*/ 216451 h 720000"/>
              <a:gd name="connsiteX2" fmla="*/ 232180 w 720000"/>
              <a:gd name="connsiteY2" fmla="*/ 357827 h 720000"/>
              <a:gd name="connsiteX3" fmla="*/ 191861 w 720000"/>
              <a:gd name="connsiteY3" fmla="*/ 528226 h 720000"/>
              <a:gd name="connsiteX4" fmla="*/ 362260 w 720000"/>
              <a:gd name="connsiteY4" fmla="*/ 487907 h 720000"/>
              <a:gd name="connsiteX5" fmla="*/ 503636 w 720000"/>
              <a:gd name="connsiteY5" fmla="*/ 346444 h 720000"/>
              <a:gd name="connsiteX6" fmla="*/ 503636 w 720000"/>
              <a:gd name="connsiteY6" fmla="*/ 216365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537524 w 720000"/>
              <a:gd name="connsiteY9" fmla="*/ 182476 h 720000"/>
              <a:gd name="connsiteX10" fmla="*/ 537524 w 720000"/>
              <a:gd name="connsiteY10" fmla="*/ 380420 h 720000"/>
              <a:gd name="connsiteX11" fmla="*/ 396149 w 720000"/>
              <a:gd name="connsiteY11" fmla="*/ 521796 h 720000"/>
              <a:gd name="connsiteX12" fmla="*/ 141637 w 720000"/>
              <a:gd name="connsiteY12" fmla="*/ 578364 h 720000"/>
              <a:gd name="connsiteX13" fmla="*/ 198205 w 720000"/>
              <a:gd name="connsiteY13" fmla="*/ 323852 h 720000"/>
              <a:gd name="connsiteX14" fmla="*/ 339581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47965 h 720000"/>
              <a:gd name="connsiteX17" fmla="*/ 47965 w 720000"/>
              <a:gd name="connsiteY17" fmla="*/ 120000 h 720000"/>
              <a:gd name="connsiteX18" fmla="*/ 47965 w 720000"/>
              <a:gd name="connsiteY18" fmla="*/ 600000 h 720000"/>
              <a:gd name="connsiteX19" fmla="*/ 120000 w 720000"/>
              <a:gd name="connsiteY19" fmla="*/ 672035 h 720000"/>
              <a:gd name="connsiteX20" fmla="*/ 600000 w 720000"/>
              <a:gd name="connsiteY20" fmla="*/ 672035 h 720000"/>
              <a:gd name="connsiteX21" fmla="*/ 672035 w 720000"/>
              <a:gd name="connsiteY21" fmla="*/ 600000 h 720000"/>
              <a:gd name="connsiteX22" fmla="*/ 672035 w 720000"/>
              <a:gd name="connsiteY22" fmla="*/ 120000 h 720000"/>
              <a:gd name="connsiteX23" fmla="*/ 600000 w 720000"/>
              <a:gd name="connsiteY23" fmla="*/ 47965 h 720000"/>
              <a:gd name="connsiteX24" fmla="*/ 120000 w 720000"/>
              <a:gd name="connsiteY24" fmla="*/ 0 h 720000"/>
              <a:gd name="connsiteX25" fmla="*/ 600000 w 720000"/>
              <a:gd name="connsiteY25" fmla="*/ 0 h 720000"/>
              <a:gd name="connsiteX26" fmla="*/ 720000 w 720000"/>
              <a:gd name="connsiteY26" fmla="*/ 120000 h 720000"/>
              <a:gd name="connsiteX27" fmla="*/ 720000 w 720000"/>
              <a:gd name="connsiteY27" fmla="*/ 600000 h 720000"/>
              <a:gd name="connsiteX28" fmla="*/ 600000 w 720000"/>
              <a:gd name="connsiteY28" fmla="*/ 720000 h 720000"/>
              <a:gd name="connsiteX29" fmla="*/ 120000 w 720000"/>
              <a:gd name="connsiteY29" fmla="*/ 720000 h 720000"/>
              <a:gd name="connsiteX30" fmla="*/ 0 w 720000"/>
              <a:gd name="connsiteY30" fmla="*/ 600000 h 720000"/>
              <a:gd name="connsiteX31" fmla="*/ 0 w 720000"/>
              <a:gd name="connsiteY31" fmla="*/ 120000 h 720000"/>
              <a:gd name="connsiteX32" fmla="*/ 120000 w 720000"/>
              <a:gd name="connsiteY32" fmla="*/ 0 h 720000"/>
            </a:gdLst>
            <a:rect l="l" t="t" r="r" b="b"/>
            <a:pathLst>
              <a:path w="720000" h="720000">
                <a:moveTo>
                  <a:pt x="438553" y="189601"/>
                </a:moveTo>
                <a:cubicBezTo>
                  <a:pt x="413875" y="189601"/>
                  <a:pt x="390761" y="199073"/>
                  <a:pt x="373556" y="216451"/>
                </a:cubicBezTo>
                <a:lnTo>
                  <a:pt x="232180" y="357827"/>
                </a:lnTo>
                <a:cubicBezTo>
                  <a:pt x="212456" y="377465"/>
                  <a:pt x="197336" y="453584"/>
                  <a:pt x="191861" y="528226"/>
                </a:cubicBezTo>
                <a:cubicBezTo>
                  <a:pt x="266503" y="522665"/>
                  <a:pt x="342622" y="507545"/>
                  <a:pt x="362260" y="487907"/>
                </a:cubicBezTo>
                <a:lnTo>
                  <a:pt x="503636" y="346444"/>
                </a:lnTo>
                <a:cubicBezTo>
                  <a:pt x="539523" y="310557"/>
                  <a:pt x="539523" y="252252"/>
                  <a:pt x="503636" y="216365"/>
                </a:cubicBezTo>
                <a:cubicBezTo>
                  <a:pt x="486344" y="199073"/>
                  <a:pt x="463230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74440" y="141636"/>
                  <a:pt x="510327" y="155191"/>
                  <a:pt x="537524" y="182476"/>
                </a:cubicBezTo>
                <a:cubicBezTo>
                  <a:pt x="592007" y="236872"/>
                  <a:pt x="592007" y="325938"/>
                  <a:pt x="537524" y="380420"/>
                </a:cubicBezTo>
                <a:lnTo>
                  <a:pt x="396149" y="521796"/>
                </a:lnTo>
                <a:cubicBezTo>
                  <a:pt x="341753" y="576278"/>
                  <a:pt x="141637" y="578364"/>
                  <a:pt x="141637" y="578364"/>
                </a:cubicBezTo>
                <a:cubicBezTo>
                  <a:pt x="141637" y="578364"/>
                  <a:pt x="143723" y="378334"/>
                  <a:pt x="198205" y="323852"/>
                </a:cubicBezTo>
                <a:lnTo>
                  <a:pt x="339581" y="182476"/>
                </a:lnTo>
                <a:cubicBezTo>
                  <a:pt x="366778" y="155278"/>
                  <a:pt x="402666" y="141636"/>
                  <a:pt x="438553" y="141636"/>
                </a:cubicBezTo>
                <a:close/>
                <a:moveTo>
                  <a:pt x="120000" y="47965"/>
                </a:moveTo>
                <a:cubicBezTo>
                  <a:pt x="80290" y="47965"/>
                  <a:pt x="47965" y="80290"/>
                  <a:pt x="47965" y="120000"/>
                </a:cubicBezTo>
                <a:lnTo>
                  <a:pt x="47965" y="600000"/>
                </a:lnTo>
                <a:cubicBezTo>
                  <a:pt x="47965" y="639711"/>
                  <a:pt x="80290" y="672035"/>
                  <a:pt x="120000" y="672035"/>
                </a:cubicBezTo>
                <a:lnTo>
                  <a:pt x="600000" y="672035"/>
                </a:lnTo>
                <a:cubicBezTo>
                  <a:pt x="639711" y="672035"/>
                  <a:pt x="672035" y="639711"/>
                  <a:pt x="672035" y="600000"/>
                </a:cubicBezTo>
                <a:lnTo>
                  <a:pt x="672035" y="120000"/>
                </a:lnTo>
                <a:cubicBezTo>
                  <a:pt x="672035" y="80290"/>
                  <a:pt x="639711" y="47965"/>
                  <a:pt x="600000" y="47965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10441900" y="4340971"/>
            <a:ext cx="863600" cy="5588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4000">
                <a:ln w="12700">
                  <a:noFill/>
                </a:ln>
                <a:solidFill>
                  <a:srgbClr val="00B0F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03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3526900" y="4723700"/>
            <a:ext cx="7992000" cy="1512000"/>
          </a:xfrm>
          <a:prstGeom prst="roundRect">
            <a:avLst>
              <a:gd name="adj" fmla="val 7804"/>
            </a:avLst>
          </a:prstGeom>
          <a:solidFill>
            <a:schemeClr val="bg1"/>
          </a:solidFill>
          <a:ln w="6350" cap="sq">
            <a:solidFill>
              <a:schemeClr val="accent1">
                <a:lumMod val="60000"/>
                <a:lumOff val="40000"/>
              </a:schemeClr>
            </a:solidFill>
            <a:miter/>
          </a:ln>
          <a:effectLst>
            <a:outerShdw dist="127000" blurRad="317500" dir="5400000" sx="100000" sy="100000" kx="0" ky="0" algn="t" rotWithShape="0">
              <a:schemeClr val="accent1">
                <a:lumMod val="75000"/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just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4542099" y="4931177"/>
            <a:ext cx="6732000" cy="28096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安全保障功能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4542099" y="5297440"/>
            <a:ext cx="6732000" cy="8366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897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Subtopic 1：养老院安装智能安防系统，包括门禁系统、视频监控系统、紧急呼叫系统等，全方位保障老人生命财产安全。
Subtopic 2：智能门禁系统可防止陌生人进入，视频监控系统实时监控公共区域情况，紧急呼叫系统让老人在遇到突发情况时能及时呼救，医护人员和安保人员可快速到达现场处理。
Subtopic 3：通过智能设备实时监测养老院环境安全，如烟雾报警、煤气泄漏检测等，确保养老院整体安全运营。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3811041" y="4990191"/>
            <a:ext cx="540000" cy="446653"/>
          </a:xfrm>
          <a:custGeom>
            <a:avLst/>
            <a:gdLst>
              <a:gd name="connsiteX0" fmla="*/ 153878 w 870468"/>
              <a:gd name="connsiteY0" fmla="*/ 353026 h 720000"/>
              <a:gd name="connsiteX1" fmla="*/ 449972 w 870468"/>
              <a:gd name="connsiteY1" fmla="*/ 353026 h 720000"/>
              <a:gd name="connsiteX2" fmla="*/ 489985 w 870468"/>
              <a:gd name="connsiteY2" fmla="*/ 393039 h 720000"/>
              <a:gd name="connsiteX3" fmla="*/ 449972 w 870468"/>
              <a:gd name="connsiteY3" fmla="*/ 433051 h 720000"/>
              <a:gd name="connsiteX4" fmla="*/ 153878 w 870468"/>
              <a:gd name="connsiteY4" fmla="*/ 433051 h 720000"/>
              <a:gd name="connsiteX5" fmla="*/ 113865 w 870468"/>
              <a:gd name="connsiteY5" fmla="*/ 393039 h 720000"/>
              <a:gd name="connsiteX6" fmla="*/ 153878 w 870468"/>
              <a:gd name="connsiteY6" fmla="*/ 353026 h 720000"/>
              <a:gd name="connsiteX7" fmla="*/ 68708 w 870468"/>
              <a:gd name="connsiteY7" fmla="*/ 275858 h 720000"/>
              <a:gd name="connsiteX8" fmla="*/ 68708 w 870468"/>
              <a:gd name="connsiteY8" fmla="*/ 603735 h 720000"/>
              <a:gd name="connsiteX9" fmla="*/ 116266 w 870468"/>
              <a:gd name="connsiteY9" fmla="*/ 651293 h 720000"/>
              <a:gd name="connsiteX10" fmla="*/ 598821 w 870468"/>
              <a:gd name="connsiteY10" fmla="*/ 651293 h 720000"/>
              <a:gd name="connsiteX11" fmla="*/ 754317 w 870468"/>
              <a:gd name="connsiteY11" fmla="*/ 651293 h 720000"/>
              <a:gd name="connsiteX12" fmla="*/ 801875 w 870468"/>
              <a:gd name="connsiteY12" fmla="*/ 603735 h 720000"/>
              <a:gd name="connsiteX13" fmla="*/ 801875 w 870468"/>
              <a:gd name="connsiteY13" fmla="*/ 275858 h 720000"/>
              <a:gd name="connsiteX14" fmla="*/ 598821 w 870468"/>
              <a:gd name="connsiteY14" fmla="*/ 275858 h 720000"/>
              <a:gd name="connsiteX15" fmla="*/ 116266 w 870468"/>
              <a:gd name="connsiteY15" fmla="*/ 68593 h 720000"/>
              <a:gd name="connsiteX16" fmla="*/ 68708 w 870468"/>
              <a:gd name="connsiteY16" fmla="*/ 116151 h 720000"/>
              <a:gd name="connsiteX17" fmla="*/ 68708 w 870468"/>
              <a:gd name="connsiteY17" fmla="*/ 207265 h 720000"/>
              <a:gd name="connsiteX18" fmla="*/ 598821 w 870468"/>
              <a:gd name="connsiteY18" fmla="*/ 207265 h 720000"/>
              <a:gd name="connsiteX19" fmla="*/ 801875 w 870468"/>
              <a:gd name="connsiteY19" fmla="*/ 207265 h 720000"/>
              <a:gd name="connsiteX20" fmla="*/ 801875 w 870468"/>
              <a:gd name="connsiteY20" fmla="*/ 116151 h 720000"/>
              <a:gd name="connsiteX21" fmla="*/ 754317 w 870468"/>
              <a:gd name="connsiteY21" fmla="*/ 68593 h 720000"/>
              <a:gd name="connsiteX22" fmla="*/ 598821 w 870468"/>
              <a:gd name="connsiteY22" fmla="*/ 68593 h 720000"/>
              <a:gd name="connsiteX23" fmla="*/ 116266 w 870468"/>
              <a:gd name="connsiteY23" fmla="*/ 0 h 720000"/>
              <a:gd name="connsiteX24" fmla="*/ 598821 w 870468"/>
              <a:gd name="connsiteY24" fmla="*/ 0 h 720000"/>
              <a:gd name="connsiteX25" fmla="*/ 754317 w 870468"/>
              <a:gd name="connsiteY25" fmla="*/ 0 h 720000"/>
              <a:gd name="connsiteX26" fmla="*/ 870468 w 870468"/>
              <a:gd name="connsiteY26" fmla="*/ 116151 h 720000"/>
              <a:gd name="connsiteX27" fmla="*/ 870468 w 870468"/>
              <a:gd name="connsiteY27" fmla="*/ 241562 h 720000"/>
              <a:gd name="connsiteX28" fmla="*/ 870468 w 870468"/>
              <a:gd name="connsiteY28" fmla="*/ 603735 h 720000"/>
              <a:gd name="connsiteX29" fmla="*/ 754317 w 870468"/>
              <a:gd name="connsiteY29" fmla="*/ 720000 h 720000"/>
              <a:gd name="connsiteX30" fmla="*/ 598821 w 870468"/>
              <a:gd name="connsiteY30" fmla="*/ 720000 h 720000"/>
              <a:gd name="connsiteX31" fmla="*/ 116266 w 870468"/>
              <a:gd name="connsiteY31" fmla="*/ 720000 h 720000"/>
              <a:gd name="connsiteX32" fmla="*/ 115 w 870468"/>
              <a:gd name="connsiteY32" fmla="*/ 603849 h 720000"/>
              <a:gd name="connsiteX33" fmla="*/ 115 w 870468"/>
              <a:gd name="connsiteY33" fmla="*/ 241841 h 720000"/>
              <a:gd name="connsiteX34" fmla="*/ 0 w 870468"/>
              <a:gd name="connsiteY34" fmla="*/ 241562 h 720000"/>
              <a:gd name="connsiteX35" fmla="*/ 115 w 870468"/>
              <a:gd name="connsiteY35" fmla="*/ 241284 h 720000"/>
              <a:gd name="connsiteX36" fmla="*/ 115 w 870468"/>
              <a:gd name="connsiteY36" fmla="*/ 116151 h 720000"/>
              <a:gd name="connsiteX37" fmla="*/ 116266 w 870468"/>
              <a:gd name="connsiteY37" fmla="*/ 0 h 720000"/>
            </a:gdLst>
            <a:rect l="l" t="t" r="r" b="b"/>
            <a:pathLst>
              <a:path w="870468" h="720000">
                <a:moveTo>
                  <a:pt x="153878" y="353026"/>
                </a:moveTo>
                <a:lnTo>
                  <a:pt x="449972" y="353026"/>
                </a:lnTo>
                <a:cubicBezTo>
                  <a:pt x="472036" y="353026"/>
                  <a:pt x="489985" y="370975"/>
                  <a:pt x="489985" y="393039"/>
                </a:cubicBezTo>
                <a:cubicBezTo>
                  <a:pt x="489985" y="415103"/>
                  <a:pt x="472150" y="433051"/>
                  <a:pt x="449972" y="433051"/>
                </a:cubicBezTo>
                <a:lnTo>
                  <a:pt x="153878" y="433051"/>
                </a:lnTo>
                <a:cubicBezTo>
                  <a:pt x="131814" y="433051"/>
                  <a:pt x="113865" y="415103"/>
                  <a:pt x="113865" y="393039"/>
                </a:cubicBezTo>
                <a:cubicBezTo>
                  <a:pt x="113865" y="370975"/>
                  <a:pt x="131814" y="353026"/>
                  <a:pt x="153878" y="353026"/>
                </a:cubicBezTo>
                <a:close/>
                <a:moveTo>
                  <a:pt x="68708" y="275858"/>
                </a:moveTo>
                <a:lnTo>
                  <a:pt x="68708" y="603735"/>
                </a:lnTo>
                <a:cubicBezTo>
                  <a:pt x="68708" y="630029"/>
                  <a:pt x="90087" y="651293"/>
                  <a:pt x="116266" y="651293"/>
                </a:cubicBezTo>
                <a:lnTo>
                  <a:pt x="598821" y="651293"/>
                </a:lnTo>
                <a:lnTo>
                  <a:pt x="754317" y="651293"/>
                </a:lnTo>
                <a:cubicBezTo>
                  <a:pt x="780611" y="651293"/>
                  <a:pt x="801875" y="629915"/>
                  <a:pt x="801875" y="603735"/>
                </a:cubicBezTo>
                <a:lnTo>
                  <a:pt x="801875" y="275858"/>
                </a:lnTo>
                <a:lnTo>
                  <a:pt x="598821" y="275858"/>
                </a:lnTo>
                <a:close/>
                <a:moveTo>
                  <a:pt x="116266" y="68593"/>
                </a:moveTo>
                <a:cubicBezTo>
                  <a:pt x="89972" y="68593"/>
                  <a:pt x="68708" y="89972"/>
                  <a:pt x="68708" y="116151"/>
                </a:cubicBezTo>
                <a:lnTo>
                  <a:pt x="68708" y="207265"/>
                </a:lnTo>
                <a:lnTo>
                  <a:pt x="598821" y="207265"/>
                </a:lnTo>
                <a:lnTo>
                  <a:pt x="801875" y="207265"/>
                </a:lnTo>
                <a:lnTo>
                  <a:pt x="801875" y="116151"/>
                </a:lnTo>
                <a:cubicBezTo>
                  <a:pt x="801875" y="89857"/>
                  <a:pt x="780497" y="68593"/>
                  <a:pt x="754317" y="68593"/>
                </a:cubicBezTo>
                <a:lnTo>
                  <a:pt x="598821" y="68593"/>
                </a:lnTo>
                <a:close/>
                <a:moveTo>
                  <a:pt x="116266" y="0"/>
                </a:moveTo>
                <a:lnTo>
                  <a:pt x="598821" y="0"/>
                </a:lnTo>
                <a:lnTo>
                  <a:pt x="754317" y="0"/>
                </a:lnTo>
                <a:cubicBezTo>
                  <a:pt x="818338" y="0"/>
                  <a:pt x="870468" y="52131"/>
                  <a:pt x="870468" y="116151"/>
                </a:cubicBezTo>
                <a:lnTo>
                  <a:pt x="870468" y="241562"/>
                </a:lnTo>
                <a:lnTo>
                  <a:pt x="870468" y="603735"/>
                </a:lnTo>
                <a:cubicBezTo>
                  <a:pt x="870468" y="667869"/>
                  <a:pt x="818338" y="720000"/>
                  <a:pt x="754317" y="720000"/>
                </a:cubicBezTo>
                <a:lnTo>
                  <a:pt x="598821" y="720000"/>
                </a:lnTo>
                <a:lnTo>
                  <a:pt x="116266" y="720000"/>
                </a:lnTo>
                <a:cubicBezTo>
                  <a:pt x="52246" y="720000"/>
                  <a:pt x="115" y="667869"/>
                  <a:pt x="115" y="603849"/>
                </a:cubicBezTo>
                <a:lnTo>
                  <a:pt x="115" y="241841"/>
                </a:lnTo>
                <a:lnTo>
                  <a:pt x="0" y="241562"/>
                </a:lnTo>
                <a:lnTo>
                  <a:pt x="115" y="241284"/>
                </a:lnTo>
                <a:lnTo>
                  <a:pt x="115" y="116151"/>
                </a:lnTo>
                <a:cubicBezTo>
                  <a:pt x="115" y="52131"/>
                  <a:pt x="52246" y="0"/>
                  <a:pt x="116266" y="0"/>
                </a:cubicBez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9008649" y="2637130"/>
            <a:ext cx="863600" cy="5588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4000">
                <a:ln w="12700">
                  <a:noFill/>
                </a:ln>
                <a:solidFill>
                  <a:srgbClr val="00B0F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02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2093650" y="3019228"/>
            <a:ext cx="7992000" cy="1512000"/>
          </a:xfrm>
          <a:prstGeom prst="roundRect">
            <a:avLst>
              <a:gd name="adj" fmla="val 7804"/>
            </a:avLst>
          </a:prstGeom>
          <a:solidFill>
            <a:schemeClr val="bg1"/>
          </a:solidFill>
          <a:ln w="6350" cap="sq">
            <a:solidFill>
              <a:schemeClr val="accent1">
                <a:lumMod val="60000"/>
                <a:lumOff val="40000"/>
              </a:schemeClr>
            </a:solidFill>
            <a:miter/>
          </a:ln>
          <a:effectLst>
            <a:outerShdw dist="127000" blurRad="317500" dir="5400000" sx="100000" sy="100000" kx="0" ky="0" algn="t" rotWithShape="0">
              <a:schemeClr val="accent1">
                <a:lumMod val="75000"/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just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3108846" y="3214357"/>
            <a:ext cx="6732000" cy="28096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生活娱乐功能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0" flipV="0">
            <a:off x="3108848" y="3580620"/>
            <a:ext cx="6732000" cy="8366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897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Subtopic 1：智能生活辅助设备涵盖智能床、智能马桶等，帮助老人完成日常起居活动，提升生活自理能力，减轻护理人员工作负担。
Subtopic 2：养老院设置多种文化娱乐设施，如智能健身器材、电子阅读设备、老年活动室等，定期组织文化娱乐活动，丰富老人精神文化生活。
Subtopic 3：通过智能设备为老人提供远程社交功能，方便老人与家人、朋友保持联系，增强老人社交互动，提升生活幸福感。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0" flipH="0" flipV="0">
            <a:off x="2397387" y="3254563"/>
            <a:ext cx="540007" cy="508969"/>
          </a:xfrm>
          <a:custGeom>
            <a:avLst/>
            <a:gdLst>
              <a:gd name="connsiteX0" fmla="*/ 1110072 w 1498885"/>
              <a:gd name="connsiteY0" fmla="*/ 1039039 h 1412736"/>
              <a:gd name="connsiteX1" fmla="*/ 1149511 w 1498885"/>
              <a:gd name="connsiteY1" fmla="*/ 1055363 h 1412736"/>
              <a:gd name="connsiteX2" fmla="*/ 1371451 w 1498885"/>
              <a:gd name="connsiteY2" fmla="*/ 1277303 h 1412736"/>
              <a:gd name="connsiteX3" fmla="*/ 1371451 w 1498885"/>
              <a:gd name="connsiteY3" fmla="*/ 1356182 h 1412736"/>
              <a:gd name="connsiteX4" fmla="*/ 1332012 w 1498885"/>
              <a:gd name="connsiteY4" fmla="*/ 1372553 h 1412736"/>
              <a:gd name="connsiteX5" fmla="*/ 1292572 w 1498885"/>
              <a:gd name="connsiteY5" fmla="*/ 1356182 h 1412736"/>
              <a:gd name="connsiteX6" fmla="*/ 1070632 w 1498885"/>
              <a:gd name="connsiteY6" fmla="*/ 1134242 h 1412736"/>
              <a:gd name="connsiteX7" fmla="*/ 1070632 w 1498885"/>
              <a:gd name="connsiteY7" fmla="*/ 1055363 h 1412736"/>
              <a:gd name="connsiteX8" fmla="*/ 1110072 w 1498885"/>
              <a:gd name="connsiteY8" fmla="*/ 1039039 h 1412736"/>
              <a:gd name="connsiteX9" fmla="*/ 1110072 w 1498885"/>
              <a:gd name="connsiteY9" fmla="*/ 705989 h 1412736"/>
              <a:gd name="connsiteX10" fmla="*/ 1443075 w 1498885"/>
              <a:gd name="connsiteY10" fmla="*/ 705989 h 1412736"/>
              <a:gd name="connsiteX11" fmla="*/ 1498885 w 1498885"/>
              <a:gd name="connsiteY11" fmla="*/ 761800 h 1412736"/>
              <a:gd name="connsiteX12" fmla="*/ 1443075 w 1498885"/>
              <a:gd name="connsiteY12" fmla="*/ 817611 h 1412736"/>
              <a:gd name="connsiteX13" fmla="*/ 1110072 w 1498885"/>
              <a:gd name="connsiteY13" fmla="*/ 817611 h 1412736"/>
              <a:gd name="connsiteX14" fmla="*/ 1054261 w 1498885"/>
              <a:gd name="connsiteY14" fmla="*/ 761800 h 1412736"/>
              <a:gd name="connsiteX15" fmla="*/ 1110072 w 1498885"/>
              <a:gd name="connsiteY15" fmla="*/ 705989 h 1412736"/>
              <a:gd name="connsiteX16" fmla="*/ 1332012 w 1498885"/>
              <a:gd name="connsiteY16" fmla="*/ 151093 h 1412736"/>
              <a:gd name="connsiteX17" fmla="*/ 1371451 w 1498885"/>
              <a:gd name="connsiteY17" fmla="*/ 167418 h 1412736"/>
              <a:gd name="connsiteX18" fmla="*/ 1371451 w 1498885"/>
              <a:gd name="connsiteY18" fmla="*/ 246297 h 1412736"/>
              <a:gd name="connsiteX19" fmla="*/ 1149511 w 1498885"/>
              <a:gd name="connsiteY19" fmla="*/ 468236 h 1412736"/>
              <a:gd name="connsiteX20" fmla="*/ 1110072 w 1498885"/>
              <a:gd name="connsiteY20" fmla="*/ 484608 h 1412736"/>
              <a:gd name="connsiteX21" fmla="*/ 1070632 w 1498885"/>
              <a:gd name="connsiteY21" fmla="*/ 468236 h 1412736"/>
              <a:gd name="connsiteX22" fmla="*/ 1070632 w 1498885"/>
              <a:gd name="connsiteY22" fmla="*/ 389358 h 1412736"/>
              <a:gd name="connsiteX23" fmla="*/ 1292572 w 1498885"/>
              <a:gd name="connsiteY23" fmla="*/ 167418 h 1412736"/>
              <a:gd name="connsiteX24" fmla="*/ 1332012 w 1498885"/>
              <a:gd name="connsiteY24" fmla="*/ 151093 h 1412736"/>
              <a:gd name="connsiteX25" fmla="*/ 709724 w 1498885"/>
              <a:gd name="connsiteY25" fmla="*/ 111607 h 1412736"/>
              <a:gd name="connsiteX26" fmla="*/ 649635 w 1498885"/>
              <a:gd name="connsiteY26" fmla="*/ 127420 h 1412736"/>
              <a:gd name="connsiteX27" fmla="*/ 174129 w 1498885"/>
              <a:gd name="connsiteY27" fmla="*/ 394752 h 1412736"/>
              <a:gd name="connsiteX28" fmla="*/ 111621 w 1498885"/>
              <a:gd name="connsiteY28" fmla="*/ 501536 h 1412736"/>
              <a:gd name="connsiteX29" fmla="*/ 111621 w 1498885"/>
              <a:gd name="connsiteY29" fmla="*/ 910814 h 1412736"/>
              <a:gd name="connsiteX30" fmla="*/ 174129 w 1498885"/>
              <a:gd name="connsiteY30" fmla="*/ 1017598 h 1412736"/>
              <a:gd name="connsiteX31" fmla="*/ 649821 w 1498885"/>
              <a:gd name="connsiteY31" fmla="*/ 1284930 h 1412736"/>
              <a:gd name="connsiteX32" fmla="*/ 771674 w 1498885"/>
              <a:gd name="connsiteY32" fmla="*/ 1283814 h 1412736"/>
              <a:gd name="connsiteX33" fmla="*/ 832321 w 1498885"/>
              <a:gd name="connsiteY33" fmla="*/ 1178146 h 1412736"/>
              <a:gd name="connsiteX34" fmla="*/ 832321 w 1498885"/>
              <a:gd name="connsiteY34" fmla="*/ 234204 h 1412736"/>
              <a:gd name="connsiteX35" fmla="*/ 771674 w 1498885"/>
              <a:gd name="connsiteY35" fmla="*/ 128536 h 1412736"/>
              <a:gd name="connsiteX36" fmla="*/ 709724 w 1498885"/>
              <a:gd name="connsiteY36" fmla="*/ 111607 h 1412736"/>
              <a:gd name="connsiteX37" fmla="*/ 711864 w 1498885"/>
              <a:gd name="connsiteY37" fmla="*/ 9 h 1412736"/>
              <a:gd name="connsiteX38" fmla="*/ 828043 w 1498885"/>
              <a:gd name="connsiteY38" fmla="*/ 32356 h 1412736"/>
              <a:gd name="connsiteX39" fmla="*/ 943942 w 1498885"/>
              <a:gd name="connsiteY39" fmla="*/ 234390 h 1412736"/>
              <a:gd name="connsiteX40" fmla="*/ 943942 w 1498885"/>
              <a:gd name="connsiteY40" fmla="*/ 1178518 h 1412736"/>
              <a:gd name="connsiteX41" fmla="*/ 828043 w 1498885"/>
              <a:gd name="connsiteY41" fmla="*/ 1380552 h 1412736"/>
              <a:gd name="connsiteX42" fmla="*/ 709910 w 1498885"/>
              <a:gd name="connsiteY42" fmla="*/ 1412736 h 1412736"/>
              <a:gd name="connsiteX43" fmla="*/ 595126 w 1498885"/>
              <a:gd name="connsiteY43" fmla="*/ 1382413 h 1412736"/>
              <a:gd name="connsiteX44" fmla="*/ 119435 w 1498885"/>
              <a:gd name="connsiteY44" fmla="*/ 1115080 h 1412736"/>
              <a:gd name="connsiteX45" fmla="*/ 0 w 1498885"/>
              <a:gd name="connsiteY45" fmla="*/ 911000 h 1412736"/>
              <a:gd name="connsiteX46" fmla="*/ 0 w 1498885"/>
              <a:gd name="connsiteY46" fmla="*/ 501722 h 1412736"/>
              <a:gd name="connsiteX47" fmla="*/ 119435 w 1498885"/>
              <a:gd name="connsiteY47" fmla="*/ 297642 h 1412736"/>
              <a:gd name="connsiteX48" fmla="*/ 595126 w 1498885"/>
              <a:gd name="connsiteY48" fmla="*/ 30309 h 1412736"/>
              <a:gd name="connsiteX49" fmla="*/ 711864 w 1498885"/>
              <a:gd name="connsiteY49" fmla="*/ 9 h 1412736"/>
            </a:gdLst>
            <a:rect l="l" t="t" r="r" b="b"/>
            <a:pathLst>
              <a:path w="1498885" h="1412736">
                <a:moveTo>
                  <a:pt x="1110072" y="1039039"/>
                </a:moveTo>
                <a:cubicBezTo>
                  <a:pt x="1124350" y="1039039"/>
                  <a:pt x="1138628" y="1044480"/>
                  <a:pt x="1149511" y="1055363"/>
                </a:cubicBezTo>
                <a:lnTo>
                  <a:pt x="1371451" y="1277303"/>
                </a:lnTo>
                <a:cubicBezTo>
                  <a:pt x="1393217" y="1299070"/>
                  <a:pt x="1393217" y="1334416"/>
                  <a:pt x="1371451" y="1356182"/>
                </a:cubicBezTo>
                <a:cubicBezTo>
                  <a:pt x="1360661" y="1366972"/>
                  <a:pt x="1346336" y="1372553"/>
                  <a:pt x="1332012" y="1372553"/>
                </a:cubicBezTo>
                <a:cubicBezTo>
                  <a:pt x="1317687" y="1372553"/>
                  <a:pt x="1303362" y="1367158"/>
                  <a:pt x="1292572" y="1356182"/>
                </a:cubicBezTo>
                <a:lnTo>
                  <a:pt x="1070632" y="1134242"/>
                </a:lnTo>
                <a:cubicBezTo>
                  <a:pt x="1048866" y="1112476"/>
                  <a:pt x="1048866" y="1077130"/>
                  <a:pt x="1070632" y="1055363"/>
                </a:cubicBezTo>
                <a:cubicBezTo>
                  <a:pt x="1081515" y="1044480"/>
                  <a:pt x="1095793" y="1039039"/>
                  <a:pt x="1110072" y="1039039"/>
                </a:cubicBezTo>
                <a:close/>
                <a:moveTo>
                  <a:pt x="1110072" y="705989"/>
                </a:moveTo>
                <a:lnTo>
                  <a:pt x="1443075" y="705989"/>
                </a:lnTo>
                <a:cubicBezTo>
                  <a:pt x="1473956" y="705989"/>
                  <a:pt x="1498885" y="730918"/>
                  <a:pt x="1498885" y="761800"/>
                </a:cubicBezTo>
                <a:cubicBezTo>
                  <a:pt x="1498885" y="792682"/>
                  <a:pt x="1473770" y="817611"/>
                  <a:pt x="1443075" y="817611"/>
                </a:cubicBezTo>
                <a:lnTo>
                  <a:pt x="1110072" y="817611"/>
                </a:lnTo>
                <a:cubicBezTo>
                  <a:pt x="1079190" y="817611"/>
                  <a:pt x="1054261" y="792682"/>
                  <a:pt x="1054261" y="761800"/>
                </a:cubicBezTo>
                <a:cubicBezTo>
                  <a:pt x="1054261" y="730918"/>
                  <a:pt x="1079190" y="705989"/>
                  <a:pt x="1110072" y="705989"/>
                </a:cubicBezTo>
                <a:close/>
                <a:moveTo>
                  <a:pt x="1332012" y="151093"/>
                </a:moveTo>
                <a:cubicBezTo>
                  <a:pt x="1346290" y="151093"/>
                  <a:pt x="1360568" y="156535"/>
                  <a:pt x="1371451" y="167418"/>
                </a:cubicBezTo>
                <a:cubicBezTo>
                  <a:pt x="1393217" y="189184"/>
                  <a:pt x="1393217" y="224530"/>
                  <a:pt x="1371451" y="246297"/>
                </a:cubicBezTo>
                <a:lnTo>
                  <a:pt x="1149511" y="468236"/>
                </a:lnTo>
                <a:cubicBezTo>
                  <a:pt x="1138721" y="479213"/>
                  <a:pt x="1124396" y="484608"/>
                  <a:pt x="1110072" y="484608"/>
                </a:cubicBezTo>
                <a:cubicBezTo>
                  <a:pt x="1095747" y="484608"/>
                  <a:pt x="1081422" y="479213"/>
                  <a:pt x="1070632" y="468236"/>
                </a:cubicBezTo>
                <a:cubicBezTo>
                  <a:pt x="1048866" y="446470"/>
                  <a:pt x="1048866" y="411124"/>
                  <a:pt x="1070632" y="389358"/>
                </a:cubicBezTo>
                <a:lnTo>
                  <a:pt x="1292572" y="167418"/>
                </a:lnTo>
                <a:cubicBezTo>
                  <a:pt x="1303455" y="156535"/>
                  <a:pt x="1317733" y="151093"/>
                  <a:pt x="1332012" y="151093"/>
                </a:cubicBezTo>
                <a:close/>
                <a:moveTo>
                  <a:pt x="709724" y="111607"/>
                </a:moveTo>
                <a:cubicBezTo>
                  <a:pt x="689074" y="111607"/>
                  <a:pt x="668610" y="116816"/>
                  <a:pt x="649635" y="127420"/>
                </a:cubicBezTo>
                <a:lnTo>
                  <a:pt x="174129" y="394752"/>
                </a:lnTo>
                <a:cubicBezTo>
                  <a:pt x="135620" y="416332"/>
                  <a:pt x="111621" y="457260"/>
                  <a:pt x="111621" y="501536"/>
                </a:cubicBezTo>
                <a:lnTo>
                  <a:pt x="111621" y="910814"/>
                </a:lnTo>
                <a:cubicBezTo>
                  <a:pt x="111621" y="955090"/>
                  <a:pt x="135620" y="996018"/>
                  <a:pt x="174129" y="1017598"/>
                </a:cubicBezTo>
                <a:lnTo>
                  <a:pt x="649821" y="1284930"/>
                </a:lnTo>
                <a:cubicBezTo>
                  <a:pt x="688144" y="1306510"/>
                  <a:pt x="733723" y="1306138"/>
                  <a:pt x="771674" y="1283814"/>
                </a:cubicBezTo>
                <a:cubicBezTo>
                  <a:pt x="809625" y="1261676"/>
                  <a:pt x="832321" y="1222050"/>
                  <a:pt x="832321" y="1178146"/>
                </a:cubicBezTo>
                <a:lnTo>
                  <a:pt x="832321" y="234204"/>
                </a:lnTo>
                <a:cubicBezTo>
                  <a:pt x="832321" y="190113"/>
                  <a:pt x="809625" y="150674"/>
                  <a:pt x="771674" y="128536"/>
                </a:cubicBezTo>
                <a:cubicBezTo>
                  <a:pt x="752326" y="117188"/>
                  <a:pt x="731118" y="111607"/>
                  <a:pt x="709724" y="111607"/>
                </a:cubicBezTo>
                <a:close/>
                <a:moveTo>
                  <a:pt x="711864" y="9"/>
                </a:moveTo>
                <a:cubicBezTo>
                  <a:pt x="751861" y="358"/>
                  <a:pt x="791766" y="11148"/>
                  <a:pt x="828043" y="32356"/>
                </a:cubicBezTo>
                <a:cubicBezTo>
                  <a:pt x="900596" y="74772"/>
                  <a:pt x="943942" y="150302"/>
                  <a:pt x="943942" y="234390"/>
                </a:cubicBezTo>
                <a:lnTo>
                  <a:pt x="943942" y="1178518"/>
                </a:lnTo>
                <a:cubicBezTo>
                  <a:pt x="943942" y="1262606"/>
                  <a:pt x="900596" y="1338136"/>
                  <a:pt x="828043" y="1380552"/>
                </a:cubicBezTo>
                <a:cubicBezTo>
                  <a:pt x="791208" y="1401946"/>
                  <a:pt x="750466" y="1412736"/>
                  <a:pt x="709910" y="1412736"/>
                </a:cubicBezTo>
                <a:cubicBezTo>
                  <a:pt x="670471" y="1412736"/>
                  <a:pt x="631217" y="1402691"/>
                  <a:pt x="595126" y="1382413"/>
                </a:cubicBezTo>
                <a:lnTo>
                  <a:pt x="119435" y="1115080"/>
                </a:lnTo>
                <a:cubicBezTo>
                  <a:pt x="45765" y="1073594"/>
                  <a:pt x="0" y="995460"/>
                  <a:pt x="0" y="911000"/>
                </a:cubicBezTo>
                <a:lnTo>
                  <a:pt x="0" y="501722"/>
                </a:lnTo>
                <a:cubicBezTo>
                  <a:pt x="0" y="417262"/>
                  <a:pt x="45765" y="338942"/>
                  <a:pt x="119435" y="297642"/>
                </a:cubicBezTo>
                <a:lnTo>
                  <a:pt x="595126" y="30309"/>
                </a:lnTo>
                <a:cubicBezTo>
                  <a:pt x="631775" y="9752"/>
                  <a:pt x="671866" y="-340"/>
                  <a:pt x="711864" y="9"/>
                </a:cubicBez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0" flipH="0" flipV="0">
            <a:off x="316690" y="373380"/>
            <a:ext cx="8171180" cy="65532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0" flipV="0">
            <a:off x="783520" y="484345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产品（服务）功能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0" flipH="0" flipV="0">
            <a:off x="324256" y="626624"/>
            <a:ext cx="402076" cy="402076"/>
          </a:xfrm>
          <a:prstGeom prst="rtTriangl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1" flipV="1">
            <a:off x="1035973" y="4620190"/>
            <a:ext cx="2933700" cy="260350"/>
          </a:xfrm>
          <a:custGeom>
            <a:avLst/>
            <a:gdLst>
              <a:gd name="connsiteX0" fmla="*/ 0 w 2933700"/>
              <a:gd name="connsiteY0" fmla="*/ 260350 h 260350"/>
              <a:gd name="connsiteX1" fmla="*/ 292100 w 2933700"/>
              <a:gd name="connsiteY1" fmla="*/ 0 h 260350"/>
              <a:gd name="connsiteX2" fmla="*/ 2933700 w 2933700"/>
              <a:gd name="connsiteY2" fmla="*/ 0 h 260350"/>
            </a:gdLst>
            <a:rect l="l" t="t" r="r" b="b"/>
            <a:pathLst>
              <a:path w="2933700" h="260350">
                <a:moveTo>
                  <a:pt x="0" y="260350"/>
                </a:moveTo>
                <a:lnTo>
                  <a:pt x="292100" y="0"/>
                </a:lnTo>
                <a:lnTo>
                  <a:pt x="2933700" y="0"/>
                </a:lnTo>
              </a:path>
            </a:pathLst>
          </a:custGeom>
          <a:noFill/>
          <a:ln w="12700" cap="sq">
            <a:solidFill>
              <a:schemeClr val="accent1">
                <a:lumMod val="40000"/>
                <a:lumOff val="6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1">
            <a:off x="8212858" y="4620190"/>
            <a:ext cx="2933700" cy="260350"/>
          </a:xfrm>
          <a:custGeom>
            <a:avLst/>
            <a:gdLst>
              <a:gd name="connsiteX0" fmla="*/ 0 w 2933700"/>
              <a:gd name="connsiteY0" fmla="*/ 260350 h 260350"/>
              <a:gd name="connsiteX1" fmla="*/ 292100 w 2933700"/>
              <a:gd name="connsiteY1" fmla="*/ 0 h 260350"/>
              <a:gd name="connsiteX2" fmla="*/ 2933700 w 2933700"/>
              <a:gd name="connsiteY2" fmla="*/ 0 h 260350"/>
            </a:gdLst>
            <a:rect l="l" t="t" r="r" b="b"/>
            <a:pathLst>
              <a:path w="2933700" h="260350">
                <a:moveTo>
                  <a:pt x="0" y="260350"/>
                </a:moveTo>
                <a:lnTo>
                  <a:pt x="292100" y="0"/>
                </a:lnTo>
                <a:lnTo>
                  <a:pt x="2933700" y="0"/>
                </a:lnTo>
              </a:path>
            </a:pathLst>
          </a:custGeom>
          <a:noFill/>
          <a:ln w="12700" cap="sq">
            <a:solidFill>
              <a:schemeClr val="accent1">
                <a:lumMod val="40000"/>
                <a:lumOff val="6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7499350" y="2149330"/>
            <a:ext cx="2933700" cy="260350"/>
          </a:xfrm>
          <a:custGeom>
            <a:avLst/>
            <a:gdLst>
              <a:gd name="connsiteX0" fmla="*/ 0 w 2933700"/>
              <a:gd name="connsiteY0" fmla="*/ 260350 h 260350"/>
              <a:gd name="connsiteX1" fmla="*/ 292100 w 2933700"/>
              <a:gd name="connsiteY1" fmla="*/ 0 h 260350"/>
              <a:gd name="connsiteX2" fmla="*/ 2933700 w 2933700"/>
              <a:gd name="connsiteY2" fmla="*/ 0 h 260350"/>
            </a:gdLst>
            <a:rect l="l" t="t" r="r" b="b"/>
            <a:pathLst>
              <a:path w="2933700" h="260350">
                <a:moveTo>
                  <a:pt x="0" y="260350"/>
                </a:moveTo>
                <a:lnTo>
                  <a:pt x="292100" y="0"/>
                </a:lnTo>
                <a:lnTo>
                  <a:pt x="2933700" y="0"/>
                </a:lnTo>
              </a:path>
            </a:pathLst>
          </a:custGeom>
          <a:noFill/>
          <a:ln w="12700" cap="sq">
            <a:solidFill>
              <a:schemeClr val="accent1">
                <a:lumMod val="40000"/>
                <a:lumOff val="6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1" flipV="0">
            <a:off x="1756409" y="2149330"/>
            <a:ext cx="2933700" cy="260350"/>
          </a:xfrm>
          <a:custGeom>
            <a:avLst/>
            <a:gdLst>
              <a:gd name="connsiteX0" fmla="*/ 0 w 2933700"/>
              <a:gd name="connsiteY0" fmla="*/ 260350 h 260350"/>
              <a:gd name="connsiteX1" fmla="*/ 292100 w 2933700"/>
              <a:gd name="connsiteY1" fmla="*/ 0 h 260350"/>
              <a:gd name="connsiteX2" fmla="*/ 2933700 w 2933700"/>
              <a:gd name="connsiteY2" fmla="*/ 0 h 260350"/>
            </a:gdLst>
            <a:rect l="l" t="t" r="r" b="b"/>
            <a:pathLst>
              <a:path w="2933700" h="260350">
                <a:moveTo>
                  <a:pt x="0" y="260350"/>
                </a:moveTo>
                <a:lnTo>
                  <a:pt x="292100" y="0"/>
                </a:lnTo>
                <a:lnTo>
                  <a:pt x="2933700" y="0"/>
                </a:lnTo>
              </a:path>
            </a:pathLst>
          </a:custGeom>
          <a:noFill/>
          <a:ln w="12700" cap="sq">
            <a:solidFill>
              <a:schemeClr val="accent1">
                <a:lumMod val="40000"/>
                <a:lumOff val="6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5400000" flipH="0" flipV="0">
            <a:off x="5322569" y="3535681"/>
            <a:ext cx="1546862" cy="1333500"/>
          </a:xfrm>
          <a:prstGeom prst="hexagon">
            <a:avLst/>
          </a:prstGeom>
          <a:solidFill>
            <a:schemeClr val="accent1"/>
          </a:solidFill>
          <a:ln w="22225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5400000" flipH="0" flipV="0">
            <a:off x="6084569" y="2202181"/>
            <a:ext cx="1546862" cy="1333500"/>
          </a:xfrm>
          <a:prstGeom prst="hexagon">
            <a:avLst/>
          </a:prstGeom>
          <a:solidFill>
            <a:schemeClr val="bg1"/>
          </a:solidFill>
          <a:ln w="22225" cap="sq">
            <a:solidFill>
              <a:schemeClr val="accent3">
                <a:lumMod val="60000"/>
                <a:lumOff val="4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5400000" flipH="0" flipV="0">
            <a:off x="4589144" y="2202181"/>
            <a:ext cx="1546862" cy="1333500"/>
          </a:xfrm>
          <a:prstGeom prst="hexagon">
            <a:avLst/>
          </a:prstGeom>
          <a:solidFill>
            <a:schemeClr val="bg1"/>
          </a:solidFill>
          <a:ln w="22225" cap="sq">
            <a:solidFill>
              <a:schemeClr val="accent3">
                <a:lumMod val="60000"/>
                <a:lumOff val="4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5400000" flipH="0" flipV="0">
            <a:off x="3865244" y="3535681"/>
            <a:ext cx="1546862" cy="1333500"/>
          </a:xfrm>
          <a:prstGeom prst="hexagon">
            <a:avLst/>
          </a:prstGeom>
          <a:solidFill>
            <a:schemeClr val="bg1"/>
          </a:solidFill>
          <a:ln w="22225" cap="sq">
            <a:solidFill>
              <a:schemeClr val="accent3">
                <a:lumMod val="60000"/>
                <a:lumOff val="4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5400000" flipH="0" flipV="0">
            <a:off x="6779894" y="3535681"/>
            <a:ext cx="1546862" cy="1333500"/>
          </a:xfrm>
          <a:prstGeom prst="hexagon">
            <a:avLst/>
          </a:prstGeom>
          <a:solidFill>
            <a:schemeClr val="bg1"/>
          </a:solidFill>
          <a:ln w="22225" cap="sq">
            <a:solidFill>
              <a:schemeClr val="accent3">
                <a:lumMod val="60000"/>
                <a:lumOff val="4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4695825" y="2339036"/>
            <a:ext cx="171450" cy="311944"/>
          </a:xfrm>
          <a:custGeom>
            <a:avLst/>
            <a:gdLst>
              <a:gd name="connsiteX0" fmla="*/ 171450 w 171450"/>
              <a:gd name="connsiteY0" fmla="*/ 0 h 311944"/>
              <a:gd name="connsiteX1" fmla="*/ 0 w 171450"/>
              <a:gd name="connsiteY1" fmla="*/ 90488 h 311944"/>
              <a:gd name="connsiteX2" fmla="*/ 0 w 171450"/>
              <a:gd name="connsiteY2" fmla="*/ 311944 h 311944"/>
            </a:gdLst>
            <a:rect l="l" t="t" r="r" b="b"/>
            <a:pathLst>
              <a:path w="171450" h="311944">
                <a:moveTo>
                  <a:pt x="171450" y="0"/>
                </a:moveTo>
                <a:lnTo>
                  <a:pt x="0" y="90488"/>
                </a:lnTo>
                <a:lnTo>
                  <a:pt x="0" y="311944"/>
                </a:lnTo>
              </a:path>
            </a:pathLst>
          </a:custGeom>
          <a:noFill/>
          <a:ln w="69850" cap="sq">
            <a:solidFill>
              <a:schemeClr val="accent1">
                <a:lumMod val="40000"/>
                <a:lumOff val="6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1" flipV="0">
            <a:off x="7353300" y="2339036"/>
            <a:ext cx="171450" cy="311944"/>
          </a:xfrm>
          <a:custGeom>
            <a:avLst/>
            <a:gdLst>
              <a:gd name="connsiteX0" fmla="*/ 171450 w 171450"/>
              <a:gd name="connsiteY0" fmla="*/ 0 h 311944"/>
              <a:gd name="connsiteX1" fmla="*/ 0 w 171450"/>
              <a:gd name="connsiteY1" fmla="*/ 90488 h 311944"/>
              <a:gd name="connsiteX2" fmla="*/ 0 w 171450"/>
              <a:gd name="connsiteY2" fmla="*/ 311944 h 311944"/>
            </a:gdLst>
            <a:rect l="l" t="t" r="r" b="b"/>
            <a:pathLst>
              <a:path w="171450" h="311944">
                <a:moveTo>
                  <a:pt x="171450" y="0"/>
                </a:moveTo>
                <a:lnTo>
                  <a:pt x="0" y="90488"/>
                </a:lnTo>
                <a:lnTo>
                  <a:pt x="0" y="311944"/>
                </a:lnTo>
              </a:path>
            </a:pathLst>
          </a:custGeom>
          <a:noFill/>
          <a:ln w="69850" cap="sq">
            <a:solidFill>
              <a:schemeClr val="accent1">
                <a:lumMod val="40000"/>
                <a:lumOff val="6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1">
            <a:off x="3971925" y="4418662"/>
            <a:ext cx="171450" cy="311944"/>
          </a:xfrm>
          <a:custGeom>
            <a:avLst/>
            <a:gdLst>
              <a:gd name="connsiteX0" fmla="*/ 171450 w 171450"/>
              <a:gd name="connsiteY0" fmla="*/ 0 h 311944"/>
              <a:gd name="connsiteX1" fmla="*/ 0 w 171450"/>
              <a:gd name="connsiteY1" fmla="*/ 90488 h 311944"/>
              <a:gd name="connsiteX2" fmla="*/ 0 w 171450"/>
              <a:gd name="connsiteY2" fmla="*/ 311944 h 311944"/>
            </a:gdLst>
            <a:rect l="l" t="t" r="r" b="b"/>
            <a:pathLst>
              <a:path w="171450" h="311944">
                <a:moveTo>
                  <a:pt x="171450" y="0"/>
                </a:moveTo>
                <a:lnTo>
                  <a:pt x="0" y="90488"/>
                </a:lnTo>
                <a:lnTo>
                  <a:pt x="0" y="311944"/>
                </a:lnTo>
              </a:path>
            </a:pathLst>
          </a:custGeom>
          <a:noFill/>
          <a:ln w="69850" cap="sq">
            <a:solidFill>
              <a:schemeClr val="accent1">
                <a:lumMod val="40000"/>
                <a:lumOff val="6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1" flipV="1">
            <a:off x="8048625" y="4418662"/>
            <a:ext cx="171450" cy="311944"/>
          </a:xfrm>
          <a:custGeom>
            <a:avLst/>
            <a:gdLst>
              <a:gd name="connsiteX0" fmla="*/ 171450 w 171450"/>
              <a:gd name="connsiteY0" fmla="*/ 0 h 311944"/>
              <a:gd name="connsiteX1" fmla="*/ 0 w 171450"/>
              <a:gd name="connsiteY1" fmla="*/ 90488 h 311944"/>
              <a:gd name="connsiteX2" fmla="*/ 0 w 171450"/>
              <a:gd name="connsiteY2" fmla="*/ 311944 h 311944"/>
            </a:gdLst>
            <a:rect l="l" t="t" r="r" b="b"/>
            <a:pathLst>
              <a:path w="171450" h="311944">
                <a:moveTo>
                  <a:pt x="171450" y="0"/>
                </a:moveTo>
                <a:lnTo>
                  <a:pt x="0" y="90488"/>
                </a:lnTo>
                <a:lnTo>
                  <a:pt x="0" y="311944"/>
                </a:lnTo>
              </a:path>
            </a:pathLst>
          </a:custGeom>
          <a:noFill/>
          <a:ln w="69850" cap="sq">
            <a:solidFill>
              <a:schemeClr val="accent1">
                <a:lumMod val="40000"/>
                <a:lumOff val="6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0" flipV="0">
            <a:off x="5066543" y="2548256"/>
            <a:ext cx="592065" cy="641350"/>
          </a:xfrm>
          <a:custGeom>
            <a:avLst/>
            <a:gdLst>
              <a:gd name="connsiteX0" fmla="*/ 712625 w 1425436"/>
              <a:gd name="connsiteY0" fmla="*/ 111621 h 1544091"/>
              <a:gd name="connsiteX1" fmla="*/ 902567 w 1425436"/>
              <a:gd name="connsiteY1" fmla="*/ 190314 h 1544091"/>
              <a:gd name="connsiteX2" fmla="*/ 981260 w 1425436"/>
              <a:gd name="connsiteY2" fmla="*/ 380256 h 1544091"/>
              <a:gd name="connsiteX3" fmla="*/ 902567 w 1425436"/>
              <a:gd name="connsiteY3" fmla="*/ 570198 h 1544091"/>
              <a:gd name="connsiteX4" fmla="*/ 712625 w 1425436"/>
              <a:gd name="connsiteY4" fmla="*/ 648891 h 1544091"/>
              <a:gd name="connsiteX5" fmla="*/ 522684 w 1425436"/>
              <a:gd name="connsiteY5" fmla="*/ 570198 h 1544091"/>
              <a:gd name="connsiteX6" fmla="*/ 444177 w 1425436"/>
              <a:gd name="connsiteY6" fmla="*/ 380070 h 1544091"/>
              <a:gd name="connsiteX7" fmla="*/ 522870 w 1425436"/>
              <a:gd name="connsiteY7" fmla="*/ 190128 h 1544091"/>
              <a:gd name="connsiteX8" fmla="*/ 712625 w 1425436"/>
              <a:gd name="connsiteY8" fmla="*/ 111621 h 1544091"/>
              <a:gd name="connsiteX9" fmla="*/ 712625 w 1425436"/>
              <a:gd name="connsiteY9" fmla="*/ 0 h 1544091"/>
              <a:gd name="connsiteX10" fmla="*/ 332556 w 1425436"/>
              <a:gd name="connsiteY10" fmla="*/ 380070 h 1544091"/>
              <a:gd name="connsiteX11" fmla="*/ 712625 w 1425436"/>
              <a:gd name="connsiteY11" fmla="*/ 760140 h 1544091"/>
              <a:gd name="connsiteX12" fmla="*/ 1092695 w 1425436"/>
              <a:gd name="connsiteY12" fmla="*/ 380070 h 1544091"/>
              <a:gd name="connsiteX13" fmla="*/ 712625 w 1425436"/>
              <a:gd name="connsiteY13" fmla="*/ 0 h 1544091"/>
              <a:gd name="connsiteX14" fmla="*/ 712625 w 1425436"/>
              <a:gd name="connsiteY14" fmla="*/ 943012 h 1544091"/>
              <a:gd name="connsiteX15" fmla="*/ 978842 w 1425436"/>
              <a:gd name="connsiteY15" fmla="*/ 976685 h 1544091"/>
              <a:gd name="connsiteX16" fmla="*/ 1146087 w 1425436"/>
              <a:gd name="connsiteY16" fmla="*/ 1059470 h 1544091"/>
              <a:gd name="connsiteX17" fmla="*/ 1248593 w 1425436"/>
              <a:gd name="connsiteY17" fmla="*/ 1174440 h 1544091"/>
              <a:gd name="connsiteX18" fmla="*/ 1310356 w 1425436"/>
              <a:gd name="connsiteY18" fmla="*/ 1316385 h 1544091"/>
              <a:gd name="connsiteX19" fmla="*/ 1296590 w 1425436"/>
              <a:gd name="connsiteY19" fmla="*/ 1390241 h 1544091"/>
              <a:gd name="connsiteX20" fmla="*/ 1208595 w 1425436"/>
              <a:gd name="connsiteY20" fmla="*/ 1432285 h 1544091"/>
              <a:gd name="connsiteX21" fmla="*/ 216842 w 1425436"/>
              <a:gd name="connsiteY21" fmla="*/ 1432285 h 1544091"/>
              <a:gd name="connsiteX22" fmla="*/ 128847 w 1425436"/>
              <a:gd name="connsiteY22" fmla="*/ 1390241 h 1544091"/>
              <a:gd name="connsiteX23" fmla="*/ 115081 w 1425436"/>
              <a:gd name="connsiteY23" fmla="*/ 1316385 h 1544091"/>
              <a:gd name="connsiteX24" fmla="*/ 176844 w 1425436"/>
              <a:gd name="connsiteY24" fmla="*/ 1174440 h 1544091"/>
              <a:gd name="connsiteX25" fmla="*/ 279350 w 1425436"/>
              <a:gd name="connsiteY25" fmla="*/ 1059470 h 1544091"/>
              <a:gd name="connsiteX26" fmla="*/ 446595 w 1425436"/>
              <a:gd name="connsiteY26" fmla="*/ 976685 h 1544091"/>
              <a:gd name="connsiteX27" fmla="*/ 712625 w 1425436"/>
              <a:gd name="connsiteY27" fmla="*/ 943012 h 1544091"/>
              <a:gd name="connsiteX28" fmla="*/ 712625 w 1425436"/>
              <a:gd name="connsiteY28" fmla="*/ 831391 h 1544091"/>
              <a:gd name="connsiteX29" fmla="*/ 8296 w 1425436"/>
              <a:gd name="connsiteY29" fmla="*/ 1284387 h 1544091"/>
              <a:gd name="connsiteX30" fmla="*/ 216842 w 1425436"/>
              <a:gd name="connsiteY30" fmla="*/ 1544092 h 1544091"/>
              <a:gd name="connsiteX31" fmla="*/ 1208595 w 1425436"/>
              <a:gd name="connsiteY31" fmla="*/ 1544092 h 1544091"/>
              <a:gd name="connsiteX32" fmla="*/ 1417141 w 1425436"/>
              <a:gd name="connsiteY32" fmla="*/ 1284387 h 1544091"/>
              <a:gd name="connsiteX33" fmla="*/ 712625 w 1425436"/>
              <a:gd name="connsiteY33" fmla="*/ 831391 h 1544091"/>
            </a:gdLst>
            <a:rect l="l" t="t" r="r" b="b"/>
            <a:pathLst>
              <a:path w="1425436" h="1544091">
                <a:moveTo>
                  <a:pt x="712625" y="111621"/>
                </a:moveTo>
                <a:cubicBezTo>
                  <a:pt x="784435" y="111621"/>
                  <a:pt x="851780" y="139526"/>
                  <a:pt x="902567" y="190314"/>
                </a:cubicBezTo>
                <a:cubicBezTo>
                  <a:pt x="953355" y="241102"/>
                  <a:pt x="981260" y="308446"/>
                  <a:pt x="981260" y="380256"/>
                </a:cubicBezTo>
                <a:cubicBezTo>
                  <a:pt x="981260" y="452065"/>
                  <a:pt x="953355" y="519410"/>
                  <a:pt x="902567" y="570198"/>
                </a:cubicBezTo>
                <a:cubicBezTo>
                  <a:pt x="851780" y="620985"/>
                  <a:pt x="784435" y="648891"/>
                  <a:pt x="712625" y="648891"/>
                </a:cubicBezTo>
                <a:cubicBezTo>
                  <a:pt x="640816" y="648891"/>
                  <a:pt x="573471" y="620985"/>
                  <a:pt x="522684" y="570198"/>
                </a:cubicBezTo>
                <a:cubicBezTo>
                  <a:pt x="472082" y="519224"/>
                  <a:pt x="444177" y="451693"/>
                  <a:pt x="444177" y="380070"/>
                </a:cubicBezTo>
                <a:cubicBezTo>
                  <a:pt x="444177" y="308446"/>
                  <a:pt x="472082" y="240916"/>
                  <a:pt x="522870" y="190128"/>
                </a:cubicBezTo>
                <a:cubicBezTo>
                  <a:pt x="573471" y="139526"/>
                  <a:pt x="641002" y="111621"/>
                  <a:pt x="712625" y="111621"/>
                </a:cubicBezTo>
                <a:moveTo>
                  <a:pt x="712625" y="0"/>
                </a:moveTo>
                <a:cubicBezTo>
                  <a:pt x="502778" y="0"/>
                  <a:pt x="332556" y="170036"/>
                  <a:pt x="332556" y="380070"/>
                </a:cubicBezTo>
                <a:cubicBezTo>
                  <a:pt x="332556" y="589917"/>
                  <a:pt x="502778" y="760140"/>
                  <a:pt x="712625" y="760140"/>
                </a:cubicBezTo>
                <a:cubicBezTo>
                  <a:pt x="922473" y="760140"/>
                  <a:pt x="1092695" y="589917"/>
                  <a:pt x="1092695" y="380070"/>
                </a:cubicBezTo>
                <a:cubicBezTo>
                  <a:pt x="1092881" y="170036"/>
                  <a:pt x="922659" y="0"/>
                  <a:pt x="712625" y="0"/>
                </a:cubicBezTo>
                <a:close/>
                <a:moveTo>
                  <a:pt x="712625" y="943012"/>
                </a:moveTo>
                <a:cubicBezTo>
                  <a:pt x="813643" y="943012"/>
                  <a:pt x="903126" y="954360"/>
                  <a:pt x="978842" y="976685"/>
                </a:cubicBezTo>
                <a:cubicBezTo>
                  <a:pt x="1043582" y="995846"/>
                  <a:pt x="1099951" y="1023752"/>
                  <a:pt x="1146087" y="1059470"/>
                </a:cubicBezTo>
                <a:cubicBezTo>
                  <a:pt x="1186829" y="1091096"/>
                  <a:pt x="1220315" y="1128675"/>
                  <a:pt x="1248593" y="1174440"/>
                </a:cubicBezTo>
                <a:cubicBezTo>
                  <a:pt x="1273708" y="1215368"/>
                  <a:pt x="1293985" y="1261877"/>
                  <a:pt x="1310356" y="1316385"/>
                </a:cubicBezTo>
                <a:cubicBezTo>
                  <a:pt x="1320774" y="1350801"/>
                  <a:pt x="1306264" y="1377404"/>
                  <a:pt x="1296590" y="1390241"/>
                </a:cubicBezTo>
                <a:cubicBezTo>
                  <a:pt x="1276684" y="1417030"/>
                  <a:pt x="1244686" y="1432285"/>
                  <a:pt x="1208595" y="1432285"/>
                </a:cubicBezTo>
                <a:lnTo>
                  <a:pt x="216842" y="1432285"/>
                </a:lnTo>
                <a:cubicBezTo>
                  <a:pt x="180937" y="1432285"/>
                  <a:pt x="148753" y="1417030"/>
                  <a:pt x="128847" y="1390241"/>
                </a:cubicBezTo>
                <a:cubicBezTo>
                  <a:pt x="119359" y="1377404"/>
                  <a:pt x="104849" y="1350801"/>
                  <a:pt x="115081" y="1316385"/>
                </a:cubicBezTo>
                <a:cubicBezTo>
                  <a:pt x="131452" y="1261877"/>
                  <a:pt x="151543" y="1215368"/>
                  <a:pt x="176844" y="1174440"/>
                </a:cubicBezTo>
                <a:cubicBezTo>
                  <a:pt x="204936" y="1128675"/>
                  <a:pt x="238422" y="1090910"/>
                  <a:pt x="279350" y="1059470"/>
                </a:cubicBezTo>
                <a:cubicBezTo>
                  <a:pt x="325486" y="1023752"/>
                  <a:pt x="381855" y="995846"/>
                  <a:pt x="446595" y="976685"/>
                </a:cubicBezTo>
                <a:cubicBezTo>
                  <a:pt x="522125" y="954360"/>
                  <a:pt x="611794" y="943012"/>
                  <a:pt x="712625" y="943012"/>
                </a:cubicBezTo>
                <a:moveTo>
                  <a:pt x="712625" y="831391"/>
                </a:moveTo>
                <a:cubicBezTo>
                  <a:pt x="244561" y="831391"/>
                  <a:pt x="77501" y="1053331"/>
                  <a:pt x="8296" y="1284387"/>
                </a:cubicBezTo>
                <a:cubicBezTo>
                  <a:pt x="-30771" y="1414611"/>
                  <a:pt x="73037" y="1544092"/>
                  <a:pt x="216842" y="1544092"/>
                </a:cubicBezTo>
                <a:lnTo>
                  <a:pt x="1208595" y="1544092"/>
                </a:lnTo>
                <a:cubicBezTo>
                  <a:pt x="1352400" y="1544092"/>
                  <a:pt x="1456208" y="1414611"/>
                  <a:pt x="1417141" y="1284387"/>
                </a:cubicBezTo>
                <a:cubicBezTo>
                  <a:pt x="1347750" y="1053331"/>
                  <a:pt x="1180690" y="831391"/>
                  <a:pt x="712625" y="83139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317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0" flipH="0" flipV="0">
            <a:off x="6537325" y="2548256"/>
            <a:ext cx="641350" cy="641350"/>
          </a:xfrm>
          <a:custGeom>
            <a:avLst/>
            <a:gdLst>
              <a:gd name="connsiteX0" fmla="*/ 457070 w 720001"/>
              <a:gd name="connsiteY0" fmla="*/ 57166 h 720001"/>
              <a:gd name="connsiteX1" fmla="*/ 457070 w 720001"/>
              <a:gd name="connsiteY1" fmla="*/ 263017 h 720001"/>
              <a:gd name="connsiteX2" fmla="*/ 662921 w 720001"/>
              <a:gd name="connsiteY2" fmla="*/ 263017 h 720001"/>
              <a:gd name="connsiteX3" fmla="*/ 647393 w 720001"/>
              <a:gd name="connsiteY3" fmla="*/ 212704 h 720001"/>
              <a:gd name="connsiteX4" fmla="*/ 591008 w 720001"/>
              <a:gd name="connsiteY4" fmla="*/ 129079 h 720001"/>
              <a:gd name="connsiteX5" fmla="*/ 507383 w 720001"/>
              <a:gd name="connsiteY5" fmla="*/ 72694 h 720001"/>
              <a:gd name="connsiteX6" fmla="*/ 457070 w 720001"/>
              <a:gd name="connsiteY6" fmla="*/ 57166 h 720001"/>
              <a:gd name="connsiteX7" fmla="*/ 307952 w 720001"/>
              <a:gd name="connsiteY7" fmla="*/ 56386 h 720001"/>
              <a:gd name="connsiteX8" fmla="*/ 240115 w 720001"/>
              <a:gd name="connsiteY8" fmla="*/ 76251 h 720001"/>
              <a:gd name="connsiteX9" fmla="*/ 142092 w 720001"/>
              <a:gd name="connsiteY9" fmla="*/ 142179 h 720001"/>
              <a:gd name="connsiteX10" fmla="*/ 76077 w 720001"/>
              <a:gd name="connsiteY10" fmla="*/ 240116 h 720001"/>
              <a:gd name="connsiteX11" fmla="*/ 51874 w 720001"/>
              <a:gd name="connsiteY11" fmla="*/ 360000 h 720001"/>
              <a:gd name="connsiteX12" fmla="*/ 76077 w 720001"/>
              <a:gd name="connsiteY12" fmla="*/ 479885 h 720001"/>
              <a:gd name="connsiteX13" fmla="*/ 142092 w 720001"/>
              <a:gd name="connsiteY13" fmla="*/ 577822 h 720001"/>
              <a:gd name="connsiteX14" fmla="*/ 240029 w 720001"/>
              <a:gd name="connsiteY14" fmla="*/ 643837 h 720001"/>
              <a:gd name="connsiteX15" fmla="*/ 359913 w 720001"/>
              <a:gd name="connsiteY15" fmla="*/ 668039 h 720001"/>
              <a:gd name="connsiteX16" fmla="*/ 479798 w 720001"/>
              <a:gd name="connsiteY16" fmla="*/ 643837 h 720001"/>
              <a:gd name="connsiteX17" fmla="*/ 577735 w 720001"/>
              <a:gd name="connsiteY17" fmla="*/ 577822 h 720001"/>
              <a:gd name="connsiteX18" fmla="*/ 643750 w 720001"/>
              <a:gd name="connsiteY18" fmla="*/ 479885 h 720001"/>
              <a:gd name="connsiteX19" fmla="*/ 663615 w 720001"/>
              <a:gd name="connsiteY19" fmla="*/ 412049 h 720001"/>
              <a:gd name="connsiteX20" fmla="*/ 360000 w 720001"/>
              <a:gd name="connsiteY20" fmla="*/ 412049 h 720001"/>
              <a:gd name="connsiteX21" fmla="*/ 307952 w 720001"/>
              <a:gd name="connsiteY21" fmla="*/ 360000 h 720001"/>
              <a:gd name="connsiteX22" fmla="*/ 405022 w 720001"/>
              <a:gd name="connsiteY22" fmla="*/ 0 h 720001"/>
              <a:gd name="connsiteX23" fmla="*/ 720001 w 720001"/>
              <a:gd name="connsiteY23" fmla="*/ 314979 h 720001"/>
              <a:gd name="connsiteX24" fmla="*/ 405022 w 720001"/>
              <a:gd name="connsiteY24" fmla="*/ 314979 h 720001"/>
              <a:gd name="connsiteX25" fmla="*/ 360000 w 720001"/>
              <a:gd name="connsiteY25" fmla="*/ 0 h 720001"/>
              <a:gd name="connsiteX26" fmla="*/ 360000 w 720001"/>
              <a:gd name="connsiteY26" fmla="*/ 360000 h 720001"/>
              <a:gd name="connsiteX27" fmla="*/ 720001 w 720001"/>
              <a:gd name="connsiteY27" fmla="*/ 360000 h 720001"/>
              <a:gd name="connsiteX28" fmla="*/ 360000 w 720001"/>
              <a:gd name="connsiteY28" fmla="*/ 720001 h 720001"/>
              <a:gd name="connsiteX29" fmla="*/ 0 w 720001"/>
              <a:gd name="connsiteY29" fmla="*/ 360000 h 720001"/>
              <a:gd name="connsiteX30" fmla="*/ 360000 w 720001"/>
              <a:gd name="connsiteY30" fmla="*/ 0 h 720001"/>
            </a:gdLst>
            <a:rect l="l" t="t" r="r" b="b"/>
            <a:pathLst>
              <a:path w="720001" h="720001">
                <a:moveTo>
                  <a:pt x="457070" y="57166"/>
                </a:moveTo>
                <a:lnTo>
                  <a:pt x="457070" y="263017"/>
                </a:lnTo>
                <a:lnTo>
                  <a:pt x="662921" y="263017"/>
                </a:lnTo>
                <a:cubicBezTo>
                  <a:pt x="659451" y="245755"/>
                  <a:pt x="654246" y="229012"/>
                  <a:pt x="647393" y="212704"/>
                </a:cubicBezTo>
                <a:cubicBezTo>
                  <a:pt x="634121" y="181388"/>
                  <a:pt x="615210" y="153282"/>
                  <a:pt x="591008" y="129079"/>
                </a:cubicBezTo>
                <a:cubicBezTo>
                  <a:pt x="566806" y="104877"/>
                  <a:pt x="538699" y="85966"/>
                  <a:pt x="507383" y="72694"/>
                </a:cubicBezTo>
                <a:cubicBezTo>
                  <a:pt x="491075" y="65755"/>
                  <a:pt x="474246" y="60636"/>
                  <a:pt x="457070" y="57166"/>
                </a:cubicBezTo>
                <a:close/>
                <a:moveTo>
                  <a:pt x="307952" y="56386"/>
                </a:moveTo>
                <a:cubicBezTo>
                  <a:pt x="284703" y="60376"/>
                  <a:pt x="262062" y="66969"/>
                  <a:pt x="240115" y="76251"/>
                </a:cubicBezTo>
                <a:cubicBezTo>
                  <a:pt x="203508" y="91778"/>
                  <a:pt x="170544" y="113986"/>
                  <a:pt x="142092" y="142179"/>
                </a:cubicBezTo>
                <a:cubicBezTo>
                  <a:pt x="113812" y="170545"/>
                  <a:pt x="91605" y="203422"/>
                  <a:pt x="76077" y="240116"/>
                </a:cubicBezTo>
                <a:cubicBezTo>
                  <a:pt x="60029" y="278111"/>
                  <a:pt x="51874" y="318362"/>
                  <a:pt x="51874" y="360000"/>
                </a:cubicBezTo>
                <a:cubicBezTo>
                  <a:pt x="51874" y="401639"/>
                  <a:pt x="60029" y="441976"/>
                  <a:pt x="76077" y="479885"/>
                </a:cubicBezTo>
                <a:cubicBezTo>
                  <a:pt x="91605" y="516579"/>
                  <a:pt x="113812" y="549543"/>
                  <a:pt x="142092" y="577822"/>
                </a:cubicBezTo>
                <a:cubicBezTo>
                  <a:pt x="170458" y="606102"/>
                  <a:pt x="203335" y="628309"/>
                  <a:pt x="240029" y="643837"/>
                </a:cubicBezTo>
                <a:cubicBezTo>
                  <a:pt x="278024" y="659885"/>
                  <a:pt x="318275" y="668039"/>
                  <a:pt x="359913" y="668039"/>
                </a:cubicBezTo>
                <a:cubicBezTo>
                  <a:pt x="401552" y="668039"/>
                  <a:pt x="441890" y="659885"/>
                  <a:pt x="479798" y="643837"/>
                </a:cubicBezTo>
                <a:cubicBezTo>
                  <a:pt x="516492" y="628309"/>
                  <a:pt x="549456" y="606102"/>
                  <a:pt x="577735" y="577822"/>
                </a:cubicBezTo>
                <a:cubicBezTo>
                  <a:pt x="606015" y="549456"/>
                  <a:pt x="628222" y="516579"/>
                  <a:pt x="643750" y="479885"/>
                </a:cubicBezTo>
                <a:cubicBezTo>
                  <a:pt x="653032" y="457938"/>
                  <a:pt x="659625" y="435297"/>
                  <a:pt x="663615" y="412049"/>
                </a:cubicBezTo>
                <a:lnTo>
                  <a:pt x="360000" y="412049"/>
                </a:lnTo>
                <a:cubicBezTo>
                  <a:pt x="331287" y="412049"/>
                  <a:pt x="307952" y="388714"/>
                  <a:pt x="307952" y="360000"/>
                </a:cubicBezTo>
                <a:close/>
                <a:moveTo>
                  <a:pt x="405022" y="0"/>
                </a:moveTo>
                <a:cubicBezTo>
                  <a:pt x="578950" y="0"/>
                  <a:pt x="720001" y="141051"/>
                  <a:pt x="720001" y="314979"/>
                </a:cubicBezTo>
                <a:lnTo>
                  <a:pt x="405022" y="314979"/>
                </a:lnTo>
                <a:close/>
                <a:moveTo>
                  <a:pt x="360000" y="0"/>
                </a:moveTo>
                <a:lnTo>
                  <a:pt x="360000" y="360000"/>
                </a:lnTo>
                <a:lnTo>
                  <a:pt x="720001" y="360000"/>
                </a:lnTo>
                <a:cubicBezTo>
                  <a:pt x="720001" y="558825"/>
                  <a:pt x="558824" y="720001"/>
                  <a:pt x="360000" y="720001"/>
                </a:cubicBezTo>
                <a:cubicBezTo>
                  <a:pt x="161176" y="720001"/>
                  <a:pt x="0" y="558825"/>
                  <a:pt x="0" y="360000"/>
                </a:cubicBezTo>
                <a:cubicBezTo>
                  <a:pt x="0" y="161176"/>
                  <a:pt x="161176" y="0"/>
                  <a:pt x="360000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317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0" flipH="0" flipV="0">
            <a:off x="4318047" y="3881756"/>
            <a:ext cx="641256" cy="641350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317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0" flipV="0">
            <a:off x="7244935" y="3881756"/>
            <a:ext cx="616780" cy="641350"/>
          </a:xfrm>
          <a:custGeom>
            <a:avLst/>
            <a:gdLst>
              <a:gd name="connsiteX0" fmla="*/ 337768 w 1372282"/>
              <a:gd name="connsiteY0" fmla="*/ 1315328 h 1426949"/>
              <a:gd name="connsiteX1" fmla="*/ 530173 w 1372282"/>
              <a:gd name="connsiteY1" fmla="*/ 1315328 h 1426949"/>
              <a:gd name="connsiteX2" fmla="*/ 842109 w 1372282"/>
              <a:gd name="connsiteY2" fmla="*/ 1315328 h 1426949"/>
              <a:gd name="connsiteX3" fmla="*/ 1034514 w 1372282"/>
              <a:gd name="connsiteY3" fmla="*/ 1315328 h 1426949"/>
              <a:gd name="connsiteX4" fmla="*/ 1090325 w 1372282"/>
              <a:gd name="connsiteY4" fmla="*/ 1371139 h 1426949"/>
              <a:gd name="connsiteX5" fmla="*/ 1034514 w 1372282"/>
              <a:gd name="connsiteY5" fmla="*/ 1426949 h 1426949"/>
              <a:gd name="connsiteX6" fmla="*/ 842109 w 1372282"/>
              <a:gd name="connsiteY6" fmla="*/ 1426949 h 1426949"/>
              <a:gd name="connsiteX7" fmla="*/ 530173 w 1372282"/>
              <a:gd name="connsiteY7" fmla="*/ 1426949 h 1426949"/>
              <a:gd name="connsiteX8" fmla="*/ 337768 w 1372282"/>
              <a:gd name="connsiteY8" fmla="*/ 1426949 h 1426949"/>
              <a:gd name="connsiteX9" fmla="*/ 281957 w 1372282"/>
              <a:gd name="connsiteY9" fmla="*/ 1371139 h 1426949"/>
              <a:gd name="connsiteX10" fmla="*/ 337768 w 1372282"/>
              <a:gd name="connsiteY10" fmla="*/ 1315328 h 1426949"/>
              <a:gd name="connsiteX11" fmla="*/ 686154 w 1372282"/>
              <a:gd name="connsiteY11" fmla="*/ 111621 h 1426949"/>
              <a:gd name="connsiteX12" fmla="*/ 237624 w 1372282"/>
              <a:gd name="connsiteY12" fmla="*/ 560152 h 1426949"/>
              <a:gd name="connsiteX13" fmla="*/ 237624 w 1372282"/>
              <a:gd name="connsiteY13" fmla="*/ 985614 h 1426949"/>
              <a:gd name="connsiteX14" fmla="*/ 229252 w 1372282"/>
              <a:gd name="connsiteY14" fmla="*/ 1014822 h 1426949"/>
              <a:gd name="connsiteX15" fmla="*/ 155768 w 1372282"/>
              <a:gd name="connsiteY15" fmla="*/ 1134814 h 1426949"/>
              <a:gd name="connsiteX16" fmla="*/ 1214680 w 1372282"/>
              <a:gd name="connsiteY16" fmla="*/ 1134814 h 1426949"/>
              <a:gd name="connsiteX17" fmla="*/ 1143429 w 1372282"/>
              <a:gd name="connsiteY17" fmla="*/ 1023565 h 1426949"/>
              <a:gd name="connsiteX18" fmla="*/ 1134685 w 1372282"/>
              <a:gd name="connsiteY18" fmla="*/ 993428 h 1426949"/>
              <a:gd name="connsiteX19" fmla="*/ 1134685 w 1372282"/>
              <a:gd name="connsiteY19" fmla="*/ 560152 h 1426949"/>
              <a:gd name="connsiteX20" fmla="*/ 686154 w 1372282"/>
              <a:gd name="connsiteY20" fmla="*/ 111621 h 1426949"/>
              <a:gd name="connsiteX21" fmla="*/ 686154 w 1372282"/>
              <a:gd name="connsiteY21" fmla="*/ 0 h 1426949"/>
              <a:gd name="connsiteX22" fmla="*/ 903815 w 1372282"/>
              <a:gd name="connsiteY22" fmla="*/ 44276 h 1426949"/>
              <a:gd name="connsiteX23" fmla="*/ 1081851 w 1372282"/>
              <a:gd name="connsiteY23" fmla="*/ 164455 h 1426949"/>
              <a:gd name="connsiteX24" fmla="*/ 1202030 w 1372282"/>
              <a:gd name="connsiteY24" fmla="*/ 342491 h 1426949"/>
              <a:gd name="connsiteX25" fmla="*/ 1246306 w 1372282"/>
              <a:gd name="connsiteY25" fmla="*/ 560152 h 1426949"/>
              <a:gd name="connsiteX26" fmla="*/ 1246306 w 1372282"/>
              <a:gd name="connsiteY26" fmla="*/ 977243 h 1426949"/>
              <a:gd name="connsiteX27" fmla="*/ 1363508 w 1372282"/>
              <a:gd name="connsiteY27" fmla="*/ 1160487 h 1426949"/>
              <a:gd name="connsiteX28" fmla="*/ 1365369 w 1372282"/>
              <a:gd name="connsiteY28" fmla="*/ 1217414 h 1426949"/>
              <a:gd name="connsiteX29" fmla="*/ 1316628 w 1372282"/>
              <a:gd name="connsiteY29" fmla="*/ 1246436 h 1426949"/>
              <a:gd name="connsiteX30" fmla="*/ 55867 w 1372282"/>
              <a:gd name="connsiteY30" fmla="*/ 1246436 h 1426949"/>
              <a:gd name="connsiteX31" fmla="*/ 7126 w 1372282"/>
              <a:gd name="connsiteY31" fmla="*/ 1217786 h 1426949"/>
              <a:gd name="connsiteX32" fmla="*/ 8242 w 1372282"/>
              <a:gd name="connsiteY32" fmla="*/ 1161232 h 1426949"/>
              <a:gd name="connsiteX33" fmla="*/ 126002 w 1372282"/>
              <a:gd name="connsiteY33" fmla="*/ 969801 h 1426949"/>
              <a:gd name="connsiteX34" fmla="*/ 126002 w 1372282"/>
              <a:gd name="connsiteY34" fmla="*/ 560152 h 1426949"/>
              <a:gd name="connsiteX35" fmla="*/ 170279 w 1372282"/>
              <a:gd name="connsiteY35" fmla="*/ 342491 h 1426949"/>
              <a:gd name="connsiteX36" fmla="*/ 290458 w 1372282"/>
              <a:gd name="connsiteY36" fmla="*/ 164455 h 1426949"/>
              <a:gd name="connsiteX37" fmla="*/ 468493 w 1372282"/>
              <a:gd name="connsiteY37" fmla="*/ 44276 h 1426949"/>
              <a:gd name="connsiteX38" fmla="*/ 686154 w 1372282"/>
              <a:gd name="connsiteY38" fmla="*/ 0 h 1426949"/>
            </a:gdLst>
            <a:rect l="l" t="t" r="r" b="b"/>
            <a:pathLst>
              <a:path w="1372282" h="1426949">
                <a:moveTo>
                  <a:pt x="337768" y="1315328"/>
                </a:moveTo>
                <a:lnTo>
                  <a:pt x="530173" y="1315328"/>
                </a:lnTo>
                <a:lnTo>
                  <a:pt x="842109" y="1315328"/>
                </a:lnTo>
                <a:lnTo>
                  <a:pt x="1034514" y="1315328"/>
                </a:lnTo>
                <a:cubicBezTo>
                  <a:pt x="1065396" y="1315328"/>
                  <a:pt x="1090325" y="1340257"/>
                  <a:pt x="1090325" y="1371139"/>
                </a:cubicBezTo>
                <a:cubicBezTo>
                  <a:pt x="1090325" y="1402021"/>
                  <a:pt x="1065210" y="1426949"/>
                  <a:pt x="1034514" y="1426949"/>
                </a:cubicBezTo>
                <a:lnTo>
                  <a:pt x="842109" y="1426949"/>
                </a:lnTo>
                <a:lnTo>
                  <a:pt x="530173" y="1426949"/>
                </a:lnTo>
                <a:lnTo>
                  <a:pt x="337768" y="1426949"/>
                </a:lnTo>
                <a:cubicBezTo>
                  <a:pt x="306886" y="1426949"/>
                  <a:pt x="281957" y="1402021"/>
                  <a:pt x="281957" y="1371139"/>
                </a:cubicBezTo>
                <a:cubicBezTo>
                  <a:pt x="281957" y="1340257"/>
                  <a:pt x="306886" y="1315328"/>
                  <a:pt x="337768" y="1315328"/>
                </a:cubicBezTo>
                <a:close/>
                <a:moveTo>
                  <a:pt x="686154" y="111621"/>
                </a:moveTo>
                <a:cubicBezTo>
                  <a:pt x="438914" y="111621"/>
                  <a:pt x="237624" y="312725"/>
                  <a:pt x="237624" y="560152"/>
                </a:cubicBezTo>
                <a:lnTo>
                  <a:pt x="237624" y="985614"/>
                </a:lnTo>
                <a:cubicBezTo>
                  <a:pt x="237624" y="996032"/>
                  <a:pt x="234833" y="1006078"/>
                  <a:pt x="229252" y="1014822"/>
                </a:cubicBezTo>
                <a:lnTo>
                  <a:pt x="155768" y="1134814"/>
                </a:lnTo>
                <a:lnTo>
                  <a:pt x="1214680" y="1134814"/>
                </a:lnTo>
                <a:lnTo>
                  <a:pt x="1143429" y="1023565"/>
                </a:lnTo>
                <a:cubicBezTo>
                  <a:pt x="1137662" y="1014636"/>
                  <a:pt x="1134685" y="1004218"/>
                  <a:pt x="1134685" y="993428"/>
                </a:cubicBezTo>
                <a:lnTo>
                  <a:pt x="1134685" y="560152"/>
                </a:lnTo>
                <a:cubicBezTo>
                  <a:pt x="1134685" y="312911"/>
                  <a:pt x="933581" y="111621"/>
                  <a:pt x="686154" y="111621"/>
                </a:cubicBezTo>
                <a:close/>
                <a:moveTo>
                  <a:pt x="686154" y="0"/>
                </a:moveTo>
                <a:cubicBezTo>
                  <a:pt x="761499" y="0"/>
                  <a:pt x="834610" y="14883"/>
                  <a:pt x="903815" y="44276"/>
                </a:cubicBezTo>
                <a:cubicBezTo>
                  <a:pt x="970416" y="72554"/>
                  <a:pt x="1030319" y="113109"/>
                  <a:pt x="1081851" y="164455"/>
                </a:cubicBezTo>
                <a:cubicBezTo>
                  <a:pt x="1133383" y="215987"/>
                  <a:pt x="1173753" y="275890"/>
                  <a:pt x="1202030" y="342491"/>
                </a:cubicBezTo>
                <a:cubicBezTo>
                  <a:pt x="1231423" y="411510"/>
                  <a:pt x="1246306" y="484808"/>
                  <a:pt x="1246306" y="560152"/>
                </a:cubicBezTo>
                <a:lnTo>
                  <a:pt x="1246306" y="977243"/>
                </a:lnTo>
                <a:lnTo>
                  <a:pt x="1363508" y="1160487"/>
                </a:lnTo>
                <a:cubicBezTo>
                  <a:pt x="1374484" y="1177603"/>
                  <a:pt x="1375229" y="1199555"/>
                  <a:pt x="1365369" y="1217414"/>
                </a:cubicBezTo>
                <a:cubicBezTo>
                  <a:pt x="1355695" y="1235273"/>
                  <a:pt x="1336905" y="1246436"/>
                  <a:pt x="1316628" y="1246436"/>
                </a:cubicBezTo>
                <a:lnTo>
                  <a:pt x="55867" y="1246436"/>
                </a:lnTo>
                <a:cubicBezTo>
                  <a:pt x="35589" y="1246436"/>
                  <a:pt x="16986" y="1235460"/>
                  <a:pt x="7126" y="1217786"/>
                </a:cubicBezTo>
                <a:cubicBezTo>
                  <a:pt x="-2734" y="1200113"/>
                  <a:pt x="-2362" y="1178533"/>
                  <a:pt x="8242" y="1161232"/>
                </a:cubicBezTo>
                <a:lnTo>
                  <a:pt x="126002" y="969801"/>
                </a:lnTo>
                <a:lnTo>
                  <a:pt x="126002" y="560152"/>
                </a:lnTo>
                <a:cubicBezTo>
                  <a:pt x="126002" y="484808"/>
                  <a:pt x="140885" y="411696"/>
                  <a:pt x="170279" y="342491"/>
                </a:cubicBezTo>
                <a:cubicBezTo>
                  <a:pt x="198556" y="275890"/>
                  <a:pt x="239112" y="215987"/>
                  <a:pt x="290458" y="164455"/>
                </a:cubicBezTo>
                <a:cubicBezTo>
                  <a:pt x="341803" y="112923"/>
                  <a:pt x="401893" y="72554"/>
                  <a:pt x="468493" y="44276"/>
                </a:cubicBezTo>
                <a:cubicBezTo>
                  <a:pt x="537512" y="14883"/>
                  <a:pt x="610810" y="0"/>
                  <a:pt x="686154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317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0" flipH="0" flipV="0">
            <a:off x="5775325" y="3892102"/>
            <a:ext cx="641350" cy="620658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w="317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rot="0" flipH="0" flipV="0">
            <a:off x="1294769" y="2173348"/>
            <a:ext cx="2933698" cy="13221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r">
              <a:lnSpc>
                <a:spcPct val="150000"/>
              </a:lnSpc>
            </a:pPr>
            <a:r>
              <a:rPr kumimoji="1" lang="en-US" altLang="zh-CN" sz="863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Subtopic 1：AI 健康监测系统和智能生活辅助设备实现智能化健康管理和服务，提高服务效率和质量，降低人力成本。
Subtopic 2：通过物联网技术实现设备互联互通，医护人员和护理人员可远程监控老人健康状况和生活情况，及时发现问题并处理。
Subtopic 3：智能化系统可自动分析数据，生成健康报告和护理建议，为老人提供精准服务，提升服务科学性和专业性。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rot="0" flipH="0" flipV="0">
            <a:off x="7923530" y="2173348"/>
            <a:ext cx="2933698" cy="13221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863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Subtopic 1：养老院内部装修风格温馨舒适，设计符合老人生活习惯和心理需求，营造家的氛围。
Subtopic 2：护理人员经过专业培训，具备爱心、耐心和责任心，以亲切、温暖态度对待每位老人，给予老人情感关怀和心理慰藉。
Subtopic 3：注重老人精神文化需求，定期组织文化娱乐活动，丰富老人生活，提升老人幸福感和获得感。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 rot="0" flipH="0" flipV="0">
            <a:off x="8621367" y="4902596"/>
            <a:ext cx="2933698" cy="13221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863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Subtopic 1：智能化设备和服务流程让老人生活更加便捷，如智能床可自动调节高度、硬度，智能马桶具备自动冲洗、烘干、体检功能，提升老人生活自理能力。
Subtopic 2：医护人员和护理人员通过智能化系统快速获取老人信息，及时响应老人需求，提高服务响应速度和效率。
Subtopic 3：智能化系统可实现服务流程自动化，减少人工操作环节，提高服务效率，降低运营成本。</a:t>
            </a: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 rot="0" flipH="0" flipV="0">
            <a:off x="659793" y="4902596"/>
            <a:ext cx="2933698" cy="13221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r">
              <a:lnSpc>
                <a:spcPct val="150000"/>
              </a:lnSpc>
            </a:pPr>
            <a:r>
              <a:rPr kumimoji="1" lang="en-US" altLang="zh-CN" sz="863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Subtopic 1：根据老人身体状况、兴趣爱好、生活习惯等制定个性化护理计划和康复方案，满足老人多样化需求。
Subtopic 2：为每位老人建立专属健康档案和生活档案，定期评估服务效果，及时调整服务内容，确保服务贴合老人实际需求。
Subtopic 3：个性化服务方案让老人感受到专属关怀，增强老人对养老院的认同感和归属感，提升老人满意度。</a:t>
            </a: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rot="0" flipH="0" flipV="0">
            <a:off x="1294769" y="1639948"/>
            <a:ext cx="2933698" cy="4204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r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智能化</a:t>
            </a: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 rot="0" flipH="0" flipV="0">
            <a:off x="659769" y="4484748"/>
            <a:ext cx="2933698" cy="4204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r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个性化</a:t>
            </a:r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 rot="0" flipH="0" flipV="0">
            <a:off x="7924169" y="1639948"/>
            <a:ext cx="2933698" cy="4204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人性化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 rot="0" flipH="0" flipV="0">
            <a:off x="8622669" y="4484748"/>
            <a:ext cx="2933698" cy="4204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高效便捷</a:t>
            </a: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 rot="0" flipH="0" flipV="0">
            <a:off x="316690" y="373380"/>
            <a:ext cx="8171180" cy="65532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 rot="0" flipH="0" flipV="0">
            <a:off x="783520" y="484345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产品（服务）特性</a:t>
            </a: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 rot="0" flipH="0" flipV="0">
            <a:off x="324256" y="626624"/>
            <a:ext cx="402076" cy="402076"/>
          </a:xfrm>
          <a:prstGeom prst="rtTriangl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675675" y="2011461"/>
            <a:ext cx="3263186" cy="3206396"/>
          </a:xfrm>
          <a:prstGeom prst="roundRect">
            <a:avLst>
              <a:gd name="adj" fmla="val 5292"/>
            </a:avLst>
          </a:prstGeom>
          <a:gradFill>
            <a:gsLst>
              <a:gs pos="0">
                <a:schemeClr val="bg1"/>
              </a:gs>
              <a:gs pos="95000">
                <a:schemeClr val="accent1">
                  <a:lumMod val="60000"/>
                  <a:lumOff val="40000"/>
                  <a:alpha val="50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675675" y="1227221"/>
            <a:ext cx="3263186" cy="784240"/>
          </a:xfrm>
          <a:prstGeom prst="roundRect">
            <a:avLst>
              <a:gd name="adj" fmla="val 6789"/>
            </a:avLst>
          </a:prstGeom>
          <a:gradFill>
            <a:gsLst>
              <a:gs pos="0">
                <a:schemeClr val="accent1"/>
              </a:gs>
              <a:gs pos="95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5" name=""/>
          <p:cNvGrpSpPr/>
          <p:nvPr/>
        </p:nvGrpSpPr>
        <p:grpSpPr>
          <a:xfrm>
            <a:off x="1805451" y="4761366"/>
            <a:ext cx="1003634" cy="1003634"/>
            <a:chOff x="1805451" y="4761366"/>
            <a:chExt cx="1003634" cy="1003634"/>
          </a:xfrm>
        </p:grpSpPr>
        <p:sp>
          <p:nvSpPr>
            <p:cNvPr id="6" name="标题 1"/>
            <p:cNvSpPr txBox="1"/>
            <p:nvPr/>
          </p:nvSpPr>
          <p:spPr>
            <a:xfrm rot="0" flipH="0" flipV="0">
              <a:off x="1805451" y="4761366"/>
              <a:ext cx="1003634" cy="1003634"/>
            </a:xfrm>
            <a:prstGeom prst="ellipse">
              <a:avLst/>
            </a:prstGeom>
            <a:solidFill>
              <a:schemeClr val="bg1"/>
            </a:solidFill>
            <a:ln w="12700" cap="sq">
              <a:noFill/>
              <a:miter/>
            </a:ln>
            <a:effectLst>
              <a:outerShdw dist="50800" blurRad="127000" dir="2700000" sx="100000" sy="100000" kx="0" ky="0" algn="tl" rotWithShape="0">
                <a:schemeClr val="accent1">
                  <a:alpha val="20000"/>
                </a:schemeClr>
              </a:outerShdw>
            </a:effectLst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7" name="标题 1"/>
            <p:cNvSpPr txBox="1"/>
            <p:nvPr/>
          </p:nvSpPr>
          <p:spPr>
            <a:xfrm rot="0" flipH="0" flipV="0">
              <a:off x="2050759" y="5006674"/>
              <a:ext cx="513019" cy="513019"/>
            </a:xfrm>
            <a:custGeom>
              <a:avLst/>
              <a:gdLst>
                <a:gd name="connsiteX0" fmla="*/ 438553 w 720000"/>
                <a:gd name="connsiteY0" fmla="*/ 189601 h 720000"/>
                <a:gd name="connsiteX1" fmla="*/ 503636 w 720000"/>
                <a:gd name="connsiteY1" fmla="*/ 216365 h 720000"/>
                <a:gd name="connsiteX2" fmla="*/ 503636 w 720000"/>
                <a:gd name="connsiteY2" fmla="*/ 346445 h 720000"/>
                <a:gd name="connsiteX3" fmla="*/ 362260 w 720000"/>
                <a:gd name="connsiteY3" fmla="*/ 487907 h 720000"/>
                <a:gd name="connsiteX4" fmla="*/ 191861 w 720000"/>
                <a:gd name="connsiteY4" fmla="*/ 528226 h 720000"/>
                <a:gd name="connsiteX5" fmla="*/ 232180 w 720000"/>
                <a:gd name="connsiteY5" fmla="*/ 357827 h 720000"/>
                <a:gd name="connsiteX6" fmla="*/ 373556 w 720000"/>
                <a:gd name="connsiteY6" fmla="*/ 216452 h 720000"/>
                <a:gd name="connsiteX7" fmla="*/ 438553 w 720000"/>
                <a:gd name="connsiteY7" fmla="*/ 189601 h 720000"/>
                <a:gd name="connsiteX8" fmla="*/ 438553 w 720000"/>
                <a:gd name="connsiteY8" fmla="*/ 141636 h 720000"/>
                <a:gd name="connsiteX9" fmla="*/ 339581 w 720000"/>
                <a:gd name="connsiteY9" fmla="*/ 182476 h 720000"/>
                <a:gd name="connsiteX10" fmla="*/ 198205 w 720000"/>
                <a:gd name="connsiteY10" fmla="*/ 323852 h 720000"/>
                <a:gd name="connsiteX11" fmla="*/ 141637 w 720000"/>
                <a:gd name="connsiteY11" fmla="*/ 578364 h 720000"/>
                <a:gd name="connsiteX12" fmla="*/ 396149 w 720000"/>
                <a:gd name="connsiteY12" fmla="*/ 521796 h 720000"/>
                <a:gd name="connsiteX13" fmla="*/ 537524 w 720000"/>
                <a:gd name="connsiteY13" fmla="*/ 380420 h 720000"/>
                <a:gd name="connsiteX14" fmla="*/ 537524 w 720000"/>
                <a:gd name="connsiteY14" fmla="*/ 182476 h 720000"/>
                <a:gd name="connsiteX15" fmla="*/ 438553 w 720000"/>
                <a:gd name="connsiteY15" fmla="*/ 141636 h 720000"/>
                <a:gd name="connsiteX16" fmla="*/ 120000 w 720000"/>
                <a:gd name="connsiteY16" fmla="*/ 0 h 720000"/>
                <a:gd name="connsiteX17" fmla="*/ 600000 w 720000"/>
                <a:gd name="connsiteY17" fmla="*/ 0 h 720000"/>
                <a:gd name="connsiteX18" fmla="*/ 720000 w 720000"/>
                <a:gd name="connsiteY18" fmla="*/ 120000 h 720000"/>
                <a:gd name="connsiteX19" fmla="*/ 720000 w 720000"/>
                <a:gd name="connsiteY19" fmla="*/ 600000 h 720000"/>
                <a:gd name="connsiteX20" fmla="*/ 600000 w 720000"/>
                <a:gd name="connsiteY20" fmla="*/ 720000 h 720000"/>
                <a:gd name="connsiteX21" fmla="*/ 120000 w 720000"/>
                <a:gd name="connsiteY21" fmla="*/ 720000 h 720000"/>
                <a:gd name="connsiteX22" fmla="*/ 0 w 720000"/>
                <a:gd name="connsiteY22" fmla="*/ 600000 h 720000"/>
                <a:gd name="connsiteX23" fmla="*/ 0 w 720000"/>
                <a:gd name="connsiteY23" fmla="*/ 120000 h 720000"/>
                <a:gd name="connsiteX24" fmla="*/ 120000 w 720000"/>
                <a:gd name="connsiteY24" fmla="*/ 0 h 720000"/>
              </a:gdLst>
              <a:rect l="l" t="t" r="r" b="b"/>
              <a:pathLst>
                <a:path w="720000" h="720000">
                  <a:moveTo>
                    <a:pt x="438553" y="189601"/>
                  </a:moveTo>
                  <a:cubicBezTo>
                    <a:pt x="463230" y="189601"/>
                    <a:pt x="486344" y="199073"/>
                    <a:pt x="503636" y="216365"/>
                  </a:cubicBezTo>
                  <a:cubicBezTo>
                    <a:pt x="539523" y="252252"/>
                    <a:pt x="539523" y="310557"/>
                    <a:pt x="503636" y="346445"/>
                  </a:cubicBezTo>
                  <a:lnTo>
                    <a:pt x="362260" y="487907"/>
                  </a:lnTo>
                  <a:cubicBezTo>
                    <a:pt x="342622" y="507545"/>
                    <a:pt x="266503" y="522665"/>
                    <a:pt x="191861" y="528226"/>
                  </a:cubicBezTo>
                  <a:cubicBezTo>
                    <a:pt x="197336" y="453584"/>
                    <a:pt x="212456" y="377465"/>
                    <a:pt x="232180" y="357827"/>
                  </a:cubicBezTo>
                  <a:lnTo>
                    <a:pt x="373556" y="216452"/>
                  </a:lnTo>
                  <a:cubicBezTo>
                    <a:pt x="390761" y="199073"/>
                    <a:pt x="413875" y="189601"/>
                    <a:pt x="438553" y="189601"/>
                  </a:cubicBezTo>
                  <a:close/>
                  <a:moveTo>
                    <a:pt x="438553" y="141636"/>
                  </a:moveTo>
                  <a:cubicBezTo>
                    <a:pt x="402666" y="141636"/>
                    <a:pt x="366778" y="155278"/>
                    <a:pt x="339581" y="182476"/>
                  </a:cubicBezTo>
                  <a:lnTo>
                    <a:pt x="198205" y="323852"/>
                  </a:lnTo>
                  <a:cubicBezTo>
                    <a:pt x="143723" y="378335"/>
                    <a:pt x="141637" y="578364"/>
                    <a:pt x="141637" y="578364"/>
                  </a:cubicBezTo>
                  <a:cubicBezTo>
                    <a:pt x="141637" y="578364"/>
                    <a:pt x="341753" y="576278"/>
                    <a:pt x="396149" y="521796"/>
                  </a:cubicBezTo>
                  <a:lnTo>
                    <a:pt x="537524" y="380420"/>
                  </a:lnTo>
                  <a:cubicBezTo>
                    <a:pt x="592007" y="325938"/>
                    <a:pt x="592007" y="236872"/>
                    <a:pt x="537524" y="182476"/>
                  </a:cubicBezTo>
                  <a:cubicBezTo>
                    <a:pt x="510327" y="155191"/>
                    <a:pt x="474440" y="141636"/>
                    <a:pt x="438553" y="141636"/>
                  </a:cubicBezTo>
                  <a:close/>
                  <a:moveTo>
                    <a:pt x="120000" y="0"/>
                  </a:moveTo>
                  <a:lnTo>
                    <a:pt x="600000" y="0"/>
                  </a:lnTo>
                  <a:cubicBezTo>
                    <a:pt x="666040" y="0"/>
                    <a:pt x="720000" y="54048"/>
                    <a:pt x="720000" y="120000"/>
                  </a:cubicBezTo>
                  <a:lnTo>
                    <a:pt x="720000" y="600000"/>
                  </a:lnTo>
                  <a:cubicBezTo>
                    <a:pt x="720000" y="666039"/>
                    <a:pt x="666040" y="720000"/>
                    <a:pt x="600000" y="720000"/>
                  </a:cubicBezTo>
                  <a:lnTo>
                    <a:pt x="120000" y="720000"/>
                  </a:lnTo>
                  <a:cubicBezTo>
                    <a:pt x="53961" y="720000"/>
                    <a:pt x="0" y="666039"/>
                    <a:pt x="0" y="600000"/>
                  </a:cubicBezTo>
                  <a:lnTo>
                    <a:pt x="0" y="120000"/>
                  </a:lnTo>
                  <a:cubicBezTo>
                    <a:pt x="0" y="53961"/>
                    <a:pt x="53961" y="0"/>
                    <a:pt x="120000" y="0"/>
                  </a:cubicBezTo>
                  <a:close/>
                </a:path>
              </a:pathLst>
            </a:custGeom>
            <a:solidFill>
              <a:schemeClr val="accent1"/>
            </a:solidFill>
            <a:ln w="1860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00000"/>
                </a:lnSpc>
              </a:pPr>
              <a:endParaRPr kumimoji="1" lang="zh-CN" altLang="en-US"/>
            </a:p>
          </p:txBody>
        </p:sp>
      </p:grpSp>
      <p:sp>
        <p:nvSpPr>
          <p:cNvPr id="8" name="标题 1"/>
          <p:cNvSpPr txBox="1"/>
          <p:nvPr/>
        </p:nvSpPr>
        <p:spPr>
          <a:xfrm rot="0" flipH="0" flipV="0">
            <a:off x="952401" y="2256770"/>
            <a:ext cx="2709735" cy="22592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12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Subtopic 1：主要面向 60 岁及以上老年人，特别是高龄、失能、半失能老人，他们对专业护理和智能辅助设备需求更为迫切。
Subtopic 2：同时欢迎身体健康的活力老人入住，为他们提供丰富文化娱乐活动和社交平台，满足其精神文化需求。
Subtopic 3：针对不同年龄层次老人，提供差异化服务套餐，满足多样需求，提升客户满意度。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978707" y="1227221"/>
            <a:ext cx="2657122" cy="78424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年龄层次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4465527" y="2011461"/>
            <a:ext cx="3263186" cy="3206396"/>
          </a:xfrm>
          <a:prstGeom prst="roundRect">
            <a:avLst>
              <a:gd name="adj" fmla="val 5292"/>
            </a:avLst>
          </a:prstGeom>
          <a:gradFill>
            <a:gsLst>
              <a:gs pos="0">
                <a:schemeClr val="bg1"/>
              </a:gs>
              <a:gs pos="95000">
                <a:schemeClr val="accent1">
                  <a:lumMod val="60000"/>
                  <a:lumOff val="40000"/>
                  <a:alpha val="50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4465527" y="1227221"/>
            <a:ext cx="3263186" cy="784240"/>
          </a:xfrm>
          <a:prstGeom prst="roundRect">
            <a:avLst>
              <a:gd name="adj" fmla="val 6789"/>
            </a:avLst>
          </a:prstGeom>
          <a:gradFill>
            <a:gsLst>
              <a:gs pos="0">
                <a:schemeClr val="accent1"/>
              </a:gs>
              <a:gs pos="95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5595303" y="4761366"/>
            <a:ext cx="1003634" cy="1003634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  <a:effectLst>
            <a:outerShdw dist="50800" blurRad="127000" dir="2700000" sx="100000" sy="100000" kx="0" ky="0" algn="tl" rotWithShape="0">
              <a:schemeClr val="accent1"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4742253" y="2256770"/>
            <a:ext cx="2709735" cy="22592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12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Subtopic 1：目标客户群体以中高收入家庭为主，他们愿意为高品质、智能化养老服务支付较高费用，对养老生活品质有较高要求。
Subtopic 2：养老院提供不同档次服务套餐，满足不同经济水平客户的需求，让更多老人享受到智能养老服务。
Subtopic 3：通过灵活定价策略和优惠政策，吸引更多中低收入客户，扩大市场份额，提升品牌影响力。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4768559" y="1227221"/>
            <a:ext cx="2657122" cy="78424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经济水平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1" flipV="1">
            <a:off x="5832059" y="5006673"/>
            <a:ext cx="530123" cy="513020"/>
          </a:xfrm>
          <a:custGeom>
            <a:avLst/>
            <a:gdLst>
              <a:gd name="connsiteX0" fmla="*/ 311954 w 744004"/>
              <a:gd name="connsiteY0" fmla="*/ 337123 h 720001"/>
              <a:gd name="connsiteX1" fmla="*/ 168770 w 744004"/>
              <a:gd name="connsiteY1" fmla="*/ 337123 h 720001"/>
              <a:gd name="connsiteX2" fmla="*/ 49673 w 744004"/>
              <a:gd name="connsiteY2" fmla="*/ 287618 h 720001"/>
              <a:gd name="connsiteX3" fmla="*/ 167 w 744004"/>
              <a:gd name="connsiteY3" fmla="*/ 168520 h 720001"/>
              <a:gd name="connsiteX4" fmla="*/ 49590 w 744004"/>
              <a:gd name="connsiteY4" fmla="*/ 49507 h 720001"/>
              <a:gd name="connsiteX5" fmla="*/ 168687 w 744004"/>
              <a:gd name="connsiteY5" fmla="*/ 0 h 720001"/>
              <a:gd name="connsiteX6" fmla="*/ 287784 w 744004"/>
              <a:gd name="connsiteY6" fmla="*/ 49507 h 720001"/>
              <a:gd name="connsiteX7" fmla="*/ 337290 w 744004"/>
              <a:gd name="connsiteY7" fmla="*/ 168604 h 720001"/>
              <a:gd name="connsiteX8" fmla="*/ 337290 w 744004"/>
              <a:gd name="connsiteY8" fmla="*/ 311787 h 720001"/>
              <a:gd name="connsiteX9" fmla="*/ 311954 w 744004"/>
              <a:gd name="connsiteY9" fmla="*/ 337123 h 720001"/>
              <a:gd name="connsiteX10" fmla="*/ 575401 w 744004"/>
              <a:gd name="connsiteY10" fmla="*/ 337207 h 720001"/>
              <a:gd name="connsiteX11" fmla="*/ 432218 w 744004"/>
              <a:gd name="connsiteY11" fmla="*/ 337207 h 720001"/>
              <a:gd name="connsiteX12" fmla="*/ 406882 w 744004"/>
              <a:gd name="connsiteY12" fmla="*/ 311870 h 720001"/>
              <a:gd name="connsiteX13" fmla="*/ 406882 w 744004"/>
              <a:gd name="connsiteY13" fmla="*/ 168687 h 720001"/>
              <a:gd name="connsiteX14" fmla="*/ 456387 w 744004"/>
              <a:gd name="connsiteY14" fmla="*/ 49590 h 720001"/>
              <a:gd name="connsiteX15" fmla="*/ 575401 w 744004"/>
              <a:gd name="connsiteY15" fmla="*/ 0 h 720001"/>
              <a:gd name="connsiteX16" fmla="*/ 694498 w 744004"/>
              <a:gd name="connsiteY16" fmla="*/ 49507 h 720001"/>
              <a:gd name="connsiteX17" fmla="*/ 744004 w 744004"/>
              <a:gd name="connsiteY17" fmla="*/ 168604 h 720001"/>
              <a:gd name="connsiteX18" fmla="*/ 694498 w 744004"/>
              <a:gd name="connsiteY18" fmla="*/ 287701 h 720001"/>
              <a:gd name="connsiteX19" fmla="*/ 575401 w 744004"/>
              <a:gd name="connsiteY19" fmla="*/ 337207 h 720001"/>
              <a:gd name="connsiteX20" fmla="*/ 168604 w 744004"/>
              <a:gd name="connsiteY20" fmla="*/ 720001 h 720001"/>
              <a:gd name="connsiteX21" fmla="*/ 49507 w 744004"/>
              <a:gd name="connsiteY21" fmla="*/ 670495 h 720001"/>
              <a:gd name="connsiteX22" fmla="*/ 0 w 744004"/>
              <a:gd name="connsiteY22" fmla="*/ 551398 h 720001"/>
              <a:gd name="connsiteX23" fmla="*/ 49507 w 744004"/>
              <a:gd name="connsiteY23" fmla="*/ 432301 h 720001"/>
              <a:gd name="connsiteX24" fmla="*/ 168687 w 744004"/>
              <a:gd name="connsiteY24" fmla="*/ 382879 h 720001"/>
              <a:gd name="connsiteX25" fmla="*/ 311871 w 744004"/>
              <a:gd name="connsiteY25" fmla="*/ 382879 h 720001"/>
              <a:gd name="connsiteX26" fmla="*/ 337207 w 744004"/>
              <a:gd name="connsiteY26" fmla="*/ 408215 h 720001"/>
              <a:gd name="connsiteX27" fmla="*/ 337207 w 744004"/>
              <a:gd name="connsiteY27" fmla="*/ 551398 h 720001"/>
              <a:gd name="connsiteX28" fmla="*/ 287701 w 744004"/>
              <a:gd name="connsiteY28" fmla="*/ 670495 h 720001"/>
              <a:gd name="connsiteX29" fmla="*/ 168604 w 744004"/>
              <a:gd name="connsiteY29" fmla="*/ 720001 h 720001"/>
              <a:gd name="connsiteX30" fmla="*/ 575401 w 744004"/>
              <a:gd name="connsiteY30" fmla="*/ 720001 h 720001"/>
              <a:gd name="connsiteX31" fmla="*/ 456304 w 744004"/>
              <a:gd name="connsiteY31" fmla="*/ 670495 h 720001"/>
              <a:gd name="connsiteX32" fmla="*/ 406798 w 744004"/>
              <a:gd name="connsiteY32" fmla="*/ 551398 h 720001"/>
              <a:gd name="connsiteX33" fmla="*/ 406798 w 744004"/>
              <a:gd name="connsiteY33" fmla="*/ 408215 h 720001"/>
              <a:gd name="connsiteX34" fmla="*/ 432218 w 744004"/>
              <a:gd name="connsiteY34" fmla="*/ 382879 h 720001"/>
              <a:gd name="connsiteX35" fmla="*/ 575401 w 744004"/>
              <a:gd name="connsiteY35" fmla="*/ 382879 h 720001"/>
              <a:gd name="connsiteX36" fmla="*/ 694498 w 744004"/>
              <a:gd name="connsiteY36" fmla="*/ 432385 h 720001"/>
              <a:gd name="connsiteX37" fmla="*/ 744004 w 744004"/>
              <a:gd name="connsiteY37" fmla="*/ 551398 h 720001"/>
              <a:gd name="connsiteX38" fmla="*/ 694498 w 744004"/>
              <a:gd name="connsiteY38" fmla="*/ 670495 h 720001"/>
              <a:gd name="connsiteX39" fmla="*/ 575401 w 744004"/>
              <a:gd name="connsiteY39" fmla="*/ 720001 h 720001"/>
            </a:gdLst>
            <a:rect l="l" t="t" r="r" b="b"/>
            <a:pathLst>
              <a:path w="744004" h="720001">
                <a:moveTo>
                  <a:pt x="311954" y="337123"/>
                </a:moveTo>
                <a:lnTo>
                  <a:pt x="168770" y="337123"/>
                </a:lnTo>
                <a:cubicBezTo>
                  <a:pt x="123932" y="337123"/>
                  <a:pt x="81594" y="319538"/>
                  <a:pt x="49673" y="287618"/>
                </a:cubicBezTo>
                <a:cubicBezTo>
                  <a:pt x="17753" y="255697"/>
                  <a:pt x="167" y="213442"/>
                  <a:pt x="167" y="168520"/>
                </a:cubicBezTo>
                <a:cubicBezTo>
                  <a:pt x="167" y="123598"/>
                  <a:pt x="17669" y="81427"/>
                  <a:pt x="49590" y="49507"/>
                </a:cubicBezTo>
                <a:cubicBezTo>
                  <a:pt x="81510" y="17586"/>
                  <a:pt x="123848" y="0"/>
                  <a:pt x="168687" y="0"/>
                </a:cubicBezTo>
                <a:cubicBezTo>
                  <a:pt x="213526" y="0"/>
                  <a:pt x="255864" y="17586"/>
                  <a:pt x="287784" y="49507"/>
                </a:cubicBezTo>
                <a:cubicBezTo>
                  <a:pt x="319705" y="81427"/>
                  <a:pt x="337290" y="123682"/>
                  <a:pt x="337290" y="168604"/>
                </a:cubicBezTo>
                <a:lnTo>
                  <a:pt x="337290" y="311787"/>
                </a:lnTo>
                <a:cubicBezTo>
                  <a:pt x="337290" y="325789"/>
                  <a:pt x="325956" y="337123"/>
                  <a:pt x="311954" y="337123"/>
                </a:cubicBezTo>
                <a:close/>
                <a:moveTo>
                  <a:pt x="575401" y="337207"/>
                </a:moveTo>
                <a:lnTo>
                  <a:pt x="432218" y="337207"/>
                </a:lnTo>
                <a:cubicBezTo>
                  <a:pt x="418216" y="337207"/>
                  <a:pt x="406882" y="325872"/>
                  <a:pt x="406882" y="311870"/>
                </a:cubicBezTo>
                <a:lnTo>
                  <a:pt x="406882" y="168687"/>
                </a:lnTo>
                <a:cubicBezTo>
                  <a:pt x="406882" y="123849"/>
                  <a:pt x="424467" y="81510"/>
                  <a:pt x="456387" y="49590"/>
                </a:cubicBezTo>
                <a:cubicBezTo>
                  <a:pt x="488308" y="17669"/>
                  <a:pt x="530563" y="0"/>
                  <a:pt x="575401" y="0"/>
                </a:cubicBezTo>
                <a:cubicBezTo>
                  <a:pt x="620240" y="0"/>
                  <a:pt x="662578" y="17586"/>
                  <a:pt x="694498" y="49507"/>
                </a:cubicBezTo>
                <a:cubicBezTo>
                  <a:pt x="726419" y="81427"/>
                  <a:pt x="744004" y="123765"/>
                  <a:pt x="744004" y="168604"/>
                </a:cubicBezTo>
                <a:cubicBezTo>
                  <a:pt x="744004" y="213442"/>
                  <a:pt x="726419" y="255780"/>
                  <a:pt x="694498" y="287701"/>
                </a:cubicBezTo>
                <a:cubicBezTo>
                  <a:pt x="662578" y="319621"/>
                  <a:pt x="620323" y="337207"/>
                  <a:pt x="575401" y="337207"/>
                </a:cubicBezTo>
                <a:close/>
                <a:moveTo>
                  <a:pt x="168604" y="720001"/>
                </a:moveTo>
                <a:cubicBezTo>
                  <a:pt x="123682" y="720001"/>
                  <a:pt x="81427" y="702416"/>
                  <a:pt x="49507" y="670495"/>
                </a:cubicBezTo>
                <a:cubicBezTo>
                  <a:pt x="17586" y="638575"/>
                  <a:pt x="0" y="596320"/>
                  <a:pt x="0" y="551398"/>
                </a:cubicBezTo>
                <a:cubicBezTo>
                  <a:pt x="0" y="506476"/>
                  <a:pt x="17586" y="464221"/>
                  <a:pt x="49507" y="432301"/>
                </a:cubicBezTo>
                <a:cubicBezTo>
                  <a:pt x="81510" y="400464"/>
                  <a:pt x="123848" y="382879"/>
                  <a:pt x="168687" y="382879"/>
                </a:cubicBezTo>
                <a:lnTo>
                  <a:pt x="311871" y="382879"/>
                </a:lnTo>
                <a:cubicBezTo>
                  <a:pt x="325872" y="382879"/>
                  <a:pt x="337207" y="394297"/>
                  <a:pt x="337207" y="408215"/>
                </a:cubicBezTo>
                <a:lnTo>
                  <a:pt x="337207" y="551398"/>
                </a:lnTo>
                <a:cubicBezTo>
                  <a:pt x="337207" y="596237"/>
                  <a:pt x="319621" y="638575"/>
                  <a:pt x="287701" y="670495"/>
                </a:cubicBezTo>
                <a:cubicBezTo>
                  <a:pt x="255781" y="702416"/>
                  <a:pt x="213526" y="720001"/>
                  <a:pt x="168604" y="720001"/>
                </a:cubicBezTo>
                <a:close/>
                <a:moveTo>
                  <a:pt x="575401" y="720001"/>
                </a:moveTo>
                <a:cubicBezTo>
                  <a:pt x="530563" y="720001"/>
                  <a:pt x="488224" y="702416"/>
                  <a:pt x="456304" y="670495"/>
                </a:cubicBezTo>
                <a:cubicBezTo>
                  <a:pt x="424383" y="638575"/>
                  <a:pt x="406798" y="596320"/>
                  <a:pt x="406798" y="551398"/>
                </a:cubicBezTo>
                <a:lnTo>
                  <a:pt x="406798" y="408215"/>
                </a:lnTo>
                <a:cubicBezTo>
                  <a:pt x="406882" y="394213"/>
                  <a:pt x="418216" y="382879"/>
                  <a:pt x="432218" y="382879"/>
                </a:cubicBezTo>
                <a:lnTo>
                  <a:pt x="575401" y="382879"/>
                </a:lnTo>
                <a:cubicBezTo>
                  <a:pt x="620240" y="382879"/>
                  <a:pt x="662578" y="400464"/>
                  <a:pt x="694498" y="432385"/>
                </a:cubicBezTo>
                <a:cubicBezTo>
                  <a:pt x="726419" y="464305"/>
                  <a:pt x="744004" y="506560"/>
                  <a:pt x="744004" y="551398"/>
                </a:cubicBezTo>
                <a:cubicBezTo>
                  <a:pt x="744004" y="596237"/>
                  <a:pt x="726419" y="638575"/>
                  <a:pt x="694498" y="670495"/>
                </a:cubicBezTo>
                <a:cubicBezTo>
                  <a:pt x="662578" y="702416"/>
                  <a:pt x="620323" y="720001"/>
                  <a:pt x="575401" y="720001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0" flipV="0">
            <a:off x="8255379" y="2011461"/>
            <a:ext cx="3263186" cy="3206396"/>
          </a:xfrm>
          <a:prstGeom prst="roundRect">
            <a:avLst>
              <a:gd name="adj" fmla="val 5292"/>
            </a:avLst>
          </a:prstGeom>
          <a:gradFill>
            <a:gsLst>
              <a:gs pos="0">
                <a:schemeClr val="bg1"/>
              </a:gs>
              <a:gs pos="95000">
                <a:schemeClr val="accent1">
                  <a:lumMod val="60000"/>
                  <a:lumOff val="40000"/>
                  <a:alpha val="50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0" flipH="0" flipV="0">
            <a:off x="8255379" y="1227221"/>
            <a:ext cx="3263186" cy="784240"/>
          </a:xfrm>
          <a:prstGeom prst="roundRect">
            <a:avLst>
              <a:gd name="adj" fmla="val 6789"/>
            </a:avLst>
          </a:prstGeom>
          <a:gradFill>
            <a:gsLst>
              <a:gs pos="0">
                <a:schemeClr val="accent1"/>
              </a:gs>
              <a:gs pos="95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0" flipH="0" flipV="0">
            <a:off x="9385155" y="4761366"/>
            <a:ext cx="1003634" cy="1003634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  <a:effectLst>
            <a:outerShdw dist="50800" blurRad="127000" dir="2700000" sx="100000" sy="100000" kx="0" ky="0" algn="tl" rotWithShape="0">
              <a:schemeClr val="accent1"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0" flipV="0">
            <a:off x="8532105" y="2256770"/>
            <a:ext cx="2709735" cy="22592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024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Subtopic 1：服务对象包括身体健康的活力老人、患有慢性疾病的老人以及失能、半失能老人。
Subtopic 2：针对不同健康状况老人，养老院提供个性化护理和医疗服务，如慢性病管理、康复护理、临终关怀等，满足老人多样化健康需求。
Subtopic 3：通过智能化健康管理系统，实时监测老人健康状况，及时发现潜在问题并干预，提升老人健康水平，增强客户对养老院的信任度。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0" flipH="0" flipV="0">
            <a:off x="8558411" y="1227221"/>
            <a:ext cx="2657122" cy="78424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健康状况</a:t>
            </a: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rot="0" flipH="0" flipV="0">
            <a:off x="9630462" y="5006673"/>
            <a:ext cx="513020" cy="513020"/>
          </a:xfrm>
          <a:custGeom>
            <a:avLst/>
            <a:gdLst>
              <a:gd name="connsiteX0" fmla="*/ 457070 w 720001"/>
              <a:gd name="connsiteY0" fmla="*/ 57166 h 720001"/>
              <a:gd name="connsiteX1" fmla="*/ 457070 w 720001"/>
              <a:gd name="connsiteY1" fmla="*/ 263017 h 720001"/>
              <a:gd name="connsiteX2" fmla="*/ 662921 w 720001"/>
              <a:gd name="connsiteY2" fmla="*/ 263017 h 720001"/>
              <a:gd name="connsiteX3" fmla="*/ 647393 w 720001"/>
              <a:gd name="connsiteY3" fmla="*/ 212704 h 720001"/>
              <a:gd name="connsiteX4" fmla="*/ 591008 w 720001"/>
              <a:gd name="connsiteY4" fmla="*/ 129080 h 720001"/>
              <a:gd name="connsiteX5" fmla="*/ 507383 w 720001"/>
              <a:gd name="connsiteY5" fmla="*/ 72694 h 720001"/>
              <a:gd name="connsiteX6" fmla="*/ 457070 w 720001"/>
              <a:gd name="connsiteY6" fmla="*/ 57166 h 720001"/>
              <a:gd name="connsiteX7" fmla="*/ 405022 w 720001"/>
              <a:gd name="connsiteY7" fmla="*/ 0 h 720001"/>
              <a:gd name="connsiteX8" fmla="*/ 720001 w 720001"/>
              <a:gd name="connsiteY8" fmla="*/ 314979 h 720001"/>
              <a:gd name="connsiteX9" fmla="*/ 405022 w 720001"/>
              <a:gd name="connsiteY9" fmla="*/ 314979 h 720001"/>
              <a:gd name="connsiteX10" fmla="*/ 360000 w 720001"/>
              <a:gd name="connsiteY10" fmla="*/ 0 h 720001"/>
              <a:gd name="connsiteX11" fmla="*/ 360000 w 720001"/>
              <a:gd name="connsiteY11" fmla="*/ 360000 h 720001"/>
              <a:gd name="connsiteX12" fmla="*/ 720000 w 720001"/>
              <a:gd name="connsiteY12" fmla="*/ 360000 h 720001"/>
              <a:gd name="connsiteX13" fmla="*/ 360000 w 720001"/>
              <a:gd name="connsiteY13" fmla="*/ 720001 h 720001"/>
              <a:gd name="connsiteX14" fmla="*/ 0 w 720001"/>
              <a:gd name="connsiteY14" fmla="*/ 360000 h 720001"/>
              <a:gd name="connsiteX15" fmla="*/ 360000 w 720001"/>
              <a:gd name="connsiteY15" fmla="*/ 0 h 720001"/>
            </a:gdLst>
            <a:rect l="l" t="t" r="r" b="b"/>
            <a:pathLst>
              <a:path w="720001" h="720001">
                <a:moveTo>
                  <a:pt x="457070" y="57166"/>
                </a:moveTo>
                <a:lnTo>
                  <a:pt x="457070" y="263017"/>
                </a:lnTo>
                <a:lnTo>
                  <a:pt x="662921" y="263017"/>
                </a:lnTo>
                <a:cubicBezTo>
                  <a:pt x="659451" y="245755"/>
                  <a:pt x="654246" y="229012"/>
                  <a:pt x="647393" y="212704"/>
                </a:cubicBezTo>
                <a:cubicBezTo>
                  <a:pt x="634121" y="181388"/>
                  <a:pt x="615210" y="153282"/>
                  <a:pt x="591008" y="129080"/>
                </a:cubicBezTo>
                <a:cubicBezTo>
                  <a:pt x="566806" y="104878"/>
                  <a:pt x="538699" y="85967"/>
                  <a:pt x="507383" y="72694"/>
                </a:cubicBezTo>
                <a:cubicBezTo>
                  <a:pt x="491075" y="65755"/>
                  <a:pt x="474246" y="60637"/>
                  <a:pt x="457070" y="57166"/>
                </a:cubicBezTo>
                <a:close/>
                <a:moveTo>
                  <a:pt x="405022" y="0"/>
                </a:moveTo>
                <a:cubicBezTo>
                  <a:pt x="578950" y="0"/>
                  <a:pt x="720001" y="141051"/>
                  <a:pt x="720001" y="314979"/>
                </a:cubicBezTo>
                <a:lnTo>
                  <a:pt x="405022" y="314979"/>
                </a:lnTo>
                <a:close/>
                <a:moveTo>
                  <a:pt x="360000" y="0"/>
                </a:moveTo>
                <a:lnTo>
                  <a:pt x="360000" y="360000"/>
                </a:lnTo>
                <a:lnTo>
                  <a:pt x="720000" y="360000"/>
                </a:lnTo>
                <a:cubicBezTo>
                  <a:pt x="720000" y="558825"/>
                  <a:pt x="558824" y="720001"/>
                  <a:pt x="360000" y="720001"/>
                </a:cubicBezTo>
                <a:cubicBezTo>
                  <a:pt x="161176" y="720001"/>
                  <a:pt x="0" y="558825"/>
                  <a:pt x="0" y="360000"/>
                </a:cubicBezTo>
                <a:cubicBezTo>
                  <a:pt x="0" y="161176"/>
                  <a:pt x="161176" y="0"/>
                  <a:pt x="360000" y="0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rot="0" flipH="0" flipV="0">
            <a:off x="316690" y="373380"/>
            <a:ext cx="8171180" cy="65532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 rot="0" flipH="0" flipV="0">
            <a:off x="783520" y="484345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目标客户群体</a:t>
            </a: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 rot="0" flipH="0" flipV="0">
            <a:off x="324256" y="626624"/>
            <a:ext cx="402076" cy="402076"/>
          </a:xfrm>
          <a:prstGeom prst="rtTriangl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10800000" flipH="0" flipV="0">
            <a:off x="3904795" y="3351891"/>
            <a:ext cx="246736" cy="138110"/>
          </a:xfrm>
          <a:prstGeom prst="triangle">
            <a:avLst/>
          </a:prstGeom>
          <a:solidFill>
            <a:schemeClr val="accent1"/>
          </a:solidFill>
          <a:ln cap="sq">
            <a:noFill/>
            <a:prstDash val="solid"/>
          </a:ln>
          <a:effectLst/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10800000" flipH="0" flipV="0">
            <a:off x="8124709" y="3351890"/>
            <a:ext cx="246736" cy="138110"/>
          </a:xfrm>
          <a:prstGeom prst="triangle">
            <a:avLst/>
          </a:prstGeom>
          <a:solidFill>
            <a:schemeClr val="accent2"/>
          </a:solidFill>
          <a:ln cap="sq">
            <a:noFill/>
            <a:prstDash val="solid"/>
          </a:ln>
          <a:effectLst/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2516632" y="3623535"/>
            <a:ext cx="2944368" cy="567466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64008" tIns="32004" rIns="64008" bIns="32004" rtlCol="0" anchor="b"/>
          <a:lstStyle/>
          <a:p>
            <a:pPr algn="ctr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市场规模增长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2516632" y="4264673"/>
            <a:ext cx="2946908" cy="1854188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64008" tIns="32004" rIns="64008" bIns="32004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958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Subtopic 1：随着人口老龄化加剧和老年人消费观念转变，智能养老服务市场规模持续扩大，预计未来 5 年年增长率超 20%。
Subtopic 2：本地市场对高端智能养老服务需求旺盛，潜在客户群体庞大，为 AI 芯颐养院发展提供广阔空间。
Subtopic 3：通过市场调研和数据分析，预测未来几年智能养老服务市场规模将从 100 亿元增长至 200 亿元，年均增长 30 亿元。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6759406" y="3623534"/>
            <a:ext cx="2943394" cy="567466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64008" tIns="32004" rIns="64008" bIns="32004" rtlCol="0" anchor="b"/>
          <a:lstStyle/>
          <a:p>
            <a:pPr algn="ctr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市场占有率提升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6759406" y="4264672"/>
            <a:ext cx="2946908" cy="1854188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64008" tIns="32004" rIns="64008" bIns="32004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958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Subtopic 1：AI 芯颐养院凭借技术领先、服务优质、品牌优势，在本地市场具有较强竞争力，预计开业 3 年内市场占有率达 20%以上。
Subtopic 2：通过品牌营销、合作拓展等手段，不断提升市场知名度和影响力，吸引更多客户选择 AI 芯颐养院。
Subtopic 3：结合市场数据和竞争分析，预测 AI 芯颐养院市场占有率将从开业初期的 5%逐步提升至 30%，成为本地高端智能养老市场的领导者。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9000000" flipH="0" flipV="0">
            <a:off x="7540001" y="1920618"/>
            <a:ext cx="1416152" cy="1266382"/>
          </a:xfrm>
          <a:custGeom>
            <a:avLst/>
            <a:gdLst>
              <a:gd name="connsiteX0" fmla="*/ 7866683 w 8105775"/>
              <a:gd name="connsiteY0" fmla="*/ 3469179 h 7248525"/>
              <a:gd name="connsiteX1" fmla="*/ 6844650 w 8105775"/>
              <a:gd name="connsiteY1" fmla="*/ 1416541 h 7248525"/>
              <a:gd name="connsiteX2" fmla="*/ 5800711 w 8105775"/>
              <a:gd name="connsiteY2" fmla="*/ 430704 h 7248525"/>
              <a:gd name="connsiteX3" fmla="*/ 1604948 w 8105775"/>
              <a:gd name="connsiteY3" fmla="*/ 1225089 h 7248525"/>
              <a:gd name="connsiteX4" fmla="*/ 8558 w 8105775"/>
              <a:gd name="connsiteY4" fmla="*/ 4330239 h 7248525"/>
              <a:gd name="connsiteX5" fmla="*/ 1055355 w 8105775"/>
              <a:gd name="connsiteY5" fmla="*/ 6109509 h 7248525"/>
              <a:gd name="connsiteX6" fmla="*/ 2590785 w 8105775"/>
              <a:gd name="connsiteY6" fmla="*/ 6781022 h 7248525"/>
              <a:gd name="connsiteX7" fmla="*/ 4990133 w 8105775"/>
              <a:gd name="connsiteY7" fmla="*/ 7234412 h 7248525"/>
              <a:gd name="connsiteX8" fmla="*/ 6442696 w 8105775"/>
              <a:gd name="connsiteY8" fmla="*/ 7103919 h 7248525"/>
              <a:gd name="connsiteX9" fmla="*/ 7065631 w 8105775"/>
              <a:gd name="connsiteY9" fmla="*/ 6813406 h 7248525"/>
              <a:gd name="connsiteX10" fmla="*/ 7575218 w 8105775"/>
              <a:gd name="connsiteY10" fmla="*/ 6330489 h 7248525"/>
              <a:gd name="connsiteX11" fmla="*/ 8074328 w 8105775"/>
              <a:gd name="connsiteY11" fmla="*/ 5337031 h 7248525"/>
              <a:gd name="connsiteX12" fmla="*/ 8036228 w 8105775"/>
              <a:gd name="connsiteY12" fmla="*/ 4195937 h 7248525"/>
              <a:gd name="connsiteX13" fmla="*/ 7866683 w 8105775"/>
              <a:gd name="connsiteY13" fmla="*/ 3469179 h 7248525"/>
            </a:gdLst>
            <a:rect l="l" t="t" r="r" b="b"/>
            <a:pathLst>
              <a:path w="8105775" h="7248525">
                <a:moveTo>
                  <a:pt x="7866683" y="3469179"/>
                </a:moveTo>
                <a:cubicBezTo>
                  <a:pt x="7655228" y="2729086"/>
                  <a:pt x="7324711" y="2029951"/>
                  <a:pt x="6844650" y="1416541"/>
                </a:cubicBezTo>
                <a:cubicBezTo>
                  <a:pt x="6549375" y="1038399"/>
                  <a:pt x="6199808" y="699309"/>
                  <a:pt x="5800711" y="430704"/>
                </a:cubicBezTo>
                <a:cubicBezTo>
                  <a:pt x="4204321" y="-641811"/>
                  <a:pt x="2276460" y="544051"/>
                  <a:pt x="1604948" y="1225089"/>
                </a:cubicBezTo>
                <a:cubicBezTo>
                  <a:pt x="933435" y="1906126"/>
                  <a:pt x="-104790" y="3310111"/>
                  <a:pt x="8558" y="4330239"/>
                </a:cubicBezTo>
                <a:cubicBezTo>
                  <a:pt x="121905" y="5350367"/>
                  <a:pt x="583868" y="5796137"/>
                  <a:pt x="1055355" y="6109509"/>
                </a:cubicBezTo>
                <a:cubicBezTo>
                  <a:pt x="1526843" y="6423834"/>
                  <a:pt x="2328848" y="6711489"/>
                  <a:pt x="2590785" y="6781022"/>
                </a:cubicBezTo>
                <a:cubicBezTo>
                  <a:pt x="2852723" y="6850554"/>
                  <a:pt x="4212893" y="7164879"/>
                  <a:pt x="4990133" y="7234412"/>
                </a:cubicBezTo>
                <a:cubicBezTo>
                  <a:pt x="5474003" y="7278226"/>
                  <a:pt x="5975971" y="7243937"/>
                  <a:pt x="6442696" y="7103919"/>
                </a:cubicBezTo>
                <a:cubicBezTo>
                  <a:pt x="6659866" y="7039149"/>
                  <a:pt x="6885608" y="6952472"/>
                  <a:pt x="7065631" y="6813406"/>
                </a:cubicBezTo>
                <a:cubicBezTo>
                  <a:pt x="7251368" y="6670531"/>
                  <a:pt x="7423771" y="6509559"/>
                  <a:pt x="7575218" y="6330489"/>
                </a:cubicBezTo>
                <a:cubicBezTo>
                  <a:pt x="7816200" y="6043787"/>
                  <a:pt x="8001938" y="5706601"/>
                  <a:pt x="8074328" y="5337031"/>
                </a:cubicBezTo>
                <a:cubicBezTo>
                  <a:pt x="8147671" y="4960794"/>
                  <a:pt x="8104808" y="4572174"/>
                  <a:pt x="8036228" y="4195937"/>
                </a:cubicBezTo>
                <a:cubicBezTo>
                  <a:pt x="7990508" y="3951144"/>
                  <a:pt x="7935263" y="3708256"/>
                  <a:pt x="7866683" y="3469179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20000"/>
                </a:schemeClr>
              </a:gs>
              <a:gs pos="100000">
                <a:schemeClr val="accent2">
                  <a:lumMod val="60000"/>
                  <a:lumOff val="40000"/>
                  <a:alpha val="100000"/>
                </a:schemeClr>
              </a:gs>
            </a:gsLst>
            <a:lin ang="5400000" scaled="0"/>
          </a:gradFill>
          <a:ln cap="sq">
            <a:noFill/>
          </a:ln>
          <a:effectLst>
            <a:outerShdw dist="203200" blurRad="330200" dir="5400000" sx="90000" sy="90000" kx="0" ky="0" algn="t" rotWithShape="0">
              <a:schemeClr val="accent2">
                <a:lumMod val="50000"/>
                <a:alpha val="65000"/>
              </a:schemeClr>
            </a:outerShdw>
          </a:effectLst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9000000" flipH="0" flipV="0">
            <a:off x="7612952" y="1973154"/>
            <a:ext cx="1270248" cy="1135910"/>
          </a:xfrm>
          <a:custGeom>
            <a:avLst/>
            <a:gdLst>
              <a:gd name="connsiteX0" fmla="*/ 7866683 w 8105775"/>
              <a:gd name="connsiteY0" fmla="*/ 3469179 h 7248525"/>
              <a:gd name="connsiteX1" fmla="*/ 6844650 w 8105775"/>
              <a:gd name="connsiteY1" fmla="*/ 1416541 h 7248525"/>
              <a:gd name="connsiteX2" fmla="*/ 5800711 w 8105775"/>
              <a:gd name="connsiteY2" fmla="*/ 430704 h 7248525"/>
              <a:gd name="connsiteX3" fmla="*/ 1604948 w 8105775"/>
              <a:gd name="connsiteY3" fmla="*/ 1225089 h 7248525"/>
              <a:gd name="connsiteX4" fmla="*/ 8558 w 8105775"/>
              <a:gd name="connsiteY4" fmla="*/ 4330239 h 7248525"/>
              <a:gd name="connsiteX5" fmla="*/ 1055355 w 8105775"/>
              <a:gd name="connsiteY5" fmla="*/ 6109509 h 7248525"/>
              <a:gd name="connsiteX6" fmla="*/ 2590785 w 8105775"/>
              <a:gd name="connsiteY6" fmla="*/ 6781022 h 7248525"/>
              <a:gd name="connsiteX7" fmla="*/ 4990133 w 8105775"/>
              <a:gd name="connsiteY7" fmla="*/ 7234412 h 7248525"/>
              <a:gd name="connsiteX8" fmla="*/ 6442696 w 8105775"/>
              <a:gd name="connsiteY8" fmla="*/ 7103919 h 7248525"/>
              <a:gd name="connsiteX9" fmla="*/ 7065631 w 8105775"/>
              <a:gd name="connsiteY9" fmla="*/ 6813406 h 7248525"/>
              <a:gd name="connsiteX10" fmla="*/ 7575218 w 8105775"/>
              <a:gd name="connsiteY10" fmla="*/ 6330489 h 7248525"/>
              <a:gd name="connsiteX11" fmla="*/ 8074328 w 8105775"/>
              <a:gd name="connsiteY11" fmla="*/ 5337031 h 7248525"/>
              <a:gd name="connsiteX12" fmla="*/ 8036228 w 8105775"/>
              <a:gd name="connsiteY12" fmla="*/ 4195937 h 7248525"/>
              <a:gd name="connsiteX13" fmla="*/ 7866683 w 8105775"/>
              <a:gd name="connsiteY13" fmla="*/ 3469179 h 7248525"/>
            </a:gdLst>
            <a:rect l="l" t="t" r="r" b="b"/>
            <a:pathLst>
              <a:path w="8105775" h="7248525">
                <a:moveTo>
                  <a:pt x="7866683" y="3469179"/>
                </a:moveTo>
                <a:cubicBezTo>
                  <a:pt x="7655228" y="2729086"/>
                  <a:pt x="7324711" y="2029951"/>
                  <a:pt x="6844650" y="1416541"/>
                </a:cubicBezTo>
                <a:cubicBezTo>
                  <a:pt x="6549375" y="1038399"/>
                  <a:pt x="6199808" y="699309"/>
                  <a:pt x="5800711" y="430704"/>
                </a:cubicBezTo>
                <a:cubicBezTo>
                  <a:pt x="4204321" y="-641811"/>
                  <a:pt x="2276460" y="544051"/>
                  <a:pt x="1604948" y="1225089"/>
                </a:cubicBezTo>
                <a:cubicBezTo>
                  <a:pt x="933435" y="1906126"/>
                  <a:pt x="-104790" y="3310111"/>
                  <a:pt x="8558" y="4330239"/>
                </a:cubicBezTo>
                <a:cubicBezTo>
                  <a:pt x="121905" y="5350367"/>
                  <a:pt x="583868" y="5796137"/>
                  <a:pt x="1055355" y="6109509"/>
                </a:cubicBezTo>
                <a:cubicBezTo>
                  <a:pt x="1526843" y="6423834"/>
                  <a:pt x="2328848" y="6711489"/>
                  <a:pt x="2590785" y="6781022"/>
                </a:cubicBezTo>
                <a:cubicBezTo>
                  <a:pt x="2852723" y="6850554"/>
                  <a:pt x="4212893" y="7164879"/>
                  <a:pt x="4990133" y="7234412"/>
                </a:cubicBezTo>
                <a:cubicBezTo>
                  <a:pt x="5474003" y="7278226"/>
                  <a:pt x="5975971" y="7243937"/>
                  <a:pt x="6442696" y="7103919"/>
                </a:cubicBezTo>
                <a:cubicBezTo>
                  <a:pt x="6659866" y="7039149"/>
                  <a:pt x="6885608" y="6952472"/>
                  <a:pt x="7065631" y="6813406"/>
                </a:cubicBezTo>
                <a:cubicBezTo>
                  <a:pt x="7251368" y="6670531"/>
                  <a:pt x="7423771" y="6509559"/>
                  <a:pt x="7575218" y="6330489"/>
                </a:cubicBezTo>
                <a:cubicBezTo>
                  <a:pt x="7816200" y="6043787"/>
                  <a:pt x="8001938" y="5706601"/>
                  <a:pt x="8074328" y="5337031"/>
                </a:cubicBezTo>
                <a:cubicBezTo>
                  <a:pt x="8147671" y="4960794"/>
                  <a:pt x="8104808" y="4572174"/>
                  <a:pt x="8036228" y="4195937"/>
                </a:cubicBezTo>
                <a:cubicBezTo>
                  <a:pt x="7990508" y="3951144"/>
                  <a:pt x="7935263" y="3708256"/>
                  <a:pt x="7866683" y="3469179"/>
                </a:cubicBezTo>
                <a:close/>
              </a:path>
            </a:pathLst>
          </a:custGeom>
          <a:solidFill>
            <a:schemeClr val="accent2"/>
          </a:solidFill>
          <a:ln cap="sq">
            <a:noFill/>
            <a:prstDash val="solid"/>
          </a:ln>
          <a:effectLst/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20700000" flipH="0" flipV="0">
            <a:off x="3281987" y="1920618"/>
            <a:ext cx="1416152" cy="1266382"/>
          </a:xfrm>
          <a:custGeom>
            <a:avLst/>
            <a:gdLst>
              <a:gd name="connsiteX0" fmla="*/ 7866683 w 8105775"/>
              <a:gd name="connsiteY0" fmla="*/ 3469179 h 7248525"/>
              <a:gd name="connsiteX1" fmla="*/ 6844650 w 8105775"/>
              <a:gd name="connsiteY1" fmla="*/ 1416541 h 7248525"/>
              <a:gd name="connsiteX2" fmla="*/ 5800711 w 8105775"/>
              <a:gd name="connsiteY2" fmla="*/ 430704 h 7248525"/>
              <a:gd name="connsiteX3" fmla="*/ 1604948 w 8105775"/>
              <a:gd name="connsiteY3" fmla="*/ 1225089 h 7248525"/>
              <a:gd name="connsiteX4" fmla="*/ 8558 w 8105775"/>
              <a:gd name="connsiteY4" fmla="*/ 4330239 h 7248525"/>
              <a:gd name="connsiteX5" fmla="*/ 1055355 w 8105775"/>
              <a:gd name="connsiteY5" fmla="*/ 6109509 h 7248525"/>
              <a:gd name="connsiteX6" fmla="*/ 2590785 w 8105775"/>
              <a:gd name="connsiteY6" fmla="*/ 6781022 h 7248525"/>
              <a:gd name="connsiteX7" fmla="*/ 4990133 w 8105775"/>
              <a:gd name="connsiteY7" fmla="*/ 7234412 h 7248525"/>
              <a:gd name="connsiteX8" fmla="*/ 6442696 w 8105775"/>
              <a:gd name="connsiteY8" fmla="*/ 7103919 h 7248525"/>
              <a:gd name="connsiteX9" fmla="*/ 7065631 w 8105775"/>
              <a:gd name="connsiteY9" fmla="*/ 6813406 h 7248525"/>
              <a:gd name="connsiteX10" fmla="*/ 7575218 w 8105775"/>
              <a:gd name="connsiteY10" fmla="*/ 6330489 h 7248525"/>
              <a:gd name="connsiteX11" fmla="*/ 8074328 w 8105775"/>
              <a:gd name="connsiteY11" fmla="*/ 5337031 h 7248525"/>
              <a:gd name="connsiteX12" fmla="*/ 8036228 w 8105775"/>
              <a:gd name="connsiteY12" fmla="*/ 4195937 h 7248525"/>
              <a:gd name="connsiteX13" fmla="*/ 7866683 w 8105775"/>
              <a:gd name="connsiteY13" fmla="*/ 3469179 h 7248525"/>
            </a:gdLst>
            <a:rect l="l" t="t" r="r" b="b"/>
            <a:pathLst>
              <a:path w="8105775" h="7248525">
                <a:moveTo>
                  <a:pt x="7866683" y="3469179"/>
                </a:moveTo>
                <a:cubicBezTo>
                  <a:pt x="7655228" y="2729086"/>
                  <a:pt x="7324711" y="2029951"/>
                  <a:pt x="6844650" y="1416541"/>
                </a:cubicBezTo>
                <a:cubicBezTo>
                  <a:pt x="6549375" y="1038399"/>
                  <a:pt x="6199808" y="699309"/>
                  <a:pt x="5800711" y="430704"/>
                </a:cubicBezTo>
                <a:cubicBezTo>
                  <a:pt x="4204321" y="-641811"/>
                  <a:pt x="2276460" y="544051"/>
                  <a:pt x="1604948" y="1225089"/>
                </a:cubicBezTo>
                <a:cubicBezTo>
                  <a:pt x="933435" y="1906126"/>
                  <a:pt x="-104790" y="3310111"/>
                  <a:pt x="8558" y="4330239"/>
                </a:cubicBezTo>
                <a:cubicBezTo>
                  <a:pt x="121905" y="5350367"/>
                  <a:pt x="583868" y="5796137"/>
                  <a:pt x="1055355" y="6109509"/>
                </a:cubicBezTo>
                <a:cubicBezTo>
                  <a:pt x="1526843" y="6423834"/>
                  <a:pt x="2328848" y="6711489"/>
                  <a:pt x="2590785" y="6781022"/>
                </a:cubicBezTo>
                <a:cubicBezTo>
                  <a:pt x="2852723" y="6850554"/>
                  <a:pt x="4212893" y="7164879"/>
                  <a:pt x="4990133" y="7234412"/>
                </a:cubicBezTo>
                <a:cubicBezTo>
                  <a:pt x="5474003" y="7278226"/>
                  <a:pt x="5975971" y="7243937"/>
                  <a:pt x="6442696" y="7103919"/>
                </a:cubicBezTo>
                <a:cubicBezTo>
                  <a:pt x="6659866" y="7039149"/>
                  <a:pt x="6885608" y="6952472"/>
                  <a:pt x="7065631" y="6813406"/>
                </a:cubicBezTo>
                <a:cubicBezTo>
                  <a:pt x="7251368" y="6670531"/>
                  <a:pt x="7423771" y="6509559"/>
                  <a:pt x="7575218" y="6330489"/>
                </a:cubicBezTo>
                <a:cubicBezTo>
                  <a:pt x="7816200" y="6043787"/>
                  <a:pt x="8001938" y="5706601"/>
                  <a:pt x="8074328" y="5337031"/>
                </a:cubicBezTo>
                <a:cubicBezTo>
                  <a:pt x="8147671" y="4960794"/>
                  <a:pt x="8104808" y="4572174"/>
                  <a:pt x="8036228" y="4195937"/>
                </a:cubicBezTo>
                <a:cubicBezTo>
                  <a:pt x="7990508" y="3951144"/>
                  <a:pt x="7935263" y="3708256"/>
                  <a:pt x="7866683" y="3469179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 cap="sq">
            <a:noFill/>
            <a:prstDash val="solid"/>
          </a:ln>
          <a:effectLst>
            <a:outerShdw dist="203200" blurRad="330200" dir="5400000" sx="90000" sy="90000" kx="0" ky="0" algn="t" rotWithShape="0">
              <a:schemeClr val="accent1">
                <a:lumMod val="50000"/>
                <a:alpha val="65000"/>
              </a:schemeClr>
            </a:outerShdw>
          </a:effectLst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20700000" flipH="0" flipV="0">
            <a:off x="3354938" y="1973154"/>
            <a:ext cx="1270250" cy="1135910"/>
          </a:xfrm>
          <a:custGeom>
            <a:avLst/>
            <a:gdLst>
              <a:gd name="connsiteX0" fmla="*/ 7866683 w 8105775"/>
              <a:gd name="connsiteY0" fmla="*/ 3469179 h 7248525"/>
              <a:gd name="connsiteX1" fmla="*/ 6844650 w 8105775"/>
              <a:gd name="connsiteY1" fmla="*/ 1416541 h 7248525"/>
              <a:gd name="connsiteX2" fmla="*/ 5800711 w 8105775"/>
              <a:gd name="connsiteY2" fmla="*/ 430704 h 7248525"/>
              <a:gd name="connsiteX3" fmla="*/ 1604948 w 8105775"/>
              <a:gd name="connsiteY3" fmla="*/ 1225089 h 7248525"/>
              <a:gd name="connsiteX4" fmla="*/ 8558 w 8105775"/>
              <a:gd name="connsiteY4" fmla="*/ 4330239 h 7248525"/>
              <a:gd name="connsiteX5" fmla="*/ 1055355 w 8105775"/>
              <a:gd name="connsiteY5" fmla="*/ 6109509 h 7248525"/>
              <a:gd name="connsiteX6" fmla="*/ 2590785 w 8105775"/>
              <a:gd name="connsiteY6" fmla="*/ 6781022 h 7248525"/>
              <a:gd name="connsiteX7" fmla="*/ 4990133 w 8105775"/>
              <a:gd name="connsiteY7" fmla="*/ 7234412 h 7248525"/>
              <a:gd name="connsiteX8" fmla="*/ 6442696 w 8105775"/>
              <a:gd name="connsiteY8" fmla="*/ 7103919 h 7248525"/>
              <a:gd name="connsiteX9" fmla="*/ 7065631 w 8105775"/>
              <a:gd name="connsiteY9" fmla="*/ 6813406 h 7248525"/>
              <a:gd name="connsiteX10" fmla="*/ 7575218 w 8105775"/>
              <a:gd name="connsiteY10" fmla="*/ 6330489 h 7248525"/>
              <a:gd name="connsiteX11" fmla="*/ 8074328 w 8105775"/>
              <a:gd name="connsiteY11" fmla="*/ 5337031 h 7248525"/>
              <a:gd name="connsiteX12" fmla="*/ 8036228 w 8105775"/>
              <a:gd name="connsiteY12" fmla="*/ 4195937 h 7248525"/>
              <a:gd name="connsiteX13" fmla="*/ 7866683 w 8105775"/>
              <a:gd name="connsiteY13" fmla="*/ 3469179 h 7248525"/>
            </a:gdLst>
            <a:rect l="l" t="t" r="r" b="b"/>
            <a:pathLst>
              <a:path w="8105775" h="7248525">
                <a:moveTo>
                  <a:pt x="7866683" y="3469179"/>
                </a:moveTo>
                <a:cubicBezTo>
                  <a:pt x="7655228" y="2729086"/>
                  <a:pt x="7324711" y="2029951"/>
                  <a:pt x="6844650" y="1416541"/>
                </a:cubicBezTo>
                <a:cubicBezTo>
                  <a:pt x="6549375" y="1038399"/>
                  <a:pt x="6199808" y="699309"/>
                  <a:pt x="5800711" y="430704"/>
                </a:cubicBezTo>
                <a:cubicBezTo>
                  <a:pt x="4204321" y="-641811"/>
                  <a:pt x="2276460" y="544051"/>
                  <a:pt x="1604948" y="1225089"/>
                </a:cubicBezTo>
                <a:cubicBezTo>
                  <a:pt x="933435" y="1906126"/>
                  <a:pt x="-104790" y="3310111"/>
                  <a:pt x="8558" y="4330239"/>
                </a:cubicBezTo>
                <a:cubicBezTo>
                  <a:pt x="121905" y="5350367"/>
                  <a:pt x="583868" y="5796137"/>
                  <a:pt x="1055355" y="6109509"/>
                </a:cubicBezTo>
                <a:cubicBezTo>
                  <a:pt x="1526843" y="6423834"/>
                  <a:pt x="2328848" y="6711489"/>
                  <a:pt x="2590785" y="6781022"/>
                </a:cubicBezTo>
                <a:cubicBezTo>
                  <a:pt x="2852723" y="6850554"/>
                  <a:pt x="4212893" y="7164879"/>
                  <a:pt x="4990133" y="7234412"/>
                </a:cubicBezTo>
                <a:cubicBezTo>
                  <a:pt x="5474003" y="7278226"/>
                  <a:pt x="5975971" y="7243937"/>
                  <a:pt x="6442696" y="7103919"/>
                </a:cubicBezTo>
                <a:cubicBezTo>
                  <a:pt x="6659866" y="7039149"/>
                  <a:pt x="6885608" y="6952472"/>
                  <a:pt x="7065631" y="6813406"/>
                </a:cubicBezTo>
                <a:cubicBezTo>
                  <a:pt x="7251368" y="6670531"/>
                  <a:pt x="7423771" y="6509559"/>
                  <a:pt x="7575218" y="6330489"/>
                </a:cubicBezTo>
                <a:cubicBezTo>
                  <a:pt x="7816200" y="6043787"/>
                  <a:pt x="8001938" y="5706601"/>
                  <a:pt x="8074328" y="5337031"/>
                </a:cubicBezTo>
                <a:cubicBezTo>
                  <a:pt x="8147671" y="4960794"/>
                  <a:pt x="8104808" y="4572174"/>
                  <a:pt x="8036228" y="4195937"/>
                </a:cubicBezTo>
                <a:cubicBezTo>
                  <a:pt x="7990508" y="3951144"/>
                  <a:pt x="7935263" y="3708256"/>
                  <a:pt x="7866683" y="3469179"/>
                </a:cubicBezTo>
                <a:close/>
              </a:path>
            </a:pathLst>
          </a:custGeom>
          <a:solidFill>
            <a:schemeClr val="accent1"/>
          </a:solidFill>
          <a:ln cap="sq">
            <a:noFill/>
            <a:prstDash val="solid"/>
          </a:ln>
          <a:effectLst/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3770271" y="2283218"/>
            <a:ext cx="515784" cy="515784"/>
          </a:xfrm>
          <a:custGeom>
            <a:avLst/>
            <a:gdLst>
              <a:gd name="connsiteX0" fmla="*/ 438553 w 720000"/>
              <a:gd name="connsiteY0" fmla="*/ 189601 h 720000"/>
              <a:gd name="connsiteX1" fmla="*/ 503636 w 720000"/>
              <a:gd name="connsiteY1" fmla="*/ 216365 h 720000"/>
              <a:gd name="connsiteX2" fmla="*/ 503636 w 720000"/>
              <a:gd name="connsiteY2" fmla="*/ 346445 h 720000"/>
              <a:gd name="connsiteX3" fmla="*/ 362260 w 720000"/>
              <a:gd name="connsiteY3" fmla="*/ 487907 h 720000"/>
              <a:gd name="connsiteX4" fmla="*/ 191861 w 720000"/>
              <a:gd name="connsiteY4" fmla="*/ 528226 h 720000"/>
              <a:gd name="connsiteX5" fmla="*/ 232180 w 720000"/>
              <a:gd name="connsiteY5" fmla="*/ 357827 h 720000"/>
              <a:gd name="connsiteX6" fmla="*/ 373556 w 720000"/>
              <a:gd name="connsiteY6" fmla="*/ 216452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339581 w 720000"/>
              <a:gd name="connsiteY9" fmla="*/ 182476 h 720000"/>
              <a:gd name="connsiteX10" fmla="*/ 198205 w 720000"/>
              <a:gd name="connsiteY10" fmla="*/ 323852 h 720000"/>
              <a:gd name="connsiteX11" fmla="*/ 141637 w 720000"/>
              <a:gd name="connsiteY11" fmla="*/ 578364 h 720000"/>
              <a:gd name="connsiteX12" fmla="*/ 396149 w 720000"/>
              <a:gd name="connsiteY12" fmla="*/ 521796 h 720000"/>
              <a:gd name="connsiteX13" fmla="*/ 537524 w 720000"/>
              <a:gd name="connsiteY13" fmla="*/ 380420 h 720000"/>
              <a:gd name="connsiteX14" fmla="*/ 537524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0 h 720000"/>
              <a:gd name="connsiteX17" fmla="*/ 600000 w 720000"/>
              <a:gd name="connsiteY17" fmla="*/ 0 h 720000"/>
              <a:gd name="connsiteX18" fmla="*/ 720000 w 720000"/>
              <a:gd name="connsiteY18" fmla="*/ 120000 h 720000"/>
              <a:gd name="connsiteX19" fmla="*/ 720000 w 720000"/>
              <a:gd name="connsiteY19" fmla="*/ 600000 h 720000"/>
              <a:gd name="connsiteX20" fmla="*/ 600000 w 720000"/>
              <a:gd name="connsiteY20" fmla="*/ 720000 h 720000"/>
              <a:gd name="connsiteX21" fmla="*/ 120000 w 720000"/>
              <a:gd name="connsiteY21" fmla="*/ 720000 h 720000"/>
              <a:gd name="connsiteX22" fmla="*/ 0 w 720000"/>
              <a:gd name="connsiteY22" fmla="*/ 600000 h 720000"/>
              <a:gd name="connsiteX23" fmla="*/ 0 w 720000"/>
              <a:gd name="connsiteY23" fmla="*/ 120000 h 720000"/>
              <a:gd name="connsiteX24" fmla="*/ 120000 w 720000"/>
              <a:gd name="connsiteY24" fmla="*/ 0 h 720000"/>
            </a:gdLst>
            <a:rect l="l" t="t" r="r" b="b"/>
            <a:pathLst>
              <a:path w="720000" h="720000">
                <a:moveTo>
                  <a:pt x="438553" y="189601"/>
                </a:moveTo>
                <a:cubicBezTo>
                  <a:pt x="463230" y="189601"/>
                  <a:pt x="486344" y="199073"/>
                  <a:pt x="503636" y="216365"/>
                </a:cubicBezTo>
                <a:cubicBezTo>
                  <a:pt x="539523" y="252252"/>
                  <a:pt x="539523" y="310557"/>
                  <a:pt x="503636" y="346445"/>
                </a:cubicBezTo>
                <a:lnTo>
                  <a:pt x="362260" y="487907"/>
                </a:lnTo>
                <a:cubicBezTo>
                  <a:pt x="342622" y="507545"/>
                  <a:pt x="266503" y="522665"/>
                  <a:pt x="191861" y="528226"/>
                </a:cubicBezTo>
                <a:cubicBezTo>
                  <a:pt x="197336" y="453584"/>
                  <a:pt x="212456" y="377465"/>
                  <a:pt x="232180" y="357827"/>
                </a:cubicBezTo>
                <a:lnTo>
                  <a:pt x="373556" y="216452"/>
                </a:lnTo>
                <a:cubicBezTo>
                  <a:pt x="390761" y="199073"/>
                  <a:pt x="413875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02666" y="141636"/>
                  <a:pt x="366778" y="155278"/>
                  <a:pt x="339581" y="182476"/>
                </a:cubicBezTo>
                <a:lnTo>
                  <a:pt x="198205" y="323852"/>
                </a:lnTo>
                <a:cubicBezTo>
                  <a:pt x="143723" y="378335"/>
                  <a:pt x="141637" y="578364"/>
                  <a:pt x="141637" y="578364"/>
                </a:cubicBezTo>
                <a:cubicBezTo>
                  <a:pt x="141637" y="578364"/>
                  <a:pt x="341753" y="576278"/>
                  <a:pt x="396149" y="521796"/>
                </a:cubicBezTo>
                <a:lnTo>
                  <a:pt x="537524" y="380420"/>
                </a:lnTo>
                <a:cubicBezTo>
                  <a:pt x="592007" y="325938"/>
                  <a:pt x="592007" y="236872"/>
                  <a:pt x="537524" y="182476"/>
                </a:cubicBezTo>
                <a:cubicBezTo>
                  <a:pt x="510327" y="155191"/>
                  <a:pt x="474440" y="141636"/>
                  <a:pt x="438553" y="141636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bg1"/>
          </a:solidFill>
          <a:ln cap="flat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7990184" y="2298039"/>
            <a:ext cx="515784" cy="486138"/>
          </a:xfrm>
          <a:custGeom>
            <a:avLst/>
            <a:gdLst>
              <a:gd name="connsiteX0" fmla="*/ 565749 w 763907"/>
              <a:gd name="connsiteY0" fmla="*/ 529546 h 720000"/>
              <a:gd name="connsiteX1" fmla="*/ 585849 w 763907"/>
              <a:gd name="connsiteY1" fmla="*/ 537865 h 720000"/>
              <a:gd name="connsiteX2" fmla="*/ 698960 w 763907"/>
              <a:gd name="connsiteY2" fmla="*/ 650977 h 720000"/>
              <a:gd name="connsiteX3" fmla="*/ 698960 w 763907"/>
              <a:gd name="connsiteY3" fmla="*/ 691178 h 720000"/>
              <a:gd name="connsiteX4" fmla="*/ 678860 w 763907"/>
              <a:gd name="connsiteY4" fmla="*/ 699521 h 720000"/>
              <a:gd name="connsiteX5" fmla="*/ 658760 w 763907"/>
              <a:gd name="connsiteY5" fmla="*/ 691178 h 720000"/>
              <a:gd name="connsiteX6" fmla="*/ 545648 w 763907"/>
              <a:gd name="connsiteY6" fmla="*/ 578066 h 720000"/>
              <a:gd name="connsiteX7" fmla="*/ 545648 w 763907"/>
              <a:gd name="connsiteY7" fmla="*/ 537865 h 720000"/>
              <a:gd name="connsiteX8" fmla="*/ 565749 w 763907"/>
              <a:gd name="connsiteY8" fmla="*/ 529546 h 720000"/>
              <a:gd name="connsiteX9" fmla="*/ 565749 w 763907"/>
              <a:gd name="connsiteY9" fmla="*/ 359807 h 720000"/>
              <a:gd name="connsiteX10" fmla="*/ 735464 w 763907"/>
              <a:gd name="connsiteY10" fmla="*/ 359807 h 720000"/>
              <a:gd name="connsiteX11" fmla="*/ 763907 w 763907"/>
              <a:gd name="connsiteY11" fmla="*/ 388251 h 720000"/>
              <a:gd name="connsiteX12" fmla="*/ 735464 w 763907"/>
              <a:gd name="connsiteY12" fmla="*/ 416695 h 720000"/>
              <a:gd name="connsiteX13" fmla="*/ 565749 w 763907"/>
              <a:gd name="connsiteY13" fmla="*/ 416695 h 720000"/>
              <a:gd name="connsiteX14" fmla="*/ 537305 w 763907"/>
              <a:gd name="connsiteY14" fmla="*/ 388251 h 720000"/>
              <a:gd name="connsiteX15" fmla="*/ 565749 w 763907"/>
              <a:gd name="connsiteY15" fmla="*/ 359807 h 720000"/>
              <a:gd name="connsiteX16" fmla="*/ 678860 w 763907"/>
              <a:gd name="connsiteY16" fmla="*/ 77005 h 720000"/>
              <a:gd name="connsiteX17" fmla="*/ 698960 w 763907"/>
              <a:gd name="connsiteY17" fmla="*/ 85325 h 720000"/>
              <a:gd name="connsiteX18" fmla="*/ 698960 w 763907"/>
              <a:gd name="connsiteY18" fmla="*/ 125525 h 720000"/>
              <a:gd name="connsiteX19" fmla="*/ 585849 w 763907"/>
              <a:gd name="connsiteY19" fmla="*/ 238636 h 720000"/>
              <a:gd name="connsiteX20" fmla="*/ 565749 w 763907"/>
              <a:gd name="connsiteY20" fmla="*/ 246980 h 720000"/>
              <a:gd name="connsiteX21" fmla="*/ 545648 w 763907"/>
              <a:gd name="connsiteY21" fmla="*/ 238636 h 720000"/>
              <a:gd name="connsiteX22" fmla="*/ 545648 w 763907"/>
              <a:gd name="connsiteY22" fmla="*/ 198436 h 720000"/>
              <a:gd name="connsiteX23" fmla="*/ 658760 w 763907"/>
              <a:gd name="connsiteY23" fmla="*/ 85325 h 720000"/>
              <a:gd name="connsiteX24" fmla="*/ 678860 w 763907"/>
              <a:gd name="connsiteY24" fmla="*/ 77005 h 720000"/>
              <a:gd name="connsiteX25" fmla="*/ 362802 w 763907"/>
              <a:gd name="connsiteY25" fmla="*/ 5 h 720000"/>
              <a:gd name="connsiteX26" fmla="*/ 422012 w 763907"/>
              <a:gd name="connsiteY26" fmla="*/ 16490 h 720000"/>
              <a:gd name="connsiteX27" fmla="*/ 481080 w 763907"/>
              <a:gd name="connsiteY27" fmla="*/ 119457 h 720000"/>
              <a:gd name="connsiteX28" fmla="*/ 481080 w 763907"/>
              <a:gd name="connsiteY28" fmla="*/ 600631 h 720000"/>
              <a:gd name="connsiteX29" fmla="*/ 422012 w 763907"/>
              <a:gd name="connsiteY29" fmla="*/ 703598 h 720000"/>
              <a:gd name="connsiteX30" fmla="*/ 361806 w 763907"/>
              <a:gd name="connsiteY30" fmla="*/ 720000 h 720000"/>
              <a:gd name="connsiteX31" fmla="*/ 303306 w 763907"/>
              <a:gd name="connsiteY31" fmla="*/ 704546 h 720000"/>
              <a:gd name="connsiteX32" fmla="*/ 60870 w 763907"/>
              <a:gd name="connsiteY32" fmla="*/ 568300 h 720000"/>
              <a:gd name="connsiteX33" fmla="*/ 0 w 763907"/>
              <a:gd name="connsiteY33" fmla="*/ 464291 h 720000"/>
              <a:gd name="connsiteX34" fmla="*/ 0 w 763907"/>
              <a:gd name="connsiteY34" fmla="*/ 255702 h 720000"/>
              <a:gd name="connsiteX35" fmla="*/ 60870 w 763907"/>
              <a:gd name="connsiteY35" fmla="*/ 151693 h 720000"/>
              <a:gd name="connsiteX36" fmla="*/ 303306 w 763907"/>
              <a:gd name="connsiteY36" fmla="*/ 15447 h 720000"/>
              <a:gd name="connsiteX37" fmla="*/ 362802 w 763907"/>
              <a:gd name="connsiteY37" fmla="*/ 5 h 720000"/>
            </a:gdLst>
            <a:rect l="l" t="t" r="r" b="b"/>
            <a:pathLst>
              <a:path w="763907" h="720000">
                <a:moveTo>
                  <a:pt x="565749" y="529546"/>
                </a:moveTo>
                <a:cubicBezTo>
                  <a:pt x="573025" y="529546"/>
                  <a:pt x="580302" y="532319"/>
                  <a:pt x="585849" y="537865"/>
                </a:cubicBezTo>
                <a:lnTo>
                  <a:pt x="698960" y="650977"/>
                </a:lnTo>
                <a:cubicBezTo>
                  <a:pt x="710054" y="662070"/>
                  <a:pt x="710054" y="680084"/>
                  <a:pt x="698960" y="691178"/>
                </a:cubicBezTo>
                <a:cubicBezTo>
                  <a:pt x="693461" y="696677"/>
                  <a:pt x="686161" y="699521"/>
                  <a:pt x="678860" y="699521"/>
                </a:cubicBezTo>
                <a:cubicBezTo>
                  <a:pt x="671560" y="699521"/>
                  <a:pt x="664259" y="696771"/>
                  <a:pt x="658760" y="691178"/>
                </a:cubicBezTo>
                <a:lnTo>
                  <a:pt x="545648" y="578066"/>
                </a:lnTo>
                <a:cubicBezTo>
                  <a:pt x="534555" y="566973"/>
                  <a:pt x="534555" y="548959"/>
                  <a:pt x="545648" y="537865"/>
                </a:cubicBezTo>
                <a:cubicBezTo>
                  <a:pt x="551195" y="532319"/>
                  <a:pt x="558471" y="529546"/>
                  <a:pt x="565749" y="529546"/>
                </a:cubicBezTo>
                <a:close/>
                <a:moveTo>
                  <a:pt x="565749" y="359807"/>
                </a:moveTo>
                <a:lnTo>
                  <a:pt x="735464" y="359807"/>
                </a:lnTo>
                <a:cubicBezTo>
                  <a:pt x="751202" y="359807"/>
                  <a:pt x="763907" y="372512"/>
                  <a:pt x="763907" y="388251"/>
                </a:cubicBezTo>
                <a:cubicBezTo>
                  <a:pt x="763907" y="403990"/>
                  <a:pt x="751107" y="416695"/>
                  <a:pt x="735464" y="416695"/>
                </a:cubicBezTo>
                <a:lnTo>
                  <a:pt x="565749" y="416695"/>
                </a:lnTo>
                <a:cubicBezTo>
                  <a:pt x="550010" y="416695"/>
                  <a:pt x="537305" y="403990"/>
                  <a:pt x="537305" y="388251"/>
                </a:cubicBezTo>
                <a:cubicBezTo>
                  <a:pt x="537305" y="372512"/>
                  <a:pt x="550010" y="359807"/>
                  <a:pt x="565749" y="359807"/>
                </a:cubicBezTo>
                <a:close/>
                <a:moveTo>
                  <a:pt x="678860" y="77005"/>
                </a:moveTo>
                <a:cubicBezTo>
                  <a:pt x="686137" y="77005"/>
                  <a:pt x="693414" y="79778"/>
                  <a:pt x="698960" y="85325"/>
                </a:cubicBezTo>
                <a:cubicBezTo>
                  <a:pt x="710054" y="96418"/>
                  <a:pt x="710054" y="114432"/>
                  <a:pt x="698960" y="125525"/>
                </a:cubicBezTo>
                <a:lnTo>
                  <a:pt x="585849" y="238636"/>
                </a:lnTo>
                <a:cubicBezTo>
                  <a:pt x="580350" y="244231"/>
                  <a:pt x="573049" y="246980"/>
                  <a:pt x="565749" y="246980"/>
                </a:cubicBezTo>
                <a:cubicBezTo>
                  <a:pt x="558448" y="246980"/>
                  <a:pt x="551147" y="244231"/>
                  <a:pt x="545648" y="238636"/>
                </a:cubicBezTo>
                <a:cubicBezTo>
                  <a:pt x="534555" y="227543"/>
                  <a:pt x="534555" y="209529"/>
                  <a:pt x="545648" y="198436"/>
                </a:cubicBezTo>
                <a:lnTo>
                  <a:pt x="658760" y="85325"/>
                </a:lnTo>
                <a:cubicBezTo>
                  <a:pt x="664306" y="79778"/>
                  <a:pt x="671583" y="77005"/>
                  <a:pt x="678860" y="77005"/>
                </a:cubicBezTo>
                <a:close/>
                <a:moveTo>
                  <a:pt x="362802" y="5"/>
                </a:moveTo>
                <a:cubicBezTo>
                  <a:pt x="383186" y="183"/>
                  <a:pt x="403524" y="5682"/>
                  <a:pt x="422012" y="16490"/>
                </a:cubicBezTo>
                <a:cubicBezTo>
                  <a:pt x="458989" y="38108"/>
                  <a:pt x="481080" y="76601"/>
                  <a:pt x="481080" y="119457"/>
                </a:cubicBezTo>
                <a:lnTo>
                  <a:pt x="481080" y="600631"/>
                </a:lnTo>
                <a:cubicBezTo>
                  <a:pt x="481080" y="643486"/>
                  <a:pt x="458989" y="681980"/>
                  <a:pt x="422012" y="703598"/>
                </a:cubicBezTo>
                <a:cubicBezTo>
                  <a:pt x="403240" y="714501"/>
                  <a:pt x="382475" y="720000"/>
                  <a:pt x="361806" y="720000"/>
                </a:cubicBezTo>
                <a:cubicBezTo>
                  <a:pt x="341706" y="720000"/>
                  <a:pt x="321700" y="714881"/>
                  <a:pt x="303306" y="704546"/>
                </a:cubicBezTo>
                <a:lnTo>
                  <a:pt x="60870" y="568300"/>
                </a:lnTo>
                <a:cubicBezTo>
                  <a:pt x="23324" y="547157"/>
                  <a:pt x="0" y="507336"/>
                  <a:pt x="0" y="464291"/>
                </a:cubicBezTo>
                <a:lnTo>
                  <a:pt x="0" y="255702"/>
                </a:lnTo>
                <a:cubicBezTo>
                  <a:pt x="0" y="212657"/>
                  <a:pt x="23324" y="172742"/>
                  <a:pt x="60870" y="151693"/>
                </a:cubicBezTo>
                <a:lnTo>
                  <a:pt x="303306" y="15447"/>
                </a:lnTo>
                <a:cubicBezTo>
                  <a:pt x="321984" y="4970"/>
                  <a:pt x="342417" y="-173"/>
                  <a:pt x="362802" y="5"/>
                </a:cubicBezTo>
                <a:close/>
              </a:path>
            </a:pathLst>
          </a:custGeom>
          <a:solidFill>
            <a:schemeClr val="bg1"/>
          </a:solidFill>
          <a:ln cap="flat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316690" y="373380"/>
            <a:ext cx="8171180" cy="65532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0" flipV="0">
            <a:off x="783520" y="484345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市场前景预测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0" flipH="0" flipV="0">
            <a:off x="324256" y="626624"/>
            <a:ext cx="402076" cy="402076"/>
          </a:xfrm>
          <a:prstGeom prst="rtTriangl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2">
            <a:alphaModFix amt="100000"/>
          </a:blip>
          <a:srcRect l="2858" t="11915" r="21252" b="11915"/>
          <a:stretch>
            <a:fillRect/>
          </a:stretch>
        </p:blipFill>
        <p:spPr>
          <a:xfrm rot="0" flipH="0" flipV="0"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" name="标题 1"/>
          <p:cNvSpPr txBox="1"/>
          <p:nvPr/>
        </p:nvSpPr>
        <p:spPr>
          <a:xfrm rot="0" flipH="0" flipV="0">
            <a:off x="-1" y="0"/>
            <a:ext cx="10883569" cy="6858000"/>
          </a:xfrm>
          <a:prstGeom prst="rect">
            <a:avLst/>
          </a:prstGeom>
          <a:gradFill>
            <a:gsLst>
              <a:gs pos="12000">
                <a:schemeClr val="bg1"/>
              </a:gs>
              <a:gs pos="80000">
                <a:schemeClr val="bg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421027" y="333692"/>
            <a:ext cx="1321317" cy="164080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1693998" y="6276762"/>
            <a:ext cx="268552" cy="26855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1763397" y="6346151"/>
            <a:ext cx="129755" cy="129774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1273479" y="6276762"/>
            <a:ext cx="268552" cy="26855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1338911" y="6346151"/>
            <a:ext cx="137688" cy="129774"/>
          </a:xfrm>
          <a:custGeom>
            <a:avLst/>
            <a:gdLst>
              <a:gd name="connsiteX0" fmla="*/ 1110072 w 1498885"/>
              <a:gd name="connsiteY0" fmla="*/ 1039039 h 1412736"/>
              <a:gd name="connsiteX1" fmla="*/ 1149511 w 1498885"/>
              <a:gd name="connsiteY1" fmla="*/ 1055363 h 1412736"/>
              <a:gd name="connsiteX2" fmla="*/ 1371451 w 1498885"/>
              <a:gd name="connsiteY2" fmla="*/ 1277303 h 1412736"/>
              <a:gd name="connsiteX3" fmla="*/ 1371451 w 1498885"/>
              <a:gd name="connsiteY3" fmla="*/ 1356182 h 1412736"/>
              <a:gd name="connsiteX4" fmla="*/ 1332012 w 1498885"/>
              <a:gd name="connsiteY4" fmla="*/ 1372553 h 1412736"/>
              <a:gd name="connsiteX5" fmla="*/ 1292572 w 1498885"/>
              <a:gd name="connsiteY5" fmla="*/ 1356182 h 1412736"/>
              <a:gd name="connsiteX6" fmla="*/ 1070632 w 1498885"/>
              <a:gd name="connsiteY6" fmla="*/ 1134242 h 1412736"/>
              <a:gd name="connsiteX7" fmla="*/ 1070632 w 1498885"/>
              <a:gd name="connsiteY7" fmla="*/ 1055363 h 1412736"/>
              <a:gd name="connsiteX8" fmla="*/ 1110072 w 1498885"/>
              <a:gd name="connsiteY8" fmla="*/ 1039039 h 1412736"/>
              <a:gd name="connsiteX9" fmla="*/ 1110072 w 1498885"/>
              <a:gd name="connsiteY9" fmla="*/ 705989 h 1412736"/>
              <a:gd name="connsiteX10" fmla="*/ 1443075 w 1498885"/>
              <a:gd name="connsiteY10" fmla="*/ 705989 h 1412736"/>
              <a:gd name="connsiteX11" fmla="*/ 1498885 w 1498885"/>
              <a:gd name="connsiteY11" fmla="*/ 761800 h 1412736"/>
              <a:gd name="connsiteX12" fmla="*/ 1443075 w 1498885"/>
              <a:gd name="connsiteY12" fmla="*/ 817611 h 1412736"/>
              <a:gd name="connsiteX13" fmla="*/ 1110072 w 1498885"/>
              <a:gd name="connsiteY13" fmla="*/ 817611 h 1412736"/>
              <a:gd name="connsiteX14" fmla="*/ 1054261 w 1498885"/>
              <a:gd name="connsiteY14" fmla="*/ 761800 h 1412736"/>
              <a:gd name="connsiteX15" fmla="*/ 1110072 w 1498885"/>
              <a:gd name="connsiteY15" fmla="*/ 705989 h 1412736"/>
              <a:gd name="connsiteX16" fmla="*/ 1332012 w 1498885"/>
              <a:gd name="connsiteY16" fmla="*/ 151093 h 1412736"/>
              <a:gd name="connsiteX17" fmla="*/ 1371451 w 1498885"/>
              <a:gd name="connsiteY17" fmla="*/ 167418 h 1412736"/>
              <a:gd name="connsiteX18" fmla="*/ 1371451 w 1498885"/>
              <a:gd name="connsiteY18" fmla="*/ 246297 h 1412736"/>
              <a:gd name="connsiteX19" fmla="*/ 1149511 w 1498885"/>
              <a:gd name="connsiteY19" fmla="*/ 468236 h 1412736"/>
              <a:gd name="connsiteX20" fmla="*/ 1110072 w 1498885"/>
              <a:gd name="connsiteY20" fmla="*/ 484608 h 1412736"/>
              <a:gd name="connsiteX21" fmla="*/ 1070632 w 1498885"/>
              <a:gd name="connsiteY21" fmla="*/ 468236 h 1412736"/>
              <a:gd name="connsiteX22" fmla="*/ 1070632 w 1498885"/>
              <a:gd name="connsiteY22" fmla="*/ 389358 h 1412736"/>
              <a:gd name="connsiteX23" fmla="*/ 1292572 w 1498885"/>
              <a:gd name="connsiteY23" fmla="*/ 167418 h 1412736"/>
              <a:gd name="connsiteX24" fmla="*/ 1332012 w 1498885"/>
              <a:gd name="connsiteY24" fmla="*/ 151093 h 1412736"/>
              <a:gd name="connsiteX25" fmla="*/ 709724 w 1498885"/>
              <a:gd name="connsiteY25" fmla="*/ 111607 h 1412736"/>
              <a:gd name="connsiteX26" fmla="*/ 649635 w 1498885"/>
              <a:gd name="connsiteY26" fmla="*/ 127420 h 1412736"/>
              <a:gd name="connsiteX27" fmla="*/ 174129 w 1498885"/>
              <a:gd name="connsiteY27" fmla="*/ 394752 h 1412736"/>
              <a:gd name="connsiteX28" fmla="*/ 111621 w 1498885"/>
              <a:gd name="connsiteY28" fmla="*/ 501536 h 1412736"/>
              <a:gd name="connsiteX29" fmla="*/ 111621 w 1498885"/>
              <a:gd name="connsiteY29" fmla="*/ 910814 h 1412736"/>
              <a:gd name="connsiteX30" fmla="*/ 174129 w 1498885"/>
              <a:gd name="connsiteY30" fmla="*/ 1017598 h 1412736"/>
              <a:gd name="connsiteX31" fmla="*/ 649821 w 1498885"/>
              <a:gd name="connsiteY31" fmla="*/ 1284930 h 1412736"/>
              <a:gd name="connsiteX32" fmla="*/ 771674 w 1498885"/>
              <a:gd name="connsiteY32" fmla="*/ 1283814 h 1412736"/>
              <a:gd name="connsiteX33" fmla="*/ 832321 w 1498885"/>
              <a:gd name="connsiteY33" fmla="*/ 1178146 h 1412736"/>
              <a:gd name="connsiteX34" fmla="*/ 832321 w 1498885"/>
              <a:gd name="connsiteY34" fmla="*/ 234204 h 1412736"/>
              <a:gd name="connsiteX35" fmla="*/ 771674 w 1498885"/>
              <a:gd name="connsiteY35" fmla="*/ 128536 h 1412736"/>
              <a:gd name="connsiteX36" fmla="*/ 709724 w 1498885"/>
              <a:gd name="connsiteY36" fmla="*/ 111607 h 1412736"/>
              <a:gd name="connsiteX37" fmla="*/ 711864 w 1498885"/>
              <a:gd name="connsiteY37" fmla="*/ 9 h 1412736"/>
              <a:gd name="connsiteX38" fmla="*/ 828043 w 1498885"/>
              <a:gd name="connsiteY38" fmla="*/ 32356 h 1412736"/>
              <a:gd name="connsiteX39" fmla="*/ 943942 w 1498885"/>
              <a:gd name="connsiteY39" fmla="*/ 234390 h 1412736"/>
              <a:gd name="connsiteX40" fmla="*/ 943942 w 1498885"/>
              <a:gd name="connsiteY40" fmla="*/ 1178518 h 1412736"/>
              <a:gd name="connsiteX41" fmla="*/ 828043 w 1498885"/>
              <a:gd name="connsiteY41" fmla="*/ 1380552 h 1412736"/>
              <a:gd name="connsiteX42" fmla="*/ 709910 w 1498885"/>
              <a:gd name="connsiteY42" fmla="*/ 1412736 h 1412736"/>
              <a:gd name="connsiteX43" fmla="*/ 595126 w 1498885"/>
              <a:gd name="connsiteY43" fmla="*/ 1382413 h 1412736"/>
              <a:gd name="connsiteX44" fmla="*/ 119435 w 1498885"/>
              <a:gd name="connsiteY44" fmla="*/ 1115080 h 1412736"/>
              <a:gd name="connsiteX45" fmla="*/ 0 w 1498885"/>
              <a:gd name="connsiteY45" fmla="*/ 911000 h 1412736"/>
              <a:gd name="connsiteX46" fmla="*/ 0 w 1498885"/>
              <a:gd name="connsiteY46" fmla="*/ 501722 h 1412736"/>
              <a:gd name="connsiteX47" fmla="*/ 119435 w 1498885"/>
              <a:gd name="connsiteY47" fmla="*/ 297642 h 1412736"/>
              <a:gd name="connsiteX48" fmla="*/ 595126 w 1498885"/>
              <a:gd name="connsiteY48" fmla="*/ 30309 h 1412736"/>
              <a:gd name="connsiteX49" fmla="*/ 711864 w 1498885"/>
              <a:gd name="connsiteY49" fmla="*/ 9 h 1412736"/>
            </a:gdLst>
            <a:rect l="l" t="t" r="r" b="b"/>
            <a:pathLst>
              <a:path w="1498885" h="1412736">
                <a:moveTo>
                  <a:pt x="1110072" y="1039039"/>
                </a:moveTo>
                <a:cubicBezTo>
                  <a:pt x="1124350" y="1039039"/>
                  <a:pt x="1138628" y="1044480"/>
                  <a:pt x="1149511" y="1055363"/>
                </a:cubicBezTo>
                <a:lnTo>
                  <a:pt x="1371451" y="1277303"/>
                </a:lnTo>
                <a:cubicBezTo>
                  <a:pt x="1393217" y="1299070"/>
                  <a:pt x="1393217" y="1334416"/>
                  <a:pt x="1371451" y="1356182"/>
                </a:cubicBezTo>
                <a:cubicBezTo>
                  <a:pt x="1360661" y="1366972"/>
                  <a:pt x="1346336" y="1372553"/>
                  <a:pt x="1332012" y="1372553"/>
                </a:cubicBezTo>
                <a:cubicBezTo>
                  <a:pt x="1317687" y="1372553"/>
                  <a:pt x="1303362" y="1367158"/>
                  <a:pt x="1292572" y="1356182"/>
                </a:cubicBezTo>
                <a:lnTo>
                  <a:pt x="1070632" y="1134242"/>
                </a:lnTo>
                <a:cubicBezTo>
                  <a:pt x="1048866" y="1112476"/>
                  <a:pt x="1048866" y="1077130"/>
                  <a:pt x="1070632" y="1055363"/>
                </a:cubicBezTo>
                <a:cubicBezTo>
                  <a:pt x="1081515" y="1044480"/>
                  <a:pt x="1095793" y="1039039"/>
                  <a:pt x="1110072" y="1039039"/>
                </a:cubicBezTo>
                <a:close/>
                <a:moveTo>
                  <a:pt x="1110072" y="705989"/>
                </a:moveTo>
                <a:lnTo>
                  <a:pt x="1443075" y="705989"/>
                </a:lnTo>
                <a:cubicBezTo>
                  <a:pt x="1473956" y="705989"/>
                  <a:pt x="1498885" y="730918"/>
                  <a:pt x="1498885" y="761800"/>
                </a:cubicBezTo>
                <a:cubicBezTo>
                  <a:pt x="1498885" y="792682"/>
                  <a:pt x="1473770" y="817611"/>
                  <a:pt x="1443075" y="817611"/>
                </a:cubicBezTo>
                <a:lnTo>
                  <a:pt x="1110072" y="817611"/>
                </a:lnTo>
                <a:cubicBezTo>
                  <a:pt x="1079190" y="817611"/>
                  <a:pt x="1054261" y="792682"/>
                  <a:pt x="1054261" y="761800"/>
                </a:cubicBezTo>
                <a:cubicBezTo>
                  <a:pt x="1054261" y="730918"/>
                  <a:pt x="1079190" y="705989"/>
                  <a:pt x="1110072" y="705989"/>
                </a:cubicBezTo>
                <a:close/>
                <a:moveTo>
                  <a:pt x="1332012" y="151093"/>
                </a:moveTo>
                <a:cubicBezTo>
                  <a:pt x="1346290" y="151093"/>
                  <a:pt x="1360568" y="156535"/>
                  <a:pt x="1371451" y="167418"/>
                </a:cubicBezTo>
                <a:cubicBezTo>
                  <a:pt x="1393217" y="189184"/>
                  <a:pt x="1393217" y="224530"/>
                  <a:pt x="1371451" y="246297"/>
                </a:cubicBezTo>
                <a:lnTo>
                  <a:pt x="1149511" y="468236"/>
                </a:lnTo>
                <a:cubicBezTo>
                  <a:pt x="1138721" y="479213"/>
                  <a:pt x="1124396" y="484608"/>
                  <a:pt x="1110072" y="484608"/>
                </a:cubicBezTo>
                <a:cubicBezTo>
                  <a:pt x="1095747" y="484608"/>
                  <a:pt x="1081422" y="479213"/>
                  <a:pt x="1070632" y="468236"/>
                </a:cubicBezTo>
                <a:cubicBezTo>
                  <a:pt x="1048866" y="446470"/>
                  <a:pt x="1048866" y="411124"/>
                  <a:pt x="1070632" y="389358"/>
                </a:cubicBezTo>
                <a:lnTo>
                  <a:pt x="1292572" y="167418"/>
                </a:lnTo>
                <a:cubicBezTo>
                  <a:pt x="1303455" y="156535"/>
                  <a:pt x="1317733" y="151093"/>
                  <a:pt x="1332012" y="151093"/>
                </a:cubicBezTo>
                <a:close/>
                <a:moveTo>
                  <a:pt x="709724" y="111607"/>
                </a:moveTo>
                <a:cubicBezTo>
                  <a:pt x="689074" y="111607"/>
                  <a:pt x="668610" y="116816"/>
                  <a:pt x="649635" y="127420"/>
                </a:cubicBezTo>
                <a:lnTo>
                  <a:pt x="174129" y="394752"/>
                </a:lnTo>
                <a:cubicBezTo>
                  <a:pt x="135620" y="416332"/>
                  <a:pt x="111621" y="457260"/>
                  <a:pt x="111621" y="501536"/>
                </a:cubicBezTo>
                <a:lnTo>
                  <a:pt x="111621" y="910814"/>
                </a:lnTo>
                <a:cubicBezTo>
                  <a:pt x="111621" y="955090"/>
                  <a:pt x="135620" y="996018"/>
                  <a:pt x="174129" y="1017598"/>
                </a:cubicBezTo>
                <a:lnTo>
                  <a:pt x="649821" y="1284930"/>
                </a:lnTo>
                <a:cubicBezTo>
                  <a:pt x="688144" y="1306510"/>
                  <a:pt x="733723" y="1306138"/>
                  <a:pt x="771674" y="1283814"/>
                </a:cubicBezTo>
                <a:cubicBezTo>
                  <a:pt x="809625" y="1261676"/>
                  <a:pt x="832321" y="1222050"/>
                  <a:pt x="832321" y="1178146"/>
                </a:cubicBezTo>
                <a:lnTo>
                  <a:pt x="832321" y="234204"/>
                </a:lnTo>
                <a:cubicBezTo>
                  <a:pt x="832321" y="190113"/>
                  <a:pt x="809625" y="150674"/>
                  <a:pt x="771674" y="128536"/>
                </a:cubicBezTo>
                <a:cubicBezTo>
                  <a:pt x="752326" y="117188"/>
                  <a:pt x="731118" y="111607"/>
                  <a:pt x="709724" y="111607"/>
                </a:cubicBezTo>
                <a:close/>
                <a:moveTo>
                  <a:pt x="711864" y="9"/>
                </a:moveTo>
                <a:cubicBezTo>
                  <a:pt x="751861" y="358"/>
                  <a:pt x="791766" y="11148"/>
                  <a:pt x="828043" y="32356"/>
                </a:cubicBezTo>
                <a:cubicBezTo>
                  <a:pt x="900596" y="74772"/>
                  <a:pt x="943942" y="150302"/>
                  <a:pt x="943942" y="234390"/>
                </a:cubicBezTo>
                <a:lnTo>
                  <a:pt x="943942" y="1178518"/>
                </a:lnTo>
                <a:cubicBezTo>
                  <a:pt x="943942" y="1262606"/>
                  <a:pt x="900596" y="1338136"/>
                  <a:pt x="828043" y="1380552"/>
                </a:cubicBezTo>
                <a:cubicBezTo>
                  <a:pt x="791208" y="1401946"/>
                  <a:pt x="750466" y="1412736"/>
                  <a:pt x="709910" y="1412736"/>
                </a:cubicBezTo>
                <a:cubicBezTo>
                  <a:pt x="670471" y="1412736"/>
                  <a:pt x="631217" y="1402691"/>
                  <a:pt x="595126" y="1382413"/>
                </a:cubicBezTo>
                <a:lnTo>
                  <a:pt x="119435" y="1115080"/>
                </a:lnTo>
                <a:cubicBezTo>
                  <a:pt x="45765" y="1073594"/>
                  <a:pt x="0" y="995460"/>
                  <a:pt x="0" y="911000"/>
                </a:cubicBezTo>
                <a:lnTo>
                  <a:pt x="0" y="501722"/>
                </a:lnTo>
                <a:cubicBezTo>
                  <a:pt x="0" y="417262"/>
                  <a:pt x="45765" y="338942"/>
                  <a:pt x="119435" y="297642"/>
                </a:cubicBezTo>
                <a:lnTo>
                  <a:pt x="595126" y="30309"/>
                </a:lnTo>
                <a:cubicBezTo>
                  <a:pt x="631775" y="9752"/>
                  <a:pt x="671866" y="-340"/>
                  <a:pt x="711864" y="9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852960" y="6276762"/>
            <a:ext cx="268552" cy="26855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920186" y="6346151"/>
            <a:ext cx="134100" cy="129774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432441" y="6276762"/>
            <a:ext cx="268552" cy="26855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506816" y="6346151"/>
            <a:ext cx="119802" cy="129774"/>
          </a:xfrm>
          <a:custGeom>
            <a:avLst/>
            <a:gdLst>
              <a:gd name="connsiteX0" fmla="*/ 712625 w 1425436"/>
              <a:gd name="connsiteY0" fmla="*/ 111621 h 1544091"/>
              <a:gd name="connsiteX1" fmla="*/ 902567 w 1425436"/>
              <a:gd name="connsiteY1" fmla="*/ 190314 h 1544091"/>
              <a:gd name="connsiteX2" fmla="*/ 981260 w 1425436"/>
              <a:gd name="connsiteY2" fmla="*/ 380256 h 1544091"/>
              <a:gd name="connsiteX3" fmla="*/ 902567 w 1425436"/>
              <a:gd name="connsiteY3" fmla="*/ 570198 h 1544091"/>
              <a:gd name="connsiteX4" fmla="*/ 712625 w 1425436"/>
              <a:gd name="connsiteY4" fmla="*/ 648891 h 1544091"/>
              <a:gd name="connsiteX5" fmla="*/ 522684 w 1425436"/>
              <a:gd name="connsiteY5" fmla="*/ 570198 h 1544091"/>
              <a:gd name="connsiteX6" fmla="*/ 444177 w 1425436"/>
              <a:gd name="connsiteY6" fmla="*/ 380070 h 1544091"/>
              <a:gd name="connsiteX7" fmla="*/ 522870 w 1425436"/>
              <a:gd name="connsiteY7" fmla="*/ 190128 h 1544091"/>
              <a:gd name="connsiteX8" fmla="*/ 712625 w 1425436"/>
              <a:gd name="connsiteY8" fmla="*/ 111621 h 1544091"/>
              <a:gd name="connsiteX9" fmla="*/ 712625 w 1425436"/>
              <a:gd name="connsiteY9" fmla="*/ 0 h 1544091"/>
              <a:gd name="connsiteX10" fmla="*/ 332556 w 1425436"/>
              <a:gd name="connsiteY10" fmla="*/ 380070 h 1544091"/>
              <a:gd name="connsiteX11" fmla="*/ 712625 w 1425436"/>
              <a:gd name="connsiteY11" fmla="*/ 760140 h 1544091"/>
              <a:gd name="connsiteX12" fmla="*/ 1092695 w 1425436"/>
              <a:gd name="connsiteY12" fmla="*/ 380070 h 1544091"/>
              <a:gd name="connsiteX13" fmla="*/ 712625 w 1425436"/>
              <a:gd name="connsiteY13" fmla="*/ 0 h 1544091"/>
              <a:gd name="connsiteX14" fmla="*/ 712625 w 1425436"/>
              <a:gd name="connsiteY14" fmla="*/ 943012 h 1544091"/>
              <a:gd name="connsiteX15" fmla="*/ 978842 w 1425436"/>
              <a:gd name="connsiteY15" fmla="*/ 976685 h 1544091"/>
              <a:gd name="connsiteX16" fmla="*/ 1146087 w 1425436"/>
              <a:gd name="connsiteY16" fmla="*/ 1059470 h 1544091"/>
              <a:gd name="connsiteX17" fmla="*/ 1248593 w 1425436"/>
              <a:gd name="connsiteY17" fmla="*/ 1174440 h 1544091"/>
              <a:gd name="connsiteX18" fmla="*/ 1310356 w 1425436"/>
              <a:gd name="connsiteY18" fmla="*/ 1316385 h 1544091"/>
              <a:gd name="connsiteX19" fmla="*/ 1296590 w 1425436"/>
              <a:gd name="connsiteY19" fmla="*/ 1390241 h 1544091"/>
              <a:gd name="connsiteX20" fmla="*/ 1208595 w 1425436"/>
              <a:gd name="connsiteY20" fmla="*/ 1432285 h 1544091"/>
              <a:gd name="connsiteX21" fmla="*/ 216842 w 1425436"/>
              <a:gd name="connsiteY21" fmla="*/ 1432285 h 1544091"/>
              <a:gd name="connsiteX22" fmla="*/ 128847 w 1425436"/>
              <a:gd name="connsiteY22" fmla="*/ 1390241 h 1544091"/>
              <a:gd name="connsiteX23" fmla="*/ 115081 w 1425436"/>
              <a:gd name="connsiteY23" fmla="*/ 1316385 h 1544091"/>
              <a:gd name="connsiteX24" fmla="*/ 176844 w 1425436"/>
              <a:gd name="connsiteY24" fmla="*/ 1174440 h 1544091"/>
              <a:gd name="connsiteX25" fmla="*/ 279350 w 1425436"/>
              <a:gd name="connsiteY25" fmla="*/ 1059470 h 1544091"/>
              <a:gd name="connsiteX26" fmla="*/ 446595 w 1425436"/>
              <a:gd name="connsiteY26" fmla="*/ 976685 h 1544091"/>
              <a:gd name="connsiteX27" fmla="*/ 712625 w 1425436"/>
              <a:gd name="connsiteY27" fmla="*/ 943012 h 1544091"/>
              <a:gd name="connsiteX28" fmla="*/ 712625 w 1425436"/>
              <a:gd name="connsiteY28" fmla="*/ 831391 h 1544091"/>
              <a:gd name="connsiteX29" fmla="*/ 8296 w 1425436"/>
              <a:gd name="connsiteY29" fmla="*/ 1284387 h 1544091"/>
              <a:gd name="connsiteX30" fmla="*/ 216842 w 1425436"/>
              <a:gd name="connsiteY30" fmla="*/ 1544092 h 1544091"/>
              <a:gd name="connsiteX31" fmla="*/ 1208595 w 1425436"/>
              <a:gd name="connsiteY31" fmla="*/ 1544092 h 1544091"/>
              <a:gd name="connsiteX32" fmla="*/ 1417141 w 1425436"/>
              <a:gd name="connsiteY32" fmla="*/ 1284387 h 1544091"/>
              <a:gd name="connsiteX33" fmla="*/ 712625 w 1425436"/>
              <a:gd name="connsiteY33" fmla="*/ 831391 h 1544091"/>
            </a:gdLst>
            <a:rect l="l" t="t" r="r" b="b"/>
            <a:pathLst>
              <a:path w="1425436" h="1544091">
                <a:moveTo>
                  <a:pt x="712625" y="111621"/>
                </a:moveTo>
                <a:cubicBezTo>
                  <a:pt x="784435" y="111621"/>
                  <a:pt x="851780" y="139526"/>
                  <a:pt x="902567" y="190314"/>
                </a:cubicBezTo>
                <a:cubicBezTo>
                  <a:pt x="953355" y="241102"/>
                  <a:pt x="981260" y="308446"/>
                  <a:pt x="981260" y="380256"/>
                </a:cubicBezTo>
                <a:cubicBezTo>
                  <a:pt x="981260" y="452065"/>
                  <a:pt x="953355" y="519410"/>
                  <a:pt x="902567" y="570198"/>
                </a:cubicBezTo>
                <a:cubicBezTo>
                  <a:pt x="851780" y="620985"/>
                  <a:pt x="784435" y="648891"/>
                  <a:pt x="712625" y="648891"/>
                </a:cubicBezTo>
                <a:cubicBezTo>
                  <a:pt x="640816" y="648891"/>
                  <a:pt x="573471" y="620985"/>
                  <a:pt x="522684" y="570198"/>
                </a:cubicBezTo>
                <a:cubicBezTo>
                  <a:pt x="472082" y="519224"/>
                  <a:pt x="444177" y="451693"/>
                  <a:pt x="444177" y="380070"/>
                </a:cubicBezTo>
                <a:cubicBezTo>
                  <a:pt x="444177" y="308446"/>
                  <a:pt x="472082" y="240916"/>
                  <a:pt x="522870" y="190128"/>
                </a:cubicBezTo>
                <a:cubicBezTo>
                  <a:pt x="573471" y="139526"/>
                  <a:pt x="641002" y="111621"/>
                  <a:pt x="712625" y="111621"/>
                </a:cubicBezTo>
                <a:moveTo>
                  <a:pt x="712625" y="0"/>
                </a:moveTo>
                <a:cubicBezTo>
                  <a:pt x="502778" y="0"/>
                  <a:pt x="332556" y="170036"/>
                  <a:pt x="332556" y="380070"/>
                </a:cubicBezTo>
                <a:cubicBezTo>
                  <a:pt x="332556" y="589917"/>
                  <a:pt x="502778" y="760140"/>
                  <a:pt x="712625" y="760140"/>
                </a:cubicBezTo>
                <a:cubicBezTo>
                  <a:pt x="922473" y="760140"/>
                  <a:pt x="1092695" y="589917"/>
                  <a:pt x="1092695" y="380070"/>
                </a:cubicBezTo>
                <a:cubicBezTo>
                  <a:pt x="1092881" y="170036"/>
                  <a:pt x="922659" y="0"/>
                  <a:pt x="712625" y="0"/>
                </a:cubicBezTo>
                <a:close/>
                <a:moveTo>
                  <a:pt x="712625" y="943012"/>
                </a:moveTo>
                <a:cubicBezTo>
                  <a:pt x="813643" y="943012"/>
                  <a:pt x="903126" y="954360"/>
                  <a:pt x="978842" y="976685"/>
                </a:cubicBezTo>
                <a:cubicBezTo>
                  <a:pt x="1043582" y="995846"/>
                  <a:pt x="1099951" y="1023752"/>
                  <a:pt x="1146087" y="1059470"/>
                </a:cubicBezTo>
                <a:cubicBezTo>
                  <a:pt x="1186829" y="1091096"/>
                  <a:pt x="1220315" y="1128675"/>
                  <a:pt x="1248593" y="1174440"/>
                </a:cubicBezTo>
                <a:cubicBezTo>
                  <a:pt x="1273708" y="1215368"/>
                  <a:pt x="1293985" y="1261877"/>
                  <a:pt x="1310356" y="1316385"/>
                </a:cubicBezTo>
                <a:cubicBezTo>
                  <a:pt x="1320774" y="1350801"/>
                  <a:pt x="1306264" y="1377404"/>
                  <a:pt x="1296590" y="1390241"/>
                </a:cubicBezTo>
                <a:cubicBezTo>
                  <a:pt x="1276684" y="1417030"/>
                  <a:pt x="1244686" y="1432285"/>
                  <a:pt x="1208595" y="1432285"/>
                </a:cubicBezTo>
                <a:lnTo>
                  <a:pt x="216842" y="1432285"/>
                </a:lnTo>
                <a:cubicBezTo>
                  <a:pt x="180937" y="1432285"/>
                  <a:pt x="148753" y="1417030"/>
                  <a:pt x="128847" y="1390241"/>
                </a:cubicBezTo>
                <a:cubicBezTo>
                  <a:pt x="119359" y="1377404"/>
                  <a:pt x="104849" y="1350801"/>
                  <a:pt x="115081" y="1316385"/>
                </a:cubicBezTo>
                <a:cubicBezTo>
                  <a:pt x="131452" y="1261877"/>
                  <a:pt x="151543" y="1215368"/>
                  <a:pt x="176844" y="1174440"/>
                </a:cubicBezTo>
                <a:cubicBezTo>
                  <a:pt x="204936" y="1128675"/>
                  <a:pt x="238422" y="1090910"/>
                  <a:pt x="279350" y="1059470"/>
                </a:cubicBezTo>
                <a:cubicBezTo>
                  <a:pt x="325486" y="1023752"/>
                  <a:pt x="381855" y="995846"/>
                  <a:pt x="446595" y="976685"/>
                </a:cubicBezTo>
                <a:cubicBezTo>
                  <a:pt x="522125" y="954360"/>
                  <a:pt x="611794" y="943012"/>
                  <a:pt x="712625" y="943012"/>
                </a:cubicBezTo>
                <a:moveTo>
                  <a:pt x="712625" y="831391"/>
                </a:moveTo>
                <a:cubicBezTo>
                  <a:pt x="244561" y="831391"/>
                  <a:pt x="77501" y="1053331"/>
                  <a:pt x="8296" y="1284387"/>
                </a:cubicBezTo>
                <a:cubicBezTo>
                  <a:pt x="-30771" y="1414611"/>
                  <a:pt x="73037" y="1544092"/>
                  <a:pt x="216842" y="1544092"/>
                </a:cubicBezTo>
                <a:lnTo>
                  <a:pt x="1208595" y="1544092"/>
                </a:lnTo>
                <a:cubicBezTo>
                  <a:pt x="1352400" y="1544092"/>
                  <a:pt x="1456208" y="1414611"/>
                  <a:pt x="1417141" y="1284387"/>
                </a:cubicBezTo>
                <a:cubicBezTo>
                  <a:pt x="1347750" y="1053331"/>
                  <a:pt x="1180690" y="831391"/>
                  <a:pt x="712625" y="83139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1" flipV="0">
            <a:off x="650050" y="1918023"/>
            <a:ext cx="184513" cy="184513"/>
          </a:xfrm>
          <a:custGeom>
            <a:avLst/>
            <a:gdLst>
              <a:gd name="connsiteX0" fmla="*/ 104503 w 184513"/>
              <a:gd name="connsiteY0" fmla="*/ 0 h 184513"/>
              <a:gd name="connsiteX1" fmla="*/ 80010 w 184513"/>
              <a:gd name="connsiteY1" fmla="*/ 0 h 184513"/>
              <a:gd name="connsiteX2" fmla="*/ 80010 w 184513"/>
              <a:gd name="connsiteY2" fmla="*/ 80010 h 184513"/>
              <a:gd name="connsiteX3" fmla="*/ 0 w 184513"/>
              <a:gd name="connsiteY3" fmla="*/ 80010 h 184513"/>
              <a:gd name="connsiteX4" fmla="*/ 0 w 184513"/>
              <a:gd name="connsiteY4" fmla="*/ 104503 h 184513"/>
              <a:gd name="connsiteX5" fmla="*/ 80010 w 184513"/>
              <a:gd name="connsiteY5" fmla="*/ 104503 h 184513"/>
              <a:gd name="connsiteX6" fmla="*/ 80010 w 184513"/>
              <a:gd name="connsiteY6" fmla="*/ 184513 h 184513"/>
              <a:gd name="connsiteX7" fmla="*/ 104503 w 184513"/>
              <a:gd name="connsiteY7" fmla="*/ 184513 h 184513"/>
              <a:gd name="connsiteX8" fmla="*/ 104503 w 184513"/>
              <a:gd name="connsiteY8" fmla="*/ 104503 h 184513"/>
              <a:gd name="connsiteX9" fmla="*/ 184513 w 184513"/>
              <a:gd name="connsiteY9" fmla="*/ 104503 h 184513"/>
              <a:gd name="connsiteX10" fmla="*/ 184513 w 184513"/>
              <a:gd name="connsiteY10" fmla="*/ 80010 h 184513"/>
              <a:gd name="connsiteX11" fmla="*/ 104503 w 184513"/>
              <a:gd name="connsiteY11" fmla="*/ 80010 h 184513"/>
            </a:gdLst>
            <a:rect l="l" t="t" r="r" b="b"/>
            <a:pathLst>
              <a:path w="184513" h="184513">
                <a:moveTo>
                  <a:pt x="104503" y="0"/>
                </a:moveTo>
                <a:lnTo>
                  <a:pt x="80010" y="0"/>
                </a:lnTo>
                <a:lnTo>
                  <a:pt x="80010" y="80010"/>
                </a:lnTo>
                <a:lnTo>
                  <a:pt x="0" y="80010"/>
                </a:lnTo>
                <a:lnTo>
                  <a:pt x="0" y="104503"/>
                </a:lnTo>
                <a:lnTo>
                  <a:pt x="80010" y="104503"/>
                </a:lnTo>
                <a:lnTo>
                  <a:pt x="80010" y="184513"/>
                </a:lnTo>
                <a:lnTo>
                  <a:pt x="104503" y="184513"/>
                </a:lnTo>
                <a:lnTo>
                  <a:pt x="104503" y="104503"/>
                </a:lnTo>
                <a:lnTo>
                  <a:pt x="184513" y="104503"/>
                </a:lnTo>
                <a:lnTo>
                  <a:pt x="184513" y="80010"/>
                </a:lnTo>
                <a:lnTo>
                  <a:pt x="104503" y="80010"/>
                </a:lnTo>
                <a:close/>
              </a:path>
            </a:pathLst>
          </a:custGeom>
          <a:solidFill>
            <a:schemeClr val="accent2"/>
          </a:solidFill>
          <a:ln w="1632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1" flipV="0">
            <a:off x="788366" y="2115629"/>
            <a:ext cx="101867" cy="101867"/>
          </a:xfrm>
          <a:custGeom>
            <a:avLst/>
            <a:gdLst>
              <a:gd name="connsiteX0" fmla="*/ 104503 w 184513"/>
              <a:gd name="connsiteY0" fmla="*/ 0 h 184513"/>
              <a:gd name="connsiteX1" fmla="*/ 80010 w 184513"/>
              <a:gd name="connsiteY1" fmla="*/ 0 h 184513"/>
              <a:gd name="connsiteX2" fmla="*/ 80010 w 184513"/>
              <a:gd name="connsiteY2" fmla="*/ 80010 h 184513"/>
              <a:gd name="connsiteX3" fmla="*/ 0 w 184513"/>
              <a:gd name="connsiteY3" fmla="*/ 80010 h 184513"/>
              <a:gd name="connsiteX4" fmla="*/ 0 w 184513"/>
              <a:gd name="connsiteY4" fmla="*/ 104503 h 184513"/>
              <a:gd name="connsiteX5" fmla="*/ 80010 w 184513"/>
              <a:gd name="connsiteY5" fmla="*/ 104503 h 184513"/>
              <a:gd name="connsiteX6" fmla="*/ 80010 w 184513"/>
              <a:gd name="connsiteY6" fmla="*/ 184513 h 184513"/>
              <a:gd name="connsiteX7" fmla="*/ 104503 w 184513"/>
              <a:gd name="connsiteY7" fmla="*/ 184513 h 184513"/>
              <a:gd name="connsiteX8" fmla="*/ 104503 w 184513"/>
              <a:gd name="connsiteY8" fmla="*/ 104503 h 184513"/>
              <a:gd name="connsiteX9" fmla="*/ 184513 w 184513"/>
              <a:gd name="connsiteY9" fmla="*/ 104503 h 184513"/>
              <a:gd name="connsiteX10" fmla="*/ 184513 w 184513"/>
              <a:gd name="connsiteY10" fmla="*/ 80010 h 184513"/>
              <a:gd name="connsiteX11" fmla="*/ 104503 w 184513"/>
              <a:gd name="connsiteY11" fmla="*/ 80010 h 184513"/>
            </a:gdLst>
            <a:rect l="l" t="t" r="r" b="b"/>
            <a:pathLst>
              <a:path w="184513" h="184513">
                <a:moveTo>
                  <a:pt x="104503" y="0"/>
                </a:moveTo>
                <a:lnTo>
                  <a:pt x="80010" y="0"/>
                </a:lnTo>
                <a:lnTo>
                  <a:pt x="80010" y="80010"/>
                </a:lnTo>
                <a:lnTo>
                  <a:pt x="0" y="80010"/>
                </a:lnTo>
                <a:lnTo>
                  <a:pt x="0" y="104503"/>
                </a:lnTo>
                <a:lnTo>
                  <a:pt x="80010" y="104503"/>
                </a:lnTo>
                <a:lnTo>
                  <a:pt x="80010" y="184513"/>
                </a:lnTo>
                <a:lnTo>
                  <a:pt x="104503" y="184513"/>
                </a:lnTo>
                <a:lnTo>
                  <a:pt x="104503" y="104503"/>
                </a:lnTo>
                <a:lnTo>
                  <a:pt x="184513" y="104503"/>
                </a:lnTo>
                <a:lnTo>
                  <a:pt x="184513" y="80010"/>
                </a:lnTo>
                <a:lnTo>
                  <a:pt x="104503" y="80010"/>
                </a:lnTo>
                <a:close/>
              </a:path>
            </a:pathLst>
          </a:custGeom>
          <a:solidFill>
            <a:schemeClr val="accent1"/>
          </a:solidFill>
          <a:ln w="1632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920186" y="1480632"/>
            <a:ext cx="1179586" cy="14394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3949EE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07</a:t>
            </a:r>
            <a:endParaRPr kumimoji="1" lang="zh-CN" altLang="en-US"/>
          </a:p>
        </p:txBody>
      </p:sp>
      <p:cxnSp>
        <p:nvCxnSpPr>
          <p:cNvPr id="16" name="标题 1"/>
          <p:cNvCxnSpPr/>
          <p:nvPr/>
        </p:nvCxnSpPr>
        <p:spPr>
          <a:xfrm rot="0" flipH="0" flipV="0">
            <a:off x="1929538" y="2580053"/>
            <a:ext cx="672826" cy="0"/>
          </a:xfrm>
          <a:prstGeom prst="line">
            <a:avLst/>
          </a:prstGeom>
          <a:noFill/>
          <a:ln w="12700" cap="sq">
            <a:solidFill>
              <a:schemeClr val="accent2">
                <a:alpha val="50000"/>
              </a:schemeClr>
            </a:solidFill>
            <a:prstDash val="dash"/>
            <a:miter/>
          </a:ln>
        </p:spPr>
      </p:cxnSp>
      <p:sp>
        <p:nvSpPr>
          <p:cNvPr id="17" name="标题 1"/>
          <p:cNvSpPr txBox="1"/>
          <p:nvPr/>
        </p:nvSpPr>
        <p:spPr>
          <a:xfrm rot="0" flipH="0" flipV="0">
            <a:off x="9540239" y="241508"/>
            <a:ext cx="2230733" cy="29733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2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5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0" flipH="0" flipV="0">
            <a:off x="11386534" y="325289"/>
            <a:ext cx="129755" cy="129774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0" flipV="0">
            <a:off x="9743840" y="254366"/>
            <a:ext cx="1542030" cy="24622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PowerPoint design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0" flipH="0" flipV="0">
            <a:off x="920186" y="3027823"/>
            <a:ext cx="4583574" cy="15354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3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幻灯片 7：行业分析</a:t>
            </a: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rot="0" flipH="0" flipV="0">
            <a:off x="5319247" y="4306073"/>
            <a:ext cx="184513" cy="184513"/>
          </a:xfrm>
          <a:custGeom>
            <a:avLst/>
            <a:gdLst>
              <a:gd name="connsiteX0" fmla="*/ 104503 w 184513"/>
              <a:gd name="connsiteY0" fmla="*/ 0 h 184513"/>
              <a:gd name="connsiteX1" fmla="*/ 80010 w 184513"/>
              <a:gd name="connsiteY1" fmla="*/ 0 h 184513"/>
              <a:gd name="connsiteX2" fmla="*/ 80010 w 184513"/>
              <a:gd name="connsiteY2" fmla="*/ 80010 h 184513"/>
              <a:gd name="connsiteX3" fmla="*/ 0 w 184513"/>
              <a:gd name="connsiteY3" fmla="*/ 80010 h 184513"/>
              <a:gd name="connsiteX4" fmla="*/ 0 w 184513"/>
              <a:gd name="connsiteY4" fmla="*/ 104503 h 184513"/>
              <a:gd name="connsiteX5" fmla="*/ 80010 w 184513"/>
              <a:gd name="connsiteY5" fmla="*/ 104503 h 184513"/>
              <a:gd name="connsiteX6" fmla="*/ 80010 w 184513"/>
              <a:gd name="connsiteY6" fmla="*/ 184513 h 184513"/>
              <a:gd name="connsiteX7" fmla="*/ 104503 w 184513"/>
              <a:gd name="connsiteY7" fmla="*/ 184513 h 184513"/>
              <a:gd name="connsiteX8" fmla="*/ 104503 w 184513"/>
              <a:gd name="connsiteY8" fmla="*/ 104503 h 184513"/>
              <a:gd name="connsiteX9" fmla="*/ 184513 w 184513"/>
              <a:gd name="connsiteY9" fmla="*/ 104503 h 184513"/>
              <a:gd name="connsiteX10" fmla="*/ 184513 w 184513"/>
              <a:gd name="connsiteY10" fmla="*/ 80010 h 184513"/>
              <a:gd name="connsiteX11" fmla="*/ 104503 w 184513"/>
              <a:gd name="connsiteY11" fmla="*/ 80010 h 184513"/>
            </a:gdLst>
            <a:rect l="l" t="t" r="r" b="b"/>
            <a:pathLst>
              <a:path w="184513" h="184513">
                <a:moveTo>
                  <a:pt x="104503" y="0"/>
                </a:moveTo>
                <a:lnTo>
                  <a:pt x="80010" y="0"/>
                </a:lnTo>
                <a:lnTo>
                  <a:pt x="80010" y="80010"/>
                </a:lnTo>
                <a:lnTo>
                  <a:pt x="0" y="80010"/>
                </a:lnTo>
                <a:lnTo>
                  <a:pt x="0" y="104503"/>
                </a:lnTo>
                <a:lnTo>
                  <a:pt x="80010" y="104503"/>
                </a:lnTo>
                <a:lnTo>
                  <a:pt x="80010" y="184513"/>
                </a:lnTo>
                <a:lnTo>
                  <a:pt x="104503" y="184513"/>
                </a:lnTo>
                <a:lnTo>
                  <a:pt x="104503" y="104503"/>
                </a:lnTo>
                <a:lnTo>
                  <a:pt x="184513" y="104503"/>
                </a:lnTo>
                <a:lnTo>
                  <a:pt x="184513" y="80010"/>
                </a:lnTo>
                <a:lnTo>
                  <a:pt x="104503" y="80010"/>
                </a:lnTo>
                <a:close/>
              </a:path>
            </a:pathLst>
          </a:custGeom>
          <a:solidFill>
            <a:schemeClr val="accent2"/>
          </a:solidFill>
          <a:ln w="1632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rot="0" flipH="0" flipV="0">
            <a:off x="5263577" y="4503679"/>
            <a:ext cx="101867" cy="101867"/>
          </a:xfrm>
          <a:custGeom>
            <a:avLst/>
            <a:gdLst>
              <a:gd name="connsiteX0" fmla="*/ 104503 w 184513"/>
              <a:gd name="connsiteY0" fmla="*/ 0 h 184513"/>
              <a:gd name="connsiteX1" fmla="*/ 80010 w 184513"/>
              <a:gd name="connsiteY1" fmla="*/ 0 h 184513"/>
              <a:gd name="connsiteX2" fmla="*/ 80010 w 184513"/>
              <a:gd name="connsiteY2" fmla="*/ 80010 h 184513"/>
              <a:gd name="connsiteX3" fmla="*/ 0 w 184513"/>
              <a:gd name="connsiteY3" fmla="*/ 80010 h 184513"/>
              <a:gd name="connsiteX4" fmla="*/ 0 w 184513"/>
              <a:gd name="connsiteY4" fmla="*/ 104503 h 184513"/>
              <a:gd name="connsiteX5" fmla="*/ 80010 w 184513"/>
              <a:gd name="connsiteY5" fmla="*/ 104503 h 184513"/>
              <a:gd name="connsiteX6" fmla="*/ 80010 w 184513"/>
              <a:gd name="connsiteY6" fmla="*/ 184513 h 184513"/>
              <a:gd name="connsiteX7" fmla="*/ 104503 w 184513"/>
              <a:gd name="connsiteY7" fmla="*/ 184513 h 184513"/>
              <a:gd name="connsiteX8" fmla="*/ 104503 w 184513"/>
              <a:gd name="connsiteY8" fmla="*/ 104503 h 184513"/>
              <a:gd name="connsiteX9" fmla="*/ 184513 w 184513"/>
              <a:gd name="connsiteY9" fmla="*/ 104503 h 184513"/>
              <a:gd name="connsiteX10" fmla="*/ 184513 w 184513"/>
              <a:gd name="connsiteY10" fmla="*/ 80010 h 184513"/>
              <a:gd name="connsiteX11" fmla="*/ 104503 w 184513"/>
              <a:gd name="connsiteY11" fmla="*/ 80010 h 184513"/>
            </a:gdLst>
            <a:rect l="l" t="t" r="r" b="b"/>
            <a:pathLst>
              <a:path w="184513" h="184513">
                <a:moveTo>
                  <a:pt x="104503" y="0"/>
                </a:moveTo>
                <a:lnTo>
                  <a:pt x="80010" y="0"/>
                </a:lnTo>
                <a:lnTo>
                  <a:pt x="80010" y="80010"/>
                </a:lnTo>
                <a:lnTo>
                  <a:pt x="0" y="80010"/>
                </a:lnTo>
                <a:lnTo>
                  <a:pt x="0" y="104503"/>
                </a:lnTo>
                <a:lnTo>
                  <a:pt x="80010" y="104503"/>
                </a:lnTo>
                <a:lnTo>
                  <a:pt x="80010" y="184513"/>
                </a:lnTo>
                <a:lnTo>
                  <a:pt x="104503" y="184513"/>
                </a:lnTo>
                <a:lnTo>
                  <a:pt x="104503" y="104503"/>
                </a:lnTo>
                <a:lnTo>
                  <a:pt x="184513" y="104503"/>
                </a:lnTo>
                <a:lnTo>
                  <a:pt x="184513" y="80010"/>
                </a:lnTo>
                <a:lnTo>
                  <a:pt x="104503" y="80010"/>
                </a:lnTo>
                <a:close/>
              </a:path>
            </a:pathLst>
          </a:custGeom>
          <a:solidFill>
            <a:schemeClr val="accent1"/>
          </a:solidFill>
          <a:ln w="1632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 rot="21239739" flipH="0" flipV="0">
            <a:off x="340012" y="3241517"/>
            <a:ext cx="5890453" cy="381346"/>
          </a:xfrm>
          <a:prstGeom prst="ellipse">
            <a:avLst/>
          </a:prstGeom>
          <a:noFill/>
          <a:ln w="25400" cap="flat">
            <a:gradFill>
              <a:gsLst>
                <a:gs pos="20000">
                  <a:schemeClr val="accent2">
                    <a:alpha val="0"/>
                  </a:schemeClr>
                </a:gs>
                <a:gs pos="70000">
                  <a:schemeClr val="accent2">
                    <a:alpha val="80000"/>
                  </a:schemeClr>
                </a:gs>
                <a:gs pos="90000">
                  <a:schemeClr val="accent2"/>
                </a:gs>
              </a:gsLst>
              <a:lin ang="5400000" scaled="0"/>
            </a:gradFill>
            <a:miter/>
          </a:ln>
          <a:effectLst/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660400" y="2066517"/>
            <a:ext cx="3269706" cy="3816000"/>
          </a:xfrm>
          <a:prstGeom prst="roundRect">
            <a:avLst>
              <a:gd name="adj" fmla="val 5618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2700000" flipH="0" flipV="0">
            <a:off x="1610618" y="1381882"/>
            <a:ext cx="1369274" cy="1369272"/>
          </a:xfrm>
          <a:prstGeom prst="roundRect">
            <a:avLst>
              <a:gd name="adj" fmla="val 9524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2700000" flipH="0" flipV="0">
            <a:off x="1690918" y="1462184"/>
            <a:ext cx="1208672" cy="1208672"/>
          </a:xfrm>
          <a:prstGeom prst="roundRect">
            <a:avLst>
              <a:gd name="adj" fmla="val 95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2026447" y="1831184"/>
            <a:ext cx="537612" cy="470670"/>
          </a:xfrm>
          <a:custGeom>
            <a:avLst/>
            <a:gdLst>
              <a:gd name="connsiteX0" fmla="*/ 411292 w 822400"/>
              <a:gd name="connsiteY0" fmla="*/ 234366 h 720000"/>
              <a:gd name="connsiteX1" fmla="*/ 285658 w 822400"/>
              <a:gd name="connsiteY1" fmla="*/ 360000 h 720000"/>
              <a:gd name="connsiteX2" fmla="*/ 411292 w 822400"/>
              <a:gd name="connsiteY2" fmla="*/ 485635 h 720000"/>
              <a:gd name="connsiteX3" fmla="*/ 536927 w 822400"/>
              <a:gd name="connsiteY3" fmla="*/ 360000 h 720000"/>
              <a:gd name="connsiteX4" fmla="*/ 411292 w 822400"/>
              <a:gd name="connsiteY4" fmla="*/ 234366 h 720000"/>
              <a:gd name="connsiteX5" fmla="*/ 411292 w 822400"/>
              <a:gd name="connsiteY5" fmla="*/ 178938 h 720000"/>
              <a:gd name="connsiteX6" fmla="*/ 592354 w 822400"/>
              <a:gd name="connsiteY6" fmla="*/ 360000 h 720000"/>
              <a:gd name="connsiteX7" fmla="*/ 411292 w 822400"/>
              <a:gd name="connsiteY7" fmla="*/ 541063 h 720000"/>
              <a:gd name="connsiteX8" fmla="*/ 230230 w 822400"/>
              <a:gd name="connsiteY8" fmla="*/ 360000 h 720000"/>
              <a:gd name="connsiteX9" fmla="*/ 411292 w 822400"/>
              <a:gd name="connsiteY9" fmla="*/ 178938 h 720000"/>
              <a:gd name="connsiteX10" fmla="*/ 235403 w 822400"/>
              <a:gd name="connsiteY10" fmla="*/ 55427 h 720000"/>
              <a:gd name="connsiteX11" fmla="*/ 59514 w 822400"/>
              <a:gd name="connsiteY11" fmla="*/ 360000 h 720000"/>
              <a:gd name="connsiteX12" fmla="*/ 235403 w 822400"/>
              <a:gd name="connsiteY12" fmla="*/ 664573 h 720000"/>
              <a:gd name="connsiteX13" fmla="*/ 587089 w 822400"/>
              <a:gd name="connsiteY13" fmla="*/ 664573 h 720000"/>
              <a:gd name="connsiteX14" fmla="*/ 762978 w 822400"/>
              <a:gd name="connsiteY14" fmla="*/ 360000 h 720000"/>
              <a:gd name="connsiteX15" fmla="*/ 587089 w 822400"/>
              <a:gd name="connsiteY15" fmla="*/ 55427 h 720000"/>
              <a:gd name="connsiteX16" fmla="*/ 219883 w 822400"/>
              <a:gd name="connsiteY16" fmla="*/ 0 h 720000"/>
              <a:gd name="connsiteX17" fmla="*/ 602516 w 822400"/>
              <a:gd name="connsiteY17" fmla="*/ 0 h 720000"/>
              <a:gd name="connsiteX18" fmla="*/ 627274 w 822400"/>
              <a:gd name="connsiteY18" fmla="*/ 14319 h 720000"/>
              <a:gd name="connsiteX19" fmla="*/ 818590 w 822400"/>
              <a:gd name="connsiteY19" fmla="*/ 345682 h 720000"/>
              <a:gd name="connsiteX20" fmla="*/ 818590 w 822400"/>
              <a:gd name="connsiteY20" fmla="*/ 374319 h 720000"/>
              <a:gd name="connsiteX21" fmla="*/ 627366 w 822400"/>
              <a:gd name="connsiteY21" fmla="*/ 705682 h 720000"/>
              <a:gd name="connsiteX22" fmla="*/ 602608 w 822400"/>
              <a:gd name="connsiteY22" fmla="*/ 720000 h 720000"/>
              <a:gd name="connsiteX23" fmla="*/ 219976 w 822400"/>
              <a:gd name="connsiteY23" fmla="*/ 720000 h 720000"/>
              <a:gd name="connsiteX24" fmla="*/ 195218 w 822400"/>
              <a:gd name="connsiteY24" fmla="*/ 705682 h 720000"/>
              <a:gd name="connsiteX25" fmla="*/ 3810 w 822400"/>
              <a:gd name="connsiteY25" fmla="*/ 374319 h 720000"/>
              <a:gd name="connsiteX26" fmla="*/ 3810 w 822400"/>
              <a:gd name="connsiteY26" fmla="*/ 345682 h 720000"/>
              <a:gd name="connsiteX27" fmla="*/ 195126 w 822400"/>
              <a:gd name="connsiteY27" fmla="*/ 14319 h 720000"/>
              <a:gd name="connsiteX28" fmla="*/ 219883 w 822400"/>
              <a:gd name="connsiteY28" fmla="*/ 0 h 720000"/>
            </a:gdLst>
            <a:rect l="l" t="t" r="r" b="b"/>
            <a:pathLst>
              <a:path w="822400" h="720000">
                <a:moveTo>
                  <a:pt x="411292" y="234366"/>
                </a:moveTo>
                <a:cubicBezTo>
                  <a:pt x="342008" y="234366"/>
                  <a:pt x="285658" y="290716"/>
                  <a:pt x="285658" y="360000"/>
                </a:cubicBezTo>
                <a:cubicBezTo>
                  <a:pt x="285658" y="429284"/>
                  <a:pt x="342008" y="485635"/>
                  <a:pt x="411292" y="485635"/>
                </a:cubicBezTo>
                <a:cubicBezTo>
                  <a:pt x="480576" y="485635"/>
                  <a:pt x="536927" y="429284"/>
                  <a:pt x="536927" y="360000"/>
                </a:cubicBezTo>
                <a:cubicBezTo>
                  <a:pt x="536927" y="290716"/>
                  <a:pt x="480576" y="234366"/>
                  <a:pt x="411292" y="234366"/>
                </a:cubicBezTo>
                <a:close/>
                <a:moveTo>
                  <a:pt x="411292" y="178938"/>
                </a:moveTo>
                <a:cubicBezTo>
                  <a:pt x="511153" y="178938"/>
                  <a:pt x="592354" y="260139"/>
                  <a:pt x="592354" y="360000"/>
                </a:cubicBezTo>
                <a:cubicBezTo>
                  <a:pt x="592354" y="459861"/>
                  <a:pt x="511153" y="541063"/>
                  <a:pt x="411292" y="541063"/>
                </a:cubicBezTo>
                <a:cubicBezTo>
                  <a:pt x="311431" y="541063"/>
                  <a:pt x="230230" y="459861"/>
                  <a:pt x="230230" y="360000"/>
                </a:cubicBezTo>
                <a:cubicBezTo>
                  <a:pt x="230230" y="260139"/>
                  <a:pt x="311431" y="178938"/>
                  <a:pt x="411292" y="178938"/>
                </a:cubicBezTo>
                <a:close/>
                <a:moveTo>
                  <a:pt x="235403" y="55427"/>
                </a:moveTo>
                <a:lnTo>
                  <a:pt x="59514" y="360000"/>
                </a:lnTo>
                <a:lnTo>
                  <a:pt x="235403" y="664573"/>
                </a:lnTo>
                <a:lnTo>
                  <a:pt x="587089" y="664573"/>
                </a:lnTo>
                <a:lnTo>
                  <a:pt x="762978" y="360000"/>
                </a:lnTo>
                <a:lnTo>
                  <a:pt x="587089" y="55427"/>
                </a:lnTo>
                <a:close/>
                <a:moveTo>
                  <a:pt x="219883" y="0"/>
                </a:moveTo>
                <a:lnTo>
                  <a:pt x="602516" y="0"/>
                </a:lnTo>
                <a:cubicBezTo>
                  <a:pt x="612678" y="0"/>
                  <a:pt x="622193" y="5450"/>
                  <a:pt x="627274" y="14319"/>
                </a:cubicBezTo>
                <a:lnTo>
                  <a:pt x="818590" y="345682"/>
                </a:lnTo>
                <a:cubicBezTo>
                  <a:pt x="823671" y="354550"/>
                  <a:pt x="823671" y="365451"/>
                  <a:pt x="818590" y="374319"/>
                </a:cubicBezTo>
                <a:lnTo>
                  <a:pt x="627366" y="705682"/>
                </a:lnTo>
                <a:cubicBezTo>
                  <a:pt x="622285" y="714550"/>
                  <a:pt x="612770" y="720000"/>
                  <a:pt x="602608" y="720000"/>
                </a:cubicBezTo>
                <a:lnTo>
                  <a:pt x="219976" y="720000"/>
                </a:lnTo>
                <a:cubicBezTo>
                  <a:pt x="209814" y="720000"/>
                  <a:pt x="200299" y="714550"/>
                  <a:pt x="195218" y="705682"/>
                </a:cubicBezTo>
                <a:lnTo>
                  <a:pt x="3810" y="374319"/>
                </a:lnTo>
                <a:cubicBezTo>
                  <a:pt x="-1271" y="365543"/>
                  <a:pt x="-1271" y="354550"/>
                  <a:pt x="3810" y="345682"/>
                </a:cubicBezTo>
                <a:lnTo>
                  <a:pt x="195126" y="14319"/>
                </a:lnTo>
                <a:cubicBezTo>
                  <a:pt x="200207" y="5450"/>
                  <a:pt x="209721" y="0"/>
                  <a:pt x="219883" y="0"/>
                </a:cubicBezTo>
                <a:close/>
              </a:path>
            </a:pathLst>
          </a:custGeom>
          <a:solidFill>
            <a:schemeClr val="bg1"/>
          </a:solidFill>
          <a:ln w="1553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859084" y="3749958"/>
            <a:ext cx="2889754" cy="193656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98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Subtopic 1：国家出台多项政策鼓励社会力量参与养老服务，推动养老服务智能化发展，给予税收优惠、财政补贴等扶持政策，为 AI 芯颐养院建设运营创造良好政策环境。
Subtopic 2：政策支持引导养老服务行业向专业化、规范化、智能化方向发展，促进养老服务行业转型升级，提升养老服务整体水平。
Subtopic 3：政府加大对养老服务基础设施建设投入，推动智慧养老平台建设，为智能养老服务发展提供政策保障和技术支持。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2700000" flipH="0" flipV="0">
            <a:off x="1223967" y="2413649"/>
            <a:ext cx="206123" cy="206123"/>
          </a:xfrm>
          <a:prstGeom prst="roundRect">
            <a:avLst>
              <a:gd name="adj" fmla="val 9524"/>
            </a:avLst>
          </a:pr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2700000" flipH="0" flipV="0">
            <a:off x="3250480" y="1723848"/>
            <a:ext cx="139560" cy="139560"/>
          </a:xfrm>
          <a:prstGeom prst="roundRect">
            <a:avLst>
              <a:gd name="adj" fmla="val 9524"/>
            </a:avLst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859084" y="3042560"/>
            <a:ext cx="2889754" cy="74071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B0F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国家养老政策导向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4454797" y="2066517"/>
            <a:ext cx="3269706" cy="3816000"/>
          </a:xfrm>
          <a:prstGeom prst="roundRect">
            <a:avLst>
              <a:gd name="adj" fmla="val 5618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2700000" flipH="0" flipV="0">
            <a:off x="5405014" y="1381882"/>
            <a:ext cx="1369274" cy="1369272"/>
          </a:xfrm>
          <a:prstGeom prst="roundRect">
            <a:avLst>
              <a:gd name="adj" fmla="val 9524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2700000" flipH="0" flipV="0">
            <a:off x="5485315" y="1462184"/>
            <a:ext cx="1208672" cy="1208672"/>
          </a:xfrm>
          <a:prstGeom prst="roundRect">
            <a:avLst>
              <a:gd name="adj" fmla="val 95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5820844" y="1797713"/>
            <a:ext cx="537612" cy="537612"/>
          </a:xfrm>
          <a:custGeom>
            <a:avLst/>
            <a:gdLst>
              <a:gd name="connsiteX0" fmla="*/ 457070 w 720001"/>
              <a:gd name="connsiteY0" fmla="*/ 57166 h 720001"/>
              <a:gd name="connsiteX1" fmla="*/ 457070 w 720001"/>
              <a:gd name="connsiteY1" fmla="*/ 263017 h 720001"/>
              <a:gd name="connsiteX2" fmla="*/ 662921 w 720001"/>
              <a:gd name="connsiteY2" fmla="*/ 263017 h 720001"/>
              <a:gd name="connsiteX3" fmla="*/ 647393 w 720001"/>
              <a:gd name="connsiteY3" fmla="*/ 212704 h 720001"/>
              <a:gd name="connsiteX4" fmla="*/ 591008 w 720001"/>
              <a:gd name="connsiteY4" fmla="*/ 129079 h 720001"/>
              <a:gd name="connsiteX5" fmla="*/ 507383 w 720001"/>
              <a:gd name="connsiteY5" fmla="*/ 72694 h 720001"/>
              <a:gd name="connsiteX6" fmla="*/ 457070 w 720001"/>
              <a:gd name="connsiteY6" fmla="*/ 57166 h 720001"/>
              <a:gd name="connsiteX7" fmla="*/ 307952 w 720001"/>
              <a:gd name="connsiteY7" fmla="*/ 56386 h 720001"/>
              <a:gd name="connsiteX8" fmla="*/ 240115 w 720001"/>
              <a:gd name="connsiteY8" fmla="*/ 76251 h 720001"/>
              <a:gd name="connsiteX9" fmla="*/ 142092 w 720001"/>
              <a:gd name="connsiteY9" fmla="*/ 142179 h 720001"/>
              <a:gd name="connsiteX10" fmla="*/ 76077 w 720001"/>
              <a:gd name="connsiteY10" fmla="*/ 240116 h 720001"/>
              <a:gd name="connsiteX11" fmla="*/ 51874 w 720001"/>
              <a:gd name="connsiteY11" fmla="*/ 360000 h 720001"/>
              <a:gd name="connsiteX12" fmla="*/ 76077 w 720001"/>
              <a:gd name="connsiteY12" fmla="*/ 479885 h 720001"/>
              <a:gd name="connsiteX13" fmla="*/ 142092 w 720001"/>
              <a:gd name="connsiteY13" fmla="*/ 577822 h 720001"/>
              <a:gd name="connsiteX14" fmla="*/ 240029 w 720001"/>
              <a:gd name="connsiteY14" fmla="*/ 643837 h 720001"/>
              <a:gd name="connsiteX15" fmla="*/ 359913 w 720001"/>
              <a:gd name="connsiteY15" fmla="*/ 668039 h 720001"/>
              <a:gd name="connsiteX16" fmla="*/ 479798 w 720001"/>
              <a:gd name="connsiteY16" fmla="*/ 643837 h 720001"/>
              <a:gd name="connsiteX17" fmla="*/ 577735 w 720001"/>
              <a:gd name="connsiteY17" fmla="*/ 577822 h 720001"/>
              <a:gd name="connsiteX18" fmla="*/ 643750 w 720001"/>
              <a:gd name="connsiteY18" fmla="*/ 479885 h 720001"/>
              <a:gd name="connsiteX19" fmla="*/ 663615 w 720001"/>
              <a:gd name="connsiteY19" fmla="*/ 412049 h 720001"/>
              <a:gd name="connsiteX20" fmla="*/ 360000 w 720001"/>
              <a:gd name="connsiteY20" fmla="*/ 412049 h 720001"/>
              <a:gd name="connsiteX21" fmla="*/ 307952 w 720001"/>
              <a:gd name="connsiteY21" fmla="*/ 360000 h 720001"/>
              <a:gd name="connsiteX22" fmla="*/ 405022 w 720001"/>
              <a:gd name="connsiteY22" fmla="*/ 0 h 720001"/>
              <a:gd name="connsiteX23" fmla="*/ 720001 w 720001"/>
              <a:gd name="connsiteY23" fmla="*/ 314979 h 720001"/>
              <a:gd name="connsiteX24" fmla="*/ 405022 w 720001"/>
              <a:gd name="connsiteY24" fmla="*/ 314979 h 720001"/>
              <a:gd name="connsiteX25" fmla="*/ 360000 w 720001"/>
              <a:gd name="connsiteY25" fmla="*/ 0 h 720001"/>
              <a:gd name="connsiteX26" fmla="*/ 360000 w 720001"/>
              <a:gd name="connsiteY26" fmla="*/ 360000 h 720001"/>
              <a:gd name="connsiteX27" fmla="*/ 720001 w 720001"/>
              <a:gd name="connsiteY27" fmla="*/ 360000 h 720001"/>
              <a:gd name="connsiteX28" fmla="*/ 360000 w 720001"/>
              <a:gd name="connsiteY28" fmla="*/ 720001 h 720001"/>
              <a:gd name="connsiteX29" fmla="*/ 0 w 720001"/>
              <a:gd name="connsiteY29" fmla="*/ 360000 h 720001"/>
              <a:gd name="connsiteX30" fmla="*/ 360000 w 720001"/>
              <a:gd name="connsiteY30" fmla="*/ 0 h 720001"/>
            </a:gdLst>
            <a:rect l="l" t="t" r="r" b="b"/>
            <a:pathLst>
              <a:path w="720001" h="720001">
                <a:moveTo>
                  <a:pt x="457070" y="57166"/>
                </a:moveTo>
                <a:lnTo>
                  <a:pt x="457070" y="263017"/>
                </a:lnTo>
                <a:lnTo>
                  <a:pt x="662921" y="263017"/>
                </a:lnTo>
                <a:cubicBezTo>
                  <a:pt x="659451" y="245755"/>
                  <a:pt x="654246" y="229012"/>
                  <a:pt x="647393" y="212704"/>
                </a:cubicBezTo>
                <a:cubicBezTo>
                  <a:pt x="634121" y="181388"/>
                  <a:pt x="615210" y="153282"/>
                  <a:pt x="591008" y="129079"/>
                </a:cubicBezTo>
                <a:cubicBezTo>
                  <a:pt x="566806" y="104877"/>
                  <a:pt x="538699" y="85966"/>
                  <a:pt x="507383" y="72694"/>
                </a:cubicBezTo>
                <a:cubicBezTo>
                  <a:pt x="491075" y="65755"/>
                  <a:pt x="474246" y="60636"/>
                  <a:pt x="457070" y="57166"/>
                </a:cubicBezTo>
                <a:close/>
                <a:moveTo>
                  <a:pt x="307952" y="56386"/>
                </a:moveTo>
                <a:cubicBezTo>
                  <a:pt x="284703" y="60376"/>
                  <a:pt x="262062" y="66969"/>
                  <a:pt x="240115" y="76251"/>
                </a:cubicBezTo>
                <a:cubicBezTo>
                  <a:pt x="203508" y="91778"/>
                  <a:pt x="170544" y="113986"/>
                  <a:pt x="142092" y="142179"/>
                </a:cubicBezTo>
                <a:cubicBezTo>
                  <a:pt x="113812" y="170545"/>
                  <a:pt x="91605" y="203422"/>
                  <a:pt x="76077" y="240116"/>
                </a:cubicBezTo>
                <a:cubicBezTo>
                  <a:pt x="60029" y="278111"/>
                  <a:pt x="51874" y="318362"/>
                  <a:pt x="51874" y="360000"/>
                </a:cubicBezTo>
                <a:cubicBezTo>
                  <a:pt x="51874" y="401639"/>
                  <a:pt x="60029" y="441976"/>
                  <a:pt x="76077" y="479885"/>
                </a:cubicBezTo>
                <a:cubicBezTo>
                  <a:pt x="91605" y="516579"/>
                  <a:pt x="113812" y="549543"/>
                  <a:pt x="142092" y="577822"/>
                </a:cubicBezTo>
                <a:cubicBezTo>
                  <a:pt x="170458" y="606102"/>
                  <a:pt x="203335" y="628309"/>
                  <a:pt x="240029" y="643837"/>
                </a:cubicBezTo>
                <a:cubicBezTo>
                  <a:pt x="278024" y="659885"/>
                  <a:pt x="318275" y="668039"/>
                  <a:pt x="359913" y="668039"/>
                </a:cubicBezTo>
                <a:cubicBezTo>
                  <a:pt x="401552" y="668039"/>
                  <a:pt x="441890" y="659885"/>
                  <a:pt x="479798" y="643837"/>
                </a:cubicBezTo>
                <a:cubicBezTo>
                  <a:pt x="516492" y="628309"/>
                  <a:pt x="549456" y="606102"/>
                  <a:pt x="577735" y="577822"/>
                </a:cubicBezTo>
                <a:cubicBezTo>
                  <a:pt x="606015" y="549456"/>
                  <a:pt x="628222" y="516579"/>
                  <a:pt x="643750" y="479885"/>
                </a:cubicBezTo>
                <a:cubicBezTo>
                  <a:pt x="653032" y="457938"/>
                  <a:pt x="659625" y="435297"/>
                  <a:pt x="663615" y="412049"/>
                </a:cubicBezTo>
                <a:lnTo>
                  <a:pt x="360000" y="412049"/>
                </a:lnTo>
                <a:cubicBezTo>
                  <a:pt x="331287" y="412049"/>
                  <a:pt x="307952" y="388714"/>
                  <a:pt x="307952" y="360000"/>
                </a:cubicBezTo>
                <a:close/>
                <a:moveTo>
                  <a:pt x="405022" y="0"/>
                </a:moveTo>
                <a:cubicBezTo>
                  <a:pt x="578950" y="0"/>
                  <a:pt x="720001" y="141051"/>
                  <a:pt x="720001" y="314979"/>
                </a:cubicBezTo>
                <a:lnTo>
                  <a:pt x="405022" y="314979"/>
                </a:lnTo>
                <a:close/>
                <a:moveTo>
                  <a:pt x="360000" y="0"/>
                </a:moveTo>
                <a:lnTo>
                  <a:pt x="360000" y="360000"/>
                </a:lnTo>
                <a:lnTo>
                  <a:pt x="720001" y="360000"/>
                </a:lnTo>
                <a:cubicBezTo>
                  <a:pt x="720001" y="558825"/>
                  <a:pt x="558824" y="720001"/>
                  <a:pt x="360000" y="720001"/>
                </a:cubicBezTo>
                <a:cubicBezTo>
                  <a:pt x="161176" y="720001"/>
                  <a:pt x="0" y="558825"/>
                  <a:pt x="0" y="360000"/>
                </a:cubicBezTo>
                <a:cubicBezTo>
                  <a:pt x="0" y="161176"/>
                  <a:pt x="161176" y="0"/>
                  <a:pt x="360000" y="0"/>
                </a:cubicBezTo>
                <a:close/>
              </a:path>
            </a:pathLst>
          </a:custGeom>
          <a:solidFill>
            <a:schemeClr val="bg1"/>
          </a:solidFill>
          <a:ln w="1553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4653481" y="3749958"/>
            <a:ext cx="2889754" cy="193656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98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Subtopic 1：我国 60 岁及以上人口占比超 18%，且呈上升趋势，养老需求持续增长，为智能养老服务提供广阔市场空间。
Subtopic 2：老年人口结构中，高龄、失能、半失能老人数量增加，对专业、智能养老服务的需求更为迫切，推动智能养老服务市场快速发展。
Subtopic 3：随着老龄化加剧，家庭养老功能逐渐弱化，社会养老需求凸显，智能养老服务作为新兴模式，受到市场广泛关注。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2700000" flipH="0" flipV="0">
            <a:off x="5018363" y="2413649"/>
            <a:ext cx="206123" cy="206123"/>
          </a:xfrm>
          <a:prstGeom prst="roundRect">
            <a:avLst>
              <a:gd name="adj" fmla="val 9524"/>
            </a:avLst>
          </a:pr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2700000" flipH="0" flipV="0">
            <a:off x="7044877" y="1723848"/>
            <a:ext cx="139560" cy="139560"/>
          </a:xfrm>
          <a:prstGeom prst="roundRect">
            <a:avLst>
              <a:gd name="adj" fmla="val 9524"/>
            </a:avLst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0" flipH="0" flipV="0">
            <a:off x="4653481" y="3042560"/>
            <a:ext cx="2889754" cy="74071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B0F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人口老龄化趋势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0" flipV="0">
            <a:off x="8249194" y="2066518"/>
            <a:ext cx="3269706" cy="3816000"/>
          </a:xfrm>
          <a:prstGeom prst="roundRect">
            <a:avLst>
              <a:gd name="adj" fmla="val 5618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2700000" flipH="0" flipV="0">
            <a:off x="9199411" y="1381883"/>
            <a:ext cx="1369274" cy="1369272"/>
          </a:xfrm>
          <a:prstGeom prst="roundRect">
            <a:avLst>
              <a:gd name="adj" fmla="val 9524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rot="2700000" flipH="0" flipV="0">
            <a:off x="9279713" y="1462185"/>
            <a:ext cx="1208672" cy="1208672"/>
          </a:xfrm>
          <a:prstGeom prst="roundRect">
            <a:avLst>
              <a:gd name="adj" fmla="val 95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rot="0" flipH="0" flipV="0">
            <a:off x="9635898" y="1797714"/>
            <a:ext cx="496299" cy="537612"/>
          </a:xfrm>
          <a:custGeom>
            <a:avLst/>
            <a:gdLst>
              <a:gd name="connsiteX0" fmla="*/ 712625 w 1425436"/>
              <a:gd name="connsiteY0" fmla="*/ 111621 h 1544091"/>
              <a:gd name="connsiteX1" fmla="*/ 902567 w 1425436"/>
              <a:gd name="connsiteY1" fmla="*/ 190314 h 1544091"/>
              <a:gd name="connsiteX2" fmla="*/ 981260 w 1425436"/>
              <a:gd name="connsiteY2" fmla="*/ 380256 h 1544091"/>
              <a:gd name="connsiteX3" fmla="*/ 902567 w 1425436"/>
              <a:gd name="connsiteY3" fmla="*/ 570198 h 1544091"/>
              <a:gd name="connsiteX4" fmla="*/ 712625 w 1425436"/>
              <a:gd name="connsiteY4" fmla="*/ 648891 h 1544091"/>
              <a:gd name="connsiteX5" fmla="*/ 522684 w 1425436"/>
              <a:gd name="connsiteY5" fmla="*/ 570198 h 1544091"/>
              <a:gd name="connsiteX6" fmla="*/ 444177 w 1425436"/>
              <a:gd name="connsiteY6" fmla="*/ 380070 h 1544091"/>
              <a:gd name="connsiteX7" fmla="*/ 522870 w 1425436"/>
              <a:gd name="connsiteY7" fmla="*/ 190128 h 1544091"/>
              <a:gd name="connsiteX8" fmla="*/ 712625 w 1425436"/>
              <a:gd name="connsiteY8" fmla="*/ 111621 h 1544091"/>
              <a:gd name="connsiteX9" fmla="*/ 712625 w 1425436"/>
              <a:gd name="connsiteY9" fmla="*/ 0 h 1544091"/>
              <a:gd name="connsiteX10" fmla="*/ 332556 w 1425436"/>
              <a:gd name="connsiteY10" fmla="*/ 380070 h 1544091"/>
              <a:gd name="connsiteX11" fmla="*/ 712625 w 1425436"/>
              <a:gd name="connsiteY11" fmla="*/ 760140 h 1544091"/>
              <a:gd name="connsiteX12" fmla="*/ 1092695 w 1425436"/>
              <a:gd name="connsiteY12" fmla="*/ 380070 h 1544091"/>
              <a:gd name="connsiteX13" fmla="*/ 712625 w 1425436"/>
              <a:gd name="connsiteY13" fmla="*/ 0 h 1544091"/>
              <a:gd name="connsiteX14" fmla="*/ 712625 w 1425436"/>
              <a:gd name="connsiteY14" fmla="*/ 943012 h 1544091"/>
              <a:gd name="connsiteX15" fmla="*/ 978842 w 1425436"/>
              <a:gd name="connsiteY15" fmla="*/ 976685 h 1544091"/>
              <a:gd name="connsiteX16" fmla="*/ 1146087 w 1425436"/>
              <a:gd name="connsiteY16" fmla="*/ 1059470 h 1544091"/>
              <a:gd name="connsiteX17" fmla="*/ 1248593 w 1425436"/>
              <a:gd name="connsiteY17" fmla="*/ 1174440 h 1544091"/>
              <a:gd name="connsiteX18" fmla="*/ 1310356 w 1425436"/>
              <a:gd name="connsiteY18" fmla="*/ 1316385 h 1544091"/>
              <a:gd name="connsiteX19" fmla="*/ 1296590 w 1425436"/>
              <a:gd name="connsiteY19" fmla="*/ 1390241 h 1544091"/>
              <a:gd name="connsiteX20" fmla="*/ 1208595 w 1425436"/>
              <a:gd name="connsiteY20" fmla="*/ 1432285 h 1544091"/>
              <a:gd name="connsiteX21" fmla="*/ 216842 w 1425436"/>
              <a:gd name="connsiteY21" fmla="*/ 1432285 h 1544091"/>
              <a:gd name="connsiteX22" fmla="*/ 128847 w 1425436"/>
              <a:gd name="connsiteY22" fmla="*/ 1390241 h 1544091"/>
              <a:gd name="connsiteX23" fmla="*/ 115081 w 1425436"/>
              <a:gd name="connsiteY23" fmla="*/ 1316385 h 1544091"/>
              <a:gd name="connsiteX24" fmla="*/ 176844 w 1425436"/>
              <a:gd name="connsiteY24" fmla="*/ 1174440 h 1544091"/>
              <a:gd name="connsiteX25" fmla="*/ 279350 w 1425436"/>
              <a:gd name="connsiteY25" fmla="*/ 1059470 h 1544091"/>
              <a:gd name="connsiteX26" fmla="*/ 446595 w 1425436"/>
              <a:gd name="connsiteY26" fmla="*/ 976685 h 1544091"/>
              <a:gd name="connsiteX27" fmla="*/ 712625 w 1425436"/>
              <a:gd name="connsiteY27" fmla="*/ 943012 h 1544091"/>
              <a:gd name="connsiteX28" fmla="*/ 712625 w 1425436"/>
              <a:gd name="connsiteY28" fmla="*/ 831391 h 1544091"/>
              <a:gd name="connsiteX29" fmla="*/ 8296 w 1425436"/>
              <a:gd name="connsiteY29" fmla="*/ 1284387 h 1544091"/>
              <a:gd name="connsiteX30" fmla="*/ 216842 w 1425436"/>
              <a:gd name="connsiteY30" fmla="*/ 1544092 h 1544091"/>
              <a:gd name="connsiteX31" fmla="*/ 1208595 w 1425436"/>
              <a:gd name="connsiteY31" fmla="*/ 1544092 h 1544091"/>
              <a:gd name="connsiteX32" fmla="*/ 1417141 w 1425436"/>
              <a:gd name="connsiteY32" fmla="*/ 1284387 h 1544091"/>
              <a:gd name="connsiteX33" fmla="*/ 712625 w 1425436"/>
              <a:gd name="connsiteY33" fmla="*/ 831391 h 1544091"/>
            </a:gdLst>
            <a:rect l="l" t="t" r="r" b="b"/>
            <a:pathLst>
              <a:path w="1425436" h="1544091">
                <a:moveTo>
                  <a:pt x="712625" y="111621"/>
                </a:moveTo>
                <a:cubicBezTo>
                  <a:pt x="784435" y="111621"/>
                  <a:pt x="851780" y="139526"/>
                  <a:pt x="902567" y="190314"/>
                </a:cubicBezTo>
                <a:cubicBezTo>
                  <a:pt x="953355" y="241102"/>
                  <a:pt x="981260" y="308446"/>
                  <a:pt x="981260" y="380256"/>
                </a:cubicBezTo>
                <a:cubicBezTo>
                  <a:pt x="981260" y="452065"/>
                  <a:pt x="953355" y="519410"/>
                  <a:pt x="902567" y="570198"/>
                </a:cubicBezTo>
                <a:cubicBezTo>
                  <a:pt x="851780" y="620985"/>
                  <a:pt x="784435" y="648891"/>
                  <a:pt x="712625" y="648891"/>
                </a:cubicBezTo>
                <a:cubicBezTo>
                  <a:pt x="640816" y="648891"/>
                  <a:pt x="573471" y="620985"/>
                  <a:pt x="522684" y="570198"/>
                </a:cubicBezTo>
                <a:cubicBezTo>
                  <a:pt x="472082" y="519224"/>
                  <a:pt x="444177" y="451693"/>
                  <a:pt x="444177" y="380070"/>
                </a:cubicBezTo>
                <a:cubicBezTo>
                  <a:pt x="444177" y="308446"/>
                  <a:pt x="472082" y="240916"/>
                  <a:pt x="522870" y="190128"/>
                </a:cubicBezTo>
                <a:cubicBezTo>
                  <a:pt x="573471" y="139526"/>
                  <a:pt x="641002" y="111621"/>
                  <a:pt x="712625" y="111621"/>
                </a:cubicBezTo>
                <a:moveTo>
                  <a:pt x="712625" y="0"/>
                </a:moveTo>
                <a:cubicBezTo>
                  <a:pt x="502778" y="0"/>
                  <a:pt x="332556" y="170036"/>
                  <a:pt x="332556" y="380070"/>
                </a:cubicBezTo>
                <a:cubicBezTo>
                  <a:pt x="332556" y="589917"/>
                  <a:pt x="502778" y="760140"/>
                  <a:pt x="712625" y="760140"/>
                </a:cubicBezTo>
                <a:cubicBezTo>
                  <a:pt x="922473" y="760140"/>
                  <a:pt x="1092695" y="589917"/>
                  <a:pt x="1092695" y="380070"/>
                </a:cubicBezTo>
                <a:cubicBezTo>
                  <a:pt x="1092881" y="170036"/>
                  <a:pt x="922659" y="0"/>
                  <a:pt x="712625" y="0"/>
                </a:cubicBezTo>
                <a:close/>
                <a:moveTo>
                  <a:pt x="712625" y="943012"/>
                </a:moveTo>
                <a:cubicBezTo>
                  <a:pt x="813643" y="943012"/>
                  <a:pt x="903126" y="954360"/>
                  <a:pt x="978842" y="976685"/>
                </a:cubicBezTo>
                <a:cubicBezTo>
                  <a:pt x="1043582" y="995846"/>
                  <a:pt x="1099951" y="1023752"/>
                  <a:pt x="1146087" y="1059470"/>
                </a:cubicBezTo>
                <a:cubicBezTo>
                  <a:pt x="1186829" y="1091096"/>
                  <a:pt x="1220315" y="1128675"/>
                  <a:pt x="1248593" y="1174440"/>
                </a:cubicBezTo>
                <a:cubicBezTo>
                  <a:pt x="1273708" y="1215368"/>
                  <a:pt x="1293985" y="1261877"/>
                  <a:pt x="1310356" y="1316385"/>
                </a:cubicBezTo>
                <a:cubicBezTo>
                  <a:pt x="1320774" y="1350801"/>
                  <a:pt x="1306264" y="1377404"/>
                  <a:pt x="1296590" y="1390241"/>
                </a:cubicBezTo>
                <a:cubicBezTo>
                  <a:pt x="1276684" y="1417030"/>
                  <a:pt x="1244686" y="1432285"/>
                  <a:pt x="1208595" y="1432285"/>
                </a:cubicBezTo>
                <a:lnTo>
                  <a:pt x="216842" y="1432285"/>
                </a:lnTo>
                <a:cubicBezTo>
                  <a:pt x="180937" y="1432285"/>
                  <a:pt x="148753" y="1417030"/>
                  <a:pt x="128847" y="1390241"/>
                </a:cubicBezTo>
                <a:cubicBezTo>
                  <a:pt x="119359" y="1377404"/>
                  <a:pt x="104849" y="1350801"/>
                  <a:pt x="115081" y="1316385"/>
                </a:cubicBezTo>
                <a:cubicBezTo>
                  <a:pt x="131452" y="1261877"/>
                  <a:pt x="151543" y="1215368"/>
                  <a:pt x="176844" y="1174440"/>
                </a:cubicBezTo>
                <a:cubicBezTo>
                  <a:pt x="204936" y="1128675"/>
                  <a:pt x="238422" y="1090910"/>
                  <a:pt x="279350" y="1059470"/>
                </a:cubicBezTo>
                <a:cubicBezTo>
                  <a:pt x="325486" y="1023752"/>
                  <a:pt x="381855" y="995846"/>
                  <a:pt x="446595" y="976685"/>
                </a:cubicBezTo>
                <a:cubicBezTo>
                  <a:pt x="522125" y="954360"/>
                  <a:pt x="611794" y="943012"/>
                  <a:pt x="712625" y="943012"/>
                </a:cubicBezTo>
                <a:moveTo>
                  <a:pt x="712625" y="831391"/>
                </a:moveTo>
                <a:cubicBezTo>
                  <a:pt x="244561" y="831391"/>
                  <a:pt x="77501" y="1053331"/>
                  <a:pt x="8296" y="1284387"/>
                </a:cubicBezTo>
                <a:cubicBezTo>
                  <a:pt x="-30771" y="1414611"/>
                  <a:pt x="73037" y="1544092"/>
                  <a:pt x="216842" y="1544092"/>
                </a:cubicBezTo>
                <a:lnTo>
                  <a:pt x="1208595" y="1544092"/>
                </a:lnTo>
                <a:cubicBezTo>
                  <a:pt x="1352400" y="1544092"/>
                  <a:pt x="1456208" y="1414611"/>
                  <a:pt x="1417141" y="1284387"/>
                </a:cubicBezTo>
                <a:cubicBezTo>
                  <a:pt x="1347750" y="1053331"/>
                  <a:pt x="1180690" y="831391"/>
                  <a:pt x="712625" y="831391"/>
                </a:cubicBezTo>
                <a:close/>
              </a:path>
            </a:pathLst>
          </a:custGeom>
          <a:solidFill>
            <a:schemeClr val="bg1"/>
          </a:solidFill>
          <a:ln w="1553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 rot="0" flipH="0" flipV="0">
            <a:off x="8447878" y="3749959"/>
            <a:ext cx="2889754" cy="193656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98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Subtopic 1：经济发展带动居民收入水平提高，老年人消费观念转变，对养老生活品质要求提升，愿意为高端、智能养老服务支付更高费用，为智能养老服务市场发展提供经济基础。
Subtopic 2：科技进步推动人工智能、物联网、大数据等技术在养老服务领域应用，为智能养老服务发展提供技术支撑，促进养老服务模式创新。
Subtopic 3：社会对养老服务质量和效率要求提高，智能养老服务凭借其高效、精准、个性化特点，成为满足市场需求的重要选择。</a:t>
            </a: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 rot="2700000" flipH="0" flipV="0">
            <a:off x="8812761" y="2413650"/>
            <a:ext cx="206123" cy="206123"/>
          </a:xfrm>
          <a:prstGeom prst="roundRect">
            <a:avLst>
              <a:gd name="adj" fmla="val 9524"/>
            </a:avLst>
          </a:pr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rot="2700000" flipH="0" flipV="0">
            <a:off x="10839274" y="1723849"/>
            <a:ext cx="139560" cy="139560"/>
          </a:xfrm>
          <a:prstGeom prst="roundRect">
            <a:avLst>
              <a:gd name="adj" fmla="val 9524"/>
            </a:avLst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 rot="0" flipH="0" flipV="0">
            <a:off x="8447878" y="3042561"/>
            <a:ext cx="2889754" cy="74071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B0F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经济社会发展</a:t>
            </a:r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 rot="0" flipH="0" flipV="0">
            <a:off x="316690" y="373380"/>
            <a:ext cx="8171180" cy="65532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 rot="0" flipH="0" flipV="0">
            <a:off x="783520" y="484345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宏观层面</a:t>
            </a: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 rot="0" flipH="0" flipV="0">
            <a:off x="324256" y="626624"/>
            <a:ext cx="402076" cy="402076"/>
          </a:xfrm>
          <a:prstGeom prst="rtTriangl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660400" y="1297826"/>
            <a:ext cx="3073854" cy="1792809"/>
          </a:xfrm>
          <a:custGeom>
            <a:avLst/>
            <a:gdLst>
              <a:gd name="T0" fmla="*/ 549 w 585"/>
              <a:gd name="T1" fmla="*/ 0 h 386"/>
              <a:gd name="T2" fmla="*/ 36 w 585"/>
              <a:gd name="T3" fmla="*/ 0 h 386"/>
              <a:gd name="T4" fmla="*/ 0 w 585"/>
              <a:gd name="T5" fmla="*/ 36 h 386"/>
              <a:gd name="T6" fmla="*/ 0 w 585"/>
              <a:gd name="T7" fmla="*/ 283 h 386"/>
              <a:gd name="T8" fmla="*/ 36 w 585"/>
              <a:gd name="T9" fmla="*/ 319 h 386"/>
              <a:gd name="T10" fmla="*/ 418 w 585"/>
              <a:gd name="T11" fmla="*/ 319 h 386"/>
              <a:gd name="T12" fmla="*/ 405 w 585"/>
              <a:gd name="T13" fmla="*/ 363 h 386"/>
              <a:gd name="T14" fmla="*/ 426 w 585"/>
              <a:gd name="T15" fmla="*/ 378 h 386"/>
              <a:gd name="T16" fmla="*/ 500 w 585"/>
              <a:gd name="T17" fmla="*/ 323 h 386"/>
              <a:gd name="T18" fmla="*/ 504 w 585"/>
              <a:gd name="T19" fmla="*/ 319 h 386"/>
              <a:gd name="T20" fmla="*/ 549 w 585"/>
              <a:gd name="T21" fmla="*/ 319 h 386"/>
              <a:gd name="T22" fmla="*/ 585 w 585"/>
              <a:gd name="T23" fmla="*/ 283 h 386"/>
              <a:gd name="T24" fmla="*/ 585 w 585"/>
              <a:gd name="T25" fmla="*/ 36 h 386"/>
              <a:gd name="T26" fmla="*/ 549 w 585"/>
              <a:gd name="T27" fmla="*/ 0 h 386"/>
            </a:gdLst>
            <a:rect l="0" t="0" r="r" b="b"/>
            <a:pathLst>
              <a:path w="585" h="386">
                <a:moveTo>
                  <a:pt x="549" y="0"/>
                </a:moveTo>
                <a:cubicBezTo>
                  <a:pt x="36" y="0"/>
                  <a:pt x="36" y="0"/>
                  <a:pt x="36" y="0"/>
                </a:cubicBezTo>
                <a:cubicBezTo>
                  <a:pt x="16" y="0"/>
                  <a:pt x="0" y="16"/>
                  <a:pt x="0" y="36"/>
                </a:cubicBezTo>
                <a:cubicBezTo>
                  <a:pt x="0" y="283"/>
                  <a:pt x="0" y="283"/>
                  <a:pt x="0" y="283"/>
                </a:cubicBezTo>
                <a:cubicBezTo>
                  <a:pt x="0" y="302"/>
                  <a:pt x="16" y="319"/>
                  <a:pt x="36" y="319"/>
                </a:cubicBezTo>
                <a:cubicBezTo>
                  <a:pt x="418" y="319"/>
                  <a:pt x="418" y="319"/>
                  <a:pt x="418" y="319"/>
                </a:cubicBezTo>
                <a:cubicBezTo>
                  <a:pt x="405" y="363"/>
                  <a:pt x="405" y="363"/>
                  <a:pt x="405" y="363"/>
                </a:cubicBezTo>
                <a:cubicBezTo>
                  <a:pt x="401" y="376"/>
                  <a:pt x="415" y="386"/>
                  <a:pt x="426" y="378"/>
                </a:cubicBezTo>
                <a:cubicBezTo>
                  <a:pt x="500" y="323"/>
                  <a:pt x="500" y="323"/>
                  <a:pt x="500" y="323"/>
                </a:cubicBezTo>
                <a:cubicBezTo>
                  <a:pt x="502" y="322"/>
                  <a:pt x="503" y="320"/>
                  <a:pt x="504" y="319"/>
                </a:cubicBezTo>
                <a:cubicBezTo>
                  <a:pt x="549" y="319"/>
                  <a:pt x="549" y="319"/>
                  <a:pt x="549" y="319"/>
                </a:cubicBezTo>
                <a:cubicBezTo>
                  <a:pt x="569" y="319"/>
                  <a:pt x="585" y="302"/>
                  <a:pt x="585" y="283"/>
                </a:cubicBezTo>
                <a:cubicBezTo>
                  <a:pt x="585" y="36"/>
                  <a:pt x="585" y="36"/>
                  <a:pt x="585" y="36"/>
                </a:cubicBezTo>
                <a:cubicBezTo>
                  <a:pt x="585" y="16"/>
                  <a:pt x="569" y="0"/>
                  <a:pt x="549" y="0"/>
                </a:cubicBezTo>
                <a:close/>
              </a:path>
            </a:pathLst>
          </a:custGeom>
          <a:solidFill>
            <a:schemeClr val="accent1"/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1817881" y="1612365"/>
            <a:ext cx="758892" cy="822066"/>
          </a:xfrm>
          <a:custGeom>
            <a:avLst/>
            <a:gdLst>
              <a:gd name="connsiteX0" fmla="*/ 712625 w 1425436"/>
              <a:gd name="connsiteY0" fmla="*/ 111621 h 1544091"/>
              <a:gd name="connsiteX1" fmla="*/ 902567 w 1425436"/>
              <a:gd name="connsiteY1" fmla="*/ 190314 h 1544091"/>
              <a:gd name="connsiteX2" fmla="*/ 981260 w 1425436"/>
              <a:gd name="connsiteY2" fmla="*/ 380256 h 1544091"/>
              <a:gd name="connsiteX3" fmla="*/ 902567 w 1425436"/>
              <a:gd name="connsiteY3" fmla="*/ 570198 h 1544091"/>
              <a:gd name="connsiteX4" fmla="*/ 712625 w 1425436"/>
              <a:gd name="connsiteY4" fmla="*/ 648891 h 1544091"/>
              <a:gd name="connsiteX5" fmla="*/ 522684 w 1425436"/>
              <a:gd name="connsiteY5" fmla="*/ 570198 h 1544091"/>
              <a:gd name="connsiteX6" fmla="*/ 444177 w 1425436"/>
              <a:gd name="connsiteY6" fmla="*/ 380070 h 1544091"/>
              <a:gd name="connsiteX7" fmla="*/ 522870 w 1425436"/>
              <a:gd name="connsiteY7" fmla="*/ 190128 h 1544091"/>
              <a:gd name="connsiteX8" fmla="*/ 712625 w 1425436"/>
              <a:gd name="connsiteY8" fmla="*/ 111621 h 1544091"/>
              <a:gd name="connsiteX9" fmla="*/ 712625 w 1425436"/>
              <a:gd name="connsiteY9" fmla="*/ 0 h 1544091"/>
              <a:gd name="connsiteX10" fmla="*/ 332556 w 1425436"/>
              <a:gd name="connsiteY10" fmla="*/ 380070 h 1544091"/>
              <a:gd name="connsiteX11" fmla="*/ 712625 w 1425436"/>
              <a:gd name="connsiteY11" fmla="*/ 760140 h 1544091"/>
              <a:gd name="connsiteX12" fmla="*/ 1092695 w 1425436"/>
              <a:gd name="connsiteY12" fmla="*/ 380070 h 1544091"/>
              <a:gd name="connsiteX13" fmla="*/ 712625 w 1425436"/>
              <a:gd name="connsiteY13" fmla="*/ 0 h 1544091"/>
              <a:gd name="connsiteX14" fmla="*/ 712625 w 1425436"/>
              <a:gd name="connsiteY14" fmla="*/ 943012 h 1544091"/>
              <a:gd name="connsiteX15" fmla="*/ 978842 w 1425436"/>
              <a:gd name="connsiteY15" fmla="*/ 976685 h 1544091"/>
              <a:gd name="connsiteX16" fmla="*/ 1146087 w 1425436"/>
              <a:gd name="connsiteY16" fmla="*/ 1059470 h 1544091"/>
              <a:gd name="connsiteX17" fmla="*/ 1248593 w 1425436"/>
              <a:gd name="connsiteY17" fmla="*/ 1174440 h 1544091"/>
              <a:gd name="connsiteX18" fmla="*/ 1310356 w 1425436"/>
              <a:gd name="connsiteY18" fmla="*/ 1316385 h 1544091"/>
              <a:gd name="connsiteX19" fmla="*/ 1296590 w 1425436"/>
              <a:gd name="connsiteY19" fmla="*/ 1390241 h 1544091"/>
              <a:gd name="connsiteX20" fmla="*/ 1208595 w 1425436"/>
              <a:gd name="connsiteY20" fmla="*/ 1432285 h 1544091"/>
              <a:gd name="connsiteX21" fmla="*/ 216842 w 1425436"/>
              <a:gd name="connsiteY21" fmla="*/ 1432285 h 1544091"/>
              <a:gd name="connsiteX22" fmla="*/ 128847 w 1425436"/>
              <a:gd name="connsiteY22" fmla="*/ 1390241 h 1544091"/>
              <a:gd name="connsiteX23" fmla="*/ 115081 w 1425436"/>
              <a:gd name="connsiteY23" fmla="*/ 1316385 h 1544091"/>
              <a:gd name="connsiteX24" fmla="*/ 176844 w 1425436"/>
              <a:gd name="connsiteY24" fmla="*/ 1174440 h 1544091"/>
              <a:gd name="connsiteX25" fmla="*/ 279350 w 1425436"/>
              <a:gd name="connsiteY25" fmla="*/ 1059470 h 1544091"/>
              <a:gd name="connsiteX26" fmla="*/ 446595 w 1425436"/>
              <a:gd name="connsiteY26" fmla="*/ 976685 h 1544091"/>
              <a:gd name="connsiteX27" fmla="*/ 712625 w 1425436"/>
              <a:gd name="connsiteY27" fmla="*/ 943012 h 1544091"/>
              <a:gd name="connsiteX28" fmla="*/ 712625 w 1425436"/>
              <a:gd name="connsiteY28" fmla="*/ 831391 h 1544091"/>
              <a:gd name="connsiteX29" fmla="*/ 8296 w 1425436"/>
              <a:gd name="connsiteY29" fmla="*/ 1284387 h 1544091"/>
              <a:gd name="connsiteX30" fmla="*/ 216842 w 1425436"/>
              <a:gd name="connsiteY30" fmla="*/ 1544092 h 1544091"/>
              <a:gd name="connsiteX31" fmla="*/ 1208595 w 1425436"/>
              <a:gd name="connsiteY31" fmla="*/ 1544092 h 1544091"/>
              <a:gd name="connsiteX32" fmla="*/ 1417141 w 1425436"/>
              <a:gd name="connsiteY32" fmla="*/ 1284387 h 1544091"/>
              <a:gd name="connsiteX33" fmla="*/ 712625 w 1425436"/>
              <a:gd name="connsiteY33" fmla="*/ 831391 h 1544091"/>
            </a:gdLst>
            <a:rect l="l" t="t" r="r" b="b"/>
            <a:pathLst>
              <a:path w="1425436" h="1544091">
                <a:moveTo>
                  <a:pt x="712625" y="111621"/>
                </a:moveTo>
                <a:cubicBezTo>
                  <a:pt x="784435" y="111621"/>
                  <a:pt x="851780" y="139526"/>
                  <a:pt x="902567" y="190314"/>
                </a:cubicBezTo>
                <a:cubicBezTo>
                  <a:pt x="953355" y="241102"/>
                  <a:pt x="981260" y="308446"/>
                  <a:pt x="981260" y="380256"/>
                </a:cubicBezTo>
                <a:cubicBezTo>
                  <a:pt x="981260" y="452065"/>
                  <a:pt x="953355" y="519410"/>
                  <a:pt x="902567" y="570198"/>
                </a:cubicBezTo>
                <a:cubicBezTo>
                  <a:pt x="851780" y="620985"/>
                  <a:pt x="784435" y="648891"/>
                  <a:pt x="712625" y="648891"/>
                </a:cubicBezTo>
                <a:cubicBezTo>
                  <a:pt x="640816" y="648891"/>
                  <a:pt x="573471" y="620985"/>
                  <a:pt x="522684" y="570198"/>
                </a:cubicBezTo>
                <a:cubicBezTo>
                  <a:pt x="472082" y="519224"/>
                  <a:pt x="444177" y="451693"/>
                  <a:pt x="444177" y="380070"/>
                </a:cubicBezTo>
                <a:cubicBezTo>
                  <a:pt x="444177" y="308446"/>
                  <a:pt x="472082" y="240916"/>
                  <a:pt x="522870" y="190128"/>
                </a:cubicBezTo>
                <a:cubicBezTo>
                  <a:pt x="573471" y="139526"/>
                  <a:pt x="641002" y="111621"/>
                  <a:pt x="712625" y="111621"/>
                </a:cubicBezTo>
                <a:moveTo>
                  <a:pt x="712625" y="0"/>
                </a:moveTo>
                <a:cubicBezTo>
                  <a:pt x="502778" y="0"/>
                  <a:pt x="332556" y="170036"/>
                  <a:pt x="332556" y="380070"/>
                </a:cubicBezTo>
                <a:cubicBezTo>
                  <a:pt x="332556" y="589917"/>
                  <a:pt x="502778" y="760140"/>
                  <a:pt x="712625" y="760140"/>
                </a:cubicBezTo>
                <a:cubicBezTo>
                  <a:pt x="922473" y="760140"/>
                  <a:pt x="1092695" y="589917"/>
                  <a:pt x="1092695" y="380070"/>
                </a:cubicBezTo>
                <a:cubicBezTo>
                  <a:pt x="1092881" y="170036"/>
                  <a:pt x="922659" y="0"/>
                  <a:pt x="712625" y="0"/>
                </a:cubicBezTo>
                <a:close/>
                <a:moveTo>
                  <a:pt x="712625" y="943012"/>
                </a:moveTo>
                <a:cubicBezTo>
                  <a:pt x="813643" y="943012"/>
                  <a:pt x="903126" y="954360"/>
                  <a:pt x="978842" y="976685"/>
                </a:cubicBezTo>
                <a:cubicBezTo>
                  <a:pt x="1043582" y="995846"/>
                  <a:pt x="1099951" y="1023752"/>
                  <a:pt x="1146087" y="1059470"/>
                </a:cubicBezTo>
                <a:cubicBezTo>
                  <a:pt x="1186829" y="1091096"/>
                  <a:pt x="1220315" y="1128675"/>
                  <a:pt x="1248593" y="1174440"/>
                </a:cubicBezTo>
                <a:cubicBezTo>
                  <a:pt x="1273708" y="1215368"/>
                  <a:pt x="1293985" y="1261877"/>
                  <a:pt x="1310356" y="1316385"/>
                </a:cubicBezTo>
                <a:cubicBezTo>
                  <a:pt x="1320774" y="1350801"/>
                  <a:pt x="1306264" y="1377404"/>
                  <a:pt x="1296590" y="1390241"/>
                </a:cubicBezTo>
                <a:cubicBezTo>
                  <a:pt x="1276684" y="1417030"/>
                  <a:pt x="1244686" y="1432285"/>
                  <a:pt x="1208595" y="1432285"/>
                </a:cubicBezTo>
                <a:lnTo>
                  <a:pt x="216842" y="1432285"/>
                </a:lnTo>
                <a:cubicBezTo>
                  <a:pt x="180937" y="1432285"/>
                  <a:pt x="148753" y="1417030"/>
                  <a:pt x="128847" y="1390241"/>
                </a:cubicBezTo>
                <a:cubicBezTo>
                  <a:pt x="119359" y="1377404"/>
                  <a:pt x="104849" y="1350801"/>
                  <a:pt x="115081" y="1316385"/>
                </a:cubicBezTo>
                <a:cubicBezTo>
                  <a:pt x="131452" y="1261877"/>
                  <a:pt x="151543" y="1215368"/>
                  <a:pt x="176844" y="1174440"/>
                </a:cubicBezTo>
                <a:cubicBezTo>
                  <a:pt x="204936" y="1128675"/>
                  <a:pt x="238422" y="1090910"/>
                  <a:pt x="279350" y="1059470"/>
                </a:cubicBezTo>
                <a:cubicBezTo>
                  <a:pt x="325486" y="1023752"/>
                  <a:pt x="381855" y="995846"/>
                  <a:pt x="446595" y="976685"/>
                </a:cubicBezTo>
                <a:cubicBezTo>
                  <a:pt x="522125" y="954360"/>
                  <a:pt x="611794" y="943012"/>
                  <a:pt x="712625" y="943012"/>
                </a:cubicBezTo>
                <a:moveTo>
                  <a:pt x="712625" y="831391"/>
                </a:moveTo>
                <a:cubicBezTo>
                  <a:pt x="244561" y="831391"/>
                  <a:pt x="77501" y="1053331"/>
                  <a:pt x="8296" y="1284387"/>
                </a:cubicBezTo>
                <a:cubicBezTo>
                  <a:pt x="-30771" y="1414611"/>
                  <a:pt x="73037" y="1544092"/>
                  <a:pt x="216842" y="1544092"/>
                </a:cubicBezTo>
                <a:lnTo>
                  <a:pt x="1208595" y="1544092"/>
                </a:lnTo>
                <a:cubicBezTo>
                  <a:pt x="1352400" y="1544092"/>
                  <a:pt x="1456208" y="1414611"/>
                  <a:pt x="1417141" y="1284387"/>
                </a:cubicBezTo>
                <a:cubicBezTo>
                  <a:pt x="1347750" y="1053331"/>
                  <a:pt x="1180690" y="831391"/>
                  <a:pt x="712625" y="831391"/>
                </a:cubicBez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660400" y="3674589"/>
            <a:ext cx="3073854" cy="251031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253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Subtopic 1：养老服务行业呈现多元化发展趋势，涵盖生活照料、医疗护理、康复保健、文化娱乐等多种服务类型，市场竞争日益激烈。
Subtopic 2：智能养老服务作为新兴业态，发展迅速，受到市场广泛关注，成为养老服务行业新的增长点和发展方向。
Subtopic 3：行业集中度逐渐提高，大型养老机构通过并购、扩张等方式扩大市场份额，提升行业竞争力。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660400" y="3187556"/>
            <a:ext cx="3073854" cy="43672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B0F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养老行业整体发展态势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4552723" y="1297826"/>
            <a:ext cx="3073854" cy="1792809"/>
          </a:xfrm>
          <a:custGeom>
            <a:avLst/>
            <a:gdLst>
              <a:gd name="T0" fmla="*/ 549 w 585"/>
              <a:gd name="T1" fmla="*/ 0 h 386"/>
              <a:gd name="T2" fmla="*/ 36 w 585"/>
              <a:gd name="T3" fmla="*/ 0 h 386"/>
              <a:gd name="T4" fmla="*/ 0 w 585"/>
              <a:gd name="T5" fmla="*/ 36 h 386"/>
              <a:gd name="T6" fmla="*/ 0 w 585"/>
              <a:gd name="T7" fmla="*/ 283 h 386"/>
              <a:gd name="T8" fmla="*/ 36 w 585"/>
              <a:gd name="T9" fmla="*/ 319 h 386"/>
              <a:gd name="T10" fmla="*/ 418 w 585"/>
              <a:gd name="T11" fmla="*/ 319 h 386"/>
              <a:gd name="T12" fmla="*/ 405 w 585"/>
              <a:gd name="T13" fmla="*/ 363 h 386"/>
              <a:gd name="T14" fmla="*/ 426 w 585"/>
              <a:gd name="T15" fmla="*/ 378 h 386"/>
              <a:gd name="T16" fmla="*/ 500 w 585"/>
              <a:gd name="T17" fmla="*/ 323 h 386"/>
              <a:gd name="T18" fmla="*/ 504 w 585"/>
              <a:gd name="T19" fmla="*/ 319 h 386"/>
              <a:gd name="T20" fmla="*/ 549 w 585"/>
              <a:gd name="T21" fmla="*/ 319 h 386"/>
              <a:gd name="T22" fmla="*/ 585 w 585"/>
              <a:gd name="T23" fmla="*/ 283 h 386"/>
              <a:gd name="T24" fmla="*/ 585 w 585"/>
              <a:gd name="T25" fmla="*/ 36 h 386"/>
              <a:gd name="T26" fmla="*/ 549 w 585"/>
              <a:gd name="T27" fmla="*/ 0 h 386"/>
            </a:gdLst>
            <a:rect l="0" t="0" r="r" b="b"/>
            <a:pathLst>
              <a:path w="585" h="386">
                <a:moveTo>
                  <a:pt x="549" y="0"/>
                </a:moveTo>
                <a:cubicBezTo>
                  <a:pt x="36" y="0"/>
                  <a:pt x="36" y="0"/>
                  <a:pt x="36" y="0"/>
                </a:cubicBezTo>
                <a:cubicBezTo>
                  <a:pt x="16" y="0"/>
                  <a:pt x="0" y="16"/>
                  <a:pt x="0" y="36"/>
                </a:cubicBezTo>
                <a:cubicBezTo>
                  <a:pt x="0" y="283"/>
                  <a:pt x="0" y="283"/>
                  <a:pt x="0" y="283"/>
                </a:cubicBezTo>
                <a:cubicBezTo>
                  <a:pt x="0" y="302"/>
                  <a:pt x="16" y="319"/>
                  <a:pt x="36" y="319"/>
                </a:cubicBezTo>
                <a:cubicBezTo>
                  <a:pt x="418" y="319"/>
                  <a:pt x="418" y="319"/>
                  <a:pt x="418" y="319"/>
                </a:cubicBezTo>
                <a:cubicBezTo>
                  <a:pt x="405" y="363"/>
                  <a:pt x="405" y="363"/>
                  <a:pt x="405" y="363"/>
                </a:cubicBezTo>
                <a:cubicBezTo>
                  <a:pt x="401" y="376"/>
                  <a:pt x="415" y="386"/>
                  <a:pt x="426" y="378"/>
                </a:cubicBezTo>
                <a:cubicBezTo>
                  <a:pt x="500" y="323"/>
                  <a:pt x="500" y="323"/>
                  <a:pt x="500" y="323"/>
                </a:cubicBezTo>
                <a:cubicBezTo>
                  <a:pt x="502" y="322"/>
                  <a:pt x="503" y="320"/>
                  <a:pt x="504" y="319"/>
                </a:cubicBezTo>
                <a:cubicBezTo>
                  <a:pt x="549" y="319"/>
                  <a:pt x="549" y="319"/>
                  <a:pt x="549" y="319"/>
                </a:cubicBezTo>
                <a:cubicBezTo>
                  <a:pt x="569" y="319"/>
                  <a:pt x="585" y="302"/>
                  <a:pt x="585" y="283"/>
                </a:cubicBezTo>
                <a:cubicBezTo>
                  <a:pt x="585" y="36"/>
                  <a:pt x="585" y="36"/>
                  <a:pt x="585" y="36"/>
                </a:cubicBezTo>
                <a:cubicBezTo>
                  <a:pt x="585" y="16"/>
                  <a:pt x="569" y="0"/>
                  <a:pt x="549" y="0"/>
                </a:cubicBezTo>
                <a:close/>
              </a:path>
            </a:pathLst>
          </a:custGeom>
          <a:solidFill>
            <a:schemeClr val="accent1"/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5694363" y="1612365"/>
            <a:ext cx="790574" cy="822066"/>
          </a:xfrm>
          <a:custGeom>
            <a:avLst/>
            <a:gdLst>
              <a:gd name="connsiteX0" fmla="*/ 337768 w 1372282"/>
              <a:gd name="connsiteY0" fmla="*/ 1315328 h 1426949"/>
              <a:gd name="connsiteX1" fmla="*/ 530173 w 1372282"/>
              <a:gd name="connsiteY1" fmla="*/ 1315328 h 1426949"/>
              <a:gd name="connsiteX2" fmla="*/ 842109 w 1372282"/>
              <a:gd name="connsiteY2" fmla="*/ 1315328 h 1426949"/>
              <a:gd name="connsiteX3" fmla="*/ 1034514 w 1372282"/>
              <a:gd name="connsiteY3" fmla="*/ 1315328 h 1426949"/>
              <a:gd name="connsiteX4" fmla="*/ 1090325 w 1372282"/>
              <a:gd name="connsiteY4" fmla="*/ 1371139 h 1426949"/>
              <a:gd name="connsiteX5" fmla="*/ 1034514 w 1372282"/>
              <a:gd name="connsiteY5" fmla="*/ 1426949 h 1426949"/>
              <a:gd name="connsiteX6" fmla="*/ 842109 w 1372282"/>
              <a:gd name="connsiteY6" fmla="*/ 1426949 h 1426949"/>
              <a:gd name="connsiteX7" fmla="*/ 530173 w 1372282"/>
              <a:gd name="connsiteY7" fmla="*/ 1426949 h 1426949"/>
              <a:gd name="connsiteX8" fmla="*/ 337768 w 1372282"/>
              <a:gd name="connsiteY8" fmla="*/ 1426949 h 1426949"/>
              <a:gd name="connsiteX9" fmla="*/ 281957 w 1372282"/>
              <a:gd name="connsiteY9" fmla="*/ 1371139 h 1426949"/>
              <a:gd name="connsiteX10" fmla="*/ 337768 w 1372282"/>
              <a:gd name="connsiteY10" fmla="*/ 1315328 h 1426949"/>
              <a:gd name="connsiteX11" fmla="*/ 686154 w 1372282"/>
              <a:gd name="connsiteY11" fmla="*/ 111621 h 1426949"/>
              <a:gd name="connsiteX12" fmla="*/ 237624 w 1372282"/>
              <a:gd name="connsiteY12" fmla="*/ 560152 h 1426949"/>
              <a:gd name="connsiteX13" fmla="*/ 237624 w 1372282"/>
              <a:gd name="connsiteY13" fmla="*/ 985614 h 1426949"/>
              <a:gd name="connsiteX14" fmla="*/ 229252 w 1372282"/>
              <a:gd name="connsiteY14" fmla="*/ 1014822 h 1426949"/>
              <a:gd name="connsiteX15" fmla="*/ 155768 w 1372282"/>
              <a:gd name="connsiteY15" fmla="*/ 1134814 h 1426949"/>
              <a:gd name="connsiteX16" fmla="*/ 1214680 w 1372282"/>
              <a:gd name="connsiteY16" fmla="*/ 1134814 h 1426949"/>
              <a:gd name="connsiteX17" fmla="*/ 1143429 w 1372282"/>
              <a:gd name="connsiteY17" fmla="*/ 1023565 h 1426949"/>
              <a:gd name="connsiteX18" fmla="*/ 1134685 w 1372282"/>
              <a:gd name="connsiteY18" fmla="*/ 993428 h 1426949"/>
              <a:gd name="connsiteX19" fmla="*/ 1134685 w 1372282"/>
              <a:gd name="connsiteY19" fmla="*/ 560152 h 1426949"/>
              <a:gd name="connsiteX20" fmla="*/ 686154 w 1372282"/>
              <a:gd name="connsiteY20" fmla="*/ 111621 h 1426949"/>
              <a:gd name="connsiteX21" fmla="*/ 686154 w 1372282"/>
              <a:gd name="connsiteY21" fmla="*/ 0 h 1426949"/>
              <a:gd name="connsiteX22" fmla="*/ 903815 w 1372282"/>
              <a:gd name="connsiteY22" fmla="*/ 44276 h 1426949"/>
              <a:gd name="connsiteX23" fmla="*/ 1081851 w 1372282"/>
              <a:gd name="connsiteY23" fmla="*/ 164455 h 1426949"/>
              <a:gd name="connsiteX24" fmla="*/ 1202030 w 1372282"/>
              <a:gd name="connsiteY24" fmla="*/ 342491 h 1426949"/>
              <a:gd name="connsiteX25" fmla="*/ 1246306 w 1372282"/>
              <a:gd name="connsiteY25" fmla="*/ 560152 h 1426949"/>
              <a:gd name="connsiteX26" fmla="*/ 1246306 w 1372282"/>
              <a:gd name="connsiteY26" fmla="*/ 977243 h 1426949"/>
              <a:gd name="connsiteX27" fmla="*/ 1363508 w 1372282"/>
              <a:gd name="connsiteY27" fmla="*/ 1160487 h 1426949"/>
              <a:gd name="connsiteX28" fmla="*/ 1365369 w 1372282"/>
              <a:gd name="connsiteY28" fmla="*/ 1217414 h 1426949"/>
              <a:gd name="connsiteX29" fmla="*/ 1316628 w 1372282"/>
              <a:gd name="connsiteY29" fmla="*/ 1246436 h 1426949"/>
              <a:gd name="connsiteX30" fmla="*/ 55867 w 1372282"/>
              <a:gd name="connsiteY30" fmla="*/ 1246436 h 1426949"/>
              <a:gd name="connsiteX31" fmla="*/ 7126 w 1372282"/>
              <a:gd name="connsiteY31" fmla="*/ 1217786 h 1426949"/>
              <a:gd name="connsiteX32" fmla="*/ 8242 w 1372282"/>
              <a:gd name="connsiteY32" fmla="*/ 1161232 h 1426949"/>
              <a:gd name="connsiteX33" fmla="*/ 126002 w 1372282"/>
              <a:gd name="connsiteY33" fmla="*/ 969801 h 1426949"/>
              <a:gd name="connsiteX34" fmla="*/ 126002 w 1372282"/>
              <a:gd name="connsiteY34" fmla="*/ 560152 h 1426949"/>
              <a:gd name="connsiteX35" fmla="*/ 170279 w 1372282"/>
              <a:gd name="connsiteY35" fmla="*/ 342491 h 1426949"/>
              <a:gd name="connsiteX36" fmla="*/ 290458 w 1372282"/>
              <a:gd name="connsiteY36" fmla="*/ 164455 h 1426949"/>
              <a:gd name="connsiteX37" fmla="*/ 468493 w 1372282"/>
              <a:gd name="connsiteY37" fmla="*/ 44276 h 1426949"/>
              <a:gd name="connsiteX38" fmla="*/ 686154 w 1372282"/>
              <a:gd name="connsiteY38" fmla="*/ 0 h 1426949"/>
            </a:gdLst>
            <a:rect l="l" t="t" r="r" b="b"/>
            <a:pathLst>
              <a:path w="1372282" h="1426949">
                <a:moveTo>
                  <a:pt x="337768" y="1315328"/>
                </a:moveTo>
                <a:lnTo>
                  <a:pt x="530173" y="1315328"/>
                </a:lnTo>
                <a:lnTo>
                  <a:pt x="842109" y="1315328"/>
                </a:lnTo>
                <a:lnTo>
                  <a:pt x="1034514" y="1315328"/>
                </a:lnTo>
                <a:cubicBezTo>
                  <a:pt x="1065396" y="1315328"/>
                  <a:pt x="1090325" y="1340257"/>
                  <a:pt x="1090325" y="1371139"/>
                </a:cubicBezTo>
                <a:cubicBezTo>
                  <a:pt x="1090325" y="1402021"/>
                  <a:pt x="1065210" y="1426949"/>
                  <a:pt x="1034514" y="1426949"/>
                </a:cubicBezTo>
                <a:lnTo>
                  <a:pt x="842109" y="1426949"/>
                </a:lnTo>
                <a:lnTo>
                  <a:pt x="530173" y="1426949"/>
                </a:lnTo>
                <a:lnTo>
                  <a:pt x="337768" y="1426949"/>
                </a:lnTo>
                <a:cubicBezTo>
                  <a:pt x="306886" y="1426949"/>
                  <a:pt x="281957" y="1402021"/>
                  <a:pt x="281957" y="1371139"/>
                </a:cubicBezTo>
                <a:cubicBezTo>
                  <a:pt x="281957" y="1340257"/>
                  <a:pt x="306886" y="1315328"/>
                  <a:pt x="337768" y="1315328"/>
                </a:cubicBezTo>
                <a:close/>
                <a:moveTo>
                  <a:pt x="686154" y="111621"/>
                </a:moveTo>
                <a:cubicBezTo>
                  <a:pt x="438914" y="111621"/>
                  <a:pt x="237624" y="312725"/>
                  <a:pt x="237624" y="560152"/>
                </a:cubicBezTo>
                <a:lnTo>
                  <a:pt x="237624" y="985614"/>
                </a:lnTo>
                <a:cubicBezTo>
                  <a:pt x="237624" y="996032"/>
                  <a:pt x="234833" y="1006078"/>
                  <a:pt x="229252" y="1014822"/>
                </a:cubicBezTo>
                <a:lnTo>
                  <a:pt x="155768" y="1134814"/>
                </a:lnTo>
                <a:lnTo>
                  <a:pt x="1214680" y="1134814"/>
                </a:lnTo>
                <a:lnTo>
                  <a:pt x="1143429" y="1023565"/>
                </a:lnTo>
                <a:cubicBezTo>
                  <a:pt x="1137662" y="1014636"/>
                  <a:pt x="1134685" y="1004218"/>
                  <a:pt x="1134685" y="993428"/>
                </a:cubicBezTo>
                <a:lnTo>
                  <a:pt x="1134685" y="560152"/>
                </a:lnTo>
                <a:cubicBezTo>
                  <a:pt x="1134685" y="312911"/>
                  <a:pt x="933581" y="111621"/>
                  <a:pt x="686154" y="111621"/>
                </a:cubicBezTo>
                <a:close/>
                <a:moveTo>
                  <a:pt x="686154" y="0"/>
                </a:moveTo>
                <a:cubicBezTo>
                  <a:pt x="761499" y="0"/>
                  <a:pt x="834610" y="14883"/>
                  <a:pt x="903815" y="44276"/>
                </a:cubicBezTo>
                <a:cubicBezTo>
                  <a:pt x="970416" y="72554"/>
                  <a:pt x="1030319" y="113109"/>
                  <a:pt x="1081851" y="164455"/>
                </a:cubicBezTo>
                <a:cubicBezTo>
                  <a:pt x="1133383" y="215987"/>
                  <a:pt x="1173753" y="275890"/>
                  <a:pt x="1202030" y="342491"/>
                </a:cubicBezTo>
                <a:cubicBezTo>
                  <a:pt x="1231423" y="411510"/>
                  <a:pt x="1246306" y="484808"/>
                  <a:pt x="1246306" y="560152"/>
                </a:cubicBezTo>
                <a:lnTo>
                  <a:pt x="1246306" y="977243"/>
                </a:lnTo>
                <a:lnTo>
                  <a:pt x="1363508" y="1160487"/>
                </a:lnTo>
                <a:cubicBezTo>
                  <a:pt x="1374484" y="1177603"/>
                  <a:pt x="1375229" y="1199555"/>
                  <a:pt x="1365369" y="1217414"/>
                </a:cubicBezTo>
                <a:cubicBezTo>
                  <a:pt x="1355695" y="1235273"/>
                  <a:pt x="1336905" y="1246436"/>
                  <a:pt x="1316628" y="1246436"/>
                </a:cubicBezTo>
                <a:lnTo>
                  <a:pt x="55867" y="1246436"/>
                </a:lnTo>
                <a:cubicBezTo>
                  <a:pt x="35589" y="1246436"/>
                  <a:pt x="16986" y="1235460"/>
                  <a:pt x="7126" y="1217786"/>
                </a:cubicBezTo>
                <a:cubicBezTo>
                  <a:pt x="-2734" y="1200113"/>
                  <a:pt x="-2362" y="1178533"/>
                  <a:pt x="8242" y="1161232"/>
                </a:cubicBezTo>
                <a:lnTo>
                  <a:pt x="126002" y="969801"/>
                </a:lnTo>
                <a:lnTo>
                  <a:pt x="126002" y="560152"/>
                </a:lnTo>
                <a:cubicBezTo>
                  <a:pt x="126002" y="484808"/>
                  <a:pt x="140885" y="411696"/>
                  <a:pt x="170279" y="342491"/>
                </a:cubicBezTo>
                <a:cubicBezTo>
                  <a:pt x="198556" y="275890"/>
                  <a:pt x="239112" y="215987"/>
                  <a:pt x="290458" y="164455"/>
                </a:cubicBezTo>
                <a:cubicBezTo>
                  <a:pt x="341803" y="112923"/>
                  <a:pt x="401893" y="72554"/>
                  <a:pt x="468493" y="44276"/>
                </a:cubicBezTo>
                <a:cubicBezTo>
                  <a:pt x="537512" y="14883"/>
                  <a:pt x="610810" y="0"/>
                  <a:pt x="686154" y="0"/>
                </a:cubicBez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4552723" y="3674589"/>
            <a:ext cx="3073854" cy="251031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253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Subtopic 1：目前养老服务行业规范和标准不断完善，但仍存在一些问题，如服务质量参差不齐、行业自律不足等。
Subtopic 2：AI 芯颐养院将严格按照国家和地方养老服务行业规范和标准运营，积极参与行业标准制定和规范建设，推动行业健康发展。
Subtopic 3：行业协会和政府部门加强对养老服务机构监管，推动行业规范化、标准化发展，提升行业整体水平。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4552723" y="3187556"/>
            <a:ext cx="3073854" cy="43672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B0F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行业规范与标准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8445046" y="1297826"/>
            <a:ext cx="3073854" cy="1792809"/>
          </a:xfrm>
          <a:custGeom>
            <a:avLst/>
            <a:gdLst>
              <a:gd name="T0" fmla="*/ 549 w 585"/>
              <a:gd name="T1" fmla="*/ 0 h 386"/>
              <a:gd name="T2" fmla="*/ 36 w 585"/>
              <a:gd name="T3" fmla="*/ 0 h 386"/>
              <a:gd name="T4" fmla="*/ 0 w 585"/>
              <a:gd name="T5" fmla="*/ 36 h 386"/>
              <a:gd name="T6" fmla="*/ 0 w 585"/>
              <a:gd name="T7" fmla="*/ 283 h 386"/>
              <a:gd name="T8" fmla="*/ 36 w 585"/>
              <a:gd name="T9" fmla="*/ 319 h 386"/>
              <a:gd name="T10" fmla="*/ 418 w 585"/>
              <a:gd name="T11" fmla="*/ 319 h 386"/>
              <a:gd name="T12" fmla="*/ 405 w 585"/>
              <a:gd name="T13" fmla="*/ 363 h 386"/>
              <a:gd name="T14" fmla="*/ 426 w 585"/>
              <a:gd name="T15" fmla="*/ 378 h 386"/>
              <a:gd name="T16" fmla="*/ 500 w 585"/>
              <a:gd name="T17" fmla="*/ 323 h 386"/>
              <a:gd name="T18" fmla="*/ 504 w 585"/>
              <a:gd name="T19" fmla="*/ 319 h 386"/>
              <a:gd name="T20" fmla="*/ 549 w 585"/>
              <a:gd name="T21" fmla="*/ 319 h 386"/>
              <a:gd name="T22" fmla="*/ 585 w 585"/>
              <a:gd name="T23" fmla="*/ 283 h 386"/>
              <a:gd name="T24" fmla="*/ 585 w 585"/>
              <a:gd name="T25" fmla="*/ 36 h 386"/>
              <a:gd name="T26" fmla="*/ 549 w 585"/>
              <a:gd name="T27" fmla="*/ 0 h 386"/>
            </a:gdLst>
            <a:rect l="0" t="0" r="r" b="b"/>
            <a:pathLst>
              <a:path w="585" h="386">
                <a:moveTo>
                  <a:pt x="549" y="0"/>
                </a:moveTo>
                <a:cubicBezTo>
                  <a:pt x="36" y="0"/>
                  <a:pt x="36" y="0"/>
                  <a:pt x="36" y="0"/>
                </a:cubicBezTo>
                <a:cubicBezTo>
                  <a:pt x="16" y="0"/>
                  <a:pt x="0" y="16"/>
                  <a:pt x="0" y="36"/>
                </a:cubicBezTo>
                <a:cubicBezTo>
                  <a:pt x="0" y="283"/>
                  <a:pt x="0" y="283"/>
                  <a:pt x="0" y="283"/>
                </a:cubicBezTo>
                <a:cubicBezTo>
                  <a:pt x="0" y="302"/>
                  <a:pt x="16" y="319"/>
                  <a:pt x="36" y="319"/>
                </a:cubicBezTo>
                <a:cubicBezTo>
                  <a:pt x="418" y="319"/>
                  <a:pt x="418" y="319"/>
                  <a:pt x="418" y="319"/>
                </a:cubicBezTo>
                <a:cubicBezTo>
                  <a:pt x="405" y="363"/>
                  <a:pt x="405" y="363"/>
                  <a:pt x="405" y="363"/>
                </a:cubicBezTo>
                <a:cubicBezTo>
                  <a:pt x="401" y="376"/>
                  <a:pt x="415" y="386"/>
                  <a:pt x="426" y="378"/>
                </a:cubicBezTo>
                <a:cubicBezTo>
                  <a:pt x="500" y="323"/>
                  <a:pt x="500" y="323"/>
                  <a:pt x="500" y="323"/>
                </a:cubicBezTo>
                <a:cubicBezTo>
                  <a:pt x="502" y="322"/>
                  <a:pt x="503" y="320"/>
                  <a:pt x="504" y="319"/>
                </a:cubicBezTo>
                <a:cubicBezTo>
                  <a:pt x="549" y="319"/>
                  <a:pt x="549" y="319"/>
                  <a:pt x="549" y="319"/>
                </a:cubicBezTo>
                <a:cubicBezTo>
                  <a:pt x="569" y="319"/>
                  <a:pt x="585" y="302"/>
                  <a:pt x="585" y="283"/>
                </a:cubicBezTo>
                <a:cubicBezTo>
                  <a:pt x="585" y="36"/>
                  <a:pt x="585" y="36"/>
                  <a:pt x="585" y="36"/>
                </a:cubicBezTo>
                <a:cubicBezTo>
                  <a:pt x="585" y="16"/>
                  <a:pt x="569" y="0"/>
                  <a:pt x="549" y="0"/>
                </a:cubicBezTo>
                <a:close/>
              </a:path>
            </a:pathLst>
          </a:custGeom>
          <a:solidFill>
            <a:schemeClr val="accent1"/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9571000" y="1612365"/>
            <a:ext cx="821946" cy="822066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8445046" y="3674589"/>
            <a:ext cx="3073854" cy="251031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143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Subtopic 1：养老服务市场竞争激烈，传统养老机构占据一定市场份额，但随着智能养老服务兴起，市场竞争格局发生变化。
Subtopic 2：智能养老机构凭借技术优势和服务特色，在高端养老服务市场具有较强竞争力，对传统养老机构形成一定冲击，促使整个行业向智能化方向发展。
Subtopic 3：行业竞争促使养老机构不断提升服务质量、优化服务流程、创新服务模式，以满足客户多样化需求，提升市场竞争力。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8445046" y="3200256"/>
            <a:ext cx="3073854" cy="42402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B0F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行业竞争格局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316690" y="373380"/>
            <a:ext cx="8171180" cy="65532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0" flipV="0">
            <a:off x="783520" y="484345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中观层面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0" flipH="0" flipV="0">
            <a:off x="324256" y="626624"/>
            <a:ext cx="402076" cy="402076"/>
          </a:xfrm>
          <a:prstGeom prst="rtTriangl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996260" y="1703235"/>
            <a:ext cx="3246122" cy="4206240"/>
          </a:xfrm>
          <a:prstGeom prst="roundRect">
            <a:avLst>
              <a:gd name="adj" fmla="val 2679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 w="12700" cap="sq">
            <a:noFill/>
            <a:miter/>
          </a:ln>
          <a:effectLst>
            <a:outerShdw dist="38100" blurRad="419100" dir="2700000" sx="100000" sy="100000" kx="0" ky="0" algn="tl" rotWithShape="0">
              <a:schemeClr val="accent1">
                <a:lumMod val="75000"/>
                <a:alpha val="24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4472939" y="1703235"/>
            <a:ext cx="3246122" cy="4206240"/>
          </a:xfrm>
          <a:prstGeom prst="roundRect">
            <a:avLst>
              <a:gd name="adj" fmla="val 2679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 w="12700" cap="sq">
            <a:noFill/>
            <a:miter/>
          </a:ln>
          <a:effectLst>
            <a:outerShdw dist="38100" blurRad="419100" dir="2700000" sx="100000" sy="100000" kx="0" ky="0" algn="tl" rotWithShape="0">
              <a:schemeClr val="accent1">
                <a:lumMod val="75000"/>
                <a:alpha val="24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7949619" y="1703235"/>
            <a:ext cx="3246122" cy="4206240"/>
          </a:xfrm>
          <a:prstGeom prst="roundRect">
            <a:avLst>
              <a:gd name="adj" fmla="val 2679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 w="12700" cap="sq">
            <a:noFill/>
            <a:miter/>
          </a:ln>
          <a:effectLst>
            <a:outerShdw dist="38100" blurRad="419100" dir="2700000" sx="100000" sy="100000" kx="0" ky="0" algn="tl" rotWithShape="0">
              <a:schemeClr val="accent1">
                <a:lumMod val="75000"/>
                <a:alpha val="24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1098373" y="2964525"/>
            <a:ext cx="3041897" cy="2823212"/>
          </a:xfrm>
          <a:prstGeom prst="roundRect">
            <a:avLst>
              <a:gd name="adj" fmla="val 3003"/>
            </a:avLst>
          </a:prstGeom>
          <a:solidFill>
            <a:schemeClr val="bg1"/>
          </a:solidFill>
          <a:ln w="12700" cap="sq">
            <a:solidFill>
              <a:schemeClr val="bg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4575049" y="2964525"/>
            <a:ext cx="3041897" cy="2823212"/>
          </a:xfrm>
          <a:prstGeom prst="roundRect">
            <a:avLst>
              <a:gd name="adj" fmla="val 3003"/>
            </a:avLst>
          </a:prstGeom>
          <a:solidFill>
            <a:schemeClr val="bg1"/>
          </a:solidFill>
          <a:ln w="12700" cap="sq">
            <a:solidFill>
              <a:schemeClr val="bg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8051725" y="2964525"/>
            <a:ext cx="3041897" cy="2823212"/>
          </a:xfrm>
          <a:prstGeom prst="roundRect">
            <a:avLst>
              <a:gd name="adj" fmla="val 3003"/>
            </a:avLst>
          </a:prstGeom>
          <a:solidFill>
            <a:schemeClr val="bg1"/>
          </a:solidFill>
          <a:ln w="12700" cap="sq">
            <a:solidFill>
              <a:schemeClr val="bg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1233606" y="1942694"/>
            <a:ext cx="2774265" cy="86627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本地区养老机构竞争格局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1267431" y="3151026"/>
            <a:ext cx="2740440" cy="2481152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kumimoji="1" lang="en-US" altLang="zh-CN" sz="1048">
                <a:ln w="12700">
                  <a:noFill/>
                </a:ln>
                <a:solidFill>
                  <a:srgbClr val="0D0D0D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Subtopic 1：本地养老机构数量较多，但以传统养老机构为主，智能化服务水平较低，存在服务同质化问题。
Subtopic 2：AI 芯颐养院作为本地首家高端智能养老机构，具有差异化竞争优势，在市场定位、服务特色、技术应用等方面与传统养老机构形成鲜明对比，吸引高端客户群体。
Subtopic 3：本地市场竞争激烈，但 AI 芯颐养院凭借先发优势、技术专利、专业团队等，在本地市场占据有利地位，新进入者需要投入大量资源才能与之竞争。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4724452" y="1942694"/>
            <a:ext cx="2774266" cy="86627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潜在客户需求调研分析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4758278" y="3151026"/>
            <a:ext cx="2740440" cy="2481152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kumimoji="1" lang="en-US" altLang="zh-CN" sz="1048">
                <a:ln w="12700">
                  <a:noFill/>
                </a:ln>
                <a:solidFill>
                  <a:srgbClr val="0D0D0D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Subtopic 1：市场调研显示，本地老年人及其家属对智能养老服务认知度和接受度较高，超 70%的子女希望为父母选择具有智能化设施和服务的养老机构。
Subtopic 2：潜在客户对智能养老服务需求主要集中在健康管理、生活便利、安全保障等方面，对服务质量、环境设施、价格等因素较为关注，为 AI 芯颐养院服务设计和营销策略制定提供重要参考。
Subtopic 3：通过客户访谈和问卷调查，收集潜在客户对智能养老服务的期望和建议，为优化服务内容和提升客户满意度提供数据支持。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8185282" y="1942694"/>
            <a:ext cx="2773111" cy="86627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市场进入壁垒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8219109" y="3151026"/>
            <a:ext cx="2740440" cy="2481152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kumimoji="1" lang="en-US" altLang="zh-CN" sz="1048">
                <a:ln w="12700">
                  <a:noFill/>
                </a:ln>
                <a:solidFill>
                  <a:srgbClr val="0D0D0D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Subtopic 1：智能养老服务行业对技术、资金、人才等方面要求较高，存在一定进入壁垒。
Subtopic 2：AI 芯颐养院凭借先发优势、技术专利、专业团队等，在本地市场占据有利地位，新进入者需要投入大量资源才能与之竞争，这为 AI 芯颐养院发展提供一定保障。
Subtopic 3：行业规范和标准不断完善，新进入者需要满足严格资质要求，增加了进入难度，有利于现有企业巩固市场地位。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316690" y="373380"/>
            <a:ext cx="8171180" cy="65532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0" flipV="0">
            <a:off x="783520" y="484345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微观层面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0" flipH="0" flipV="0">
            <a:off x="324256" y="626624"/>
            <a:ext cx="402076" cy="402076"/>
          </a:xfrm>
          <a:prstGeom prst="rtTriangl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2">
            <a:alphaModFix amt="100000"/>
          </a:blip>
          <a:srcRect l="2858" t="11915" r="21252" b="11915"/>
          <a:stretch>
            <a:fillRect/>
          </a:stretch>
        </p:blipFill>
        <p:spPr>
          <a:xfrm rot="0" flipH="0" flipV="0"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" name="标题 1"/>
          <p:cNvSpPr txBox="1"/>
          <p:nvPr/>
        </p:nvSpPr>
        <p:spPr>
          <a:xfrm rot="0" flipH="0" flipV="0">
            <a:off x="-1" y="0"/>
            <a:ext cx="10883569" cy="6858000"/>
          </a:xfrm>
          <a:prstGeom prst="rect">
            <a:avLst/>
          </a:prstGeom>
          <a:gradFill>
            <a:gsLst>
              <a:gs pos="12000">
                <a:schemeClr val="bg1"/>
              </a:gs>
              <a:gs pos="80000">
                <a:schemeClr val="bg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421027" y="333692"/>
            <a:ext cx="1321317" cy="164080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1693998" y="6276762"/>
            <a:ext cx="268552" cy="26855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1763397" y="6346151"/>
            <a:ext cx="129755" cy="129774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1273479" y="6276762"/>
            <a:ext cx="268552" cy="26855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1338911" y="6346151"/>
            <a:ext cx="137688" cy="129774"/>
          </a:xfrm>
          <a:custGeom>
            <a:avLst/>
            <a:gdLst>
              <a:gd name="connsiteX0" fmla="*/ 1110072 w 1498885"/>
              <a:gd name="connsiteY0" fmla="*/ 1039039 h 1412736"/>
              <a:gd name="connsiteX1" fmla="*/ 1149511 w 1498885"/>
              <a:gd name="connsiteY1" fmla="*/ 1055363 h 1412736"/>
              <a:gd name="connsiteX2" fmla="*/ 1371451 w 1498885"/>
              <a:gd name="connsiteY2" fmla="*/ 1277303 h 1412736"/>
              <a:gd name="connsiteX3" fmla="*/ 1371451 w 1498885"/>
              <a:gd name="connsiteY3" fmla="*/ 1356182 h 1412736"/>
              <a:gd name="connsiteX4" fmla="*/ 1332012 w 1498885"/>
              <a:gd name="connsiteY4" fmla="*/ 1372553 h 1412736"/>
              <a:gd name="connsiteX5" fmla="*/ 1292572 w 1498885"/>
              <a:gd name="connsiteY5" fmla="*/ 1356182 h 1412736"/>
              <a:gd name="connsiteX6" fmla="*/ 1070632 w 1498885"/>
              <a:gd name="connsiteY6" fmla="*/ 1134242 h 1412736"/>
              <a:gd name="connsiteX7" fmla="*/ 1070632 w 1498885"/>
              <a:gd name="connsiteY7" fmla="*/ 1055363 h 1412736"/>
              <a:gd name="connsiteX8" fmla="*/ 1110072 w 1498885"/>
              <a:gd name="connsiteY8" fmla="*/ 1039039 h 1412736"/>
              <a:gd name="connsiteX9" fmla="*/ 1110072 w 1498885"/>
              <a:gd name="connsiteY9" fmla="*/ 705989 h 1412736"/>
              <a:gd name="connsiteX10" fmla="*/ 1443075 w 1498885"/>
              <a:gd name="connsiteY10" fmla="*/ 705989 h 1412736"/>
              <a:gd name="connsiteX11" fmla="*/ 1498885 w 1498885"/>
              <a:gd name="connsiteY11" fmla="*/ 761800 h 1412736"/>
              <a:gd name="connsiteX12" fmla="*/ 1443075 w 1498885"/>
              <a:gd name="connsiteY12" fmla="*/ 817611 h 1412736"/>
              <a:gd name="connsiteX13" fmla="*/ 1110072 w 1498885"/>
              <a:gd name="connsiteY13" fmla="*/ 817611 h 1412736"/>
              <a:gd name="connsiteX14" fmla="*/ 1054261 w 1498885"/>
              <a:gd name="connsiteY14" fmla="*/ 761800 h 1412736"/>
              <a:gd name="connsiteX15" fmla="*/ 1110072 w 1498885"/>
              <a:gd name="connsiteY15" fmla="*/ 705989 h 1412736"/>
              <a:gd name="connsiteX16" fmla="*/ 1332012 w 1498885"/>
              <a:gd name="connsiteY16" fmla="*/ 151093 h 1412736"/>
              <a:gd name="connsiteX17" fmla="*/ 1371451 w 1498885"/>
              <a:gd name="connsiteY17" fmla="*/ 167418 h 1412736"/>
              <a:gd name="connsiteX18" fmla="*/ 1371451 w 1498885"/>
              <a:gd name="connsiteY18" fmla="*/ 246297 h 1412736"/>
              <a:gd name="connsiteX19" fmla="*/ 1149511 w 1498885"/>
              <a:gd name="connsiteY19" fmla="*/ 468236 h 1412736"/>
              <a:gd name="connsiteX20" fmla="*/ 1110072 w 1498885"/>
              <a:gd name="connsiteY20" fmla="*/ 484608 h 1412736"/>
              <a:gd name="connsiteX21" fmla="*/ 1070632 w 1498885"/>
              <a:gd name="connsiteY21" fmla="*/ 468236 h 1412736"/>
              <a:gd name="connsiteX22" fmla="*/ 1070632 w 1498885"/>
              <a:gd name="connsiteY22" fmla="*/ 389358 h 1412736"/>
              <a:gd name="connsiteX23" fmla="*/ 1292572 w 1498885"/>
              <a:gd name="connsiteY23" fmla="*/ 167418 h 1412736"/>
              <a:gd name="connsiteX24" fmla="*/ 1332012 w 1498885"/>
              <a:gd name="connsiteY24" fmla="*/ 151093 h 1412736"/>
              <a:gd name="connsiteX25" fmla="*/ 709724 w 1498885"/>
              <a:gd name="connsiteY25" fmla="*/ 111607 h 1412736"/>
              <a:gd name="connsiteX26" fmla="*/ 649635 w 1498885"/>
              <a:gd name="connsiteY26" fmla="*/ 127420 h 1412736"/>
              <a:gd name="connsiteX27" fmla="*/ 174129 w 1498885"/>
              <a:gd name="connsiteY27" fmla="*/ 394752 h 1412736"/>
              <a:gd name="connsiteX28" fmla="*/ 111621 w 1498885"/>
              <a:gd name="connsiteY28" fmla="*/ 501536 h 1412736"/>
              <a:gd name="connsiteX29" fmla="*/ 111621 w 1498885"/>
              <a:gd name="connsiteY29" fmla="*/ 910814 h 1412736"/>
              <a:gd name="connsiteX30" fmla="*/ 174129 w 1498885"/>
              <a:gd name="connsiteY30" fmla="*/ 1017598 h 1412736"/>
              <a:gd name="connsiteX31" fmla="*/ 649821 w 1498885"/>
              <a:gd name="connsiteY31" fmla="*/ 1284930 h 1412736"/>
              <a:gd name="connsiteX32" fmla="*/ 771674 w 1498885"/>
              <a:gd name="connsiteY32" fmla="*/ 1283814 h 1412736"/>
              <a:gd name="connsiteX33" fmla="*/ 832321 w 1498885"/>
              <a:gd name="connsiteY33" fmla="*/ 1178146 h 1412736"/>
              <a:gd name="connsiteX34" fmla="*/ 832321 w 1498885"/>
              <a:gd name="connsiteY34" fmla="*/ 234204 h 1412736"/>
              <a:gd name="connsiteX35" fmla="*/ 771674 w 1498885"/>
              <a:gd name="connsiteY35" fmla="*/ 128536 h 1412736"/>
              <a:gd name="connsiteX36" fmla="*/ 709724 w 1498885"/>
              <a:gd name="connsiteY36" fmla="*/ 111607 h 1412736"/>
              <a:gd name="connsiteX37" fmla="*/ 711864 w 1498885"/>
              <a:gd name="connsiteY37" fmla="*/ 9 h 1412736"/>
              <a:gd name="connsiteX38" fmla="*/ 828043 w 1498885"/>
              <a:gd name="connsiteY38" fmla="*/ 32356 h 1412736"/>
              <a:gd name="connsiteX39" fmla="*/ 943942 w 1498885"/>
              <a:gd name="connsiteY39" fmla="*/ 234390 h 1412736"/>
              <a:gd name="connsiteX40" fmla="*/ 943942 w 1498885"/>
              <a:gd name="connsiteY40" fmla="*/ 1178518 h 1412736"/>
              <a:gd name="connsiteX41" fmla="*/ 828043 w 1498885"/>
              <a:gd name="connsiteY41" fmla="*/ 1380552 h 1412736"/>
              <a:gd name="connsiteX42" fmla="*/ 709910 w 1498885"/>
              <a:gd name="connsiteY42" fmla="*/ 1412736 h 1412736"/>
              <a:gd name="connsiteX43" fmla="*/ 595126 w 1498885"/>
              <a:gd name="connsiteY43" fmla="*/ 1382413 h 1412736"/>
              <a:gd name="connsiteX44" fmla="*/ 119435 w 1498885"/>
              <a:gd name="connsiteY44" fmla="*/ 1115080 h 1412736"/>
              <a:gd name="connsiteX45" fmla="*/ 0 w 1498885"/>
              <a:gd name="connsiteY45" fmla="*/ 911000 h 1412736"/>
              <a:gd name="connsiteX46" fmla="*/ 0 w 1498885"/>
              <a:gd name="connsiteY46" fmla="*/ 501722 h 1412736"/>
              <a:gd name="connsiteX47" fmla="*/ 119435 w 1498885"/>
              <a:gd name="connsiteY47" fmla="*/ 297642 h 1412736"/>
              <a:gd name="connsiteX48" fmla="*/ 595126 w 1498885"/>
              <a:gd name="connsiteY48" fmla="*/ 30309 h 1412736"/>
              <a:gd name="connsiteX49" fmla="*/ 711864 w 1498885"/>
              <a:gd name="connsiteY49" fmla="*/ 9 h 1412736"/>
            </a:gdLst>
            <a:rect l="l" t="t" r="r" b="b"/>
            <a:pathLst>
              <a:path w="1498885" h="1412736">
                <a:moveTo>
                  <a:pt x="1110072" y="1039039"/>
                </a:moveTo>
                <a:cubicBezTo>
                  <a:pt x="1124350" y="1039039"/>
                  <a:pt x="1138628" y="1044480"/>
                  <a:pt x="1149511" y="1055363"/>
                </a:cubicBezTo>
                <a:lnTo>
                  <a:pt x="1371451" y="1277303"/>
                </a:lnTo>
                <a:cubicBezTo>
                  <a:pt x="1393217" y="1299070"/>
                  <a:pt x="1393217" y="1334416"/>
                  <a:pt x="1371451" y="1356182"/>
                </a:cubicBezTo>
                <a:cubicBezTo>
                  <a:pt x="1360661" y="1366972"/>
                  <a:pt x="1346336" y="1372553"/>
                  <a:pt x="1332012" y="1372553"/>
                </a:cubicBezTo>
                <a:cubicBezTo>
                  <a:pt x="1317687" y="1372553"/>
                  <a:pt x="1303362" y="1367158"/>
                  <a:pt x="1292572" y="1356182"/>
                </a:cubicBezTo>
                <a:lnTo>
                  <a:pt x="1070632" y="1134242"/>
                </a:lnTo>
                <a:cubicBezTo>
                  <a:pt x="1048866" y="1112476"/>
                  <a:pt x="1048866" y="1077130"/>
                  <a:pt x="1070632" y="1055363"/>
                </a:cubicBezTo>
                <a:cubicBezTo>
                  <a:pt x="1081515" y="1044480"/>
                  <a:pt x="1095793" y="1039039"/>
                  <a:pt x="1110072" y="1039039"/>
                </a:cubicBezTo>
                <a:close/>
                <a:moveTo>
                  <a:pt x="1110072" y="705989"/>
                </a:moveTo>
                <a:lnTo>
                  <a:pt x="1443075" y="705989"/>
                </a:lnTo>
                <a:cubicBezTo>
                  <a:pt x="1473956" y="705989"/>
                  <a:pt x="1498885" y="730918"/>
                  <a:pt x="1498885" y="761800"/>
                </a:cubicBezTo>
                <a:cubicBezTo>
                  <a:pt x="1498885" y="792682"/>
                  <a:pt x="1473770" y="817611"/>
                  <a:pt x="1443075" y="817611"/>
                </a:cubicBezTo>
                <a:lnTo>
                  <a:pt x="1110072" y="817611"/>
                </a:lnTo>
                <a:cubicBezTo>
                  <a:pt x="1079190" y="817611"/>
                  <a:pt x="1054261" y="792682"/>
                  <a:pt x="1054261" y="761800"/>
                </a:cubicBezTo>
                <a:cubicBezTo>
                  <a:pt x="1054261" y="730918"/>
                  <a:pt x="1079190" y="705989"/>
                  <a:pt x="1110072" y="705989"/>
                </a:cubicBezTo>
                <a:close/>
                <a:moveTo>
                  <a:pt x="1332012" y="151093"/>
                </a:moveTo>
                <a:cubicBezTo>
                  <a:pt x="1346290" y="151093"/>
                  <a:pt x="1360568" y="156535"/>
                  <a:pt x="1371451" y="167418"/>
                </a:cubicBezTo>
                <a:cubicBezTo>
                  <a:pt x="1393217" y="189184"/>
                  <a:pt x="1393217" y="224530"/>
                  <a:pt x="1371451" y="246297"/>
                </a:cubicBezTo>
                <a:lnTo>
                  <a:pt x="1149511" y="468236"/>
                </a:lnTo>
                <a:cubicBezTo>
                  <a:pt x="1138721" y="479213"/>
                  <a:pt x="1124396" y="484608"/>
                  <a:pt x="1110072" y="484608"/>
                </a:cubicBezTo>
                <a:cubicBezTo>
                  <a:pt x="1095747" y="484608"/>
                  <a:pt x="1081422" y="479213"/>
                  <a:pt x="1070632" y="468236"/>
                </a:cubicBezTo>
                <a:cubicBezTo>
                  <a:pt x="1048866" y="446470"/>
                  <a:pt x="1048866" y="411124"/>
                  <a:pt x="1070632" y="389358"/>
                </a:cubicBezTo>
                <a:lnTo>
                  <a:pt x="1292572" y="167418"/>
                </a:lnTo>
                <a:cubicBezTo>
                  <a:pt x="1303455" y="156535"/>
                  <a:pt x="1317733" y="151093"/>
                  <a:pt x="1332012" y="151093"/>
                </a:cubicBezTo>
                <a:close/>
                <a:moveTo>
                  <a:pt x="709724" y="111607"/>
                </a:moveTo>
                <a:cubicBezTo>
                  <a:pt x="689074" y="111607"/>
                  <a:pt x="668610" y="116816"/>
                  <a:pt x="649635" y="127420"/>
                </a:cubicBezTo>
                <a:lnTo>
                  <a:pt x="174129" y="394752"/>
                </a:lnTo>
                <a:cubicBezTo>
                  <a:pt x="135620" y="416332"/>
                  <a:pt x="111621" y="457260"/>
                  <a:pt x="111621" y="501536"/>
                </a:cubicBezTo>
                <a:lnTo>
                  <a:pt x="111621" y="910814"/>
                </a:lnTo>
                <a:cubicBezTo>
                  <a:pt x="111621" y="955090"/>
                  <a:pt x="135620" y="996018"/>
                  <a:pt x="174129" y="1017598"/>
                </a:cubicBezTo>
                <a:lnTo>
                  <a:pt x="649821" y="1284930"/>
                </a:lnTo>
                <a:cubicBezTo>
                  <a:pt x="688144" y="1306510"/>
                  <a:pt x="733723" y="1306138"/>
                  <a:pt x="771674" y="1283814"/>
                </a:cubicBezTo>
                <a:cubicBezTo>
                  <a:pt x="809625" y="1261676"/>
                  <a:pt x="832321" y="1222050"/>
                  <a:pt x="832321" y="1178146"/>
                </a:cubicBezTo>
                <a:lnTo>
                  <a:pt x="832321" y="234204"/>
                </a:lnTo>
                <a:cubicBezTo>
                  <a:pt x="832321" y="190113"/>
                  <a:pt x="809625" y="150674"/>
                  <a:pt x="771674" y="128536"/>
                </a:cubicBezTo>
                <a:cubicBezTo>
                  <a:pt x="752326" y="117188"/>
                  <a:pt x="731118" y="111607"/>
                  <a:pt x="709724" y="111607"/>
                </a:cubicBezTo>
                <a:close/>
                <a:moveTo>
                  <a:pt x="711864" y="9"/>
                </a:moveTo>
                <a:cubicBezTo>
                  <a:pt x="751861" y="358"/>
                  <a:pt x="791766" y="11148"/>
                  <a:pt x="828043" y="32356"/>
                </a:cubicBezTo>
                <a:cubicBezTo>
                  <a:pt x="900596" y="74772"/>
                  <a:pt x="943942" y="150302"/>
                  <a:pt x="943942" y="234390"/>
                </a:cubicBezTo>
                <a:lnTo>
                  <a:pt x="943942" y="1178518"/>
                </a:lnTo>
                <a:cubicBezTo>
                  <a:pt x="943942" y="1262606"/>
                  <a:pt x="900596" y="1338136"/>
                  <a:pt x="828043" y="1380552"/>
                </a:cubicBezTo>
                <a:cubicBezTo>
                  <a:pt x="791208" y="1401946"/>
                  <a:pt x="750466" y="1412736"/>
                  <a:pt x="709910" y="1412736"/>
                </a:cubicBezTo>
                <a:cubicBezTo>
                  <a:pt x="670471" y="1412736"/>
                  <a:pt x="631217" y="1402691"/>
                  <a:pt x="595126" y="1382413"/>
                </a:cubicBezTo>
                <a:lnTo>
                  <a:pt x="119435" y="1115080"/>
                </a:lnTo>
                <a:cubicBezTo>
                  <a:pt x="45765" y="1073594"/>
                  <a:pt x="0" y="995460"/>
                  <a:pt x="0" y="911000"/>
                </a:cubicBezTo>
                <a:lnTo>
                  <a:pt x="0" y="501722"/>
                </a:lnTo>
                <a:cubicBezTo>
                  <a:pt x="0" y="417262"/>
                  <a:pt x="45765" y="338942"/>
                  <a:pt x="119435" y="297642"/>
                </a:cubicBezTo>
                <a:lnTo>
                  <a:pt x="595126" y="30309"/>
                </a:lnTo>
                <a:cubicBezTo>
                  <a:pt x="631775" y="9752"/>
                  <a:pt x="671866" y="-340"/>
                  <a:pt x="711864" y="9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852960" y="6276762"/>
            <a:ext cx="268552" cy="26855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920186" y="6346151"/>
            <a:ext cx="134100" cy="129774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432441" y="6276762"/>
            <a:ext cx="268552" cy="26855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506816" y="6346151"/>
            <a:ext cx="119802" cy="129774"/>
          </a:xfrm>
          <a:custGeom>
            <a:avLst/>
            <a:gdLst>
              <a:gd name="connsiteX0" fmla="*/ 712625 w 1425436"/>
              <a:gd name="connsiteY0" fmla="*/ 111621 h 1544091"/>
              <a:gd name="connsiteX1" fmla="*/ 902567 w 1425436"/>
              <a:gd name="connsiteY1" fmla="*/ 190314 h 1544091"/>
              <a:gd name="connsiteX2" fmla="*/ 981260 w 1425436"/>
              <a:gd name="connsiteY2" fmla="*/ 380256 h 1544091"/>
              <a:gd name="connsiteX3" fmla="*/ 902567 w 1425436"/>
              <a:gd name="connsiteY3" fmla="*/ 570198 h 1544091"/>
              <a:gd name="connsiteX4" fmla="*/ 712625 w 1425436"/>
              <a:gd name="connsiteY4" fmla="*/ 648891 h 1544091"/>
              <a:gd name="connsiteX5" fmla="*/ 522684 w 1425436"/>
              <a:gd name="connsiteY5" fmla="*/ 570198 h 1544091"/>
              <a:gd name="connsiteX6" fmla="*/ 444177 w 1425436"/>
              <a:gd name="connsiteY6" fmla="*/ 380070 h 1544091"/>
              <a:gd name="connsiteX7" fmla="*/ 522870 w 1425436"/>
              <a:gd name="connsiteY7" fmla="*/ 190128 h 1544091"/>
              <a:gd name="connsiteX8" fmla="*/ 712625 w 1425436"/>
              <a:gd name="connsiteY8" fmla="*/ 111621 h 1544091"/>
              <a:gd name="connsiteX9" fmla="*/ 712625 w 1425436"/>
              <a:gd name="connsiteY9" fmla="*/ 0 h 1544091"/>
              <a:gd name="connsiteX10" fmla="*/ 332556 w 1425436"/>
              <a:gd name="connsiteY10" fmla="*/ 380070 h 1544091"/>
              <a:gd name="connsiteX11" fmla="*/ 712625 w 1425436"/>
              <a:gd name="connsiteY11" fmla="*/ 760140 h 1544091"/>
              <a:gd name="connsiteX12" fmla="*/ 1092695 w 1425436"/>
              <a:gd name="connsiteY12" fmla="*/ 380070 h 1544091"/>
              <a:gd name="connsiteX13" fmla="*/ 712625 w 1425436"/>
              <a:gd name="connsiteY13" fmla="*/ 0 h 1544091"/>
              <a:gd name="connsiteX14" fmla="*/ 712625 w 1425436"/>
              <a:gd name="connsiteY14" fmla="*/ 943012 h 1544091"/>
              <a:gd name="connsiteX15" fmla="*/ 978842 w 1425436"/>
              <a:gd name="connsiteY15" fmla="*/ 976685 h 1544091"/>
              <a:gd name="connsiteX16" fmla="*/ 1146087 w 1425436"/>
              <a:gd name="connsiteY16" fmla="*/ 1059470 h 1544091"/>
              <a:gd name="connsiteX17" fmla="*/ 1248593 w 1425436"/>
              <a:gd name="connsiteY17" fmla="*/ 1174440 h 1544091"/>
              <a:gd name="connsiteX18" fmla="*/ 1310356 w 1425436"/>
              <a:gd name="connsiteY18" fmla="*/ 1316385 h 1544091"/>
              <a:gd name="connsiteX19" fmla="*/ 1296590 w 1425436"/>
              <a:gd name="connsiteY19" fmla="*/ 1390241 h 1544091"/>
              <a:gd name="connsiteX20" fmla="*/ 1208595 w 1425436"/>
              <a:gd name="connsiteY20" fmla="*/ 1432285 h 1544091"/>
              <a:gd name="connsiteX21" fmla="*/ 216842 w 1425436"/>
              <a:gd name="connsiteY21" fmla="*/ 1432285 h 1544091"/>
              <a:gd name="connsiteX22" fmla="*/ 128847 w 1425436"/>
              <a:gd name="connsiteY22" fmla="*/ 1390241 h 1544091"/>
              <a:gd name="connsiteX23" fmla="*/ 115081 w 1425436"/>
              <a:gd name="connsiteY23" fmla="*/ 1316385 h 1544091"/>
              <a:gd name="connsiteX24" fmla="*/ 176844 w 1425436"/>
              <a:gd name="connsiteY24" fmla="*/ 1174440 h 1544091"/>
              <a:gd name="connsiteX25" fmla="*/ 279350 w 1425436"/>
              <a:gd name="connsiteY25" fmla="*/ 1059470 h 1544091"/>
              <a:gd name="connsiteX26" fmla="*/ 446595 w 1425436"/>
              <a:gd name="connsiteY26" fmla="*/ 976685 h 1544091"/>
              <a:gd name="connsiteX27" fmla="*/ 712625 w 1425436"/>
              <a:gd name="connsiteY27" fmla="*/ 943012 h 1544091"/>
              <a:gd name="connsiteX28" fmla="*/ 712625 w 1425436"/>
              <a:gd name="connsiteY28" fmla="*/ 831391 h 1544091"/>
              <a:gd name="connsiteX29" fmla="*/ 8296 w 1425436"/>
              <a:gd name="connsiteY29" fmla="*/ 1284387 h 1544091"/>
              <a:gd name="connsiteX30" fmla="*/ 216842 w 1425436"/>
              <a:gd name="connsiteY30" fmla="*/ 1544092 h 1544091"/>
              <a:gd name="connsiteX31" fmla="*/ 1208595 w 1425436"/>
              <a:gd name="connsiteY31" fmla="*/ 1544092 h 1544091"/>
              <a:gd name="connsiteX32" fmla="*/ 1417141 w 1425436"/>
              <a:gd name="connsiteY32" fmla="*/ 1284387 h 1544091"/>
              <a:gd name="connsiteX33" fmla="*/ 712625 w 1425436"/>
              <a:gd name="connsiteY33" fmla="*/ 831391 h 1544091"/>
            </a:gdLst>
            <a:rect l="l" t="t" r="r" b="b"/>
            <a:pathLst>
              <a:path w="1425436" h="1544091">
                <a:moveTo>
                  <a:pt x="712625" y="111621"/>
                </a:moveTo>
                <a:cubicBezTo>
                  <a:pt x="784435" y="111621"/>
                  <a:pt x="851780" y="139526"/>
                  <a:pt x="902567" y="190314"/>
                </a:cubicBezTo>
                <a:cubicBezTo>
                  <a:pt x="953355" y="241102"/>
                  <a:pt x="981260" y="308446"/>
                  <a:pt x="981260" y="380256"/>
                </a:cubicBezTo>
                <a:cubicBezTo>
                  <a:pt x="981260" y="452065"/>
                  <a:pt x="953355" y="519410"/>
                  <a:pt x="902567" y="570198"/>
                </a:cubicBezTo>
                <a:cubicBezTo>
                  <a:pt x="851780" y="620985"/>
                  <a:pt x="784435" y="648891"/>
                  <a:pt x="712625" y="648891"/>
                </a:cubicBezTo>
                <a:cubicBezTo>
                  <a:pt x="640816" y="648891"/>
                  <a:pt x="573471" y="620985"/>
                  <a:pt x="522684" y="570198"/>
                </a:cubicBezTo>
                <a:cubicBezTo>
                  <a:pt x="472082" y="519224"/>
                  <a:pt x="444177" y="451693"/>
                  <a:pt x="444177" y="380070"/>
                </a:cubicBezTo>
                <a:cubicBezTo>
                  <a:pt x="444177" y="308446"/>
                  <a:pt x="472082" y="240916"/>
                  <a:pt x="522870" y="190128"/>
                </a:cubicBezTo>
                <a:cubicBezTo>
                  <a:pt x="573471" y="139526"/>
                  <a:pt x="641002" y="111621"/>
                  <a:pt x="712625" y="111621"/>
                </a:cubicBezTo>
                <a:moveTo>
                  <a:pt x="712625" y="0"/>
                </a:moveTo>
                <a:cubicBezTo>
                  <a:pt x="502778" y="0"/>
                  <a:pt x="332556" y="170036"/>
                  <a:pt x="332556" y="380070"/>
                </a:cubicBezTo>
                <a:cubicBezTo>
                  <a:pt x="332556" y="589917"/>
                  <a:pt x="502778" y="760140"/>
                  <a:pt x="712625" y="760140"/>
                </a:cubicBezTo>
                <a:cubicBezTo>
                  <a:pt x="922473" y="760140"/>
                  <a:pt x="1092695" y="589917"/>
                  <a:pt x="1092695" y="380070"/>
                </a:cubicBezTo>
                <a:cubicBezTo>
                  <a:pt x="1092881" y="170036"/>
                  <a:pt x="922659" y="0"/>
                  <a:pt x="712625" y="0"/>
                </a:cubicBezTo>
                <a:close/>
                <a:moveTo>
                  <a:pt x="712625" y="943012"/>
                </a:moveTo>
                <a:cubicBezTo>
                  <a:pt x="813643" y="943012"/>
                  <a:pt x="903126" y="954360"/>
                  <a:pt x="978842" y="976685"/>
                </a:cubicBezTo>
                <a:cubicBezTo>
                  <a:pt x="1043582" y="995846"/>
                  <a:pt x="1099951" y="1023752"/>
                  <a:pt x="1146087" y="1059470"/>
                </a:cubicBezTo>
                <a:cubicBezTo>
                  <a:pt x="1186829" y="1091096"/>
                  <a:pt x="1220315" y="1128675"/>
                  <a:pt x="1248593" y="1174440"/>
                </a:cubicBezTo>
                <a:cubicBezTo>
                  <a:pt x="1273708" y="1215368"/>
                  <a:pt x="1293985" y="1261877"/>
                  <a:pt x="1310356" y="1316385"/>
                </a:cubicBezTo>
                <a:cubicBezTo>
                  <a:pt x="1320774" y="1350801"/>
                  <a:pt x="1306264" y="1377404"/>
                  <a:pt x="1296590" y="1390241"/>
                </a:cubicBezTo>
                <a:cubicBezTo>
                  <a:pt x="1276684" y="1417030"/>
                  <a:pt x="1244686" y="1432285"/>
                  <a:pt x="1208595" y="1432285"/>
                </a:cubicBezTo>
                <a:lnTo>
                  <a:pt x="216842" y="1432285"/>
                </a:lnTo>
                <a:cubicBezTo>
                  <a:pt x="180937" y="1432285"/>
                  <a:pt x="148753" y="1417030"/>
                  <a:pt x="128847" y="1390241"/>
                </a:cubicBezTo>
                <a:cubicBezTo>
                  <a:pt x="119359" y="1377404"/>
                  <a:pt x="104849" y="1350801"/>
                  <a:pt x="115081" y="1316385"/>
                </a:cubicBezTo>
                <a:cubicBezTo>
                  <a:pt x="131452" y="1261877"/>
                  <a:pt x="151543" y="1215368"/>
                  <a:pt x="176844" y="1174440"/>
                </a:cubicBezTo>
                <a:cubicBezTo>
                  <a:pt x="204936" y="1128675"/>
                  <a:pt x="238422" y="1090910"/>
                  <a:pt x="279350" y="1059470"/>
                </a:cubicBezTo>
                <a:cubicBezTo>
                  <a:pt x="325486" y="1023752"/>
                  <a:pt x="381855" y="995846"/>
                  <a:pt x="446595" y="976685"/>
                </a:cubicBezTo>
                <a:cubicBezTo>
                  <a:pt x="522125" y="954360"/>
                  <a:pt x="611794" y="943012"/>
                  <a:pt x="712625" y="943012"/>
                </a:cubicBezTo>
                <a:moveTo>
                  <a:pt x="712625" y="831391"/>
                </a:moveTo>
                <a:cubicBezTo>
                  <a:pt x="244561" y="831391"/>
                  <a:pt x="77501" y="1053331"/>
                  <a:pt x="8296" y="1284387"/>
                </a:cubicBezTo>
                <a:cubicBezTo>
                  <a:pt x="-30771" y="1414611"/>
                  <a:pt x="73037" y="1544092"/>
                  <a:pt x="216842" y="1544092"/>
                </a:cubicBezTo>
                <a:lnTo>
                  <a:pt x="1208595" y="1544092"/>
                </a:lnTo>
                <a:cubicBezTo>
                  <a:pt x="1352400" y="1544092"/>
                  <a:pt x="1456208" y="1414611"/>
                  <a:pt x="1417141" y="1284387"/>
                </a:cubicBezTo>
                <a:cubicBezTo>
                  <a:pt x="1347750" y="1053331"/>
                  <a:pt x="1180690" y="831391"/>
                  <a:pt x="712625" y="83139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1" flipV="0">
            <a:off x="650050" y="1918023"/>
            <a:ext cx="184513" cy="184513"/>
          </a:xfrm>
          <a:custGeom>
            <a:avLst/>
            <a:gdLst>
              <a:gd name="connsiteX0" fmla="*/ 104503 w 184513"/>
              <a:gd name="connsiteY0" fmla="*/ 0 h 184513"/>
              <a:gd name="connsiteX1" fmla="*/ 80010 w 184513"/>
              <a:gd name="connsiteY1" fmla="*/ 0 h 184513"/>
              <a:gd name="connsiteX2" fmla="*/ 80010 w 184513"/>
              <a:gd name="connsiteY2" fmla="*/ 80010 h 184513"/>
              <a:gd name="connsiteX3" fmla="*/ 0 w 184513"/>
              <a:gd name="connsiteY3" fmla="*/ 80010 h 184513"/>
              <a:gd name="connsiteX4" fmla="*/ 0 w 184513"/>
              <a:gd name="connsiteY4" fmla="*/ 104503 h 184513"/>
              <a:gd name="connsiteX5" fmla="*/ 80010 w 184513"/>
              <a:gd name="connsiteY5" fmla="*/ 104503 h 184513"/>
              <a:gd name="connsiteX6" fmla="*/ 80010 w 184513"/>
              <a:gd name="connsiteY6" fmla="*/ 184513 h 184513"/>
              <a:gd name="connsiteX7" fmla="*/ 104503 w 184513"/>
              <a:gd name="connsiteY7" fmla="*/ 184513 h 184513"/>
              <a:gd name="connsiteX8" fmla="*/ 104503 w 184513"/>
              <a:gd name="connsiteY8" fmla="*/ 104503 h 184513"/>
              <a:gd name="connsiteX9" fmla="*/ 184513 w 184513"/>
              <a:gd name="connsiteY9" fmla="*/ 104503 h 184513"/>
              <a:gd name="connsiteX10" fmla="*/ 184513 w 184513"/>
              <a:gd name="connsiteY10" fmla="*/ 80010 h 184513"/>
              <a:gd name="connsiteX11" fmla="*/ 104503 w 184513"/>
              <a:gd name="connsiteY11" fmla="*/ 80010 h 184513"/>
            </a:gdLst>
            <a:rect l="l" t="t" r="r" b="b"/>
            <a:pathLst>
              <a:path w="184513" h="184513">
                <a:moveTo>
                  <a:pt x="104503" y="0"/>
                </a:moveTo>
                <a:lnTo>
                  <a:pt x="80010" y="0"/>
                </a:lnTo>
                <a:lnTo>
                  <a:pt x="80010" y="80010"/>
                </a:lnTo>
                <a:lnTo>
                  <a:pt x="0" y="80010"/>
                </a:lnTo>
                <a:lnTo>
                  <a:pt x="0" y="104503"/>
                </a:lnTo>
                <a:lnTo>
                  <a:pt x="80010" y="104503"/>
                </a:lnTo>
                <a:lnTo>
                  <a:pt x="80010" y="184513"/>
                </a:lnTo>
                <a:lnTo>
                  <a:pt x="104503" y="184513"/>
                </a:lnTo>
                <a:lnTo>
                  <a:pt x="104503" y="104503"/>
                </a:lnTo>
                <a:lnTo>
                  <a:pt x="184513" y="104503"/>
                </a:lnTo>
                <a:lnTo>
                  <a:pt x="184513" y="80010"/>
                </a:lnTo>
                <a:lnTo>
                  <a:pt x="104503" y="80010"/>
                </a:lnTo>
                <a:close/>
              </a:path>
            </a:pathLst>
          </a:custGeom>
          <a:solidFill>
            <a:schemeClr val="accent2"/>
          </a:solidFill>
          <a:ln w="1632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1" flipV="0">
            <a:off x="788366" y="2115629"/>
            <a:ext cx="101867" cy="101867"/>
          </a:xfrm>
          <a:custGeom>
            <a:avLst/>
            <a:gdLst>
              <a:gd name="connsiteX0" fmla="*/ 104503 w 184513"/>
              <a:gd name="connsiteY0" fmla="*/ 0 h 184513"/>
              <a:gd name="connsiteX1" fmla="*/ 80010 w 184513"/>
              <a:gd name="connsiteY1" fmla="*/ 0 h 184513"/>
              <a:gd name="connsiteX2" fmla="*/ 80010 w 184513"/>
              <a:gd name="connsiteY2" fmla="*/ 80010 h 184513"/>
              <a:gd name="connsiteX3" fmla="*/ 0 w 184513"/>
              <a:gd name="connsiteY3" fmla="*/ 80010 h 184513"/>
              <a:gd name="connsiteX4" fmla="*/ 0 w 184513"/>
              <a:gd name="connsiteY4" fmla="*/ 104503 h 184513"/>
              <a:gd name="connsiteX5" fmla="*/ 80010 w 184513"/>
              <a:gd name="connsiteY5" fmla="*/ 104503 h 184513"/>
              <a:gd name="connsiteX6" fmla="*/ 80010 w 184513"/>
              <a:gd name="connsiteY6" fmla="*/ 184513 h 184513"/>
              <a:gd name="connsiteX7" fmla="*/ 104503 w 184513"/>
              <a:gd name="connsiteY7" fmla="*/ 184513 h 184513"/>
              <a:gd name="connsiteX8" fmla="*/ 104503 w 184513"/>
              <a:gd name="connsiteY8" fmla="*/ 104503 h 184513"/>
              <a:gd name="connsiteX9" fmla="*/ 184513 w 184513"/>
              <a:gd name="connsiteY9" fmla="*/ 104503 h 184513"/>
              <a:gd name="connsiteX10" fmla="*/ 184513 w 184513"/>
              <a:gd name="connsiteY10" fmla="*/ 80010 h 184513"/>
              <a:gd name="connsiteX11" fmla="*/ 104503 w 184513"/>
              <a:gd name="connsiteY11" fmla="*/ 80010 h 184513"/>
            </a:gdLst>
            <a:rect l="l" t="t" r="r" b="b"/>
            <a:pathLst>
              <a:path w="184513" h="184513">
                <a:moveTo>
                  <a:pt x="104503" y="0"/>
                </a:moveTo>
                <a:lnTo>
                  <a:pt x="80010" y="0"/>
                </a:lnTo>
                <a:lnTo>
                  <a:pt x="80010" y="80010"/>
                </a:lnTo>
                <a:lnTo>
                  <a:pt x="0" y="80010"/>
                </a:lnTo>
                <a:lnTo>
                  <a:pt x="0" y="104503"/>
                </a:lnTo>
                <a:lnTo>
                  <a:pt x="80010" y="104503"/>
                </a:lnTo>
                <a:lnTo>
                  <a:pt x="80010" y="184513"/>
                </a:lnTo>
                <a:lnTo>
                  <a:pt x="104503" y="184513"/>
                </a:lnTo>
                <a:lnTo>
                  <a:pt x="104503" y="104503"/>
                </a:lnTo>
                <a:lnTo>
                  <a:pt x="184513" y="104503"/>
                </a:lnTo>
                <a:lnTo>
                  <a:pt x="184513" y="80010"/>
                </a:lnTo>
                <a:lnTo>
                  <a:pt x="104503" y="80010"/>
                </a:lnTo>
                <a:close/>
              </a:path>
            </a:pathLst>
          </a:custGeom>
          <a:solidFill>
            <a:schemeClr val="accent1"/>
          </a:solidFill>
          <a:ln w="1632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920186" y="1480632"/>
            <a:ext cx="1179586" cy="14394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3949EE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08</a:t>
            </a:r>
            <a:endParaRPr kumimoji="1" lang="zh-CN" altLang="en-US"/>
          </a:p>
        </p:txBody>
      </p:sp>
      <p:cxnSp>
        <p:nvCxnSpPr>
          <p:cNvPr id="16" name="标题 1"/>
          <p:cNvCxnSpPr/>
          <p:nvPr/>
        </p:nvCxnSpPr>
        <p:spPr>
          <a:xfrm rot="0" flipH="0" flipV="0">
            <a:off x="1929538" y="2580053"/>
            <a:ext cx="672826" cy="0"/>
          </a:xfrm>
          <a:prstGeom prst="line">
            <a:avLst/>
          </a:prstGeom>
          <a:noFill/>
          <a:ln w="12700" cap="sq">
            <a:solidFill>
              <a:schemeClr val="accent2">
                <a:alpha val="50000"/>
              </a:schemeClr>
            </a:solidFill>
            <a:prstDash val="dash"/>
            <a:miter/>
          </a:ln>
        </p:spPr>
      </p:cxnSp>
      <p:sp>
        <p:nvSpPr>
          <p:cNvPr id="17" name="标题 1"/>
          <p:cNvSpPr txBox="1"/>
          <p:nvPr/>
        </p:nvSpPr>
        <p:spPr>
          <a:xfrm rot="0" flipH="0" flipV="0">
            <a:off x="9540239" y="241508"/>
            <a:ext cx="2230733" cy="29733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2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5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0" flipH="0" flipV="0">
            <a:off x="11386534" y="325289"/>
            <a:ext cx="129755" cy="129774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0" flipV="0">
            <a:off x="9743840" y="254366"/>
            <a:ext cx="1542030" cy="24622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PowerPoint design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0" flipH="0" flipV="0">
            <a:off x="920186" y="3027823"/>
            <a:ext cx="4583574" cy="15354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3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幻灯片 8：营销策划</a:t>
            </a: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rot="0" flipH="0" flipV="0">
            <a:off x="5319247" y="4306073"/>
            <a:ext cx="184513" cy="184513"/>
          </a:xfrm>
          <a:custGeom>
            <a:avLst/>
            <a:gdLst>
              <a:gd name="connsiteX0" fmla="*/ 104503 w 184513"/>
              <a:gd name="connsiteY0" fmla="*/ 0 h 184513"/>
              <a:gd name="connsiteX1" fmla="*/ 80010 w 184513"/>
              <a:gd name="connsiteY1" fmla="*/ 0 h 184513"/>
              <a:gd name="connsiteX2" fmla="*/ 80010 w 184513"/>
              <a:gd name="connsiteY2" fmla="*/ 80010 h 184513"/>
              <a:gd name="connsiteX3" fmla="*/ 0 w 184513"/>
              <a:gd name="connsiteY3" fmla="*/ 80010 h 184513"/>
              <a:gd name="connsiteX4" fmla="*/ 0 w 184513"/>
              <a:gd name="connsiteY4" fmla="*/ 104503 h 184513"/>
              <a:gd name="connsiteX5" fmla="*/ 80010 w 184513"/>
              <a:gd name="connsiteY5" fmla="*/ 104503 h 184513"/>
              <a:gd name="connsiteX6" fmla="*/ 80010 w 184513"/>
              <a:gd name="connsiteY6" fmla="*/ 184513 h 184513"/>
              <a:gd name="connsiteX7" fmla="*/ 104503 w 184513"/>
              <a:gd name="connsiteY7" fmla="*/ 184513 h 184513"/>
              <a:gd name="connsiteX8" fmla="*/ 104503 w 184513"/>
              <a:gd name="connsiteY8" fmla="*/ 104503 h 184513"/>
              <a:gd name="connsiteX9" fmla="*/ 184513 w 184513"/>
              <a:gd name="connsiteY9" fmla="*/ 104503 h 184513"/>
              <a:gd name="connsiteX10" fmla="*/ 184513 w 184513"/>
              <a:gd name="connsiteY10" fmla="*/ 80010 h 184513"/>
              <a:gd name="connsiteX11" fmla="*/ 104503 w 184513"/>
              <a:gd name="connsiteY11" fmla="*/ 80010 h 184513"/>
            </a:gdLst>
            <a:rect l="l" t="t" r="r" b="b"/>
            <a:pathLst>
              <a:path w="184513" h="184513">
                <a:moveTo>
                  <a:pt x="104503" y="0"/>
                </a:moveTo>
                <a:lnTo>
                  <a:pt x="80010" y="0"/>
                </a:lnTo>
                <a:lnTo>
                  <a:pt x="80010" y="80010"/>
                </a:lnTo>
                <a:lnTo>
                  <a:pt x="0" y="80010"/>
                </a:lnTo>
                <a:lnTo>
                  <a:pt x="0" y="104503"/>
                </a:lnTo>
                <a:lnTo>
                  <a:pt x="80010" y="104503"/>
                </a:lnTo>
                <a:lnTo>
                  <a:pt x="80010" y="184513"/>
                </a:lnTo>
                <a:lnTo>
                  <a:pt x="104503" y="184513"/>
                </a:lnTo>
                <a:lnTo>
                  <a:pt x="104503" y="104503"/>
                </a:lnTo>
                <a:lnTo>
                  <a:pt x="184513" y="104503"/>
                </a:lnTo>
                <a:lnTo>
                  <a:pt x="184513" y="80010"/>
                </a:lnTo>
                <a:lnTo>
                  <a:pt x="104503" y="80010"/>
                </a:lnTo>
                <a:close/>
              </a:path>
            </a:pathLst>
          </a:custGeom>
          <a:solidFill>
            <a:schemeClr val="accent2"/>
          </a:solidFill>
          <a:ln w="1632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rot="0" flipH="0" flipV="0">
            <a:off x="5263577" y="4503679"/>
            <a:ext cx="101867" cy="101867"/>
          </a:xfrm>
          <a:custGeom>
            <a:avLst/>
            <a:gdLst>
              <a:gd name="connsiteX0" fmla="*/ 104503 w 184513"/>
              <a:gd name="connsiteY0" fmla="*/ 0 h 184513"/>
              <a:gd name="connsiteX1" fmla="*/ 80010 w 184513"/>
              <a:gd name="connsiteY1" fmla="*/ 0 h 184513"/>
              <a:gd name="connsiteX2" fmla="*/ 80010 w 184513"/>
              <a:gd name="connsiteY2" fmla="*/ 80010 h 184513"/>
              <a:gd name="connsiteX3" fmla="*/ 0 w 184513"/>
              <a:gd name="connsiteY3" fmla="*/ 80010 h 184513"/>
              <a:gd name="connsiteX4" fmla="*/ 0 w 184513"/>
              <a:gd name="connsiteY4" fmla="*/ 104503 h 184513"/>
              <a:gd name="connsiteX5" fmla="*/ 80010 w 184513"/>
              <a:gd name="connsiteY5" fmla="*/ 104503 h 184513"/>
              <a:gd name="connsiteX6" fmla="*/ 80010 w 184513"/>
              <a:gd name="connsiteY6" fmla="*/ 184513 h 184513"/>
              <a:gd name="connsiteX7" fmla="*/ 104503 w 184513"/>
              <a:gd name="connsiteY7" fmla="*/ 184513 h 184513"/>
              <a:gd name="connsiteX8" fmla="*/ 104503 w 184513"/>
              <a:gd name="connsiteY8" fmla="*/ 104503 h 184513"/>
              <a:gd name="connsiteX9" fmla="*/ 184513 w 184513"/>
              <a:gd name="connsiteY9" fmla="*/ 104503 h 184513"/>
              <a:gd name="connsiteX10" fmla="*/ 184513 w 184513"/>
              <a:gd name="connsiteY10" fmla="*/ 80010 h 184513"/>
              <a:gd name="connsiteX11" fmla="*/ 104503 w 184513"/>
              <a:gd name="connsiteY11" fmla="*/ 80010 h 184513"/>
            </a:gdLst>
            <a:rect l="l" t="t" r="r" b="b"/>
            <a:pathLst>
              <a:path w="184513" h="184513">
                <a:moveTo>
                  <a:pt x="104503" y="0"/>
                </a:moveTo>
                <a:lnTo>
                  <a:pt x="80010" y="0"/>
                </a:lnTo>
                <a:lnTo>
                  <a:pt x="80010" y="80010"/>
                </a:lnTo>
                <a:lnTo>
                  <a:pt x="0" y="80010"/>
                </a:lnTo>
                <a:lnTo>
                  <a:pt x="0" y="104503"/>
                </a:lnTo>
                <a:lnTo>
                  <a:pt x="80010" y="104503"/>
                </a:lnTo>
                <a:lnTo>
                  <a:pt x="80010" y="184513"/>
                </a:lnTo>
                <a:lnTo>
                  <a:pt x="104503" y="184513"/>
                </a:lnTo>
                <a:lnTo>
                  <a:pt x="104503" y="104503"/>
                </a:lnTo>
                <a:lnTo>
                  <a:pt x="184513" y="104503"/>
                </a:lnTo>
                <a:lnTo>
                  <a:pt x="184513" y="80010"/>
                </a:lnTo>
                <a:lnTo>
                  <a:pt x="104503" y="80010"/>
                </a:lnTo>
                <a:close/>
              </a:path>
            </a:pathLst>
          </a:custGeom>
          <a:solidFill>
            <a:schemeClr val="accent1"/>
          </a:solidFill>
          <a:ln w="1632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 rot="21239739" flipH="0" flipV="0">
            <a:off x="340012" y="3241517"/>
            <a:ext cx="5890453" cy="381346"/>
          </a:xfrm>
          <a:prstGeom prst="ellipse">
            <a:avLst/>
          </a:prstGeom>
          <a:noFill/>
          <a:ln w="25400" cap="flat">
            <a:gradFill>
              <a:gsLst>
                <a:gs pos="20000">
                  <a:schemeClr val="accent2">
                    <a:alpha val="0"/>
                  </a:schemeClr>
                </a:gs>
                <a:gs pos="70000">
                  <a:schemeClr val="accent2">
                    <a:alpha val="80000"/>
                  </a:schemeClr>
                </a:gs>
                <a:gs pos="90000">
                  <a:schemeClr val="accent2"/>
                </a:gs>
              </a:gsLst>
              <a:lin ang="5400000" scaled="0"/>
            </a:gradFill>
            <a:miter/>
          </a:ln>
          <a:effectLst/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1245887" y="2030458"/>
            <a:ext cx="4561408" cy="3363696"/>
          </a:xfrm>
          <a:prstGeom prst="roundRect">
            <a:avLst>
              <a:gd name="adj" fmla="val 5972"/>
            </a:avLst>
          </a:prstGeom>
          <a:solidFill>
            <a:schemeClr val="bg1"/>
          </a:solidFill>
          <a:ln w="12700" cap="sq">
            <a:noFill/>
            <a:miter/>
          </a:ln>
          <a:effectLst>
            <a:outerShdw dist="0" blurRad="508000" dir="0" sx="101000" sy="101000" kx="0" ky="0" algn="ctr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5067152" y="2030458"/>
            <a:ext cx="420436" cy="587985"/>
          </a:xfrm>
          <a:custGeom>
            <a:avLst/>
            <a:gdLst>
              <a:gd name="connsiteX0" fmla="*/ 0 w 504000"/>
              <a:gd name="connsiteY0" fmla="*/ 0 h 704850"/>
              <a:gd name="connsiteX1" fmla="*/ 504000 w 504000"/>
              <a:gd name="connsiteY1" fmla="*/ 0 h 704850"/>
              <a:gd name="connsiteX2" fmla="*/ 504000 w 504000"/>
              <a:gd name="connsiteY2" fmla="*/ 704850 h 704850"/>
              <a:gd name="connsiteX3" fmla="*/ 252000 w 504000"/>
              <a:gd name="connsiteY3" fmla="*/ 481488 h 704850"/>
              <a:gd name="connsiteX4" fmla="*/ 0 w 504000"/>
              <a:gd name="connsiteY4" fmla="*/ 704850 h 704850"/>
              <a:gd name="connsiteX5" fmla="*/ 0 w 504000"/>
              <a:gd name="connsiteY5" fmla="*/ 0 h 704850"/>
            </a:gdLst>
            <a:rect l="l" t="t" r="r" b="b"/>
            <a:pathLst>
              <a:path w="504000" h="704850">
                <a:moveTo>
                  <a:pt x="0" y="0"/>
                </a:moveTo>
                <a:lnTo>
                  <a:pt x="504000" y="0"/>
                </a:lnTo>
                <a:lnTo>
                  <a:pt x="504000" y="704850"/>
                </a:lnTo>
                <a:lnTo>
                  <a:pt x="252000" y="481488"/>
                </a:lnTo>
                <a:lnTo>
                  <a:pt x="0" y="7048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2396396" y="3136941"/>
            <a:ext cx="2914214" cy="163284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93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Subtopic 1：AI 芯颐养院定位为高端、智能养老服务提供商，主要面向中高收入家庭的老年人，特别是对养老品质和智能化服务有较高要求的客户群体。
Subtopic 2：目标市场包括本地及周边城市的老年人及其家属，通过精准市场定位，满足特定客户群体需求，树立高端品牌形象。
Subtopic 3：结合市场调研数据，分析目标市场客户特征和需求偏好，为营销策略制定提供依据。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2396396" y="2333625"/>
            <a:ext cx="2914214" cy="69898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B0F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目标市场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660400" y="1577551"/>
            <a:ext cx="795967" cy="4269511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660400" y="1577551"/>
            <a:ext cx="273054" cy="426951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1063659" y="1577551"/>
            <a:ext cx="190951" cy="426951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978922" y="3162943"/>
            <a:ext cx="1098727" cy="1098727"/>
          </a:xfrm>
          <a:prstGeom prst="ellipse">
            <a:avLst/>
          </a:prstGeom>
          <a:solidFill>
            <a:schemeClr val="bg1"/>
          </a:solidFill>
          <a:ln w="25400" cap="sq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alpha val="96000"/>
                  </a:schemeClr>
                </a:gs>
              </a:gsLst>
              <a:lin ang="2700000" scaled="0"/>
            </a:gradFill>
            <a:miter/>
          </a:ln>
          <a:effectLst>
            <a:outerShdw dist="38100" blurRad="127000" dir="2700000" sx="100000" sy="100000" kx="0" ky="0" algn="tl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1295638" y="3501385"/>
            <a:ext cx="465294" cy="421842"/>
          </a:xfrm>
          <a:custGeom>
            <a:avLst/>
            <a:gdLst>
              <a:gd name="connsiteX0" fmla="*/ 351048 w 1543905"/>
              <a:gd name="connsiteY0" fmla="*/ 523317 h 1399728"/>
              <a:gd name="connsiteX1" fmla="*/ 351048 w 1543905"/>
              <a:gd name="connsiteY1" fmla="*/ 523317 h 1399728"/>
              <a:gd name="connsiteX2" fmla="*/ 351420 w 1543905"/>
              <a:gd name="connsiteY2" fmla="*/ 523503 h 1399728"/>
              <a:gd name="connsiteX3" fmla="*/ 351420 w 1543905"/>
              <a:gd name="connsiteY3" fmla="*/ 1020031 h 1399728"/>
              <a:gd name="connsiteX4" fmla="*/ 351048 w 1543905"/>
              <a:gd name="connsiteY4" fmla="*/ 1020403 h 1399728"/>
              <a:gd name="connsiteX5" fmla="*/ 163525 w 1543905"/>
              <a:gd name="connsiteY5" fmla="*/ 1020403 h 1399728"/>
              <a:gd name="connsiteX6" fmla="*/ 163153 w 1543905"/>
              <a:gd name="connsiteY6" fmla="*/ 1020031 h 1399728"/>
              <a:gd name="connsiteX7" fmla="*/ 163153 w 1543905"/>
              <a:gd name="connsiteY7" fmla="*/ 523503 h 1399728"/>
              <a:gd name="connsiteX8" fmla="*/ 163153 w 1543905"/>
              <a:gd name="connsiteY8" fmla="*/ 523317 h 1399728"/>
              <a:gd name="connsiteX9" fmla="*/ 163339 w 1543905"/>
              <a:gd name="connsiteY9" fmla="*/ 523131 h 1399728"/>
              <a:gd name="connsiteX10" fmla="*/ 351048 w 1543905"/>
              <a:gd name="connsiteY10" fmla="*/ 523131 h 1399728"/>
              <a:gd name="connsiteX11" fmla="*/ 351048 w 1543905"/>
              <a:gd name="connsiteY11" fmla="*/ 411696 h 1399728"/>
              <a:gd name="connsiteX12" fmla="*/ 163339 w 1543905"/>
              <a:gd name="connsiteY12" fmla="*/ 411696 h 1399728"/>
              <a:gd name="connsiteX13" fmla="*/ 51346 w 1543905"/>
              <a:gd name="connsiteY13" fmla="*/ 523689 h 1399728"/>
              <a:gd name="connsiteX14" fmla="*/ 51346 w 1543905"/>
              <a:gd name="connsiteY14" fmla="*/ 1020217 h 1399728"/>
              <a:gd name="connsiteX15" fmla="*/ 163339 w 1543905"/>
              <a:gd name="connsiteY15" fmla="*/ 1132210 h 1399728"/>
              <a:gd name="connsiteX16" fmla="*/ 351048 w 1543905"/>
              <a:gd name="connsiteY16" fmla="*/ 1132210 h 1399728"/>
              <a:gd name="connsiteX17" fmla="*/ 463042 w 1543905"/>
              <a:gd name="connsiteY17" fmla="*/ 1020217 h 1399728"/>
              <a:gd name="connsiteX18" fmla="*/ 463042 w 1543905"/>
              <a:gd name="connsiteY18" fmla="*/ 523503 h 1399728"/>
              <a:gd name="connsiteX19" fmla="*/ 351048 w 1543905"/>
              <a:gd name="connsiteY19" fmla="*/ 411696 h 1399728"/>
              <a:gd name="connsiteX20" fmla="*/ 865808 w 1543905"/>
              <a:gd name="connsiteY20" fmla="*/ 111621 h 1399728"/>
              <a:gd name="connsiteX21" fmla="*/ 866180 w 1543905"/>
              <a:gd name="connsiteY21" fmla="*/ 111807 h 1399728"/>
              <a:gd name="connsiteX22" fmla="*/ 866180 w 1543905"/>
              <a:gd name="connsiteY22" fmla="*/ 1020031 h 1399728"/>
              <a:gd name="connsiteX23" fmla="*/ 865808 w 1543905"/>
              <a:gd name="connsiteY23" fmla="*/ 1020403 h 1399728"/>
              <a:gd name="connsiteX24" fmla="*/ 678284 w 1543905"/>
              <a:gd name="connsiteY24" fmla="*/ 1020403 h 1399728"/>
              <a:gd name="connsiteX25" fmla="*/ 677912 w 1543905"/>
              <a:gd name="connsiteY25" fmla="*/ 1020031 h 1399728"/>
              <a:gd name="connsiteX26" fmla="*/ 677912 w 1543905"/>
              <a:gd name="connsiteY26" fmla="*/ 111993 h 1399728"/>
              <a:gd name="connsiteX27" fmla="*/ 677912 w 1543905"/>
              <a:gd name="connsiteY27" fmla="*/ 111807 h 1399728"/>
              <a:gd name="connsiteX28" fmla="*/ 678098 w 1543905"/>
              <a:gd name="connsiteY28" fmla="*/ 111621 h 1399728"/>
              <a:gd name="connsiteX29" fmla="*/ 865808 w 1543905"/>
              <a:gd name="connsiteY29" fmla="*/ 111621 h 1399728"/>
              <a:gd name="connsiteX30" fmla="*/ 865808 w 1543905"/>
              <a:gd name="connsiteY30" fmla="*/ 0 h 1399728"/>
              <a:gd name="connsiteX31" fmla="*/ 677912 w 1543905"/>
              <a:gd name="connsiteY31" fmla="*/ 0 h 1399728"/>
              <a:gd name="connsiteX32" fmla="*/ 565919 w 1543905"/>
              <a:gd name="connsiteY32" fmla="*/ 111993 h 1399728"/>
              <a:gd name="connsiteX33" fmla="*/ 565919 w 1543905"/>
              <a:gd name="connsiteY33" fmla="*/ 1020217 h 1399728"/>
              <a:gd name="connsiteX34" fmla="*/ 677912 w 1543905"/>
              <a:gd name="connsiteY34" fmla="*/ 1132210 h 1399728"/>
              <a:gd name="connsiteX35" fmla="*/ 865622 w 1543905"/>
              <a:gd name="connsiteY35" fmla="*/ 1132210 h 1399728"/>
              <a:gd name="connsiteX36" fmla="*/ 977615 w 1543905"/>
              <a:gd name="connsiteY36" fmla="*/ 1020217 h 1399728"/>
              <a:gd name="connsiteX37" fmla="*/ 977615 w 1543905"/>
              <a:gd name="connsiteY37" fmla="*/ 111993 h 1399728"/>
              <a:gd name="connsiteX38" fmla="*/ 865808 w 1543905"/>
              <a:gd name="connsiteY38" fmla="*/ 0 h 1399728"/>
              <a:gd name="connsiteX39" fmla="*/ 1380381 w 1543905"/>
              <a:gd name="connsiteY39" fmla="*/ 729072 h 1399728"/>
              <a:gd name="connsiteX40" fmla="*/ 1380753 w 1543905"/>
              <a:gd name="connsiteY40" fmla="*/ 729258 h 1399728"/>
              <a:gd name="connsiteX41" fmla="*/ 1380753 w 1543905"/>
              <a:gd name="connsiteY41" fmla="*/ 1020031 h 1399728"/>
              <a:gd name="connsiteX42" fmla="*/ 1380381 w 1543905"/>
              <a:gd name="connsiteY42" fmla="*/ 1020403 h 1399728"/>
              <a:gd name="connsiteX43" fmla="*/ 1192858 w 1543905"/>
              <a:gd name="connsiteY43" fmla="*/ 1020403 h 1399728"/>
              <a:gd name="connsiteX44" fmla="*/ 1192485 w 1543905"/>
              <a:gd name="connsiteY44" fmla="*/ 1020031 h 1399728"/>
              <a:gd name="connsiteX45" fmla="*/ 1192485 w 1543905"/>
              <a:gd name="connsiteY45" fmla="*/ 729444 h 1399728"/>
              <a:gd name="connsiteX46" fmla="*/ 1192485 w 1543905"/>
              <a:gd name="connsiteY46" fmla="*/ 729258 h 1399728"/>
              <a:gd name="connsiteX47" fmla="*/ 1192671 w 1543905"/>
              <a:gd name="connsiteY47" fmla="*/ 729072 h 1399728"/>
              <a:gd name="connsiteX48" fmla="*/ 1380381 w 1543905"/>
              <a:gd name="connsiteY48" fmla="*/ 729072 h 1399728"/>
              <a:gd name="connsiteX49" fmla="*/ 1380381 w 1543905"/>
              <a:gd name="connsiteY49" fmla="*/ 617451 h 1399728"/>
              <a:gd name="connsiteX50" fmla="*/ 1192671 w 1543905"/>
              <a:gd name="connsiteY50" fmla="*/ 617451 h 1399728"/>
              <a:gd name="connsiteX51" fmla="*/ 1080678 w 1543905"/>
              <a:gd name="connsiteY51" fmla="*/ 729444 h 1399728"/>
              <a:gd name="connsiteX52" fmla="*/ 1080678 w 1543905"/>
              <a:gd name="connsiteY52" fmla="*/ 1020031 h 1399728"/>
              <a:gd name="connsiteX53" fmla="*/ 1192671 w 1543905"/>
              <a:gd name="connsiteY53" fmla="*/ 1132024 h 1399728"/>
              <a:gd name="connsiteX54" fmla="*/ 1380381 w 1543905"/>
              <a:gd name="connsiteY54" fmla="*/ 1132024 h 1399728"/>
              <a:gd name="connsiteX55" fmla="*/ 1492374 w 1543905"/>
              <a:gd name="connsiteY55" fmla="*/ 1020031 h 1399728"/>
              <a:gd name="connsiteX56" fmla="*/ 1492374 w 1543905"/>
              <a:gd name="connsiteY56" fmla="*/ 729444 h 1399728"/>
              <a:gd name="connsiteX57" fmla="*/ 1380381 w 1543905"/>
              <a:gd name="connsiteY57" fmla="*/ 617451 h 1399728"/>
              <a:gd name="connsiteX58" fmla="*/ 1481956 w 1543905"/>
              <a:gd name="connsiteY58" fmla="*/ 1276201 h 1399728"/>
              <a:gd name="connsiteX59" fmla="*/ 61764 w 1543905"/>
              <a:gd name="connsiteY59" fmla="*/ 1276201 h 1399728"/>
              <a:gd name="connsiteX60" fmla="*/ 0 w 1543905"/>
              <a:gd name="connsiteY60" fmla="*/ 1337965 h 1399728"/>
              <a:gd name="connsiteX61" fmla="*/ 61764 w 1543905"/>
              <a:gd name="connsiteY61" fmla="*/ 1399729 h 1399728"/>
              <a:gd name="connsiteX62" fmla="*/ 1482142 w 1543905"/>
              <a:gd name="connsiteY62" fmla="*/ 1399729 h 1399728"/>
              <a:gd name="connsiteX63" fmla="*/ 1543906 w 1543905"/>
              <a:gd name="connsiteY63" fmla="*/ 1337965 h 1399728"/>
              <a:gd name="connsiteX64" fmla="*/ 1481956 w 1543905"/>
              <a:gd name="connsiteY64" fmla="*/ 1276201 h 1399728"/>
            </a:gdLst>
            <a:rect l="l" t="t" r="r" b="b"/>
            <a:pathLst>
              <a:path w="1543905" h="1399728">
                <a:moveTo>
                  <a:pt x="351048" y="523317"/>
                </a:moveTo>
                <a:cubicBezTo>
                  <a:pt x="351234" y="523317"/>
                  <a:pt x="351234" y="523317"/>
                  <a:pt x="351048" y="523317"/>
                </a:cubicBezTo>
                <a:cubicBezTo>
                  <a:pt x="351234" y="523317"/>
                  <a:pt x="351420" y="523503"/>
                  <a:pt x="351420" y="523503"/>
                </a:cubicBezTo>
                <a:lnTo>
                  <a:pt x="351420" y="1020031"/>
                </a:lnTo>
                <a:lnTo>
                  <a:pt x="351048" y="1020403"/>
                </a:lnTo>
                <a:lnTo>
                  <a:pt x="163525" y="1020403"/>
                </a:lnTo>
                <a:lnTo>
                  <a:pt x="163153" y="1020031"/>
                </a:lnTo>
                <a:lnTo>
                  <a:pt x="163153" y="523503"/>
                </a:lnTo>
                <a:lnTo>
                  <a:pt x="163153" y="523317"/>
                </a:lnTo>
                <a:lnTo>
                  <a:pt x="163339" y="523131"/>
                </a:lnTo>
                <a:lnTo>
                  <a:pt x="351048" y="523131"/>
                </a:lnTo>
                <a:moveTo>
                  <a:pt x="351048" y="411696"/>
                </a:moveTo>
                <a:lnTo>
                  <a:pt x="163339" y="411696"/>
                </a:lnTo>
                <a:cubicBezTo>
                  <a:pt x="101575" y="411696"/>
                  <a:pt x="51346" y="461739"/>
                  <a:pt x="51346" y="523689"/>
                </a:cubicBezTo>
                <a:lnTo>
                  <a:pt x="51346" y="1020217"/>
                </a:lnTo>
                <a:cubicBezTo>
                  <a:pt x="51346" y="1081795"/>
                  <a:pt x="101761" y="1132210"/>
                  <a:pt x="163339" y="1132210"/>
                </a:cubicBezTo>
                <a:lnTo>
                  <a:pt x="351048" y="1132210"/>
                </a:lnTo>
                <a:cubicBezTo>
                  <a:pt x="412626" y="1132210"/>
                  <a:pt x="463042" y="1081795"/>
                  <a:pt x="463042" y="1020217"/>
                </a:cubicBezTo>
                <a:lnTo>
                  <a:pt x="463042" y="523503"/>
                </a:lnTo>
                <a:cubicBezTo>
                  <a:pt x="463042" y="461739"/>
                  <a:pt x="412998" y="411696"/>
                  <a:pt x="351048" y="411696"/>
                </a:cubicBezTo>
                <a:close/>
                <a:moveTo>
                  <a:pt x="865808" y="111621"/>
                </a:moveTo>
                <a:cubicBezTo>
                  <a:pt x="865994" y="111621"/>
                  <a:pt x="866180" y="111807"/>
                  <a:pt x="866180" y="111807"/>
                </a:cubicBezTo>
                <a:lnTo>
                  <a:pt x="866180" y="1020031"/>
                </a:lnTo>
                <a:lnTo>
                  <a:pt x="865808" y="1020403"/>
                </a:lnTo>
                <a:lnTo>
                  <a:pt x="678284" y="1020403"/>
                </a:lnTo>
                <a:lnTo>
                  <a:pt x="677912" y="1020031"/>
                </a:lnTo>
                <a:lnTo>
                  <a:pt x="677912" y="111993"/>
                </a:lnTo>
                <a:lnTo>
                  <a:pt x="677912" y="111807"/>
                </a:lnTo>
                <a:lnTo>
                  <a:pt x="678098" y="111621"/>
                </a:lnTo>
                <a:lnTo>
                  <a:pt x="865808" y="111621"/>
                </a:lnTo>
                <a:moveTo>
                  <a:pt x="865808" y="0"/>
                </a:moveTo>
                <a:lnTo>
                  <a:pt x="677912" y="0"/>
                </a:lnTo>
                <a:cubicBezTo>
                  <a:pt x="616148" y="0"/>
                  <a:pt x="565919" y="50043"/>
                  <a:pt x="565919" y="111993"/>
                </a:cubicBezTo>
                <a:lnTo>
                  <a:pt x="565919" y="1020217"/>
                </a:lnTo>
                <a:cubicBezTo>
                  <a:pt x="565919" y="1081795"/>
                  <a:pt x="616335" y="1132210"/>
                  <a:pt x="677912" y="1132210"/>
                </a:cubicBezTo>
                <a:lnTo>
                  <a:pt x="865622" y="1132210"/>
                </a:lnTo>
                <a:cubicBezTo>
                  <a:pt x="927199" y="1132210"/>
                  <a:pt x="977615" y="1081795"/>
                  <a:pt x="977615" y="1020217"/>
                </a:cubicBezTo>
                <a:lnTo>
                  <a:pt x="977615" y="111993"/>
                </a:lnTo>
                <a:cubicBezTo>
                  <a:pt x="977615" y="50043"/>
                  <a:pt x="927571" y="0"/>
                  <a:pt x="865808" y="0"/>
                </a:cubicBezTo>
                <a:close/>
                <a:moveTo>
                  <a:pt x="1380381" y="729072"/>
                </a:moveTo>
                <a:cubicBezTo>
                  <a:pt x="1380567" y="729072"/>
                  <a:pt x="1380753" y="729258"/>
                  <a:pt x="1380753" y="729258"/>
                </a:cubicBezTo>
                <a:lnTo>
                  <a:pt x="1380753" y="1020031"/>
                </a:lnTo>
                <a:lnTo>
                  <a:pt x="1380381" y="1020403"/>
                </a:lnTo>
                <a:lnTo>
                  <a:pt x="1192858" y="1020403"/>
                </a:lnTo>
                <a:lnTo>
                  <a:pt x="1192485" y="1020031"/>
                </a:lnTo>
                <a:lnTo>
                  <a:pt x="1192485" y="729444"/>
                </a:lnTo>
                <a:lnTo>
                  <a:pt x="1192485" y="729258"/>
                </a:lnTo>
                <a:lnTo>
                  <a:pt x="1192671" y="729072"/>
                </a:lnTo>
                <a:lnTo>
                  <a:pt x="1380381" y="729072"/>
                </a:lnTo>
                <a:moveTo>
                  <a:pt x="1380381" y="617451"/>
                </a:moveTo>
                <a:lnTo>
                  <a:pt x="1192671" y="617451"/>
                </a:lnTo>
                <a:cubicBezTo>
                  <a:pt x="1130908" y="617451"/>
                  <a:pt x="1080678" y="667494"/>
                  <a:pt x="1080678" y="729444"/>
                </a:cubicBezTo>
                <a:lnTo>
                  <a:pt x="1080678" y="1020031"/>
                </a:lnTo>
                <a:cubicBezTo>
                  <a:pt x="1080678" y="1081608"/>
                  <a:pt x="1131094" y="1132024"/>
                  <a:pt x="1192671" y="1132024"/>
                </a:cubicBezTo>
                <a:lnTo>
                  <a:pt x="1380381" y="1132024"/>
                </a:lnTo>
                <a:cubicBezTo>
                  <a:pt x="1441959" y="1132024"/>
                  <a:pt x="1492374" y="1081608"/>
                  <a:pt x="1492374" y="1020031"/>
                </a:cubicBezTo>
                <a:lnTo>
                  <a:pt x="1492374" y="729444"/>
                </a:lnTo>
                <a:cubicBezTo>
                  <a:pt x="1492374" y="667680"/>
                  <a:pt x="1442145" y="617451"/>
                  <a:pt x="1380381" y="617451"/>
                </a:cubicBezTo>
                <a:close/>
                <a:moveTo>
                  <a:pt x="1481956" y="1276201"/>
                </a:moveTo>
                <a:lnTo>
                  <a:pt x="61764" y="1276201"/>
                </a:lnTo>
                <a:cubicBezTo>
                  <a:pt x="27719" y="1276201"/>
                  <a:pt x="0" y="1303920"/>
                  <a:pt x="0" y="1337965"/>
                </a:cubicBezTo>
                <a:cubicBezTo>
                  <a:pt x="0" y="1372009"/>
                  <a:pt x="27719" y="1399729"/>
                  <a:pt x="61764" y="1399729"/>
                </a:cubicBezTo>
                <a:lnTo>
                  <a:pt x="1482142" y="1399729"/>
                </a:lnTo>
                <a:cubicBezTo>
                  <a:pt x="1516187" y="1399729"/>
                  <a:pt x="1543906" y="1372009"/>
                  <a:pt x="1543906" y="1337965"/>
                </a:cubicBezTo>
                <a:cubicBezTo>
                  <a:pt x="1543720" y="1303734"/>
                  <a:pt x="1516187" y="1276201"/>
                  <a:pt x="1481956" y="1276201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6959865" y="2030458"/>
            <a:ext cx="4561408" cy="3363696"/>
          </a:xfrm>
          <a:prstGeom prst="roundRect">
            <a:avLst>
              <a:gd name="adj" fmla="val 5972"/>
            </a:avLst>
          </a:prstGeom>
          <a:solidFill>
            <a:schemeClr val="bg1"/>
          </a:solidFill>
          <a:ln w="12700" cap="sq">
            <a:noFill/>
            <a:miter/>
          </a:ln>
          <a:effectLst>
            <a:outerShdw dist="0" blurRad="508000" dir="0" sx="101000" sy="101000" kx="0" ky="0" algn="ctr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10781130" y="2030458"/>
            <a:ext cx="420436" cy="587985"/>
          </a:xfrm>
          <a:custGeom>
            <a:avLst/>
            <a:gdLst>
              <a:gd name="connsiteX0" fmla="*/ 0 w 504000"/>
              <a:gd name="connsiteY0" fmla="*/ 0 h 704850"/>
              <a:gd name="connsiteX1" fmla="*/ 504000 w 504000"/>
              <a:gd name="connsiteY1" fmla="*/ 0 h 704850"/>
              <a:gd name="connsiteX2" fmla="*/ 504000 w 504000"/>
              <a:gd name="connsiteY2" fmla="*/ 704850 h 704850"/>
              <a:gd name="connsiteX3" fmla="*/ 252000 w 504000"/>
              <a:gd name="connsiteY3" fmla="*/ 481488 h 704850"/>
              <a:gd name="connsiteX4" fmla="*/ 0 w 504000"/>
              <a:gd name="connsiteY4" fmla="*/ 704850 h 704850"/>
              <a:gd name="connsiteX5" fmla="*/ 0 w 504000"/>
              <a:gd name="connsiteY5" fmla="*/ 0 h 704850"/>
            </a:gdLst>
            <a:rect l="l" t="t" r="r" b="b"/>
            <a:pathLst>
              <a:path w="504000" h="704850">
                <a:moveTo>
                  <a:pt x="0" y="0"/>
                </a:moveTo>
                <a:lnTo>
                  <a:pt x="504000" y="0"/>
                </a:lnTo>
                <a:lnTo>
                  <a:pt x="504000" y="704850"/>
                </a:lnTo>
                <a:lnTo>
                  <a:pt x="252000" y="481488"/>
                </a:lnTo>
                <a:lnTo>
                  <a:pt x="0" y="7048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8110374" y="3136941"/>
            <a:ext cx="2914214" cy="163284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93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Subtopic 1：根据年龄、健康状况、经济水平、消费观念等因素，将目标客户细分为活力老人、慢性病老人、失能半失能老人等不同群体。
Subtopic 2：针对不同客户群体，制定个性化营销策略和服务方案，提高营销精准度和客户满意度。
Subtopic 3：通过客户细分，精准匹配客户需求，提升客户对 AI 芯颐养院服务的认可度和忠诚度。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8110374" y="2333625"/>
            <a:ext cx="2914214" cy="69898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B0F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客户细分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0" flipV="0">
            <a:off x="6374378" y="1577551"/>
            <a:ext cx="795967" cy="4269511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0" flipH="0" flipV="0">
            <a:off x="6374378" y="1577551"/>
            <a:ext cx="273054" cy="426951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0" flipH="0" flipV="0">
            <a:off x="6777637" y="1577551"/>
            <a:ext cx="190951" cy="426951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0" flipV="0">
            <a:off x="6692900" y="3162943"/>
            <a:ext cx="1098727" cy="1098727"/>
          </a:xfrm>
          <a:prstGeom prst="ellipse">
            <a:avLst/>
          </a:prstGeom>
          <a:solidFill>
            <a:schemeClr val="bg1"/>
          </a:solidFill>
          <a:ln w="25400" cap="sq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alpha val="96000"/>
                  </a:schemeClr>
                </a:gs>
              </a:gsLst>
              <a:lin ang="2700000" scaled="0"/>
            </a:gradFill>
            <a:miter/>
          </a:ln>
          <a:effectLst>
            <a:outerShdw dist="38100" blurRad="127000" dir="2700000" sx="100000" sy="100000" kx="0" ky="0" algn="tl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0" flipH="0" flipV="0">
            <a:off x="7012619" y="3482628"/>
            <a:ext cx="459288" cy="459356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rot="0" flipH="0" flipV="0">
            <a:off x="316690" y="373380"/>
            <a:ext cx="8171180" cy="65532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rot="0" flipH="0" flipV="0">
            <a:off x="783520" y="484345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市场定位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 rot="0" flipH="0" flipV="0">
            <a:off x="324256" y="626624"/>
            <a:ext cx="402076" cy="402076"/>
          </a:xfrm>
          <a:prstGeom prst="rtTriangl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-2342753" y="3199808"/>
            <a:ext cx="7253624" cy="7253624"/>
          </a:xfrm>
          <a:prstGeom prst="ellipse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1938615" y="1349375"/>
            <a:ext cx="3989653" cy="4886326"/>
          </a:xfrm>
          <a:prstGeom prst="roundRect">
            <a:avLst>
              <a:gd name="adj" fmla="val 5972"/>
            </a:avLst>
          </a:prstGeom>
          <a:solidFill>
            <a:schemeClr val="bg1"/>
          </a:solidFill>
          <a:ln w="12700" cap="sq">
            <a:noFill/>
            <a:miter/>
          </a:ln>
          <a:effectLst>
            <a:outerShdw dist="0" blurRad="508000" dir="0" sx="101000" sy="101000" kx="0" ky="0" algn="ctr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2397355" y="4085776"/>
            <a:ext cx="3072173" cy="157654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919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Subtopic 1：制定品牌推广计划，通过线上线下多种渠道进行品牌宣传，提升品牌知名度和美誉度。
Subtopic 2：线上利用社交媒体、养老服务网站、搜索引擎优化等手段，发布品牌信息和宣传视频，吸引潜在客户关注；线下参加养老行业展会、举办社区宣传活动、与老年社团合作等方式，扩大品牌影响力。
Subtopic 3：通过品牌故事和案例展示，突出 AI 芯颐养院智能化、个性化服务特色，增强品牌吸引力和客户认同感。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2397355" y="3303787"/>
            <a:ext cx="3072173" cy="71581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B0F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品牌推广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2113376" y="1478564"/>
            <a:ext cx="426120" cy="426120"/>
          </a:xfrm>
          <a:prstGeom prst="ellipse">
            <a:avLst/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6634441" y="1349375"/>
            <a:ext cx="3618944" cy="4432300"/>
          </a:xfrm>
          <a:prstGeom prst="roundRect">
            <a:avLst>
              <a:gd name="adj" fmla="val 5972"/>
            </a:avLst>
          </a:prstGeom>
          <a:solidFill>
            <a:schemeClr val="bg1"/>
          </a:solidFill>
          <a:ln w="12700" cap="sq">
            <a:noFill/>
            <a:miter/>
          </a:ln>
          <a:effectLst>
            <a:outerShdw dist="0" blurRad="63500" dir="0" sx="101000" sy="101000" kx="0" ky="0" algn="ctr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6907827" y="4047676"/>
            <a:ext cx="3072173" cy="143005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Subtopic 1：建立完善的客户关系管理系统，记录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6907827" y="3332199"/>
            <a:ext cx="3072173" cy="64930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B0F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客户关系管理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6792964" y="1466560"/>
            <a:ext cx="386526" cy="386526"/>
          </a:xfrm>
          <a:prstGeom prst="ellipse">
            <a:avLst/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3051911" y="1583680"/>
            <a:ext cx="1763061" cy="1763059"/>
          </a:xfrm>
          <a:custGeom>
            <a:avLst/>
            <a:gdLst>
              <a:gd name="T0" fmla="*/ 22 w 562"/>
              <a:gd name="T1" fmla="*/ 241 h 525"/>
              <a:gd name="T2" fmla="*/ 241 w 562"/>
              <a:gd name="T3" fmla="*/ 22 h 525"/>
              <a:gd name="T4" fmla="*/ 321 w 562"/>
              <a:gd name="T5" fmla="*/ 22 h 525"/>
              <a:gd name="T6" fmla="*/ 540 w 562"/>
              <a:gd name="T7" fmla="*/ 241 h 525"/>
              <a:gd name="T8" fmla="*/ 540 w 562"/>
              <a:gd name="T9" fmla="*/ 321 h 525"/>
              <a:gd name="T10" fmla="*/ 401 w 562"/>
              <a:gd name="T11" fmla="*/ 459 h 525"/>
              <a:gd name="T12" fmla="*/ 161 w 562"/>
              <a:gd name="T13" fmla="*/ 459 h 525"/>
              <a:gd name="T14" fmla="*/ 22 w 562"/>
              <a:gd name="T15" fmla="*/ 321 h 525"/>
              <a:gd name="T16" fmla="*/ 22 w 562"/>
              <a:gd name="T17" fmla="*/ 241 h 525"/>
            </a:gdLst>
            <a:rect l="0" t="0" r="r" b="b"/>
            <a:pathLst>
              <a:path w="562" h="525">
                <a:moveTo>
                  <a:pt x="22" y="241"/>
                </a:moveTo>
                <a:cubicBezTo>
                  <a:pt x="241" y="22"/>
                  <a:pt x="241" y="22"/>
                  <a:pt x="241" y="22"/>
                </a:cubicBezTo>
                <a:cubicBezTo>
                  <a:pt x="263" y="0"/>
                  <a:pt x="299" y="0"/>
                  <a:pt x="321" y="22"/>
                </a:cubicBezTo>
                <a:cubicBezTo>
                  <a:pt x="540" y="241"/>
                  <a:pt x="540" y="241"/>
                  <a:pt x="540" y="241"/>
                </a:cubicBezTo>
                <a:cubicBezTo>
                  <a:pt x="562" y="263"/>
                  <a:pt x="562" y="299"/>
                  <a:pt x="540" y="321"/>
                </a:cubicBezTo>
                <a:cubicBezTo>
                  <a:pt x="401" y="459"/>
                  <a:pt x="401" y="459"/>
                  <a:pt x="401" y="459"/>
                </a:cubicBezTo>
                <a:cubicBezTo>
                  <a:pt x="335" y="525"/>
                  <a:pt x="227" y="525"/>
                  <a:pt x="161" y="459"/>
                </a:cubicBezTo>
                <a:cubicBezTo>
                  <a:pt x="22" y="321"/>
                  <a:pt x="22" y="321"/>
                  <a:pt x="22" y="321"/>
                </a:cubicBezTo>
                <a:cubicBezTo>
                  <a:pt x="0" y="299"/>
                  <a:pt x="0" y="263"/>
                  <a:pt x="22" y="241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31000">
                <a:schemeClr val="accent1">
                  <a:lumMod val="60000"/>
                  <a:lumOff val="40000"/>
                </a:schemeClr>
              </a:gs>
              <a:gs pos="73000">
                <a:schemeClr val="accent1"/>
              </a:gs>
            </a:gsLst>
            <a:path path="circle">
              <a:fillToRect b="100000" r="100000"/>
            </a:path>
            <a:tileRect t="-100000" l="-100000"/>
          </a:gradFill>
          <a:ln w="12700" cap="sq">
            <a:noFill/>
            <a:miter/>
          </a:ln>
          <a:effectLst>
            <a:outerShdw dist="317500" blurRad="444500" dir="5400000" sx="92000" sy="92000" kx="0" ky="0" algn="t" rotWithShape="0">
              <a:schemeClr val="accent1">
                <a:lumMod val="75000"/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3217150" y="2485882"/>
            <a:ext cx="1432583" cy="71392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b"/>
          <a:lstStyle/>
          <a:p>
            <a:pPr algn="ctr">
              <a:lnSpc>
                <a:spcPct val="110000"/>
              </a:lnSpc>
            </a:pPr>
            <a:r>
              <a:rPr kumimoji="1" lang="en-US" altLang="zh-CN" sz="4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01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3538155" y="2027717"/>
            <a:ext cx="790573" cy="790573"/>
          </a:xfrm>
          <a:custGeom>
            <a:avLst/>
            <a:gdLst>
              <a:gd name="connsiteX0" fmla="*/ 438553 w 720000"/>
              <a:gd name="connsiteY0" fmla="*/ 189601 h 720000"/>
              <a:gd name="connsiteX1" fmla="*/ 373556 w 720000"/>
              <a:gd name="connsiteY1" fmla="*/ 216451 h 720000"/>
              <a:gd name="connsiteX2" fmla="*/ 232180 w 720000"/>
              <a:gd name="connsiteY2" fmla="*/ 357827 h 720000"/>
              <a:gd name="connsiteX3" fmla="*/ 191861 w 720000"/>
              <a:gd name="connsiteY3" fmla="*/ 528226 h 720000"/>
              <a:gd name="connsiteX4" fmla="*/ 362260 w 720000"/>
              <a:gd name="connsiteY4" fmla="*/ 487907 h 720000"/>
              <a:gd name="connsiteX5" fmla="*/ 503636 w 720000"/>
              <a:gd name="connsiteY5" fmla="*/ 346444 h 720000"/>
              <a:gd name="connsiteX6" fmla="*/ 503636 w 720000"/>
              <a:gd name="connsiteY6" fmla="*/ 216365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537524 w 720000"/>
              <a:gd name="connsiteY9" fmla="*/ 182476 h 720000"/>
              <a:gd name="connsiteX10" fmla="*/ 537524 w 720000"/>
              <a:gd name="connsiteY10" fmla="*/ 380420 h 720000"/>
              <a:gd name="connsiteX11" fmla="*/ 396149 w 720000"/>
              <a:gd name="connsiteY11" fmla="*/ 521796 h 720000"/>
              <a:gd name="connsiteX12" fmla="*/ 141637 w 720000"/>
              <a:gd name="connsiteY12" fmla="*/ 578364 h 720000"/>
              <a:gd name="connsiteX13" fmla="*/ 198205 w 720000"/>
              <a:gd name="connsiteY13" fmla="*/ 323852 h 720000"/>
              <a:gd name="connsiteX14" fmla="*/ 339581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47965 h 720000"/>
              <a:gd name="connsiteX17" fmla="*/ 47965 w 720000"/>
              <a:gd name="connsiteY17" fmla="*/ 120000 h 720000"/>
              <a:gd name="connsiteX18" fmla="*/ 47965 w 720000"/>
              <a:gd name="connsiteY18" fmla="*/ 600000 h 720000"/>
              <a:gd name="connsiteX19" fmla="*/ 120000 w 720000"/>
              <a:gd name="connsiteY19" fmla="*/ 672035 h 720000"/>
              <a:gd name="connsiteX20" fmla="*/ 600000 w 720000"/>
              <a:gd name="connsiteY20" fmla="*/ 672035 h 720000"/>
              <a:gd name="connsiteX21" fmla="*/ 672035 w 720000"/>
              <a:gd name="connsiteY21" fmla="*/ 600000 h 720000"/>
              <a:gd name="connsiteX22" fmla="*/ 672035 w 720000"/>
              <a:gd name="connsiteY22" fmla="*/ 120000 h 720000"/>
              <a:gd name="connsiteX23" fmla="*/ 600000 w 720000"/>
              <a:gd name="connsiteY23" fmla="*/ 47965 h 720000"/>
              <a:gd name="connsiteX24" fmla="*/ 120000 w 720000"/>
              <a:gd name="connsiteY24" fmla="*/ 0 h 720000"/>
              <a:gd name="connsiteX25" fmla="*/ 600000 w 720000"/>
              <a:gd name="connsiteY25" fmla="*/ 0 h 720000"/>
              <a:gd name="connsiteX26" fmla="*/ 720000 w 720000"/>
              <a:gd name="connsiteY26" fmla="*/ 120000 h 720000"/>
              <a:gd name="connsiteX27" fmla="*/ 720000 w 720000"/>
              <a:gd name="connsiteY27" fmla="*/ 600000 h 720000"/>
              <a:gd name="connsiteX28" fmla="*/ 600000 w 720000"/>
              <a:gd name="connsiteY28" fmla="*/ 720000 h 720000"/>
              <a:gd name="connsiteX29" fmla="*/ 120000 w 720000"/>
              <a:gd name="connsiteY29" fmla="*/ 720000 h 720000"/>
              <a:gd name="connsiteX30" fmla="*/ 0 w 720000"/>
              <a:gd name="connsiteY30" fmla="*/ 600000 h 720000"/>
              <a:gd name="connsiteX31" fmla="*/ 0 w 720000"/>
              <a:gd name="connsiteY31" fmla="*/ 120000 h 720000"/>
              <a:gd name="connsiteX32" fmla="*/ 120000 w 720000"/>
              <a:gd name="connsiteY32" fmla="*/ 0 h 720000"/>
            </a:gdLst>
            <a:rect l="l" t="t" r="r" b="b"/>
            <a:pathLst>
              <a:path w="720000" h="720000">
                <a:moveTo>
                  <a:pt x="438553" y="189601"/>
                </a:moveTo>
                <a:cubicBezTo>
                  <a:pt x="413875" y="189601"/>
                  <a:pt x="390761" y="199073"/>
                  <a:pt x="373556" y="216451"/>
                </a:cubicBezTo>
                <a:lnTo>
                  <a:pt x="232180" y="357827"/>
                </a:lnTo>
                <a:cubicBezTo>
                  <a:pt x="212456" y="377465"/>
                  <a:pt x="197336" y="453584"/>
                  <a:pt x="191861" y="528226"/>
                </a:cubicBezTo>
                <a:cubicBezTo>
                  <a:pt x="266503" y="522665"/>
                  <a:pt x="342622" y="507545"/>
                  <a:pt x="362260" y="487907"/>
                </a:cubicBezTo>
                <a:lnTo>
                  <a:pt x="503636" y="346444"/>
                </a:lnTo>
                <a:cubicBezTo>
                  <a:pt x="539523" y="310557"/>
                  <a:pt x="539523" y="252252"/>
                  <a:pt x="503636" y="216365"/>
                </a:cubicBezTo>
                <a:cubicBezTo>
                  <a:pt x="486344" y="199073"/>
                  <a:pt x="463230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74440" y="141636"/>
                  <a:pt x="510327" y="155191"/>
                  <a:pt x="537524" y="182476"/>
                </a:cubicBezTo>
                <a:cubicBezTo>
                  <a:pt x="592007" y="236872"/>
                  <a:pt x="592007" y="325938"/>
                  <a:pt x="537524" y="380420"/>
                </a:cubicBezTo>
                <a:lnTo>
                  <a:pt x="396149" y="521796"/>
                </a:lnTo>
                <a:cubicBezTo>
                  <a:pt x="341753" y="576278"/>
                  <a:pt x="141637" y="578364"/>
                  <a:pt x="141637" y="578364"/>
                </a:cubicBezTo>
                <a:cubicBezTo>
                  <a:pt x="141637" y="578364"/>
                  <a:pt x="143723" y="378334"/>
                  <a:pt x="198205" y="323852"/>
                </a:cubicBezTo>
                <a:lnTo>
                  <a:pt x="339581" y="182476"/>
                </a:lnTo>
                <a:cubicBezTo>
                  <a:pt x="366778" y="155278"/>
                  <a:pt x="402666" y="141636"/>
                  <a:pt x="438553" y="141636"/>
                </a:cubicBezTo>
                <a:close/>
                <a:moveTo>
                  <a:pt x="120000" y="47965"/>
                </a:moveTo>
                <a:cubicBezTo>
                  <a:pt x="80290" y="47965"/>
                  <a:pt x="47965" y="80290"/>
                  <a:pt x="47965" y="120000"/>
                </a:cubicBezTo>
                <a:lnTo>
                  <a:pt x="47965" y="600000"/>
                </a:lnTo>
                <a:cubicBezTo>
                  <a:pt x="47965" y="639711"/>
                  <a:pt x="80290" y="672035"/>
                  <a:pt x="120000" y="672035"/>
                </a:cubicBezTo>
                <a:lnTo>
                  <a:pt x="600000" y="672035"/>
                </a:lnTo>
                <a:cubicBezTo>
                  <a:pt x="639711" y="672035"/>
                  <a:pt x="672035" y="639711"/>
                  <a:pt x="672035" y="600000"/>
                </a:cubicBezTo>
                <a:lnTo>
                  <a:pt x="672035" y="120000"/>
                </a:lnTo>
                <a:cubicBezTo>
                  <a:pt x="672035" y="80290"/>
                  <a:pt x="639711" y="47965"/>
                  <a:pt x="600000" y="47965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2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7562383" y="1583680"/>
            <a:ext cx="1763061" cy="1763059"/>
          </a:xfrm>
          <a:custGeom>
            <a:avLst/>
            <a:gdLst>
              <a:gd name="T0" fmla="*/ 22 w 562"/>
              <a:gd name="T1" fmla="*/ 241 h 525"/>
              <a:gd name="T2" fmla="*/ 241 w 562"/>
              <a:gd name="T3" fmla="*/ 22 h 525"/>
              <a:gd name="T4" fmla="*/ 321 w 562"/>
              <a:gd name="T5" fmla="*/ 22 h 525"/>
              <a:gd name="T6" fmla="*/ 540 w 562"/>
              <a:gd name="T7" fmla="*/ 241 h 525"/>
              <a:gd name="T8" fmla="*/ 540 w 562"/>
              <a:gd name="T9" fmla="*/ 321 h 525"/>
              <a:gd name="T10" fmla="*/ 401 w 562"/>
              <a:gd name="T11" fmla="*/ 459 h 525"/>
              <a:gd name="T12" fmla="*/ 161 w 562"/>
              <a:gd name="T13" fmla="*/ 459 h 525"/>
              <a:gd name="T14" fmla="*/ 22 w 562"/>
              <a:gd name="T15" fmla="*/ 321 h 525"/>
              <a:gd name="T16" fmla="*/ 22 w 562"/>
              <a:gd name="T17" fmla="*/ 241 h 525"/>
            </a:gdLst>
            <a:rect l="0" t="0" r="r" b="b"/>
            <a:pathLst>
              <a:path w="562" h="525">
                <a:moveTo>
                  <a:pt x="22" y="241"/>
                </a:moveTo>
                <a:cubicBezTo>
                  <a:pt x="241" y="22"/>
                  <a:pt x="241" y="22"/>
                  <a:pt x="241" y="22"/>
                </a:cubicBezTo>
                <a:cubicBezTo>
                  <a:pt x="263" y="0"/>
                  <a:pt x="299" y="0"/>
                  <a:pt x="321" y="22"/>
                </a:cubicBezTo>
                <a:cubicBezTo>
                  <a:pt x="540" y="241"/>
                  <a:pt x="540" y="241"/>
                  <a:pt x="540" y="241"/>
                </a:cubicBezTo>
                <a:cubicBezTo>
                  <a:pt x="562" y="263"/>
                  <a:pt x="562" y="299"/>
                  <a:pt x="540" y="321"/>
                </a:cubicBezTo>
                <a:cubicBezTo>
                  <a:pt x="401" y="459"/>
                  <a:pt x="401" y="459"/>
                  <a:pt x="401" y="459"/>
                </a:cubicBezTo>
                <a:cubicBezTo>
                  <a:pt x="335" y="525"/>
                  <a:pt x="227" y="525"/>
                  <a:pt x="161" y="459"/>
                </a:cubicBezTo>
                <a:cubicBezTo>
                  <a:pt x="22" y="321"/>
                  <a:pt x="22" y="321"/>
                  <a:pt x="22" y="321"/>
                </a:cubicBezTo>
                <a:cubicBezTo>
                  <a:pt x="0" y="299"/>
                  <a:pt x="0" y="263"/>
                  <a:pt x="22" y="241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31000">
                <a:schemeClr val="accent1">
                  <a:lumMod val="60000"/>
                  <a:lumOff val="40000"/>
                </a:schemeClr>
              </a:gs>
              <a:gs pos="73000">
                <a:schemeClr val="accent1"/>
              </a:gs>
            </a:gsLst>
            <a:path path="circle">
              <a:fillToRect b="100000" r="100000"/>
            </a:path>
            <a:tileRect t="-100000" l="-100000"/>
          </a:gradFill>
          <a:ln w="12700" cap="sq">
            <a:noFill/>
            <a:miter/>
          </a:ln>
          <a:effectLst>
            <a:outerShdw dist="317500" blurRad="444500" dir="5400000" sx="92000" sy="92000" kx="0" ky="0" algn="t" rotWithShape="0">
              <a:schemeClr val="accent1">
                <a:lumMod val="75000"/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0" flipV="0">
            <a:off x="7727623" y="2485882"/>
            <a:ext cx="1432583" cy="71392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b"/>
          <a:lstStyle/>
          <a:p>
            <a:pPr algn="ctr">
              <a:lnSpc>
                <a:spcPct val="110000"/>
              </a:lnSpc>
            </a:pPr>
            <a:r>
              <a:rPr kumimoji="1" lang="en-US" altLang="zh-CN" sz="4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02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0" flipH="0" flipV="0">
            <a:off x="7994498" y="2038451"/>
            <a:ext cx="898830" cy="786914"/>
          </a:xfrm>
          <a:custGeom>
            <a:avLst/>
            <a:gdLst>
              <a:gd name="connsiteX0" fmla="*/ 411292 w 822400"/>
              <a:gd name="connsiteY0" fmla="*/ 234366 h 720000"/>
              <a:gd name="connsiteX1" fmla="*/ 285658 w 822400"/>
              <a:gd name="connsiteY1" fmla="*/ 360000 h 720000"/>
              <a:gd name="connsiteX2" fmla="*/ 411292 w 822400"/>
              <a:gd name="connsiteY2" fmla="*/ 485635 h 720000"/>
              <a:gd name="connsiteX3" fmla="*/ 536927 w 822400"/>
              <a:gd name="connsiteY3" fmla="*/ 360000 h 720000"/>
              <a:gd name="connsiteX4" fmla="*/ 411292 w 822400"/>
              <a:gd name="connsiteY4" fmla="*/ 234366 h 720000"/>
              <a:gd name="connsiteX5" fmla="*/ 411292 w 822400"/>
              <a:gd name="connsiteY5" fmla="*/ 178938 h 720000"/>
              <a:gd name="connsiteX6" fmla="*/ 592354 w 822400"/>
              <a:gd name="connsiteY6" fmla="*/ 360000 h 720000"/>
              <a:gd name="connsiteX7" fmla="*/ 411292 w 822400"/>
              <a:gd name="connsiteY7" fmla="*/ 541063 h 720000"/>
              <a:gd name="connsiteX8" fmla="*/ 230230 w 822400"/>
              <a:gd name="connsiteY8" fmla="*/ 360000 h 720000"/>
              <a:gd name="connsiteX9" fmla="*/ 411292 w 822400"/>
              <a:gd name="connsiteY9" fmla="*/ 178938 h 720000"/>
              <a:gd name="connsiteX10" fmla="*/ 235403 w 822400"/>
              <a:gd name="connsiteY10" fmla="*/ 55427 h 720000"/>
              <a:gd name="connsiteX11" fmla="*/ 59514 w 822400"/>
              <a:gd name="connsiteY11" fmla="*/ 360000 h 720000"/>
              <a:gd name="connsiteX12" fmla="*/ 235403 w 822400"/>
              <a:gd name="connsiteY12" fmla="*/ 664573 h 720000"/>
              <a:gd name="connsiteX13" fmla="*/ 587089 w 822400"/>
              <a:gd name="connsiteY13" fmla="*/ 664573 h 720000"/>
              <a:gd name="connsiteX14" fmla="*/ 762978 w 822400"/>
              <a:gd name="connsiteY14" fmla="*/ 360000 h 720000"/>
              <a:gd name="connsiteX15" fmla="*/ 587089 w 822400"/>
              <a:gd name="connsiteY15" fmla="*/ 55427 h 720000"/>
              <a:gd name="connsiteX16" fmla="*/ 219883 w 822400"/>
              <a:gd name="connsiteY16" fmla="*/ 0 h 720000"/>
              <a:gd name="connsiteX17" fmla="*/ 602516 w 822400"/>
              <a:gd name="connsiteY17" fmla="*/ 0 h 720000"/>
              <a:gd name="connsiteX18" fmla="*/ 627274 w 822400"/>
              <a:gd name="connsiteY18" fmla="*/ 14319 h 720000"/>
              <a:gd name="connsiteX19" fmla="*/ 818590 w 822400"/>
              <a:gd name="connsiteY19" fmla="*/ 345682 h 720000"/>
              <a:gd name="connsiteX20" fmla="*/ 818590 w 822400"/>
              <a:gd name="connsiteY20" fmla="*/ 374319 h 720000"/>
              <a:gd name="connsiteX21" fmla="*/ 627366 w 822400"/>
              <a:gd name="connsiteY21" fmla="*/ 705682 h 720000"/>
              <a:gd name="connsiteX22" fmla="*/ 602608 w 822400"/>
              <a:gd name="connsiteY22" fmla="*/ 720000 h 720000"/>
              <a:gd name="connsiteX23" fmla="*/ 219976 w 822400"/>
              <a:gd name="connsiteY23" fmla="*/ 720000 h 720000"/>
              <a:gd name="connsiteX24" fmla="*/ 195218 w 822400"/>
              <a:gd name="connsiteY24" fmla="*/ 705682 h 720000"/>
              <a:gd name="connsiteX25" fmla="*/ 3810 w 822400"/>
              <a:gd name="connsiteY25" fmla="*/ 374319 h 720000"/>
              <a:gd name="connsiteX26" fmla="*/ 3810 w 822400"/>
              <a:gd name="connsiteY26" fmla="*/ 345682 h 720000"/>
              <a:gd name="connsiteX27" fmla="*/ 195126 w 822400"/>
              <a:gd name="connsiteY27" fmla="*/ 14319 h 720000"/>
              <a:gd name="connsiteX28" fmla="*/ 219883 w 822400"/>
              <a:gd name="connsiteY28" fmla="*/ 0 h 720000"/>
            </a:gdLst>
            <a:rect l="l" t="t" r="r" b="b"/>
            <a:pathLst>
              <a:path w="822400" h="720000">
                <a:moveTo>
                  <a:pt x="411292" y="234366"/>
                </a:moveTo>
                <a:cubicBezTo>
                  <a:pt x="342008" y="234366"/>
                  <a:pt x="285658" y="290716"/>
                  <a:pt x="285658" y="360000"/>
                </a:cubicBezTo>
                <a:cubicBezTo>
                  <a:pt x="285658" y="429284"/>
                  <a:pt x="342008" y="485635"/>
                  <a:pt x="411292" y="485635"/>
                </a:cubicBezTo>
                <a:cubicBezTo>
                  <a:pt x="480576" y="485635"/>
                  <a:pt x="536927" y="429284"/>
                  <a:pt x="536927" y="360000"/>
                </a:cubicBezTo>
                <a:cubicBezTo>
                  <a:pt x="536927" y="290716"/>
                  <a:pt x="480576" y="234366"/>
                  <a:pt x="411292" y="234366"/>
                </a:cubicBezTo>
                <a:close/>
                <a:moveTo>
                  <a:pt x="411292" y="178938"/>
                </a:moveTo>
                <a:cubicBezTo>
                  <a:pt x="511153" y="178938"/>
                  <a:pt x="592354" y="260139"/>
                  <a:pt x="592354" y="360000"/>
                </a:cubicBezTo>
                <a:cubicBezTo>
                  <a:pt x="592354" y="459861"/>
                  <a:pt x="511153" y="541063"/>
                  <a:pt x="411292" y="541063"/>
                </a:cubicBezTo>
                <a:cubicBezTo>
                  <a:pt x="311431" y="541063"/>
                  <a:pt x="230230" y="459861"/>
                  <a:pt x="230230" y="360000"/>
                </a:cubicBezTo>
                <a:cubicBezTo>
                  <a:pt x="230230" y="260139"/>
                  <a:pt x="311431" y="178938"/>
                  <a:pt x="411292" y="178938"/>
                </a:cubicBezTo>
                <a:close/>
                <a:moveTo>
                  <a:pt x="235403" y="55427"/>
                </a:moveTo>
                <a:lnTo>
                  <a:pt x="59514" y="360000"/>
                </a:lnTo>
                <a:lnTo>
                  <a:pt x="235403" y="664573"/>
                </a:lnTo>
                <a:lnTo>
                  <a:pt x="587089" y="664573"/>
                </a:lnTo>
                <a:lnTo>
                  <a:pt x="762978" y="360000"/>
                </a:lnTo>
                <a:lnTo>
                  <a:pt x="587089" y="55427"/>
                </a:lnTo>
                <a:close/>
                <a:moveTo>
                  <a:pt x="219883" y="0"/>
                </a:moveTo>
                <a:lnTo>
                  <a:pt x="602516" y="0"/>
                </a:lnTo>
                <a:cubicBezTo>
                  <a:pt x="612678" y="0"/>
                  <a:pt x="622193" y="5450"/>
                  <a:pt x="627274" y="14319"/>
                </a:cubicBezTo>
                <a:lnTo>
                  <a:pt x="818590" y="345682"/>
                </a:lnTo>
                <a:cubicBezTo>
                  <a:pt x="823671" y="354550"/>
                  <a:pt x="823671" y="365451"/>
                  <a:pt x="818590" y="374319"/>
                </a:cubicBezTo>
                <a:lnTo>
                  <a:pt x="627366" y="705682"/>
                </a:lnTo>
                <a:cubicBezTo>
                  <a:pt x="622285" y="714550"/>
                  <a:pt x="612770" y="720000"/>
                  <a:pt x="602608" y="720000"/>
                </a:cubicBezTo>
                <a:lnTo>
                  <a:pt x="219976" y="720000"/>
                </a:lnTo>
                <a:cubicBezTo>
                  <a:pt x="209814" y="720000"/>
                  <a:pt x="200299" y="714550"/>
                  <a:pt x="195218" y="705682"/>
                </a:cubicBezTo>
                <a:lnTo>
                  <a:pt x="3810" y="374319"/>
                </a:lnTo>
                <a:cubicBezTo>
                  <a:pt x="-1271" y="365543"/>
                  <a:pt x="-1271" y="354550"/>
                  <a:pt x="3810" y="345682"/>
                </a:cubicBezTo>
                <a:lnTo>
                  <a:pt x="195126" y="14319"/>
                </a:lnTo>
                <a:cubicBezTo>
                  <a:pt x="200207" y="5450"/>
                  <a:pt x="209721" y="0"/>
                  <a:pt x="219883" y="0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2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0" flipH="0" flipV="0">
            <a:off x="316690" y="373380"/>
            <a:ext cx="8171180" cy="65532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0" flipV="0">
            <a:off x="783520" y="484345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营销战略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0" flipH="0" flipV="0">
            <a:off x="324256" y="626624"/>
            <a:ext cx="402076" cy="402076"/>
          </a:xfrm>
          <a:prstGeom prst="rtTriangl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2">
            <a:alphaModFix amt="100000"/>
          </a:blip>
          <a:srcRect l="2858" t="11915" r="21252" b="11915"/>
          <a:stretch>
            <a:fillRect/>
          </a:stretch>
        </p:blipFill>
        <p:spPr>
          <a:xfrm rot="0" flipH="0" flipV="0"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" name="标题 1"/>
          <p:cNvSpPr txBox="1"/>
          <p:nvPr/>
        </p:nvSpPr>
        <p:spPr>
          <a:xfrm rot="0" flipH="0" flipV="0">
            <a:off x="-1" y="0"/>
            <a:ext cx="10883569" cy="6858000"/>
          </a:xfrm>
          <a:prstGeom prst="rect">
            <a:avLst/>
          </a:prstGeom>
          <a:gradFill>
            <a:gsLst>
              <a:gs pos="12000">
                <a:schemeClr val="bg1"/>
              </a:gs>
              <a:gs pos="80000">
                <a:schemeClr val="bg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715534" y="1758671"/>
            <a:ext cx="3111944" cy="11079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7200">
                <a:ln w="12700">
                  <a:noFill/>
                </a:ln>
                <a:gradFill>
                  <a:gsLst>
                    <a:gs pos="0">
                      <a:srgbClr val="8892F5">
                        <a:alpha val="100000"/>
                      </a:srgbClr>
                    </a:gs>
                    <a:gs pos="83000">
                      <a:srgbClr val="D7DBFC">
                        <a:alpha val="0"/>
                      </a:srgbClr>
                    </a:gs>
                  </a:gsLst>
                  <a:lin ang="5400000" scaled="0"/>
                </a:gradFill>
                <a:latin typeface="Source Han Sans CN Regular"/>
                <a:ea typeface="Source Han Sans CN Regular"/>
                <a:cs typeface="Source Han Sans CN Regular"/>
              </a:rPr>
              <a:t>202X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729192" y="4492517"/>
            <a:ext cx="1480608" cy="18466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50000"/>
                  </a:srgbClr>
                </a:solidFill>
                <a:latin typeface="Source Han Sans"/>
                <a:ea typeface="Source Han Sans"/>
                <a:cs typeface="Source Han Sans"/>
              </a:rPr>
              <a:t>Powerpoint design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722660" y="2829991"/>
            <a:ext cx="5190460" cy="162322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谢谢大家</a:t>
            </a:r>
            <a:endParaRPr kumimoji="1" lang="zh-CN" altLang="en-US"/>
          </a:p>
        </p:txBody>
      </p:sp>
      <p:cxnSp>
        <p:nvCxnSpPr>
          <p:cNvPr id="7" name="标题 1"/>
          <p:cNvCxnSpPr/>
          <p:nvPr/>
        </p:nvCxnSpPr>
        <p:spPr>
          <a:xfrm rot="0" flipH="0" flipV="0">
            <a:off x="2244090" y="4584850"/>
            <a:ext cx="3736822" cy="0"/>
          </a:xfrm>
          <a:prstGeom prst="line">
            <a:avLst/>
          </a:prstGeom>
          <a:noFill/>
          <a:ln w="6350" cap="sq">
            <a:solidFill>
              <a:schemeClr val="bg1">
                <a:lumMod val="75000"/>
              </a:schemeClr>
            </a:solidFill>
            <a:prstDash val="dash"/>
            <a:miter/>
          </a:ln>
        </p:spPr>
      </p:cxnSp>
      <p:sp>
        <p:nvSpPr>
          <p:cNvPr id="8" name="标题 1"/>
          <p:cNvSpPr txBox="1"/>
          <p:nvPr/>
        </p:nvSpPr>
        <p:spPr>
          <a:xfrm rot="0" flipH="0" flipV="0">
            <a:off x="699509" y="4810848"/>
            <a:ext cx="3331700" cy="378674"/>
          </a:xfrm>
          <a:prstGeom prst="roundRect">
            <a:avLst/>
          </a:prstGeom>
          <a:solidFill>
            <a:schemeClr val="accent1"/>
          </a:solidFill>
          <a:ln w="7620" cap="flat">
            <a:solidFill>
              <a:srgbClr val="FFFFFF">
                <a:alpha val="100000"/>
              </a:srgbClr>
            </a:solidFill>
            <a:miter/>
          </a:ln>
          <a:effectLst/>
        </p:spPr>
        <p:txBody>
          <a:bodyPr vert="horz" wrap="square" lIns="73152" tIns="36576" rIns="73152" bIns="36576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21239739" flipH="0" flipV="0">
            <a:off x="390812" y="3305017"/>
            <a:ext cx="5890453" cy="381346"/>
          </a:xfrm>
          <a:prstGeom prst="ellipse">
            <a:avLst/>
          </a:prstGeom>
          <a:noFill/>
          <a:ln w="25400" cap="flat">
            <a:gradFill>
              <a:gsLst>
                <a:gs pos="20000">
                  <a:schemeClr val="accent2">
                    <a:alpha val="0"/>
                  </a:schemeClr>
                </a:gs>
                <a:gs pos="70000">
                  <a:schemeClr val="accent2">
                    <a:alpha val="80000"/>
                  </a:schemeClr>
                </a:gs>
                <a:gs pos="90000">
                  <a:schemeClr val="accent2"/>
                </a:gs>
              </a:gsLst>
              <a:lin ang="5400000" scaled="0"/>
            </a:gradFill>
            <a:miter/>
          </a:ln>
          <a:effectLst/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1" flipV="0">
            <a:off x="354520" y="1365404"/>
            <a:ext cx="184513" cy="184513"/>
          </a:xfrm>
          <a:custGeom>
            <a:avLst/>
            <a:gdLst>
              <a:gd name="connsiteX0" fmla="*/ 104503 w 184513"/>
              <a:gd name="connsiteY0" fmla="*/ 0 h 184513"/>
              <a:gd name="connsiteX1" fmla="*/ 80010 w 184513"/>
              <a:gd name="connsiteY1" fmla="*/ 0 h 184513"/>
              <a:gd name="connsiteX2" fmla="*/ 80010 w 184513"/>
              <a:gd name="connsiteY2" fmla="*/ 80010 h 184513"/>
              <a:gd name="connsiteX3" fmla="*/ 0 w 184513"/>
              <a:gd name="connsiteY3" fmla="*/ 80010 h 184513"/>
              <a:gd name="connsiteX4" fmla="*/ 0 w 184513"/>
              <a:gd name="connsiteY4" fmla="*/ 104503 h 184513"/>
              <a:gd name="connsiteX5" fmla="*/ 80010 w 184513"/>
              <a:gd name="connsiteY5" fmla="*/ 104503 h 184513"/>
              <a:gd name="connsiteX6" fmla="*/ 80010 w 184513"/>
              <a:gd name="connsiteY6" fmla="*/ 184513 h 184513"/>
              <a:gd name="connsiteX7" fmla="*/ 104503 w 184513"/>
              <a:gd name="connsiteY7" fmla="*/ 184513 h 184513"/>
              <a:gd name="connsiteX8" fmla="*/ 104503 w 184513"/>
              <a:gd name="connsiteY8" fmla="*/ 104503 h 184513"/>
              <a:gd name="connsiteX9" fmla="*/ 184513 w 184513"/>
              <a:gd name="connsiteY9" fmla="*/ 104503 h 184513"/>
              <a:gd name="connsiteX10" fmla="*/ 184513 w 184513"/>
              <a:gd name="connsiteY10" fmla="*/ 80010 h 184513"/>
              <a:gd name="connsiteX11" fmla="*/ 104503 w 184513"/>
              <a:gd name="connsiteY11" fmla="*/ 80010 h 184513"/>
            </a:gdLst>
            <a:rect l="l" t="t" r="r" b="b"/>
            <a:pathLst>
              <a:path w="184513" h="184513">
                <a:moveTo>
                  <a:pt x="104503" y="0"/>
                </a:moveTo>
                <a:lnTo>
                  <a:pt x="80010" y="0"/>
                </a:lnTo>
                <a:lnTo>
                  <a:pt x="80010" y="80010"/>
                </a:lnTo>
                <a:lnTo>
                  <a:pt x="0" y="80010"/>
                </a:lnTo>
                <a:lnTo>
                  <a:pt x="0" y="104503"/>
                </a:lnTo>
                <a:lnTo>
                  <a:pt x="80010" y="104503"/>
                </a:lnTo>
                <a:lnTo>
                  <a:pt x="80010" y="184513"/>
                </a:lnTo>
                <a:lnTo>
                  <a:pt x="104503" y="184513"/>
                </a:lnTo>
                <a:lnTo>
                  <a:pt x="104503" y="104503"/>
                </a:lnTo>
                <a:lnTo>
                  <a:pt x="184513" y="104503"/>
                </a:lnTo>
                <a:lnTo>
                  <a:pt x="184513" y="80010"/>
                </a:lnTo>
                <a:lnTo>
                  <a:pt x="104503" y="80010"/>
                </a:lnTo>
                <a:close/>
              </a:path>
            </a:pathLst>
          </a:custGeom>
          <a:solidFill>
            <a:schemeClr val="accent2"/>
          </a:solidFill>
          <a:ln w="1632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1" flipV="0">
            <a:off x="492836" y="1563010"/>
            <a:ext cx="101867" cy="101867"/>
          </a:xfrm>
          <a:custGeom>
            <a:avLst/>
            <a:gdLst>
              <a:gd name="connsiteX0" fmla="*/ 104503 w 184513"/>
              <a:gd name="connsiteY0" fmla="*/ 0 h 184513"/>
              <a:gd name="connsiteX1" fmla="*/ 80010 w 184513"/>
              <a:gd name="connsiteY1" fmla="*/ 0 h 184513"/>
              <a:gd name="connsiteX2" fmla="*/ 80010 w 184513"/>
              <a:gd name="connsiteY2" fmla="*/ 80010 h 184513"/>
              <a:gd name="connsiteX3" fmla="*/ 0 w 184513"/>
              <a:gd name="connsiteY3" fmla="*/ 80010 h 184513"/>
              <a:gd name="connsiteX4" fmla="*/ 0 w 184513"/>
              <a:gd name="connsiteY4" fmla="*/ 104503 h 184513"/>
              <a:gd name="connsiteX5" fmla="*/ 80010 w 184513"/>
              <a:gd name="connsiteY5" fmla="*/ 104503 h 184513"/>
              <a:gd name="connsiteX6" fmla="*/ 80010 w 184513"/>
              <a:gd name="connsiteY6" fmla="*/ 184513 h 184513"/>
              <a:gd name="connsiteX7" fmla="*/ 104503 w 184513"/>
              <a:gd name="connsiteY7" fmla="*/ 184513 h 184513"/>
              <a:gd name="connsiteX8" fmla="*/ 104503 w 184513"/>
              <a:gd name="connsiteY8" fmla="*/ 104503 h 184513"/>
              <a:gd name="connsiteX9" fmla="*/ 184513 w 184513"/>
              <a:gd name="connsiteY9" fmla="*/ 104503 h 184513"/>
              <a:gd name="connsiteX10" fmla="*/ 184513 w 184513"/>
              <a:gd name="connsiteY10" fmla="*/ 80010 h 184513"/>
              <a:gd name="connsiteX11" fmla="*/ 104503 w 184513"/>
              <a:gd name="connsiteY11" fmla="*/ 80010 h 184513"/>
            </a:gdLst>
            <a:rect l="l" t="t" r="r" b="b"/>
            <a:pathLst>
              <a:path w="184513" h="184513">
                <a:moveTo>
                  <a:pt x="104503" y="0"/>
                </a:moveTo>
                <a:lnTo>
                  <a:pt x="80010" y="0"/>
                </a:lnTo>
                <a:lnTo>
                  <a:pt x="80010" y="80010"/>
                </a:lnTo>
                <a:lnTo>
                  <a:pt x="0" y="80010"/>
                </a:lnTo>
                <a:lnTo>
                  <a:pt x="0" y="104503"/>
                </a:lnTo>
                <a:lnTo>
                  <a:pt x="80010" y="104503"/>
                </a:lnTo>
                <a:lnTo>
                  <a:pt x="80010" y="184513"/>
                </a:lnTo>
                <a:lnTo>
                  <a:pt x="104503" y="184513"/>
                </a:lnTo>
                <a:lnTo>
                  <a:pt x="104503" y="104503"/>
                </a:lnTo>
                <a:lnTo>
                  <a:pt x="184513" y="104503"/>
                </a:lnTo>
                <a:lnTo>
                  <a:pt x="184513" y="80010"/>
                </a:lnTo>
                <a:lnTo>
                  <a:pt x="104503" y="80010"/>
                </a:lnTo>
                <a:close/>
              </a:path>
            </a:pathLst>
          </a:custGeom>
          <a:solidFill>
            <a:schemeClr val="accent1"/>
          </a:solidFill>
          <a:ln w="1632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5013794" y="5684510"/>
            <a:ext cx="184513" cy="184513"/>
          </a:xfrm>
          <a:custGeom>
            <a:avLst/>
            <a:gdLst>
              <a:gd name="connsiteX0" fmla="*/ 104503 w 184513"/>
              <a:gd name="connsiteY0" fmla="*/ 0 h 184513"/>
              <a:gd name="connsiteX1" fmla="*/ 80010 w 184513"/>
              <a:gd name="connsiteY1" fmla="*/ 0 h 184513"/>
              <a:gd name="connsiteX2" fmla="*/ 80010 w 184513"/>
              <a:gd name="connsiteY2" fmla="*/ 80010 h 184513"/>
              <a:gd name="connsiteX3" fmla="*/ 0 w 184513"/>
              <a:gd name="connsiteY3" fmla="*/ 80010 h 184513"/>
              <a:gd name="connsiteX4" fmla="*/ 0 w 184513"/>
              <a:gd name="connsiteY4" fmla="*/ 104503 h 184513"/>
              <a:gd name="connsiteX5" fmla="*/ 80010 w 184513"/>
              <a:gd name="connsiteY5" fmla="*/ 104503 h 184513"/>
              <a:gd name="connsiteX6" fmla="*/ 80010 w 184513"/>
              <a:gd name="connsiteY6" fmla="*/ 184513 h 184513"/>
              <a:gd name="connsiteX7" fmla="*/ 104503 w 184513"/>
              <a:gd name="connsiteY7" fmla="*/ 184513 h 184513"/>
              <a:gd name="connsiteX8" fmla="*/ 104503 w 184513"/>
              <a:gd name="connsiteY8" fmla="*/ 104503 h 184513"/>
              <a:gd name="connsiteX9" fmla="*/ 184513 w 184513"/>
              <a:gd name="connsiteY9" fmla="*/ 104503 h 184513"/>
              <a:gd name="connsiteX10" fmla="*/ 184513 w 184513"/>
              <a:gd name="connsiteY10" fmla="*/ 80010 h 184513"/>
              <a:gd name="connsiteX11" fmla="*/ 104503 w 184513"/>
              <a:gd name="connsiteY11" fmla="*/ 80010 h 184513"/>
            </a:gdLst>
            <a:rect l="l" t="t" r="r" b="b"/>
            <a:pathLst>
              <a:path w="184513" h="184513">
                <a:moveTo>
                  <a:pt x="104503" y="0"/>
                </a:moveTo>
                <a:lnTo>
                  <a:pt x="80010" y="0"/>
                </a:lnTo>
                <a:lnTo>
                  <a:pt x="80010" y="80010"/>
                </a:lnTo>
                <a:lnTo>
                  <a:pt x="0" y="80010"/>
                </a:lnTo>
                <a:lnTo>
                  <a:pt x="0" y="104503"/>
                </a:lnTo>
                <a:lnTo>
                  <a:pt x="80010" y="104503"/>
                </a:lnTo>
                <a:lnTo>
                  <a:pt x="80010" y="184513"/>
                </a:lnTo>
                <a:lnTo>
                  <a:pt x="104503" y="184513"/>
                </a:lnTo>
                <a:lnTo>
                  <a:pt x="104503" y="104503"/>
                </a:lnTo>
                <a:lnTo>
                  <a:pt x="184513" y="104503"/>
                </a:lnTo>
                <a:lnTo>
                  <a:pt x="184513" y="80010"/>
                </a:lnTo>
                <a:lnTo>
                  <a:pt x="104503" y="80010"/>
                </a:lnTo>
                <a:close/>
              </a:path>
            </a:pathLst>
          </a:custGeom>
          <a:solidFill>
            <a:schemeClr val="accent2"/>
          </a:solidFill>
          <a:ln w="1632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4958124" y="5882116"/>
            <a:ext cx="101867" cy="101867"/>
          </a:xfrm>
          <a:custGeom>
            <a:avLst/>
            <a:gdLst>
              <a:gd name="connsiteX0" fmla="*/ 104503 w 184513"/>
              <a:gd name="connsiteY0" fmla="*/ 0 h 184513"/>
              <a:gd name="connsiteX1" fmla="*/ 80010 w 184513"/>
              <a:gd name="connsiteY1" fmla="*/ 0 h 184513"/>
              <a:gd name="connsiteX2" fmla="*/ 80010 w 184513"/>
              <a:gd name="connsiteY2" fmla="*/ 80010 h 184513"/>
              <a:gd name="connsiteX3" fmla="*/ 0 w 184513"/>
              <a:gd name="connsiteY3" fmla="*/ 80010 h 184513"/>
              <a:gd name="connsiteX4" fmla="*/ 0 w 184513"/>
              <a:gd name="connsiteY4" fmla="*/ 104503 h 184513"/>
              <a:gd name="connsiteX5" fmla="*/ 80010 w 184513"/>
              <a:gd name="connsiteY5" fmla="*/ 104503 h 184513"/>
              <a:gd name="connsiteX6" fmla="*/ 80010 w 184513"/>
              <a:gd name="connsiteY6" fmla="*/ 184513 h 184513"/>
              <a:gd name="connsiteX7" fmla="*/ 104503 w 184513"/>
              <a:gd name="connsiteY7" fmla="*/ 184513 h 184513"/>
              <a:gd name="connsiteX8" fmla="*/ 104503 w 184513"/>
              <a:gd name="connsiteY8" fmla="*/ 104503 h 184513"/>
              <a:gd name="connsiteX9" fmla="*/ 184513 w 184513"/>
              <a:gd name="connsiteY9" fmla="*/ 104503 h 184513"/>
              <a:gd name="connsiteX10" fmla="*/ 184513 w 184513"/>
              <a:gd name="connsiteY10" fmla="*/ 80010 h 184513"/>
              <a:gd name="connsiteX11" fmla="*/ 104503 w 184513"/>
              <a:gd name="connsiteY11" fmla="*/ 80010 h 184513"/>
            </a:gdLst>
            <a:rect l="l" t="t" r="r" b="b"/>
            <a:pathLst>
              <a:path w="184513" h="184513">
                <a:moveTo>
                  <a:pt x="104503" y="0"/>
                </a:moveTo>
                <a:lnTo>
                  <a:pt x="80010" y="0"/>
                </a:lnTo>
                <a:lnTo>
                  <a:pt x="80010" y="80010"/>
                </a:lnTo>
                <a:lnTo>
                  <a:pt x="0" y="80010"/>
                </a:lnTo>
                <a:lnTo>
                  <a:pt x="0" y="104503"/>
                </a:lnTo>
                <a:lnTo>
                  <a:pt x="80010" y="104503"/>
                </a:lnTo>
                <a:lnTo>
                  <a:pt x="80010" y="184513"/>
                </a:lnTo>
                <a:lnTo>
                  <a:pt x="104503" y="184513"/>
                </a:lnTo>
                <a:lnTo>
                  <a:pt x="104503" y="104503"/>
                </a:lnTo>
                <a:lnTo>
                  <a:pt x="184513" y="104503"/>
                </a:lnTo>
                <a:lnTo>
                  <a:pt x="184513" y="80010"/>
                </a:lnTo>
                <a:lnTo>
                  <a:pt x="104503" y="80010"/>
                </a:lnTo>
                <a:close/>
              </a:path>
            </a:pathLst>
          </a:custGeom>
          <a:solidFill>
            <a:schemeClr val="accent1"/>
          </a:solidFill>
          <a:ln w="1632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421027" y="333692"/>
            <a:ext cx="1321317" cy="164080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1676218" y="6276762"/>
            <a:ext cx="268552" cy="26855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0" flipV="0">
            <a:off x="1745617" y="6346151"/>
            <a:ext cx="129755" cy="129774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0" flipH="0" flipV="0">
            <a:off x="1255699" y="6276762"/>
            <a:ext cx="268552" cy="26855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0" flipH="0" flipV="0">
            <a:off x="1321131" y="6346151"/>
            <a:ext cx="137688" cy="129774"/>
          </a:xfrm>
          <a:custGeom>
            <a:avLst/>
            <a:gdLst>
              <a:gd name="connsiteX0" fmla="*/ 1110072 w 1498885"/>
              <a:gd name="connsiteY0" fmla="*/ 1039039 h 1412736"/>
              <a:gd name="connsiteX1" fmla="*/ 1149511 w 1498885"/>
              <a:gd name="connsiteY1" fmla="*/ 1055363 h 1412736"/>
              <a:gd name="connsiteX2" fmla="*/ 1371451 w 1498885"/>
              <a:gd name="connsiteY2" fmla="*/ 1277303 h 1412736"/>
              <a:gd name="connsiteX3" fmla="*/ 1371451 w 1498885"/>
              <a:gd name="connsiteY3" fmla="*/ 1356182 h 1412736"/>
              <a:gd name="connsiteX4" fmla="*/ 1332012 w 1498885"/>
              <a:gd name="connsiteY4" fmla="*/ 1372553 h 1412736"/>
              <a:gd name="connsiteX5" fmla="*/ 1292572 w 1498885"/>
              <a:gd name="connsiteY5" fmla="*/ 1356182 h 1412736"/>
              <a:gd name="connsiteX6" fmla="*/ 1070632 w 1498885"/>
              <a:gd name="connsiteY6" fmla="*/ 1134242 h 1412736"/>
              <a:gd name="connsiteX7" fmla="*/ 1070632 w 1498885"/>
              <a:gd name="connsiteY7" fmla="*/ 1055363 h 1412736"/>
              <a:gd name="connsiteX8" fmla="*/ 1110072 w 1498885"/>
              <a:gd name="connsiteY8" fmla="*/ 1039039 h 1412736"/>
              <a:gd name="connsiteX9" fmla="*/ 1110072 w 1498885"/>
              <a:gd name="connsiteY9" fmla="*/ 705989 h 1412736"/>
              <a:gd name="connsiteX10" fmla="*/ 1443075 w 1498885"/>
              <a:gd name="connsiteY10" fmla="*/ 705989 h 1412736"/>
              <a:gd name="connsiteX11" fmla="*/ 1498885 w 1498885"/>
              <a:gd name="connsiteY11" fmla="*/ 761800 h 1412736"/>
              <a:gd name="connsiteX12" fmla="*/ 1443075 w 1498885"/>
              <a:gd name="connsiteY12" fmla="*/ 817611 h 1412736"/>
              <a:gd name="connsiteX13" fmla="*/ 1110072 w 1498885"/>
              <a:gd name="connsiteY13" fmla="*/ 817611 h 1412736"/>
              <a:gd name="connsiteX14" fmla="*/ 1054261 w 1498885"/>
              <a:gd name="connsiteY14" fmla="*/ 761800 h 1412736"/>
              <a:gd name="connsiteX15" fmla="*/ 1110072 w 1498885"/>
              <a:gd name="connsiteY15" fmla="*/ 705989 h 1412736"/>
              <a:gd name="connsiteX16" fmla="*/ 1332012 w 1498885"/>
              <a:gd name="connsiteY16" fmla="*/ 151093 h 1412736"/>
              <a:gd name="connsiteX17" fmla="*/ 1371451 w 1498885"/>
              <a:gd name="connsiteY17" fmla="*/ 167418 h 1412736"/>
              <a:gd name="connsiteX18" fmla="*/ 1371451 w 1498885"/>
              <a:gd name="connsiteY18" fmla="*/ 246297 h 1412736"/>
              <a:gd name="connsiteX19" fmla="*/ 1149511 w 1498885"/>
              <a:gd name="connsiteY19" fmla="*/ 468236 h 1412736"/>
              <a:gd name="connsiteX20" fmla="*/ 1110072 w 1498885"/>
              <a:gd name="connsiteY20" fmla="*/ 484608 h 1412736"/>
              <a:gd name="connsiteX21" fmla="*/ 1070632 w 1498885"/>
              <a:gd name="connsiteY21" fmla="*/ 468236 h 1412736"/>
              <a:gd name="connsiteX22" fmla="*/ 1070632 w 1498885"/>
              <a:gd name="connsiteY22" fmla="*/ 389358 h 1412736"/>
              <a:gd name="connsiteX23" fmla="*/ 1292572 w 1498885"/>
              <a:gd name="connsiteY23" fmla="*/ 167418 h 1412736"/>
              <a:gd name="connsiteX24" fmla="*/ 1332012 w 1498885"/>
              <a:gd name="connsiteY24" fmla="*/ 151093 h 1412736"/>
              <a:gd name="connsiteX25" fmla="*/ 709724 w 1498885"/>
              <a:gd name="connsiteY25" fmla="*/ 111607 h 1412736"/>
              <a:gd name="connsiteX26" fmla="*/ 649635 w 1498885"/>
              <a:gd name="connsiteY26" fmla="*/ 127420 h 1412736"/>
              <a:gd name="connsiteX27" fmla="*/ 174129 w 1498885"/>
              <a:gd name="connsiteY27" fmla="*/ 394752 h 1412736"/>
              <a:gd name="connsiteX28" fmla="*/ 111621 w 1498885"/>
              <a:gd name="connsiteY28" fmla="*/ 501536 h 1412736"/>
              <a:gd name="connsiteX29" fmla="*/ 111621 w 1498885"/>
              <a:gd name="connsiteY29" fmla="*/ 910814 h 1412736"/>
              <a:gd name="connsiteX30" fmla="*/ 174129 w 1498885"/>
              <a:gd name="connsiteY30" fmla="*/ 1017598 h 1412736"/>
              <a:gd name="connsiteX31" fmla="*/ 649821 w 1498885"/>
              <a:gd name="connsiteY31" fmla="*/ 1284930 h 1412736"/>
              <a:gd name="connsiteX32" fmla="*/ 771674 w 1498885"/>
              <a:gd name="connsiteY32" fmla="*/ 1283814 h 1412736"/>
              <a:gd name="connsiteX33" fmla="*/ 832321 w 1498885"/>
              <a:gd name="connsiteY33" fmla="*/ 1178146 h 1412736"/>
              <a:gd name="connsiteX34" fmla="*/ 832321 w 1498885"/>
              <a:gd name="connsiteY34" fmla="*/ 234204 h 1412736"/>
              <a:gd name="connsiteX35" fmla="*/ 771674 w 1498885"/>
              <a:gd name="connsiteY35" fmla="*/ 128536 h 1412736"/>
              <a:gd name="connsiteX36" fmla="*/ 709724 w 1498885"/>
              <a:gd name="connsiteY36" fmla="*/ 111607 h 1412736"/>
              <a:gd name="connsiteX37" fmla="*/ 711864 w 1498885"/>
              <a:gd name="connsiteY37" fmla="*/ 9 h 1412736"/>
              <a:gd name="connsiteX38" fmla="*/ 828043 w 1498885"/>
              <a:gd name="connsiteY38" fmla="*/ 32356 h 1412736"/>
              <a:gd name="connsiteX39" fmla="*/ 943942 w 1498885"/>
              <a:gd name="connsiteY39" fmla="*/ 234390 h 1412736"/>
              <a:gd name="connsiteX40" fmla="*/ 943942 w 1498885"/>
              <a:gd name="connsiteY40" fmla="*/ 1178518 h 1412736"/>
              <a:gd name="connsiteX41" fmla="*/ 828043 w 1498885"/>
              <a:gd name="connsiteY41" fmla="*/ 1380552 h 1412736"/>
              <a:gd name="connsiteX42" fmla="*/ 709910 w 1498885"/>
              <a:gd name="connsiteY42" fmla="*/ 1412736 h 1412736"/>
              <a:gd name="connsiteX43" fmla="*/ 595126 w 1498885"/>
              <a:gd name="connsiteY43" fmla="*/ 1382413 h 1412736"/>
              <a:gd name="connsiteX44" fmla="*/ 119435 w 1498885"/>
              <a:gd name="connsiteY44" fmla="*/ 1115080 h 1412736"/>
              <a:gd name="connsiteX45" fmla="*/ 0 w 1498885"/>
              <a:gd name="connsiteY45" fmla="*/ 911000 h 1412736"/>
              <a:gd name="connsiteX46" fmla="*/ 0 w 1498885"/>
              <a:gd name="connsiteY46" fmla="*/ 501722 h 1412736"/>
              <a:gd name="connsiteX47" fmla="*/ 119435 w 1498885"/>
              <a:gd name="connsiteY47" fmla="*/ 297642 h 1412736"/>
              <a:gd name="connsiteX48" fmla="*/ 595126 w 1498885"/>
              <a:gd name="connsiteY48" fmla="*/ 30309 h 1412736"/>
              <a:gd name="connsiteX49" fmla="*/ 711864 w 1498885"/>
              <a:gd name="connsiteY49" fmla="*/ 9 h 1412736"/>
            </a:gdLst>
            <a:rect l="l" t="t" r="r" b="b"/>
            <a:pathLst>
              <a:path w="1498885" h="1412736">
                <a:moveTo>
                  <a:pt x="1110072" y="1039039"/>
                </a:moveTo>
                <a:cubicBezTo>
                  <a:pt x="1124350" y="1039039"/>
                  <a:pt x="1138628" y="1044480"/>
                  <a:pt x="1149511" y="1055363"/>
                </a:cubicBezTo>
                <a:lnTo>
                  <a:pt x="1371451" y="1277303"/>
                </a:lnTo>
                <a:cubicBezTo>
                  <a:pt x="1393217" y="1299070"/>
                  <a:pt x="1393217" y="1334416"/>
                  <a:pt x="1371451" y="1356182"/>
                </a:cubicBezTo>
                <a:cubicBezTo>
                  <a:pt x="1360661" y="1366972"/>
                  <a:pt x="1346336" y="1372553"/>
                  <a:pt x="1332012" y="1372553"/>
                </a:cubicBezTo>
                <a:cubicBezTo>
                  <a:pt x="1317687" y="1372553"/>
                  <a:pt x="1303362" y="1367158"/>
                  <a:pt x="1292572" y="1356182"/>
                </a:cubicBezTo>
                <a:lnTo>
                  <a:pt x="1070632" y="1134242"/>
                </a:lnTo>
                <a:cubicBezTo>
                  <a:pt x="1048866" y="1112476"/>
                  <a:pt x="1048866" y="1077130"/>
                  <a:pt x="1070632" y="1055363"/>
                </a:cubicBezTo>
                <a:cubicBezTo>
                  <a:pt x="1081515" y="1044480"/>
                  <a:pt x="1095793" y="1039039"/>
                  <a:pt x="1110072" y="1039039"/>
                </a:cubicBezTo>
                <a:close/>
                <a:moveTo>
                  <a:pt x="1110072" y="705989"/>
                </a:moveTo>
                <a:lnTo>
                  <a:pt x="1443075" y="705989"/>
                </a:lnTo>
                <a:cubicBezTo>
                  <a:pt x="1473956" y="705989"/>
                  <a:pt x="1498885" y="730918"/>
                  <a:pt x="1498885" y="761800"/>
                </a:cubicBezTo>
                <a:cubicBezTo>
                  <a:pt x="1498885" y="792682"/>
                  <a:pt x="1473770" y="817611"/>
                  <a:pt x="1443075" y="817611"/>
                </a:cubicBezTo>
                <a:lnTo>
                  <a:pt x="1110072" y="817611"/>
                </a:lnTo>
                <a:cubicBezTo>
                  <a:pt x="1079190" y="817611"/>
                  <a:pt x="1054261" y="792682"/>
                  <a:pt x="1054261" y="761800"/>
                </a:cubicBezTo>
                <a:cubicBezTo>
                  <a:pt x="1054261" y="730918"/>
                  <a:pt x="1079190" y="705989"/>
                  <a:pt x="1110072" y="705989"/>
                </a:cubicBezTo>
                <a:close/>
                <a:moveTo>
                  <a:pt x="1332012" y="151093"/>
                </a:moveTo>
                <a:cubicBezTo>
                  <a:pt x="1346290" y="151093"/>
                  <a:pt x="1360568" y="156535"/>
                  <a:pt x="1371451" y="167418"/>
                </a:cubicBezTo>
                <a:cubicBezTo>
                  <a:pt x="1393217" y="189184"/>
                  <a:pt x="1393217" y="224530"/>
                  <a:pt x="1371451" y="246297"/>
                </a:cubicBezTo>
                <a:lnTo>
                  <a:pt x="1149511" y="468236"/>
                </a:lnTo>
                <a:cubicBezTo>
                  <a:pt x="1138721" y="479213"/>
                  <a:pt x="1124396" y="484608"/>
                  <a:pt x="1110072" y="484608"/>
                </a:cubicBezTo>
                <a:cubicBezTo>
                  <a:pt x="1095747" y="484608"/>
                  <a:pt x="1081422" y="479213"/>
                  <a:pt x="1070632" y="468236"/>
                </a:cubicBezTo>
                <a:cubicBezTo>
                  <a:pt x="1048866" y="446470"/>
                  <a:pt x="1048866" y="411124"/>
                  <a:pt x="1070632" y="389358"/>
                </a:cubicBezTo>
                <a:lnTo>
                  <a:pt x="1292572" y="167418"/>
                </a:lnTo>
                <a:cubicBezTo>
                  <a:pt x="1303455" y="156535"/>
                  <a:pt x="1317733" y="151093"/>
                  <a:pt x="1332012" y="151093"/>
                </a:cubicBezTo>
                <a:close/>
                <a:moveTo>
                  <a:pt x="709724" y="111607"/>
                </a:moveTo>
                <a:cubicBezTo>
                  <a:pt x="689074" y="111607"/>
                  <a:pt x="668610" y="116816"/>
                  <a:pt x="649635" y="127420"/>
                </a:cubicBezTo>
                <a:lnTo>
                  <a:pt x="174129" y="394752"/>
                </a:lnTo>
                <a:cubicBezTo>
                  <a:pt x="135620" y="416332"/>
                  <a:pt x="111621" y="457260"/>
                  <a:pt x="111621" y="501536"/>
                </a:cubicBezTo>
                <a:lnTo>
                  <a:pt x="111621" y="910814"/>
                </a:lnTo>
                <a:cubicBezTo>
                  <a:pt x="111621" y="955090"/>
                  <a:pt x="135620" y="996018"/>
                  <a:pt x="174129" y="1017598"/>
                </a:cubicBezTo>
                <a:lnTo>
                  <a:pt x="649821" y="1284930"/>
                </a:lnTo>
                <a:cubicBezTo>
                  <a:pt x="688144" y="1306510"/>
                  <a:pt x="733723" y="1306138"/>
                  <a:pt x="771674" y="1283814"/>
                </a:cubicBezTo>
                <a:cubicBezTo>
                  <a:pt x="809625" y="1261676"/>
                  <a:pt x="832321" y="1222050"/>
                  <a:pt x="832321" y="1178146"/>
                </a:cubicBezTo>
                <a:lnTo>
                  <a:pt x="832321" y="234204"/>
                </a:lnTo>
                <a:cubicBezTo>
                  <a:pt x="832321" y="190113"/>
                  <a:pt x="809625" y="150674"/>
                  <a:pt x="771674" y="128536"/>
                </a:cubicBezTo>
                <a:cubicBezTo>
                  <a:pt x="752326" y="117188"/>
                  <a:pt x="731118" y="111607"/>
                  <a:pt x="709724" y="111607"/>
                </a:cubicBezTo>
                <a:close/>
                <a:moveTo>
                  <a:pt x="711864" y="9"/>
                </a:moveTo>
                <a:cubicBezTo>
                  <a:pt x="751861" y="358"/>
                  <a:pt x="791766" y="11148"/>
                  <a:pt x="828043" y="32356"/>
                </a:cubicBezTo>
                <a:cubicBezTo>
                  <a:pt x="900596" y="74772"/>
                  <a:pt x="943942" y="150302"/>
                  <a:pt x="943942" y="234390"/>
                </a:cubicBezTo>
                <a:lnTo>
                  <a:pt x="943942" y="1178518"/>
                </a:lnTo>
                <a:cubicBezTo>
                  <a:pt x="943942" y="1262606"/>
                  <a:pt x="900596" y="1338136"/>
                  <a:pt x="828043" y="1380552"/>
                </a:cubicBezTo>
                <a:cubicBezTo>
                  <a:pt x="791208" y="1401946"/>
                  <a:pt x="750466" y="1412736"/>
                  <a:pt x="709910" y="1412736"/>
                </a:cubicBezTo>
                <a:cubicBezTo>
                  <a:pt x="670471" y="1412736"/>
                  <a:pt x="631217" y="1402691"/>
                  <a:pt x="595126" y="1382413"/>
                </a:cubicBezTo>
                <a:lnTo>
                  <a:pt x="119435" y="1115080"/>
                </a:lnTo>
                <a:cubicBezTo>
                  <a:pt x="45765" y="1073594"/>
                  <a:pt x="0" y="995460"/>
                  <a:pt x="0" y="911000"/>
                </a:cubicBezTo>
                <a:lnTo>
                  <a:pt x="0" y="501722"/>
                </a:lnTo>
                <a:cubicBezTo>
                  <a:pt x="0" y="417262"/>
                  <a:pt x="45765" y="338942"/>
                  <a:pt x="119435" y="297642"/>
                </a:cubicBezTo>
                <a:lnTo>
                  <a:pt x="595126" y="30309"/>
                </a:lnTo>
                <a:cubicBezTo>
                  <a:pt x="631775" y="9752"/>
                  <a:pt x="671866" y="-340"/>
                  <a:pt x="711864" y="9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0" flipV="0">
            <a:off x="835180" y="6276762"/>
            <a:ext cx="268552" cy="26855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0" flipH="0" flipV="0">
            <a:off x="902406" y="6346151"/>
            <a:ext cx="134100" cy="129774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rot="0" flipH="0" flipV="0">
            <a:off x="414661" y="6276762"/>
            <a:ext cx="268552" cy="26855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rot="0" flipH="0" flipV="0">
            <a:off x="489036" y="6346151"/>
            <a:ext cx="119802" cy="129774"/>
          </a:xfrm>
          <a:custGeom>
            <a:avLst/>
            <a:gdLst>
              <a:gd name="connsiteX0" fmla="*/ 712625 w 1425436"/>
              <a:gd name="connsiteY0" fmla="*/ 111621 h 1544091"/>
              <a:gd name="connsiteX1" fmla="*/ 902567 w 1425436"/>
              <a:gd name="connsiteY1" fmla="*/ 190314 h 1544091"/>
              <a:gd name="connsiteX2" fmla="*/ 981260 w 1425436"/>
              <a:gd name="connsiteY2" fmla="*/ 380256 h 1544091"/>
              <a:gd name="connsiteX3" fmla="*/ 902567 w 1425436"/>
              <a:gd name="connsiteY3" fmla="*/ 570198 h 1544091"/>
              <a:gd name="connsiteX4" fmla="*/ 712625 w 1425436"/>
              <a:gd name="connsiteY4" fmla="*/ 648891 h 1544091"/>
              <a:gd name="connsiteX5" fmla="*/ 522684 w 1425436"/>
              <a:gd name="connsiteY5" fmla="*/ 570198 h 1544091"/>
              <a:gd name="connsiteX6" fmla="*/ 444177 w 1425436"/>
              <a:gd name="connsiteY6" fmla="*/ 380070 h 1544091"/>
              <a:gd name="connsiteX7" fmla="*/ 522870 w 1425436"/>
              <a:gd name="connsiteY7" fmla="*/ 190128 h 1544091"/>
              <a:gd name="connsiteX8" fmla="*/ 712625 w 1425436"/>
              <a:gd name="connsiteY8" fmla="*/ 111621 h 1544091"/>
              <a:gd name="connsiteX9" fmla="*/ 712625 w 1425436"/>
              <a:gd name="connsiteY9" fmla="*/ 0 h 1544091"/>
              <a:gd name="connsiteX10" fmla="*/ 332556 w 1425436"/>
              <a:gd name="connsiteY10" fmla="*/ 380070 h 1544091"/>
              <a:gd name="connsiteX11" fmla="*/ 712625 w 1425436"/>
              <a:gd name="connsiteY11" fmla="*/ 760140 h 1544091"/>
              <a:gd name="connsiteX12" fmla="*/ 1092695 w 1425436"/>
              <a:gd name="connsiteY12" fmla="*/ 380070 h 1544091"/>
              <a:gd name="connsiteX13" fmla="*/ 712625 w 1425436"/>
              <a:gd name="connsiteY13" fmla="*/ 0 h 1544091"/>
              <a:gd name="connsiteX14" fmla="*/ 712625 w 1425436"/>
              <a:gd name="connsiteY14" fmla="*/ 943012 h 1544091"/>
              <a:gd name="connsiteX15" fmla="*/ 978842 w 1425436"/>
              <a:gd name="connsiteY15" fmla="*/ 976685 h 1544091"/>
              <a:gd name="connsiteX16" fmla="*/ 1146087 w 1425436"/>
              <a:gd name="connsiteY16" fmla="*/ 1059470 h 1544091"/>
              <a:gd name="connsiteX17" fmla="*/ 1248593 w 1425436"/>
              <a:gd name="connsiteY17" fmla="*/ 1174440 h 1544091"/>
              <a:gd name="connsiteX18" fmla="*/ 1310356 w 1425436"/>
              <a:gd name="connsiteY18" fmla="*/ 1316385 h 1544091"/>
              <a:gd name="connsiteX19" fmla="*/ 1296590 w 1425436"/>
              <a:gd name="connsiteY19" fmla="*/ 1390241 h 1544091"/>
              <a:gd name="connsiteX20" fmla="*/ 1208595 w 1425436"/>
              <a:gd name="connsiteY20" fmla="*/ 1432285 h 1544091"/>
              <a:gd name="connsiteX21" fmla="*/ 216842 w 1425436"/>
              <a:gd name="connsiteY21" fmla="*/ 1432285 h 1544091"/>
              <a:gd name="connsiteX22" fmla="*/ 128847 w 1425436"/>
              <a:gd name="connsiteY22" fmla="*/ 1390241 h 1544091"/>
              <a:gd name="connsiteX23" fmla="*/ 115081 w 1425436"/>
              <a:gd name="connsiteY23" fmla="*/ 1316385 h 1544091"/>
              <a:gd name="connsiteX24" fmla="*/ 176844 w 1425436"/>
              <a:gd name="connsiteY24" fmla="*/ 1174440 h 1544091"/>
              <a:gd name="connsiteX25" fmla="*/ 279350 w 1425436"/>
              <a:gd name="connsiteY25" fmla="*/ 1059470 h 1544091"/>
              <a:gd name="connsiteX26" fmla="*/ 446595 w 1425436"/>
              <a:gd name="connsiteY26" fmla="*/ 976685 h 1544091"/>
              <a:gd name="connsiteX27" fmla="*/ 712625 w 1425436"/>
              <a:gd name="connsiteY27" fmla="*/ 943012 h 1544091"/>
              <a:gd name="connsiteX28" fmla="*/ 712625 w 1425436"/>
              <a:gd name="connsiteY28" fmla="*/ 831391 h 1544091"/>
              <a:gd name="connsiteX29" fmla="*/ 8296 w 1425436"/>
              <a:gd name="connsiteY29" fmla="*/ 1284387 h 1544091"/>
              <a:gd name="connsiteX30" fmla="*/ 216842 w 1425436"/>
              <a:gd name="connsiteY30" fmla="*/ 1544092 h 1544091"/>
              <a:gd name="connsiteX31" fmla="*/ 1208595 w 1425436"/>
              <a:gd name="connsiteY31" fmla="*/ 1544092 h 1544091"/>
              <a:gd name="connsiteX32" fmla="*/ 1417141 w 1425436"/>
              <a:gd name="connsiteY32" fmla="*/ 1284387 h 1544091"/>
              <a:gd name="connsiteX33" fmla="*/ 712625 w 1425436"/>
              <a:gd name="connsiteY33" fmla="*/ 831391 h 1544091"/>
            </a:gdLst>
            <a:rect l="l" t="t" r="r" b="b"/>
            <a:pathLst>
              <a:path w="1425436" h="1544091">
                <a:moveTo>
                  <a:pt x="712625" y="111621"/>
                </a:moveTo>
                <a:cubicBezTo>
                  <a:pt x="784435" y="111621"/>
                  <a:pt x="851780" y="139526"/>
                  <a:pt x="902567" y="190314"/>
                </a:cubicBezTo>
                <a:cubicBezTo>
                  <a:pt x="953355" y="241102"/>
                  <a:pt x="981260" y="308446"/>
                  <a:pt x="981260" y="380256"/>
                </a:cubicBezTo>
                <a:cubicBezTo>
                  <a:pt x="981260" y="452065"/>
                  <a:pt x="953355" y="519410"/>
                  <a:pt x="902567" y="570198"/>
                </a:cubicBezTo>
                <a:cubicBezTo>
                  <a:pt x="851780" y="620985"/>
                  <a:pt x="784435" y="648891"/>
                  <a:pt x="712625" y="648891"/>
                </a:cubicBezTo>
                <a:cubicBezTo>
                  <a:pt x="640816" y="648891"/>
                  <a:pt x="573471" y="620985"/>
                  <a:pt x="522684" y="570198"/>
                </a:cubicBezTo>
                <a:cubicBezTo>
                  <a:pt x="472082" y="519224"/>
                  <a:pt x="444177" y="451693"/>
                  <a:pt x="444177" y="380070"/>
                </a:cubicBezTo>
                <a:cubicBezTo>
                  <a:pt x="444177" y="308446"/>
                  <a:pt x="472082" y="240916"/>
                  <a:pt x="522870" y="190128"/>
                </a:cubicBezTo>
                <a:cubicBezTo>
                  <a:pt x="573471" y="139526"/>
                  <a:pt x="641002" y="111621"/>
                  <a:pt x="712625" y="111621"/>
                </a:cubicBezTo>
                <a:moveTo>
                  <a:pt x="712625" y="0"/>
                </a:moveTo>
                <a:cubicBezTo>
                  <a:pt x="502778" y="0"/>
                  <a:pt x="332556" y="170036"/>
                  <a:pt x="332556" y="380070"/>
                </a:cubicBezTo>
                <a:cubicBezTo>
                  <a:pt x="332556" y="589917"/>
                  <a:pt x="502778" y="760140"/>
                  <a:pt x="712625" y="760140"/>
                </a:cubicBezTo>
                <a:cubicBezTo>
                  <a:pt x="922473" y="760140"/>
                  <a:pt x="1092695" y="589917"/>
                  <a:pt x="1092695" y="380070"/>
                </a:cubicBezTo>
                <a:cubicBezTo>
                  <a:pt x="1092881" y="170036"/>
                  <a:pt x="922659" y="0"/>
                  <a:pt x="712625" y="0"/>
                </a:cubicBezTo>
                <a:close/>
                <a:moveTo>
                  <a:pt x="712625" y="943012"/>
                </a:moveTo>
                <a:cubicBezTo>
                  <a:pt x="813643" y="943012"/>
                  <a:pt x="903126" y="954360"/>
                  <a:pt x="978842" y="976685"/>
                </a:cubicBezTo>
                <a:cubicBezTo>
                  <a:pt x="1043582" y="995846"/>
                  <a:pt x="1099951" y="1023752"/>
                  <a:pt x="1146087" y="1059470"/>
                </a:cubicBezTo>
                <a:cubicBezTo>
                  <a:pt x="1186829" y="1091096"/>
                  <a:pt x="1220315" y="1128675"/>
                  <a:pt x="1248593" y="1174440"/>
                </a:cubicBezTo>
                <a:cubicBezTo>
                  <a:pt x="1273708" y="1215368"/>
                  <a:pt x="1293985" y="1261877"/>
                  <a:pt x="1310356" y="1316385"/>
                </a:cubicBezTo>
                <a:cubicBezTo>
                  <a:pt x="1320774" y="1350801"/>
                  <a:pt x="1306264" y="1377404"/>
                  <a:pt x="1296590" y="1390241"/>
                </a:cubicBezTo>
                <a:cubicBezTo>
                  <a:pt x="1276684" y="1417030"/>
                  <a:pt x="1244686" y="1432285"/>
                  <a:pt x="1208595" y="1432285"/>
                </a:cubicBezTo>
                <a:lnTo>
                  <a:pt x="216842" y="1432285"/>
                </a:lnTo>
                <a:cubicBezTo>
                  <a:pt x="180937" y="1432285"/>
                  <a:pt x="148753" y="1417030"/>
                  <a:pt x="128847" y="1390241"/>
                </a:cubicBezTo>
                <a:cubicBezTo>
                  <a:pt x="119359" y="1377404"/>
                  <a:pt x="104849" y="1350801"/>
                  <a:pt x="115081" y="1316385"/>
                </a:cubicBezTo>
                <a:cubicBezTo>
                  <a:pt x="131452" y="1261877"/>
                  <a:pt x="151543" y="1215368"/>
                  <a:pt x="176844" y="1174440"/>
                </a:cubicBezTo>
                <a:cubicBezTo>
                  <a:pt x="204936" y="1128675"/>
                  <a:pt x="238422" y="1090910"/>
                  <a:pt x="279350" y="1059470"/>
                </a:cubicBezTo>
                <a:cubicBezTo>
                  <a:pt x="325486" y="1023752"/>
                  <a:pt x="381855" y="995846"/>
                  <a:pt x="446595" y="976685"/>
                </a:cubicBezTo>
                <a:cubicBezTo>
                  <a:pt x="522125" y="954360"/>
                  <a:pt x="611794" y="943012"/>
                  <a:pt x="712625" y="943012"/>
                </a:cubicBezTo>
                <a:moveTo>
                  <a:pt x="712625" y="831391"/>
                </a:moveTo>
                <a:cubicBezTo>
                  <a:pt x="244561" y="831391"/>
                  <a:pt x="77501" y="1053331"/>
                  <a:pt x="8296" y="1284387"/>
                </a:cubicBezTo>
                <a:cubicBezTo>
                  <a:pt x="-30771" y="1414611"/>
                  <a:pt x="73037" y="1544092"/>
                  <a:pt x="216842" y="1544092"/>
                </a:cubicBezTo>
                <a:lnTo>
                  <a:pt x="1208595" y="1544092"/>
                </a:lnTo>
                <a:cubicBezTo>
                  <a:pt x="1352400" y="1544092"/>
                  <a:pt x="1456208" y="1414611"/>
                  <a:pt x="1417141" y="1284387"/>
                </a:cubicBezTo>
                <a:cubicBezTo>
                  <a:pt x="1347750" y="1053331"/>
                  <a:pt x="1180690" y="831391"/>
                  <a:pt x="712625" y="83139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 rot="0" flipH="0" flipV="0">
            <a:off x="889706" y="4829225"/>
            <a:ext cx="984287" cy="31652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800">
                <a:ln w="635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 rot="0" flipH="0" flipV="0">
            <a:off x="3156785" y="4827192"/>
            <a:ext cx="984196" cy="32058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800">
                <a:ln w="635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202X.X</a:t>
            </a: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rot="0" flipH="0" flipV="0">
            <a:off x="1766399" y="4818177"/>
            <a:ext cx="1005791" cy="33861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800">
                <a:ln w="635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AiPPT</a:t>
            </a: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 rot="0" flipH="0" flipV="0">
            <a:off x="2572522" y="4828208"/>
            <a:ext cx="756233" cy="31855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800">
                <a:ln w="635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 rot="0" flipH="0" flipV="0">
            <a:off x="9540239" y="241508"/>
            <a:ext cx="2230733" cy="29733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2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50000"/>
              </a:lnSpc>
            </a:pP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 rot="0" flipH="0" flipV="0">
            <a:off x="11386534" y="325289"/>
            <a:ext cx="129755" cy="129774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 rot="0" flipH="0" flipV="0">
            <a:off x="9743840" y="254366"/>
            <a:ext cx="1542030" cy="24622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PowerPoint design</a:t>
            </a: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 rot="0" flipH="1" flipV="0">
            <a:off x="3427217" y="1591451"/>
            <a:ext cx="601412" cy="432688"/>
          </a:xfrm>
          <a:custGeom>
            <a:avLst/>
            <a:gdLst>
              <a:gd name="connsiteX0" fmla="*/ 573801 w 1693851"/>
              <a:gd name="connsiteY0" fmla="*/ 983265 h 1218645"/>
              <a:gd name="connsiteX1" fmla="*/ 633893 w 1693851"/>
              <a:gd name="connsiteY1" fmla="*/ 983265 h 1218645"/>
              <a:gd name="connsiteX2" fmla="*/ 633893 w 1693851"/>
              <a:gd name="connsiteY2" fmla="*/ 1070909 h 1218645"/>
              <a:gd name="connsiteX3" fmla="*/ 721537 w 1693851"/>
              <a:gd name="connsiteY3" fmla="*/ 1070909 h 1218645"/>
              <a:gd name="connsiteX4" fmla="*/ 721537 w 1693851"/>
              <a:gd name="connsiteY4" fmla="*/ 1131001 h 1218645"/>
              <a:gd name="connsiteX5" fmla="*/ 633893 w 1693851"/>
              <a:gd name="connsiteY5" fmla="*/ 1131001 h 1218645"/>
              <a:gd name="connsiteX6" fmla="*/ 633893 w 1693851"/>
              <a:gd name="connsiteY6" fmla="*/ 1218645 h 1218645"/>
              <a:gd name="connsiteX7" fmla="*/ 573801 w 1693851"/>
              <a:gd name="connsiteY7" fmla="*/ 1218645 h 1218645"/>
              <a:gd name="connsiteX8" fmla="*/ 573801 w 1693851"/>
              <a:gd name="connsiteY8" fmla="*/ 1131001 h 1218645"/>
              <a:gd name="connsiteX9" fmla="*/ 486157 w 1693851"/>
              <a:gd name="connsiteY9" fmla="*/ 1131001 h 1218645"/>
              <a:gd name="connsiteX10" fmla="*/ 486157 w 1693851"/>
              <a:gd name="connsiteY10" fmla="*/ 1070909 h 1218645"/>
              <a:gd name="connsiteX11" fmla="*/ 573801 w 1693851"/>
              <a:gd name="connsiteY11" fmla="*/ 1070909 h 1218645"/>
              <a:gd name="connsiteX12" fmla="*/ 87644 w 1693851"/>
              <a:gd name="connsiteY12" fmla="*/ 983265 h 1218645"/>
              <a:gd name="connsiteX13" fmla="*/ 147736 w 1693851"/>
              <a:gd name="connsiteY13" fmla="*/ 983265 h 1218645"/>
              <a:gd name="connsiteX14" fmla="*/ 147736 w 1693851"/>
              <a:gd name="connsiteY14" fmla="*/ 1070909 h 1218645"/>
              <a:gd name="connsiteX15" fmla="*/ 235380 w 1693851"/>
              <a:gd name="connsiteY15" fmla="*/ 1070909 h 1218645"/>
              <a:gd name="connsiteX16" fmla="*/ 235380 w 1693851"/>
              <a:gd name="connsiteY16" fmla="*/ 1131001 h 1218645"/>
              <a:gd name="connsiteX17" fmla="*/ 147736 w 1693851"/>
              <a:gd name="connsiteY17" fmla="*/ 1131001 h 1218645"/>
              <a:gd name="connsiteX18" fmla="*/ 147736 w 1693851"/>
              <a:gd name="connsiteY18" fmla="*/ 1218645 h 1218645"/>
              <a:gd name="connsiteX19" fmla="*/ 87644 w 1693851"/>
              <a:gd name="connsiteY19" fmla="*/ 1218645 h 1218645"/>
              <a:gd name="connsiteX20" fmla="*/ 87644 w 1693851"/>
              <a:gd name="connsiteY20" fmla="*/ 1131001 h 1218645"/>
              <a:gd name="connsiteX21" fmla="*/ 0 w 1693851"/>
              <a:gd name="connsiteY21" fmla="*/ 1131001 h 1218645"/>
              <a:gd name="connsiteX22" fmla="*/ 0 w 1693851"/>
              <a:gd name="connsiteY22" fmla="*/ 1070909 h 1218645"/>
              <a:gd name="connsiteX23" fmla="*/ 87644 w 1693851"/>
              <a:gd name="connsiteY23" fmla="*/ 1070909 h 1218645"/>
              <a:gd name="connsiteX24" fmla="*/ 1546115 w 1693851"/>
              <a:gd name="connsiteY24" fmla="*/ 491632 h 1218645"/>
              <a:gd name="connsiteX25" fmla="*/ 1606207 w 1693851"/>
              <a:gd name="connsiteY25" fmla="*/ 491632 h 1218645"/>
              <a:gd name="connsiteX26" fmla="*/ 1606207 w 1693851"/>
              <a:gd name="connsiteY26" fmla="*/ 579276 h 1218645"/>
              <a:gd name="connsiteX27" fmla="*/ 1693851 w 1693851"/>
              <a:gd name="connsiteY27" fmla="*/ 579276 h 1218645"/>
              <a:gd name="connsiteX28" fmla="*/ 1693851 w 1693851"/>
              <a:gd name="connsiteY28" fmla="*/ 639368 h 1218645"/>
              <a:gd name="connsiteX29" fmla="*/ 1606207 w 1693851"/>
              <a:gd name="connsiteY29" fmla="*/ 639368 h 1218645"/>
              <a:gd name="connsiteX30" fmla="*/ 1606207 w 1693851"/>
              <a:gd name="connsiteY30" fmla="*/ 727012 h 1218645"/>
              <a:gd name="connsiteX31" fmla="*/ 1546115 w 1693851"/>
              <a:gd name="connsiteY31" fmla="*/ 727012 h 1218645"/>
              <a:gd name="connsiteX32" fmla="*/ 1546115 w 1693851"/>
              <a:gd name="connsiteY32" fmla="*/ 639368 h 1218645"/>
              <a:gd name="connsiteX33" fmla="*/ 1458471 w 1693851"/>
              <a:gd name="connsiteY33" fmla="*/ 639368 h 1218645"/>
              <a:gd name="connsiteX34" fmla="*/ 1458471 w 1693851"/>
              <a:gd name="connsiteY34" fmla="*/ 579276 h 1218645"/>
              <a:gd name="connsiteX35" fmla="*/ 1546115 w 1693851"/>
              <a:gd name="connsiteY35" fmla="*/ 579276 h 1218645"/>
              <a:gd name="connsiteX36" fmla="*/ 1059958 w 1693851"/>
              <a:gd name="connsiteY36" fmla="*/ 491632 h 1218645"/>
              <a:gd name="connsiteX37" fmla="*/ 1120050 w 1693851"/>
              <a:gd name="connsiteY37" fmla="*/ 491632 h 1218645"/>
              <a:gd name="connsiteX38" fmla="*/ 1120050 w 1693851"/>
              <a:gd name="connsiteY38" fmla="*/ 579276 h 1218645"/>
              <a:gd name="connsiteX39" fmla="*/ 1207694 w 1693851"/>
              <a:gd name="connsiteY39" fmla="*/ 579276 h 1218645"/>
              <a:gd name="connsiteX40" fmla="*/ 1207694 w 1693851"/>
              <a:gd name="connsiteY40" fmla="*/ 639368 h 1218645"/>
              <a:gd name="connsiteX41" fmla="*/ 1120050 w 1693851"/>
              <a:gd name="connsiteY41" fmla="*/ 639368 h 1218645"/>
              <a:gd name="connsiteX42" fmla="*/ 1120050 w 1693851"/>
              <a:gd name="connsiteY42" fmla="*/ 727012 h 1218645"/>
              <a:gd name="connsiteX43" fmla="*/ 1059958 w 1693851"/>
              <a:gd name="connsiteY43" fmla="*/ 727012 h 1218645"/>
              <a:gd name="connsiteX44" fmla="*/ 1059958 w 1693851"/>
              <a:gd name="connsiteY44" fmla="*/ 639368 h 1218645"/>
              <a:gd name="connsiteX45" fmla="*/ 972314 w 1693851"/>
              <a:gd name="connsiteY45" fmla="*/ 639368 h 1218645"/>
              <a:gd name="connsiteX46" fmla="*/ 972314 w 1693851"/>
              <a:gd name="connsiteY46" fmla="*/ 579276 h 1218645"/>
              <a:gd name="connsiteX47" fmla="*/ 1059958 w 1693851"/>
              <a:gd name="connsiteY47" fmla="*/ 579276 h 1218645"/>
              <a:gd name="connsiteX48" fmla="*/ 573801 w 1693851"/>
              <a:gd name="connsiteY48" fmla="*/ 491632 h 1218645"/>
              <a:gd name="connsiteX49" fmla="*/ 633893 w 1693851"/>
              <a:gd name="connsiteY49" fmla="*/ 491632 h 1218645"/>
              <a:gd name="connsiteX50" fmla="*/ 633893 w 1693851"/>
              <a:gd name="connsiteY50" fmla="*/ 579276 h 1218645"/>
              <a:gd name="connsiteX51" fmla="*/ 721537 w 1693851"/>
              <a:gd name="connsiteY51" fmla="*/ 579276 h 1218645"/>
              <a:gd name="connsiteX52" fmla="*/ 721537 w 1693851"/>
              <a:gd name="connsiteY52" fmla="*/ 639368 h 1218645"/>
              <a:gd name="connsiteX53" fmla="*/ 633893 w 1693851"/>
              <a:gd name="connsiteY53" fmla="*/ 639368 h 1218645"/>
              <a:gd name="connsiteX54" fmla="*/ 633893 w 1693851"/>
              <a:gd name="connsiteY54" fmla="*/ 727012 h 1218645"/>
              <a:gd name="connsiteX55" fmla="*/ 573801 w 1693851"/>
              <a:gd name="connsiteY55" fmla="*/ 727012 h 1218645"/>
              <a:gd name="connsiteX56" fmla="*/ 573801 w 1693851"/>
              <a:gd name="connsiteY56" fmla="*/ 639368 h 1218645"/>
              <a:gd name="connsiteX57" fmla="*/ 486157 w 1693851"/>
              <a:gd name="connsiteY57" fmla="*/ 639368 h 1218645"/>
              <a:gd name="connsiteX58" fmla="*/ 486157 w 1693851"/>
              <a:gd name="connsiteY58" fmla="*/ 579276 h 1218645"/>
              <a:gd name="connsiteX59" fmla="*/ 573801 w 1693851"/>
              <a:gd name="connsiteY59" fmla="*/ 579276 h 1218645"/>
              <a:gd name="connsiteX60" fmla="*/ 87644 w 1693851"/>
              <a:gd name="connsiteY60" fmla="*/ 491632 h 1218645"/>
              <a:gd name="connsiteX61" fmla="*/ 147736 w 1693851"/>
              <a:gd name="connsiteY61" fmla="*/ 491632 h 1218645"/>
              <a:gd name="connsiteX62" fmla="*/ 147736 w 1693851"/>
              <a:gd name="connsiteY62" fmla="*/ 579276 h 1218645"/>
              <a:gd name="connsiteX63" fmla="*/ 235380 w 1693851"/>
              <a:gd name="connsiteY63" fmla="*/ 579276 h 1218645"/>
              <a:gd name="connsiteX64" fmla="*/ 235380 w 1693851"/>
              <a:gd name="connsiteY64" fmla="*/ 639368 h 1218645"/>
              <a:gd name="connsiteX65" fmla="*/ 147736 w 1693851"/>
              <a:gd name="connsiteY65" fmla="*/ 639368 h 1218645"/>
              <a:gd name="connsiteX66" fmla="*/ 147736 w 1693851"/>
              <a:gd name="connsiteY66" fmla="*/ 727012 h 1218645"/>
              <a:gd name="connsiteX67" fmla="*/ 87644 w 1693851"/>
              <a:gd name="connsiteY67" fmla="*/ 727012 h 1218645"/>
              <a:gd name="connsiteX68" fmla="*/ 87644 w 1693851"/>
              <a:gd name="connsiteY68" fmla="*/ 639368 h 1218645"/>
              <a:gd name="connsiteX69" fmla="*/ 0 w 1693851"/>
              <a:gd name="connsiteY69" fmla="*/ 639368 h 1218645"/>
              <a:gd name="connsiteX70" fmla="*/ 0 w 1693851"/>
              <a:gd name="connsiteY70" fmla="*/ 579276 h 1218645"/>
              <a:gd name="connsiteX71" fmla="*/ 87644 w 1693851"/>
              <a:gd name="connsiteY71" fmla="*/ 579276 h 1218645"/>
              <a:gd name="connsiteX72" fmla="*/ 1546115 w 1693851"/>
              <a:gd name="connsiteY72" fmla="*/ 0 h 1218645"/>
              <a:gd name="connsiteX73" fmla="*/ 1606207 w 1693851"/>
              <a:gd name="connsiteY73" fmla="*/ 0 h 1218645"/>
              <a:gd name="connsiteX74" fmla="*/ 1606207 w 1693851"/>
              <a:gd name="connsiteY74" fmla="*/ 87644 h 1218645"/>
              <a:gd name="connsiteX75" fmla="*/ 1693851 w 1693851"/>
              <a:gd name="connsiteY75" fmla="*/ 87644 h 1218645"/>
              <a:gd name="connsiteX76" fmla="*/ 1693851 w 1693851"/>
              <a:gd name="connsiteY76" fmla="*/ 147736 h 1218645"/>
              <a:gd name="connsiteX77" fmla="*/ 1606207 w 1693851"/>
              <a:gd name="connsiteY77" fmla="*/ 147736 h 1218645"/>
              <a:gd name="connsiteX78" fmla="*/ 1606207 w 1693851"/>
              <a:gd name="connsiteY78" fmla="*/ 235380 h 1218645"/>
              <a:gd name="connsiteX79" fmla="*/ 1546115 w 1693851"/>
              <a:gd name="connsiteY79" fmla="*/ 235380 h 1218645"/>
              <a:gd name="connsiteX80" fmla="*/ 1546115 w 1693851"/>
              <a:gd name="connsiteY80" fmla="*/ 147736 h 1218645"/>
              <a:gd name="connsiteX81" fmla="*/ 1458471 w 1693851"/>
              <a:gd name="connsiteY81" fmla="*/ 147736 h 1218645"/>
              <a:gd name="connsiteX82" fmla="*/ 1458471 w 1693851"/>
              <a:gd name="connsiteY82" fmla="*/ 87644 h 1218645"/>
              <a:gd name="connsiteX83" fmla="*/ 1546115 w 1693851"/>
              <a:gd name="connsiteY83" fmla="*/ 87644 h 1218645"/>
              <a:gd name="connsiteX84" fmla="*/ 1059958 w 1693851"/>
              <a:gd name="connsiteY84" fmla="*/ 0 h 1218645"/>
              <a:gd name="connsiteX85" fmla="*/ 1120050 w 1693851"/>
              <a:gd name="connsiteY85" fmla="*/ 0 h 1218645"/>
              <a:gd name="connsiteX86" fmla="*/ 1120050 w 1693851"/>
              <a:gd name="connsiteY86" fmla="*/ 87644 h 1218645"/>
              <a:gd name="connsiteX87" fmla="*/ 1207694 w 1693851"/>
              <a:gd name="connsiteY87" fmla="*/ 87644 h 1218645"/>
              <a:gd name="connsiteX88" fmla="*/ 1207694 w 1693851"/>
              <a:gd name="connsiteY88" fmla="*/ 147736 h 1218645"/>
              <a:gd name="connsiteX89" fmla="*/ 1120050 w 1693851"/>
              <a:gd name="connsiteY89" fmla="*/ 147736 h 1218645"/>
              <a:gd name="connsiteX90" fmla="*/ 1120050 w 1693851"/>
              <a:gd name="connsiteY90" fmla="*/ 235380 h 1218645"/>
              <a:gd name="connsiteX91" fmla="*/ 1059958 w 1693851"/>
              <a:gd name="connsiteY91" fmla="*/ 235380 h 1218645"/>
              <a:gd name="connsiteX92" fmla="*/ 1059958 w 1693851"/>
              <a:gd name="connsiteY92" fmla="*/ 147736 h 1218645"/>
              <a:gd name="connsiteX93" fmla="*/ 972314 w 1693851"/>
              <a:gd name="connsiteY93" fmla="*/ 147736 h 1218645"/>
              <a:gd name="connsiteX94" fmla="*/ 972314 w 1693851"/>
              <a:gd name="connsiteY94" fmla="*/ 87644 h 1218645"/>
              <a:gd name="connsiteX95" fmla="*/ 1059958 w 1693851"/>
              <a:gd name="connsiteY95" fmla="*/ 87644 h 1218645"/>
            </a:gdLst>
            <a:rect l="l" t="t" r="r" b="b"/>
            <a:pathLst>
              <a:path w="1693851" h="1218645">
                <a:moveTo>
                  <a:pt x="573801" y="983265"/>
                </a:moveTo>
                <a:lnTo>
                  <a:pt x="633893" y="983265"/>
                </a:lnTo>
                <a:lnTo>
                  <a:pt x="633893" y="1070909"/>
                </a:lnTo>
                <a:lnTo>
                  <a:pt x="721537" y="1070909"/>
                </a:lnTo>
                <a:lnTo>
                  <a:pt x="721537" y="1131001"/>
                </a:lnTo>
                <a:lnTo>
                  <a:pt x="633893" y="1131001"/>
                </a:lnTo>
                <a:lnTo>
                  <a:pt x="633893" y="1218645"/>
                </a:lnTo>
                <a:lnTo>
                  <a:pt x="573801" y="1218645"/>
                </a:lnTo>
                <a:lnTo>
                  <a:pt x="573801" y="1131001"/>
                </a:lnTo>
                <a:lnTo>
                  <a:pt x="486157" y="1131001"/>
                </a:lnTo>
                <a:lnTo>
                  <a:pt x="486157" y="1070909"/>
                </a:lnTo>
                <a:lnTo>
                  <a:pt x="573801" y="1070909"/>
                </a:lnTo>
                <a:close/>
                <a:moveTo>
                  <a:pt x="87644" y="983265"/>
                </a:moveTo>
                <a:lnTo>
                  <a:pt x="147736" y="983265"/>
                </a:lnTo>
                <a:lnTo>
                  <a:pt x="147736" y="1070909"/>
                </a:lnTo>
                <a:lnTo>
                  <a:pt x="235380" y="1070909"/>
                </a:lnTo>
                <a:lnTo>
                  <a:pt x="235380" y="1131001"/>
                </a:lnTo>
                <a:lnTo>
                  <a:pt x="147736" y="1131001"/>
                </a:lnTo>
                <a:lnTo>
                  <a:pt x="147736" y="1218645"/>
                </a:lnTo>
                <a:lnTo>
                  <a:pt x="87644" y="1218645"/>
                </a:lnTo>
                <a:lnTo>
                  <a:pt x="87644" y="1131001"/>
                </a:lnTo>
                <a:lnTo>
                  <a:pt x="0" y="1131001"/>
                </a:lnTo>
                <a:lnTo>
                  <a:pt x="0" y="1070909"/>
                </a:lnTo>
                <a:lnTo>
                  <a:pt x="87644" y="1070909"/>
                </a:lnTo>
                <a:close/>
                <a:moveTo>
                  <a:pt x="1546115" y="491632"/>
                </a:moveTo>
                <a:lnTo>
                  <a:pt x="1606207" y="491632"/>
                </a:lnTo>
                <a:lnTo>
                  <a:pt x="1606207" y="579276"/>
                </a:lnTo>
                <a:lnTo>
                  <a:pt x="1693851" y="579276"/>
                </a:lnTo>
                <a:lnTo>
                  <a:pt x="1693851" y="639368"/>
                </a:lnTo>
                <a:lnTo>
                  <a:pt x="1606207" y="639368"/>
                </a:lnTo>
                <a:lnTo>
                  <a:pt x="1606207" y="727012"/>
                </a:lnTo>
                <a:lnTo>
                  <a:pt x="1546115" y="727012"/>
                </a:lnTo>
                <a:lnTo>
                  <a:pt x="1546115" y="639368"/>
                </a:lnTo>
                <a:lnTo>
                  <a:pt x="1458471" y="639368"/>
                </a:lnTo>
                <a:lnTo>
                  <a:pt x="1458471" y="579276"/>
                </a:lnTo>
                <a:lnTo>
                  <a:pt x="1546115" y="579276"/>
                </a:lnTo>
                <a:close/>
                <a:moveTo>
                  <a:pt x="1059958" y="491632"/>
                </a:moveTo>
                <a:lnTo>
                  <a:pt x="1120050" y="491632"/>
                </a:lnTo>
                <a:lnTo>
                  <a:pt x="1120050" y="579276"/>
                </a:lnTo>
                <a:lnTo>
                  <a:pt x="1207694" y="579276"/>
                </a:lnTo>
                <a:lnTo>
                  <a:pt x="1207694" y="639368"/>
                </a:lnTo>
                <a:lnTo>
                  <a:pt x="1120050" y="639368"/>
                </a:lnTo>
                <a:lnTo>
                  <a:pt x="1120050" y="727012"/>
                </a:lnTo>
                <a:lnTo>
                  <a:pt x="1059958" y="727012"/>
                </a:lnTo>
                <a:lnTo>
                  <a:pt x="1059958" y="639368"/>
                </a:lnTo>
                <a:lnTo>
                  <a:pt x="972314" y="639368"/>
                </a:lnTo>
                <a:lnTo>
                  <a:pt x="972314" y="579276"/>
                </a:lnTo>
                <a:lnTo>
                  <a:pt x="1059958" y="579276"/>
                </a:lnTo>
                <a:close/>
                <a:moveTo>
                  <a:pt x="573801" y="491632"/>
                </a:moveTo>
                <a:lnTo>
                  <a:pt x="633893" y="491632"/>
                </a:lnTo>
                <a:lnTo>
                  <a:pt x="633893" y="579276"/>
                </a:lnTo>
                <a:lnTo>
                  <a:pt x="721537" y="579276"/>
                </a:lnTo>
                <a:lnTo>
                  <a:pt x="721537" y="639368"/>
                </a:lnTo>
                <a:lnTo>
                  <a:pt x="633893" y="639368"/>
                </a:lnTo>
                <a:lnTo>
                  <a:pt x="633893" y="727012"/>
                </a:lnTo>
                <a:lnTo>
                  <a:pt x="573801" y="727012"/>
                </a:lnTo>
                <a:lnTo>
                  <a:pt x="573801" y="639368"/>
                </a:lnTo>
                <a:lnTo>
                  <a:pt x="486157" y="639368"/>
                </a:lnTo>
                <a:lnTo>
                  <a:pt x="486157" y="579276"/>
                </a:lnTo>
                <a:lnTo>
                  <a:pt x="573801" y="579276"/>
                </a:lnTo>
                <a:close/>
                <a:moveTo>
                  <a:pt x="87644" y="491632"/>
                </a:moveTo>
                <a:lnTo>
                  <a:pt x="147736" y="491632"/>
                </a:lnTo>
                <a:lnTo>
                  <a:pt x="147736" y="579276"/>
                </a:lnTo>
                <a:lnTo>
                  <a:pt x="235380" y="579276"/>
                </a:lnTo>
                <a:lnTo>
                  <a:pt x="235380" y="639368"/>
                </a:lnTo>
                <a:lnTo>
                  <a:pt x="147736" y="639368"/>
                </a:lnTo>
                <a:lnTo>
                  <a:pt x="147736" y="727012"/>
                </a:lnTo>
                <a:lnTo>
                  <a:pt x="87644" y="727012"/>
                </a:lnTo>
                <a:lnTo>
                  <a:pt x="87644" y="639368"/>
                </a:lnTo>
                <a:lnTo>
                  <a:pt x="0" y="639368"/>
                </a:lnTo>
                <a:lnTo>
                  <a:pt x="0" y="579276"/>
                </a:lnTo>
                <a:lnTo>
                  <a:pt x="87644" y="579276"/>
                </a:lnTo>
                <a:close/>
                <a:moveTo>
                  <a:pt x="1546115" y="0"/>
                </a:moveTo>
                <a:lnTo>
                  <a:pt x="1606207" y="0"/>
                </a:lnTo>
                <a:lnTo>
                  <a:pt x="1606207" y="87644"/>
                </a:lnTo>
                <a:lnTo>
                  <a:pt x="1693851" y="87644"/>
                </a:lnTo>
                <a:lnTo>
                  <a:pt x="1693851" y="147736"/>
                </a:lnTo>
                <a:lnTo>
                  <a:pt x="1606207" y="147736"/>
                </a:lnTo>
                <a:lnTo>
                  <a:pt x="1606207" y="235380"/>
                </a:lnTo>
                <a:lnTo>
                  <a:pt x="1546115" y="235380"/>
                </a:lnTo>
                <a:lnTo>
                  <a:pt x="1546115" y="147736"/>
                </a:lnTo>
                <a:lnTo>
                  <a:pt x="1458471" y="147736"/>
                </a:lnTo>
                <a:lnTo>
                  <a:pt x="1458471" y="87644"/>
                </a:lnTo>
                <a:lnTo>
                  <a:pt x="1546115" y="87644"/>
                </a:lnTo>
                <a:close/>
                <a:moveTo>
                  <a:pt x="1059958" y="0"/>
                </a:moveTo>
                <a:lnTo>
                  <a:pt x="1120050" y="0"/>
                </a:lnTo>
                <a:lnTo>
                  <a:pt x="1120050" y="87644"/>
                </a:lnTo>
                <a:lnTo>
                  <a:pt x="1207694" y="87644"/>
                </a:lnTo>
                <a:lnTo>
                  <a:pt x="1207694" y="147736"/>
                </a:lnTo>
                <a:lnTo>
                  <a:pt x="1120050" y="147736"/>
                </a:lnTo>
                <a:lnTo>
                  <a:pt x="1120050" y="235380"/>
                </a:lnTo>
                <a:lnTo>
                  <a:pt x="1059958" y="235380"/>
                </a:lnTo>
                <a:lnTo>
                  <a:pt x="1059958" y="147736"/>
                </a:lnTo>
                <a:lnTo>
                  <a:pt x="972314" y="147736"/>
                </a:lnTo>
                <a:lnTo>
                  <a:pt x="972314" y="87644"/>
                </a:lnTo>
                <a:lnTo>
                  <a:pt x="1059958" y="87644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</p:spTree>
  </p:cSld>
</p:sld>
</file>

<file path=ppt/theme/_rels/theme1.xml.rels><?xml version="1.0" encoding="UTF-8" standalone="yes"?>
<Relationships xmlns="http://schemas.openxmlformats.org/package/2006/relationships">

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00B0F0"/>
      </a:accent1>
      <a:accent2>
        <a:srgbClr val="3949EE"/>
      </a:accent2>
      <a:accent3>
        <a:srgbClr val="0070C0"/>
      </a:accent3>
      <a:accent4>
        <a:srgbClr val="00B0F0"/>
      </a:accent4>
      <a:accent5>
        <a:srgbClr val="3949EE"/>
      </a:accent5>
      <a:accent6>
        <a:srgbClr val="0070C0"/>
      </a:accent6>
      <a:hlink>
        <a:srgbClr val="D16311"/>
      </a:hlink>
      <a:folHlink>
        <a:srgbClr val="7030A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