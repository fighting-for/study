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</p:sldIdLst>
  <p:sldSz cx="12192000" cy="6858000"/>
  <p:notesSz cx="6858000" cy="9144000"/>
  <p:embeddedFontLst>
    <p:embeddedFont>
      <p:font typeface="Source Han Sans" panose="020B0500000000000000" charset="-122"/>
      <p:regular r:id="rId89"/>
    </p:embeddedFont>
    <p:embeddedFont>
      <p:font typeface="Source Han Sans CN Bold" panose="020B0800000000000000" charset="-122"/>
      <p:bold r:id="rId90"/>
    </p:embeddedFont>
    <p:embeddedFont>
      <p:font typeface="OPPOSans L" panose="00020600040101010101" charset="-122"/>
      <p:regular r:id="rId91"/>
    </p:embeddedFont>
    <p:embeddedFont>
      <p:font typeface="OPPOSans B" panose="00020600040101010101" charset="-122"/>
      <p:regular r:id="rId92"/>
    </p:embeddedFont>
    <p:embeddedFont>
      <p:font typeface="OPPOSans H" panose="00020600040101010101" charset="-122"/>
      <p:regular r:id="rId93"/>
    </p:embeddedFont>
    <p:embeddedFont>
      <p:font typeface="OPPOSans R" panose="00020600040101010101" charset="-122"/>
      <p:regular r:id="rId9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font" Target="fonts/font6.fntdata"/><Relationship Id="rId93" Type="http://schemas.openxmlformats.org/officeDocument/2006/relationships/font" Target="fonts/font5.fntdata"/><Relationship Id="rId92" Type="http://schemas.openxmlformats.org/officeDocument/2006/relationships/font" Target="fonts/font4.fntdata"/><Relationship Id="rId91" Type="http://schemas.openxmlformats.org/officeDocument/2006/relationships/font" Target="fonts/font3.fntdata"/><Relationship Id="rId90" Type="http://schemas.openxmlformats.org/officeDocument/2006/relationships/font" Target="fonts/font2.fntdata"/><Relationship Id="rId9" Type="http://schemas.openxmlformats.org/officeDocument/2006/relationships/slide" Target="slides/slide7.xml"/><Relationship Id="rId89" Type="http://schemas.openxmlformats.org/officeDocument/2006/relationships/font" Target="fonts/font1.fntdata"/><Relationship Id="rId88" Type="http://schemas.openxmlformats.org/officeDocument/2006/relationships/tableStyles" Target="tableStyles.xml"/><Relationship Id="rId87" Type="http://schemas.openxmlformats.org/officeDocument/2006/relationships/viewProps" Target="viewProps.xml"/><Relationship Id="rId86" Type="http://schemas.openxmlformats.org/officeDocument/2006/relationships/presProps" Target="presProps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5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97536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40822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38242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0800000">
            <a:off x="0" y="4287520"/>
            <a:ext cx="7006491" cy="2570480"/>
          </a:xfrm>
          <a:custGeom>
            <a:avLst/>
            <a:gdLst>
              <a:gd name="connsiteX0" fmla="*/ 7006491 w 7006491"/>
              <a:gd name="connsiteY0" fmla="*/ 2570480 h 2570480"/>
              <a:gd name="connsiteX1" fmla="*/ 1598271 w 7006491"/>
              <a:gd name="connsiteY1" fmla="*/ 2570480 h 2570480"/>
              <a:gd name="connsiteX2" fmla="*/ 1568152 w 7006491"/>
              <a:gd name="connsiteY2" fmla="*/ 2381261 h 2570480"/>
              <a:gd name="connsiteX3" fmla="*/ 246215 w 7006491"/>
              <a:gd name="connsiteY3" fmla="*/ 381426 h 2570480"/>
              <a:gd name="connsiteX4" fmla="*/ 0 w 7006491"/>
              <a:gd name="connsiteY4" fmla="*/ 231847 h 2570480"/>
              <a:gd name="connsiteX5" fmla="*/ 5149243 w 7006491"/>
              <a:gd name="connsiteY5" fmla="*/ 231847 h 2570480"/>
              <a:gd name="connsiteX6" fmla="*/ 5284778 w 7006491"/>
              <a:gd name="connsiteY6" fmla="*/ 0 h 2570480"/>
              <a:gd name="connsiteX7" fmla="*/ 5420312 w 7006491"/>
              <a:gd name="connsiteY7" fmla="*/ 231847 h 2570480"/>
              <a:gd name="connsiteX8" fmla="*/ 7006491 w 7006491"/>
              <a:gd name="connsiteY8" fmla="*/ 231847 h 2570480"/>
              <a:gd name="connsiteX9" fmla="*/ 7006491 w 7006491"/>
              <a:gd name="connsiteY9" fmla="*/ 2570480 h 2570480"/>
            </a:gdLst>
            <a:ahLst/>
            <a:cxnLst/>
            <a:rect l="l" t="t" r="r" b="b"/>
            <a:pathLst>
              <a:path w="7006491" h="2570480">
                <a:moveTo>
                  <a:pt x="7006491" y="2570480"/>
                </a:moveTo>
                <a:lnTo>
                  <a:pt x="1598271" y="2570480"/>
                </a:lnTo>
                <a:lnTo>
                  <a:pt x="1568152" y="2381261"/>
                </a:lnTo>
                <a:cubicBezTo>
                  <a:pt x="1409102" y="1551160"/>
                  <a:pt x="921646" y="837738"/>
                  <a:pt x="246215" y="381426"/>
                </a:cubicBezTo>
                <a:lnTo>
                  <a:pt x="0" y="231847"/>
                </a:lnTo>
                <a:lnTo>
                  <a:pt x="5149243" y="231847"/>
                </a:lnTo>
                <a:lnTo>
                  <a:pt x="5284778" y="0"/>
                </a:lnTo>
                <a:lnTo>
                  <a:pt x="5420312" y="231847"/>
                </a:lnTo>
                <a:lnTo>
                  <a:pt x="7006491" y="231847"/>
                </a:lnTo>
                <a:lnTo>
                  <a:pt x="7006491" y="257048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0800000">
            <a:off x="6465840" y="4287520"/>
            <a:ext cx="4083489" cy="1679040"/>
          </a:xfrm>
          <a:custGeom>
            <a:avLst/>
            <a:gdLst>
              <a:gd name="connsiteX0" fmla="*/ 4083489 w 4083489"/>
              <a:gd name="connsiteY0" fmla="*/ 1679040 h 1679040"/>
              <a:gd name="connsiteX1" fmla="*/ 0 w 4083489"/>
              <a:gd name="connsiteY1" fmla="*/ 1679040 h 1679040"/>
              <a:gd name="connsiteX2" fmla="*/ 2609 w 4083489"/>
              <a:gd name="connsiteY2" fmla="*/ 1661943 h 1679040"/>
              <a:gd name="connsiteX3" fmla="*/ 2041744 w 4083489"/>
              <a:gd name="connsiteY3" fmla="*/ 0 h 1679040"/>
              <a:gd name="connsiteX4" fmla="*/ 4080879 w 4083489"/>
              <a:gd name="connsiteY4" fmla="*/ 1661943 h 1679040"/>
              <a:gd name="connsiteX5" fmla="*/ 4083489 w 4083489"/>
              <a:gd name="connsiteY5" fmla="*/ 1679040 h 1679040"/>
            </a:gdLst>
            <a:ahLst/>
            <a:cxnLst/>
            <a:rect l="l" t="t" r="r" b="b"/>
            <a:pathLst>
              <a:path w="4083489" h="1679040">
                <a:moveTo>
                  <a:pt x="4083489" y="1679040"/>
                </a:moveTo>
                <a:lnTo>
                  <a:pt x="0" y="1679040"/>
                </a:lnTo>
                <a:lnTo>
                  <a:pt x="2609" y="1661943"/>
                </a:lnTo>
                <a:cubicBezTo>
                  <a:pt x="196694" y="713474"/>
                  <a:pt x="1035898" y="0"/>
                  <a:pt x="2041744" y="0"/>
                </a:cubicBezTo>
                <a:cubicBezTo>
                  <a:pt x="3047590" y="0"/>
                  <a:pt x="3886794" y="713474"/>
                  <a:pt x="4080879" y="1661943"/>
                </a:cubicBezTo>
                <a:lnTo>
                  <a:pt x="4083489" y="167904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0800000">
            <a:off x="7006491" y="6626153"/>
            <a:ext cx="3002188" cy="2186"/>
          </a:xfrm>
          <a:custGeom>
            <a:avLst/>
            <a:gdLst>
              <a:gd name="connsiteX0" fmla="*/ 3002188 w 3002188"/>
              <a:gd name="connsiteY0" fmla="*/ 2186 h 2186"/>
              <a:gd name="connsiteX1" fmla="*/ 0 w 3002188"/>
              <a:gd name="connsiteY1" fmla="*/ 2186 h 2186"/>
              <a:gd name="connsiteX2" fmla="*/ 3598 w 3002188"/>
              <a:gd name="connsiteY2" fmla="*/ 0 h 2186"/>
              <a:gd name="connsiteX3" fmla="*/ 2998589 w 3002188"/>
              <a:gd name="connsiteY3" fmla="*/ 0 h 2186"/>
              <a:gd name="connsiteX4" fmla="*/ 3002188 w 3002188"/>
              <a:gd name="connsiteY4" fmla="*/ 2186 h 2186"/>
            </a:gdLst>
            <a:ahLst/>
            <a:cxnLst/>
            <a:rect l="l" t="t" r="r" b="b"/>
            <a:pathLst>
              <a:path w="3002188" h="2186">
                <a:moveTo>
                  <a:pt x="3002188" y="2186"/>
                </a:moveTo>
                <a:lnTo>
                  <a:pt x="0" y="2186"/>
                </a:lnTo>
                <a:lnTo>
                  <a:pt x="3598" y="0"/>
                </a:lnTo>
                <a:lnTo>
                  <a:pt x="2998589" y="0"/>
                </a:lnTo>
                <a:lnTo>
                  <a:pt x="3002188" y="2186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248894" y="4750308"/>
            <a:ext cx="1846580" cy="10099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400" y="4750308"/>
            <a:ext cx="5121634" cy="1383792"/>
          </a:xfrm>
          <a:custGeom>
            <a:avLst/>
            <a:gdLst>
              <a:gd name="connsiteX0" fmla="*/ 162563 w 5121634"/>
              <a:gd name="connsiteY0" fmla="*/ 0 h 1383792"/>
              <a:gd name="connsiteX1" fmla="*/ 1561567 w 5121634"/>
              <a:gd name="connsiteY1" fmla="*/ 0 h 1383792"/>
              <a:gd name="connsiteX2" fmla="*/ 1724130 w 5121634"/>
              <a:gd name="connsiteY2" fmla="*/ 162563 h 1383792"/>
              <a:gd name="connsiteX3" fmla="*/ 1724130 w 5121634"/>
              <a:gd name="connsiteY3" fmla="*/ 566928 h 1383792"/>
              <a:gd name="connsiteX4" fmla="*/ 3294869 w 5121634"/>
              <a:gd name="connsiteY4" fmla="*/ 566928 h 1383792"/>
              <a:gd name="connsiteX5" fmla="*/ 4416852 w 5121634"/>
              <a:gd name="connsiteY5" fmla="*/ 566928 h 1383792"/>
              <a:gd name="connsiteX6" fmla="*/ 4985487 w 5121634"/>
              <a:gd name="connsiteY6" fmla="*/ 566928 h 1383792"/>
              <a:gd name="connsiteX7" fmla="*/ 5121634 w 5121634"/>
              <a:gd name="connsiteY7" fmla="*/ 703075 h 1383792"/>
              <a:gd name="connsiteX8" fmla="*/ 5121634 w 5121634"/>
              <a:gd name="connsiteY8" fmla="*/ 1247645 h 1383792"/>
              <a:gd name="connsiteX9" fmla="*/ 4985487 w 5121634"/>
              <a:gd name="connsiteY9" fmla="*/ 1383792 h 1383792"/>
              <a:gd name="connsiteX10" fmla="*/ 3294869 w 5121634"/>
              <a:gd name="connsiteY10" fmla="*/ 1383792 h 1383792"/>
              <a:gd name="connsiteX11" fmla="*/ 3241874 w 5121634"/>
              <a:gd name="connsiteY11" fmla="*/ 1373093 h 1383792"/>
              <a:gd name="connsiteX12" fmla="*/ 3239662 w 5121634"/>
              <a:gd name="connsiteY12" fmla="*/ 1371601 h 1383792"/>
              <a:gd name="connsiteX13" fmla="*/ 166302 w 5121634"/>
              <a:gd name="connsiteY13" fmla="*/ 1371601 h 1383792"/>
              <a:gd name="connsiteX14" fmla="*/ 0 w 5121634"/>
              <a:gd name="connsiteY14" fmla="*/ 1205299 h 1383792"/>
              <a:gd name="connsiteX15" fmla="*/ 0 w 5121634"/>
              <a:gd name="connsiteY15" fmla="*/ 812797 h 1383792"/>
              <a:gd name="connsiteX16" fmla="*/ 0 w 5121634"/>
              <a:gd name="connsiteY16" fmla="*/ 733230 h 1383792"/>
              <a:gd name="connsiteX17" fmla="*/ 0 w 5121634"/>
              <a:gd name="connsiteY17" fmla="*/ 162563 h 1383792"/>
              <a:gd name="connsiteX18" fmla="*/ 162563 w 5121634"/>
              <a:gd name="connsiteY18" fmla="*/ 0 h 1383792"/>
            </a:gdLst>
            <a:ahLst/>
            <a:cxnLst/>
            <a:rect l="l" t="t" r="r" b="b"/>
            <a:pathLst>
              <a:path w="5121634" h="1383792">
                <a:moveTo>
                  <a:pt x="162563" y="0"/>
                </a:moveTo>
                <a:lnTo>
                  <a:pt x="1561567" y="0"/>
                </a:lnTo>
                <a:cubicBezTo>
                  <a:pt x="1651348" y="0"/>
                  <a:pt x="1724130" y="72782"/>
                  <a:pt x="1724130" y="162563"/>
                </a:cubicBezTo>
                <a:lnTo>
                  <a:pt x="1724130" y="566928"/>
                </a:lnTo>
                <a:lnTo>
                  <a:pt x="3294869" y="566928"/>
                </a:lnTo>
                <a:lnTo>
                  <a:pt x="4416852" y="566928"/>
                </a:lnTo>
                <a:lnTo>
                  <a:pt x="4985487" y="566928"/>
                </a:lnTo>
                <a:cubicBezTo>
                  <a:pt x="5060679" y="566928"/>
                  <a:pt x="5121634" y="627883"/>
                  <a:pt x="5121634" y="703075"/>
                </a:cubicBezTo>
                <a:lnTo>
                  <a:pt x="5121634" y="1247645"/>
                </a:lnTo>
                <a:cubicBezTo>
                  <a:pt x="5121634" y="1322837"/>
                  <a:pt x="5060679" y="1383792"/>
                  <a:pt x="4985487" y="1383792"/>
                </a:cubicBezTo>
                <a:lnTo>
                  <a:pt x="3294869" y="1383792"/>
                </a:lnTo>
                <a:cubicBezTo>
                  <a:pt x="3276071" y="1383792"/>
                  <a:pt x="3258163" y="1379982"/>
                  <a:pt x="3241874" y="1373093"/>
                </a:cubicBezTo>
                <a:lnTo>
                  <a:pt x="3239662" y="1371601"/>
                </a:lnTo>
                <a:lnTo>
                  <a:pt x="166302" y="1371601"/>
                </a:lnTo>
                <a:cubicBezTo>
                  <a:pt x="74456" y="1371601"/>
                  <a:pt x="0" y="1297145"/>
                  <a:pt x="0" y="1205299"/>
                </a:cubicBezTo>
                <a:lnTo>
                  <a:pt x="0" y="812797"/>
                </a:lnTo>
                <a:lnTo>
                  <a:pt x="0" y="733230"/>
                </a:lnTo>
                <a:lnTo>
                  <a:pt x="0" y="162563"/>
                </a:lnTo>
                <a:cubicBezTo>
                  <a:pt x="0" y="72782"/>
                  <a:pt x="72782" y="0"/>
                  <a:pt x="16256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86221" y="4885853"/>
            <a:ext cx="1454038" cy="364066"/>
          </a:xfrm>
          <a:prstGeom prst="roundRect">
            <a:avLst>
              <a:gd name="adj" fmla="val 23903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480700" y="5495279"/>
            <a:ext cx="432000" cy="432000"/>
          </a:xfrm>
          <a:prstGeom prst="ellipse">
            <a:avLst/>
          </a:prstGeom>
          <a:gradFill>
            <a:gsLst>
              <a:gs pos="14000">
                <a:schemeClr val="accent1"/>
              </a:gs>
              <a:gs pos="95000">
                <a:schemeClr val="accent2"/>
              </a:gs>
            </a:gsLst>
            <a:lin ang="2700000" scaled="0"/>
          </a:gradFill>
          <a:ln w="12700" cap="sq">
            <a:noFill/>
            <a:miter/>
          </a:ln>
          <a:effectLst>
            <a:outerShdw blurRad="101600" dist="38100" dir="5400000" algn="t" rotWithShape="0">
              <a:schemeClr val="accent1">
                <a:lumMod val="50000"/>
                <a:alpha val="19000"/>
              </a:schemeClr>
            </a:outerShdw>
          </a:effectLst>
        </p:spPr>
        <p:txBody>
          <a:bodyPr vert="horz" wrap="square" lIns="73152" tIns="36576" rIns="73152" bIns="365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601492" y="5612279"/>
            <a:ext cx="190415" cy="198000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41056" y="5495279"/>
            <a:ext cx="432000" cy="432000"/>
          </a:xfrm>
          <a:prstGeom prst="ellipse">
            <a:avLst/>
          </a:prstGeom>
          <a:gradFill>
            <a:gsLst>
              <a:gs pos="14000">
                <a:schemeClr val="accent1"/>
              </a:gs>
              <a:gs pos="95000">
                <a:schemeClr val="accent2"/>
              </a:gs>
            </a:gsLst>
            <a:lin ang="2700000" scaled="0"/>
          </a:gradFill>
          <a:ln w="12700" cap="sq">
            <a:noFill/>
            <a:miter/>
          </a:ln>
          <a:effectLst>
            <a:outerShdw blurRad="101600" dist="38100" dir="5400000" algn="t" rotWithShape="0">
              <a:schemeClr val="accent1">
                <a:lumMod val="50000"/>
                <a:alpha val="19000"/>
              </a:schemeClr>
            </a:outerShdw>
          </a:effectLst>
        </p:spPr>
        <p:txBody>
          <a:bodyPr vert="horz" wrap="square" lIns="73152" tIns="36576" rIns="73152" bIns="365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65023" y="5611584"/>
            <a:ext cx="184066" cy="199390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3844515" y="5494174"/>
            <a:ext cx="175769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时间：202X.X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377674" y="5495190"/>
            <a:ext cx="1722120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主讲人：AiPPT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42318" y="4839870"/>
            <a:ext cx="1083056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DESIGN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394690" y="4839870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067786" y="5428864"/>
            <a:ext cx="604124" cy="532105"/>
            <a:chOff x="6067786" y="5428864"/>
            <a:chExt cx="604124" cy="532105"/>
          </a:xfrm>
        </p:grpSpPr>
        <p:cxnSp>
          <p:nvCxnSpPr>
            <p:cNvPr id="22" name="标题 1"/>
            <p:cNvCxnSpPr/>
            <p:nvPr/>
          </p:nvCxnSpPr>
          <p:spPr>
            <a:xfrm>
              <a:off x="6067786" y="5694917"/>
              <a:ext cx="604124" cy="0"/>
            </a:xfrm>
            <a:prstGeom prst="line">
              <a:avLst/>
            </a:prstGeom>
            <a:noFill/>
            <a:ln w="34925" cap="rnd">
              <a:solidFill>
                <a:schemeClr val="bg1"/>
              </a:solidFill>
              <a:prstDash val="solid"/>
              <a:round/>
            </a:ln>
          </p:spPr>
        </p:cxnSp>
        <p:cxnSp>
          <p:nvCxnSpPr>
            <p:cNvPr id="23" name="标题 1"/>
            <p:cNvCxnSpPr/>
            <p:nvPr/>
          </p:nvCxnSpPr>
          <p:spPr>
            <a:xfrm rot="2700000">
              <a:off x="6358003" y="5558693"/>
              <a:ext cx="367213" cy="0"/>
            </a:xfrm>
            <a:prstGeom prst="line">
              <a:avLst/>
            </a:prstGeom>
            <a:noFill/>
            <a:ln w="34925" cap="rnd">
              <a:solidFill>
                <a:schemeClr val="bg1"/>
              </a:solidFill>
              <a:prstDash val="solid"/>
              <a:round/>
            </a:ln>
          </p:spPr>
        </p:cxnSp>
        <p:cxnSp>
          <p:nvCxnSpPr>
            <p:cNvPr id="24" name="标题 1"/>
            <p:cNvCxnSpPr/>
            <p:nvPr/>
          </p:nvCxnSpPr>
          <p:spPr>
            <a:xfrm rot="18900000" flipH="1">
              <a:off x="6352081" y="5831140"/>
              <a:ext cx="367213" cy="0"/>
            </a:xfrm>
            <a:prstGeom prst="line">
              <a:avLst/>
            </a:prstGeom>
            <a:noFill/>
            <a:ln w="34925" cap="rnd">
              <a:solidFill>
                <a:schemeClr val="bg1"/>
              </a:solidFill>
              <a:prstDash val="solid"/>
              <a:round/>
            </a:ln>
          </p:spPr>
        </p:cxnSp>
      </p:grpSp>
      <p:sp>
        <p:nvSpPr>
          <p:cNvPr id="25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60400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2537718" y="948820"/>
            <a:ext cx="159762" cy="15976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10800000">
            <a:off x="10008679" y="4287520"/>
            <a:ext cx="2183321" cy="2338633"/>
          </a:xfrm>
          <a:custGeom>
            <a:avLst/>
            <a:gdLst>
              <a:gd name="connsiteX0" fmla="*/ 585050 w 2183321"/>
              <a:gd name="connsiteY0" fmla="*/ 2338633 h 2338633"/>
              <a:gd name="connsiteX1" fmla="*/ 0 w 2183321"/>
              <a:gd name="connsiteY1" fmla="*/ 2338633 h 2338633"/>
              <a:gd name="connsiteX2" fmla="*/ 0 w 2183321"/>
              <a:gd name="connsiteY2" fmla="*/ 0 h 2338633"/>
              <a:gd name="connsiteX3" fmla="*/ 2183321 w 2183321"/>
              <a:gd name="connsiteY3" fmla="*/ 0 h 2338633"/>
              <a:gd name="connsiteX4" fmla="*/ 1937106 w 2183321"/>
              <a:gd name="connsiteY4" fmla="*/ 149579 h 2338633"/>
              <a:gd name="connsiteX5" fmla="*/ 615169 w 2183321"/>
              <a:gd name="connsiteY5" fmla="*/ 2149414 h 2338633"/>
              <a:gd name="connsiteX6" fmla="*/ 585050 w 2183321"/>
              <a:gd name="connsiteY6" fmla="*/ 2338633 h 2338633"/>
            </a:gdLst>
            <a:ahLst/>
            <a:cxnLst/>
            <a:rect l="l" t="t" r="r" b="b"/>
            <a:pathLst>
              <a:path w="2183321" h="2338633">
                <a:moveTo>
                  <a:pt x="585050" y="2338633"/>
                </a:moveTo>
                <a:lnTo>
                  <a:pt x="0" y="2338633"/>
                </a:lnTo>
                <a:lnTo>
                  <a:pt x="0" y="0"/>
                </a:lnTo>
                <a:lnTo>
                  <a:pt x="2183321" y="0"/>
                </a:lnTo>
                <a:lnTo>
                  <a:pt x="1937106" y="149579"/>
                </a:lnTo>
                <a:cubicBezTo>
                  <a:pt x="1261675" y="605891"/>
                  <a:pt x="774219" y="1319313"/>
                  <a:pt x="615169" y="2149414"/>
                </a:cubicBezTo>
                <a:lnTo>
                  <a:pt x="585050" y="2338633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9872980" y="4297680"/>
            <a:ext cx="2319020" cy="231902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3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0083657" y="5988806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660400" y="1446169"/>
            <a:ext cx="2754716" cy="1116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rgbClr val="FFFFFF">
                        <a:alpha val="7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5532120" y="1322715"/>
            <a:ext cx="5415280" cy="3704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597269" y="70091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 rot="1800000">
            <a:off x="4521921" y="1556760"/>
            <a:ext cx="1152269" cy="1208430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645160" y="2284366"/>
            <a:ext cx="4677221" cy="1808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5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AI 芯颐养院创业策划书 PPT 大纲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845163" y="2147382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2：目录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454137" y="2147382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400" y="2147382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66729" y="2147382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1：封面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638900" y="2147382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3：执行概要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225196" y="2147382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03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845163" y="2989461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5：管理团队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66729" y="2989461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4：企业介绍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0400" y="2989461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04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454137" y="2989461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05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638900" y="2989461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6：产品（服务）介绍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225196" y="2989461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06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845163" y="3831540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8：营销策划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66729" y="3831540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7：行业分析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60400" y="3831540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07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4454137" y="3831540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08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638900" y="3831540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9：生产计划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225196" y="3831540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09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60400" y="724645"/>
            <a:ext cx="4145973" cy="831273"/>
          </a:xfrm>
          <a:prstGeom prst="rect">
            <a:avLst/>
          </a:pr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71750" y="924281"/>
            <a:ext cx="2679373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CONTENTS</a:t>
            </a:r>
            <a:endParaRPr kumimoji="1" lang="zh-CN" altLang="en-US"/>
          </a:p>
        </p:txBody>
      </p:sp>
      <p:cxnSp>
        <p:nvCxnSpPr>
          <p:cNvPr id="25" name="标题 1"/>
          <p:cNvCxnSpPr/>
          <p:nvPr/>
        </p:nvCxnSpPr>
        <p:spPr>
          <a:xfrm flipH="1">
            <a:off x="672851" y="1679376"/>
            <a:ext cx="6420785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26" name="标题 1"/>
          <p:cNvSpPr txBox="1"/>
          <p:nvPr/>
        </p:nvSpPr>
        <p:spPr>
          <a:xfrm>
            <a:off x="3385827" y="924281"/>
            <a:ext cx="994831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目录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4845163" y="4673619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11：组织结构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66729" y="4673619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10：财务分析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660400" y="4673619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10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4454137" y="4673619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11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8638900" y="4673619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12：风险分析</a:t>
            </a: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8225196" y="4673619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12</a:t>
            </a: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1066729" y="5515700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幻灯片 13：附件、备查资料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660400" y="5515700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8CD8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13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01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1：封面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项目名称：AI 芯颐养院创业策划书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团队图标：展示团队图标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团队地址：详细办公地址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团队联系方式：电话、邮箱等</a:t>
            </a:r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02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2：目录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执行概要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企业介绍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管理团队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产品（服务）介绍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行业分析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营销策划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生产计划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财务分析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组织结构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风险分析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附件、备查资料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03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3：执行概要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295505" y="5182557"/>
            <a:ext cx="3606800" cy="2117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835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开业初期：通过优质服务和口碑积累客户资源，计划入住率达到 50%以上。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71745" y="3279825"/>
            <a:ext cx="2184400" cy="35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845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筹备期：完成选址、装修、设备采购，组建专业团队，开展市场调研。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294609" y="3419863"/>
            <a:ext cx="2222500" cy="5673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97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长期发展：拓展服务范围，增加康复护理、老年教育等特色服务，打造综合性智能养老机构。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163971" y="2952953"/>
            <a:ext cx="2121408" cy="18288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45720" rtlCol="0" anchor="b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865743" y="2952953"/>
            <a:ext cx="2121408" cy="18288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45720" rtlCol="0" anchor="b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950198" y="3601732"/>
            <a:ext cx="548954" cy="531243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014857" y="2952953"/>
            <a:ext cx="2121408" cy="1828800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762000" dist="254000" dir="5400000" algn="ctr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45720" rtlCol="0" anchor="b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795834" y="3598021"/>
            <a:ext cx="571514" cy="538665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661585" y="3580444"/>
            <a:ext cx="529723" cy="573818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64131" y="1466941"/>
            <a:ext cx="9550400" cy="127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77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爱设计企业版整合创意供应链和设计服务流程，建立了以企业内容中台为核心，集“创意供给、内容存储、在线编辑、营销协作、品牌资产管理云”五大功能于一体的服务体系，为企业提供设计-营销-管理的一站式解决方案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64471" y="1493566"/>
            <a:ext cx="139485" cy="48895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项目计划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6750" y="2230416"/>
            <a:ext cx="2880000" cy="3744000"/>
          </a:xfrm>
          <a:prstGeom prst="roundRect">
            <a:avLst>
              <a:gd name="adj" fmla="val 7804"/>
            </a:avLst>
          </a:prstGeom>
          <a:solidFill>
            <a:schemeClr val="bg1"/>
          </a:solidFill>
          <a:ln w="6350" cap="flat">
            <a:solidFill>
              <a:schemeClr val="accent1">
                <a:lumMod val="40000"/>
                <a:lumOff val="60000"/>
              </a:schemeClr>
            </a:solidFill>
            <a:miter/>
          </a:ln>
          <a:effectLst>
            <a:outerShdw blurRad="317500" dist="127000" dir="2700000" algn="t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465439" y="2761295"/>
            <a:ext cx="504000" cy="50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026750" y="2917618"/>
            <a:ext cx="863600" cy="5588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26750" y="3796174"/>
            <a:ext cx="2160000" cy="15838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智能化养老服务：AI 健康监测系统实时采集老人生命体征数据，智能生活辅助设备帮助老人完成日常起居活动。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656000" y="2230416"/>
            <a:ext cx="2880000" cy="3744000"/>
          </a:xfrm>
          <a:prstGeom prst="roundRect">
            <a:avLst>
              <a:gd name="adj" fmla="val 7804"/>
            </a:avLst>
          </a:prstGeom>
          <a:solidFill>
            <a:schemeClr val="bg1"/>
          </a:solidFill>
          <a:ln w="6350" cap="flat">
            <a:solidFill>
              <a:schemeClr val="accent1">
                <a:lumMod val="40000"/>
                <a:lumOff val="60000"/>
              </a:schemeClr>
            </a:solidFill>
            <a:miter/>
          </a:ln>
          <a:effectLst>
            <a:outerShdw blurRad="317500" dist="127000" dir="2700000" algn="t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454689" y="2761295"/>
            <a:ext cx="504000" cy="50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016000" y="2917618"/>
            <a:ext cx="863600" cy="5588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02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016000" y="3796174"/>
            <a:ext cx="2160000" cy="15838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个性化服务：根据老人身体状况、兴趣爱好、生活习惯等制定个性化护理计划，满足老人多样化需求。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638900" y="2230416"/>
            <a:ext cx="2880000" cy="3744000"/>
          </a:xfrm>
          <a:prstGeom prst="roundRect">
            <a:avLst>
              <a:gd name="adj" fmla="val 7804"/>
            </a:avLst>
          </a:prstGeom>
          <a:solidFill>
            <a:schemeClr val="bg1"/>
          </a:solidFill>
          <a:ln w="6350" cap="flat">
            <a:solidFill>
              <a:schemeClr val="accent1">
                <a:lumMod val="40000"/>
                <a:lumOff val="60000"/>
              </a:schemeClr>
            </a:solidFill>
            <a:miter/>
          </a:ln>
          <a:effectLst>
            <a:outerShdw blurRad="317500" dist="127000" dir="2700000" algn="t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437589" y="2761295"/>
            <a:ext cx="504000" cy="504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998900" y="2917618"/>
            <a:ext cx="863600" cy="5588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03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998900" y="3796174"/>
            <a:ext cx="2160000" cy="15838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服务优势：AI 技术赋能养老服务，提升服务质量和效率，降低人力成本，个性化服务方案增强老人归属感。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3715474" y="3555819"/>
            <a:ext cx="787500" cy="756000"/>
          </a:xfrm>
          <a:prstGeom prst="rightArrow">
            <a:avLst>
              <a:gd name="adj1" fmla="val 64800"/>
              <a:gd name="adj2" fmla="val 3677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90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7678767" y="3555819"/>
            <a:ext cx="787500" cy="756000"/>
          </a:xfrm>
          <a:prstGeom prst="rightArrow">
            <a:avLst>
              <a:gd name="adj1" fmla="val 64800"/>
              <a:gd name="adj2" fmla="val 36770"/>
            </a:avLst>
          </a:prstGeom>
          <a:gradFill>
            <a:gsLst>
              <a:gs pos="10000">
                <a:schemeClr val="bg1">
                  <a:alpha val="0"/>
                </a:schemeClr>
              </a:gs>
              <a:gs pos="90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14345" y="1289983"/>
            <a:ext cx="106045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爱设计企业版整合创意供应链和设计服务流程，建立了以企业内容中台为核心，集“创意供给、内容存储、在线编辑、营销协作、品牌资产管理云”五大功能于一体的服务体系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产品（服务）介绍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2005876" y="0"/>
            <a:ext cx="6015705" cy="6858000"/>
          </a:xfrm>
          <a:custGeom>
            <a:avLst/>
            <a:gdLst>
              <a:gd name="connsiteX0" fmla="*/ 2107890 w 6015705"/>
              <a:gd name="connsiteY0" fmla="*/ 0 h 6858000"/>
              <a:gd name="connsiteX1" fmla="*/ 6015705 w 6015705"/>
              <a:gd name="connsiteY1" fmla="*/ 0 h 6858000"/>
              <a:gd name="connsiteX2" fmla="*/ 6003008 w 6015705"/>
              <a:gd name="connsiteY2" fmla="*/ 4441 h 6858000"/>
              <a:gd name="connsiteX3" fmla="*/ 5439376 w 6015705"/>
              <a:gd name="connsiteY3" fmla="*/ 378718 h 6858000"/>
              <a:gd name="connsiteX4" fmla="*/ 3593868 w 6015705"/>
              <a:gd name="connsiteY4" fmla="*/ 2224223 h 6858000"/>
              <a:gd name="connsiteX5" fmla="*/ 3593868 w 6015705"/>
              <a:gd name="connsiteY5" fmla="*/ 4633781 h 6858000"/>
              <a:gd name="connsiteX6" fmla="*/ 5439376 w 6015705"/>
              <a:gd name="connsiteY6" fmla="*/ 6479282 h 6858000"/>
              <a:gd name="connsiteX7" fmla="*/ 6003008 w 6015705"/>
              <a:gd name="connsiteY7" fmla="*/ 6853560 h 6858000"/>
              <a:gd name="connsiteX8" fmla="*/ 6015704 w 6015705"/>
              <a:gd name="connsiteY8" fmla="*/ 6858000 h 6858000"/>
              <a:gd name="connsiteX9" fmla="*/ 2107888 w 6015705"/>
              <a:gd name="connsiteY9" fmla="*/ 6858000 h 6858000"/>
              <a:gd name="connsiteX10" fmla="*/ 934172 w 6015705"/>
              <a:gd name="connsiteY10" fmla="*/ 5684287 h 6858000"/>
              <a:gd name="connsiteX11" fmla="*/ 934172 w 6015705"/>
              <a:gd name="connsiteY11" fmla="*/ 1173716 h 6858000"/>
            </a:gdLst>
            <a:ahLst/>
            <a:cxnLst/>
            <a:rect l="l" t="t" r="r" b="b"/>
            <a:pathLst>
              <a:path w="6015705" h="6858000">
                <a:moveTo>
                  <a:pt x="2107890" y="0"/>
                </a:moveTo>
                <a:lnTo>
                  <a:pt x="6015705" y="0"/>
                </a:lnTo>
                <a:lnTo>
                  <a:pt x="6003008" y="4441"/>
                </a:lnTo>
                <a:cubicBezTo>
                  <a:pt x="5797905" y="87614"/>
                  <a:pt x="5605722" y="212373"/>
                  <a:pt x="5439376" y="378718"/>
                </a:cubicBezTo>
                <a:lnTo>
                  <a:pt x="3593868" y="2224223"/>
                </a:lnTo>
                <a:cubicBezTo>
                  <a:pt x="2928487" y="2889605"/>
                  <a:pt x="2928487" y="3968399"/>
                  <a:pt x="3593868" y="4633781"/>
                </a:cubicBezTo>
                <a:lnTo>
                  <a:pt x="5439376" y="6479282"/>
                </a:lnTo>
                <a:cubicBezTo>
                  <a:pt x="5605722" y="6645628"/>
                  <a:pt x="5797905" y="6770387"/>
                  <a:pt x="6003008" y="6853560"/>
                </a:cubicBezTo>
                <a:lnTo>
                  <a:pt x="6015704" y="6858000"/>
                </a:lnTo>
                <a:lnTo>
                  <a:pt x="2107888" y="6858000"/>
                </a:lnTo>
                <a:lnTo>
                  <a:pt x="934172" y="5684287"/>
                </a:lnTo>
                <a:cubicBezTo>
                  <a:pt x="-311390" y="4438727"/>
                  <a:pt x="-311390" y="2419276"/>
                  <a:pt x="934172" y="117371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238218" y="2278743"/>
            <a:ext cx="2300522" cy="2300516"/>
          </a:xfrm>
          <a:custGeom>
            <a:avLst/>
            <a:gdLst>
              <a:gd name="connsiteX0" fmla="*/ 2792230 w 5584459"/>
              <a:gd name="connsiteY0" fmla="*/ 0 h 5584460"/>
              <a:gd name="connsiteX1" fmla="*/ 3740023 w 5584459"/>
              <a:gd name="connsiteY1" fmla="*/ 392589 h 5584460"/>
              <a:gd name="connsiteX2" fmla="*/ 5191871 w 5584459"/>
              <a:gd name="connsiteY2" fmla="*/ 1844438 h 5584460"/>
              <a:gd name="connsiteX3" fmla="*/ 5191871 w 5584459"/>
              <a:gd name="connsiteY3" fmla="*/ 3740023 h 5584460"/>
              <a:gd name="connsiteX4" fmla="*/ 3740023 w 5584459"/>
              <a:gd name="connsiteY4" fmla="*/ 5191871 h 5584460"/>
              <a:gd name="connsiteX5" fmla="*/ 1844438 w 5584459"/>
              <a:gd name="connsiteY5" fmla="*/ 5191871 h 5584460"/>
              <a:gd name="connsiteX6" fmla="*/ 392589 w 5584459"/>
              <a:gd name="connsiteY6" fmla="*/ 3740023 h 5584460"/>
              <a:gd name="connsiteX7" fmla="*/ 392589 w 5584459"/>
              <a:gd name="connsiteY7" fmla="*/ 1844438 h 5584460"/>
              <a:gd name="connsiteX8" fmla="*/ 1844438 w 5584459"/>
              <a:gd name="connsiteY8" fmla="*/ 392589 h 5584460"/>
              <a:gd name="connsiteX9" fmla="*/ 2792230 w 5584459"/>
              <a:gd name="connsiteY9" fmla="*/ 0 h 5584460"/>
            </a:gdLst>
            <a:ahLst/>
            <a:cxnLst/>
            <a:rect l="l" t="t" r="r" b="b"/>
            <a:pathLst>
              <a:path w="5584459" h="5584460">
                <a:moveTo>
                  <a:pt x="2792230" y="0"/>
                </a:moveTo>
                <a:cubicBezTo>
                  <a:pt x="3135264" y="0"/>
                  <a:pt x="3478297" y="130863"/>
                  <a:pt x="3740023" y="392589"/>
                </a:cubicBezTo>
                <a:lnTo>
                  <a:pt x="5191871" y="1844438"/>
                </a:lnTo>
                <a:cubicBezTo>
                  <a:pt x="5715322" y="2367889"/>
                  <a:pt x="5715322" y="3216571"/>
                  <a:pt x="5191871" y="3740023"/>
                </a:cubicBezTo>
                <a:lnTo>
                  <a:pt x="3740023" y="5191871"/>
                </a:lnTo>
                <a:cubicBezTo>
                  <a:pt x="3216571" y="5715323"/>
                  <a:pt x="2367889" y="5715323"/>
                  <a:pt x="1844438" y="5191871"/>
                </a:cubicBezTo>
                <a:lnTo>
                  <a:pt x="392589" y="3740023"/>
                </a:lnTo>
                <a:cubicBezTo>
                  <a:pt x="-130863" y="3216571"/>
                  <a:pt x="-130863" y="2367889"/>
                  <a:pt x="392589" y="1844438"/>
                </a:cubicBezTo>
                <a:lnTo>
                  <a:pt x="1844438" y="392589"/>
                </a:lnTo>
                <a:cubicBezTo>
                  <a:pt x="2106164" y="130863"/>
                  <a:pt x="2449197" y="0"/>
                  <a:pt x="279223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>
            <a:outerShdw blurRad="317500" sx="102000" sy="102000" algn="ctr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290513" y="2754807"/>
            <a:ext cx="1348392" cy="1348388"/>
          </a:xfrm>
          <a:custGeom>
            <a:avLst/>
            <a:gdLst>
              <a:gd name="connsiteX0" fmla="*/ 2792230 w 5584459"/>
              <a:gd name="connsiteY0" fmla="*/ 0 h 5584460"/>
              <a:gd name="connsiteX1" fmla="*/ 3740023 w 5584459"/>
              <a:gd name="connsiteY1" fmla="*/ 392589 h 5584460"/>
              <a:gd name="connsiteX2" fmla="*/ 5191871 w 5584459"/>
              <a:gd name="connsiteY2" fmla="*/ 1844438 h 5584460"/>
              <a:gd name="connsiteX3" fmla="*/ 5191871 w 5584459"/>
              <a:gd name="connsiteY3" fmla="*/ 3740023 h 5584460"/>
              <a:gd name="connsiteX4" fmla="*/ 3740023 w 5584459"/>
              <a:gd name="connsiteY4" fmla="*/ 5191871 h 5584460"/>
              <a:gd name="connsiteX5" fmla="*/ 1844438 w 5584459"/>
              <a:gd name="connsiteY5" fmla="*/ 5191871 h 5584460"/>
              <a:gd name="connsiteX6" fmla="*/ 392589 w 5584459"/>
              <a:gd name="connsiteY6" fmla="*/ 3740023 h 5584460"/>
              <a:gd name="connsiteX7" fmla="*/ 392589 w 5584459"/>
              <a:gd name="connsiteY7" fmla="*/ 1844438 h 5584460"/>
              <a:gd name="connsiteX8" fmla="*/ 1844438 w 5584459"/>
              <a:gd name="connsiteY8" fmla="*/ 392589 h 5584460"/>
              <a:gd name="connsiteX9" fmla="*/ 2792230 w 5584459"/>
              <a:gd name="connsiteY9" fmla="*/ 0 h 5584460"/>
            </a:gdLst>
            <a:ahLst/>
            <a:cxnLst/>
            <a:rect l="l" t="t" r="r" b="b"/>
            <a:pathLst>
              <a:path w="5584459" h="5584460">
                <a:moveTo>
                  <a:pt x="2792230" y="0"/>
                </a:moveTo>
                <a:cubicBezTo>
                  <a:pt x="3135264" y="0"/>
                  <a:pt x="3478297" y="130863"/>
                  <a:pt x="3740023" y="392589"/>
                </a:cubicBezTo>
                <a:lnTo>
                  <a:pt x="5191871" y="1844438"/>
                </a:lnTo>
                <a:cubicBezTo>
                  <a:pt x="5715322" y="2367889"/>
                  <a:pt x="5715322" y="3216571"/>
                  <a:pt x="5191871" y="3740023"/>
                </a:cubicBezTo>
                <a:lnTo>
                  <a:pt x="3740023" y="5191871"/>
                </a:lnTo>
                <a:cubicBezTo>
                  <a:pt x="3216571" y="5715323"/>
                  <a:pt x="2367889" y="5715323"/>
                  <a:pt x="1844438" y="5191871"/>
                </a:cubicBezTo>
                <a:lnTo>
                  <a:pt x="392589" y="3740023"/>
                </a:lnTo>
                <a:cubicBezTo>
                  <a:pt x="-130863" y="3216571"/>
                  <a:pt x="-130863" y="2367889"/>
                  <a:pt x="392589" y="1844438"/>
                </a:cubicBezTo>
                <a:lnTo>
                  <a:pt x="1844438" y="392589"/>
                </a:lnTo>
                <a:cubicBezTo>
                  <a:pt x="2106164" y="130863"/>
                  <a:pt x="2449197" y="0"/>
                  <a:pt x="279223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>
            <a:outerShdw blurRad="317500" sx="102000" sy="102000" algn="ctr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564798" y="766350"/>
            <a:ext cx="1348392" cy="1348388"/>
          </a:xfrm>
          <a:custGeom>
            <a:avLst/>
            <a:gdLst>
              <a:gd name="connsiteX0" fmla="*/ 2792230 w 5584459"/>
              <a:gd name="connsiteY0" fmla="*/ 0 h 5584460"/>
              <a:gd name="connsiteX1" fmla="*/ 3740023 w 5584459"/>
              <a:gd name="connsiteY1" fmla="*/ 392589 h 5584460"/>
              <a:gd name="connsiteX2" fmla="*/ 5191871 w 5584459"/>
              <a:gd name="connsiteY2" fmla="*/ 1844438 h 5584460"/>
              <a:gd name="connsiteX3" fmla="*/ 5191871 w 5584459"/>
              <a:gd name="connsiteY3" fmla="*/ 3740023 h 5584460"/>
              <a:gd name="connsiteX4" fmla="*/ 3740023 w 5584459"/>
              <a:gd name="connsiteY4" fmla="*/ 5191871 h 5584460"/>
              <a:gd name="connsiteX5" fmla="*/ 1844438 w 5584459"/>
              <a:gd name="connsiteY5" fmla="*/ 5191871 h 5584460"/>
              <a:gd name="connsiteX6" fmla="*/ 392589 w 5584459"/>
              <a:gd name="connsiteY6" fmla="*/ 3740023 h 5584460"/>
              <a:gd name="connsiteX7" fmla="*/ 392589 w 5584459"/>
              <a:gd name="connsiteY7" fmla="*/ 1844438 h 5584460"/>
              <a:gd name="connsiteX8" fmla="*/ 1844438 w 5584459"/>
              <a:gd name="connsiteY8" fmla="*/ 392589 h 5584460"/>
              <a:gd name="connsiteX9" fmla="*/ 2792230 w 5584459"/>
              <a:gd name="connsiteY9" fmla="*/ 0 h 5584460"/>
            </a:gdLst>
            <a:ahLst/>
            <a:cxnLst/>
            <a:rect l="l" t="t" r="r" b="b"/>
            <a:pathLst>
              <a:path w="5584459" h="5584460">
                <a:moveTo>
                  <a:pt x="2792230" y="0"/>
                </a:moveTo>
                <a:cubicBezTo>
                  <a:pt x="3135264" y="0"/>
                  <a:pt x="3478297" y="130863"/>
                  <a:pt x="3740023" y="392589"/>
                </a:cubicBezTo>
                <a:lnTo>
                  <a:pt x="5191871" y="1844438"/>
                </a:lnTo>
                <a:cubicBezTo>
                  <a:pt x="5715322" y="2367889"/>
                  <a:pt x="5715322" y="3216571"/>
                  <a:pt x="5191871" y="3740023"/>
                </a:cubicBezTo>
                <a:lnTo>
                  <a:pt x="3740023" y="5191871"/>
                </a:lnTo>
                <a:cubicBezTo>
                  <a:pt x="3216571" y="5715323"/>
                  <a:pt x="2367889" y="5715323"/>
                  <a:pt x="1844438" y="5191871"/>
                </a:cubicBezTo>
                <a:lnTo>
                  <a:pt x="392589" y="3740023"/>
                </a:lnTo>
                <a:cubicBezTo>
                  <a:pt x="-130863" y="3216571"/>
                  <a:pt x="-130863" y="2367889"/>
                  <a:pt x="392589" y="1844438"/>
                </a:cubicBezTo>
                <a:lnTo>
                  <a:pt x="1844438" y="392589"/>
                </a:lnTo>
                <a:cubicBezTo>
                  <a:pt x="2106164" y="130863"/>
                  <a:pt x="2449197" y="0"/>
                  <a:pt x="279223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>
            <a:outerShdw blurRad="317500" sx="102000" sy="102000" algn="ctr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564798" y="4743262"/>
            <a:ext cx="1348392" cy="1348388"/>
          </a:xfrm>
          <a:custGeom>
            <a:avLst/>
            <a:gdLst>
              <a:gd name="connsiteX0" fmla="*/ 2792230 w 5584459"/>
              <a:gd name="connsiteY0" fmla="*/ 0 h 5584460"/>
              <a:gd name="connsiteX1" fmla="*/ 3740023 w 5584459"/>
              <a:gd name="connsiteY1" fmla="*/ 392589 h 5584460"/>
              <a:gd name="connsiteX2" fmla="*/ 5191871 w 5584459"/>
              <a:gd name="connsiteY2" fmla="*/ 1844438 h 5584460"/>
              <a:gd name="connsiteX3" fmla="*/ 5191871 w 5584459"/>
              <a:gd name="connsiteY3" fmla="*/ 3740023 h 5584460"/>
              <a:gd name="connsiteX4" fmla="*/ 3740023 w 5584459"/>
              <a:gd name="connsiteY4" fmla="*/ 5191871 h 5584460"/>
              <a:gd name="connsiteX5" fmla="*/ 1844438 w 5584459"/>
              <a:gd name="connsiteY5" fmla="*/ 5191871 h 5584460"/>
              <a:gd name="connsiteX6" fmla="*/ 392589 w 5584459"/>
              <a:gd name="connsiteY6" fmla="*/ 3740023 h 5584460"/>
              <a:gd name="connsiteX7" fmla="*/ 392589 w 5584459"/>
              <a:gd name="connsiteY7" fmla="*/ 1844438 h 5584460"/>
              <a:gd name="connsiteX8" fmla="*/ 1844438 w 5584459"/>
              <a:gd name="connsiteY8" fmla="*/ 392589 h 5584460"/>
              <a:gd name="connsiteX9" fmla="*/ 2792230 w 5584459"/>
              <a:gd name="connsiteY9" fmla="*/ 0 h 5584460"/>
            </a:gdLst>
            <a:ahLst/>
            <a:cxnLst/>
            <a:rect l="l" t="t" r="r" b="b"/>
            <a:pathLst>
              <a:path w="5584459" h="5584460">
                <a:moveTo>
                  <a:pt x="2792230" y="0"/>
                </a:moveTo>
                <a:cubicBezTo>
                  <a:pt x="3135264" y="0"/>
                  <a:pt x="3478297" y="130863"/>
                  <a:pt x="3740023" y="392589"/>
                </a:cubicBezTo>
                <a:lnTo>
                  <a:pt x="5191871" y="1844438"/>
                </a:lnTo>
                <a:cubicBezTo>
                  <a:pt x="5715322" y="2367889"/>
                  <a:pt x="5715322" y="3216571"/>
                  <a:pt x="5191871" y="3740023"/>
                </a:cubicBezTo>
                <a:lnTo>
                  <a:pt x="3740023" y="5191871"/>
                </a:lnTo>
                <a:cubicBezTo>
                  <a:pt x="3216571" y="5715323"/>
                  <a:pt x="2367889" y="5715323"/>
                  <a:pt x="1844438" y="5191871"/>
                </a:cubicBezTo>
                <a:lnTo>
                  <a:pt x="392589" y="3740023"/>
                </a:lnTo>
                <a:cubicBezTo>
                  <a:pt x="-130863" y="3216571"/>
                  <a:pt x="-130863" y="2367889"/>
                  <a:pt x="392589" y="1844438"/>
                </a:cubicBezTo>
                <a:lnTo>
                  <a:pt x="1844438" y="392589"/>
                </a:lnTo>
                <a:cubicBezTo>
                  <a:pt x="2106164" y="130863"/>
                  <a:pt x="2449197" y="0"/>
                  <a:pt x="279223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>
            <a:outerShdw blurRad="317500" sx="102000" sy="102000" algn="ctr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60399" y="2226480"/>
            <a:ext cx="3271928" cy="24050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爱设计isheji.com是国内领先的在线设计与协作平台，并为众多先进企业提供内容中台解决方案。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146722" y="1029406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76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老龄化加剧：我国 60 岁及以上人口占比超 18%，且呈上升趋势，养老需求持续增长。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944796" y="3017863"/>
            <a:ext cx="25146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76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政策支持：国家出台多项政策鼓励社会力量参与养老服务，推动养老服务智能化发展。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146722" y="500631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9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市场需求升级：随着经济发展，老年人消费观念转变，对养老品质要求提高，愿意为高端、智能养老服务支付更高费用。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995653" y="1197203"/>
            <a:ext cx="486682" cy="486682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740068" y="3185660"/>
            <a:ext cx="449282" cy="48668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995653" y="5196841"/>
            <a:ext cx="486682" cy="441232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4888481" y="2924177"/>
            <a:ext cx="999996" cy="1009648"/>
            <a:chOff x="4888481" y="2924177"/>
            <a:chExt cx="999996" cy="1009648"/>
          </a:xfrm>
        </p:grpSpPr>
        <p:sp>
          <p:nvSpPr>
            <p:cNvPr id="18" name="标题 1"/>
            <p:cNvSpPr txBox="1"/>
            <p:nvPr/>
          </p:nvSpPr>
          <p:spPr>
            <a:xfrm>
              <a:off x="4888481" y="2924462"/>
              <a:ext cx="999996" cy="1009363"/>
            </a:xfrm>
            <a:custGeom>
              <a:avLst/>
              <a:gdLst>
                <a:gd name="connsiteX0" fmla="*/ 180615 w 333205"/>
                <a:gd name="connsiteY0" fmla="*/ 0 h 336327"/>
                <a:gd name="connsiteX1" fmla="*/ 131466 w 333205"/>
                <a:gd name="connsiteY1" fmla="*/ 0 h 336327"/>
                <a:gd name="connsiteX2" fmla="*/ 59743 w 333205"/>
                <a:gd name="connsiteY2" fmla="*/ 53626 h 336327"/>
                <a:gd name="connsiteX3" fmla="*/ 2879 w 333205"/>
                <a:gd name="connsiteY3" fmla="*/ 246888 h 336327"/>
                <a:gd name="connsiteX4" fmla="*/ 69744 w 333205"/>
                <a:gd name="connsiteY4" fmla="*/ 336233 h 336327"/>
                <a:gd name="connsiteX5" fmla="*/ 93747 w 333205"/>
                <a:gd name="connsiteY5" fmla="*/ 315468 h 336327"/>
                <a:gd name="connsiteX6" fmla="*/ 77459 w 333205"/>
                <a:gd name="connsiteY6" fmla="*/ 298418 h 336327"/>
                <a:gd name="connsiteX7" fmla="*/ 42312 w 333205"/>
                <a:gd name="connsiteY7" fmla="*/ 270129 h 336327"/>
                <a:gd name="connsiteX8" fmla="*/ 103939 w 333205"/>
                <a:gd name="connsiteY8" fmla="*/ 200692 h 336327"/>
                <a:gd name="connsiteX9" fmla="*/ 160994 w 333205"/>
                <a:gd name="connsiteY9" fmla="*/ 200692 h 336327"/>
                <a:gd name="connsiteX10" fmla="*/ 202999 w 333205"/>
                <a:gd name="connsiteY10" fmla="*/ 242697 h 336327"/>
                <a:gd name="connsiteX11" fmla="*/ 202999 w 333205"/>
                <a:gd name="connsiteY11" fmla="*/ 260890 h 336327"/>
                <a:gd name="connsiteX12" fmla="*/ 202999 w 333205"/>
                <a:gd name="connsiteY12" fmla="*/ 260985 h 336327"/>
                <a:gd name="connsiteX13" fmla="*/ 202999 w 333205"/>
                <a:gd name="connsiteY13" fmla="*/ 293180 h 336327"/>
                <a:gd name="connsiteX14" fmla="*/ 246242 w 333205"/>
                <a:gd name="connsiteY14" fmla="*/ 336328 h 336327"/>
                <a:gd name="connsiteX15" fmla="*/ 290057 w 333205"/>
                <a:gd name="connsiteY15" fmla="*/ 336328 h 336327"/>
                <a:gd name="connsiteX16" fmla="*/ 333206 w 333205"/>
                <a:gd name="connsiteY16" fmla="*/ 293180 h 336327"/>
                <a:gd name="connsiteX17" fmla="*/ 333206 w 333205"/>
                <a:gd name="connsiteY17" fmla="*/ 260318 h 336327"/>
                <a:gd name="connsiteX18" fmla="*/ 333206 w 333205"/>
                <a:gd name="connsiteY18" fmla="*/ 235458 h 336327"/>
                <a:gd name="connsiteX19" fmla="*/ 333206 w 333205"/>
                <a:gd name="connsiteY19" fmla="*/ 153924 h 336327"/>
                <a:gd name="connsiteX20" fmla="*/ 180615 w 333205"/>
                <a:gd name="connsiteY20" fmla="*/ 0 h 336327"/>
                <a:gd name="connsiteX21" fmla="*/ 128323 w 333205"/>
                <a:gd name="connsiteY21" fmla="*/ 152019 h 336327"/>
                <a:gd name="connsiteX22" fmla="*/ 106034 w 333205"/>
                <a:gd name="connsiteY22" fmla="*/ 129731 h 336327"/>
                <a:gd name="connsiteX23" fmla="*/ 128323 w 333205"/>
                <a:gd name="connsiteY23" fmla="*/ 107442 h 336327"/>
                <a:gd name="connsiteX24" fmla="*/ 150611 w 333205"/>
                <a:gd name="connsiteY24" fmla="*/ 129731 h 336327"/>
                <a:gd name="connsiteX25" fmla="*/ 128323 w 333205"/>
                <a:gd name="connsiteY25" fmla="*/ 152019 h 336327"/>
              </a:gdLst>
              <a:ahLst/>
              <a:cxnLst/>
              <a:rect l="l" t="t" r="r" b="b"/>
              <a:pathLst>
                <a:path w="333205" h="336327">
                  <a:moveTo>
                    <a:pt x="180615" y="0"/>
                  </a:moveTo>
                  <a:lnTo>
                    <a:pt x="131466" y="0"/>
                  </a:lnTo>
                  <a:cubicBezTo>
                    <a:pt x="98319" y="0"/>
                    <a:pt x="69077" y="21812"/>
                    <a:pt x="59743" y="53626"/>
                  </a:cubicBezTo>
                  <a:lnTo>
                    <a:pt x="2879" y="246888"/>
                  </a:lnTo>
                  <a:cubicBezTo>
                    <a:pt x="-10266" y="291560"/>
                    <a:pt x="23262" y="336233"/>
                    <a:pt x="69744" y="336233"/>
                  </a:cubicBezTo>
                  <a:cubicBezTo>
                    <a:pt x="88699" y="336233"/>
                    <a:pt x="93747" y="326041"/>
                    <a:pt x="93747" y="315468"/>
                  </a:cubicBezTo>
                  <a:cubicBezTo>
                    <a:pt x="93747" y="305753"/>
                    <a:pt x="86508" y="298704"/>
                    <a:pt x="77459" y="298418"/>
                  </a:cubicBezTo>
                  <a:cubicBezTo>
                    <a:pt x="59933" y="297847"/>
                    <a:pt x="44122" y="287560"/>
                    <a:pt x="42312" y="270129"/>
                  </a:cubicBezTo>
                  <a:cubicBezTo>
                    <a:pt x="38312" y="232505"/>
                    <a:pt x="67458" y="200692"/>
                    <a:pt x="103939" y="200692"/>
                  </a:cubicBezTo>
                  <a:lnTo>
                    <a:pt x="160994" y="200692"/>
                  </a:lnTo>
                  <a:cubicBezTo>
                    <a:pt x="184139" y="200692"/>
                    <a:pt x="202999" y="219456"/>
                    <a:pt x="202999" y="242697"/>
                  </a:cubicBezTo>
                  <a:lnTo>
                    <a:pt x="202999" y="260890"/>
                  </a:lnTo>
                  <a:cubicBezTo>
                    <a:pt x="202999" y="260890"/>
                    <a:pt x="202999" y="260890"/>
                    <a:pt x="202999" y="260985"/>
                  </a:cubicBezTo>
                  <a:lnTo>
                    <a:pt x="202999" y="293180"/>
                  </a:lnTo>
                  <a:cubicBezTo>
                    <a:pt x="202999" y="316897"/>
                    <a:pt x="222430" y="336328"/>
                    <a:pt x="246242" y="336328"/>
                  </a:cubicBezTo>
                  <a:lnTo>
                    <a:pt x="290057" y="336328"/>
                  </a:lnTo>
                  <a:cubicBezTo>
                    <a:pt x="313775" y="336328"/>
                    <a:pt x="333206" y="316897"/>
                    <a:pt x="333206" y="293180"/>
                  </a:cubicBezTo>
                  <a:lnTo>
                    <a:pt x="333206" y="260318"/>
                  </a:lnTo>
                  <a:lnTo>
                    <a:pt x="333206" y="235458"/>
                  </a:lnTo>
                  <a:lnTo>
                    <a:pt x="333206" y="153924"/>
                  </a:lnTo>
                  <a:cubicBezTo>
                    <a:pt x="249290" y="153353"/>
                    <a:pt x="181091" y="84677"/>
                    <a:pt x="180615" y="0"/>
                  </a:cubicBezTo>
                  <a:close/>
                  <a:moveTo>
                    <a:pt x="128323" y="152019"/>
                  </a:moveTo>
                  <a:cubicBezTo>
                    <a:pt x="116036" y="152019"/>
                    <a:pt x="106034" y="142018"/>
                    <a:pt x="106034" y="129731"/>
                  </a:cubicBezTo>
                  <a:cubicBezTo>
                    <a:pt x="106034" y="117443"/>
                    <a:pt x="116036" y="107442"/>
                    <a:pt x="128323" y="107442"/>
                  </a:cubicBezTo>
                  <a:cubicBezTo>
                    <a:pt x="140610" y="107442"/>
                    <a:pt x="150611" y="117443"/>
                    <a:pt x="150611" y="129731"/>
                  </a:cubicBezTo>
                  <a:cubicBezTo>
                    <a:pt x="150611" y="142018"/>
                    <a:pt x="140610" y="152019"/>
                    <a:pt x="128323" y="15201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5523724" y="2924177"/>
              <a:ext cx="364753" cy="364467"/>
            </a:xfrm>
            <a:custGeom>
              <a:avLst/>
              <a:gdLst>
                <a:gd name="connsiteX0" fmla="*/ 121539 w 121538"/>
                <a:gd name="connsiteY0" fmla="*/ 121444 h 121443"/>
                <a:gd name="connsiteX1" fmla="*/ 0 w 121538"/>
                <a:gd name="connsiteY1" fmla="*/ 0 h 121443"/>
                <a:gd name="connsiteX2" fmla="*/ 66008 w 121538"/>
                <a:gd name="connsiteY2" fmla="*/ 0 h 121443"/>
                <a:gd name="connsiteX3" fmla="*/ 121539 w 121538"/>
                <a:gd name="connsiteY3" fmla="*/ 55531 h 121443"/>
                <a:gd name="connsiteX4" fmla="*/ 121539 w 121538"/>
                <a:gd name="connsiteY4" fmla="*/ 121444 h 121443"/>
              </a:gdLst>
              <a:ahLst/>
              <a:cxnLst/>
              <a:rect l="l" t="t" r="r" b="b"/>
              <a:pathLst>
                <a:path w="121538" h="121443">
                  <a:moveTo>
                    <a:pt x="121539" y="121444"/>
                  </a:moveTo>
                  <a:cubicBezTo>
                    <a:pt x="54769" y="120968"/>
                    <a:pt x="571" y="66770"/>
                    <a:pt x="0" y="0"/>
                  </a:cubicBezTo>
                  <a:lnTo>
                    <a:pt x="66008" y="0"/>
                  </a:lnTo>
                  <a:cubicBezTo>
                    <a:pt x="96679" y="0"/>
                    <a:pt x="121539" y="24860"/>
                    <a:pt x="121539" y="55531"/>
                  </a:cubicBezTo>
                  <a:lnTo>
                    <a:pt x="121539" y="12144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0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市场机遇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0" y="5899346"/>
            <a:ext cx="12192000" cy="958654"/>
            <a:chOff x="0" y="5899346"/>
            <a:chExt cx="12192000" cy="958654"/>
          </a:xfrm>
        </p:grpSpPr>
        <p:sp>
          <p:nvSpPr>
            <p:cNvPr id="6" name="标题 1"/>
            <p:cNvSpPr txBox="1"/>
            <p:nvPr/>
          </p:nvSpPr>
          <p:spPr>
            <a:xfrm>
              <a:off x="0" y="5899346"/>
              <a:ext cx="12192000" cy="958654"/>
            </a:xfrm>
            <a:custGeom>
              <a:avLst/>
              <a:gdLst>
                <a:gd name="connsiteX0" fmla="*/ 0 w 12192000"/>
                <a:gd name="connsiteY0" fmla="*/ 0 h 3563982"/>
                <a:gd name="connsiteX1" fmla="*/ 21223 w 12192000"/>
                <a:gd name="connsiteY1" fmla="*/ 27596 h 3563982"/>
                <a:gd name="connsiteX2" fmla="*/ 6096000 w 12192000"/>
                <a:gd name="connsiteY2" fmla="*/ 3055905 h 3563982"/>
                <a:gd name="connsiteX3" fmla="*/ 12170777 w 12192000"/>
                <a:gd name="connsiteY3" fmla="*/ 27596 h 3563982"/>
                <a:gd name="connsiteX4" fmla="*/ 12192000 w 12192000"/>
                <a:gd name="connsiteY4" fmla="*/ 0 h 3563982"/>
                <a:gd name="connsiteX5" fmla="*/ 12192000 w 12192000"/>
                <a:gd name="connsiteY5" fmla="*/ 3563982 h 3563982"/>
                <a:gd name="connsiteX6" fmla="*/ 0 w 12192000"/>
                <a:gd name="connsiteY6" fmla="*/ 3563982 h 3563982"/>
              </a:gdLst>
              <a:ahLst/>
              <a:cxnLst/>
              <a:rect l="l" t="t" r="r" b="b"/>
              <a:pathLst>
                <a:path w="12192000" h="3563982">
                  <a:moveTo>
                    <a:pt x="0" y="0"/>
                  </a:moveTo>
                  <a:lnTo>
                    <a:pt x="21223" y="27596"/>
                  </a:lnTo>
                  <a:cubicBezTo>
                    <a:pt x="1522464" y="1887950"/>
                    <a:pt x="3688133" y="3055905"/>
                    <a:pt x="6096000" y="3055905"/>
                  </a:cubicBezTo>
                  <a:cubicBezTo>
                    <a:pt x="8503868" y="3055905"/>
                    <a:pt x="10669536" y="1887950"/>
                    <a:pt x="12170777" y="27596"/>
                  </a:cubicBezTo>
                  <a:lnTo>
                    <a:pt x="12192000" y="0"/>
                  </a:lnTo>
                  <a:lnTo>
                    <a:pt x="12192000" y="3563982"/>
                  </a:lnTo>
                  <a:lnTo>
                    <a:pt x="0" y="356398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18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7" name="标题 1"/>
            <p:cNvSpPr txBox="1"/>
            <p:nvPr/>
          </p:nvSpPr>
          <p:spPr>
            <a:xfrm>
              <a:off x="0" y="6188758"/>
              <a:ext cx="12192000" cy="669242"/>
            </a:xfrm>
            <a:custGeom>
              <a:avLst/>
              <a:gdLst>
                <a:gd name="connsiteX0" fmla="*/ 0 w 12192000"/>
                <a:gd name="connsiteY0" fmla="*/ 0 h 2488036"/>
                <a:gd name="connsiteX1" fmla="*/ 21223 w 12192000"/>
                <a:gd name="connsiteY1" fmla="*/ 18287 h 2488036"/>
                <a:gd name="connsiteX2" fmla="*/ 6096000 w 12192000"/>
                <a:gd name="connsiteY2" fmla="*/ 2025118 h 2488036"/>
                <a:gd name="connsiteX3" fmla="*/ 12170777 w 12192000"/>
                <a:gd name="connsiteY3" fmla="*/ 18287 h 2488036"/>
                <a:gd name="connsiteX4" fmla="*/ 12192000 w 12192000"/>
                <a:gd name="connsiteY4" fmla="*/ 0 h 2488036"/>
                <a:gd name="connsiteX5" fmla="*/ 12192000 w 12192000"/>
                <a:gd name="connsiteY5" fmla="*/ 2488036 h 2488036"/>
                <a:gd name="connsiteX6" fmla="*/ 0 w 12192000"/>
                <a:gd name="connsiteY6" fmla="*/ 2488036 h 2488036"/>
              </a:gdLst>
              <a:ahLst/>
              <a:cxnLst/>
              <a:rect l="l" t="t" r="r" b="b"/>
              <a:pathLst>
                <a:path w="12192000" h="2488036">
                  <a:moveTo>
                    <a:pt x="0" y="0"/>
                  </a:moveTo>
                  <a:lnTo>
                    <a:pt x="21223" y="18287"/>
                  </a:lnTo>
                  <a:cubicBezTo>
                    <a:pt x="1522464" y="1251126"/>
                    <a:pt x="3688133" y="2025118"/>
                    <a:pt x="6096000" y="2025118"/>
                  </a:cubicBezTo>
                  <a:cubicBezTo>
                    <a:pt x="8503868" y="2025118"/>
                    <a:pt x="10669536" y="1251126"/>
                    <a:pt x="12170777" y="18287"/>
                  </a:cubicBezTo>
                  <a:lnTo>
                    <a:pt x="12192000" y="0"/>
                  </a:lnTo>
                  <a:lnTo>
                    <a:pt x="12192000" y="2488036"/>
                  </a:lnTo>
                  <a:lnTo>
                    <a:pt x="0" y="2488036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5400000" scaled="0"/>
            </a:gradFill>
            <a:ln w="3175" cap="sq">
              <a:solidFill>
                <a:schemeClr val="accent1">
                  <a:lumMod val="20000"/>
                  <a:lumOff val="80000"/>
                </a:schemeClr>
              </a:solidFill>
              <a:miter/>
            </a:ln>
            <a:effectLst>
              <a:outerShdw blurRad="368300" dist="38100" dir="16200000" rotWithShape="0">
                <a:schemeClr val="accent1">
                  <a:alpha val="26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8" name="标题 1"/>
          <p:cNvSpPr txBox="1"/>
          <p:nvPr>
            <p:custDataLst>
              <p:tags r:id="rId1"/>
            </p:custDataLst>
          </p:nvPr>
        </p:nvSpPr>
        <p:spPr>
          <a:xfrm>
            <a:off x="7970981" y="2085203"/>
            <a:ext cx="3495964" cy="3747113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3175" cap="sq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45000"/>
                  </a:schemeClr>
                </a:gs>
              </a:gsLst>
              <a:lin ang="13500000" scaled="0"/>
            </a:gradFill>
            <a:miter/>
          </a:ln>
          <a:effectLst>
            <a:outerShdw blurRad="152400" dist="38100" dir="2700000" algn="tl" rotWithShape="0">
              <a:schemeClr val="accent2">
                <a:lumMod val="50000"/>
                <a:alpha val="1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2"/>
            </p:custDataLst>
          </p:nvPr>
        </p:nvSpPr>
        <p:spPr>
          <a:xfrm>
            <a:off x="8689401" y="2403633"/>
            <a:ext cx="2059124" cy="4252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3"/>
            </p:custDataLst>
          </p:nvPr>
        </p:nvSpPr>
        <p:spPr>
          <a:xfrm>
            <a:off x="8616632" y="2401679"/>
            <a:ext cx="2204662" cy="425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03</a:t>
            </a:r>
            <a:endParaRPr kumimoji="1" lang="zh-CN" altLang="en-US"/>
          </a:p>
        </p:txBody>
      </p:sp>
      <p:cxnSp>
        <p:nvCxnSpPr>
          <p:cNvPr id="11" name="标题 1"/>
          <p:cNvCxnSpPr/>
          <p:nvPr>
            <p:custDataLst>
              <p:tags r:id="rId4"/>
            </p:custDataLst>
          </p:nvPr>
        </p:nvCxnSpPr>
        <p:spPr>
          <a:xfrm>
            <a:off x="9361024" y="3080949"/>
            <a:ext cx="715878" cy="0"/>
          </a:xfrm>
          <a:prstGeom prst="line">
            <a:avLst/>
          </a:prstGeom>
          <a:noFill/>
          <a:ln w="6350" cap="rnd">
            <a:solidFill>
              <a:schemeClr val="accent1"/>
            </a:solidFill>
            <a:miter/>
          </a:ln>
        </p:spPr>
      </p:cxnSp>
      <p:sp>
        <p:nvSpPr>
          <p:cNvPr id="12" name="标题 1"/>
          <p:cNvSpPr txBox="1"/>
          <p:nvPr>
            <p:custDataLst>
              <p:tags r:id="rId5"/>
            </p:custDataLst>
          </p:nvPr>
        </p:nvSpPr>
        <p:spPr>
          <a:xfrm>
            <a:off x="8145478" y="3168030"/>
            <a:ext cx="3146970" cy="25856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C3C3C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品牌优势：项目团队在养老行业经验丰富，具有良好的行业声誉和品牌影响力，为 AI 芯颐养院品牌建设奠定基础。</a:t>
            </a:r>
            <a:endParaRPr kumimoji="1" lang="zh-CN" altLang="en-US"/>
          </a:p>
        </p:txBody>
      </p:sp>
      <p:sp>
        <p:nvSpPr>
          <p:cNvPr id="13" name="标题 1"/>
          <p:cNvSpPr txBox="1"/>
          <p:nvPr>
            <p:custDataLst>
              <p:tags r:id="rId6"/>
            </p:custDataLst>
          </p:nvPr>
        </p:nvSpPr>
        <p:spPr>
          <a:xfrm>
            <a:off x="691573" y="2087157"/>
            <a:ext cx="3495964" cy="3747113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3175" cap="sq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45000"/>
                  </a:schemeClr>
                </a:gs>
              </a:gsLst>
              <a:lin ang="13500000" scaled="0"/>
            </a:gradFill>
            <a:miter/>
          </a:ln>
          <a:effectLst>
            <a:outerShdw blurRad="152400" dist="38100" dir="2700000" algn="tl" rotWithShape="0">
              <a:schemeClr val="accent2">
                <a:lumMod val="50000"/>
                <a:alpha val="1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>
            <p:custDataLst>
              <p:tags r:id="rId7"/>
            </p:custDataLst>
          </p:nvPr>
        </p:nvSpPr>
        <p:spPr>
          <a:xfrm>
            <a:off x="1409993" y="2405587"/>
            <a:ext cx="2059124" cy="4252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8"/>
            </p:custDataLst>
          </p:nvPr>
        </p:nvSpPr>
        <p:spPr>
          <a:xfrm>
            <a:off x="866070" y="3169984"/>
            <a:ext cx="3146970" cy="25856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C3C3C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技术领先：采用先进 AI 技术，实现设备互联互通和智能化管理，技术应用水平处于行业前沿。</a:t>
            </a: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9"/>
            </p:custDataLst>
          </p:nvPr>
        </p:nvSpPr>
        <p:spPr>
          <a:xfrm>
            <a:off x="1337224" y="2403633"/>
            <a:ext cx="2204662" cy="425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01</a:t>
            </a:r>
            <a:endParaRPr kumimoji="1" lang="zh-CN" altLang="en-US"/>
          </a:p>
        </p:txBody>
      </p:sp>
      <p:cxnSp>
        <p:nvCxnSpPr>
          <p:cNvPr id="17" name="标题 1"/>
          <p:cNvCxnSpPr/>
          <p:nvPr>
            <p:custDataLst>
              <p:tags r:id="rId10"/>
            </p:custDataLst>
          </p:nvPr>
        </p:nvCxnSpPr>
        <p:spPr>
          <a:xfrm>
            <a:off x="2081616" y="3082903"/>
            <a:ext cx="715878" cy="0"/>
          </a:xfrm>
          <a:prstGeom prst="line">
            <a:avLst/>
          </a:prstGeom>
          <a:noFill/>
          <a:ln w="6350" cap="rnd">
            <a:solidFill>
              <a:schemeClr val="accent1"/>
            </a:solidFill>
            <a:miter/>
          </a:ln>
        </p:spPr>
      </p:cxnSp>
      <p:sp>
        <p:nvSpPr>
          <p:cNvPr id="18" name="标题 1"/>
          <p:cNvSpPr txBox="1"/>
          <p:nvPr>
            <p:custDataLst>
              <p:tags r:id="rId11"/>
            </p:custDataLst>
          </p:nvPr>
        </p:nvSpPr>
        <p:spPr>
          <a:xfrm>
            <a:off x="4319440" y="2085203"/>
            <a:ext cx="3495964" cy="3747113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3175" cap="sq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45000"/>
                  </a:schemeClr>
                </a:gs>
              </a:gsLst>
              <a:lin ang="13500000" scaled="0"/>
            </a:gradFill>
            <a:miter/>
          </a:ln>
          <a:effectLst>
            <a:outerShdw blurRad="152400" dist="38100" dir="2700000" algn="tl" rotWithShape="0">
              <a:schemeClr val="accent2">
                <a:lumMod val="50000"/>
                <a:alpha val="1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>
            <p:custDataLst>
              <p:tags r:id="rId12"/>
            </p:custDataLst>
          </p:nvPr>
        </p:nvSpPr>
        <p:spPr>
          <a:xfrm>
            <a:off x="5037860" y="2403633"/>
            <a:ext cx="2059124" cy="4252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635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>
            <p:custDataLst>
              <p:tags r:id="rId13"/>
            </p:custDataLst>
          </p:nvPr>
        </p:nvSpPr>
        <p:spPr>
          <a:xfrm>
            <a:off x="4965091" y="2401679"/>
            <a:ext cx="2204662" cy="425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02</a:t>
            </a:r>
            <a:endParaRPr kumimoji="1" lang="zh-CN" altLang="en-US"/>
          </a:p>
        </p:txBody>
      </p:sp>
      <p:cxnSp>
        <p:nvCxnSpPr>
          <p:cNvPr id="21" name="标题 1"/>
          <p:cNvCxnSpPr/>
          <p:nvPr>
            <p:custDataLst>
              <p:tags r:id="rId14"/>
            </p:custDataLst>
          </p:nvPr>
        </p:nvCxnSpPr>
        <p:spPr>
          <a:xfrm>
            <a:off x="5709483" y="3080949"/>
            <a:ext cx="715878" cy="0"/>
          </a:xfrm>
          <a:prstGeom prst="line">
            <a:avLst/>
          </a:prstGeom>
          <a:noFill/>
          <a:ln w="6350" cap="rnd">
            <a:solidFill>
              <a:schemeClr val="accent1"/>
            </a:solidFill>
            <a:miter/>
          </a:ln>
        </p:spPr>
      </p:cxnSp>
      <p:sp>
        <p:nvSpPr>
          <p:cNvPr id="22" name="标题 1"/>
          <p:cNvSpPr txBox="1"/>
          <p:nvPr>
            <p:custDataLst>
              <p:tags r:id="rId15"/>
            </p:custDataLst>
          </p:nvPr>
        </p:nvSpPr>
        <p:spPr>
          <a:xfrm>
            <a:off x="4493937" y="3168030"/>
            <a:ext cx="3146970" cy="25856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C3C3C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服务优质：专业护理团队经严格培训，掌握智能设备操作和护理技能，为老人提供贴心、专业的护理服务。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39956" y="1392447"/>
            <a:ext cx="9454933" cy="5033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3C3C3C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爱设计演示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竞争优势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2751841" y="4586387"/>
            <a:ext cx="933127" cy="933127"/>
          </a:xfrm>
          <a:prstGeom prst="roundRect">
            <a:avLst>
              <a:gd name="adj" fmla="val 14086"/>
            </a:avLst>
          </a:prstGeom>
          <a:noFill/>
          <a:ln w="12700" cap="flat">
            <a:noFill/>
            <a:miter/>
          </a:ln>
          <a:effectLst>
            <a:outerShdw blurRad="457200" dist="127000" dir="5400000" sx="90000" sy="90000" algn="t" rotWithShape="0">
              <a:schemeClr val="accent1">
                <a:alpha val="6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>
            <p:custDataLst>
              <p:tags r:id="rId1"/>
            </p:custDataLst>
          </p:nvPr>
        </p:nvSpPr>
        <p:spPr>
          <a:xfrm flipV="1">
            <a:off x="5072424" y="4134904"/>
            <a:ext cx="2047151" cy="1997930"/>
          </a:xfrm>
          <a:prstGeom prst="triangl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9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190500" dist="38100" dir="2700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>
            <p:custDataLst>
              <p:tags r:id="rId2"/>
            </p:custDataLst>
          </p:nvPr>
        </p:nvSpPr>
        <p:spPr>
          <a:xfrm flipV="1">
            <a:off x="3924995" y="4135294"/>
            <a:ext cx="2046725" cy="1997149"/>
          </a:xfrm>
          <a:custGeom>
            <a:avLst/>
            <a:gdLst>
              <a:gd name="T0" fmla="*/ 0 w 1734"/>
              <a:gd name="T1" fmla="*/ 0 h 1692"/>
              <a:gd name="T2" fmla="*/ 867 w 1734"/>
              <a:gd name="T3" fmla="*/ 1692 h 1692"/>
              <a:gd name="T4" fmla="*/ 1734 w 1734"/>
              <a:gd name="T5" fmla="*/ 0 h 1692"/>
              <a:gd name="T6" fmla="*/ 0 w 1734"/>
              <a:gd name="T7" fmla="*/ 0 h 1692"/>
            </a:gdLst>
            <a:ahLst/>
            <a:cxnLst/>
            <a:rect l="0" t="0" r="r" b="b"/>
            <a:pathLst>
              <a:path w="1734" h="1692">
                <a:moveTo>
                  <a:pt x="0" y="0"/>
                </a:moveTo>
                <a:lnTo>
                  <a:pt x="867" y="1692"/>
                </a:lnTo>
                <a:lnTo>
                  <a:pt x="1734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9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190500" dist="38100" dir="2700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>
            <p:custDataLst>
              <p:tags r:id="rId3"/>
            </p:custDataLst>
          </p:nvPr>
        </p:nvSpPr>
        <p:spPr>
          <a:xfrm flipV="1">
            <a:off x="6220280" y="4135294"/>
            <a:ext cx="2046725" cy="1997149"/>
          </a:xfrm>
          <a:custGeom>
            <a:avLst/>
            <a:gdLst>
              <a:gd name="T0" fmla="*/ 0 w 1734"/>
              <a:gd name="T1" fmla="*/ 0 h 1692"/>
              <a:gd name="T2" fmla="*/ 867 w 1734"/>
              <a:gd name="T3" fmla="*/ 1692 h 1692"/>
              <a:gd name="T4" fmla="*/ 1734 w 1734"/>
              <a:gd name="T5" fmla="*/ 0 h 1692"/>
              <a:gd name="T6" fmla="*/ 0 w 1734"/>
              <a:gd name="T7" fmla="*/ 0 h 1692"/>
            </a:gdLst>
            <a:ahLst/>
            <a:cxnLst/>
            <a:rect l="0" t="0" r="r" b="b"/>
            <a:pathLst>
              <a:path w="1734" h="1692">
                <a:moveTo>
                  <a:pt x="0" y="0"/>
                </a:moveTo>
                <a:lnTo>
                  <a:pt x="867" y="1692"/>
                </a:lnTo>
                <a:lnTo>
                  <a:pt x="1734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9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190500" dist="38100" dir="2700000" algn="tl" rotWithShape="0">
              <a:schemeClr val="accent1">
                <a:lumMod val="50000"/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4"/>
            </p:custDataLst>
          </p:nvPr>
        </p:nvSpPr>
        <p:spPr>
          <a:xfrm>
            <a:off x="5895031" y="4512799"/>
            <a:ext cx="425618" cy="393727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5"/>
            </p:custDataLst>
          </p:nvPr>
        </p:nvSpPr>
        <p:spPr>
          <a:xfrm>
            <a:off x="7065216" y="5253428"/>
            <a:ext cx="344759" cy="393726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>
            <p:custDataLst>
              <p:tags r:id="rId6"/>
            </p:custDataLst>
          </p:nvPr>
        </p:nvSpPr>
        <p:spPr>
          <a:xfrm>
            <a:off x="4723496" y="5253428"/>
            <a:ext cx="449723" cy="393726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73100" y="1322173"/>
            <a:ext cx="3251200" cy="11524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400">
                <a:ln w="12700">
                  <a:noFill/>
                </a:ln>
                <a:gradFill>
                  <a:gsLst>
                    <a:gs pos="0">
                      <a:srgbClr val="48CEC8">
                        <a:alpha val="100000"/>
                      </a:srgbClr>
                    </a:gs>
                    <a:gs pos="93000">
                      <a:srgbClr val="2CA49F">
                        <a:alpha val="100000"/>
                      </a:srgbClr>
                    </a:gs>
                  </a:gsLst>
                  <a:lin ang="2700000" scaled="0"/>
                </a:gra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爱设计演示</a:t>
            </a:r>
            <a:endParaRPr kumimoji="1" lang="zh-CN" altLang="en-US"/>
          </a:p>
        </p:txBody>
      </p:sp>
      <p:sp>
        <p:nvSpPr>
          <p:cNvPr id="13" name="标题 1"/>
          <p:cNvSpPr txBox="1"/>
          <p:nvPr>
            <p:custDataLst>
              <p:tags r:id="rId7"/>
            </p:custDataLst>
          </p:nvPr>
        </p:nvSpPr>
        <p:spPr>
          <a:xfrm>
            <a:off x="2463558" y="3880023"/>
            <a:ext cx="1254901" cy="4845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gradFill>
                  <a:gsLst>
                    <a:gs pos="0">
                      <a:srgbClr val="48CEC8">
                        <a:alpha val="100000"/>
                      </a:srgbClr>
                    </a:gs>
                    <a:gs pos="100000">
                      <a:srgbClr val="2CA49F">
                        <a:alpha val="100000"/>
                      </a:srgbClr>
                    </a:gs>
                  </a:gsLst>
                  <a:lin ang="2700000" scaled="0"/>
                </a:gra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01 </a:t>
            </a:r>
            <a:endParaRPr kumimoji="1" lang="zh-CN" altLang="en-US"/>
          </a:p>
        </p:txBody>
      </p:sp>
      <p:sp>
        <p:nvSpPr>
          <p:cNvPr id="14" name="标题 1"/>
          <p:cNvSpPr txBox="1"/>
          <p:nvPr>
            <p:custDataLst>
              <p:tags r:id="rId8"/>
            </p:custDataLst>
          </p:nvPr>
        </p:nvSpPr>
        <p:spPr>
          <a:xfrm>
            <a:off x="589798" y="4425930"/>
            <a:ext cx="3128662" cy="17081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提升养老品质：以科技为手段，为老年人打造高品质、科技化养老生活，改善传统养老模式。</a:t>
            </a: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9"/>
            </p:custDataLst>
          </p:nvPr>
        </p:nvSpPr>
        <p:spPr>
          <a:xfrm>
            <a:off x="8440128" y="3880023"/>
            <a:ext cx="1254901" cy="4845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gradFill>
                  <a:gsLst>
                    <a:gs pos="0">
                      <a:srgbClr val="48CEC8">
                        <a:alpha val="100000"/>
                      </a:srgbClr>
                    </a:gs>
                    <a:gs pos="100000">
                      <a:srgbClr val="2CA49F">
                        <a:alpha val="100000"/>
                      </a:srgbClr>
                    </a:gs>
                  </a:gsLst>
                  <a:lin ang="2700000" scaled="0"/>
                </a:gra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03</a:t>
            </a: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10"/>
            </p:custDataLst>
          </p:nvPr>
        </p:nvSpPr>
        <p:spPr>
          <a:xfrm>
            <a:off x="8390239" y="4425930"/>
            <a:ext cx="3128662" cy="17081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促进家庭和谐：为子女解决养老难题，让他们安心工作和生活，缓解家庭养老压力，促进家庭和谐稳定。</a:t>
            </a: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11"/>
            </p:custDataLst>
          </p:nvPr>
        </p:nvSpPr>
        <p:spPr>
          <a:xfrm>
            <a:off x="5485256" y="1729772"/>
            <a:ext cx="1221488" cy="4845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gradFill>
                  <a:gsLst>
                    <a:gs pos="0">
                      <a:srgbClr val="48CEC8">
                        <a:alpha val="100000"/>
                      </a:srgbClr>
                    </a:gs>
                    <a:gs pos="100000">
                      <a:srgbClr val="2CA49F">
                        <a:alpha val="100000"/>
                      </a:srgbClr>
                    </a:gs>
                  </a:gsLst>
                  <a:lin ang="2700000" scaled="0"/>
                </a:gra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02</a:t>
            </a:r>
            <a:endParaRPr kumimoji="1" lang="zh-CN" altLang="en-US"/>
          </a:p>
        </p:txBody>
      </p:sp>
      <p:sp>
        <p:nvSpPr>
          <p:cNvPr id="18" name="标题 1"/>
          <p:cNvSpPr txBox="1"/>
          <p:nvPr>
            <p:custDataLst>
              <p:tags r:id="rId12"/>
            </p:custDataLst>
          </p:nvPr>
        </p:nvSpPr>
        <p:spPr>
          <a:xfrm>
            <a:off x="4573321" y="2275679"/>
            <a:ext cx="3045359" cy="17743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引领行业发展：推动养老服务智能化转型，为行业提供可借鉴的经验和模式，促进养老服务行业整体发展水平提升。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重要使命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239594" y="2497007"/>
            <a:ext cx="3020456" cy="312674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>
            <p:custDataLst>
              <p:tags r:id="rId1"/>
            </p:custDataLst>
          </p:nvPr>
        </p:nvSpPr>
        <p:spPr>
          <a:xfrm>
            <a:off x="919250" y="2497007"/>
            <a:ext cx="3020456" cy="312674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>
            <p:custDataLst>
              <p:tags r:id="rId2"/>
            </p:custDataLst>
          </p:nvPr>
        </p:nvSpPr>
        <p:spPr>
          <a:xfrm>
            <a:off x="4579423" y="2497007"/>
            <a:ext cx="3020456" cy="312674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239594" y="2497007"/>
            <a:ext cx="3020456" cy="403860"/>
          </a:xfrm>
          <a:prstGeom prst="rect">
            <a:avLst/>
          </a:prstGeom>
          <a:solidFill>
            <a:schemeClr val="accent1"/>
          </a:solidFill>
          <a:ln w="3175" cap="sq">
            <a:solidFill>
              <a:schemeClr val="accent1"/>
            </a:solidFill>
            <a:miter/>
          </a:ln>
          <a:effectLst/>
        </p:spPr>
        <p:txBody>
          <a:bodyPr vert="horz" wrap="square" lIns="180000" tIns="1728000" rIns="180000" bIns="4572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3"/>
            </p:custDataLst>
          </p:nvPr>
        </p:nvSpPr>
        <p:spPr>
          <a:xfrm>
            <a:off x="919250" y="2497007"/>
            <a:ext cx="3020456" cy="403860"/>
          </a:xfrm>
          <a:prstGeom prst="rect">
            <a:avLst/>
          </a:prstGeom>
          <a:solidFill>
            <a:schemeClr val="accent1"/>
          </a:solidFill>
          <a:ln w="3175" cap="sq">
            <a:solidFill>
              <a:schemeClr val="accent1"/>
            </a:solidFill>
            <a:miter/>
          </a:ln>
          <a:effectLst/>
        </p:spPr>
        <p:txBody>
          <a:bodyPr vert="horz" wrap="square" lIns="180000" tIns="1728000" rIns="180000" bIns="4572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4"/>
            </p:custDataLst>
          </p:nvPr>
        </p:nvSpPr>
        <p:spPr>
          <a:xfrm>
            <a:off x="4579423" y="2497007"/>
            <a:ext cx="3020456" cy="403860"/>
          </a:xfrm>
          <a:prstGeom prst="rect">
            <a:avLst/>
          </a:prstGeom>
          <a:solidFill>
            <a:schemeClr val="accent1"/>
          </a:solidFill>
          <a:ln w="3175" cap="sq">
            <a:solidFill>
              <a:schemeClr val="accent1"/>
            </a:solidFill>
            <a:miter/>
          </a:ln>
          <a:effectLst/>
        </p:spPr>
        <p:txBody>
          <a:bodyPr vert="horz" wrap="square" lIns="180000" tIns="1728000" rIns="180000" bIns="4572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55675" y="1311708"/>
            <a:ext cx="10267950" cy="91771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一款多端在线拖拽式作图/视频工具，同时具备创意资产云端存储，管理和多终端分发的功能
平台接入了战略投资方A股上市公司「视觉中国」亿级图片模版素材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329576" y="3286130"/>
            <a:ext cx="840492" cy="8404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211898" y="3168451"/>
            <a:ext cx="1075848" cy="1075846"/>
          </a:xfrm>
          <a:prstGeom prst="ellipse">
            <a:avLst/>
          </a:prstGeom>
          <a:noFill/>
          <a:ln w="9525" cap="rnd">
            <a:solidFill>
              <a:schemeClr val="bg1">
                <a:lumMod val="75000"/>
              </a:schemeClr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560337" y="3523004"/>
            <a:ext cx="378970" cy="366742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349713" y="4481171"/>
            <a:ext cx="2800218" cy="87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项目进展：项目前期筹备工作顺利推进，已完成选址、设计规划、部分设备采购等工作，为项目按时开业奠定坚实基础。</a:t>
            </a: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5"/>
            </p:custDataLst>
          </p:nvPr>
        </p:nvSpPr>
        <p:spPr>
          <a:xfrm>
            <a:off x="2009232" y="3286130"/>
            <a:ext cx="840492" cy="8404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6"/>
            </p:custDataLst>
          </p:nvPr>
        </p:nvSpPr>
        <p:spPr>
          <a:xfrm>
            <a:off x="1891554" y="3168451"/>
            <a:ext cx="1075848" cy="1075846"/>
          </a:xfrm>
          <a:prstGeom prst="ellipse">
            <a:avLst/>
          </a:prstGeom>
          <a:noFill/>
          <a:ln w="9525" cap="rnd">
            <a:solidFill>
              <a:schemeClr val="bg1">
                <a:lumMod val="75000"/>
              </a:schemeClr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>
            <p:custDataLst>
              <p:tags r:id="rId7"/>
            </p:custDataLst>
          </p:nvPr>
        </p:nvSpPr>
        <p:spPr>
          <a:xfrm>
            <a:off x="2239993" y="3527782"/>
            <a:ext cx="378970" cy="357186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>
            <p:custDataLst>
              <p:tags r:id="rId8"/>
            </p:custDataLst>
          </p:nvPr>
        </p:nvSpPr>
        <p:spPr>
          <a:xfrm>
            <a:off x="1029369" y="4481171"/>
            <a:ext cx="2800218" cy="87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市场调研成果：前期市场调研显示，本地市场对高端智能养老服务需求旺盛，潜在客户群体庞大。</a:t>
            </a:r>
            <a:endParaRPr kumimoji="1" lang="zh-CN" altLang="en-US"/>
          </a:p>
        </p:txBody>
      </p:sp>
      <p:sp>
        <p:nvSpPr>
          <p:cNvPr id="20" name="标题 1"/>
          <p:cNvSpPr txBox="1"/>
          <p:nvPr>
            <p:custDataLst>
              <p:tags r:id="rId9"/>
            </p:custDataLst>
          </p:nvPr>
        </p:nvSpPr>
        <p:spPr>
          <a:xfrm>
            <a:off x="5669405" y="3286130"/>
            <a:ext cx="840492" cy="8404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>
            <p:custDataLst>
              <p:tags r:id="rId10"/>
            </p:custDataLst>
          </p:nvPr>
        </p:nvSpPr>
        <p:spPr>
          <a:xfrm>
            <a:off x="5551727" y="3168451"/>
            <a:ext cx="1075848" cy="1075846"/>
          </a:xfrm>
          <a:prstGeom prst="ellipse">
            <a:avLst/>
          </a:prstGeom>
          <a:noFill/>
          <a:ln w="9525" cap="rnd">
            <a:solidFill>
              <a:schemeClr val="bg1">
                <a:lumMod val="75000"/>
              </a:schemeClr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>
            <p:custDataLst>
              <p:tags r:id="rId11"/>
            </p:custDataLst>
          </p:nvPr>
        </p:nvSpPr>
        <p:spPr>
          <a:xfrm>
            <a:off x="5914726" y="3506267"/>
            <a:ext cx="349850" cy="37897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>
            <p:custDataLst>
              <p:tags r:id="rId12"/>
            </p:custDataLst>
          </p:nvPr>
        </p:nvSpPr>
        <p:spPr>
          <a:xfrm>
            <a:off x="4689542" y="4481171"/>
            <a:ext cx="2800218" cy="87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合作意向：已与多家医疗机构、养老服务企业、社区达成初步合作意向，为项目运营提供支持。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关键成果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04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4：企业介绍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0" y="2555715"/>
            <a:ext cx="3240000" cy="3043896"/>
          </a:xfrm>
          <a:prstGeom prst="snip1Rect">
            <a:avLst>
              <a:gd name="adj" fmla="val 26607"/>
            </a:avLst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62204" y="2973732"/>
            <a:ext cx="364819" cy="364819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ap="sq">
            <a:noFill/>
            <a:miter/>
          </a:ln>
        </p:spPr>
        <p:txBody>
          <a:bodyPr vert="horz" wrap="square" lIns="45719" tIns="45720" rIns="45719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30400" y="3756569"/>
            <a:ext cx="2700000" cy="12493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成立背景：随着人口老龄化加剧，传统养老服务模式难以满足市场需求，AI 芯颐养院应运而生。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361650" y="2555715"/>
            <a:ext cx="3456000" cy="3043896"/>
          </a:xfrm>
          <a:prstGeom prst="snip1Rect">
            <a:avLst>
              <a:gd name="adj" fmla="val 26607"/>
            </a:avLst>
          </a:prstGeom>
          <a:solidFill>
            <a:schemeClr val="bg1"/>
          </a:solidFill>
          <a:ln w="19050" cap="sq">
            <a:solidFill>
              <a:schemeClr val="tx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665551" y="2940141"/>
            <a:ext cx="466992" cy="432000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45719" tIns="45720" rIns="45719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649650" y="3756569"/>
            <a:ext cx="2880000" cy="12493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发展历程：项目筹备阶段，团队深入调研市场需求，考察国内外先进养老机构，确定项目定位和发展方向。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278900" y="2555715"/>
            <a:ext cx="3240000" cy="3043896"/>
          </a:xfrm>
          <a:prstGeom prst="snip1Rect">
            <a:avLst>
              <a:gd name="adj" fmla="val 26607"/>
            </a:avLst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548900" y="2979588"/>
            <a:ext cx="364879" cy="353107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ap="sq">
            <a:noFill/>
            <a:miter/>
          </a:ln>
        </p:spPr>
        <p:txBody>
          <a:bodyPr vert="horz" wrap="square" lIns="45719" tIns="45720" rIns="45719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548900" y="3672144"/>
            <a:ext cx="2700000" cy="1674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企业性质：AI 芯颐养院为民营股份制企业，由多位行业专家、企业家共同投资成立。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73101" y="1330768"/>
            <a:ext cx="10845798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爱设计是一家智能创意科技公司，是国内领先的内容创意全链路服务公司，致力于构建“创意资源+智能创作+内容
管理+投放分发+数据监测的内容创意全链路平台，在“内容为王”的数字化时代，技术正在全面改变内容行业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企业简介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5" name="标题 1"/>
          <p:cNvCxnSpPr/>
          <p:nvPr>
            <p:custDataLst>
              <p:tags r:id="rId1"/>
            </p:custDataLst>
          </p:nvPr>
        </p:nvCxnSpPr>
        <p:spPr>
          <a:xfrm>
            <a:off x="5210026" y="2456416"/>
            <a:ext cx="1861329" cy="0"/>
          </a:xfrm>
          <a:prstGeom prst="line">
            <a:avLst/>
          </a:prstGeom>
          <a:noFill/>
          <a:ln w="6350" cap="sq">
            <a:solidFill>
              <a:schemeClr val="bg1">
                <a:lumMod val="65000"/>
              </a:schemeClr>
            </a:solidFill>
            <a:miter/>
            <a:tailEnd type="oval"/>
          </a:ln>
        </p:spPr>
      </p:cxnSp>
      <p:cxnSp>
        <p:nvCxnSpPr>
          <p:cNvPr id="6" name="标题 1"/>
          <p:cNvCxnSpPr/>
          <p:nvPr>
            <p:custDataLst>
              <p:tags r:id="rId2"/>
            </p:custDataLst>
          </p:nvPr>
        </p:nvCxnSpPr>
        <p:spPr>
          <a:xfrm>
            <a:off x="5997489" y="3606223"/>
            <a:ext cx="1073866" cy="0"/>
          </a:xfrm>
          <a:prstGeom prst="line">
            <a:avLst/>
          </a:prstGeom>
          <a:noFill/>
          <a:ln w="6350" cap="sq">
            <a:solidFill>
              <a:schemeClr val="bg1">
                <a:lumMod val="65000"/>
              </a:schemeClr>
            </a:solidFill>
            <a:miter/>
            <a:tailEnd type="oval"/>
          </a:ln>
        </p:spPr>
      </p:cxnSp>
      <p:cxnSp>
        <p:nvCxnSpPr>
          <p:cNvPr id="7" name="标题 1"/>
          <p:cNvCxnSpPr/>
          <p:nvPr>
            <p:custDataLst>
              <p:tags r:id="rId3"/>
            </p:custDataLst>
          </p:nvPr>
        </p:nvCxnSpPr>
        <p:spPr>
          <a:xfrm>
            <a:off x="5210026" y="4795914"/>
            <a:ext cx="1861329" cy="0"/>
          </a:xfrm>
          <a:prstGeom prst="line">
            <a:avLst/>
          </a:prstGeom>
          <a:noFill/>
          <a:ln w="6350" cap="sq">
            <a:solidFill>
              <a:schemeClr val="bg1">
                <a:lumMod val="65000"/>
              </a:schemeClr>
            </a:solidFill>
            <a:miter/>
            <a:tailEnd type="oval"/>
          </a:ln>
        </p:spPr>
      </p:cxnSp>
      <p:sp>
        <p:nvSpPr>
          <p:cNvPr id="8" name="标题 1"/>
          <p:cNvSpPr txBox="1"/>
          <p:nvPr>
            <p:custDataLst>
              <p:tags r:id="rId4"/>
            </p:custDataLst>
          </p:nvPr>
        </p:nvSpPr>
        <p:spPr>
          <a:xfrm rot="18900000" flipV="1">
            <a:off x="4145149" y="1954356"/>
            <a:ext cx="1005769" cy="1005769"/>
          </a:xfrm>
          <a:prstGeom prst="roundRect">
            <a:avLst>
              <a:gd name="adj" fmla="val 6500"/>
            </a:avLst>
          </a:prstGeom>
          <a:solidFill>
            <a:schemeClr val="accent3"/>
          </a:solidFill>
          <a:ln w="12700" cap="rnd">
            <a:noFill/>
            <a:round/>
          </a:ln>
          <a:effectLst>
            <a:outerShdw blurRad="254000" dist="127000" algn="ctr" rotWithShape="0">
              <a:schemeClr val="accent3"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5"/>
            </p:custDataLst>
          </p:nvPr>
        </p:nvSpPr>
        <p:spPr>
          <a:xfrm>
            <a:off x="4452450" y="2242028"/>
            <a:ext cx="391163" cy="428777"/>
          </a:xfrm>
          <a:custGeom>
            <a:avLst/>
            <a:gdLst>
              <a:gd name="connsiteX0" fmla="*/ 248770 w 495300"/>
              <a:gd name="connsiteY0" fmla="*/ 621 h 542925"/>
              <a:gd name="connsiteX1" fmla="*/ 496420 w 495300"/>
              <a:gd name="connsiteY1" fmla="*/ 248271 h 542925"/>
              <a:gd name="connsiteX2" fmla="*/ 323827 w 495300"/>
              <a:gd name="connsiteY2" fmla="*/ 484396 h 542925"/>
              <a:gd name="connsiteX3" fmla="*/ 346973 w 495300"/>
              <a:gd name="connsiteY3" fmla="*/ 524496 h 542925"/>
              <a:gd name="connsiteX4" fmla="*/ 420220 w 495300"/>
              <a:gd name="connsiteY4" fmla="*/ 524496 h 542925"/>
              <a:gd name="connsiteX5" fmla="*/ 420220 w 495300"/>
              <a:gd name="connsiteY5" fmla="*/ 543546 h 542925"/>
              <a:gd name="connsiteX6" fmla="*/ 77320 w 495300"/>
              <a:gd name="connsiteY6" fmla="*/ 543546 h 542925"/>
              <a:gd name="connsiteX7" fmla="*/ 77320 w 495300"/>
              <a:gd name="connsiteY7" fmla="*/ 524496 h 542925"/>
              <a:gd name="connsiteX8" fmla="*/ 150567 w 495300"/>
              <a:gd name="connsiteY8" fmla="*/ 524496 h 542925"/>
              <a:gd name="connsiteX9" fmla="*/ 173713 w 495300"/>
              <a:gd name="connsiteY9" fmla="*/ 484396 h 542925"/>
              <a:gd name="connsiteX10" fmla="*/ 1120 w 495300"/>
              <a:gd name="connsiteY10" fmla="*/ 248271 h 542925"/>
              <a:gd name="connsiteX11" fmla="*/ 248770 w 495300"/>
              <a:gd name="connsiteY11" fmla="*/ 621 h 542925"/>
              <a:gd name="connsiteX12" fmla="*/ 192763 w 495300"/>
              <a:gd name="connsiteY12" fmla="*/ 489539 h 542925"/>
              <a:gd name="connsiteX13" fmla="*/ 172570 w 495300"/>
              <a:gd name="connsiteY13" fmla="*/ 524496 h 542925"/>
              <a:gd name="connsiteX14" fmla="*/ 324970 w 495300"/>
              <a:gd name="connsiteY14" fmla="*/ 524496 h 542925"/>
              <a:gd name="connsiteX15" fmla="*/ 304777 w 495300"/>
              <a:gd name="connsiteY15" fmla="*/ 489539 h 542925"/>
              <a:gd name="connsiteX16" fmla="*/ 248770 w 495300"/>
              <a:gd name="connsiteY16" fmla="*/ 495921 h 542925"/>
              <a:gd name="connsiteX17" fmla="*/ 192763 w 495300"/>
              <a:gd name="connsiteY17" fmla="*/ 489539 h 542925"/>
              <a:gd name="connsiteX18" fmla="*/ 248770 w 495300"/>
              <a:gd name="connsiteY18" fmla="*/ 143496 h 542925"/>
              <a:gd name="connsiteX19" fmla="*/ 143995 w 495300"/>
              <a:gd name="connsiteY19" fmla="*/ 248271 h 542925"/>
              <a:gd name="connsiteX20" fmla="*/ 248770 w 495300"/>
              <a:gd name="connsiteY20" fmla="*/ 353046 h 542925"/>
              <a:gd name="connsiteX21" fmla="*/ 353545 w 495300"/>
              <a:gd name="connsiteY21" fmla="*/ 248271 h 542925"/>
              <a:gd name="connsiteX22" fmla="*/ 248770 w 495300"/>
              <a:gd name="connsiteY22" fmla="*/ 143496 h 542925"/>
              <a:gd name="connsiteX23" fmla="*/ 367833 w 495300"/>
              <a:gd name="connsiteY23" fmla="*/ 114921 h 542925"/>
              <a:gd name="connsiteX24" fmla="*/ 353545 w 495300"/>
              <a:gd name="connsiteY24" fmla="*/ 129209 h 542925"/>
              <a:gd name="connsiteX25" fmla="*/ 367833 w 495300"/>
              <a:gd name="connsiteY25" fmla="*/ 143496 h 542925"/>
              <a:gd name="connsiteX26" fmla="*/ 382120 w 495300"/>
              <a:gd name="connsiteY26" fmla="*/ 129209 h 542925"/>
              <a:gd name="connsiteX27" fmla="*/ 367833 w 495300"/>
              <a:gd name="connsiteY27" fmla="*/ 114921 h 542925"/>
            </a:gdLst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6"/>
            </p:custDataLst>
          </p:nvPr>
        </p:nvSpPr>
        <p:spPr>
          <a:xfrm>
            <a:off x="7280366" y="2166731"/>
            <a:ext cx="4238536" cy="7263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价值观：以老人为中心，尊重老人、关爱老人、服务老人，坚持诚信经营，遵守法律法规。</a:t>
            </a:r>
            <a:endParaRPr kumimoji="1" lang="zh-CN" altLang="en-US"/>
          </a:p>
        </p:txBody>
      </p:sp>
      <p:sp>
        <p:nvSpPr>
          <p:cNvPr id="11" name="标题 1"/>
          <p:cNvSpPr txBox="1"/>
          <p:nvPr>
            <p:custDataLst>
              <p:tags r:id="rId7"/>
            </p:custDataLst>
          </p:nvPr>
        </p:nvSpPr>
        <p:spPr>
          <a:xfrm rot="18900000" flipV="1">
            <a:off x="5008656" y="3120077"/>
            <a:ext cx="1005769" cy="1005769"/>
          </a:xfrm>
          <a:prstGeom prst="roundRect">
            <a:avLst>
              <a:gd name="adj" fmla="val 6500"/>
            </a:avLst>
          </a:prstGeom>
          <a:solidFill>
            <a:schemeClr val="accent1"/>
          </a:solidFill>
          <a:ln w="12700" cap="rnd">
            <a:noFill/>
            <a:round/>
          </a:ln>
          <a:effectLst>
            <a:outerShdw blurRad="254000" dist="127000" algn="ctr" rotWithShape="0">
              <a:schemeClr val="accent1"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8"/>
            </p:custDataLst>
          </p:nvPr>
        </p:nvSpPr>
        <p:spPr>
          <a:xfrm>
            <a:off x="5314534" y="3479502"/>
            <a:ext cx="402737" cy="302052"/>
          </a:xfrm>
          <a:custGeom>
            <a:avLst/>
            <a:gdLst>
              <a:gd name="connsiteX0" fmla="*/ 505433 w 533400"/>
              <a:gd name="connsiteY0" fmla="*/ 621 h 400050"/>
              <a:gd name="connsiteX1" fmla="*/ 534008 w 533400"/>
              <a:gd name="connsiteY1" fmla="*/ 29196 h 400050"/>
              <a:gd name="connsiteX2" fmla="*/ 534008 w 533400"/>
              <a:gd name="connsiteY2" fmla="*/ 372096 h 400050"/>
              <a:gd name="connsiteX3" fmla="*/ 505433 w 533400"/>
              <a:gd name="connsiteY3" fmla="*/ 400671 h 400050"/>
              <a:gd name="connsiteX4" fmla="*/ 29183 w 533400"/>
              <a:gd name="connsiteY4" fmla="*/ 400671 h 400050"/>
              <a:gd name="connsiteX5" fmla="*/ 608 w 533400"/>
              <a:gd name="connsiteY5" fmla="*/ 372096 h 400050"/>
              <a:gd name="connsiteX6" fmla="*/ 608 w 533400"/>
              <a:gd name="connsiteY6" fmla="*/ 29196 h 400050"/>
              <a:gd name="connsiteX7" fmla="*/ 29183 w 533400"/>
              <a:gd name="connsiteY7" fmla="*/ 621 h 400050"/>
              <a:gd name="connsiteX8" fmla="*/ 505433 w 533400"/>
              <a:gd name="connsiteY8" fmla="*/ 621 h 400050"/>
              <a:gd name="connsiteX9" fmla="*/ 391419 w 533400"/>
              <a:gd name="connsiteY9" fmla="*/ 198646 h 400050"/>
              <a:gd name="connsiteX10" fmla="*/ 351414 w 533400"/>
              <a:gd name="connsiteY10" fmla="*/ 204170 h 400050"/>
              <a:gd name="connsiteX11" fmla="*/ 351414 w 533400"/>
              <a:gd name="connsiteY11" fmla="*/ 204170 h 400050"/>
              <a:gd name="connsiteX12" fmla="*/ 267118 w 533400"/>
              <a:gd name="connsiteY12" fmla="*/ 315613 h 400050"/>
              <a:gd name="connsiteX13" fmla="*/ 264641 w 533400"/>
              <a:gd name="connsiteY13" fmla="*/ 318470 h 400050"/>
              <a:gd name="connsiteX14" fmla="*/ 224255 w 533400"/>
              <a:gd name="connsiteY14" fmla="*/ 318756 h 400050"/>
              <a:gd name="connsiteX15" fmla="*/ 224255 w 533400"/>
              <a:gd name="connsiteY15" fmla="*/ 318756 h 400050"/>
              <a:gd name="connsiteX16" fmla="*/ 162152 w 533400"/>
              <a:gd name="connsiteY16" fmla="*/ 257415 h 400050"/>
              <a:gd name="connsiteX17" fmla="*/ 160247 w 533400"/>
              <a:gd name="connsiteY17" fmla="*/ 255701 h 400050"/>
              <a:gd name="connsiteX18" fmla="*/ 120052 w 533400"/>
              <a:gd name="connsiteY18" fmla="*/ 259606 h 400050"/>
              <a:gd name="connsiteX19" fmla="*/ 120052 w 533400"/>
              <a:gd name="connsiteY19" fmla="*/ 259606 h 400050"/>
              <a:gd name="connsiteX20" fmla="*/ 32517 w 533400"/>
              <a:gd name="connsiteY20" fmla="*/ 366095 h 400050"/>
              <a:gd name="connsiteX21" fmla="*/ 30326 w 533400"/>
              <a:gd name="connsiteY21" fmla="*/ 372096 h 400050"/>
              <a:gd name="connsiteX22" fmla="*/ 39851 w 533400"/>
              <a:gd name="connsiteY22" fmla="*/ 381621 h 400050"/>
              <a:gd name="connsiteX23" fmla="*/ 39851 w 533400"/>
              <a:gd name="connsiteY23" fmla="*/ 381621 h 400050"/>
              <a:gd name="connsiteX24" fmla="*/ 497242 w 533400"/>
              <a:gd name="connsiteY24" fmla="*/ 381621 h 400050"/>
              <a:gd name="connsiteX25" fmla="*/ 502480 w 533400"/>
              <a:gd name="connsiteY25" fmla="*/ 380002 h 400050"/>
              <a:gd name="connsiteX26" fmla="*/ 505147 w 533400"/>
              <a:gd name="connsiteY26" fmla="*/ 366762 h 400050"/>
              <a:gd name="connsiteX27" fmla="*/ 505147 w 533400"/>
              <a:gd name="connsiteY27" fmla="*/ 366762 h 400050"/>
              <a:gd name="connsiteX28" fmla="*/ 397991 w 533400"/>
              <a:gd name="connsiteY28" fmla="*/ 205504 h 400050"/>
              <a:gd name="connsiteX29" fmla="*/ 391419 w 533400"/>
              <a:gd name="connsiteY29" fmla="*/ 198646 h 400050"/>
              <a:gd name="connsiteX30" fmla="*/ 95858 w 533400"/>
              <a:gd name="connsiteY30" fmla="*/ 57771 h 400050"/>
              <a:gd name="connsiteX31" fmla="*/ 57758 w 533400"/>
              <a:gd name="connsiteY31" fmla="*/ 95871 h 400050"/>
              <a:gd name="connsiteX32" fmla="*/ 95858 w 533400"/>
              <a:gd name="connsiteY32" fmla="*/ 133971 h 400050"/>
              <a:gd name="connsiteX33" fmla="*/ 133958 w 533400"/>
              <a:gd name="connsiteY33" fmla="*/ 95871 h 400050"/>
              <a:gd name="connsiteX34" fmla="*/ 95858 w 533400"/>
              <a:gd name="connsiteY34" fmla="*/ 57771 h 400050"/>
            </a:gdLst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>
            <p:custDataLst>
              <p:tags r:id="rId9"/>
            </p:custDataLst>
          </p:nvPr>
        </p:nvSpPr>
        <p:spPr>
          <a:xfrm>
            <a:off x="7280366" y="3377038"/>
            <a:ext cx="4238536" cy="7263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服务理念：“科技关爱，颐养天年”，运用先进科技手段为老人提供全方位、个性化关爱服务。</a:t>
            </a:r>
            <a:endParaRPr kumimoji="1" lang="zh-CN" altLang="en-US"/>
          </a:p>
        </p:txBody>
      </p:sp>
      <p:sp>
        <p:nvSpPr>
          <p:cNvPr id="14" name="标题 1"/>
          <p:cNvSpPr txBox="1"/>
          <p:nvPr>
            <p:custDataLst>
              <p:tags r:id="rId10"/>
            </p:custDataLst>
          </p:nvPr>
        </p:nvSpPr>
        <p:spPr>
          <a:xfrm rot="2700000">
            <a:off x="4145148" y="4285797"/>
            <a:ext cx="1005769" cy="1005769"/>
          </a:xfrm>
          <a:prstGeom prst="roundRect">
            <a:avLst>
              <a:gd name="adj" fmla="val 6500"/>
            </a:avLst>
          </a:prstGeom>
          <a:solidFill>
            <a:schemeClr val="accent2"/>
          </a:solidFill>
          <a:ln w="12700" cap="rnd">
            <a:noFill/>
            <a:round/>
          </a:ln>
          <a:effectLst>
            <a:outerShdw blurRad="254000" dist="127000" algn="ctr" rotWithShape="0">
              <a:schemeClr val="accent2"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11"/>
            </p:custDataLst>
          </p:nvPr>
        </p:nvSpPr>
        <p:spPr>
          <a:xfrm>
            <a:off x="4442303" y="4594888"/>
            <a:ext cx="409364" cy="402052"/>
          </a:xfrm>
          <a:custGeom>
            <a:avLst/>
            <a:gdLst>
              <a:gd name="connsiteX0" fmla="*/ 343764 w 533400"/>
              <a:gd name="connsiteY0" fmla="*/ 276846 h 523875"/>
              <a:gd name="connsiteX1" fmla="*/ 372339 w 533400"/>
              <a:gd name="connsiteY1" fmla="*/ 305421 h 523875"/>
              <a:gd name="connsiteX2" fmla="*/ 372339 w 533400"/>
              <a:gd name="connsiteY2" fmla="*/ 495921 h 523875"/>
              <a:gd name="connsiteX3" fmla="*/ 343764 w 533400"/>
              <a:gd name="connsiteY3" fmla="*/ 524496 h 523875"/>
              <a:gd name="connsiteX4" fmla="*/ 191364 w 533400"/>
              <a:gd name="connsiteY4" fmla="*/ 524496 h 523875"/>
              <a:gd name="connsiteX5" fmla="*/ 162789 w 533400"/>
              <a:gd name="connsiteY5" fmla="*/ 495921 h 523875"/>
              <a:gd name="connsiteX6" fmla="*/ 162789 w 533400"/>
              <a:gd name="connsiteY6" fmla="*/ 305421 h 523875"/>
              <a:gd name="connsiteX7" fmla="*/ 191364 w 533400"/>
              <a:gd name="connsiteY7" fmla="*/ 276846 h 523875"/>
              <a:gd name="connsiteX8" fmla="*/ 343764 w 533400"/>
              <a:gd name="connsiteY8" fmla="*/ 276846 h 523875"/>
              <a:gd name="connsiteX9" fmla="*/ 143739 w 533400"/>
              <a:gd name="connsiteY9" fmla="*/ 114921 h 523875"/>
              <a:gd name="connsiteX10" fmla="*/ 179934 w 533400"/>
              <a:gd name="connsiteY10" fmla="*/ 153021 h 523875"/>
              <a:gd name="connsiteX11" fmla="*/ 181839 w 533400"/>
              <a:gd name="connsiteY11" fmla="*/ 153021 h 523875"/>
              <a:gd name="connsiteX12" fmla="*/ 353289 w 533400"/>
              <a:gd name="connsiteY12" fmla="*/ 153021 h 523875"/>
              <a:gd name="connsiteX13" fmla="*/ 391389 w 533400"/>
              <a:gd name="connsiteY13" fmla="*/ 116826 h 523875"/>
              <a:gd name="connsiteX14" fmla="*/ 391389 w 533400"/>
              <a:gd name="connsiteY14" fmla="*/ 114921 h 523875"/>
              <a:gd name="connsiteX15" fmla="*/ 505689 w 533400"/>
              <a:gd name="connsiteY15" fmla="*/ 114921 h 523875"/>
              <a:gd name="connsiteX16" fmla="*/ 534264 w 533400"/>
              <a:gd name="connsiteY16" fmla="*/ 143496 h 523875"/>
              <a:gd name="connsiteX17" fmla="*/ 534264 w 533400"/>
              <a:gd name="connsiteY17" fmla="*/ 381621 h 523875"/>
              <a:gd name="connsiteX18" fmla="*/ 505689 w 533400"/>
              <a:gd name="connsiteY18" fmla="*/ 410196 h 523875"/>
              <a:gd name="connsiteX19" fmla="*/ 391389 w 533400"/>
              <a:gd name="connsiteY19" fmla="*/ 410196 h 523875"/>
              <a:gd name="connsiteX20" fmla="*/ 391389 w 533400"/>
              <a:gd name="connsiteY20" fmla="*/ 295896 h 523875"/>
              <a:gd name="connsiteX21" fmla="*/ 355194 w 533400"/>
              <a:gd name="connsiteY21" fmla="*/ 257796 h 523875"/>
              <a:gd name="connsiteX22" fmla="*/ 353289 w 533400"/>
              <a:gd name="connsiteY22" fmla="*/ 257796 h 523875"/>
              <a:gd name="connsiteX23" fmla="*/ 181839 w 533400"/>
              <a:gd name="connsiteY23" fmla="*/ 257796 h 523875"/>
              <a:gd name="connsiteX24" fmla="*/ 143739 w 533400"/>
              <a:gd name="connsiteY24" fmla="*/ 293991 h 523875"/>
              <a:gd name="connsiteX25" fmla="*/ 143739 w 533400"/>
              <a:gd name="connsiteY25" fmla="*/ 295896 h 523875"/>
              <a:gd name="connsiteX26" fmla="*/ 143739 w 533400"/>
              <a:gd name="connsiteY26" fmla="*/ 410196 h 523875"/>
              <a:gd name="connsiteX27" fmla="*/ 29439 w 533400"/>
              <a:gd name="connsiteY27" fmla="*/ 410196 h 523875"/>
              <a:gd name="connsiteX28" fmla="*/ 864 w 533400"/>
              <a:gd name="connsiteY28" fmla="*/ 381621 h 523875"/>
              <a:gd name="connsiteX29" fmla="*/ 864 w 533400"/>
              <a:gd name="connsiteY29" fmla="*/ 201408 h 523875"/>
              <a:gd name="connsiteX30" fmla="*/ 11151 w 533400"/>
              <a:gd name="connsiteY30" fmla="*/ 175405 h 523875"/>
              <a:gd name="connsiteX31" fmla="*/ 56300 w 533400"/>
              <a:gd name="connsiteY31" fmla="*/ 127018 h 523875"/>
              <a:gd name="connsiteX32" fmla="*/ 84112 w 533400"/>
              <a:gd name="connsiteY32" fmla="*/ 114921 h 523875"/>
              <a:gd name="connsiteX33" fmla="*/ 143739 w 533400"/>
              <a:gd name="connsiteY33" fmla="*/ 114921 h 523875"/>
              <a:gd name="connsiteX34" fmla="*/ 462827 w 533400"/>
              <a:gd name="connsiteY34" fmla="*/ 172071 h 523875"/>
              <a:gd name="connsiteX35" fmla="*/ 448539 w 533400"/>
              <a:gd name="connsiteY35" fmla="*/ 186359 h 523875"/>
              <a:gd name="connsiteX36" fmla="*/ 462827 w 533400"/>
              <a:gd name="connsiteY36" fmla="*/ 200646 h 523875"/>
              <a:gd name="connsiteX37" fmla="*/ 477114 w 533400"/>
              <a:gd name="connsiteY37" fmla="*/ 186359 h 523875"/>
              <a:gd name="connsiteX38" fmla="*/ 462827 w 533400"/>
              <a:gd name="connsiteY38" fmla="*/ 172071 h 523875"/>
              <a:gd name="connsiteX39" fmla="*/ 343764 w 533400"/>
              <a:gd name="connsiteY39" fmla="*/ 621 h 523875"/>
              <a:gd name="connsiteX40" fmla="*/ 372339 w 533400"/>
              <a:gd name="connsiteY40" fmla="*/ 29196 h 523875"/>
              <a:gd name="connsiteX41" fmla="*/ 372339 w 533400"/>
              <a:gd name="connsiteY41" fmla="*/ 105396 h 523875"/>
              <a:gd name="connsiteX42" fmla="*/ 343764 w 533400"/>
              <a:gd name="connsiteY42" fmla="*/ 133971 h 523875"/>
              <a:gd name="connsiteX43" fmla="*/ 191364 w 533400"/>
              <a:gd name="connsiteY43" fmla="*/ 133971 h 523875"/>
              <a:gd name="connsiteX44" fmla="*/ 162789 w 533400"/>
              <a:gd name="connsiteY44" fmla="*/ 105396 h 523875"/>
              <a:gd name="connsiteX45" fmla="*/ 162789 w 533400"/>
              <a:gd name="connsiteY45" fmla="*/ 29196 h 523875"/>
              <a:gd name="connsiteX46" fmla="*/ 191364 w 533400"/>
              <a:gd name="connsiteY46" fmla="*/ 621 h 523875"/>
              <a:gd name="connsiteX47" fmla="*/ 343764 w 533400"/>
              <a:gd name="connsiteY47" fmla="*/ 621 h 523875"/>
            </a:gdLst>
            <a:ahLst/>
            <a:cxnLst/>
            <a:rect l="l" t="t" r="r" b="b"/>
            <a:pathLst>
              <a:path w="533400" h="523875">
                <a:moveTo>
                  <a:pt x="343764" y="276846"/>
                </a:moveTo>
                <a:cubicBezTo>
                  <a:pt x="359576" y="276846"/>
                  <a:pt x="372339" y="289610"/>
                  <a:pt x="372339" y="305421"/>
                </a:cubicBezTo>
                <a:lnTo>
                  <a:pt x="372339" y="495921"/>
                </a:lnTo>
                <a:cubicBezTo>
                  <a:pt x="372339" y="511732"/>
                  <a:pt x="359576" y="524496"/>
                  <a:pt x="343764" y="524496"/>
                </a:cubicBezTo>
                <a:lnTo>
                  <a:pt x="191364" y="524496"/>
                </a:lnTo>
                <a:cubicBezTo>
                  <a:pt x="175552" y="524496"/>
                  <a:pt x="162789" y="511732"/>
                  <a:pt x="162789" y="495921"/>
                </a:cubicBezTo>
                <a:lnTo>
                  <a:pt x="162789" y="305421"/>
                </a:lnTo>
                <a:cubicBezTo>
                  <a:pt x="162789" y="289610"/>
                  <a:pt x="175552" y="276846"/>
                  <a:pt x="191364" y="276846"/>
                </a:cubicBezTo>
                <a:lnTo>
                  <a:pt x="343764" y="276846"/>
                </a:lnTo>
                <a:close/>
                <a:moveTo>
                  <a:pt x="143739" y="114921"/>
                </a:moveTo>
                <a:cubicBezTo>
                  <a:pt x="143739" y="135305"/>
                  <a:pt x="159741" y="151973"/>
                  <a:pt x="179934" y="153021"/>
                </a:cubicBezTo>
                <a:lnTo>
                  <a:pt x="181839" y="153021"/>
                </a:lnTo>
                <a:lnTo>
                  <a:pt x="353289" y="153021"/>
                </a:lnTo>
                <a:cubicBezTo>
                  <a:pt x="373673" y="153021"/>
                  <a:pt x="390341" y="137019"/>
                  <a:pt x="391389" y="116826"/>
                </a:cubicBezTo>
                <a:lnTo>
                  <a:pt x="391389" y="114921"/>
                </a:lnTo>
                <a:lnTo>
                  <a:pt x="505689" y="114921"/>
                </a:lnTo>
                <a:cubicBezTo>
                  <a:pt x="521501" y="114921"/>
                  <a:pt x="534264" y="127685"/>
                  <a:pt x="534264" y="143496"/>
                </a:cubicBezTo>
                <a:lnTo>
                  <a:pt x="534264" y="381621"/>
                </a:lnTo>
                <a:cubicBezTo>
                  <a:pt x="534264" y="397432"/>
                  <a:pt x="521501" y="410196"/>
                  <a:pt x="505689" y="410196"/>
                </a:cubicBezTo>
                <a:lnTo>
                  <a:pt x="391389" y="410196"/>
                </a:lnTo>
                <a:lnTo>
                  <a:pt x="391389" y="295896"/>
                </a:lnTo>
                <a:cubicBezTo>
                  <a:pt x="391389" y="275512"/>
                  <a:pt x="375387" y="258844"/>
                  <a:pt x="355194" y="257796"/>
                </a:cubicBezTo>
                <a:lnTo>
                  <a:pt x="353289" y="257796"/>
                </a:lnTo>
                <a:lnTo>
                  <a:pt x="181839" y="257796"/>
                </a:lnTo>
                <a:cubicBezTo>
                  <a:pt x="161455" y="257796"/>
                  <a:pt x="144787" y="273798"/>
                  <a:pt x="143739" y="293991"/>
                </a:cubicBezTo>
                <a:lnTo>
                  <a:pt x="143739" y="295896"/>
                </a:lnTo>
                <a:lnTo>
                  <a:pt x="143739" y="410196"/>
                </a:lnTo>
                <a:lnTo>
                  <a:pt x="29439" y="410196"/>
                </a:lnTo>
                <a:cubicBezTo>
                  <a:pt x="13627" y="410196"/>
                  <a:pt x="864" y="397432"/>
                  <a:pt x="864" y="381621"/>
                </a:cubicBezTo>
                <a:lnTo>
                  <a:pt x="864" y="201408"/>
                </a:lnTo>
                <a:cubicBezTo>
                  <a:pt x="864" y="191788"/>
                  <a:pt x="4484" y="182454"/>
                  <a:pt x="11151" y="175405"/>
                </a:cubicBezTo>
                <a:lnTo>
                  <a:pt x="56300" y="127018"/>
                </a:lnTo>
                <a:cubicBezTo>
                  <a:pt x="63538" y="119303"/>
                  <a:pt x="73635" y="114921"/>
                  <a:pt x="84112" y="114921"/>
                </a:cubicBezTo>
                <a:lnTo>
                  <a:pt x="143739" y="114921"/>
                </a:lnTo>
                <a:close/>
                <a:moveTo>
                  <a:pt x="462827" y="172071"/>
                </a:moveTo>
                <a:cubicBezTo>
                  <a:pt x="454921" y="172071"/>
                  <a:pt x="448539" y="178453"/>
                  <a:pt x="448539" y="186359"/>
                </a:cubicBezTo>
                <a:cubicBezTo>
                  <a:pt x="448539" y="194264"/>
                  <a:pt x="454921" y="200646"/>
                  <a:pt x="462827" y="200646"/>
                </a:cubicBezTo>
                <a:cubicBezTo>
                  <a:pt x="470732" y="200646"/>
                  <a:pt x="477114" y="194264"/>
                  <a:pt x="477114" y="186359"/>
                </a:cubicBezTo>
                <a:cubicBezTo>
                  <a:pt x="477114" y="178453"/>
                  <a:pt x="470732" y="172071"/>
                  <a:pt x="462827" y="172071"/>
                </a:cubicBezTo>
                <a:close/>
                <a:moveTo>
                  <a:pt x="343764" y="621"/>
                </a:moveTo>
                <a:cubicBezTo>
                  <a:pt x="359576" y="621"/>
                  <a:pt x="372339" y="13385"/>
                  <a:pt x="372339" y="29196"/>
                </a:cubicBezTo>
                <a:lnTo>
                  <a:pt x="372339" y="105396"/>
                </a:lnTo>
                <a:cubicBezTo>
                  <a:pt x="372339" y="121207"/>
                  <a:pt x="359576" y="133971"/>
                  <a:pt x="343764" y="133971"/>
                </a:cubicBezTo>
                <a:lnTo>
                  <a:pt x="191364" y="133971"/>
                </a:lnTo>
                <a:cubicBezTo>
                  <a:pt x="175552" y="133971"/>
                  <a:pt x="162789" y="121207"/>
                  <a:pt x="162789" y="105396"/>
                </a:cubicBezTo>
                <a:lnTo>
                  <a:pt x="162789" y="29196"/>
                </a:lnTo>
                <a:cubicBezTo>
                  <a:pt x="162789" y="13385"/>
                  <a:pt x="175552" y="621"/>
                  <a:pt x="191364" y="621"/>
                </a:cubicBezTo>
                <a:lnTo>
                  <a:pt x="343764" y="62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12"/>
            </p:custDataLst>
          </p:nvPr>
        </p:nvSpPr>
        <p:spPr>
          <a:xfrm>
            <a:off x="7280366" y="4583678"/>
            <a:ext cx="4238536" cy="7263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发展理念：创新驱动，不断探索养老服务新模式、新技术，合作共赢，与各方建立良好合作关系。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73099" y="2458296"/>
            <a:ext cx="3470134" cy="234780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爱设计个人版是一款多端在线拖拽式作图/视频工具，同时具备创意资产云端存储，管理和多终端分发的功能。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企业文化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66223" y="1453111"/>
            <a:ext cx="9846853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爱设计是一家智能创意科技公司，是国内领先的内容创意全链路服务公司，致力于构建“创意资源+智能创作+内容管理+投放分发+数据监测的内容创意全链路平台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178926" y="3127811"/>
            <a:ext cx="3119755" cy="3838520"/>
          </a:xfrm>
          <a:prstGeom prst="roundRect">
            <a:avLst>
              <a:gd name="adj" fmla="val 2882"/>
            </a:avLst>
          </a:prstGeom>
          <a:solidFill>
            <a:srgbClr val="FFFFFF">
              <a:alpha val="100000"/>
            </a:srgbClr>
          </a:solidFill>
          <a:ln w="12700" cap="flat">
            <a:noFill/>
            <a:miter/>
          </a:ln>
          <a:effectLst>
            <a:outerShdw blurRad="127000" algn="ctr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5400000">
            <a:off x="2527764" y="4958171"/>
            <a:ext cx="3779081" cy="237245"/>
          </a:xfrm>
          <a:prstGeom prst="trapezoid">
            <a:avLst>
              <a:gd name="adj" fmla="val 196907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8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653980" y="3894386"/>
            <a:ext cx="2169648" cy="22226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智能化：AI 健康监测系统 24 小时实时监测老人健康数据，智能生活辅助设备提升老人生活自理能力。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536323" y="2619311"/>
            <a:ext cx="3119755" cy="4341889"/>
          </a:xfrm>
          <a:prstGeom prst="roundRect">
            <a:avLst>
              <a:gd name="adj" fmla="val 2882"/>
            </a:avLst>
          </a:prstGeom>
          <a:solidFill>
            <a:srgbClr val="FFFFFF">
              <a:alpha val="100000"/>
            </a:srgbClr>
          </a:solidFill>
          <a:ln w="12700" cap="flat">
            <a:noFill/>
            <a:miter/>
          </a:ln>
          <a:effectLst>
            <a:outerShdw blurRad="127000" algn="ctr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925619" y="3429000"/>
            <a:ext cx="2341163" cy="27828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个性化：根据老人身体状况、兴趣爱好、生活习惯等制定个性化护理计划，满足老人多样化需求。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893321" y="3127811"/>
            <a:ext cx="3119755" cy="3833389"/>
          </a:xfrm>
          <a:prstGeom prst="roundRect">
            <a:avLst>
              <a:gd name="adj" fmla="val 2882"/>
            </a:avLst>
          </a:prstGeom>
          <a:solidFill>
            <a:srgbClr val="FFFFFF">
              <a:alpha val="100000"/>
            </a:srgbClr>
          </a:solidFill>
          <a:ln w="12700" cap="flat">
            <a:noFill/>
            <a:miter/>
          </a:ln>
          <a:effectLst>
            <a:outerShdw blurRad="127000" algn="ctr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283143" y="3909049"/>
            <a:ext cx="2341164" cy="22096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人性化：养老院内部装修风格温馨舒适，护理人员经过专业培训，具备爱心、耐心和责任心。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6200000" flipH="1">
            <a:off x="5885158" y="4958171"/>
            <a:ext cx="3779081" cy="237245"/>
          </a:xfrm>
          <a:prstGeom prst="trapezoid">
            <a:avLst>
              <a:gd name="adj" fmla="val 196907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8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0" y="6059351"/>
            <a:ext cx="12192000" cy="798649"/>
          </a:xfrm>
          <a:custGeom>
            <a:avLst/>
            <a:gdLst>
              <a:gd name="connsiteX0" fmla="*/ 0 w 12192000"/>
              <a:gd name="connsiteY0" fmla="*/ 0 h 798649"/>
              <a:gd name="connsiteX1" fmla="*/ 216556 w 12192000"/>
              <a:gd name="connsiteY1" fmla="*/ 47896 h 798649"/>
              <a:gd name="connsiteX2" fmla="*/ 6096001 w 12192000"/>
              <a:gd name="connsiteY2" fmla="*/ 606458 h 798649"/>
              <a:gd name="connsiteX3" fmla="*/ 11975446 w 12192000"/>
              <a:gd name="connsiteY3" fmla="*/ 47896 h 798649"/>
              <a:gd name="connsiteX4" fmla="*/ 12192000 w 12192000"/>
              <a:gd name="connsiteY4" fmla="*/ 1 h 798649"/>
              <a:gd name="connsiteX5" fmla="*/ 12192000 w 12192000"/>
              <a:gd name="connsiteY5" fmla="*/ 798649 h 798649"/>
              <a:gd name="connsiteX6" fmla="*/ 0 w 12192000"/>
              <a:gd name="connsiteY6" fmla="*/ 798649 h 798649"/>
            </a:gdLst>
            <a:ahLst/>
            <a:cxnLst/>
            <a:rect l="l" t="t" r="r" b="b"/>
            <a:pathLst>
              <a:path w="12192000" h="798649">
                <a:moveTo>
                  <a:pt x="0" y="0"/>
                </a:moveTo>
                <a:lnTo>
                  <a:pt x="216556" y="47896"/>
                </a:lnTo>
                <a:cubicBezTo>
                  <a:pt x="1894877" y="400543"/>
                  <a:pt x="3918122" y="606458"/>
                  <a:pt x="6096001" y="606458"/>
                </a:cubicBezTo>
                <a:cubicBezTo>
                  <a:pt x="8273880" y="606458"/>
                  <a:pt x="10297125" y="400543"/>
                  <a:pt x="11975446" y="47896"/>
                </a:cubicBezTo>
                <a:lnTo>
                  <a:pt x="12192000" y="1"/>
                </a:lnTo>
                <a:lnTo>
                  <a:pt x="12192000" y="798649"/>
                </a:lnTo>
                <a:lnTo>
                  <a:pt x="0" y="798649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 w="12700" cap="flat">
            <a:noFill/>
            <a:miter/>
          </a:ln>
          <a:effectLst>
            <a:outerShdw blurRad="406400" dist="38100" dir="2700000" algn="tl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产品特色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2005876" y="0"/>
            <a:ext cx="6015705" cy="6858000"/>
          </a:xfrm>
          <a:custGeom>
            <a:avLst/>
            <a:gdLst>
              <a:gd name="connsiteX0" fmla="*/ 2107890 w 6015705"/>
              <a:gd name="connsiteY0" fmla="*/ 0 h 6858000"/>
              <a:gd name="connsiteX1" fmla="*/ 6015705 w 6015705"/>
              <a:gd name="connsiteY1" fmla="*/ 0 h 6858000"/>
              <a:gd name="connsiteX2" fmla="*/ 6003008 w 6015705"/>
              <a:gd name="connsiteY2" fmla="*/ 4441 h 6858000"/>
              <a:gd name="connsiteX3" fmla="*/ 5439376 w 6015705"/>
              <a:gd name="connsiteY3" fmla="*/ 378718 h 6858000"/>
              <a:gd name="connsiteX4" fmla="*/ 3593868 w 6015705"/>
              <a:gd name="connsiteY4" fmla="*/ 2224223 h 6858000"/>
              <a:gd name="connsiteX5" fmla="*/ 3593868 w 6015705"/>
              <a:gd name="connsiteY5" fmla="*/ 4633781 h 6858000"/>
              <a:gd name="connsiteX6" fmla="*/ 5439376 w 6015705"/>
              <a:gd name="connsiteY6" fmla="*/ 6479282 h 6858000"/>
              <a:gd name="connsiteX7" fmla="*/ 6003008 w 6015705"/>
              <a:gd name="connsiteY7" fmla="*/ 6853560 h 6858000"/>
              <a:gd name="connsiteX8" fmla="*/ 6015704 w 6015705"/>
              <a:gd name="connsiteY8" fmla="*/ 6858000 h 6858000"/>
              <a:gd name="connsiteX9" fmla="*/ 2107888 w 6015705"/>
              <a:gd name="connsiteY9" fmla="*/ 6858000 h 6858000"/>
              <a:gd name="connsiteX10" fmla="*/ 934172 w 6015705"/>
              <a:gd name="connsiteY10" fmla="*/ 5684287 h 6858000"/>
              <a:gd name="connsiteX11" fmla="*/ 934172 w 6015705"/>
              <a:gd name="connsiteY11" fmla="*/ 1173716 h 6858000"/>
            </a:gdLst>
            <a:ahLst/>
            <a:cxnLst/>
            <a:rect l="l" t="t" r="r" b="b"/>
            <a:pathLst>
              <a:path w="6015705" h="6858000">
                <a:moveTo>
                  <a:pt x="2107890" y="0"/>
                </a:moveTo>
                <a:lnTo>
                  <a:pt x="6015705" y="0"/>
                </a:lnTo>
                <a:lnTo>
                  <a:pt x="6003008" y="4441"/>
                </a:lnTo>
                <a:cubicBezTo>
                  <a:pt x="5797905" y="87614"/>
                  <a:pt x="5605722" y="212373"/>
                  <a:pt x="5439376" y="378718"/>
                </a:cubicBezTo>
                <a:lnTo>
                  <a:pt x="3593868" y="2224223"/>
                </a:lnTo>
                <a:cubicBezTo>
                  <a:pt x="2928487" y="2889605"/>
                  <a:pt x="2928487" y="3968399"/>
                  <a:pt x="3593868" y="4633781"/>
                </a:cubicBezTo>
                <a:lnTo>
                  <a:pt x="5439376" y="6479282"/>
                </a:lnTo>
                <a:cubicBezTo>
                  <a:pt x="5605722" y="6645628"/>
                  <a:pt x="5797905" y="6770387"/>
                  <a:pt x="6003008" y="6853560"/>
                </a:cubicBezTo>
                <a:lnTo>
                  <a:pt x="6015704" y="6858000"/>
                </a:lnTo>
                <a:lnTo>
                  <a:pt x="2107888" y="6858000"/>
                </a:lnTo>
                <a:lnTo>
                  <a:pt x="934172" y="5684287"/>
                </a:lnTo>
                <a:cubicBezTo>
                  <a:pt x="-311390" y="4438727"/>
                  <a:pt x="-311390" y="2419276"/>
                  <a:pt x="934172" y="117371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238218" y="2278743"/>
            <a:ext cx="2300522" cy="2300516"/>
          </a:xfrm>
          <a:custGeom>
            <a:avLst/>
            <a:gdLst>
              <a:gd name="connsiteX0" fmla="*/ 2792230 w 5584459"/>
              <a:gd name="connsiteY0" fmla="*/ 0 h 5584460"/>
              <a:gd name="connsiteX1" fmla="*/ 3740023 w 5584459"/>
              <a:gd name="connsiteY1" fmla="*/ 392589 h 5584460"/>
              <a:gd name="connsiteX2" fmla="*/ 5191871 w 5584459"/>
              <a:gd name="connsiteY2" fmla="*/ 1844438 h 5584460"/>
              <a:gd name="connsiteX3" fmla="*/ 5191871 w 5584459"/>
              <a:gd name="connsiteY3" fmla="*/ 3740023 h 5584460"/>
              <a:gd name="connsiteX4" fmla="*/ 3740023 w 5584459"/>
              <a:gd name="connsiteY4" fmla="*/ 5191871 h 5584460"/>
              <a:gd name="connsiteX5" fmla="*/ 1844438 w 5584459"/>
              <a:gd name="connsiteY5" fmla="*/ 5191871 h 5584460"/>
              <a:gd name="connsiteX6" fmla="*/ 392589 w 5584459"/>
              <a:gd name="connsiteY6" fmla="*/ 3740023 h 5584460"/>
              <a:gd name="connsiteX7" fmla="*/ 392589 w 5584459"/>
              <a:gd name="connsiteY7" fmla="*/ 1844438 h 5584460"/>
              <a:gd name="connsiteX8" fmla="*/ 1844438 w 5584459"/>
              <a:gd name="connsiteY8" fmla="*/ 392589 h 5584460"/>
              <a:gd name="connsiteX9" fmla="*/ 2792230 w 5584459"/>
              <a:gd name="connsiteY9" fmla="*/ 0 h 5584460"/>
            </a:gdLst>
            <a:ahLst/>
            <a:cxnLst/>
            <a:rect l="l" t="t" r="r" b="b"/>
            <a:pathLst>
              <a:path w="5584459" h="5584460">
                <a:moveTo>
                  <a:pt x="2792230" y="0"/>
                </a:moveTo>
                <a:cubicBezTo>
                  <a:pt x="3135264" y="0"/>
                  <a:pt x="3478297" y="130863"/>
                  <a:pt x="3740023" y="392589"/>
                </a:cubicBezTo>
                <a:lnTo>
                  <a:pt x="5191871" y="1844438"/>
                </a:lnTo>
                <a:cubicBezTo>
                  <a:pt x="5715322" y="2367889"/>
                  <a:pt x="5715322" y="3216571"/>
                  <a:pt x="5191871" y="3740023"/>
                </a:cubicBezTo>
                <a:lnTo>
                  <a:pt x="3740023" y="5191871"/>
                </a:lnTo>
                <a:cubicBezTo>
                  <a:pt x="3216571" y="5715323"/>
                  <a:pt x="2367889" y="5715323"/>
                  <a:pt x="1844438" y="5191871"/>
                </a:cubicBezTo>
                <a:lnTo>
                  <a:pt x="392589" y="3740023"/>
                </a:lnTo>
                <a:cubicBezTo>
                  <a:pt x="-130863" y="3216571"/>
                  <a:pt x="-130863" y="2367889"/>
                  <a:pt x="392589" y="1844438"/>
                </a:cubicBezTo>
                <a:lnTo>
                  <a:pt x="1844438" y="392589"/>
                </a:lnTo>
                <a:cubicBezTo>
                  <a:pt x="2106164" y="130863"/>
                  <a:pt x="2449197" y="0"/>
                  <a:pt x="279223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>
            <a:outerShdw blurRad="317500" sx="102000" sy="102000" algn="ctr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290513" y="2754807"/>
            <a:ext cx="1348392" cy="1348388"/>
          </a:xfrm>
          <a:custGeom>
            <a:avLst/>
            <a:gdLst>
              <a:gd name="connsiteX0" fmla="*/ 2792230 w 5584459"/>
              <a:gd name="connsiteY0" fmla="*/ 0 h 5584460"/>
              <a:gd name="connsiteX1" fmla="*/ 3740023 w 5584459"/>
              <a:gd name="connsiteY1" fmla="*/ 392589 h 5584460"/>
              <a:gd name="connsiteX2" fmla="*/ 5191871 w 5584459"/>
              <a:gd name="connsiteY2" fmla="*/ 1844438 h 5584460"/>
              <a:gd name="connsiteX3" fmla="*/ 5191871 w 5584459"/>
              <a:gd name="connsiteY3" fmla="*/ 3740023 h 5584460"/>
              <a:gd name="connsiteX4" fmla="*/ 3740023 w 5584459"/>
              <a:gd name="connsiteY4" fmla="*/ 5191871 h 5584460"/>
              <a:gd name="connsiteX5" fmla="*/ 1844438 w 5584459"/>
              <a:gd name="connsiteY5" fmla="*/ 5191871 h 5584460"/>
              <a:gd name="connsiteX6" fmla="*/ 392589 w 5584459"/>
              <a:gd name="connsiteY6" fmla="*/ 3740023 h 5584460"/>
              <a:gd name="connsiteX7" fmla="*/ 392589 w 5584459"/>
              <a:gd name="connsiteY7" fmla="*/ 1844438 h 5584460"/>
              <a:gd name="connsiteX8" fmla="*/ 1844438 w 5584459"/>
              <a:gd name="connsiteY8" fmla="*/ 392589 h 5584460"/>
              <a:gd name="connsiteX9" fmla="*/ 2792230 w 5584459"/>
              <a:gd name="connsiteY9" fmla="*/ 0 h 5584460"/>
            </a:gdLst>
            <a:ahLst/>
            <a:cxnLst/>
            <a:rect l="l" t="t" r="r" b="b"/>
            <a:pathLst>
              <a:path w="5584459" h="5584460">
                <a:moveTo>
                  <a:pt x="2792230" y="0"/>
                </a:moveTo>
                <a:cubicBezTo>
                  <a:pt x="3135264" y="0"/>
                  <a:pt x="3478297" y="130863"/>
                  <a:pt x="3740023" y="392589"/>
                </a:cubicBezTo>
                <a:lnTo>
                  <a:pt x="5191871" y="1844438"/>
                </a:lnTo>
                <a:cubicBezTo>
                  <a:pt x="5715322" y="2367889"/>
                  <a:pt x="5715322" y="3216571"/>
                  <a:pt x="5191871" y="3740023"/>
                </a:cubicBezTo>
                <a:lnTo>
                  <a:pt x="3740023" y="5191871"/>
                </a:lnTo>
                <a:cubicBezTo>
                  <a:pt x="3216571" y="5715323"/>
                  <a:pt x="2367889" y="5715323"/>
                  <a:pt x="1844438" y="5191871"/>
                </a:cubicBezTo>
                <a:lnTo>
                  <a:pt x="392589" y="3740023"/>
                </a:lnTo>
                <a:cubicBezTo>
                  <a:pt x="-130863" y="3216571"/>
                  <a:pt x="-130863" y="2367889"/>
                  <a:pt x="392589" y="1844438"/>
                </a:cubicBezTo>
                <a:lnTo>
                  <a:pt x="1844438" y="392589"/>
                </a:lnTo>
                <a:cubicBezTo>
                  <a:pt x="2106164" y="130863"/>
                  <a:pt x="2449197" y="0"/>
                  <a:pt x="279223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>
            <a:outerShdw blurRad="317500" sx="102000" sy="102000" algn="ctr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564798" y="766350"/>
            <a:ext cx="1348392" cy="1348388"/>
          </a:xfrm>
          <a:custGeom>
            <a:avLst/>
            <a:gdLst>
              <a:gd name="connsiteX0" fmla="*/ 2792230 w 5584459"/>
              <a:gd name="connsiteY0" fmla="*/ 0 h 5584460"/>
              <a:gd name="connsiteX1" fmla="*/ 3740023 w 5584459"/>
              <a:gd name="connsiteY1" fmla="*/ 392589 h 5584460"/>
              <a:gd name="connsiteX2" fmla="*/ 5191871 w 5584459"/>
              <a:gd name="connsiteY2" fmla="*/ 1844438 h 5584460"/>
              <a:gd name="connsiteX3" fmla="*/ 5191871 w 5584459"/>
              <a:gd name="connsiteY3" fmla="*/ 3740023 h 5584460"/>
              <a:gd name="connsiteX4" fmla="*/ 3740023 w 5584459"/>
              <a:gd name="connsiteY4" fmla="*/ 5191871 h 5584460"/>
              <a:gd name="connsiteX5" fmla="*/ 1844438 w 5584459"/>
              <a:gd name="connsiteY5" fmla="*/ 5191871 h 5584460"/>
              <a:gd name="connsiteX6" fmla="*/ 392589 w 5584459"/>
              <a:gd name="connsiteY6" fmla="*/ 3740023 h 5584460"/>
              <a:gd name="connsiteX7" fmla="*/ 392589 w 5584459"/>
              <a:gd name="connsiteY7" fmla="*/ 1844438 h 5584460"/>
              <a:gd name="connsiteX8" fmla="*/ 1844438 w 5584459"/>
              <a:gd name="connsiteY8" fmla="*/ 392589 h 5584460"/>
              <a:gd name="connsiteX9" fmla="*/ 2792230 w 5584459"/>
              <a:gd name="connsiteY9" fmla="*/ 0 h 5584460"/>
            </a:gdLst>
            <a:ahLst/>
            <a:cxnLst/>
            <a:rect l="l" t="t" r="r" b="b"/>
            <a:pathLst>
              <a:path w="5584459" h="5584460">
                <a:moveTo>
                  <a:pt x="2792230" y="0"/>
                </a:moveTo>
                <a:cubicBezTo>
                  <a:pt x="3135264" y="0"/>
                  <a:pt x="3478297" y="130863"/>
                  <a:pt x="3740023" y="392589"/>
                </a:cubicBezTo>
                <a:lnTo>
                  <a:pt x="5191871" y="1844438"/>
                </a:lnTo>
                <a:cubicBezTo>
                  <a:pt x="5715322" y="2367889"/>
                  <a:pt x="5715322" y="3216571"/>
                  <a:pt x="5191871" y="3740023"/>
                </a:cubicBezTo>
                <a:lnTo>
                  <a:pt x="3740023" y="5191871"/>
                </a:lnTo>
                <a:cubicBezTo>
                  <a:pt x="3216571" y="5715323"/>
                  <a:pt x="2367889" y="5715323"/>
                  <a:pt x="1844438" y="5191871"/>
                </a:cubicBezTo>
                <a:lnTo>
                  <a:pt x="392589" y="3740023"/>
                </a:lnTo>
                <a:cubicBezTo>
                  <a:pt x="-130863" y="3216571"/>
                  <a:pt x="-130863" y="2367889"/>
                  <a:pt x="392589" y="1844438"/>
                </a:cubicBezTo>
                <a:lnTo>
                  <a:pt x="1844438" y="392589"/>
                </a:lnTo>
                <a:cubicBezTo>
                  <a:pt x="2106164" y="130863"/>
                  <a:pt x="2449197" y="0"/>
                  <a:pt x="279223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>
            <a:outerShdw blurRad="317500" sx="102000" sy="102000" algn="ctr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564798" y="4743262"/>
            <a:ext cx="1348392" cy="1348388"/>
          </a:xfrm>
          <a:custGeom>
            <a:avLst/>
            <a:gdLst>
              <a:gd name="connsiteX0" fmla="*/ 2792230 w 5584459"/>
              <a:gd name="connsiteY0" fmla="*/ 0 h 5584460"/>
              <a:gd name="connsiteX1" fmla="*/ 3740023 w 5584459"/>
              <a:gd name="connsiteY1" fmla="*/ 392589 h 5584460"/>
              <a:gd name="connsiteX2" fmla="*/ 5191871 w 5584459"/>
              <a:gd name="connsiteY2" fmla="*/ 1844438 h 5584460"/>
              <a:gd name="connsiteX3" fmla="*/ 5191871 w 5584459"/>
              <a:gd name="connsiteY3" fmla="*/ 3740023 h 5584460"/>
              <a:gd name="connsiteX4" fmla="*/ 3740023 w 5584459"/>
              <a:gd name="connsiteY4" fmla="*/ 5191871 h 5584460"/>
              <a:gd name="connsiteX5" fmla="*/ 1844438 w 5584459"/>
              <a:gd name="connsiteY5" fmla="*/ 5191871 h 5584460"/>
              <a:gd name="connsiteX6" fmla="*/ 392589 w 5584459"/>
              <a:gd name="connsiteY6" fmla="*/ 3740023 h 5584460"/>
              <a:gd name="connsiteX7" fmla="*/ 392589 w 5584459"/>
              <a:gd name="connsiteY7" fmla="*/ 1844438 h 5584460"/>
              <a:gd name="connsiteX8" fmla="*/ 1844438 w 5584459"/>
              <a:gd name="connsiteY8" fmla="*/ 392589 h 5584460"/>
              <a:gd name="connsiteX9" fmla="*/ 2792230 w 5584459"/>
              <a:gd name="connsiteY9" fmla="*/ 0 h 5584460"/>
            </a:gdLst>
            <a:ahLst/>
            <a:cxnLst/>
            <a:rect l="l" t="t" r="r" b="b"/>
            <a:pathLst>
              <a:path w="5584459" h="5584460">
                <a:moveTo>
                  <a:pt x="2792230" y="0"/>
                </a:moveTo>
                <a:cubicBezTo>
                  <a:pt x="3135264" y="0"/>
                  <a:pt x="3478297" y="130863"/>
                  <a:pt x="3740023" y="392589"/>
                </a:cubicBezTo>
                <a:lnTo>
                  <a:pt x="5191871" y="1844438"/>
                </a:lnTo>
                <a:cubicBezTo>
                  <a:pt x="5715322" y="2367889"/>
                  <a:pt x="5715322" y="3216571"/>
                  <a:pt x="5191871" y="3740023"/>
                </a:cubicBezTo>
                <a:lnTo>
                  <a:pt x="3740023" y="5191871"/>
                </a:lnTo>
                <a:cubicBezTo>
                  <a:pt x="3216571" y="5715323"/>
                  <a:pt x="2367889" y="5715323"/>
                  <a:pt x="1844438" y="5191871"/>
                </a:cubicBezTo>
                <a:lnTo>
                  <a:pt x="392589" y="3740023"/>
                </a:lnTo>
                <a:cubicBezTo>
                  <a:pt x="-130863" y="3216571"/>
                  <a:pt x="-130863" y="2367889"/>
                  <a:pt x="392589" y="1844438"/>
                </a:cubicBezTo>
                <a:lnTo>
                  <a:pt x="1844438" y="392589"/>
                </a:lnTo>
                <a:cubicBezTo>
                  <a:pt x="2106164" y="130863"/>
                  <a:pt x="2449197" y="0"/>
                  <a:pt x="279223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>
            <a:outerShdw blurRad="317500" sx="102000" sy="102000" algn="ctr" rotWithShape="0">
              <a:schemeClr val="accent1">
                <a:alpha val="3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60399" y="2226480"/>
            <a:ext cx="3271928" cy="24050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爱设计isheji.com是国内领先的在线设计与协作平台，并为众多先进企业提供内容中台解决方案。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146722" y="1029406"/>
            <a:ext cx="26162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9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短期目标（1 - 2 年）：确保项目顺利开业运营，入住率达到 50%以上，完善智能化服务系统，树立良好品牌形象。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944796" y="3017863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9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中期目标（3 - 5 年）：拓展服务范围，增加康复护理、老年教育等特色服务，与周边医院建立紧密医联体合作。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146722" y="500631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9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长期目标（5 年以上）：在本地市场形成品牌影响力，拓展至周边城市，建立连锁化智能养老机构，参与行业标准制定。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995653" y="1197203"/>
            <a:ext cx="486682" cy="486682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740068" y="3185660"/>
            <a:ext cx="449282" cy="48668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995653" y="5196841"/>
            <a:ext cx="486682" cy="441232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4888481" y="2924177"/>
            <a:ext cx="999996" cy="1009648"/>
            <a:chOff x="4888481" y="2924177"/>
            <a:chExt cx="999996" cy="1009648"/>
          </a:xfrm>
        </p:grpSpPr>
        <p:sp>
          <p:nvSpPr>
            <p:cNvPr id="18" name="标题 1"/>
            <p:cNvSpPr txBox="1"/>
            <p:nvPr/>
          </p:nvSpPr>
          <p:spPr>
            <a:xfrm>
              <a:off x="4888481" y="2924462"/>
              <a:ext cx="999996" cy="1009363"/>
            </a:xfrm>
            <a:custGeom>
              <a:avLst/>
              <a:gdLst>
                <a:gd name="connsiteX0" fmla="*/ 180615 w 333205"/>
                <a:gd name="connsiteY0" fmla="*/ 0 h 336327"/>
                <a:gd name="connsiteX1" fmla="*/ 131466 w 333205"/>
                <a:gd name="connsiteY1" fmla="*/ 0 h 336327"/>
                <a:gd name="connsiteX2" fmla="*/ 59743 w 333205"/>
                <a:gd name="connsiteY2" fmla="*/ 53626 h 336327"/>
                <a:gd name="connsiteX3" fmla="*/ 2879 w 333205"/>
                <a:gd name="connsiteY3" fmla="*/ 246888 h 336327"/>
                <a:gd name="connsiteX4" fmla="*/ 69744 w 333205"/>
                <a:gd name="connsiteY4" fmla="*/ 336233 h 336327"/>
                <a:gd name="connsiteX5" fmla="*/ 93747 w 333205"/>
                <a:gd name="connsiteY5" fmla="*/ 315468 h 336327"/>
                <a:gd name="connsiteX6" fmla="*/ 77459 w 333205"/>
                <a:gd name="connsiteY6" fmla="*/ 298418 h 336327"/>
                <a:gd name="connsiteX7" fmla="*/ 42312 w 333205"/>
                <a:gd name="connsiteY7" fmla="*/ 270129 h 336327"/>
                <a:gd name="connsiteX8" fmla="*/ 103939 w 333205"/>
                <a:gd name="connsiteY8" fmla="*/ 200692 h 336327"/>
                <a:gd name="connsiteX9" fmla="*/ 160994 w 333205"/>
                <a:gd name="connsiteY9" fmla="*/ 200692 h 336327"/>
                <a:gd name="connsiteX10" fmla="*/ 202999 w 333205"/>
                <a:gd name="connsiteY10" fmla="*/ 242697 h 336327"/>
                <a:gd name="connsiteX11" fmla="*/ 202999 w 333205"/>
                <a:gd name="connsiteY11" fmla="*/ 260890 h 336327"/>
                <a:gd name="connsiteX12" fmla="*/ 202999 w 333205"/>
                <a:gd name="connsiteY12" fmla="*/ 260985 h 336327"/>
                <a:gd name="connsiteX13" fmla="*/ 202999 w 333205"/>
                <a:gd name="connsiteY13" fmla="*/ 293180 h 336327"/>
                <a:gd name="connsiteX14" fmla="*/ 246242 w 333205"/>
                <a:gd name="connsiteY14" fmla="*/ 336328 h 336327"/>
                <a:gd name="connsiteX15" fmla="*/ 290057 w 333205"/>
                <a:gd name="connsiteY15" fmla="*/ 336328 h 336327"/>
                <a:gd name="connsiteX16" fmla="*/ 333206 w 333205"/>
                <a:gd name="connsiteY16" fmla="*/ 293180 h 336327"/>
                <a:gd name="connsiteX17" fmla="*/ 333206 w 333205"/>
                <a:gd name="connsiteY17" fmla="*/ 260318 h 336327"/>
                <a:gd name="connsiteX18" fmla="*/ 333206 w 333205"/>
                <a:gd name="connsiteY18" fmla="*/ 235458 h 336327"/>
                <a:gd name="connsiteX19" fmla="*/ 333206 w 333205"/>
                <a:gd name="connsiteY19" fmla="*/ 153924 h 336327"/>
                <a:gd name="connsiteX20" fmla="*/ 180615 w 333205"/>
                <a:gd name="connsiteY20" fmla="*/ 0 h 336327"/>
                <a:gd name="connsiteX21" fmla="*/ 128323 w 333205"/>
                <a:gd name="connsiteY21" fmla="*/ 152019 h 336327"/>
                <a:gd name="connsiteX22" fmla="*/ 106034 w 333205"/>
                <a:gd name="connsiteY22" fmla="*/ 129731 h 336327"/>
                <a:gd name="connsiteX23" fmla="*/ 128323 w 333205"/>
                <a:gd name="connsiteY23" fmla="*/ 107442 h 336327"/>
                <a:gd name="connsiteX24" fmla="*/ 150611 w 333205"/>
                <a:gd name="connsiteY24" fmla="*/ 129731 h 336327"/>
                <a:gd name="connsiteX25" fmla="*/ 128323 w 333205"/>
                <a:gd name="connsiteY25" fmla="*/ 152019 h 336327"/>
              </a:gdLst>
              <a:ahLst/>
              <a:cxnLst/>
              <a:rect l="l" t="t" r="r" b="b"/>
              <a:pathLst>
                <a:path w="333205" h="336327">
                  <a:moveTo>
                    <a:pt x="180615" y="0"/>
                  </a:moveTo>
                  <a:lnTo>
                    <a:pt x="131466" y="0"/>
                  </a:lnTo>
                  <a:cubicBezTo>
                    <a:pt x="98319" y="0"/>
                    <a:pt x="69077" y="21812"/>
                    <a:pt x="59743" y="53626"/>
                  </a:cubicBezTo>
                  <a:lnTo>
                    <a:pt x="2879" y="246888"/>
                  </a:lnTo>
                  <a:cubicBezTo>
                    <a:pt x="-10266" y="291560"/>
                    <a:pt x="23262" y="336233"/>
                    <a:pt x="69744" y="336233"/>
                  </a:cubicBezTo>
                  <a:cubicBezTo>
                    <a:pt x="88699" y="336233"/>
                    <a:pt x="93747" y="326041"/>
                    <a:pt x="93747" y="315468"/>
                  </a:cubicBezTo>
                  <a:cubicBezTo>
                    <a:pt x="93747" y="305753"/>
                    <a:pt x="86508" y="298704"/>
                    <a:pt x="77459" y="298418"/>
                  </a:cubicBezTo>
                  <a:cubicBezTo>
                    <a:pt x="59933" y="297847"/>
                    <a:pt x="44122" y="287560"/>
                    <a:pt x="42312" y="270129"/>
                  </a:cubicBezTo>
                  <a:cubicBezTo>
                    <a:pt x="38312" y="232505"/>
                    <a:pt x="67458" y="200692"/>
                    <a:pt x="103939" y="200692"/>
                  </a:cubicBezTo>
                  <a:lnTo>
                    <a:pt x="160994" y="200692"/>
                  </a:lnTo>
                  <a:cubicBezTo>
                    <a:pt x="184139" y="200692"/>
                    <a:pt x="202999" y="219456"/>
                    <a:pt x="202999" y="242697"/>
                  </a:cubicBezTo>
                  <a:lnTo>
                    <a:pt x="202999" y="260890"/>
                  </a:lnTo>
                  <a:cubicBezTo>
                    <a:pt x="202999" y="260890"/>
                    <a:pt x="202999" y="260890"/>
                    <a:pt x="202999" y="260985"/>
                  </a:cubicBezTo>
                  <a:lnTo>
                    <a:pt x="202999" y="293180"/>
                  </a:lnTo>
                  <a:cubicBezTo>
                    <a:pt x="202999" y="316897"/>
                    <a:pt x="222430" y="336328"/>
                    <a:pt x="246242" y="336328"/>
                  </a:cubicBezTo>
                  <a:lnTo>
                    <a:pt x="290057" y="336328"/>
                  </a:lnTo>
                  <a:cubicBezTo>
                    <a:pt x="313775" y="336328"/>
                    <a:pt x="333206" y="316897"/>
                    <a:pt x="333206" y="293180"/>
                  </a:cubicBezTo>
                  <a:lnTo>
                    <a:pt x="333206" y="260318"/>
                  </a:lnTo>
                  <a:lnTo>
                    <a:pt x="333206" y="235458"/>
                  </a:lnTo>
                  <a:lnTo>
                    <a:pt x="333206" y="153924"/>
                  </a:lnTo>
                  <a:cubicBezTo>
                    <a:pt x="249290" y="153353"/>
                    <a:pt x="181091" y="84677"/>
                    <a:pt x="180615" y="0"/>
                  </a:cubicBezTo>
                  <a:close/>
                  <a:moveTo>
                    <a:pt x="128323" y="152019"/>
                  </a:moveTo>
                  <a:cubicBezTo>
                    <a:pt x="116036" y="152019"/>
                    <a:pt x="106034" y="142018"/>
                    <a:pt x="106034" y="129731"/>
                  </a:cubicBezTo>
                  <a:cubicBezTo>
                    <a:pt x="106034" y="117443"/>
                    <a:pt x="116036" y="107442"/>
                    <a:pt x="128323" y="107442"/>
                  </a:cubicBezTo>
                  <a:cubicBezTo>
                    <a:pt x="140610" y="107442"/>
                    <a:pt x="150611" y="117443"/>
                    <a:pt x="150611" y="129731"/>
                  </a:cubicBezTo>
                  <a:cubicBezTo>
                    <a:pt x="150611" y="142018"/>
                    <a:pt x="140610" y="152019"/>
                    <a:pt x="128323" y="15201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5523724" y="2924177"/>
              <a:ext cx="364753" cy="364467"/>
            </a:xfrm>
            <a:custGeom>
              <a:avLst/>
              <a:gdLst>
                <a:gd name="connsiteX0" fmla="*/ 121539 w 121538"/>
                <a:gd name="connsiteY0" fmla="*/ 121444 h 121443"/>
                <a:gd name="connsiteX1" fmla="*/ 0 w 121538"/>
                <a:gd name="connsiteY1" fmla="*/ 0 h 121443"/>
                <a:gd name="connsiteX2" fmla="*/ 66008 w 121538"/>
                <a:gd name="connsiteY2" fmla="*/ 0 h 121443"/>
                <a:gd name="connsiteX3" fmla="*/ 121539 w 121538"/>
                <a:gd name="connsiteY3" fmla="*/ 55531 h 121443"/>
                <a:gd name="connsiteX4" fmla="*/ 121539 w 121538"/>
                <a:gd name="connsiteY4" fmla="*/ 121444 h 121443"/>
              </a:gdLst>
              <a:ahLst/>
              <a:cxnLst/>
              <a:rect l="l" t="t" r="r" b="b"/>
              <a:pathLst>
                <a:path w="121538" h="121443">
                  <a:moveTo>
                    <a:pt x="121539" y="121444"/>
                  </a:moveTo>
                  <a:cubicBezTo>
                    <a:pt x="54769" y="120968"/>
                    <a:pt x="571" y="66770"/>
                    <a:pt x="0" y="0"/>
                  </a:cubicBezTo>
                  <a:lnTo>
                    <a:pt x="66008" y="0"/>
                  </a:lnTo>
                  <a:cubicBezTo>
                    <a:pt x="96679" y="0"/>
                    <a:pt x="121539" y="24860"/>
                    <a:pt x="121539" y="55531"/>
                  </a:cubicBezTo>
                  <a:lnTo>
                    <a:pt x="121539" y="12144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0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发展规划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05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5：管理团队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935971" y="1950238"/>
            <a:ext cx="453863" cy="453863"/>
          </a:xfrm>
          <a:prstGeom prst="halfFrame">
            <a:avLst>
              <a:gd name="adj1" fmla="val 14215"/>
              <a:gd name="adj2" fmla="val 15686"/>
            </a:avLst>
          </a:prstGeom>
          <a:solidFill>
            <a:schemeClr val="accent3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8789466" y="4860299"/>
            <a:ext cx="453863" cy="453863"/>
          </a:xfrm>
          <a:prstGeom prst="halfFrame">
            <a:avLst>
              <a:gd name="adj1" fmla="val 14215"/>
              <a:gd name="adj2" fmla="val 15686"/>
            </a:avLst>
          </a:prstGeom>
          <a:solidFill>
            <a:schemeClr val="accent3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142879" y="2153808"/>
            <a:ext cx="5893542" cy="295678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142879" y="2153808"/>
            <a:ext cx="5893542" cy="453863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383768" y="2738287"/>
            <a:ext cx="5411764" cy="21816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组织架构图：展示院长、副院长、护理部、医疗部、后勤部、市场部、财务部等部门负责人及各岗位人员。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团队结构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650288" y="1332228"/>
            <a:ext cx="2453128" cy="44843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251999" tIns="1280160" rIns="180000" bIns="396000" rtlCol="0" anchor="t"/>
          <a:lstStyle/>
          <a:p>
            <a:pPr algn="ctr">
              <a:lnSpc>
                <a:spcPct val="13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941060" y="1332227"/>
            <a:ext cx="2453128" cy="4489841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81000" dist="127000" dir="5400000" sx="102000" sy="102000" algn="t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V="1">
            <a:off x="5941060" y="1332228"/>
            <a:ext cx="2455033" cy="5163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251999" tIns="1280160" rIns="180000" bIns="45720" rtlCol="0" anchor="t"/>
          <a:lstStyle/>
          <a:p>
            <a:pPr algn="l">
              <a:lnSpc>
                <a:spcPct val="13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942638" y="1645610"/>
            <a:ext cx="451877" cy="451877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709872" y="1632663"/>
            <a:ext cx="451877" cy="395612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tx1"/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097218" y="2353021"/>
            <a:ext cx="2145715" cy="3171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院长：具有 20 年以上养老行业管理经验，熟悉养老服务运营管理流程和行业规范，具备丰富的团队管理经验和战略规划能力。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989322" y="2359237"/>
            <a:ext cx="1892977" cy="31652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各部门负责人：护理部负责人拥有 15 年以上护理工作经验，精通老年护理知识和技能；医疗部负责人是资深医生，具有丰富的临床经验和老年病诊疗专长。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162023" y="1384300"/>
            <a:ext cx="4369881" cy="40585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爱设计个人版是一款多端在线拖拽式作图/视频工具，同时具备创意资产云端存储，管理和多终端分发的功能。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V="1">
            <a:off x="8650288" y="1332228"/>
            <a:ext cx="2455033" cy="5163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sq">
            <a:noFill/>
            <a:miter/>
          </a:ln>
        </p:spPr>
        <p:txBody>
          <a:bodyPr vert="horz" wrap="square" lIns="251999" tIns="1280160" rIns="180000" bIns="45720" rtlCol="0" anchor="t"/>
          <a:lstStyle/>
          <a:p>
            <a:pPr algn="l">
              <a:lnSpc>
                <a:spcPct val="13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管理能力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3042858" y="3169488"/>
            <a:ext cx="2912678" cy="129002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责任心：团队成员深知养老服务责任重大，始终以高度责任心对待工作，关注老人身心健康。</a:t>
            </a:r>
            <a:endParaRPr kumimoji="1" lang="zh-CN" altLang="en-US"/>
          </a:p>
        </p:txBody>
      </p:sp>
      <p:sp>
        <p:nvSpPr>
          <p:cNvPr id="6" name="标题 1"/>
          <p:cNvSpPr txBox="1"/>
          <p:nvPr>
            <p:custDataLst>
              <p:tags r:id="rId2"/>
            </p:custDataLst>
          </p:nvPr>
        </p:nvSpPr>
        <p:spPr>
          <a:xfrm flipV="1">
            <a:off x="1506000" y="3059546"/>
            <a:ext cx="1399970" cy="1399967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/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>
            <p:custDataLst>
              <p:tags r:id="rId3"/>
            </p:custDataLst>
          </p:nvPr>
        </p:nvSpPr>
        <p:spPr>
          <a:xfrm>
            <a:off x="1958534" y="3369419"/>
            <a:ext cx="535806" cy="580406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>
            <p:custDataLst>
              <p:tags r:id="rId4"/>
            </p:custDataLst>
          </p:nvPr>
        </p:nvSpPr>
        <p:spPr>
          <a:xfrm>
            <a:off x="7930913" y="3169488"/>
            <a:ext cx="2912678" cy="129002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爱心：全体员工具备爱心和耐心，将老人视为亲人，给予老人充分关爱和尊重。</a:t>
            </a:r>
            <a:endParaRPr kumimoji="1" lang="zh-CN" altLang="en-US"/>
          </a:p>
        </p:txBody>
      </p:sp>
      <p:sp>
        <p:nvSpPr>
          <p:cNvPr id="9" name="标题 1"/>
          <p:cNvSpPr txBox="1"/>
          <p:nvPr>
            <p:custDataLst>
              <p:tags r:id="rId5"/>
            </p:custDataLst>
          </p:nvPr>
        </p:nvSpPr>
        <p:spPr>
          <a:xfrm>
            <a:off x="6376233" y="3059546"/>
            <a:ext cx="1399970" cy="1399967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/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6"/>
            </p:custDataLst>
          </p:nvPr>
        </p:nvSpPr>
        <p:spPr>
          <a:xfrm>
            <a:off x="6797975" y="3501679"/>
            <a:ext cx="580408" cy="547046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>
            <p:custDataLst>
              <p:tags r:id="rId7"/>
            </p:custDataLst>
          </p:nvPr>
        </p:nvSpPr>
        <p:spPr>
          <a:xfrm>
            <a:off x="3042858" y="4947567"/>
            <a:ext cx="2912678" cy="129002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专业精神：团队成员注重专业学习和技能提升，定期参加行业培训和学术交流活动，不断更新知识结构。</a:t>
            </a: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8"/>
            </p:custDataLst>
          </p:nvPr>
        </p:nvSpPr>
        <p:spPr>
          <a:xfrm flipV="1">
            <a:off x="1506000" y="4837625"/>
            <a:ext cx="1399970" cy="1399967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/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>
            <p:custDataLst>
              <p:tags r:id="rId9"/>
            </p:custDataLst>
          </p:nvPr>
        </p:nvSpPr>
        <p:spPr>
          <a:xfrm>
            <a:off x="1884437" y="5138284"/>
            <a:ext cx="684000" cy="598833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69751" y="1405774"/>
            <a:ext cx="476250" cy="377952"/>
          </a:xfrm>
          <a:custGeom>
            <a:avLst/>
            <a:gdLst>
              <a:gd name="connsiteX0" fmla="*/ 476250 w 476250"/>
              <a:gd name="connsiteY0" fmla="*/ 0 h 377952"/>
              <a:gd name="connsiteX1" fmla="*/ 476250 w 476250"/>
              <a:gd name="connsiteY1" fmla="*/ 81725 h 377952"/>
              <a:gd name="connsiteX2" fmla="*/ 367570 w 476250"/>
              <a:gd name="connsiteY2" fmla="*/ 187452 h 377952"/>
              <a:gd name="connsiteX3" fmla="*/ 476250 w 476250"/>
              <a:gd name="connsiteY3" fmla="*/ 187452 h 377952"/>
              <a:gd name="connsiteX4" fmla="*/ 476250 w 476250"/>
              <a:gd name="connsiteY4" fmla="*/ 377952 h 377952"/>
              <a:gd name="connsiteX5" fmla="*/ 285750 w 476250"/>
              <a:gd name="connsiteY5" fmla="*/ 377952 h 377952"/>
              <a:gd name="connsiteX6" fmla="*/ 285750 w 476250"/>
              <a:gd name="connsiteY6" fmla="*/ 187452 h 377952"/>
              <a:gd name="connsiteX7" fmla="*/ 476250 w 476250"/>
              <a:gd name="connsiteY7" fmla="*/ 0 h 377952"/>
              <a:gd name="connsiteX8" fmla="*/ 190500 w 476250"/>
              <a:gd name="connsiteY8" fmla="*/ 0 h 377952"/>
              <a:gd name="connsiteX9" fmla="*/ 190500 w 476250"/>
              <a:gd name="connsiteY9" fmla="*/ 81725 h 377952"/>
              <a:gd name="connsiteX10" fmla="*/ 81820 w 476250"/>
              <a:gd name="connsiteY10" fmla="*/ 187452 h 377952"/>
              <a:gd name="connsiteX11" fmla="*/ 190500 w 476250"/>
              <a:gd name="connsiteY11" fmla="*/ 187452 h 377952"/>
              <a:gd name="connsiteX12" fmla="*/ 190500 w 476250"/>
              <a:gd name="connsiteY12" fmla="*/ 377952 h 377952"/>
              <a:gd name="connsiteX13" fmla="*/ 0 w 476250"/>
              <a:gd name="connsiteY13" fmla="*/ 377952 h 377952"/>
              <a:gd name="connsiteX14" fmla="*/ 0 w 476250"/>
              <a:gd name="connsiteY14" fmla="*/ 187452 h 377952"/>
              <a:gd name="connsiteX15" fmla="*/ 190500 w 476250"/>
              <a:gd name="connsiteY15" fmla="*/ 0 h 377952"/>
            </a:gdLst>
            <a:ahLst/>
            <a:cxnLst/>
            <a:rect l="l" t="t" r="r" b="b"/>
            <a:pathLst>
              <a:path w="476250" h="377952">
                <a:moveTo>
                  <a:pt x="476250" y="0"/>
                </a:moveTo>
                <a:lnTo>
                  <a:pt x="476250" y="81725"/>
                </a:lnTo>
                <a:cubicBezTo>
                  <a:pt x="417383" y="81753"/>
                  <a:pt x="369219" y="128608"/>
                  <a:pt x="367570" y="187452"/>
                </a:cubicBezTo>
                <a:lnTo>
                  <a:pt x="476250" y="187452"/>
                </a:lnTo>
                <a:lnTo>
                  <a:pt x="476250" y="377952"/>
                </a:lnTo>
                <a:lnTo>
                  <a:pt x="285750" y="377952"/>
                </a:lnTo>
                <a:lnTo>
                  <a:pt x="285750" y="187452"/>
                </a:lnTo>
                <a:cubicBezTo>
                  <a:pt x="287415" y="83434"/>
                  <a:pt x="372219" y="-13"/>
                  <a:pt x="476250" y="0"/>
                </a:cubicBezTo>
                <a:close/>
                <a:moveTo>
                  <a:pt x="190500" y="0"/>
                </a:moveTo>
                <a:lnTo>
                  <a:pt x="190500" y="81725"/>
                </a:lnTo>
                <a:cubicBezTo>
                  <a:pt x="131633" y="81753"/>
                  <a:pt x="83469" y="128608"/>
                  <a:pt x="81820" y="187452"/>
                </a:cubicBezTo>
                <a:lnTo>
                  <a:pt x="190500" y="187452"/>
                </a:lnTo>
                <a:lnTo>
                  <a:pt x="190500" y="377952"/>
                </a:lnTo>
                <a:lnTo>
                  <a:pt x="0" y="377952"/>
                </a:lnTo>
                <a:lnTo>
                  <a:pt x="0" y="187452"/>
                </a:lnTo>
                <a:cubicBezTo>
                  <a:pt x="1665" y="83434"/>
                  <a:pt x="86469" y="-13"/>
                  <a:pt x="190500" y="0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365076" y="1463862"/>
            <a:ext cx="9846853" cy="12948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爱设计是一家智能创意科技公司，是国内领先的内容创意全链路服务公司，致力于构建“创意资源+智能创作+内容管理+投放分发+数据监测的内容创意全链路平台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职业道德与素质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06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6：产品（服务）介绍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75463" y="1626772"/>
            <a:ext cx="10030687" cy="3954877"/>
          </a:xfrm>
          <a:prstGeom prst="roundRect">
            <a:avLst>
              <a:gd name="adj" fmla="val 3513"/>
            </a:avLst>
          </a:prstGeom>
          <a:noFill/>
          <a:ln w="1905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803999" y="1809826"/>
            <a:ext cx="9006875" cy="342079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C3C3C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AI 芯颐养院全套智能养老服务体系：涵盖健康管理、生活照料、安全保障、文化娱乐等全方位服务，通过智能化设备和技术手段，为老人打造舒适、便捷、安全养老生活。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330908" y="1819029"/>
            <a:ext cx="388740" cy="388740"/>
          </a:xfrm>
          <a:prstGeom prst="flowChartConnector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8864410">
            <a:off x="1407935" y="1910473"/>
            <a:ext cx="234687" cy="150331"/>
          </a:xfrm>
          <a:custGeom>
            <a:avLst/>
            <a:gdLst>
              <a:gd name="connsiteX0" fmla="*/ 598101 w 598101"/>
              <a:gd name="connsiteY0" fmla="*/ 294512 h 383119"/>
              <a:gd name="connsiteX1" fmla="*/ 598101 w 598101"/>
              <a:gd name="connsiteY1" fmla="*/ 383119 h 383119"/>
              <a:gd name="connsiteX2" fmla="*/ 1844 w 598101"/>
              <a:gd name="connsiteY2" fmla="*/ 383119 h 383119"/>
              <a:gd name="connsiteX3" fmla="*/ 1844 w 598101"/>
              <a:gd name="connsiteY3" fmla="*/ 368685 h 383119"/>
              <a:gd name="connsiteX4" fmla="*/ 0 w 598101"/>
              <a:gd name="connsiteY4" fmla="*/ 368613 h 383119"/>
              <a:gd name="connsiteX5" fmla="*/ 1844 w 598101"/>
              <a:gd name="connsiteY5" fmla="*/ 321357 h 383119"/>
              <a:gd name="connsiteX6" fmla="*/ 1844 w 598101"/>
              <a:gd name="connsiteY6" fmla="*/ 294512 h 383119"/>
              <a:gd name="connsiteX7" fmla="*/ 2892 w 598101"/>
              <a:gd name="connsiteY7" fmla="*/ 294512 h 383119"/>
              <a:gd name="connsiteX8" fmla="*/ 14387 w 598101"/>
              <a:gd name="connsiteY8" fmla="*/ 0 h 383119"/>
              <a:gd name="connsiteX9" fmla="*/ 102926 w 598101"/>
              <a:gd name="connsiteY9" fmla="*/ 3456 h 383119"/>
              <a:gd name="connsiteX10" fmla="*/ 91566 w 598101"/>
              <a:gd name="connsiteY10" fmla="*/ 294512 h 383119"/>
            </a:gdLst>
            <a:ahLst/>
            <a:cxnLst/>
            <a:rect l="l" t="t" r="r" b="b"/>
            <a:pathLst>
              <a:path w="598101" h="383119">
                <a:moveTo>
                  <a:pt x="598101" y="294512"/>
                </a:moveTo>
                <a:lnTo>
                  <a:pt x="598101" y="383119"/>
                </a:lnTo>
                <a:lnTo>
                  <a:pt x="1844" y="383119"/>
                </a:lnTo>
                <a:lnTo>
                  <a:pt x="1844" y="368685"/>
                </a:lnTo>
                <a:lnTo>
                  <a:pt x="0" y="368613"/>
                </a:lnTo>
                <a:lnTo>
                  <a:pt x="1844" y="321357"/>
                </a:lnTo>
                <a:lnTo>
                  <a:pt x="1844" y="294512"/>
                </a:lnTo>
                <a:lnTo>
                  <a:pt x="2892" y="294512"/>
                </a:lnTo>
                <a:lnTo>
                  <a:pt x="14387" y="0"/>
                </a:lnTo>
                <a:lnTo>
                  <a:pt x="102926" y="3456"/>
                </a:lnTo>
                <a:lnTo>
                  <a:pt x="91566" y="294512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产品（服务）名称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838325" y="-1107290"/>
            <a:ext cx="9350376" cy="9350372"/>
          </a:xfrm>
          <a:prstGeom prst="arc">
            <a:avLst>
              <a:gd name="adj1" fmla="val 18716968"/>
              <a:gd name="adj2" fmla="val 284618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1829582"/>
            <a:ext cx="6486182" cy="3490914"/>
          </a:xfrm>
          <a:custGeom>
            <a:avLst/>
            <a:gdLst>
              <a:gd name="connsiteX0" fmla="*/ 0 w 6486182"/>
              <a:gd name="connsiteY0" fmla="*/ 0 h 3490914"/>
              <a:gd name="connsiteX1" fmla="*/ 4740726 w 6486182"/>
              <a:gd name="connsiteY1" fmla="*/ 0 h 3490914"/>
              <a:gd name="connsiteX2" fmla="*/ 6486182 w 6486182"/>
              <a:gd name="connsiteY2" fmla="*/ 1745457 h 3490914"/>
              <a:gd name="connsiteX3" fmla="*/ 6486181 w 6486182"/>
              <a:gd name="connsiteY3" fmla="*/ 1745457 h 3490914"/>
              <a:gd name="connsiteX4" fmla="*/ 4740724 w 6486182"/>
              <a:gd name="connsiteY4" fmla="*/ 3490914 h 3490914"/>
              <a:gd name="connsiteX5" fmla="*/ 0 w 6486182"/>
              <a:gd name="connsiteY5" fmla="*/ 3490913 h 3490914"/>
            </a:gdLst>
            <a:ahLst/>
            <a:cxnLst/>
            <a:rect l="l" t="t" r="r" b="b"/>
            <a:pathLst>
              <a:path w="6486182" h="3490914">
                <a:moveTo>
                  <a:pt x="0" y="0"/>
                </a:moveTo>
                <a:lnTo>
                  <a:pt x="4740726" y="0"/>
                </a:lnTo>
                <a:cubicBezTo>
                  <a:pt x="5704714" y="0"/>
                  <a:pt x="6486182" y="781468"/>
                  <a:pt x="6486182" y="1745457"/>
                </a:cubicBezTo>
                <a:lnTo>
                  <a:pt x="6486181" y="1745457"/>
                </a:lnTo>
                <a:cubicBezTo>
                  <a:pt x="6486181" y="2709446"/>
                  <a:pt x="5704713" y="3490914"/>
                  <a:pt x="4740724" y="3490914"/>
                </a:cubicBezTo>
                <a:lnTo>
                  <a:pt x="0" y="349091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862976" y="1555308"/>
            <a:ext cx="744810" cy="851280"/>
            <a:chOff x="6862976" y="1555308"/>
            <a:chExt cx="744810" cy="851280"/>
          </a:xfrm>
        </p:grpSpPr>
        <p:sp>
          <p:nvSpPr>
            <p:cNvPr id="8" name="标题 1"/>
            <p:cNvSpPr txBox="1"/>
            <p:nvPr/>
          </p:nvSpPr>
          <p:spPr>
            <a:xfrm>
              <a:off x="6862976" y="1555308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lumMod val="98000"/>
                    <a:lumOff val="2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blurRad="330200" dist="203200" dir="5400000" sx="90000" sy="90000" algn="t" rotWithShape="0">
                <a:schemeClr val="accent1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>
              <a:off x="6912116" y="1611472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0" name="标题 1"/>
            <p:cNvSpPr txBox="1"/>
            <p:nvPr/>
          </p:nvSpPr>
          <p:spPr>
            <a:xfrm>
              <a:off x="7100850" y="1837005"/>
              <a:ext cx="269061" cy="269101"/>
            </a:xfrm>
            <a:custGeom>
              <a:avLst/>
              <a:gdLst>
                <a:gd name="connsiteX0" fmla="*/ 579031 w 719895"/>
                <a:gd name="connsiteY0" fmla="*/ 554022 h 720000"/>
                <a:gd name="connsiteX1" fmla="*/ 596778 w 719895"/>
                <a:gd name="connsiteY1" fmla="*/ 561368 h 720000"/>
                <a:gd name="connsiteX2" fmla="*/ 712550 w 719895"/>
                <a:gd name="connsiteY2" fmla="*/ 677140 h 720000"/>
                <a:gd name="connsiteX3" fmla="*/ 712550 w 719895"/>
                <a:gd name="connsiteY3" fmla="*/ 712634 h 720000"/>
                <a:gd name="connsiteX4" fmla="*/ 694887 w 719895"/>
                <a:gd name="connsiteY4" fmla="*/ 720000 h 720000"/>
                <a:gd name="connsiteX5" fmla="*/ 677140 w 719895"/>
                <a:gd name="connsiteY5" fmla="*/ 712634 h 720000"/>
                <a:gd name="connsiteX6" fmla="*/ 561284 w 719895"/>
                <a:gd name="connsiteY6" fmla="*/ 596861 h 720000"/>
                <a:gd name="connsiteX7" fmla="*/ 561284 w 719895"/>
                <a:gd name="connsiteY7" fmla="*/ 561368 h 720000"/>
                <a:gd name="connsiteX8" fmla="*/ 579031 w 719895"/>
                <a:gd name="connsiteY8" fmla="*/ 554022 h 720000"/>
                <a:gd name="connsiteX9" fmla="*/ 301109 w 719895"/>
                <a:gd name="connsiteY9" fmla="*/ 0 h 720000"/>
                <a:gd name="connsiteX10" fmla="*/ 602219 w 719895"/>
                <a:gd name="connsiteY10" fmla="*/ 301109 h 720000"/>
                <a:gd name="connsiteX11" fmla="*/ 301109 w 719895"/>
                <a:gd name="connsiteY11" fmla="*/ 602219 h 720000"/>
                <a:gd name="connsiteX12" fmla="*/ 0 w 719895"/>
                <a:gd name="connsiteY12" fmla="*/ 301109 h 720000"/>
                <a:gd name="connsiteX13" fmla="*/ 301109 w 719895"/>
                <a:gd name="connsiteY13" fmla="*/ 0 h 720000"/>
              </a:gdLst>
              <a:ahLst/>
              <a:cxnLst/>
              <a:rect l="l" t="t" r="r" b="b"/>
              <a:pathLst>
                <a:path w="719895" h="720000">
                  <a:moveTo>
                    <a:pt x="579031" y="554022"/>
                  </a:moveTo>
                  <a:cubicBezTo>
                    <a:pt x="585456" y="554022"/>
                    <a:pt x="591880" y="556471"/>
                    <a:pt x="596778" y="561368"/>
                  </a:cubicBezTo>
                  <a:lnTo>
                    <a:pt x="712550" y="677140"/>
                  </a:lnTo>
                  <a:cubicBezTo>
                    <a:pt x="722344" y="686935"/>
                    <a:pt x="722344" y="702840"/>
                    <a:pt x="712550" y="712634"/>
                  </a:cubicBezTo>
                  <a:cubicBezTo>
                    <a:pt x="707778" y="717573"/>
                    <a:pt x="701333" y="720000"/>
                    <a:pt x="694887" y="720000"/>
                  </a:cubicBezTo>
                  <a:cubicBezTo>
                    <a:pt x="688441" y="720000"/>
                    <a:pt x="681995" y="717573"/>
                    <a:pt x="677140" y="712634"/>
                  </a:cubicBezTo>
                  <a:lnTo>
                    <a:pt x="561284" y="596861"/>
                  </a:lnTo>
                  <a:cubicBezTo>
                    <a:pt x="551490" y="587067"/>
                    <a:pt x="551490" y="571162"/>
                    <a:pt x="561284" y="561368"/>
                  </a:cubicBezTo>
                  <a:cubicBezTo>
                    <a:pt x="566181" y="556471"/>
                    <a:pt x="572606" y="554022"/>
                    <a:pt x="579031" y="554022"/>
                  </a:cubicBezTo>
                  <a:close/>
                  <a:moveTo>
                    <a:pt x="301109" y="0"/>
                  </a:moveTo>
                  <a:cubicBezTo>
                    <a:pt x="467443" y="0"/>
                    <a:pt x="602219" y="134859"/>
                    <a:pt x="602219" y="301109"/>
                  </a:cubicBezTo>
                  <a:cubicBezTo>
                    <a:pt x="602219" y="467443"/>
                    <a:pt x="467443" y="602219"/>
                    <a:pt x="301109" y="602219"/>
                  </a:cubicBezTo>
                  <a:cubicBezTo>
                    <a:pt x="134775" y="602219"/>
                    <a:pt x="0" y="467443"/>
                    <a:pt x="0" y="301109"/>
                  </a:cubicBezTo>
                  <a:cubicBezTo>
                    <a:pt x="0" y="134775"/>
                    <a:pt x="134775" y="0"/>
                    <a:pt x="3011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1" name="标题 1"/>
          <p:cNvSpPr txBox="1"/>
          <p:nvPr/>
        </p:nvSpPr>
        <p:spPr>
          <a:xfrm>
            <a:off x="7746416" y="1563628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健康管理功能：AI 健康监测系统实时采集老人生命体征数据，通过大数据分析及时发现异常并预警，保障老人健康安全。</a:t>
            </a:r>
            <a:endParaRPr kumimoji="1"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7239462" y="3155046"/>
            <a:ext cx="744810" cy="851280"/>
            <a:chOff x="7239462" y="3155046"/>
            <a:chExt cx="744810" cy="851280"/>
          </a:xfrm>
        </p:grpSpPr>
        <p:sp>
          <p:nvSpPr>
            <p:cNvPr id="13" name="标题 1"/>
            <p:cNvSpPr txBox="1"/>
            <p:nvPr/>
          </p:nvSpPr>
          <p:spPr>
            <a:xfrm>
              <a:off x="7239462" y="3155046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blurRad="330200" dist="203200" dir="5400000" sx="90000" sy="90000" algn="t" rotWithShape="0">
                <a:schemeClr val="accent2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>
              <a:off x="7288601" y="3211214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7477315" y="3446825"/>
              <a:ext cx="269101" cy="248936"/>
            </a:xfrm>
            <a:custGeom>
              <a:avLst/>
              <a:gdLst>
                <a:gd name="connsiteX0" fmla="*/ 2136435 w 5834559"/>
                <a:gd name="connsiteY0" fmla="*/ 643126 h 5397372"/>
                <a:gd name="connsiteX1" fmla="*/ 3716657 w 5834559"/>
                <a:gd name="connsiteY1" fmla="*/ 643126 h 5397372"/>
                <a:gd name="connsiteX2" fmla="*/ 3716657 w 5834559"/>
                <a:gd name="connsiteY2" fmla="*/ 1064855 h 5397372"/>
                <a:gd name="connsiteX3" fmla="*/ 2136435 w 5834559"/>
                <a:gd name="connsiteY3" fmla="*/ 1064855 h 5397372"/>
                <a:gd name="connsiteX4" fmla="*/ 693741 w 5834559"/>
                <a:gd name="connsiteY4" fmla="*/ 643126 h 5397372"/>
                <a:gd name="connsiteX5" fmla="*/ 1550121 w 5834559"/>
                <a:gd name="connsiteY5" fmla="*/ 643126 h 5397372"/>
                <a:gd name="connsiteX6" fmla="*/ 1550121 w 5834559"/>
                <a:gd name="connsiteY6" fmla="*/ 1064855 h 5397372"/>
                <a:gd name="connsiteX7" fmla="*/ 693741 w 5834559"/>
                <a:gd name="connsiteY7" fmla="*/ 1064855 h 5397372"/>
                <a:gd name="connsiteX8" fmla="*/ 421729 w 5834559"/>
                <a:gd name="connsiteY8" fmla="*/ 1336867 h 5397372"/>
                <a:gd name="connsiteX9" fmla="*/ 421729 w 5834559"/>
                <a:gd name="connsiteY9" fmla="*/ 2079805 h 5397372"/>
                <a:gd name="connsiteX10" fmla="*/ 5412133 w 5834559"/>
                <a:gd name="connsiteY10" fmla="*/ 2079805 h 5397372"/>
                <a:gd name="connsiteX11" fmla="*/ 5412133 w 5834559"/>
                <a:gd name="connsiteY11" fmla="*/ 1336867 h 5397372"/>
                <a:gd name="connsiteX12" fmla="*/ 5140113 w 5834559"/>
                <a:gd name="connsiteY12" fmla="*/ 1064855 h 5397372"/>
                <a:gd name="connsiteX13" fmla="*/ 4302971 w 5834559"/>
                <a:gd name="connsiteY13" fmla="*/ 1064855 h 5397372"/>
                <a:gd name="connsiteX14" fmla="*/ 4302971 w 5834559"/>
                <a:gd name="connsiteY14" fmla="*/ 643126 h 5397372"/>
                <a:gd name="connsiteX15" fmla="*/ 5140113 w 5834559"/>
                <a:gd name="connsiteY15" fmla="*/ 643126 h 5397372"/>
                <a:gd name="connsiteX16" fmla="*/ 5834559 w 5834559"/>
                <a:gd name="connsiteY16" fmla="*/ 1336867 h 5397372"/>
                <a:gd name="connsiteX17" fmla="*/ 5834559 w 5834559"/>
                <a:gd name="connsiteY17" fmla="*/ 4703631 h 5397372"/>
                <a:gd name="connsiteX18" fmla="*/ 5140818 w 5834559"/>
                <a:gd name="connsiteY18" fmla="*/ 5397372 h 5397372"/>
                <a:gd name="connsiteX19" fmla="*/ 693741 w 5834559"/>
                <a:gd name="connsiteY19" fmla="*/ 5397372 h 5397372"/>
                <a:gd name="connsiteX20" fmla="*/ 0 w 5834559"/>
                <a:gd name="connsiteY20" fmla="*/ 4703631 h 5397372"/>
                <a:gd name="connsiteX21" fmla="*/ 0 w 5834559"/>
                <a:gd name="connsiteY21" fmla="*/ 2501529 h 5397372"/>
                <a:gd name="connsiteX22" fmla="*/ 0 w 5834559"/>
                <a:gd name="connsiteY22" fmla="*/ 2079805 h 5397372"/>
                <a:gd name="connsiteX23" fmla="*/ 0 w 5834559"/>
                <a:gd name="connsiteY23" fmla="*/ 1336867 h 5397372"/>
                <a:gd name="connsiteX24" fmla="*/ 693741 w 5834559"/>
                <a:gd name="connsiteY24" fmla="*/ 643126 h 5397372"/>
                <a:gd name="connsiteX25" fmla="*/ 3997242 w 5834559"/>
                <a:gd name="connsiteY25" fmla="*/ 0 h 5397372"/>
                <a:gd name="connsiteX26" fmla="*/ 4208106 w 5834559"/>
                <a:gd name="connsiteY26" fmla="*/ 210864 h 5397372"/>
                <a:gd name="connsiteX27" fmla="*/ 4208106 w 5834559"/>
                <a:gd name="connsiteY27" fmla="*/ 1506961 h 5397372"/>
                <a:gd name="connsiteX28" fmla="*/ 3997242 w 5834559"/>
                <a:gd name="connsiteY28" fmla="*/ 1718528 h 5397372"/>
                <a:gd name="connsiteX29" fmla="*/ 3786378 w 5834559"/>
                <a:gd name="connsiteY29" fmla="*/ 1507664 h 5397372"/>
                <a:gd name="connsiteX30" fmla="*/ 3786378 w 5834559"/>
                <a:gd name="connsiteY30" fmla="*/ 210864 h 5397372"/>
                <a:gd name="connsiteX31" fmla="*/ 3997242 w 5834559"/>
                <a:gd name="connsiteY31" fmla="*/ 0 h 5397372"/>
                <a:gd name="connsiteX32" fmla="*/ 1836609 w 5834559"/>
                <a:gd name="connsiteY32" fmla="*/ 0 h 5397372"/>
                <a:gd name="connsiteX33" fmla="*/ 2047469 w 5834559"/>
                <a:gd name="connsiteY33" fmla="*/ 210864 h 5397372"/>
                <a:gd name="connsiteX34" fmla="*/ 2047469 w 5834559"/>
                <a:gd name="connsiteY34" fmla="*/ 1506961 h 5397372"/>
                <a:gd name="connsiteX35" fmla="*/ 1836609 w 5834559"/>
                <a:gd name="connsiteY35" fmla="*/ 1718528 h 5397372"/>
                <a:gd name="connsiteX36" fmla="*/ 1625745 w 5834559"/>
                <a:gd name="connsiteY36" fmla="*/ 1507664 h 5397372"/>
                <a:gd name="connsiteX37" fmla="*/ 1625745 w 5834559"/>
                <a:gd name="connsiteY37" fmla="*/ 210864 h 5397372"/>
                <a:gd name="connsiteX38" fmla="*/ 1836609 w 5834559"/>
                <a:gd name="connsiteY38" fmla="*/ 0 h 5397372"/>
              </a:gdLst>
              <a:ahLst/>
              <a:cxnLst/>
              <a:rect l="l" t="t" r="r" b="b"/>
              <a:pathLst>
                <a:path w="5834559" h="5397372">
                  <a:moveTo>
                    <a:pt x="2136435" y="643126"/>
                  </a:moveTo>
                  <a:lnTo>
                    <a:pt x="3716657" y="643126"/>
                  </a:lnTo>
                  <a:lnTo>
                    <a:pt x="3716657" y="1064855"/>
                  </a:lnTo>
                  <a:lnTo>
                    <a:pt x="2136435" y="1064855"/>
                  </a:lnTo>
                  <a:close/>
                  <a:moveTo>
                    <a:pt x="693741" y="643126"/>
                  </a:moveTo>
                  <a:lnTo>
                    <a:pt x="1550121" y="643126"/>
                  </a:lnTo>
                  <a:lnTo>
                    <a:pt x="1550121" y="1064855"/>
                  </a:lnTo>
                  <a:lnTo>
                    <a:pt x="693741" y="1064855"/>
                  </a:lnTo>
                  <a:cubicBezTo>
                    <a:pt x="543320" y="1064855"/>
                    <a:pt x="421729" y="1187151"/>
                    <a:pt x="421729" y="1336867"/>
                  </a:cubicBezTo>
                  <a:lnTo>
                    <a:pt x="421729" y="2079805"/>
                  </a:lnTo>
                  <a:lnTo>
                    <a:pt x="5412133" y="2079805"/>
                  </a:lnTo>
                  <a:lnTo>
                    <a:pt x="5412133" y="1336867"/>
                  </a:lnTo>
                  <a:cubicBezTo>
                    <a:pt x="5412133" y="1186446"/>
                    <a:pt x="5289830" y="1064855"/>
                    <a:pt x="5140113" y="1064855"/>
                  </a:cubicBezTo>
                  <a:lnTo>
                    <a:pt x="4302971" y="1064855"/>
                  </a:lnTo>
                  <a:lnTo>
                    <a:pt x="4302971" y="643126"/>
                  </a:lnTo>
                  <a:lnTo>
                    <a:pt x="5140113" y="643126"/>
                  </a:lnTo>
                  <a:cubicBezTo>
                    <a:pt x="5523184" y="643126"/>
                    <a:pt x="5833854" y="953797"/>
                    <a:pt x="5834559" y="1336867"/>
                  </a:cubicBezTo>
                  <a:lnTo>
                    <a:pt x="5834559" y="4703631"/>
                  </a:lnTo>
                  <a:cubicBezTo>
                    <a:pt x="5834559" y="5085292"/>
                    <a:pt x="5522479" y="5397372"/>
                    <a:pt x="5140818" y="5397372"/>
                  </a:cubicBezTo>
                  <a:lnTo>
                    <a:pt x="693741" y="5397372"/>
                  </a:lnTo>
                  <a:cubicBezTo>
                    <a:pt x="312080" y="5397372"/>
                    <a:pt x="0" y="5085292"/>
                    <a:pt x="0" y="4703631"/>
                  </a:cubicBezTo>
                  <a:lnTo>
                    <a:pt x="0" y="2501529"/>
                  </a:lnTo>
                  <a:lnTo>
                    <a:pt x="0" y="2079805"/>
                  </a:lnTo>
                  <a:lnTo>
                    <a:pt x="0" y="1336867"/>
                  </a:lnTo>
                  <a:cubicBezTo>
                    <a:pt x="0" y="953797"/>
                    <a:pt x="310671" y="643126"/>
                    <a:pt x="693741" y="643126"/>
                  </a:cubicBezTo>
                  <a:close/>
                  <a:moveTo>
                    <a:pt x="3997242" y="0"/>
                  </a:moveTo>
                  <a:cubicBezTo>
                    <a:pt x="4113920" y="0"/>
                    <a:pt x="4208106" y="94186"/>
                    <a:pt x="4208106" y="210864"/>
                  </a:cubicBezTo>
                  <a:lnTo>
                    <a:pt x="4208106" y="1506961"/>
                  </a:lnTo>
                  <a:cubicBezTo>
                    <a:pt x="4208106" y="1623639"/>
                    <a:pt x="4113920" y="1718528"/>
                    <a:pt x="3997242" y="1718528"/>
                  </a:cubicBezTo>
                  <a:cubicBezTo>
                    <a:pt x="3880564" y="1718528"/>
                    <a:pt x="3786378" y="1624342"/>
                    <a:pt x="3786378" y="1507664"/>
                  </a:cubicBezTo>
                  <a:lnTo>
                    <a:pt x="3786378" y="210864"/>
                  </a:lnTo>
                  <a:cubicBezTo>
                    <a:pt x="3786378" y="94186"/>
                    <a:pt x="3880564" y="0"/>
                    <a:pt x="3997242" y="0"/>
                  </a:cubicBezTo>
                  <a:close/>
                  <a:moveTo>
                    <a:pt x="1836609" y="0"/>
                  </a:moveTo>
                  <a:cubicBezTo>
                    <a:pt x="1953287" y="0"/>
                    <a:pt x="2047469" y="94186"/>
                    <a:pt x="2047469" y="210864"/>
                  </a:cubicBezTo>
                  <a:lnTo>
                    <a:pt x="2047469" y="1506961"/>
                  </a:lnTo>
                  <a:cubicBezTo>
                    <a:pt x="2047469" y="1623639"/>
                    <a:pt x="1953287" y="1718528"/>
                    <a:pt x="1836609" y="1718528"/>
                  </a:cubicBezTo>
                  <a:cubicBezTo>
                    <a:pt x="1719932" y="1718528"/>
                    <a:pt x="1625745" y="1624342"/>
                    <a:pt x="1625745" y="1507664"/>
                  </a:cubicBezTo>
                  <a:lnTo>
                    <a:pt x="1625745" y="210864"/>
                  </a:lnTo>
                  <a:cubicBezTo>
                    <a:pt x="1625745" y="94186"/>
                    <a:pt x="1719932" y="0"/>
                    <a:pt x="18366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6" name="标题 1"/>
          <p:cNvSpPr txBox="1"/>
          <p:nvPr/>
        </p:nvSpPr>
        <p:spPr>
          <a:xfrm>
            <a:off x="8122902" y="3153285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0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生活娱乐功能：智能生活辅助设备涵盖智能床、智能马桶等，帮助老人完成日常起居活动，提升生活自理能力，减轻护理人员工作负担。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-1311274" y="-580238"/>
            <a:ext cx="8296274" cy="8296270"/>
          </a:xfrm>
          <a:prstGeom prst="arc">
            <a:avLst>
              <a:gd name="adj1" fmla="val 19465670"/>
              <a:gd name="adj2" fmla="val 221115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3133861"/>
            <a:ext cx="5087257" cy="88235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爱设计是一家智能创意科技公司，
国内领先的内容创意全链路服务公司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746416" y="4742942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0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安全保障功能：养老院安装智能安防系统，包括门禁系统、视频监控系统、紧急呼叫系统等，全方位保障老人生命财产安全。</a:t>
            </a:r>
            <a:endParaRPr kumimoji="1"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862976" y="4734622"/>
            <a:ext cx="744810" cy="851280"/>
            <a:chOff x="6862976" y="4734622"/>
            <a:chExt cx="744810" cy="851280"/>
          </a:xfrm>
        </p:grpSpPr>
        <p:sp>
          <p:nvSpPr>
            <p:cNvPr id="21" name="标题 1"/>
            <p:cNvSpPr txBox="1"/>
            <p:nvPr/>
          </p:nvSpPr>
          <p:spPr>
            <a:xfrm>
              <a:off x="6862976" y="4734622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lumMod val="98000"/>
                    <a:lumOff val="2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blurRad="330200" dist="203200" dir="5400000" sx="90000" sy="90000" algn="t" rotWithShape="0">
                <a:schemeClr val="accent1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6912116" y="4790786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7091379" y="5004274"/>
              <a:ext cx="288000" cy="311972"/>
            </a:xfrm>
            <a:custGeom>
              <a:avLst/>
              <a:gdLst>
                <a:gd name="connsiteX0" fmla="*/ 332293 w 664672"/>
                <a:gd name="connsiteY0" fmla="*/ 387672 h 720001"/>
                <a:gd name="connsiteX1" fmla="*/ 660804 w 664672"/>
                <a:gd name="connsiteY1" fmla="*/ 598902 h 720001"/>
                <a:gd name="connsiteX2" fmla="*/ 563560 w 664672"/>
                <a:gd name="connsiteY2" fmla="*/ 720001 h 720001"/>
                <a:gd name="connsiteX3" fmla="*/ 101112 w 664672"/>
                <a:gd name="connsiteY3" fmla="*/ 720001 h 720001"/>
                <a:gd name="connsiteX4" fmla="*/ 3868 w 664672"/>
                <a:gd name="connsiteY4" fmla="*/ 598902 h 720001"/>
                <a:gd name="connsiteX5" fmla="*/ 332293 w 664672"/>
                <a:gd name="connsiteY5" fmla="*/ 387672 h 720001"/>
                <a:gd name="connsiteX6" fmla="*/ 332293 w 664672"/>
                <a:gd name="connsiteY6" fmla="*/ 0 h 720001"/>
                <a:gd name="connsiteX7" fmla="*/ 509517 w 664672"/>
                <a:gd name="connsiteY7" fmla="*/ 177224 h 720001"/>
                <a:gd name="connsiteX8" fmla="*/ 332293 w 664672"/>
                <a:gd name="connsiteY8" fmla="*/ 354448 h 720001"/>
                <a:gd name="connsiteX9" fmla="*/ 155069 w 664672"/>
                <a:gd name="connsiteY9" fmla="*/ 177224 h 720001"/>
                <a:gd name="connsiteX10" fmla="*/ 332293 w 664672"/>
                <a:gd name="connsiteY10" fmla="*/ 0 h 720001"/>
              </a:gdLst>
              <a:ahLst/>
              <a:cxnLst/>
              <a:rect l="l" t="t" r="r" b="b"/>
              <a:pathLst>
                <a:path w="664672" h="720001">
                  <a:moveTo>
                    <a:pt x="332293" y="387672"/>
                  </a:moveTo>
                  <a:cubicBezTo>
                    <a:pt x="550549" y="387672"/>
                    <a:pt x="628448" y="491162"/>
                    <a:pt x="660804" y="598902"/>
                  </a:cubicBezTo>
                  <a:cubicBezTo>
                    <a:pt x="679021" y="659624"/>
                    <a:pt x="630616" y="720001"/>
                    <a:pt x="563560" y="720001"/>
                  </a:cubicBezTo>
                  <a:lnTo>
                    <a:pt x="101112" y="720001"/>
                  </a:lnTo>
                  <a:cubicBezTo>
                    <a:pt x="34057" y="720001"/>
                    <a:pt x="-14348" y="659624"/>
                    <a:pt x="3868" y="598902"/>
                  </a:cubicBezTo>
                  <a:cubicBezTo>
                    <a:pt x="36138" y="491162"/>
                    <a:pt x="114037" y="387672"/>
                    <a:pt x="332293" y="387672"/>
                  </a:cubicBezTo>
                  <a:close/>
                  <a:moveTo>
                    <a:pt x="332293" y="0"/>
                  </a:moveTo>
                  <a:cubicBezTo>
                    <a:pt x="430230" y="0"/>
                    <a:pt x="509604" y="79287"/>
                    <a:pt x="509517" y="177224"/>
                  </a:cubicBezTo>
                  <a:cubicBezTo>
                    <a:pt x="509517" y="275074"/>
                    <a:pt x="430144" y="354448"/>
                    <a:pt x="332293" y="354448"/>
                  </a:cubicBezTo>
                  <a:cubicBezTo>
                    <a:pt x="234442" y="354448"/>
                    <a:pt x="155069" y="275074"/>
                    <a:pt x="155069" y="177224"/>
                  </a:cubicBezTo>
                  <a:cubicBezTo>
                    <a:pt x="155069" y="79287"/>
                    <a:pt x="234442" y="0"/>
                    <a:pt x="332293" y="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4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产品（服务）功能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891356" y="5137009"/>
            <a:ext cx="540000" cy="997091"/>
          </a:xfrm>
          <a:prstGeom prst="roundRect">
            <a:avLst>
              <a:gd name="adj" fmla="val 50000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891356" y="5137009"/>
            <a:ext cx="540000" cy="49854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03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540245" y="5356085"/>
            <a:ext cx="5760400" cy="82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108000" tIns="108000" rIns="108000" bIns="10800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人性化：养老院内部装修风格温馨舒适，设计符合老人生活习惯和心理需求，营造家的氛围。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891356" y="3945093"/>
            <a:ext cx="540000" cy="997091"/>
          </a:xfrm>
          <a:prstGeom prst="roundRect">
            <a:avLst>
              <a:gd name="adj" fmla="val 50000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891356" y="3945093"/>
            <a:ext cx="540000" cy="4985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02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540245" y="4164169"/>
            <a:ext cx="5760400" cy="82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108000" tIns="108000" rIns="108000" bIns="10800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个性化：根据老人身体状况、兴趣爱好、生活习惯等制定个性化护理计划和康复方案，满足老人多样化需求。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891356" y="2534100"/>
            <a:ext cx="540000" cy="997091"/>
          </a:xfrm>
          <a:prstGeom prst="roundRect">
            <a:avLst>
              <a:gd name="adj" fmla="val 50000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891356" y="2534100"/>
            <a:ext cx="540000" cy="4985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540245" y="2753177"/>
            <a:ext cx="5760400" cy="82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108000" tIns="108000" rIns="108000" bIns="10800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智能化：AI 健康监测系统和智能生活辅助设备实现智能化健康管理和服务，提高服务效率和质量，降低人力成本。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10800000" flipV="1">
            <a:off x="1192530" y="1113957"/>
            <a:ext cx="9794240" cy="1006241"/>
          </a:xfrm>
          <a:prstGeom prst="roundRect">
            <a:avLst>
              <a:gd name="adj" fmla="val 5338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493685" y="1219271"/>
            <a:ext cx="9191931" cy="79561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爱设计是一家智能创意科技公司，是国内领先的内容创意全链路服务公司，致力于构建“创意资源+智能创作+内容管理+投放分发+数据监测的内容创意全链路平台。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产品（服务）特性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399" y="2507840"/>
            <a:ext cx="3420000" cy="36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66399" y="2754555"/>
            <a:ext cx="2808000" cy="233120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年龄层次：主要面向 60 岁及以上老年人，特别是高龄、失能、半失能老人。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379649" y="2507840"/>
            <a:ext cx="3420000" cy="36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685649" y="2754555"/>
            <a:ext cx="2808000" cy="233120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经济水平：目标客户群体以中高收入家庭为主，他们愿意为高品质、智能化养老服务支付较高费用。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098899" y="2507840"/>
            <a:ext cx="3420000" cy="36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0643512" y="5332475"/>
            <a:ext cx="711348" cy="564526"/>
          </a:xfrm>
          <a:custGeom>
            <a:avLst/>
            <a:gdLst>
              <a:gd name="connsiteX0" fmla="*/ 426809 w 711348"/>
              <a:gd name="connsiteY0" fmla="*/ 0 h 564526"/>
              <a:gd name="connsiteX1" fmla="*/ 711348 w 711348"/>
              <a:gd name="connsiteY1" fmla="*/ 0 h 564526"/>
              <a:gd name="connsiteX2" fmla="*/ 711348 w 711348"/>
              <a:gd name="connsiteY2" fmla="*/ 284540 h 564526"/>
              <a:gd name="connsiteX3" fmla="*/ 426809 w 711348"/>
              <a:gd name="connsiteY3" fmla="*/ 564526 h 564526"/>
              <a:gd name="connsiteX4" fmla="*/ 426809 w 711348"/>
              <a:gd name="connsiteY4" fmla="*/ 442460 h 564526"/>
              <a:gd name="connsiteX5" fmla="*/ 589138 w 711348"/>
              <a:gd name="connsiteY5" fmla="*/ 284540 h 564526"/>
              <a:gd name="connsiteX6" fmla="*/ 426809 w 711348"/>
              <a:gd name="connsiteY6" fmla="*/ 284540 h 564526"/>
              <a:gd name="connsiteX7" fmla="*/ 0 w 711348"/>
              <a:gd name="connsiteY7" fmla="*/ 0 h 564526"/>
              <a:gd name="connsiteX8" fmla="*/ 284539 w 711348"/>
              <a:gd name="connsiteY8" fmla="*/ 0 h 564526"/>
              <a:gd name="connsiteX9" fmla="*/ 284539 w 711348"/>
              <a:gd name="connsiteY9" fmla="*/ 284540 h 564526"/>
              <a:gd name="connsiteX10" fmla="*/ 0 w 711348"/>
              <a:gd name="connsiteY10" fmla="*/ 564526 h 564526"/>
              <a:gd name="connsiteX11" fmla="*/ 0 w 711348"/>
              <a:gd name="connsiteY11" fmla="*/ 442460 h 564526"/>
              <a:gd name="connsiteX12" fmla="*/ 162329 w 711348"/>
              <a:gd name="connsiteY12" fmla="*/ 284540 h 564526"/>
              <a:gd name="connsiteX13" fmla="*/ 0 w 711348"/>
              <a:gd name="connsiteY13" fmla="*/ 284540 h 564526"/>
            </a:gdLst>
            <a:ahLst/>
            <a:cxnLst/>
            <a:rect l="l" t="t" r="r" b="b"/>
            <a:pathLst>
              <a:path w="711348" h="564526">
                <a:moveTo>
                  <a:pt x="426809" y="0"/>
                </a:moveTo>
                <a:lnTo>
                  <a:pt x="711348" y="0"/>
                </a:lnTo>
                <a:lnTo>
                  <a:pt x="711348" y="284540"/>
                </a:lnTo>
                <a:cubicBezTo>
                  <a:pt x="708861" y="439905"/>
                  <a:pt x="582194" y="564546"/>
                  <a:pt x="426809" y="564526"/>
                </a:cubicBezTo>
                <a:lnTo>
                  <a:pt x="426809" y="442460"/>
                </a:lnTo>
                <a:cubicBezTo>
                  <a:pt x="514735" y="442416"/>
                  <a:pt x="586675" y="372432"/>
                  <a:pt x="589138" y="284540"/>
                </a:cubicBezTo>
                <a:lnTo>
                  <a:pt x="426809" y="284540"/>
                </a:lnTo>
                <a:close/>
                <a:moveTo>
                  <a:pt x="0" y="0"/>
                </a:moveTo>
                <a:lnTo>
                  <a:pt x="284539" y="0"/>
                </a:lnTo>
                <a:lnTo>
                  <a:pt x="284539" y="284540"/>
                </a:lnTo>
                <a:cubicBezTo>
                  <a:pt x="282052" y="439905"/>
                  <a:pt x="155385" y="564546"/>
                  <a:pt x="0" y="564526"/>
                </a:cubicBezTo>
                <a:lnTo>
                  <a:pt x="0" y="442460"/>
                </a:lnTo>
                <a:cubicBezTo>
                  <a:pt x="87926" y="442416"/>
                  <a:pt x="159866" y="372432"/>
                  <a:pt x="162329" y="284540"/>
                </a:cubicBezTo>
                <a:lnTo>
                  <a:pt x="0" y="284540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404899" y="2754555"/>
            <a:ext cx="2808000" cy="233120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健康状况：服务对象包括身体健康的活力老人、患有慢性疾病的老人以及失能、半失能老人。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869390" y="5332475"/>
            <a:ext cx="711348" cy="564526"/>
          </a:xfrm>
          <a:custGeom>
            <a:avLst/>
            <a:gdLst>
              <a:gd name="connsiteX0" fmla="*/ 426809 w 711348"/>
              <a:gd name="connsiteY0" fmla="*/ 0 h 564526"/>
              <a:gd name="connsiteX1" fmla="*/ 711348 w 711348"/>
              <a:gd name="connsiteY1" fmla="*/ 0 h 564526"/>
              <a:gd name="connsiteX2" fmla="*/ 711348 w 711348"/>
              <a:gd name="connsiteY2" fmla="*/ 284540 h 564526"/>
              <a:gd name="connsiteX3" fmla="*/ 426809 w 711348"/>
              <a:gd name="connsiteY3" fmla="*/ 564526 h 564526"/>
              <a:gd name="connsiteX4" fmla="*/ 426809 w 711348"/>
              <a:gd name="connsiteY4" fmla="*/ 442460 h 564526"/>
              <a:gd name="connsiteX5" fmla="*/ 589138 w 711348"/>
              <a:gd name="connsiteY5" fmla="*/ 284540 h 564526"/>
              <a:gd name="connsiteX6" fmla="*/ 426809 w 711348"/>
              <a:gd name="connsiteY6" fmla="*/ 284540 h 564526"/>
              <a:gd name="connsiteX7" fmla="*/ 0 w 711348"/>
              <a:gd name="connsiteY7" fmla="*/ 0 h 564526"/>
              <a:gd name="connsiteX8" fmla="*/ 284539 w 711348"/>
              <a:gd name="connsiteY8" fmla="*/ 0 h 564526"/>
              <a:gd name="connsiteX9" fmla="*/ 284539 w 711348"/>
              <a:gd name="connsiteY9" fmla="*/ 284540 h 564526"/>
              <a:gd name="connsiteX10" fmla="*/ 0 w 711348"/>
              <a:gd name="connsiteY10" fmla="*/ 564526 h 564526"/>
              <a:gd name="connsiteX11" fmla="*/ 0 w 711348"/>
              <a:gd name="connsiteY11" fmla="*/ 442460 h 564526"/>
              <a:gd name="connsiteX12" fmla="*/ 162329 w 711348"/>
              <a:gd name="connsiteY12" fmla="*/ 284540 h 564526"/>
              <a:gd name="connsiteX13" fmla="*/ 0 w 711348"/>
              <a:gd name="connsiteY13" fmla="*/ 284540 h 564526"/>
            </a:gdLst>
            <a:ahLst/>
            <a:cxnLst/>
            <a:rect l="l" t="t" r="r" b="b"/>
            <a:pathLst>
              <a:path w="711348" h="564526">
                <a:moveTo>
                  <a:pt x="426809" y="0"/>
                </a:moveTo>
                <a:lnTo>
                  <a:pt x="711348" y="0"/>
                </a:lnTo>
                <a:lnTo>
                  <a:pt x="711348" y="284540"/>
                </a:lnTo>
                <a:cubicBezTo>
                  <a:pt x="708861" y="439905"/>
                  <a:pt x="582194" y="564546"/>
                  <a:pt x="426809" y="564526"/>
                </a:cubicBezTo>
                <a:lnTo>
                  <a:pt x="426809" y="442460"/>
                </a:lnTo>
                <a:cubicBezTo>
                  <a:pt x="514736" y="442416"/>
                  <a:pt x="586675" y="372432"/>
                  <a:pt x="589138" y="284540"/>
                </a:cubicBezTo>
                <a:lnTo>
                  <a:pt x="426809" y="284540"/>
                </a:lnTo>
                <a:close/>
                <a:moveTo>
                  <a:pt x="0" y="0"/>
                </a:moveTo>
                <a:lnTo>
                  <a:pt x="284539" y="0"/>
                </a:lnTo>
                <a:lnTo>
                  <a:pt x="284539" y="284540"/>
                </a:lnTo>
                <a:cubicBezTo>
                  <a:pt x="282052" y="439905"/>
                  <a:pt x="155385" y="564546"/>
                  <a:pt x="0" y="564526"/>
                </a:cubicBezTo>
                <a:lnTo>
                  <a:pt x="0" y="442460"/>
                </a:lnTo>
                <a:cubicBezTo>
                  <a:pt x="87926" y="442416"/>
                  <a:pt x="159866" y="372432"/>
                  <a:pt x="162329" y="284540"/>
                </a:cubicBezTo>
                <a:lnTo>
                  <a:pt x="0" y="284540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107970" y="5332475"/>
            <a:ext cx="711348" cy="564526"/>
          </a:xfrm>
          <a:custGeom>
            <a:avLst/>
            <a:gdLst>
              <a:gd name="connsiteX0" fmla="*/ 426809 w 711348"/>
              <a:gd name="connsiteY0" fmla="*/ 0 h 564526"/>
              <a:gd name="connsiteX1" fmla="*/ 711348 w 711348"/>
              <a:gd name="connsiteY1" fmla="*/ 0 h 564526"/>
              <a:gd name="connsiteX2" fmla="*/ 711348 w 711348"/>
              <a:gd name="connsiteY2" fmla="*/ 284540 h 564526"/>
              <a:gd name="connsiteX3" fmla="*/ 426809 w 711348"/>
              <a:gd name="connsiteY3" fmla="*/ 564526 h 564526"/>
              <a:gd name="connsiteX4" fmla="*/ 426809 w 711348"/>
              <a:gd name="connsiteY4" fmla="*/ 442460 h 564526"/>
              <a:gd name="connsiteX5" fmla="*/ 589138 w 711348"/>
              <a:gd name="connsiteY5" fmla="*/ 284540 h 564526"/>
              <a:gd name="connsiteX6" fmla="*/ 426809 w 711348"/>
              <a:gd name="connsiteY6" fmla="*/ 284540 h 564526"/>
              <a:gd name="connsiteX7" fmla="*/ 0 w 711348"/>
              <a:gd name="connsiteY7" fmla="*/ 0 h 564526"/>
              <a:gd name="connsiteX8" fmla="*/ 284539 w 711348"/>
              <a:gd name="connsiteY8" fmla="*/ 0 h 564526"/>
              <a:gd name="connsiteX9" fmla="*/ 284539 w 711348"/>
              <a:gd name="connsiteY9" fmla="*/ 284540 h 564526"/>
              <a:gd name="connsiteX10" fmla="*/ 0 w 711348"/>
              <a:gd name="connsiteY10" fmla="*/ 564526 h 564526"/>
              <a:gd name="connsiteX11" fmla="*/ 0 w 711348"/>
              <a:gd name="connsiteY11" fmla="*/ 442460 h 564526"/>
              <a:gd name="connsiteX12" fmla="*/ 162329 w 711348"/>
              <a:gd name="connsiteY12" fmla="*/ 284540 h 564526"/>
              <a:gd name="connsiteX13" fmla="*/ 0 w 711348"/>
              <a:gd name="connsiteY13" fmla="*/ 284540 h 564526"/>
            </a:gdLst>
            <a:ahLst/>
            <a:cxnLst/>
            <a:rect l="l" t="t" r="r" b="b"/>
            <a:pathLst>
              <a:path w="711348" h="564526">
                <a:moveTo>
                  <a:pt x="426809" y="0"/>
                </a:moveTo>
                <a:lnTo>
                  <a:pt x="711348" y="0"/>
                </a:lnTo>
                <a:lnTo>
                  <a:pt x="711348" y="284540"/>
                </a:lnTo>
                <a:cubicBezTo>
                  <a:pt x="708861" y="439905"/>
                  <a:pt x="582194" y="564546"/>
                  <a:pt x="426809" y="564526"/>
                </a:cubicBezTo>
                <a:lnTo>
                  <a:pt x="426809" y="442460"/>
                </a:lnTo>
                <a:cubicBezTo>
                  <a:pt x="514735" y="442416"/>
                  <a:pt x="586675" y="372432"/>
                  <a:pt x="589138" y="284540"/>
                </a:cubicBezTo>
                <a:lnTo>
                  <a:pt x="426809" y="284540"/>
                </a:lnTo>
                <a:close/>
                <a:moveTo>
                  <a:pt x="0" y="0"/>
                </a:moveTo>
                <a:lnTo>
                  <a:pt x="284539" y="0"/>
                </a:lnTo>
                <a:lnTo>
                  <a:pt x="284539" y="284540"/>
                </a:lnTo>
                <a:cubicBezTo>
                  <a:pt x="282052" y="439905"/>
                  <a:pt x="155385" y="564546"/>
                  <a:pt x="0" y="564526"/>
                </a:cubicBezTo>
                <a:lnTo>
                  <a:pt x="0" y="442460"/>
                </a:lnTo>
                <a:cubicBezTo>
                  <a:pt x="87926" y="442416"/>
                  <a:pt x="159866" y="372432"/>
                  <a:pt x="162329" y="284540"/>
                </a:cubicBezTo>
                <a:lnTo>
                  <a:pt x="0" y="284540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73101" y="2355622"/>
            <a:ext cx="3407298" cy="152218"/>
          </a:xfrm>
          <a:custGeom>
            <a:avLst/>
            <a:gdLst>
              <a:gd name="connsiteX0" fmla="*/ 145681 w 3407298"/>
              <a:gd name="connsiteY0" fmla="*/ 0 h 152218"/>
              <a:gd name="connsiteX1" fmla="*/ 1032979 w 3407298"/>
              <a:gd name="connsiteY1" fmla="*/ 0 h 152218"/>
              <a:gd name="connsiteX2" fmla="*/ 2374319 w 3407298"/>
              <a:gd name="connsiteY2" fmla="*/ 0 h 152218"/>
              <a:gd name="connsiteX3" fmla="*/ 3261617 w 3407298"/>
              <a:gd name="connsiteY3" fmla="*/ 0 h 152218"/>
              <a:gd name="connsiteX4" fmla="*/ 3407298 w 3407298"/>
              <a:gd name="connsiteY4" fmla="*/ 145681 h 152218"/>
              <a:gd name="connsiteX5" fmla="*/ 3407298 w 3407298"/>
              <a:gd name="connsiteY5" fmla="*/ 152218 h 152218"/>
              <a:gd name="connsiteX6" fmla="*/ 2520000 w 3407298"/>
              <a:gd name="connsiteY6" fmla="*/ 152218 h 152218"/>
              <a:gd name="connsiteX7" fmla="*/ 887298 w 3407298"/>
              <a:gd name="connsiteY7" fmla="*/ 152218 h 152218"/>
              <a:gd name="connsiteX8" fmla="*/ 0 w 3407298"/>
              <a:gd name="connsiteY8" fmla="*/ 152218 h 152218"/>
              <a:gd name="connsiteX9" fmla="*/ 0 w 3407298"/>
              <a:gd name="connsiteY9" fmla="*/ 145681 h 152218"/>
              <a:gd name="connsiteX10" fmla="*/ 145681 w 3407298"/>
              <a:gd name="connsiteY10" fmla="*/ 0 h 152218"/>
            </a:gdLst>
            <a:ahLst/>
            <a:cxnLst/>
            <a:rect l="l" t="t" r="r" b="b"/>
            <a:pathLst>
              <a:path w="3407298" h="152218">
                <a:moveTo>
                  <a:pt x="145681" y="0"/>
                </a:moveTo>
                <a:lnTo>
                  <a:pt x="1032979" y="0"/>
                </a:lnTo>
                <a:lnTo>
                  <a:pt x="2374319" y="0"/>
                </a:lnTo>
                <a:lnTo>
                  <a:pt x="3261617" y="0"/>
                </a:lnTo>
                <a:cubicBezTo>
                  <a:pt x="3342074" y="0"/>
                  <a:pt x="3407298" y="65224"/>
                  <a:pt x="3407298" y="145681"/>
                </a:cubicBezTo>
                <a:lnTo>
                  <a:pt x="3407298" y="152218"/>
                </a:lnTo>
                <a:lnTo>
                  <a:pt x="2520000" y="152218"/>
                </a:lnTo>
                <a:lnTo>
                  <a:pt x="887298" y="152218"/>
                </a:lnTo>
                <a:lnTo>
                  <a:pt x="0" y="152218"/>
                </a:lnTo>
                <a:lnTo>
                  <a:pt x="0" y="145681"/>
                </a:lnTo>
                <a:cubicBezTo>
                  <a:pt x="0" y="65224"/>
                  <a:pt x="65224" y="0"/>
                  <a:pt x="145681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392351" y="2355622"/>
            <a:ext cx="3407298" cy="152218"/>
          </a:xfrm>
          <a:custGeom>
            <a:avLst/>
            <a:gdLst>
              <a:gd name="connsiteX0" fmla="*/ 145681 w 3407298"/>
              <a:gd name="connsiteY0" fmla="*/ 0 h 152218"/>
              <a:gd name="connsiteX1" fmla="*/ 1032979 w 3407298"/>
              <a:gd name="connsiteY1" fmla="*/ 0 h 152218"/>
              <a:gd name="connsiteX2" fmla="*/ 2374319 w 3407298"/>
              <a:gd name="connsiteY2" fmla="*/ 0 h 152218"/>
              <a:gd name="connsiteX3" fmla="*/ 3261617 w 3407298"/>
              <a:gd name="connsiteY3" fmla="*/ 0 h 152218"/>
              <a:gd name="connsiteX4" fmla="*/ 3407298 w 3407298"/>
              <a:gd name="connsiteY4" fmla="*/ 145681 h 152218"/>
              <a:gd name="connsiteX5" fmla="*/ 3407298 w 3407298"/>
              <a:gd name="connsiteY5" fmla="*/ 152218 h 152218"/>
              <a:gd name="connsiteX6" fmla="*/ 2520000 w 3407298"/>
              <a:gd name="connsiteY6" fmla="*/ 152218 h 152218"/>
              <a:gd name="connsiteX7" fmla="*/ 887298 w 3407298"/>
              <a:gd name="connsiteY7" fmla="*/ 152218 h 152218"/>
              <a:gd name="connsiteX8" fmla="*/ 0 w 3407298"/>
              <a:gd name="connsiteY8" fmla="*/ 152218 h 152218"/>
              <a:gd name="connsiteX9" fmla="*/ 0 w 3407298"/>
              <a:gd name="connsiteY9" fmla="*/ 145681 h 152218"/>
              <a:gd name="connsiteX10" fmla="*/ 145681 w 3407298"/>
              <a:gd name="connsiteY10" fmla="*/ 0 h 152218"/>
            </a:gdLst>
            <a:ahLst/>
            <a:cxnLst/>
            <a:rect l="l" t="t" r="r" b="b"/>
            <a:pathLst>
              <a:path w="3407298" h="152218">
                <a:moveTo>
                  <a:pt x="145681" y="0"/>
                </a:moveTo>
                <a:lnTo>
                  <a:pt x="1032979" y="0"/>
                </a:lnTo>
                <a:lnTo>
                  <a:pt x="2374319" y="0"/>
                </a:lnTo>
                <a:lnTo>
                  <a:pt x="3261617" y="0"/>
                </a:lnTo>
                <a:cubicBezTo>
                  <a:pt x="3342074" y="0"/>
                  <a:pt x="3407298" y="65224"/>
                  <a:pt x="3407298" y="145681"/>
                </a:cubicBezTo>
                <a:lnTo>
                  <a:pt x="3407298" y="152218"/>
                </a:lnTo>
                <a:lnTo>
                  <a:pt x="2520000" y="152218"/>
                </a:lnTo>
                <a:lnTo>
                  <a:pt x="887298" y="152218"/>
                </a:lnTo>
                <a:lnTo>
                  <a:pt x="0" y="152218"/>
                </a:lnTo>
                <a:lnTo>
                  <a:pt x="0" y="145681"/>
                </a:lnTo>
                <a:cubicBezTo>
                  <a:pt x="0" y="65224"/>
                  <a:pt x="65224" y="0"/>
                  <a:pt x="145681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111601" y="2355622"/>
            <a:ext cx="3407298" cy="152218"/>
          </a:xfrm>
          <a:custGeom>
            <a:avLst/>
            <a:gdLst>
              <a:gd name="connsiteX0" fmla="*/ 145681 w 3407298"/>
              <a:gd name="connsiteY0" fmla="*/ 0 h 152218"/>
              <a:gd name="connsiteX1" fmla="*/ 1032979 w 3407298"/>
              <a:gd name="connsiteY1" fmla="*/ 0 h 152218"/>
              <a:gd name="connsiteX2" fmla="*/ 2374319 w 3407298"/>
              <a:gd name="connsiteY2" fmla="*/ 0 h 152218"/>
              <a:gd name="connsiteX3" fmla="*/ 3261617 w 3407298"/>
              <a:gd name="connsiteY3" fmla="*/ 0 h 152218"/>
              <a:gd name="connsiteX4" fmla="*/ 3407298 w 3407298"/>
              <a:gd name="connsiteY4" fmla="*/ 145681 h 152218"/>
              <a:gd name="connsiteX5" fmla="*/ 3407298 w 3407298"/>
              <a:gd name="connsiteY5" fmla="*/ 152218 h 152218"/>
              <a:gd name="connsiteX6" fmla="*/ 2520000 w 3407298"/>
              <a:gd name="connsiteY6" fmla="*/ 152218 h 152218"/>
              <a:gd name="connsiteX7" fmla="*/ 887298 w 3407298"/>
              <a:gd name="connsiteY7" fmla="*/ 152218 h 152218"/>
              <a:gd name="connsiteX8" fmla="*/ 0 w 3407298"/>
              <a:gd name="connsiteY8" fmla="*/ 152218 h 152218"/>
              <a:gd name="connsiteX9" fmla="*/ 0 w 3407298"/>
              <a:gd name="connsiteY9" fmla="*/ 145681 h 152218"/>
              <a:gd name="connsiteX10" fmla="*/ 145681 w 3407298"/>
              <a:gd name="connsiteY10" fmla="*/ 0 h 152218"/>
            </a:gdLst>
            <a:ahLst/>
            <a:cxnLst/>
            <a:rect l="l" t="t" r="r" b="b"/>
            <a:pathLst>
              <a:path w="3407298" h="152218">
                <a:moveTo>
                  <a:pt x="145681" y="0"/>
                </a:moveTo>
                <a:lnTo>
                  <a:pt x="1032979" y="0"/>
                </a:lnTo>
                <a:lnTo>
                  <a:pt x="2374319" y="0"/>
                </a:lnTo>
                <a:lnTo>
                  <a:pt x="3261617" y="0"/>
                </a:lnTo>
                <a:cubicBezTo>
                  <a:pt x="3342074" y="0"/>
                  <a:pt x="3407298" y="65224"/>
                  <a:pt x="3407298" y="145681"/>
                </a:cubicBezTo>
                <a:lnTo>
                  <a:pt x="3407298" y="152218"/>
                </a:lnTo>
                <a:lnTo>
                  <a:pt x="2520000" y="152218"/>
                </a:lnTo>
                <a:lnTo>
                  <a:pt x="887298" y="152218"/>
                </a:lnTo>
                <a:lnTo>
                  <a:pt x="0" y="152218"/>
                </a:lnTo>
                <a:lnTo>
                  <a:pt x="0" y="145681"/>
                </a:lnTo>
                <a:cubicBezTo>
                  <a:pt x="0" y="65224"/>
                  <a:pt x="65224" y="0"/>
                  <a:pt x="145681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0400" y="1485760"/>
            <a:ext cx="8794750" cy="5422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通过海报、文章、视频、音频、直播等形式创造优质内容，经由内容智能中台分发到各个渠道。通过海报、文章、视频、音频、直播等形式创造优质内容，经由内容智能中台分发到各个渠道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目标客户群体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351099" y="1553058"/>
            <a:ext cx="9489802" cy="10752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一款多端在线拖拽式作图/视频工具，同时具备创意资产云端存储，管理和多终端分发的功能
平台接入了战略投资方A股上市公司「视觉中国」亿级图片模版素材，确保创意内容随取随用、安全合规、降本增效</a:t>
            </a:r>
            <a:endParaRPr kumimoji="1" lang="zh-CN" altLang="en-US"/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3078143" y="3209953"/>
            <a:ext cx="913910" cy="913908"/>
            <a:chOff x="3078143" y="3209953"/>
            <a:chExt cx="913910" cy="913908"/>
          </a:xfrm>
        </p:grpSpPr>
        <p:sp>
          <p:nvSpPr>
            <p:cNvPr id="7" name="标题 1"/>
            <p:cNvSpPr txBox="1"/>
            <p:nvPr>
              <p:custDataLst>
                <p:tags r:id="rId2"/>
              </p:custDataLst>
            </p:nvPr>
          </p:nvSpPr>
          <p:spPr>
            <a:xfrm>
              <a:off x="3175099" y="3306907"/>
              <a:ext cx="720000" cy="720000"/>
            </a:xfrm>
            <a:prstGeom prst="ellipse">
              <a:avLst/>
            </a:prstGeom>
            <a:solidFill>
              <a:schemeClr val="accent1"/>
            </a:solidFill>
            <a:ln w="19050" cap="rnd">
              <a:noFill/>
              <a:round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>
              <p:custDataLst>
                <p:tags r:id="rId3"/>
              </p:custDataLst>
            </p:nvPr>
          </p:nvSpPr>
          <p:spPr>
            <a:xfrm>
              <a:off x="3363061" y="3480549"/>
              <a:ext cx="344075" cy="372717"/>
            </a:xfrm>
            <a:custGeom>
              <a:avLst/>
              <a:gdLst>
                <a:gd name="connsiteX0" fmla="*/ 712625 w 1425436"/>
                <a:gd name="connsiteY0" fmla="*/ 111621 h 1544091"/>
                <a:gd name="connsiteX1" fmla="*/ 902567 w 1425436"/>
                <a:gd name="connsiteY1" fmla="*/ 190314 h 1544091"/>
                <a:gd name="connsiteX2" fmla="*/ 981260 w 1425436"/>
                <a:gd name="connsiteY2" fmla="*/ 380256 h 1544091"/>
                <a:gd name="connsiteX3" fmla="*/ 902567 w 1425436"/>
                <a:gd name="connsiteY3" fmla="*/ 570198 h 1544091"/>
                <a:gd name="connsiteX4" fmla="*/ 712625 w 1425436"/>
                <a:gd name="connsiteY4" fmla="*/ 648891 h 1544091"/>
                <a:gd name="connsiteX5" fmla="*/ 522684 w 1425436"/>
                <a:gd name="connsiteY5" fmla="*/ 570198 h 1544091"/>
                <a:gd name="connsiteX6" fmla="*/ 444177 w 1425436"/>
                <a:gd name="connsiteY6" fmla="*/ 380070 h 1544091"/>
                <a:gd name="connsiteX7" fmla="*/ 522870 w 1425436"/>
                <a:gd name="connsiteY7" fmla="*/ 190128 h 1544091"/>
                <a:gd name="connsiteX8" fmla="*/ 712625 w 1425436"/>
                <a:gd name="connsiteY8" fmla="*/ 111621 h 1544091"/>
                <a:gd name="connsiteX9" fmla="*/ 712625 w 1425436"/>
                <a:gd name="connsiteY9" fmla="*/ 0 h 1544091"/>
                <a:gd name="connsiteX10" fmla="*/ 332556 w 1425436"/>
                <a:gd name="connsiteY10" fmla="*/ 380070 h 1544091"/>
                <a:gd name="connsiteX11" fmla="*/ 712625 w 1425436"/>
                <a:gd name="connsiteY11" fmla="*/ 760140 h 1544091"/>
                <a:gd name="connsiteX12" fmla="*/ 1092695 w 1425436"/>
                <a:gd name="connsiteY12" fmla="*/ 380070 h 1544091"/>
                <a:gd name="connsiteX13" fmla="*/ 712625 w 1425436"/>
                <a:gd name="connsiteY13" fmla="*/ 0 h 1544091"/>
                <a:gd name="connsiteX14" fmla="*/ 712625 w 1425436"/>
                <a:gd name="connsiteY14" fmla="*/ 943012 h 1544091"/>
                <a:gd name="connsiteX15" fmla="*/ 978842 w 1425436"/>
                <a:gd name="connsiteY15" fmla="*/ 976685 h 1544091"/>
                <a:gd name="connsiteX16" fmla="*/ 1146087 w 1425436"/>
                <a:gd name="connsiteY16" fmla="*/ 1059470 h 1544091"/>
                <a:gd name="connsiteX17" fmla="*/ 1248593 w 1425436"/>
                <a:gd name="connsiteY17" fmla="*/ 1174440 h 1544091"/>
                <a:gd name="connsiteX18" fmla="*/ 1310356 w 1425436"/>
                <a:gd name="connsiteY18" fmla="*/ 1316385 h 1544091"/>
                <a:gd name="connsiteX19" fmla="*/ 1296590 w 1425436"/>
                <a:gd name="connsiteY19" fmla="*/ 1390241 h 1544091"/>
                <a:gd name="connsiteX20" fmla="*/ 1208595 w 1425436"/>
                <a:gd name="connsiteY20" fmla="*/ 1432285 h 1544091"/>
                <a:gd name="connsiteX21" fmla="*/ 216842 w 1425436"/>
                <a:gd name="connsiteY21" fmla="*/ 1432285 h 1544091"/>
                <a:gd name="connsiteX22" fmla="*/ 128847 w 1425436"/>
                <a:gd name="connsiteY22" fmla="*/ 1390241 h 1544091"/>
                <a:gd name="connsiteX23" fmla="*/ 115081 w 1425436"/>
                <a:gd name="connsiteY23" fmla="*/ 1316385 h 1544091"/>
                <a:gd name="connsiteX24" fmla="*/ 176844 w 1425436"/>
                <a:gd name="connsiteY24" fmla="*/ 1174440 h 1544091"/>
                <a:gd name="connsiteX25" fmla="*/ 279350 w 1425436"/>
                <a:gd name="connsiteY25" fmla="*/ 1059470 h 1544091"/>
                <a:gd name="connsiteX26" fmla="*/ 446595 w 1425436"/>
                <a:gd name="connsiteY26" fmla="*/ 976685 h 1544091"/>
                <a:gd name="connsiteX27" fmla="*/ 712625 w 1425436"/>
                <a:gd name="connsiteY27" fmla="*/ 943012 h 1544091"/>
                <a:gd name="connsiteX28" fmla="*/ 712625 w 1425436"/>
                <a:gd name="connsiteY28" fmla="*/ 831391 h 1544091"/>
                <a:gd name="connsiteX29" fmla="*/ 8296 w 1425436"/>
                <a:gd name="connsiteY29" fmla="*/ 1284387 h 1544091"/>
                <a:gd name="connsiteX30" fmla="*/ 216842 w 1425436"/>
                <a:gd name="connsiteY30" fmla="*/ 1544092 h 1544091"/>
                <a:gd name="connsiteX31" fmla="*/ 1208595 w 1425436"/>
                <a:gd name="connsiteY31" fmla="*/ 1544092 h 1544091"/>
                <a:gd name="connsiteX32" fmla="*/ 1417141 w 1425436"/>
                <a:gd name="connsiteY32" fmla="*/ 1284387 h 1544091"/>
                <a:gd name="connsiteX33" fmla="*/ 712625 w 1425436"/>
                <a:gd name="connsiteY33" fmla="*/ 831391 h 1544091"/>
              </a:gdLst>
              <a:ahLst/>
              <a:cxnLst/>
              <a:rect l="l" t="t" r="r" b="b"/>
              <a:pathLst>
                <a:path w="1425436" h="1544091">
                  <a:moveTo>
                    <a:pt x="712625" y="111621"/>
                  </a:moveTo>
                  <a:cubicBezTo>
                    <a:pt x="784435" y="111621"/>
                    <a:pt x="851780" y="139526"/>
                    <a:pt x="902567" y="190314"/>
                  </a:cubicBezTo>
                  <a:cubicBezTo>
                    <a:pt x="953355" y="241102"/>
                    <a:pt x="981260" y="308446"/>
                    <a:pt x="981260" y="380256"/>
                  </a:cubicBezTo>
                  <a:cubicBezTo>
                    <a:pt x="981260" y="452065"/>
                    <a:pt x="953355" y="519410"/>
                    <a:pt x="902567" y="570198"/>
                  </a:cubicBezTo>
                  <a:cubicBezTo>
                    <a:pt x="851780" y="620985"/>
                    <a:pt x="784435" y="648891"/>
                    <a:pt x="712625" y="648891"/>
                  </a:cubicBezTo>
                  <a:cubicBezTo>
                    <a:pt x="640816" y="648891"/>
                    <a:pt x="573471" y="620985"/>
                    <a:pt x="522684" y="570198"/>
                  </a:cubicBezTo>
                  <a:cubicBezTo>
                    <a:pt x="472082" y="519224"/>
                    <a:pt x="444177" y="451693"/>
                    <a:pt x="444177" y="380070"/>
                  </a:cubicBezTo>
                  <a:cubicBezTo>
                    <a:pt x="444177" y="308446"/>
                    <a:pt x="472082" y="240916"/>
                    <a:pt x="522870" y="190128"/>
                  </a:cubicBezTo>
                  <a:cubicBezTo>
                    <a:pt x="573471" y="139526"/>
                    <a:pt x="641002" y="111621"/>
                    <a:pt x="712625" y="111621"/>
                  </a:cubicBezTo>
                  <a:moveTo>
                    <a:pt x="712625" y="0"/>
                  </a:moveTo>
                  <a:cubicBezTo>
                    <a:pt x="502778" y="0"/>
                    <a:pt x="332556" y="170036"/>
                    <a:pt x="332556" y="380070"/>
                  </a:cubicBezTo>
                  <a:cubicBezTo>
                    <a:pt x="332556" y="589917"/>
                    <a:pt x="502778" y="760140"/>
                    <a:pt x="712625" y="760140"/>
                  </a:cubicBezTo>
                  <a:cubicBezTo>
                    <a:pt x="922473" y="760140"/>
                    <a:pt x="1092695" y="589917"/>
                    <a:pt x="1092695" y="380070"/>
                  </a:cubicBezTo>
                  <a:cubicBezTo>
                    <a:pt x="1092881" y="170036"/>
                    <a:pt x="922659" y="0"/>
                    <a:pt x="712625" y="0"/>
                  </a:cubicBezTo>
                  <a:close/>
                  <a:moveTo>
                    <a:pt x="712625" y="943012"/>
                  </a:moveTo>
                  <a:cubicBezTo>
                    <a:pt x="813643" y="943012"/>
                    <a:pt x="903126" y="954360"/>
                    <a:pt x="978842" y="976685"/>
                  </a:cubicBezTo>
                  <a:cubicBezTo>
                    <a:pt x="1043582" y="995846"/>
                    <a:pt x="1099951" y="1023752"/>
                    <a:pt x="1146087" y="1059470"/>
                  </a:cubicBezTo>
                  <a:cubicBezTo>
                    <a:pt x="1186829" y="1091096"/>
                    <a:pt x="1220315" y="1128675"/>
                    <a:pt x="1248593" y="1174440"/>
                  </a:cubicBezTo>
                  <a:cubicBezTo>
                    <a:pt x="1273708" y="1215368"/>
                    <a:pt x="1293985" y="1261877"/>
                    <a:pt x="1310356" y="1316385"/>
                  </a:cubicBezTo>
                  <a:cubicBezTo>
                    <a:pt x="1320774" y="1350801"/>
                    <a:pt x="1306264" y="1377404"/>
                    <a:pt x="1296590" y="1390241"/>
                  </a:cubicBezTo>
                  <a:cubicBezTo>
                    <a:pt x="1276684" y="1417030"/>
                    <a:pt x="1244686" y="1432285"/>
                    <a:pt x="1208595" y="1432285"/>
                  </a:cubicBezTo>
                  <a:lnTo>
                    <a:pt x="216842" y="1432285"/>
                  </a:lnTo>
                  <a:cubicBezTo>
                    <a:pt x="180937" y="1432285"/>
                    <a:pt x="148753" y="1417030"/>
                    <a:pt x="128847" y="1390241"/>
                  </a:cubicBezTo>
                  <a:cubicBezTo>
                    <a:pt x="119359" y="1377404"/>
                    <a:pt x="104849" y="1350801"/>
                    <a:pt x="115081" y="1316385"/>
                  </a:cubicBezTo>
                  <a:cubicBezTo>
                    <a:pt x="131452" y="1261877"/>
                    <a:pt x="151543" y="1215368"/>
                    <a:pt x="176844" y="1174440"/>
                  </a:cubicBezTo>
                  <a:cubicBezTo>
                    <a:pt x="204936" y="1128675"/>
                    <a:pt x="238422" y="1090910"/>
                    <a:pt x="279350" y="1059470"/>
                  </a:cubicBezTo>
                  <a:cubicBezTo>
                    <a:pt x="325486" y="1023752"/>
                    <a:pt x="381855" y="995846"/>
                    <a:pt x="446595" y="976685"/>
                  </a:cubicBezTo>
                  <a:cubicBezTo>
                    <a:pt x="522125" y="954360"/>
                    <a:pt x="611794" y="943012"/>
                    <a:pt x="712625" y="943012"/>
                  </a:cubicBezTo>
                  <a:moveTo>
                    <a:pt x="712625" y="831391"/>
                  </a:moveTo>
                  <a:cubicBezTo>
                    <a:pt x="244561" y="831391"/>
                    <a:pt x="77501" y="1053331"/>
                    <a:pt x="8296" y="1284387"/>
                  </a:cubicBezTo>
                  <a:cubicBezTo>
                    <a:pt x="-30771" y="1414611"/>
                    <a:pt x="73037" y="1544092"/>
                    <a:pt x="216842" y="1544092"/>
                  </a:cubicBezTo>
                  <a:lnTo>
                    <a:pt x="1208595" y="1544092"/>
                  </a:lnTo>
                  <a:cubicBezTo>
                    <a:pt x="1352400" y="1544092"/>
                    <a:pt x="1456208" y="1414611"/>
                    <a:pt x="1417141" y="1284387"/>
                  </a:cubicBezTo>
                  <a:cubicBezTo>
                    <a:pt x="1347750" y="1053331"/>
                    <a:pt x="1180690" y="831391"/>
                    <a:pt x="712625" y="83139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>
              <p:custDataLst>
                <p:tags r:id="rId4"/>
              </p:custDataLst>
            </p:nvPr>
          </p:nvSpPr>
          <p:spPr>
            <a:xfrm>
              <a:off x="3078143" y="3209953"/>
              <a:ext cx="913910" cy="913908"/>
            </a:xfrm>
            <a:prstGeom prst="arc">
              <a:avLst>
                <a:gd name="adj1" fmla="val 12085454"/>
                <a:gd name="adj2" fmla="val 16423906"/>
              </a:avLst>
            </a:prstGeom>
            <a:noFill/>
            <a:ln w="25400" cap="rnd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0" name="标题 1"/>
          <p:cNvSpPr txBox="1"/>
          <p:nvPr>
            <p:custDataLst>
              <p:tags r:id="rId5"/>
            </p:custDataLst>
          </p:nvPr>
        </p:nvSpPr>
        <p:spPr>
          <a:xfrm>
            <a:off x="1436818" y="4296419"/>
            <a:ext cx="4196561" cy="15580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市场规模增长：随着人口老龄化加剧和老年人消费观念转变，智能养老服务市场规模持续扩大，预计未来 5 年年增长率超 20%。</a:t>
            </a:r>
            <a:endParaRPr kumimoji="1" lang="zh-CN" altLang="en-US"/>
          </a:p>
        </p:txBody>
      </p:sp>
      <p:grpSp>
        <p:nvGrpSpPr>
          <p:cNvPr id="11" name="组合 10"/>
          <p:cNvGrpSpPr/>
          <p:nvPr>
            <p:custDataLst>
              <p:tags r:id="rId6"/>
            </p:custDataLst>
          </p:nvPr>
        </p:nvGrpSpPr>
        <p:grpSpPr>
          <a:xfrm>
            <a:off x="8206462" y="3206405"/>
            <a:ext cx="913910" cy="913908"/>
            <a:chOff x="8206462" y="3206405"/>
            <a:chExt cx="913910" cy="913908"/>
          </a:xfrm>
        </p:grpSpPr>
        <p:sp>
          <p:nvSpPr>
            <p:cNvPr id="12" name="标题 1"/>
            <p:cNvSpPr txBox="1"/>
            <p:nvPr>
              <p:custDataLst>
                <p:tags r:id="rId7"/>
              </p:custDataLst>
            </p:nvPr>
          </p:nvSpPr>
          <p:spPr>
            <a:xfrm>
              <a:off x="8303416" y="3303359"/>
              <a:ext cx="720000" cy="720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 cap="rnd">
              <a:noFill/>
              <a:round/>
            </a:ln>
            <a:effectLst/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3" name="标题 1"/>
            <p:cNvSpPr txBox="1"/>
            <p:nvPr>
              <p:custDataLst>
                <p:tags r:id="rId8"/>
              </p:custDataLst>
            </p:nvPr>
          </p:nvSpPr>
          <p:spPr>
            <a:xfrm>
              <a:off x="8477057" y="3483013"/>
              <a:ext cx="372717" cy="360692"/>
            </a:xfrm>
            <a:custGeom>
              <a:avLst/>
              <a:gdLst>
                <a:gd name="connsiteX0" fmla="*/ 695958 w 1660735"/>
                <a:gd name="connsiteY0" fmla="*/ 752512 h 1607157"/>
                <a:gd name="connsiteX1" fmla="*/ 376349 w 1660735"/>
                <a:gd name="connsiteY1" fmla="*/ 752512 h 1607157"/>
                <a:gd name="connsiteX2" fmla="*/ 110505 w 1660735"/>
                <a:gd name="connsiteY2" fmla="*/ 642007 h 1607157"/>
                <a:gd name="connsiteX3" fmla="*/ 0 w 1660735"/>
                <a:gd name="connsiteY3" fmla="*/ 376349 h 1607157"/>
                <a:gd name="connsiteX4" fmla="*/ 110505 w 1660735"/>
                <a:gd name="connsiteY4" fmla="*/ 110505 h 1607157"/>
                <a:gd name="connsiteX5" fmla="*/ 376349 w 1660735"/>
                <a:gd name="connsiteY5" fmla="*/ 0 h 1607157"/>
                <a:gd name="connsiteX6" fmla="*/ 642193 w 1660735"/>
                <a:gd name="connsiteY6" fmla="*/ 110505 h 1607157"/>
                <a:gd name="connsiteX7" fmla="*/ 752698 w 1660735"/>
                <a:gd name="connsiteY7" fmla="*/ 376349 h 1607157"/>
                <a:gd name="connsiteX8" fmla="*/ 752698 w 1660735"/>
                <a:gd name="connsiteY8" fmla="*/ 695958 h 1607157"/>
                <a:gd name="connsiteX9" fmla="*/ 695958 w 1660735"/>
                <a:gd name="connsiteY9" fmla="*/ 752512 h 1607157"/>
                <a:gd name="connsiteX10" fmla="*/ 376349 w 1660735"/>
                <a:gd name="connsiteY10" fmla="*/ 111621 h 1607157"/>
                <a:gd name="connsiteX11" fmla="*/ 111621 w 1660735"/>
                <a:gd name="connsiteY11" fmla="*/ 376349 h 1607157"/>
                <a:gd name="connsiteX12" fmla="*/ 376349 w 1660735"/>
                <a:gd name="connsiteY12" fmla="*/ 641077 h 1607157"/>
                <a:gd name="connsiteX13" fmla="*/ 641077 w 1660735"/>
                <a:gd name="connsiteY13" fmla="*/ 641077 h 1607157"/>
                <a:gd name="connsiteX14" fmla="*/ 641077 w 1660735"/>
                <a:gd name="connsiteY14" fmla="*/ 376349 h 1607157"/>
                <a:gd name="connsiteX15" fmla="*/ 376349 w 1660735"/>
                <a:gd name="connsiteY15" fmla="*/ 111621 h 1607157"/>
                <a:gd name="connsiteX16" fmla="*/ 1284201 w 1660735"/>
                <a:gd name="connsiteY16" fmla="*/ 752512 h 1607157"/>
                <a:gd name="connsiteX17" fmla="*/ 964592 w 1660735"/>
                <a:gd name="connsiteY17" fmla="*/ 752512 h 1607157"/>
                <a:gd name="connsiteX18" fmla="*/ 908038 w 1660735"/>
                <a:gd name="connsiteY18" fmla="*/ 695958 h 1607157"/>
                <a:gd name="connsiteX19" fmla="*/ 908038 w 1660735"/>
                <a:gd name="connsiteY19" fmla="*/ 376349 h 1607157"/>
                <a:gd name="connsiteX20" fmla="*/ 1018543 w 1660735"/>
                <a:gd name="connsiteY20" fmla="*/ 110505 h 1607157"/>
                <a:gd name="connsiteX21" fmla="*/ 1284387 w 1660735"/>
                <a:gd name="connsiteY21" fmla="*/ 0 h 1607157"/>
                <a:gd name="connsiteX22" fmla="*/ 1550231 w 1660735"/>
                <a:gd name="connsiteY22" fmla="*/ 110505 h 1607157"/>
                <a:gd name="connsiteX23" fmla="*/ 1660736 w 1660735"/>
                <a:gd name="connsiteY23" fmla="*/ 376349 h 1607157"/>
                <a:gd name="connsiteX24" fmla="*/ 1550231 w 1660735"/>
                <a:gd name="connsiteY24" fmla="*/ 642193 h 1607157"/>
                <a:gd name="connsiteX25" fmla="*/ 1284201 w 1660735"/>
                <a:gd name="connsiteY25" fmla="*/ 752512 h 1607157"/>
                <a:gd name="connsiteX26" fmla="*/ 1019659 w 1660735"/>
                <a:gd name="connsiteY26" fmla="*/ 640891 h 1607157"/>
                <a:gd name="connsiteX27" fmla="*/ 1284387 w 1660735"/>
                <a:gd name="connsiteY27" fmla="*/ 640891 h 1607157"/>
                <a:gd name="connsiteX28" fmla="*/ 1549115 w 1660735"/>
                <a:gd name="connsiteY28" fmla="*/ 376163 h 1607157"/>
                <a:gd name="connsiteX29" fmla="*/ 1284387 w 1660735"/>
                <a:gd name="connsiteY29" fmla="*/ 111435 h 1607157"/>
                <a:gd name="connsiteX30" fmla="*/ 1019659 w 1660735"/>
                <a:gd name="connsiteY30" fmla="*/ 376163 h 1607157"/>
                <a:gd name="connsiteX31" fmla="*/ 1019659 w 1660735"/>
                <a:gd name="connsiteY31" fmla="*/ 640891 h 1607157"/>
                <a:gd name="connsiteX32" fmla="*/ 376349 w 1660735"/>
                <a:gd name="connsiteY32" fmla="*/ 1607158 h 1607157"/>
                <a:gd name="connsiteX33" fmla="*/ 110505 w 1660735"/>
                <a:gd name="connsiteY33" fmla="*/ 1496653 h 1607157"/>
                <a:gd name="connsiteX34" fmla="*/ 0 w 1660735"/>
                <a:gd name="connsiteY34" fmla="*/ 1230809 h 1607157"/>
                <a:gd name="connsiteX35" fmla="*/ 110505 w 1660735"/>
                <a:gd name="connsiteY35" fmla="*/ 964964 h 1607157"/>
                <a:gd name="connsiteX36" fmla="*/ 376349 w 1660735"/>
                <a:gd name="connsiteY36" fmla="*/ 854459 h 1607157"/>
                <a:gd name="connsiteX37" fmla="*/ 695958 w 1660735"/>
                <a:gd name="connsiteY37" fmla="*/ 854459 h 1607157"/>
                <a:gd name="connsiteX38" fmla="*/ 752512 w 1660735"/>
                <a:gd name="connsiteY38" fmla="*/ 911014 h 1607157"/>
                <a:gd name="connsiteX39" fmla="*/ 752512 w 1660735"/>
                <a:gd name="connsiteY39" fmla="*/ 1230623 h 1607157"/>
                <a:gd name="connsiteX40" fmla="*/ 642007 w 1660735"/>
                <a:gd name="connsiteY40" fmla="*/ 1496467 h 1607157"/>
                <a:gd name="connsiteX41" fmla="*/ 376349 w 1660735"/>
                <a:gd name="connsiteY41" fmla="*/ 1607158 h 1607157"/>
                <a:gd name="connsiteX42" fmla="*/ 376349 w 1660735"/>
                <a:gd name="connsiteY42" fmla="*/ 966267 h 1607157"/>
                <a:gd name="connsiteX43" fmla="*/ 111621 w 1660735"/>
                <a:gd name="connsiteY43" fmla="*/ 1230809 h 1607157"/>
                <a:gd name="connsiteX44" fmla="*/ 376349 w 1660735"/>
                <a:gd name="connsiteY44" fmla="*/ 1495537 h 1607157"/>
                <a:gd name="connsiteX45" fmla="*/ 641077 w 1660735"/>
                <a:gd name="connsiteY45" fmla="*/ 1230809 h 1607157"/>
                <a:gd name="connsiteX46" fmla="*/ 641077 w 1660735"/>
                <a:gd name="connsiteY46" fmla="*/ 966267 h 1607157"/>
                <a:gd name="connsiteX47" fmla="*/ 376349 w 1660735"/>
                <a:gd name="connsiteY47" fmla="*/ 966267 h 1607157"/>
                <a:gd name="connsiteX48" fmla="*/ 1284201 w 1660735"/>
                <a:gd name="connsiteY48" fmla="*/ 1607158 h 1607157"/>
                <a:gd name="connsiteX49" fmla="*/ 1018357 w 1660735"/>
                <a:gd name="connsiteY49" fmla="*/ 1496653 h 1607157"/>
                <a:gd name="connsiteX50" fmla="*/ 907852 w 1660735"/>
                <a:gd name="connsiteY50" fmla="*/ 1230809 h 1607157"/>
                <a:gd name="connsiteX51" fmla="*/ 907852 w 1660735"/>
                <a:gd name="connsiteY51" fmla="*/ 911200 h 1607157"/>
                <a:gd name="connsiteX52" fmla="*/ 964406 w 1660735"/>
                <a:gd name="connsiteY52" fmla="*/ 854646 h 1607157"/>
                <a:gd name="connsiteX53" fmla="*/ 1284015 w 1660735"/>
                <a:gd name="connsiteY53" fmla="*/ 854646 h 1607157"/>
                <a:gd name="connsiteX54" fmla="*/ 1549859 w 1660735"/>
                <a:gd name="connsiteY54" fmla="*/ 965150 h 1607157"/>
                <a:gd name="connsiteX55" fmla="*/ 1660364 w 1660735"/>
                <a:gd name="connsiteY55" fmla="*/ 1230995 h 1607157"/>
                <a:gd name="connsiteX56" fmla="*/ 1550045 w 1660735"/>
                <a:gd name="connsiteY56" fmla="*/ 1496653 h 1607157"/>
                <a:gd name="connsiteX57" fmla="*/ 1284201 w 1660735"/>
                <a:gd name="connsiteY57" fmla="*/ 1607158 h 1607157"/>
                <a:gd name="connsiteX58" fmla="*/ 1019659 w 1660735"/>
                <a:gd name="connsiteY58" fmla="*/ 966267 h 1607157"/>
                <a:gd name="connsiteX59" fmla="*/ 1019659 w 1660735"/>
                <a:gd name="connsiteY59" fmla="*/ 1230995 h 1607157"/>
                <a:gd name="connsiteX60" fmla="*/ 1284387 w 1660735"/>
                <a:gd name="connsiteY60" fmla="*/ 1495723 h 1607157"/>
                <a:gd name="connsiteX61" fmla="*/ 1549115 w 1660735"/>
                <a:gd name="connsiteY61" fmla="*/ 1230995 h 1607157"/>
                <a:gd name="connsiteX62" fmla="*/ 1284387 w 1660735"/>
                <a:gd name="connsiteY62" fmla="*/ 966267 h 1607157"/>
                <a:gd name="connsiteX63" fmla="*/ 1019659 w 1660735"/>
                <a:gd name="connsiteY63" fmla="*/ 966267 h 1607157"/>
              </a:gdLst>
              <a:ahLst/>
              <a:cxnLst/>
              <a:rect l="l" t="t" r="r" b="b"/>
              <a:pathLst>
                <a:path w="1660735" h="1607157">
                  <a:moveTo>
                    <a:pt x="695958" y="752512"/>
                  </a:moveTo>
                  <a:lnTo>
                    <a:pt x="376349" y="752512"/>
                  </a:lnTo>
                  <a:cubicBezTo>
                    <a:pt x="276262" y="752512"/>
                    <a:pt x="181756" y="713259"/>
                    <a:pt x="110505" y="642007"/>
                  </a:cubicBezTo>
                  <a:cubicBezTo>
                    <a:pt x="39253" y="570756"/>
                    <a:pt x="0" y="476436"/>
                    <a:pt x="0" y="376349"/>
                  </a:cubicBezTo>
                  <a:cubicBezTo>
                    <a:pt x="0" y="276262"/>
                    <a:pt x="39253" y="181756"/>
                    <a:pt x="110505" y="110505"/>
                  </a:cubicBezTo>
                  <a:cubicBezTo>
                    <a:pt x="181756" y="39253"/>
                    <a:pt x="276076" y="0"/>
                    <a:pt x="376349" y="0"/>
                  </a:cubicBezTo>
                  <a:cubicBezTo>
                    <a:pt x="476436" y="0"/>
                    <a:pt x="570942" y="39253"/>
                    <a:pt x="642193" y="110505"/>
                  </a:cubicBezTo>
                  <a:cubicBezTo>
                    <a:pt x="713445" y="181756"/>
                    <a:pt x="752698" y="276076"/>
                    <a:pt x="752698" y="376349"/>
                  </a:cubicBezTo>
                  <a:lnTo>
                    <a:pt x="752698" y="695958"/>
                  </a:lnTo>
                  <a:cubicBezTo>
                    <a:pt x="752512" y="727211"/>
                    <a:pt x="727211" y="752512"/>
                    <a:pt x="695958" y="752512"/>
                  </a:cubicBezTo>
                  <a:close/>
                  <a:moveTo>
                    <a:pt x="376349" y="111621"/>
                  </a:moveTo>
                  <a:cubicBezTo>
                    <a:pt x="230498" y="111621"/>
                    <a:pt x="111621" y="230312"/>
                    <a:pt x="111621" y="376349"/>
                  </a:cubicBezTo>
                  <a:cubicBezTo>
                    <a:pt x="111621" y="522201"/>
                    <a:pt x="230312" y="641077"/>
                    <a:pt x="376349" y="641077"/>
                  </a:cubicBezTo>
                  <a:lnTo>
                    <a:pt x="641077" y="641077"/>
                  </a:lnTo>
                  <a:lnTo>
                    <a:pt x="641077" y="376349"/>
                  </a:lnTo>
                  <a:cubicBezTo>
                    <a:pt x="640891" y="230312"/>
                    <a:pt x="522201" y="111621"/>
                    <a:pt x="376349" y="111621"/>
                  </a:cubicBezTo>
                  <a:close/>
                  <a:moveTo>
                    <a:pt x="1284201" y="752512"/>
                  </a:moveTo>
                  <a:lnTo>
                    <a:pt x="964592" y="752512"/>
                  </a:lnTo>
                  <a:cubicBezTo>
                    <a:pt x="933338" y="752512"/>
                    <a:pt x="908038" y="727025"/>
                    <a:pt x="908038" y="695958"/>
                  </a:cubicBezTo>
                  <a:lnTo>
                    <a:pt x="908038" y="376349"/>
                  </a:lnTo>
                  <a:cubicBezTo>
                    <a:pt x="908038" y="276262"/>
                    <a:pt x="947291" y="181756"/>
                    <a:pt x="1018543" y="110505"/>
                  </a:cubicBezTo>
                  <a:cubicBezTo>
                    <a:pt x="1089794" y="39253"/>
                    <a:pt x="1184114" y="0"/>
                    <a:pt x="1284387" y="0"/>
                  </a:cubicBezTo>
                  <a:cubicBezTo>
                    <a:pt x="1384660" y="0"/>
                    <a:pt x="1478980" y="39253"/>
                    <a:pt x="1550231" y="110505"/>
                  </a:cubicBezTo>
                  <a:cubicBezTo>
                    <a:pt x="1621482" y="181756"/>
                    <a:pt x="1660736" y="276076"/>
                    <a:pt x="1660736" y="376349"/>
                  </a:cubicBezTo>
                  <a:cubicBezTo>
                    <a:pt x="1660736" y="476622"/>
                    <a:pt x="1621482" y="570942"/>
                    <a:pt x="1550231" y="642193"/>
                  </a:cubicBezTo>
                  <a:cubicBezTo>
                    <a:pt x="1478794" y="713259"/>
                    <a:pt x="1384288" y="752512"/>
                    <a:pt x="1284201" y="752512"/>
                  </a:cubicBezTo>
                  <a:close/>
                  <a:moveTo>
                    <a:pt x="1019659" y="640891"/>
                  </a:moveTo>
                  <a:lnTo>
                    <a:pt x="1284387" y="640891"/>
                  </a:lnTo>
                  <a:cubicBezTo>
                    <a:pt x="1430238" y="640891"/>
                    <a:pt x="1549115" y="522201"/>
                    <a:pt x="1549115" y="376163"/>
                  </a:cubicBezTo>
                  <a:cubicBezTo>
                    <a:pt x="1549115" y="230312"/>
                    <a:pt x="1430424" y="111435"/>
                    <a:pt x="1284387" y="111435"/>
                  </a:cubicBezTo>
                  <a:cubicBezTo>
                    <a:pt x="1138349" y="111435"/>
                    <a:pt x="1019659" y="230125"/>
                    <a:pt x="1019659" y="376163"/>
                  </a:cubicBezTo>
                  <a:lnTo>
                    <a:pt x="1019659" y="640891"/>
                  </a:lnTo>
                  <a:close/>
                  <a:moveTo>
                    <a:pt x="376349" y="1607158"/>
                  </a:moveTo>
                  <a:cubicBezTo>
                    <a:pt x="276262" y="1607158"/>
                    <a:pt x="181756" y="1567904"/>
                    <a:pt x="110505" y="1496653"/>
                  </a:cubicBezTo>
                  <a:cubicBezTo>
                    <a:pt x="39253" y="1425401"/>
                    <a:pt x="0" y="1330896"/>
                    <a:pt x="0" y="1230809"/>
                  </a:cubicBezTo>
                  <a:cubicBezTo>
                    <a:pt x="0" y="1130722"/>
                    <a:pt x="39253" y="1036216"/>
                    <a:pt x="110505" y="964964"/>
                  </a:cubicBezTo>
                  <a:cubicBezTo>
                    <a:pt x="181756" y="893713"/>
                    <a:pt x="276076" y="854459"/>
                    <a:pt x="376349" y="854459"/>
                  </a:cubicBezTo>
                  <a:lnTo>
                    <a:pt x="695958" y="854459"/>
                  </a:lnTo>
                  <a:cubicBezTo>
                    <a:pt x="727211" y="854459"/>
                    <a:pt x="752512" y="879760"/>
                    <a:pt x="752512" y="911014"/>
                  </a:cubicBezTo>
                  <a:lnTo>
                    <a:pt x="752512" y="1230623"/>
                  </a:lnTo>
                  <a:cubicBezTo>
                    <a:pt x="752512" y="1330709"/>
                    <a:pt x="713259" y="1425215"/>
                    <a:pt x="642007" y="1496467"/>
                  </a:cubicBezTo>
                  <a:cubicBezTo>
                    <a:pt x="570756" y="1567718"/>
                    <a:pt x="476436" y="1607158"/>
                    <a:pt x="376349" y="1607158"/>
                  </a:cubicBezTo>
                  <a:close/>
                  <a:moveTo>
                    <a:pt x="376349" y="966267"/>
                  </a:moveTo>
                  <a:cubicBezTo>
                    <a:pt x="230312" y="966267"/>
                    <a:pt x="111621" y="1084957"/>
                    <a:pt x="111621" y="1230809"/>
                  </a:cubicBezTo>
                  <a:cubicBezTo>
                    <a:pt x="111621" y="1376660"/>
                    <a:pt x="230312" y="1495537"/>
                    <a:pt x="376349" y="1495537"/>
                  </a:cubicBezTo>
                  <a:cubicBezTo>
                    <a:pt x="522201" y="1495537"/>
                    <a:pt x="641077" y="1376846"/>
                    <a:pt x="641077" y="1230809"/>
                  </a:cubicBezTo>
                  <a:lnTo>
                    <a:pt x="641077" y="966267"/>
                  </a:lnTo>
                  <a:lnTo>
                    <a:pt x="376349" y="966267"/>
                  </a:lnTo>
                  <a:close/>
                  <a:moveTo>
                    <a:pt x="1284201" y="1607158"/>
                  </a:moveTo>
                  <a:cubicBezTo>
                    <a:pt x="1184114" y="1607158"/>
                    <a:pt x="1089608" y="1567904"/>
                    <a:pt x="1018357" y="1496653"/>
                  </a:cubicBezTo>
                  <a:cubicBezTo>
                    <a:pt x="947105" y="1425401"/>
                    <a:pt x="907852" y="1331082"/>
                    <a:pt x="907852" y="1230809"/>
                  </a:cubicBezTo>
                  <a:lnTo>
                    <a:pt x="907852" y="911200"/>
                  </a:lnTo>
                  <a:cubicBezTo>
                    <a:pt x="907852" y="879946"/>
                    <a:pt x="933152" y="854646"/>
                    <a:pt x="964406" y="854646"/>
                  </a:cubicBezTo>
                  <a:lnTo>
                    <a:pt x="1284015" y="854646"/>
                  </a:lnTo>
                  <a:cubicBezTo>
                    <a:pt x="1384102" y="854646"/>
                    <a:pt x="1478607" y="893899"/>
                    <a:pt x="1549859" y="965150"/>
                  </a:cubicBezTo>
                  <a:cubicBezTo>
                    <a:pt x="1621110" y="1036402"/>
                    <a:pt x="1660364" y="1130722"/>
                    <a:pt x="1660364" y="1230995"/>
                  </a:cubicBezTo>
                  <a:cubicBezTo>
                    <a:pt x="1660364" y="1331268"/>
                    <a:pt x="1621296" y="1425401"/>
                    <a:pt x="1550045" y="1496653"/>
                  </a:cubicBezTo>
                  <a:cubicBezTo>
                    <a:pt x="1478794" y="1567904"/>
                    <a:pt x="1384288" y="1607158"/>
                    <a:pt x="1284201" y="1607158"/>
                  </a:cubicBezTo>
                  <a:close/>
                  <a:moveTo>
                    <a:pt x="1019659" y="966267"/>
                  </a:moveTo>
                  <a:lnTo>
                    <a:pt x="1019659" y="1230995"/>
                  </a:lnTo>
                  <a:cubicBezTo>
                    <a:pt x="1019659" y="1376846"/>
                    <a:pt x="1138349" y="1495723"/>
                    <a:pt x="1284387" y="1495723"/>
                  </a:cubicBezTo>
                  <a:cubicBezTo>
                    <a:pt x="1430424" y="1495723"/>
                    <a:pt x="1549115" y="1377032"/>
                    <a:pt x="1549115" y="1230995"/>
                  </a:cubicBezTo>
                  <a:cubicBezTo>
                    <a:pt x="1549115" y="1084957"/>
                    <a:pt x="1430424" y="966267"/>
                    <a:pt x="1284387" y="966267"/>
                  </a:cubicBezTo>
                  <a:lnTo>
                    <a:pt x="1019659" y="96626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>
              <p:custDataLst>
                <p:tags r:id="rId9"/>
              </p:custDataLst>
            </p:nvPr>
          </p:nvSpPr>
          <p:spPr>
            <a:xfrm>
              <a:off x="8206462" y="3206405"/>
              <a:ext cx="913910" cy="913908"/>
            </a:xfrm>
            <a:prstGeom prst="arc">
              <a:avLst>
                <a:gd name="adj1" fmla="val 12085454"/>
                <a:gd name="adj2" fmla="val 16423906"/>
              </a:avLst>
            </a:prstGeom>
            <a:noFill/>
            <a:ln w="25400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5" name="标题 1"/>
          <p:cNvSpPr txBox="1"/>
          <p:nvPr>
            <p:custDataLst>
              <p:tags r:id="rId10"/>
            </p:custDataLst>
          </p:nvPr>
        </p:nvSpPr>
        <p:spPr>
          <a:xfrm>
            <a:off x="6552436" y="4299967"/>
            <a:ext cx="4221961" cy="15547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市场占有率提升：AI 芯颐养院凭借技术领先、服务优质、品牌优势，在本地市场具有较强竞争力，预计开业 3 年内市场占有率达 20%以上。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市场前景预测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07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7：行业分析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838325" y="-1107290"/>
            <a:ext cx="9350376" cy="9350372"/>
          </a:xfrm>
          <a:prstGeom prst="arc">
            <a:avLst>
              <a:gd name="adj1" fmla="val 18716968"/>
              <a:gd name="adj2" fmla="val 284618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1829582"/>
            <a:ext cx="6486182" cy="3490914"/>
          </a:xfrm>
          <a:custGeom>
            <a:avLst/>
            <a:gdLst>
              <a:gd name="connsiteX0" fmla="*/ 0 w 6486182"/>
              <a:gd name="connsiteY0" fmla="*/ 0 h 3490914"/>
              <a:gd name="connsiteX1" fmla="*/ 4740726 w 6486182"/>
              <a:gd name="connsiteY1" fmla="*/ 0 h 3490914"/>
              <a:gd name="connsiteX2" fmla="*/ 6486182 w 6486182"/>
              <a:gd name="connsiteY2" fmla="*/ 1745457 h 3490914"/>
              <a:gd name="connsiteX3" fmla="*/ 6486181 w 6486182"/>
              <a:gd name="connsiteY3" fmla="*/ 1745457 h 3490914"/>
              <a:gd name="connsiteX4" fmla="*/ 4740724 w 6486182"/>
              <a:gd name="connsiteY4" fmla="*/ 3490914 h 3490914"/>
              <a:gd name="connsiteX5" fmla="*/ 0 w 6486182"/>
              <a:gd name="connsiteY5" fmla="*/ 3490913 h 3490914"/>
            </a:gdLst>
            <a:ahLst/>
            <a:cxnLst/>
            <a:rect l="l" t="t" r="r" b="b"/>
            <a:pathLst>
              <a:path w="6486182" h="3490914">
                <a:moveTo>
                  <a:pt x="0" y="0"/>
                </a:moveTo>
                <a:lnTo>
                  <a:pt x="4740726" y="0"/>
                </a:lnTo>
                <a:cubicBezTo>
                  <a:pt x="5704714" y="0"/>
                  <a:pt x="6486182" y="781468"/>
                  <a:pt x="6486182" y="1745457"/>
                </a:cubicBezTo>
                <a:lnTo>
                  <a:pt x="6486181" y="1745457"/>
                </a:lnTo>
                <a:cubicBezTo>
                  <a:pt x="6486181" y="2709446"/>
                  <a:pt x="5704713" y="3490914"/>
                  <a:pt x="4740724" y="3490914"/>
                </a:cubicBezTo>
                <a:lnTo>
                  <a:pt x="0" y="349091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862976" y="1555308"/>
            <a:ext cx="744810" cy="851280"/>
          </a:xfrm>
          <a:custGeom>
            <a:avLst/>
            <a:gdLst>
              <a:gd name="T0" fmla="*/ 626 w 644"/>
              <a:gd name="T1" fmla="*/ 172 h 736"/>
              <a:gd name="T2" fmla="*/ 340 w 644"/>
              <a:gd name="T3" fmla="*/ 6 h 736"/>
              <a:gd name="T4" fmla="*/ 304 w 644"/>
              <a:gd name="T5" fmla="*/ 6 h 736"/>
              <a:gd name="T6" fmla="*/ 18 w 644"/>
              <a:gd name="T7" fmla="*/ 172 h 736"/>
              <a:gd name="T8" fmla="*/ 0 w 644"/>
              <a:gd name="T9" fmla="*/ 203 h 736"/>
              <a:gd name="T10" fmla="*/ 0 w 644"/>
              <a:gd name="T11" fmla="*/ 533 h 736"/>
              <a:gd name="T12" fmla="*/ 18 w 644"/>
              <a:gd name="T13" fmla="*/ 564 h 736"/>
              <a:gd name="T14" fmla="*/ 304 w 644"/>
              <a:gd name="T15" fmla="*/ 730 h 736"/>
              <a:gd name="T16" fmla="*/ 340 w 644"/>
              <a:gd name="T17" fmla="*/ 730 h 736"/>
              <a:gd name="T18" fmla="*/ 626 w 644"/>
              <a:gd name="T19" fmla="*/ 564 h 736"/>
              <a:gd name="T20" fmla="*/ 644 w 644"/>
              <a:gd name="T21" fmla="*/ 533 h 736"/>
              <a:gd name="T22" fmla="*/ 644 w 644"/>
              <a:gd name="T23" fmla="*/ 203 h 736"/>
              <a:gd name="T24" fmla="*/ 626 w 644"/>
              <a:gd name="T25" fmla="*/ 172 h 736"/>
            </a:gdLst>
            <a:ahLst/>
            <a:cxnLst/>
            <a:rect l="0" t="0" r="r" b="b"/>
            <a:pathLst>
              <a:path w="644" h="736">
                <a:moveTo>
                  <a:pt x="626" y="172"/>
                </a:moveTo>
                <a:cubicBezTo>
                  <a:pt x="340" y="6"/>
                  <a:pt x="340" y="6"/>
                  <a:pt x="340" y="6"/>
                </a:cubicBezTo>
                <a:cubicBezTo>
                  <a:pt x="329" y="0"/>
                  <a:pt x="315" y="0"/>
                  <a:pt x="304" y="6"/>
                </a:cubicBezTo>
                <a:cubicBezTo>
                  <a:pt x="18" y="172"/>
                  <a:pt x="18" y="172"/>
                  <a:pt x="18" y="172"/>
                </a:cubicBezTo>
                <a:cubicBezTo>
                  <a:pt x="7" y="178"/>
                  <a:pt x="0" y="190"/>
                  <a:pt x="0" y="203"/>
                </a:cubicBezTo>
                <a:cubicBezTo>
                  <a:pt x="0" y="533"/>
                  <a:pt x="0" y="533"/>
                  <a:pt x="0" y="533"/>
                </a:cubicBezTo>
                <a:cubicBezTo>
                  <a:pt x="0" y="546"/>
                  <a:pt x="7" y="558"/>
                  <a:pt x="18" y="564"/>
                </a:cubicBezTo>
                <a:cubicBezTo>
                  <a:pt x="304" y="730"/>
                  <a:pt x="304" y="730"/>
                  <a:pt x="304" y="730"/>
                </a:cubicBezTo>
                <a:cubicBezTo>
                  <a:pt x="315" y="736"/>
                  <a:pt x="329" y="736"/>
                  <a:pt x="340" y="730"/>
                </a:cubicBezTo>
                <a:cubicBezTo>
                  <a:pt x="626" y="564"/>
                  <a:pt x="626" y="564"/>
                  <a:pt x="626" y="564"/>
                </a:cubicBezTo>
                <a:cubicBezTo>
                  <a:pt x="637" y="558"/>
                  <a:pt x="644" y="546"/>
                  <a:pt x="644" y="533"/>
                </a:cubicBezTo>
                <a:cubicBezTo>
                  <a:pt x="644" y="203"/>
                  <a:pt x="644" y="203"/>
                  <a:pt x="644" y="203"/>
                </a:cubicBezTo>
                <a:cubicBezTo>
                  <a:pt x="644" y="190"/>
                  <a:pt x="637" y="178"/>
                  <a:pt x="626" y="172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lumMod val="98000"/>
                  <a:lumOff val="2000"/>
                </a:schemeClr>
              </a:gs>
            </a:gsLst>
            <a:lin ang="5400000" scaled="0"/>
          </a:gradFill>
          <a:ln cap="sq">
            <a:noFill/>
          </a:ln>
          <a:effectLst>
            <a:outerShdw blurRad="330200" dist="203200" dir="5400000" sx="90000" sy="90000" algn="t" rotWithShape="0">
              <a:schemeClr val="accent1">
                <a:lumMod val="50000"/>
                <a:alpha val="6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912116" y="1611472"/>
            <a:ext cx="646527" cy="738949"/>
          </a:xfrm>
          <a:custGeom>
            <a:avLst/>
            <a:gdLst>
              <a:gd name="T0" fmla="*/ 626 w 644"/>
              <a:gd name="T1" fmla="*/ 172 h 736"/>
              <a:gd name="T2" fmla="*/ 340 w 644"/>
              <a:gd name="T3" fmla="*/ 6 h 736"/>
              <a:gd name="T4" fmla="*/ 304 w 644"/>
              <a:gd name="T5" fmla="*/ 6 h 736"/>
              <a:gd name="T6" fmla="*/ 18 w 644"/>
              <a:gd name="T7" fmla="*/ 172 h 736"/>
              <a:gd name="T8" fmla="*/ 0 w 644"/>
              <a:gd name="T9" fmla="*/ 203 h 736"/>
              <a:gd name="T10" fmla="*/ 0 w 644"/>
              <a:gd name="T11" fmla="*/ 533 h 736"/>
              <a:gd name="T12" fmla="*/ 18 w 644"/>
              <a:gd name="T13" fmla="*/ 564 h 736"/>
              <a:gd name="T14" fmla="*/ 304 w 644"/>
              <a:gd name="T15" fmla="*/ 730 h 736"/>
              <a:gd name="T16" fmla="*/ 340 w 644"/>
              <a:gd name="T17" fmla="*/ 730 h 736"/>
              <a:gd name="T18" fmla="*/ 626 w 644"/>
              <a:gd name="T19" fmla="*/ 564 h 736"/>
              <a:gd name="T20" fmla="*/ 644 w 644"/>
              <a:gd name="T21" fmla="*/ 533 h 736"/>
              <a:gd name="T22" fmla="*/ 644 w 644"/>
              <a:gd name="T23" fmla="*/ 203 h 736"/>
              <a:gd name="T24" fmla="*/ 626 w 644"/>
              <a:gd name="T25" fmla="*/ 172 h 736"/>
            </a:gdLst>
            <a:ahLst/>
            <a:cxnLst/>
            <a:rect l="0" t="0" r="r" b="b"/>
            <a:pathLst>
              <a:path w="644" h="736">
                <a:moveTo>
                  <a:pt x="626" y="172"/>
                </a:moveTo>
                <a:cubicBezTo>
                  <a:pt x="340" y="6"/>
                  <a:pt x="340" y="6"/>
                  <a:pt x="340" y="6"/>
                </a:cubicBezTo>
                <a:cubicBezTo>
                  <a:pt x="329" y="0"/>
                  <a:pt x="315" y="0"/>
                  <a:pt x="304" y="6"/>
                </a:cubicBezTo>
                <a:cubicBezTo>
                  <a:pt x="18" y="172"/>
                  <a:pt x="18" y="172"/>
                  <a:pt x="18" y="172"/>
                </a:cubicBezTo>
                <a:cubicBezTo>
                  <a:pt x="7" y="178"/>
                  <a:pt x="0" y="190"/>
                  <a:pt x="0" y="203"/>
                </a:cubicBezTo>
                <a:cubicBezTo>
                  <a:pt x="0" y="533"/>
                  <a:pt x="0" y="533"/>
                  <a:pt x="0" y="533"/>
                </a:cubicBezTo>
                <a:cubicBezTo>
                  <a:pt x="0" y="546"/>
                  <a:pt x="7" y="558"/>
                  <a:pt x="18" y="564"/>
                </a:cubicBezTo>
                <a:cubicBezTo>
                  <a:pt x="304" y="730"/>
                  <a:pt x="304" y="730"/>
                  <a:pt x="304" y="730"/>
                </a:cubicBezTo>
                <a:cubicBezTo>
                  <a:pt x="315" y="736"/>
                  <a:pt x="329" y="736"/>
                  <a:pt x="340" y="730"/>
                </a:cubicBezTo>
                <a:cubicBezTo>
                  <a:pt x="626" y="564"/>
                  <a:pt x="626" y="564"/>
                  <a:pt x="626" y="564"/>
                </a:cubicBezTo>
                <a:cubicBezTo>
                  <a:pt x="637" y="558"/>
                  <a:pt x="644" y="546"/>
                  <a:pt x="644" y="533"/>
                </a:cubicBezTo>
                <a:cubicBezTo>
                  <a:pt x="644" y="203"/>
                  <a:pt x="644" y="203"/>
                  <a:pt x="644" y="203"/>
                </a:cubicBezTo>
                <a:cubicBezTo>
                  <a:pt x="644" y="190"/>
                  <a:pt x="637" y="178"/>
                  <a:pt x="626" y="17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2700000" scaled="0"/>
          </a:gra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746416" y="1563628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0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国家养老政策导向：国家出台多项政策鼓励社会力量参与养老服务，推动养老服务智能化发展，给予税收优惠、财政补贴等扶持政策。</a:t>
            </a:r>
            <a:endParaRPr kumimoji="1"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239462" y="3155046"/>
            <a:ext cx="744810" cy="851280"/>
            <a:chOff x="7239462" y="3155046"/>
            <a:chExt cx="744810" cy="851280"/>
          </a:xfrm>
        </p:grpSpPr>
        <p:sp>
          <p:nvSpPr>
            <p:cNvPr id="11" name="标题 1"/>
            <p:cNvSpPr txBox="1"/>
            <p:nvPr/>
          </p:nvSpPr>
          <p:spPr>
            <a:xfrm>
              <a:off x="7239462" y="3155046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blurRad="330200" dist="203200" dir="5400000" sx="90000" sy="90000" algn="t" rotWithShape="0">
                <a:schemeClr val="accent2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>
              <a:off x="7288601" y="3211214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3" name="标题 1"/>
            <p:cNvSpPr txBox="1"/>
            <p:nvPr/>
          </p:nvSpPr>
          <p:spPr>
            <a:xfrm>
              <a:off x="7477315" y="3446825"/>
              <a:ext cx="269101" cy="248936"/>
            </a:xfrm>
            <a:custGeom>
              <a:avLst/>
              <a:gdLst>
                <a:gd name="connsiteX0" fmla="*/ 2136435 w 5834559"/>
                <a:gd name="connsiteY0" fmla="*/ 643126 h 5397372"/>
                <a:gd name="connsiteX1" fmla="*/ 3716657 w 5834559"/>
                <a:gd name="connsiteY1" fmla="*/ 643126 h 5397372"/>
                <a:gd name="connsiteX2" fmla="*/ 3716657 w 5834559"/>
                <a:gd name="connsiteY2" fmla="*/ 1064855 h 5397372"/>
                <a:gd name="connsiteX3" fmla="*/ 2136435 w 5834559"/>
                <a:gd name="connsiteY3" fmla="*/ 1064855 h 5397372"/>
                <a:gd name="connsiteX4" fmla="*/ 693741 w 5834559"/>
                <a:gd name="connsiteY4" fmla="*/ 643126 h 5397372"/>
                <a:gd name="connsiteX5" fmla="*/ 1550121 w 5834559"/>
                <a:gd name="connsiteY5" fmla="*/ 643126 h 5397372"/>
                <a:gd name="connsiteX6" fmla="*/ 1550121 w 5834559"/>
                <a:gd name="connsiteY6" fmla="*/ 1064855 h 5397372"/>
                <a:gd name="connsiteX7" fmla="*/ 693741 w 5834559"/>
                <a:gd name="connsiteY7" fmla="*/ 1064855 h 5397372"/>
                <a:gd name="connsiteX8" fmla="*/ 421729 w 5834559"/>
                <a:gd name="connsiteY8" fmla="*/ 1336867 h 5397372"/>
                <a:gd name="connsiteX9" fmla="*/ 421729 w 5834559"/>
                <a:gd name="connsiteY9" fmla="*/ 2079805 h 5397372"/>
                <a:gd name="connsiteX10" fmla="*/ 5412133 w 5834559"/>
                <a:gd name="connsiteY10" fmla="*/ 2079805 h 5397372"/>
                <a:gd name="connsiteX11" fmla="*/ 5412133 w 5834559"/>
                <a:gd name="connsiteY11" fmla="*/ 1336867 h 5397372"/>
                <a:gd name="connsiteX12" fmla="*/ 5140113 w 5834559"/>
                <a:gd name="connsiteY12" fmla="*/ 1064855 h 5397372"/>
                <a:gd name="connsiteX13" fmla="*/ 4302971 w 5834559"/>
                <a:gd name="connsiteY13" fmla="*/ 1064855 h 5397372"/>
                <a:gd name="connsiteX14" fmla="*/ 4302971 w 5834559"/>
                <a:gd name="connsiteY14" fmla="*/ 643126 h 5397372"/>
                <a:gd name="connsiteX15" fmla="*/ 5140113 w 5834559"/>
                <a:gd name="connsiteY15" fmla="*/ 643126 h 5397372"/>
                <a:gd name="connsiteX16" fmla="*/ 5834559 w 5834559"/>
                <a:gd name="connsiteY16" fmla="*/ 1336867 h 5397372"/>
                <a:gd name="connsiteX17" fmla="*/ 5834559 w 5834559"/>
                <a:gd name="connsiteY17" fmla="*/ 4703631 h 5397372"/>
                <a:gd name="connsiteX18" fmla="*/ 5140818 w 5834559"/>
                <a:gd name="connsiteY18" fmla="*/ 5397372 h 5397372"/>
                <a:gd name="connsiteX19" fmla="*/ 693741 w 5834559"/>
                <a:gd name="connsiteY19" fmla="*/ 5397372 h 5397372"/>
                <a:gd name="connsiteX20" fmla="*/ 0 w 5834559"/>
                <a:gd name="connsiteY20" fmla="*/ 4703631 h 5397372"/>
                <a:gd name="connsiteX21" fmla="*/ 0 w 5834559"/>
                <a:gd name="connsiteY21" fmla="*/ 2501529 h 5397372"/>
                <a:gd name="connsiteX22" fmla="*/ 0 w 5834559"/>
                <a:gd name="connsiteY22" fmla="*/ 2079805 h 5397372"/>
                <a:gd name="connsiteX23" fmla="*/ 0 w 5834559"/>
                <a:gd name="connsiteY23" fmla="*/ 1336867 h 5397372"/>
                <a:gd name="connsiteX24" fmla="*/ 693741 w 5834559"/>
                <a:gd name="connsiteY24" fmla="*/ 643126 h 5397372"/>
                <a:gd name="connsiteX25" fmla="*/ 3997242 w 5834559"/>
                <a:gd name="connsiteY25" fmla="*/ 0 h 5397372"/>
                <a:gd name="connsiteX26" fmla="*/ 4208106 w 5834559"/>
                <a:gd name="connsiteY26" fmla="*/ 210864 h 5397372"/>
                <a:gd name="connsiteX27" fmla="*/ 4208106 w 5834559"/>
                <a:gd name="connsiteY27" fmla="*/ 1506961 h 5397372"/>
                <a:gd name="connsiteX28" fmla="*/ 3997242 w 5834559"/>
                <a:gd name="connsiteY28" fmla="*/ 1718528 h 5397372"/>
                <a:gd name="connsiteX29" fmla="*/ 3786378 w 5834559"/>
                <a:gd name="connsiteY29" fmla="*/ 1507664 h 5397372"/>
                <a:gd name="connsiteX30" fmla="*/ 3786378 w 5834559"/>
                <a:gd name="connsiteY30" fmla="*/ 210864 h 5397372"/>
                <a:gd name="connsiteX31" fmla="*/ 3997242 w 5834559"/>
                <a:gd name="connsiteY31" fmla="*/ 0 h 5397372"/>
                <a:gd name="connsiteX32" fmla="*/ 1836609 w 5834559"/>
                <a:gd name="connsiteY32" fmla="*/ 0 h 5397372"/>
                <a:gd name="connsiteX33" fmla="*/ 2047469 w 5834559"/>
                <a:gd name="connsiteY33" fmla="*/ 210864 h 5397372"/>
                <a:gd name="connsiteX34" fmla="*/ 2047469 w 5834559"/>
                <a:gd name="connsiteY34" fmla="*/ 1506961 h 5397372"/>
                <a:gd name="connsiteX35" fmla="*/ 1836609 w 5834559"/>
                <a:gd name="connsiteY35" fmla="*/ 1718528 h 5397372"/>
                <a:gd name="connsiteX36" fmla="*/ 1625745 w 5834559"/>
                <a:gd name="connsiteY36" fmla="*/ 1507664 h 5397372"/>
                <a:gd name="connsiteX37" fmla="*/ 1625745 w 5834559"/>
                <a:gd name="connsiteY37" fmla="*/ 210864 h 5397372"/>
                <a:gd name="connsiteX38" fmla="*/ 1836609 w 5834559"/>
                <a:gd name="connsiteY38" fmla="*/ 0 h 5397372"/>
              </a:gdLst>
              <a:ahLst/>
              <a:cxnLst/>
              <a:rect l="l" t="t" r="r" b="b"/>
              <a:pathLst>
                <a:path w="5834559" h="5397372">
                  <a:moveTo>
                    <a:pt x="2136435" y="643126"/>
                  </a:moveTo>
                  <a:lnTo>
                    <a:pt x="3716657" y="643126"/>
                  </a:lnTo>
                  <a:lnTo>
                    <a:pt x="3716657" y="1064855"/>
                  </a:lnTo>
                  <a:lnTo>
                    <a:pt x="2136435" y="1064855"/>
                  </a:lnTo>
                  <a:close/>
                  <a:moveTo>
                    <a:pt x="693741" y="643126"/>
                  </a:moveTo>
                  <a:lnTo>
                    <a:pt x="1550121" y="643126"/>
                  </a:lnTo>
                  <a:lnTo>
                    <a:pt x="1550121" y="1064855"/>
                  </a:lnTo>
                  <a:lnTo>
                    <a:pt x="693741" y="1064855"/>
                  </a:lnTo>
                  <a:cubicBezTo>
                    <a:pt x="543320" y="1064855"/>
                    <a:pt x="421729" y="1187151"/>
                    <a:pt x="421729" y="1336867"/>
                  </a:cubicBezTo>
                  <a:lnTo>
                    <a:pt x="421729" y="2079805"/>
                  </a:lnTo>
                  <a:lnTo>
                    <a:pt x="5412133" y="2079805"/>
                  </a:lnTo>
                  <a:lnTo>
                    <a:pt x="5412133" y="1336867"/>
                  </a:lnTo>
                  <a:cubicBezTo>
                    <a:pt x="5412133" y="1186446"/>
                    <a:pt x="5289830" y="1064855"/>
                    <a:pt x="5140113" y="1064855"/>
                  </a:cubicBezTo>
                  <a:lnTo>
                    <a:pt x="4302971" y="1064855"/>
                  </a:lnTo>
                  <a:lnTo>
                    <a:pt x="4302971" y="643126"/>
                  </a:lnTo>
                  <a:lnTo>
                    <a:pt x="5140113" y="643126"/>
                  </a:lnTo>
                  <a:cubicBezTo>
                    <a:pt x="5523184" y="643126"/>
                    <a:pt x="5833854" y="953797"/>
                    <a:pt x="5834559" y="1336867"/>
                  </a:cubicBezTo>
                  <a:lnTo>
                    <a:pt x="5834559" y="4703631"/>
                  </a:lnTo>
                  <a:cubicBezTo>
                    <a:pt x="5834559" y="5085292"/>
                    <a:pt x="5522479" y="5397372"/>
                    <a:pt x="5140818" y="5397372"/>
                  </a:cubicBezTo>
                  <a:lnTo>
                    <a:pt x="693741" y="5397372"/>
                  </a:lnTo>
                  <a:cubicBezTo>
                    <a:pt x="312080" y="5397372"/>
                    <a:pt x="0" y="5085292"/>
                    <a:pt x="0" y="4703631"/>
                  </a:cubicBezTo>
                  <a:lnTo>
                    <a:pt x="0" y="2501529"/>
                  </a:lnTo>
                  <a:lnTo>
                    <a:pt x="0" y="2079805"/>
                  </a:lnTo>
                  <a:lnTo>
                    <a:pt x="0" y="1336867"/>
                  </a:lnTo>
                  <a:cubicBezTo>
                    <a:pt x="0" y="953797"/>
                    <a:pt x="310671" y="643126"/>
                    <a:pt x="693741" y="643126"/>
                  </a:cubicBezTo>
                  <a:close/>
                  <a:moveTo>
                    <a:pt x="3997242" y="0"/>
                  </a:moveTo>
                  <a:cubicBezTo>
                    <a:pt x="4113920" y="0"/>
                    <a:pt x="4208106" y="94186"/>
                    <a:pt x="4208106" y="210864"/>
                  </a:cubicBezTo>
                  <a:lnTo>
                    <a:pt x="4208106" y="1506961"/>
                  </a:lnTo>
                  <a:cubicBezTo>
                    <a:pt x="4208106" y="1623639"/>
                    <a:pt x="4113920" y="1718528"/>
                    <a:pt x="3997242" y="1718528"/>
                  </a:cubicBezTo>
                  <a:cubicBezTo>
                    <a:pt x="3880564" y="1718528"/>
                    <a:pt x="3786378" y="1624342"/>
                    <a:pt x="3786378" y="1507664"/>
                  </a:cubicBezTo>
                  <a:lnTo>
                    <a:pt x="3786378" y="210864"/>
                  </a:lnTo>
                  <a:cubicBezTo>
                    <a:pt x="3786378" y="94186"/>
                    <a:pt x="3880564" y="0"/>
                    <a:pt x="3997242" y="0"/>
                  </a:cubicBezTo>
                  <a:close/>
                  <a:moveTo>
                    <a:pt x="1836609" y="0"/>
                  </a:moveTo>
                  <a:cubicBezTo>
                    <a:pt x="1953287" y="0"/>
                    <a:pt x="2047469" y="94186"/>
                    <a:pt x="2047469" y="210864"/>
                  </a:cubicBezTo>
                  <a:lnTo>
                    <a:pt x="2047469" y="1506961"/>
                  </a:lnTo>
                  <a:cubicBezTo>
                    <a:pt x="2047469" y="1623639"/>
                    <a:pt x="1953287" y="1718528"/>
                    <a:pt x="1836609" y="1718528"/>
                  </a:cubicBezTo>
                  <a:cubicBezTo>
                    <a:pt x="1719932" y="1718528"/>
                    <a:pt x="1625745" y="1624342"/>
                    <a:pt x="1625745" y="1507664"/>
                  </a:cubicBezTo>
                  <a:lnTo>
                    <a:pt x="1625745" y="210864"/>
                  </a:lnTo>
                  <a:cubicBezTo>
                    <a:pt x="1625745" y="94186"/>
                    <a:pt x="1719932" y="0"/>
                    <a:pt x="18366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4" name="标题 1"/>
          <p:cNvSpPr txBox="1"/>
          <p:nvPr/>
        </p:nvSpPr>
        <p:spPr>
          <a:xfrm>
            <a:off x="8122902" y="3153285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0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人口老龄化趋势：我国 60 岁及以上人口占比超 18%，且呈上升趋势，养老需求持续增长，为智能养老服务提供广阔市场空间。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-1311274" y="-580238"/>
            <a:ext cx="8296274" cy="8296270"/>
          </a:xfrm>
          <a:prstGeom prst="arc">
            <a:avLst>
              <a:gd name="adj1" fmla="val 19465670"/>
              <a:gd name="adj2" fmla="val 221115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0400" y="3133861"/>
            <a:ext cx="5087257" cy="88235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爱设计是一家智能创意科技公司，
国内领先的内容创意全链路服务公司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7746416" y="4742942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0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经济发展：经济发展带动居民收入水平提高，老年人消费观念转变，对养老生活品质要求提升，愿意为高端、智能养老服务支付更高费用。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862976" y="4734622"/>
            <a:ext cx="744810" cy="851280"/>
          </a:xfrm>
          <a:custGeom>
            <a:avLst/>
            <a:gdLst>
              <a:gd name="T0" fmla="*/ 626 w 644"/>
              <a:gd name="T1" fmla="*/ 172 h 736"/>
              <a:gd name="T2" fmla="*/ 340 w 644"/>
              <a:gd name="T3" fmla="*/ 6 h 736"/>
              <a:gd name="T4" fmla="*/ 304 w 644"/>
              <a:gd name="T5" fmla="*/ 6 h 736"/>
              <a:gd name="T6" fmla="*/ 18 w 644"/>
              <a:gd name="T7" fmla="*/ 172 h 736"/>
              <a:gd name="T8" fmla="*/ 0 w 644"/>
              <a:gd name="T9" fmla="*/ 203 h 736"/>
              <a:gd name="T10" fmla="*/ 0 w 644"/>
              <a:gd name="T11" fmla="*/ 533 h 736"/>
              <a:gd name="T12" fmla="*/ 18 w 644"/>
              <a:gd name="T13" fmla="*/ 564 h 736"/>
              <a:gd name="T14" fmla="*/ 304 w 644"/>
              <a:gd name="T15" fmla="*/ 730 h 736"/>
              <a:gd name="T16" fmla="*/ 340 w 644"/>
              <a:gd name="T17" fmla="*/ 730 h 736"/>
              <a:gd name="T18" fmla="*/ 626 w 644"/>
              <a:gd name="T19" fmla="*/ 564 h 736"/>
              <a:gd name="T20" fmla="*/ 644 w 644"/>
              <a:gd name="T21" fmla="*/ 533 h 736"/>
              <a:gd name="T22" fmla="*/ 644 w 644"/>
              <a:gd name="T23" fmla="*/ 203 h 736"/>
              <a:gd name="T24" fmla="*/ 626 w 644"/>
              <a:gd name="T25" fmla="*/ 172 h 736"/>
            </a:gdLst>
            <a:ahLst/>
            <a:cxnLst/>
            <a:rect l="0" t="0" r="r" b="b"/>
            <a:pathLst>
              <a:path w="644" h="736">
                <a:moveTo>
                  <a:pt x="626" y="172"/>
                </a:moveTo>
                <a:cubicBezTo>
                  <a:pt x="340" y="6"/>
                  <a:pt x="340" y="6"/>
                  <a:pt x="340" y="6"/>
                </a:cubicBezTo>
                <a:cubicBezTo>
                  <a:pt x="329" y="0"/>
                  <a:pt x="315" y="0"/>
                  <a:pt x="304" y="6"/>
                </a:cubicBezTo>
                <a:cubicBezTo>
                  <a:pt x="18" y="172"/>
                  <a:pt x="18" y="172"/>
                  <a:pt x="18" y="172"/>
                </a:cubicBezTo>
                <a:cubicBezTo>
                  <a:pt x="7" y="178"/>
                  <a:pt x="0" y="190"/>
                  <a:pt x="0" y="203"/>
                </a:cubicBezTo>
                <a:cubicBezTo>
                  <a:pt x="0" y="533"/>
                  <a:pt x="0" y="533"/>
                  <a:pt x="0" y="533"/>
                </a:cubicBezTo>
                <a:cubicBezTo>
                  <a:pt x="0" y="546"/>
                  <a:pt x="7" y="558"/>
                  <a:pt x="18" y="564"/>
                </a:cubicBezTo>
                <a:cubicBezTo>
                  <a:pt x="304" y="730"/>
                  <a:pt x="304" y="730"/>
                  <a:pt x="304" y="730"/>
                </a:cubicBezTo>
                <a:cubicBezTo>
                  <a:pt x="315" y="736"/>
                  <a:pt x="329" y="736"/>
                  <a:pt x="340" y="730"/>
                </a:cubicBezTo>
                <a:cubicBezTo>
                  <a:pt x="626" y="564"/>
                  <a:pt x="626" y="564"/>
                  <a:pt x="626" y="564"/>
                </a:cubicBezTo>
                <a:cubicBezTo>
                  <a:pt x="637" y="558"/>
                  <a:pt x="644" y="546"/>
                  <a:pt x="644" y="533"/>
                </a:cubicBezTo>
                <a:cubicBezTo>
                  <a:pt x="644" y="203"/>
                  <a:pt x="644" y="203"/>
                  <a:pt x="644" y="203"/>
                </a:cubicBezTo>
                <a:cubicBezTo>
                  <a:pt x="644" y="190"/>
                  <a:pt x="637" y="178"/>
                  <a:pt x="626" y="172"/>
                </a:cubicBezTo>
                <a:close/>
              </a:path>
            </a:pathLst>
          </a:custGeom>
          <a:gradFill>
            <a:gsLst>
              <a:gs pos="0">
                <a:schemeClr val="accent3">
                  <a:alpha val="2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 cap="sq">
            <a:noFill/>
          </a:ln>
          <a:effectLst>
            <a:outerShdw blurRad="330200" dist="203200" dir="5400000" sx="90000" sy="90000" algn="t" rotWithShape="0">
              <a:schemeClr val="accent3">
                <a:lumMod val="50000"/>
                <a:alpha val="6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912116" y="4790786"/>
            <a:ext cx="646527" cy="738949"/>
          </a:xfrm>
          <a:custGeom>
            <a:avLst/>
            <a:gdLst>
              <a:gd name="T0" fmla="*/ 626 w 644"/>
              <a:gd name="T1" fmla="*/ 172 h 736"/>
              <a:gd name="T2" fmla="*/ 340 w 644"/>
              <a:gd name="T3" fmla="*/ 6 h 736"/>
              <a:gd name="T4" fmla="*/ 304 w 644"/>
              <a:gd name="T5" fmla="*/ 6 h 736"/>
              <a:gd name="T6" fmla="*/ 18 w 644"/>
              <a:gd name="T7" fmla="*/ 172 h 736"/>
              <a:gd name="T8" fmla="*/ 0 w 644"/>
              <a:gd name="T9" fmla="*/ 203 h 736"/>
              <a:gd name="T10" fmla="*/ 0 w 644"/>
              <a:gd name="T11" fmla="*/ 533 h 736"/>
              <a:gd name="T12" fmla="*/ 18 w 644"/>
              <a:gd name="T13" fmla="*/ 564 h 736"/>
              <a:gd name="T14" fmla="*/ 304 w 644"/>
              <a:gd name="T15" fmla="*/ 730 h 736"/>
              <a:gd name="T16" fmla="*/ 340 w 644"/>
              <a:gd name="T17" fmla="*/ 730 h 736"/>
              <a:gd name="T18" fmla="*/ 626 w 644"/>
              <a:gd name="T19" fmla="*/ 564 h 736"/>
              <a:gd name="T20" fmla="*/ 644 w 644"/>
              <a:gd name="T21" fmla="*/ 533 h 736"/>
              <a:gd name="T22" fmla="*/ 644 w 644"/>
              <a:gd name="T23" fmla="*/ 203 h 736"/>
              <a:gd name="T24" fmla="*/ 626 w 644"/>
              <a:gd name="T25" fmla="*/ 172 h 736"/>
            </a:gdLst>
            <a:ahLst/>
            <a:cxnLst/>
            <a:rect l="0" t="0" r="r" b="b"/>
            <a:pathLst>
              <a:path w="644" h="736">
                <a:moveTo>
                  <a:pt x="626" y="172"/>
                </a:moveTo>
                <a:cubicBezTo>
                  <a:pt x="340" y="6"/>
                  <a:pt x="340" y="6"/>
                  <a:pt x="340" y="6"/>
                </a:cubicBezTo>
                <a:cubicBezTo>
                  <a:pt x="329" y="0"/>
                  <a:pt x="315" y="0"/>
                  <a:pt x="304" y="6"/>
                </a:cubicBezTo>
                <a:cubicBezTo>
                  <a:pt x="18" y="172"/>
                  <a:pt x="18" y="172"/>
                  <a:pt x="18" y="172"/>
                </a:cubicBezTo>
                <a:cubicBezTo>
                  <a:pt x="7" y="178"/>
                  <a:pt x="0" y="190"/>
                  <a:pt x="0" y="203"/>
                </a:cubicBezTo>
                <a:cubicBezTo>
                  <a:pt x="0" y="533"/>
                  <a:pt x="0" y="533"/>
                  <a:pt x="0" y="533"/>
                </a:cubicBezTo>
                <a:cubicBezTo>
                  <a:pt x="0" y="546"/>
                  <a:pt x="7" y="558"/>
                  <a:pt x="18" y="564"/>
                </a:cubicBezTo>
                <a:cubicBezTo>
                  <a:pt x="304" y="730"/>
                  <a:pt x="304" y="730"/>
                  <a:pt x="304" y="730"/>
                </a:cubicBezTo>
                <a:cubicBezTo>
                  <a:pt x="315" y="736"/>
                  <a:pt x="329" y="736"/>
                  <a:pt x="340" y="730"/>
                </a:cubicBezTo>
                <a:cubicBezTo>
                  <a:pt x="626" y="564"/>
                  <a:pt x="626" y="564"/>
                  <a:pt x="626" y="564"/>
                </a:cubicBezTo>
                <a:cubicBezTo>
                  <a:pt x="637" y="558"/>
                  <a:pt x="644" y="546"/>
                  <a:pt x="644" y="533"/>
                </a:cubicBezTo>
                <a:cubicBezTo>
                  <a:pt x="644" y="203"/>
                  <a:pt x="644" y="203"/>
                  <a:pt x="644" y="203"/>
                </a:cubicBezTo>
                <a:cubicBezTo>
                  <a:pt x="644" y="190"/>
                  <a:pt x="637" y="178"/>
                  <a:pt x="626" y="172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80000"/>
                  <a:lumOff val="20000"/>
                </a:schemeClr>
              </a:gs>
            </a:gsLst>
            <a:lin ang="2700000" scaled="0"/>
          </a:gra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100831" y="1854132"/>
            <a:ext cx="269101" cy="253633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7105984" y="5025710"/>
            <a:ext cx="258791" cy="269101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宏观层面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239594" y="2497007"/>
            <a:ext cx="3020456" cy="312674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19250" y="2497007"/>
            <a:ext cx="3020456" cy="312674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79423" y="2497007"/>
            <a:ext cx="3020456" cy="312674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239594" y="2497007"/>
            <a:ext cx="3020456" cy="403860"/>
          </a:xfrm>
          <a:prstGeom prst="rect">
            <a:avLst/>
          </a:prstGeom>
          <a:solidFill>
            <a:schemeClr val="accent1"/>
          </a:solidFill>
          <a:ln w="3175" cap="sq">
            <a:solidFill>
              <a:schemeClr val="accent1"/>
            </a:solidFill>
            <a:miter/>
          </a:ln>
          <a:effectLst/>
        </p:spPr>
        <p:txBody>
          <a:bodyPr vert="horz" wrap="square" lIns="180000" tIns="1728000" rIns="180000" bIns="4572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19250" y="2497007"/>
            <a:ext cx="3020456" cy="403860"/>
          </a:xfrm>
          <a:prstGeom prst="rect">
            <a:avLst/>
          </a:prstGeom>
          <a:solidFill>
            <a:schemeClr val="accent1"/>
          </a:solidFill>
          <a:ln w="3175" cap="sq">
            <a:solidFill>
              <a:schemeClr val="accent1"/>
            </a:solidFill>
            <a:miter/>
          </a:ln>
          <a:effectLst/>
        </p:spPr>
        <p:txBody>
          <a:bodyPr vert="horz" wrap="square" lIns="180000" tIns="1728000" rIns="180000" bIns="4572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79423" y="2497007"/>
            <a:ext cx="3020456" cy="403860"/>
          </a:xfrm>
          <a:prstGeom prst="rect">
            <a:avLst/>
          </a:prstGeom>
          <a:solidFill>
            <a:schemeClr val="accent1"/>
          </a:solidFill>
          <a:ln w="3175" cap="sq">
            <a:solidFill>
              <a:schemeClr val="accent1"/>
            </a:solidFill>
            <a:miter/>
          </a:ln>
          <a:effectLst/>
        </p:spPr>
        <p:txBody>
          <a:bodyPr vert="horz" wrap="square" lIns="180000" tIns="1728000" rIns="180000" bIns="4572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55675" y="1311708"/>
            <a:ext cx="10267950" cy="91771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一款多端在线拖拽式作图/视频工具，同时具备创意资产云端存储，管理和多终端分发的功能
平台接入了战略投资方A股上市公司「视觉中国」亿级图片模版素材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329576" y="3286130"/>
            <a:ext cx="840492" cy="8404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211898" y="3168451"/>
            <a:ext cx="1075848" cy="1075846"/>
          </a:xfrm>
          <a:prstGeom prst="ellipse">
            <a:avLst/>
          </a:prstGeom>
          <a:noFill/>
          <a:ln w="9525" cap="rnd">
            <a:solidFill>
              <a:schemeClr val="bg1">
                <a:lumMod val="75000"/>
              </a:schemeClr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560337" y="3523004"/>
            <a:ext cx="378970" cy="366742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349713" y="4481171"/>
            <a:ext cx="2800218" cy="87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行业竞争格局：养老服务市场竞争激烈，传统养老机构占据一定市场份额，但随着智能养老服务兴起，市场竞争格局发生变化。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009232" y="3286130"/>
            <a:ext cx="840492" cy="8404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891554" y="3168451"/>
            <a:ext cx="1075848" cy="1075846"/>
          </a:xfrm>
          <a:prstGeom prst="ellipse">
            <a:avLst/>
          </a:prstGeom>
          <a:noFill/>
          <a:ln w="9525" cap="rnd">
            <a:solidFill>
              <a:schemeClr val="bg1">
                <a:lumMod val="75000"/>
              </a:schemeClr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2239993" y="3527782"/>
            <a:ext cx="378970" cy="357186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29369" y="4481171"/>
            <a:ext cx="2800218" cy="87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养老行业整体发展态势：养老服务行业呈现多元化发展趋势，涵盖生活照料、医疗护理、康复保健、文化娱乐等多种服务类型，市场竞争日益激烈。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5669405" y="3286130"/>
            <a:ext cx="840492" cy="8404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5551727" y="3168451"/>
            <a:ext cx="1075848" cy="1075846"/>
          </a:xfrm>
          <a:prstGeom prst="ellipse">
            <a:avLst/>
          </a:prstGeom>
          <a:noFill/>
          <a:ln w="9525" cap="rnd">
            <a:solidFill>
              <a:schemeClr val="bg1">
                <a:lumMod val="75000"/>
              </a:schemeClr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5914726" y="3506267"/>
            <a:ext cx="349850" cy="37897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689542" y="4481171"/>
            <a:ext cx="2800218" cy="87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行业规范与标准：目前养老服务行业规范和标准不断完善，但仍存在一些问题，如服务质量参差不齐、行业自律不足等。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中观层面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0" y="2117774"/>
            <a:ext cx="10816976" cy="4016326"/>
          </a:xfrm>
          <a:custGeom>
            <a:avLst/>
            <a:gdLst>
              <a:gd name="connsiteX0" fmla="*/ 0 w 10816976"/>
              <a:gd name="connsiteY0" fmla="*/ 3260407 h 5555534"/>
              <a:gd name="connsiteX1" fmla="*/ 0 w 10816976"/>
              <a:gd name="connsiteY1" fmla="*/ 5555535 h 5555534"/>
              <a:gd name="connsiteX2" fmla="*/ 10816976 w 10816976"/>
              <a:gd name="connsiteY2" fmla="*/ 5555535 h 5555534"/>
              <a:gd name="connsiteX3" fmla="*/ 10816976 w 10816976"/>
              <a:gd name="connsiteY3" fmla="*/ 0 h 5555534"/>
              <a:gd name="connsiteX4" fmla="*/ 0 w 10816976"/>
              <a:gd name="connsiteY4" fmla="*/ 3260407 h 5555534"/>
            </a:gdLst>
            <a:ahLst/>
            <a:cxnLst/>
            <a:rect l="l" t="t" r="r" b="b"/>
            <a:pathLst>
              <a:path w="10816976" h="5555534">
                <a:moveTo>
                  <a:pt x="0" y="3260407"/>
                </a:moveTo>
                <a:lnTo>
                  <a:pt x="0" y="5555535"/>
                </a:lnTo>
                <a:lnTo>
                  <a:pt x="10816976" y="5555535"/>
                </a:lnTo>
                <a:cubicBezTo>
                  <a:pt x="10816976" y="5555535"/>
                  <a:pt x="10816976" y="1300849"/>
                  <a:pt x="10816976" y="0"/>
                </a:cubicBezTo>
                <a:cubicBezTo>
                  <a:pt x="7367032" y="2618268"/>
                  <a:pt x="3276928" y="3260407"/>
                  <a:pt x="0" y="3260407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90000">
                <a:schemeClr val="bg1">
                  <a:lumMod val="95000"/>
                </a:schemeClr>
              </a:gs>
            </a:gsLst>
            <a:lin ang="16800000" scaled="0"/>
          </a:gradFill>
          <a:ln w="6921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0400" y="1899138"/>
            <a:ext cx="10858500" cy="2575725"/>
          </a:xfrm>
          <a:custGeom>
            <a:avLst/>
            <a:gdLst>
              <a:gd name="connsiteX0" fmla="*/ 10858500 w 10858500"/>
              <a:gd name="connsiteY0" fmla="*/ 0 h 3562841"/>
              <a:gd name="connsiteX1" fmla="*/ 0 w 10858500"/>
              <a:gd name="connsiteY1" fmla="*/ 3562834 h 3562841"/>
              <a:gd name="connsiteX2" fmla="*/ 10342912 w 10858500"/>
              <a:gd name="connsiteY2" fmla="*/ 368712 h 3562841"/>
              <a:gd name="connsiteX3" fmla="*/ 10197578 w 10858500"/>
              <a:gd name="connsiteY3" fmla="*/ 128428 h 3562841"/>
              <a:gd name="connsiteX4" fmla="*/ 10858500 w 10858500"/>
              <a:gd name="connsiteY4" fmla="*/ 0 h 3562841"/>
            </a:gdLst>
            <a:ahLst/>
            <a:cxnLst/>
            <a:rect l="l" t="t" r="r" b="b"/>
            <a:pathLst>
              <a:path w="10858500" h="3562841">
                <a:moveTo>
                  <a:pt x="10858500" y="0"/>
                </a:moveTo>
                <a:cubicBezTo>
                  <a:pt x="9232147" y="1988558"/>
                  <a:pt x="5366964" y="3566976"/>
                  <a:pt x="0" y="3562834"/>
                </a:cubicBezTo>
                <a:cubicBezTo>
                  <a:pt x="3993215" y="3455120"/>
                  <a:pt x="8034875" y="2543697"/>
                  <a:pt x="10342912" y="368712"/>
                </a:cubicBezTo>
                <a:cubicBezTo>
                  <a:pt x="10280626" y="269284"/>
                  <a:pt x="10197578" y="128428"/>
                  <a:pt x="10197578" y="128428"/>
                </a:cubicBezTo>
                <a:lnTo>
                  <a:pt x="10858500" y="0"/>
                </a:lnTo>
                <a:close/>
              </a:path>
            </a:pathLst>
          </a:custGeom>
          <a:gradFill>
            <a:gsLst>
              <a:gs pos="10000">
                <a:schemeClr val="accent1">
                  <a:lumMod val="40000"/>
                  <a:lumOff val="60000"/>
                </a:schemeClr>
              </a:gs>
              <a:gs pos="90000">
                <a:schemeClr val="accent1"/>
              </a:gs>
            </a:gsLst>
            <a:lin ang="0" scaled="0"/>
          </a:gradFill>
          <a:ln w="6921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402" y="1254403"/>
            <a:ext cx="7376958" cy="13440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爱设计开放平台可以以API的方式输出作图能力和素材模版给到SaaS类合作伙伴，低成本帮助合作伙伴丰富产品功能和服务生态。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987191" y="4366640"/>
            <a:ext cx="151945" cy="151945"/>
          </a:xfrm>
          <a:prstGeom prst="ellipse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05263" y="4709828"/>
            <a:ext cx="2515800" cy="133607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本地区养老机构竞争格局：本地养老机构数量较多，但以传统养老机构为主，智能化服务水平较低，存在服务同质化问题。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769395" y="3959747"/>
            <a:ext cx="151945" cy="151945"/>
          </a:xfrm>
          <a:prstGeom prst="ellipse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587467" y="4470667"/>
            <a:ext cx="2515800" cy="133607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18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潜在客户需求调研分析：市场调研显示，本地老年人及其家属对智能养老服务认知度和接受度较高，超 70%的子女希望为父母选择具有智能化设施和服务的养老机构。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551600" y="2883005"/>
            <a:ext cx="151945" cy="151945"/>
          </a:xfrm>
          <a:prstGeom prst="ellipse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369672" y="3658901"/>
            <a:ext cx="2515800" cy="133607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市场进入壁垒：智能养老服务行业对技术、资金、人才等方面要求较高，存在一定进入壁垒。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微观层面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08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8：营销策划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0" y="2117774"/>
            <a:ext cx="10816976" cy="4016326"/>
          </a:xfrm>
          <a:custGeom>
            <a:avLst/>
            <a:gdLst>
              <a:gd name="connsiteX0" fmla="*/ 0 w 10816976"/>
              <a:gd name="connsiteY0" fmla="*/ 3260407 h 5555534"/>
              <a:gd name="connsiteX1" fmla="*/ 0 w 10816976"/>
              <a:gd name="connsiteY1" fmla="*/ 5555535 h 5555534"/>
              <a:gd name="connsiteX2" fmla="*/ 10816976 w 10816976"/>
              <a:gd name="connsiteY2" fmla="*/ 5555535 h 5555534"/>
              <a:gd name="connsiteX3" fmla="*/ 10816976 w 10816976"/>
              <a:gd name="connsiteY3" fmla="*/ 0 h 5555534"/>
              <a:gd name="connsiteX4" fmla="*/ 0 w 10816976"/>
              <a:gd name="connsiteY4" fmla="*/ 3260407 h 5555534"/>
            </a:gdLst>
            <a:ahLst/>
            <a:cxnLst/>
            <a:rect l="l" t="t" r="r" b="b"/>
            <a:pathLst>
              <a:path w="10816976" h="5555534">
                <a:moveTo>
                  <a:pt x="0" y="3260407"/>
                </a:moveTo>
                <a:lnTo>
                  <a:pt x="0" y="5555535"/>
                </a:lnTo>
                <a:lnTo>
                  <a:pt x="10816976" y="5555535"/>
                </a:lnTo>
                <a:cubicBezTo>
                  <a:pt x="10816976" y="5555535"/>
                  <a:pt x="10816976" y="1300849"/>
                  <a:pt x="10816976" y="0"/>
                </a:cubicBezTo>
                <a:cubicBezTo>
                  <a:pt x="7367032" y="2618268"/>
                  <a:pt x="3276928" y="3260407"/>
                  <a:pt x="0" y="3260407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90000">
                <a:schemeClr val="bg1">
                  <a:lumMod val="95000"/>
                </a:schemeClr>
              </a:gs>
            </a:gsLst>
            <a:lin ang="16800000" scaled="0"/>
          </a:gradFill>
          <a:ln w="6921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0400" y="1899138"/>
            <a:ext cx="10858500" cy="2575725"/>
          </a:xfrm>
          <a:custGeom>
            <a:avLst/>
            <a:gdLst>
              <a:gd name="connsiteX0" fmla="*/ 10858500 w 10858500"/>
              <a:gd name="connsiteY0" fmla="*/ 0 h 3562841"/>
              <a:gd name="connsiteX1" fmla="*/ 0 w 10858500"/>
              <a:gd name="connsiteY1" fmla="*/ 3562834 h 3562841"/>
              <a:gd name="connsiteX2" fmla="*/ 10342912 w 10858500"/>
              <a:gd name="connsiteY2" fmla="*/ 368712 h 3562841"/>
              <a:gd name="connsiteX3" fmla="*/ 10197578 w 10858500"/>
              <a:gd name="connsiteY3" fmla="*/ 128428 h 3562841"/>
              <a:gd name="connsiteX4" fmla="*/ 10858500 w 10858500"/>
              <a:gd name="connsiteY4" fmla="*/ 0 h 3562841"/>
            </a:gdLst>
            <a:ahLst/>
            <a:cxnLst/>
            <a:rect l="l" t="t" r="r" b="b"/>
            <a:pathLst>
              <a:path w="10858500" h="3562841">
                <a:moveTo>
                  <a:pt x="10858500" y="0"/>
                </a:moveTo>
                <a:cubicBezTo>
                  <a:pt x="9232147" y="1988558"/>
                  <a:pt x="5366964" y="3566976"/>
                  <a:pt x="0" y="3562834"/>
                </a:cubicBezTo>
                <a:cubicBezTo>
                  <a:pt x="3993215" y="3455120"/>
                  <a:pt x="8034875" y="2543697"/>
                  <a:pt x="10342912" y="368712"/>
                </a:cubicBezTo>
                <a:cubicBezTo>
                  <a:pt x="10280626" y="269284"/>
                  <a:pt x="10197578" y="128428"/>
                  <a:pt x="10197578" y="128428"/>
                </a:cubicBezTo>
                <a:lnTo>
                  <a:pt x="10858500" y="0"/>
                </a:lnTo>
                <a:close/>
              </a:path>
            </a:pathLst>
          </a:custGeom>
          <a:gradFill>
            <a:gsLst>
              <a:gs pos="10000">
                <a:schemeClr val="accent1">
                  <a:lumMod val="40000"/>
                  <a:lumOff val="60000"/>
                </a:schemeClr>
              </a:gs>
              <a:gs pos="90000">
                <a:schemeClr val="accent1"/>
              </a:gs>
            </a:gsLst>
            <a:lin ang="0" scaled="0"/>
          </a:gradFill>
          <a:ln w="6921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402" y="1254403"/>
            <a:ext cx="8037358" cy="18774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爱设计开放平台可以以API的方式输出作图能力和素材模版给到SaaS类合作伙伴，低成本帮助合作伙伴丰富产品功能和服务生态。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852065" y="4207759"/>
            <a:ext cx="151945" cy="151945"/>
          </a:xfrm>
          <a:prstGeom prst="ellipse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097526" y="4614447"/>
            <a:ext cx="3661024" cy="11694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高端智能养老服务提供商：AI 芯颐养院定位为高端智能养老服务提供商，主要面向中高收入家庭的老年人，特别是对养老品质和智能化服务有较高要求的客户群体。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270540" y="3370295"/>
            <a:ext cx="151945" cy="151945"/>
          </a:xfrm>
          <a:prstGeom prst="ellipse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547751" y="4043837"/>
            <a:ext cx="3597524" cy="17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目标客户细分：根据年龄、健康状况、经济水平、消费观念等因素，将目标客户细分为活力老人、慢性病老人、失能半失能老人等不同群体。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市场定位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5399215">
            <a:off x="10434204" y="-1345769"/>
            <a:ext cx="2987112" cy="2987112"/>
          </a:xfrm>
          <a:prstGeom prst="donut">
            <a:avLst>
              <a:gd name="adj" fmla="val 13257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/>
              </a:gs>
            </a:gsLst>
            <a:lin ang="189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4444986"/>
            <a:ext cx="12192000" cy="2413013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  <a:alpha val="61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0800000">
            <a:off x="670922" y="2366152"/>
            <a:ext cx="3397550" cy="376794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0800000">
            <a:off x="4374850" y="2366152"/>
            <a:ext cx="3397550" cy="376794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0747" y="2787834"/>
            <a:ext cx="3057898" cy="30668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品牌推广：制定品牌推广计划，通过线上线下多种渠道进行品牌宣传，提升品牌知名度和美誉度。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44675" y="2787834"/>
            <a:ext cx="3057898" cy="30668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客户关系管理：建立完善的客户关系管理系统，记录客户信息、服务需求、消费记录等，为客户提供个性化服务和关怀。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10800000">
            <a:off x="8078777" y="2366152"/>
            <a:ext cx="3397550" cy="376794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248603" y="2787834"/>
            <a:ext cx="3057898" cy="30668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合作营销：与周边医院、社区、老年大学、养老服务企业等建立合作关系，开展合作营销活动，实现资源共享、优势互补。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>
            <a:off x="655100" y="1154999"/>
            <a:ext cx="10863797" cy="90635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95614" y="1421466"/>
            <a:ext cx="10382769" cy="3734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医药流通行业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营销战略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5637682" y="2217851"/>
            <a:ext cx="5804431" cy="1272052"/>
          </a:xfrm>
          <a:prstGeom prst="snip1Rect">
            <a:avLst>
              <a:gd name="adj" fmla="val 27343"/>
            </a:avLst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 flipH="1" flipV="1">
            <a:off x="749886" y="1445801"/>
            <a:ext cx="4530287" cy="4789898"/>
          </a:xfrm>
          <a:prstGeom prst="snip1Rect">
            <a:avLst/>
          </a:prstGeom>
          <a:solidFill>
            <a:schemeClr val="accent1"/>
          </a:solidFill>
          <a:ln w="1416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H="1">
            <a:off x="5637682" y="3590750"/>
            <a:ext cx="5804431" cy="1272052"/>
          </a:xfrm>
          <a:prstGeom prst="rect">
            <a:avLst/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flipV="1">
            <a:off x="5637684" y="4963648"/>
            <a:ext cx="5804431" cy="1272052"/>
          </a:xfrm>
          <a:prstGeom prst="snip1Rect">
            <a:avLst>
              <a:gd name="adj" fmla="val 27343"/>
            </a:avLst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80986" y="3944986"/>
            <a:ext cx="4068087" cy="19958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爱设计isheji.com
是国内领先的在线设计与协作平台
并为众多先进企业提供内容中台解决方案</a:t>
            </a:r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 flipH="1">
            <a:off x="989695" y="3590750"/>
            <a:ext cx="364589" cy="0"/>
          </a:xfrm>
          <a:prstGeom prst="line">
            <a:avLst/>
          </a:prstGeom>
          <a:noFill/>
          <a:ln w="28575" cap="sq">
            <a:solidFill>
              <a:schemeClr val="bg1">
                <a:alpha val="35000"/>
              </a:schemeClr>
            </a:solidFill>
            <a:miter/>
          </a:ln>
        </p:spPr>
      </p:cxnSp>
      <p:sp>
        <p:nvSpPr>
          <p:cNvPr id="11" name="标题 1"/>
          <p:cNvSpPr txBox="1"/>
          <p:nvPr/>
        </p:nvSpPr>
        <p:spPr>
          <a:xfrm>
            <a:off x="6505588" y="2670726"/>
            <a:ext cx="366302" cy="366302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356962" y="2739581"/>
            <a:ext cx="3556000" cy="2286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69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智能化服务：AI 健康监测系统和智能生活辅助设备实现智能化健康管理和服务，提高服务效率和质量，降低人力成本。</a:t>
            </a:r>
            <a:endParaRPr kumimoji="1" lang="zh-CN" altLang="en-US"/>
          </a:p>
        </p:txBody>
      </p:sp>
      <p:cxnSp>
        <p:nvCxnSpPr>
          <p:cNvPr id="13" name="标题 1"/>
          <p:cNvCxnSpPr/>
          <p:nvPr/>
        </p:nvCxnSpPr>
        <p:spPr>
          <a:xfrm>
            <a:off x="7356962" y="2671988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4" name="标题 1"/>
          <p:cNvSpPr txBox="1"/>
          <p:nvPr/>
        </p:nvSpPr>
        <p:spPr>
          <a:xfrm>
            <a:off x="6298736" y="2463874"/>
            <a:ext cx="780006" cy="780006"/>
          </a:xfrm>
          <a:prstGeom prst="ellipse">
            <a:avLst/>
          </a:prstGeom>
          <a:noFill/>
          <a:ln w="22225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505588" y="4060728"/>
            <a:ext cx="366302" cy="332096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356962" y="4112480"/>
            <a:ext cx="3556000" cy="2286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69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个性化服务：根据老人身体状况、兴趣爱好、生活习惯等制定个性化护理计划和康复方案，满足老人多样化需求。</a:t>
            </a:r>
            <a:endParaRPr kumimoji="1" lang="zh-CN" altLang="en-US"/>
          </a:p>
        </p:txBody>
      </p:sp>
      <p:cxnSp>
        <p:nvCxnSpPr>
          <p:cNvPr id="17" name="标题 1"/>
          <p:cNvCxnSpPr/>
          <p:nvPr/>
        </p:nvCxnSpPr>
        <p:spPr>
          <a:xfrm>
            <a:off x="7356962" y="4052966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8" name="标题 1"/>
          <p:cNvSpPr txBox="1"/>
          <p:nvPr/>
        </p:nvSpPr>
        <p:spPr>
          <a:xfrm>
            <a:off x="6298736" y="3836773"/>
            <a:ext cx="780006" cy="780006"/>
          </a:xfrm>
          <a:prstGeom prst="ellipse">
            <a:avLst/>
          </a:prstGeom>
          <a:noFill/>
          <a:ln w="22225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505588" y="5430247"/>
            <a:ext cx="366302" cy="338854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356962" y="5485378"/>
            <a:ext cx="3556000" cy="2286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69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优质服务：专业护理团队和医护人员为老人提供贴心、周到的护理和医疗服务，服务质量高，这是 AI 芯颐养院赢得客户口碑的关键。</a:t>
            </a:r>
            <a:endParaRPr kumimoji="1" lang="zh-CN" altLang="en-US"/>
          </a:p>
        </p:txBody>
      </p:sp>
      <p:cxnSp>
        <p:nvCxnSpPr>
          <p:cNvPr id="21" name="标题 1"/>
          <p:cNvCxnSpPr/>
          <p:nvPr/>
        </p:nvCxnSpPr>
        <p:spPr>
          <a:xfrm>
            <a:off x="7356962" y="5417785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22" name="标题 1"/>
          <p:cNvSpPr txBox="1"/>
          <p:nvPr/>
        </p:nvSpPr>
        <p:spPr>
          <a:xfrm>
            <a:off x="6298736" y="5209671"/>
            <a:ext cx="780006" cy="780006"/>
          </a:xfrm>
          <a:prstGeom prst="ellipse">
            <a:avLst/>
          </a:prstGeom>
          <a:noFill/>
          <a:ln w="22225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产品特色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 flipV="1">
            <a:off x="10971354" y="1130300"/>
            <a:ext cx="547546" cy="438611"/>
          </a:xfrm>
          <a:custGeom>
            <a:avLst/>
            <a:gdLst>
              <a:gd name="T0" fmla="*/ 41 w 98"/>
              <a:gd name="T1" fmla="*/ 0 h 78"/>
              <a:gd name="T2" fmla="*/ 44 w 98"/>
              <a:gd name="T3" fmla="*/ 4 h 78"/>
              <a:gd name="T4" fmla="*/ 27 w 98"/>
              <a:gd name="T5" fmla="*/ 16 h 78"/>
              <a:gd name="T6" fmla="*/ 21 w 98"/>
              <a:gd name="T7" fmla="*/ 29 h 78"/>
              <a:gd name="T8" fmla="*/ 29 w 98"/>
              <a:gd name="T9" fmla="*/ 37 h 78"/>
              <a:gd name="T10" fmla="*/ 40 w 98"/>
              <a:gd name="T11" fmla="*/ 45 h 78"/>
              <a:gd name="T12" fmla="*/ 43 w 98"/>
              <a:gd name="T13" fmla="*/ 57 h 78"/>
              <a:gd name="T14" fmla="*/ 37 w 98"/>
              <a:gd name="T15" fmla="*/ 72 h 78"/>
              <a:gd name="T16" fmla="*/ 22 w 98"/>
              <a:gd name="T17" fmla="*/ 78 h 78"/>
              <a:gd name="T18" fmla="*/ 6 w 98"/>
              <a:gd name="T19" fmla="*/ 71 h 78"/>
              <a:gd name="T20" fmla="*/ 0 w 98"/>
              <a:gd name="T21" fmla="*/ 50 h 78"/>
              <a:gd name="T22" fmla="*/ 5 w 98"/>
              <a:gd name="T23" fmla="*/ 29 h 78"/>
              <a:gd name="T24" fmla="*/ 19 w 98"/>
              <a:gd name="T25" fmla="*/ 11 h 78"/>
              <a:gd name="T26" fmla="*/ 41 w 98"/>
              <a:gd name="T27" fmla="*/ 0 h 78"/>
              <a:gd name="T28" fmla="*/ 95 w 98"/>
              <a:gd name="T29" fmla="*/ 0 h 78"/>
              <a:gd name="T30" fmla="*/ 98 w 98"/>
              <a:gd name="T31" fmla="*/ 4 h 78"/>
              <a:gd name="T32" fmla="*/ 81 w 98"/>
              <a:gd name="T33" fmla="*/ 16 h 78"/>
              <a:gd name="T34" fmla="*/ 74 w 98"/>
              <a:gd name="T35" fmla="*/ 29 h 78"/>
              <a:gd name="T36" fmla="*/ 82 w 98"/>
              <a:gd name="T37" fmla="*/ 37 h 78"/>
              <a:gd name="T38" fmla="*/ 94 w 98"/>
              <a:gd name="T39" fmla="*/ 45 h 78"/>
              <a:gd name="T40" fmla="*/ 97 w 98"/>
              <a:gd name="T41" fmla="*/ 57 h 78"/>
              <a:gd name="T42" fmla="*/ 91 w 98"/>
              <a:gd name="T43" fmla="*/ 72 h 78"/>
              <a:gd name="T44" fmla="*/ 76 w 98"/>
              <a:gd name="T45" fmla="*/ 78 h 78"/>
              <a:gd name="T46" fmla="*/ 60 w 98"/>
              <a:gd name="T47" fmla="*/ 71 h 78"/>
              <a:gd name="T48" fmla="*/ 54 w 98"/>
              <a:gd name="T49" fmla="*/ 50 h 78"/>
              <a:gd name="T50" fmla="*/ 59 w 98"/>
              <a:gd name="T51" fmla="*/ 29 h 78"/>
              <a:gd name="T52" fmla="*/ 73 w 98"/>
              <a:gd name="T53" fmla="*/ 11 h 78"/>
              <a:gd name="T54" fmla="*/ 95 w 98"/>
              <a:gd name="T55" fmla="*/ 0 h 78"/>
            </a:gdLst>
            <a:ahLst/>
            <a:cxnLst/>
            <a:rect l="0" t="0" r="r" b="b"/>
            <a:pathLst>
              <a:path w="98" h="78">
                <a:moveTo>
                  <a:pt x="41" y="0"/>
                </a:moveTo>
                <a:cubicBezTo>
                  <a:pt x="44" y="4"/>
                  <a:pt x="44" y="4"/>
                  <a:pt x="44" y="4"/>
                </a:cubicBezTo>
                <a:cubicBezTo>
                  <a:pt x="37" y="8"/>
                  <a:pt x="31" y="11"/>
                  <a:pt x="27" y="16"/>
                </a:cubicBezTo>
                <a:cubicBezTo>
                  <a:pt x="23" y="20"/>
                  <a:pt x="21" y="25"/>
                  <a:pt x="21" y="29"/>
                </a:cubicBezTo>
                <a:cubicBezTo>
                  <a:pt x="21" y="31"/>
                  <a:pt x="23" y="34"/>
                  <a:pt x="29" y="37"/>
                </a:cubicBezTo>
                <a:cubicBezTo>
                  <a:pt x="34" y="39"/>
                  <a:pt x="38" y="42"/>
                  <a:pt x="40" y="45"/>
                </a:cubicBezTo>
                <a:cubicBezTo>
                  <a:pt x="42" y="48"/>
                  <a:pt x="43" y="52"/>
                  <a:pt x="43" y="57"/>
                </a:cubicBezTo>
                <a:cubicBezTo>
                  <a:pt x="43" y="63"/>
                  <a:pt x="41" y="68"/>
                  <a:pt x="37" y="72"/>
                </a:cubicBezTo>
                <a:cubicBezTo>
                  <a:pt x="33" y="76"/>
                  <a:pt x="28" y="78"/>
                  <a:pt x="22" y="78"/>
                </a:cubicBezTo>
                <a:cubicBezTo>
                  <a:pt x="16" y="78"/>
                  <a:pt x="10" y="76"/>
                  <a:pt x="6" y="71"/>
                </a:cubicBezTo>
                <a:cubicBezTo>
                  <a:pt x="2" y="65"/>
                  <a:pt x="0" y="59"/>
                  <a:pt x="0" y="50"/>
                </a:cubicBezTo>
                <a:cubicBezTo>
                  <a:pt x="0" y="43"/>
                  <a:pt x="1" y="36"/>
                  <a:pt x="5" y="29"/>
                </a:cubicBezTo>
                <a:cubicBezTo>
                  <a:pt x="8" y="22"/>
                  <a:pt x="13" y="16"/>
                  <a:pt x="19" y="11"/>
                </a:cubicBezTo>
                <a:cubicBezTo>
                  <a:pt x="26" y="6"/>
                  <a:pt x="33" y="2"/>
                  <a:pt x="41" y="0"/>
                </a:cubicBezTo>
                <a:close/>
                <a:moveTo>
                  <a:pt x="95" y="0"/>
                </a:moveTo>
                <a:cubicBezTo>
                  <a:pt x="98" y="4"/>
                  <a:pt x="98" y="4"/>
                  <a:pt x="98" y="4"/>
                </a:cubicBezTo>
                <a:cubicBezTo>
                  <a:pt x="91" y="8"/>
                  <a:pt x="85" y="11"/>
                  <a:pt x="81" y="16"/>
                </a:cubicBezTo>
                <a:cubicBezTo>
                  <a:pt x="77" y="20"/>
                  <a:pt x="74" y="25"/>
                  <a:pt x="74" y="29"/>
                </a:cubicBezTo>
                <a:cubicBezTo>
                  <a:pt x="74" y="31"/>
                  <a:pt x="77" y="34"/>
                  <a:pt x="82" y="37"/>
                </a:cubicBezTo>
                <a:cubicBezTo>
                  <a:pt x="88" y="39"/>
                  <a:pt x="91" y="42"/>
                  <a:pt x="94" y="45"/>
                </a:cubicBezTo>
                <a:cubicBezTo>
                  <a:pt x="96" y="48"/>
                  <a:pt x="97" y="52"/>
                  <a:pt x="97" y="57"/>
                </a:cubicBezTo>
                <a:cubicBezTo>
                  <a:pt x="97" y="63"/>
                  <a:pt x="95" y="68"/>
                  <a:pt x="91" y="72"/>
                </a:cubicBezTo>
                <a:cubicBezTo>
                  <a:pt x="87" y="76"/>
                  <a:pt x="82" y="78"/>
                  <a:pt x="76" y="78"/>
                </a:cubicBezTo>
                <a:cubicBezTo>
                  <a:pt x="69" y="78"/>
                  <a:pt x="64" y="76"/>
                  <a:pt x="60" y="71"/>
                </a:cubicBezTo>
                <a:cubicBezTo>
                  <a:pt x="56" y="65"/>
                  <a:pt x="54" y="59"/>
                  <a:pt x="54" y="50"/>
                </a:cubicBezTo>
                <a:cubicBezTo>
                  <a:pt x="54" y="43"/>
                  <a:pt x="55" y="36"/>
                  <a:pt x="59" y="29"/>
                </a:cubicBezTo>
                <a:cubicBezTo>
                  <a:pt x="62" y="22"/>
                  <a:pt x="67" y="16"/>
                  <a:pt x="73" y="11"/>
                </a:cubicBezTo>
                <a:cubicBezTo>
                  <a:pt x="79" y="6"/>
                  <a:pt x="87" y="2"/>
                  <a:pt x="9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351099" y="1651691"/>
            <a:ext cx="9489802" cy="10752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一款多端在线拖拽式作图/视频工具，同时具备创意资产云端存储，管理和多终端分发的功能
平台接入了战略投资方A股上市公司「视觉中国」亿级图片模版素材，确保创意内容随取随用、安全合规、降本增效</a:t>
            </a:r>
            <a:endParaRPr kumimoji="1" lang="zh-CN" altLang="en-US"/>
          </a:p>
        </p:txBody>
      </p:sp>
      <p:cxnSp>
        <p:nvCxnSpPr>
          <p:cNvPr id="7" name="标题 1"/>
          <p:cNvCxnSpPr/>
          <p:nvPr/>
        </p:nvCxnSpPr>
        <p:spPr>
          <a:xfrm>
            <a:off x="-134983" y="3247094"/>
            <a:ext cx="12461966" cy="0"/>
          </a:xfrm>
          <a:prstGeom prst="line">
            <a:avLst/>
          </a:prstGeom>
          <a:noFill/>
          <a:ln w="12700" cap="sq">
            <a:solidFill>
              <a:schemeClr val="bg1">
                <a:lumMod val="85000"/>
              </a:schemeClr>
            </a:solidFill>
            <a:miter/>
          </a:ln>
        </p:spPr>
      </p:cxnSp>
      <p:sp>
        <p:nvSpPr>
          <p:cNvPr id="8" name="标题 1"/>
          <p:cNvSpPr txBox="1"/>
          <p:nvPr/>
        </p:nvSpPr>
        <p:spPr>
          <a:xfrm>
            <a:off x="6060000" y="3211094"/>
            <a:ext cx="72000" cy="7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06853" y="3812469"/>
            <a:ext cx="3269210" cy="2084137"/>
          </a:xfrm>
          <a:prstGeom prst="roundRect">
            <a:avLst>
              <a:gd name="adj" fmla="val 11235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06853" y="4180526"/>
            <a:ext cx="3269210" cy="1850207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53745" y="4469928"/>
            <a:ext cx="2776177" cy="1290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服务套餐定价：根据服务内容、设施档次、护理等级等因素，将服务分为不同档次套餐，价格从每月 5000 元至 20000 元不等，满足不同经济水平客户的需求。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920505" y="2931152"/>
            <a:ext cx="615600" cy="684000"/>
          </a:xfrm>
          <a:custGeom>
            <a:avLst/>
            <a:gdLst>
              <a:gd name="connsiteX0" fmla="*/ 2424113 w 3143250"/>
              <a:gd name="connsiteY0" fmla="*/ 3048000 h 3448681"/>
              <a:gd name="connsiteX1" fmla="*/ 1897285 w 3143250"/>
              <a:gd name="connsiteY1" fmla="*/ 3048000 h 3448681"/>
              <a:gd name="connsiteX2" fmla="*/ 1834229 w 3143250"/>
              <a:gd name="connsiteY2" fmla="*/ 3093053 h 3448681"/>
              <a:gd name="connsiteX3" fmla="*/ 1493330 w 3143250"/>
              <a:gd name="connsiteY3" fmla="*/ 3441287 h 3448681"/>
              <a:gd name="connsiteX4" fmla="*/ 1403547 w 3143250"/>
              <a:gd name="connsiteY4" fmla="*/ 3412484 h 3448681"/>
              <a:gd name="connsiteX5" fmla="*/ 1398842 w 3143250"/>
              <a:gd name="connsiteY5" fmla="*/ 3363278 h 3448681"/>
              <a:gd name="connsiteX6" fmla="*/ 1269111 w 3143250"/>
              <a:gd name="connsiteY6" fmla="*/ 3052667 h 3448681"/>
              <a:gd name="connsiteX7" fmla="*/ 1244632 w 3143250"/>
              <a:gd name="connsiteY7" fmla="*/ 3048000 h 3448681"/>
              <a:gd name="connsiteX8" fmla="*/ 719138 w 3143250"/>
              <a:gd name="connsiteY8" fmla="*/ 3048000 h 3448681"/>
              <a:gd name="connsiteX9" fmla="*/ 0 w 3143250"/>
              <a:gd name="connsiteY9" fmla="*/ 2328863 h 3448681"/>
              <a:gd name="connsiteX10" fmla="*/ 0 w 3143250"/>
              <a:gd name="connsiteY10" fmla="*/ 719138 h 3448681"/>
              <a:gd name="connsiteX11" fmla="*/ 719138 w 3143250"/>
              <a:gd name="connsiteY11" fmla="*/ 0 h 3448681"/>
              <a:gd name="connsiteX12" fmla="*/ 2424113 w 3143250"/>
              <a:gd name="connsiteY12" fmla="*/ 0 h 3448681"/>
              <a:gd name="connsiteX13" fmla="*/ 3143250 w 3143250"/>
              <a:gd name="connsiteY13" fmla="*/ 719138 h 3448681"/>
              <a:gd name="connsiteX14" fmla="*/ 3143250 w 3143250"/>
              <a:gd name="connsiteY14" fmla="*/ 2328863 h 3448681"/>
              <a:gd name="connsiteX15" fmla="*/ 2424113 w 3143250"/>
              <a:gd name="connsiteY15" fmla="*/ 3048000 h 3448681"/>
            </a:gdLst>
            <a:ahLst/>
            <a:cxnLst/>
            <a:rect l="l" t="t" r="r" b="b"/>
            <a:pathLst>
              <a:path w="3143250" h="3448681">
                <a:moveTo>
                  <a:pt x="2424113" y="3048000"/>
                </a:moveTo>
                <a:lnTo>
                  <a:pt x="1897285" y="3048000"/>
                </a:lnTo>
                <a:cubicBezTo>
                  <a:pt x="1868805" y="3048010"/>
                  <a:pt x="1843468" y="3066107"/>
                  <a:pt x="1834229" y="3093053"/>
                </a:cubicBezTo>
                <a:cubicBezTo>
                  <a:pt x="1770888" y="3270314"/>
                  <a:pt x="1615154" y="3380041"/>
                  <a:pt x="1493330" y="3441287"/>
                </a:cubicBezTo>
                <a:cubicBezTo>
                  <a:pt x="1460583" y="3458128"/>
                  <a:pt x="1420387" y="3445231"/>
                  <a:pt x="1403547" y="3412484"/>
                </a:cubicBezTo>
                <a:cubicBezTo>
                  <a:pt x="1395727" y="3397291"/>
                  <a:pt x="1394041" y="3379680"/>
                  <a:pt x="1398842" y="3363278"/>
                </a:cubicBezTo>
                <a:cubicBezTo>
                  <a:pt x="1430750" y="3257550"/>
                  <a:pt x="1432465" y="3120199"/>
                  <a:pt x="1269111" y="3052667"/>
                </a:cubicBezTo>
                <a:cubicBezTo>
                  <a:pt x="1261339" y="3049505"/>
                  <a:pt x="1253023" y="3047914"/>
                  <a:pt x="1244632" y="3048000"/>
                </a:cubicBezTo>
                <a:lnTo>
                  <a:pt x="719138" y="3048000"/>
                </a:lnTo>
                <a:cubicBezTo>
                  <a:pt x="321969" y="3048000"/>
                  <a:pt x="0" y="2726036"/>
                  <a:pt x="0" y="2328863"/>
                </a:cubicBezTo>
                <a:lnTo>
                  <a:pt x="0" y="719138"/>
                </a:lnTo>
                <a:cubicBezTo>
                  <a:pt x="0" y="321969"/>
                  <a:pt x="321969" y="0"/>
                  <a:pt x="719138" y="0"/>
                </a:cubicBezTo>
                <a:lnTo>
                  <a:pt x="2424113" y="0"/>
                </a:lnTo>
                <a:cubicBezTo>
                  <a:pt x="2821286" y="0"/>
                  <a:pt x="3143250" y="321969"/>
                  <a:pt x="3143250" y="719138"/>
                </a:cubicBezTo>
                <a:lnTo>
                  <a:pt x="3143250" y="2328863"/>
                </a:lnTo>
                <a:cubicBezTo>
                  <a:pt x="3143250" y="2726036"/>
                  <a:pt x="2821286" y="3048000"/>
                  <a:pt x="2424113" y="304800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040152" y="3069136"/>
            <a:ext cx="376306" cy="329450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/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788201" y="2931152"/>
            <a:ext cx="615600" cy="684000"/>
          </a:xfrm>
          <a:custGeom>
            <a:avLst/>
            <a:gdLst>
              <a:gd name="connsiteX0" fmla="*/ 2424113 w 3143250"/>
              <a:gd name="connsiteY0" fmla="*/ 3048000 h 3448681"/>
              <a:gd name="connsiteX1" fmla="*/ 1897285 w 3143250"/>
              <a:gd name="connsiteY1" fmla="*/ 3048000 h 3448681"/>
              <a:gd name="connsiteX2" fmla="*/ 1834229 w 3143250"/>
              <a:gd name="connsiteY2" fmla="*/ 3093053 h 3448681"/>
              <a:gd name="connsiteX3" fmla="*/ 1493330 w 3143250"/>
              <a:gd name="connsiteY3" fmla="*/ 3441287 h 3448681"/>
              <a:gd name="connsiteX4" fmla="*/ 1403547 w 3143250"/>
              <a:gd name="connsiteY4" fmla="*/ 3412484 h 3448681"/>
              <a:gd name="connsiteX5" fmla="*/ 1398842 w 3143250"/>
              <a:gd name="connsiteY5" fmla="*/ 3363278 h 3448681"/>
              <a:gd name="connsiteX6" fmla="*/ 1269111 w 3143250"/>
              <a:gd name="connsiteY6" fmla="*/ 3052667 h 3448681"/>
              <a:gd name="connsiteX7" fmla="*/ 1244632 w 3143250"/>
              <a:gd name="connsiteY7" fmla="*/ 3048000 h 3448681"/>
              <a:gd name="connsiteX8" fmla="*/ 719138 w 3143250"/>
              <a:gd name="connsiteY8" fmla="*/ 3048000 h 3448681"/>
              <a:gd name="connsiteX9" fmla="*/ 0 w 3143250"/>
              <a:gd name="connsiteY9" fmla="*/ 2328863 h 3448681"/>
              <a:gd name="connsiteX10" fmla="*/ 0 w 3143250"/>
              <a:gd name="connsiteY10" fmla="*/ 719138 h 3448681"/>
              <a:gd name="connsiteX11" fmla="*/ 719138 w 3143250"/>
              <a:gd name="connsiteY11" fmla="*/ 0 h 3448681"/>
              <a:gd name="connsiteX12" fmla="*/ 2424113 w 3143250"/>
              <a:gd name="connsiteY12" fmla="*/ 0 h 3448681"/>
              <a:gd name="connsiteX13" fmla="*/ 3143250 w 3143250"/>
              <a:gd name="connsiteY13" fmla="*/ 719138 h 3448681"/>
              <a:gd name="connsiteX14" fmla="*/ 3143250 w 3143250"/>
              <a:gd name="connsiteY14" fmla="*/ 2328863 h 3448681"/>
              <a:gd name="connsiteX15" fmla="*/ 2424113 w 3143250"/>
              <a:gd name="connsiteY15" fmla="*/ 3048000 h 3448681"/>
            </a:gdLst>
            <a:ahLst/>
            <a:cxnLst/>
            <a:rect l="l" t="t" r="r" b="b"/>
            <a:pathLst>
              <a:path w="3143250" h="3448681">
                <a:moveTo>
                  <a:pt x="2424113" y="3048000"/>
                </a:moveTo>
                <a:lnTo>
                  <a:pt x="1897285" y="3048000"/>
                </a:lnTo>
                <a:cubicBezTo>
                  <a:pt x="1868805" y="3048010"/>
                  <a:pt x="1843468" y="3066107"/>
                  <a:pt x="1834229" y="3093053"/>
                </a:cubicBezTo>
                <a:cubicBezTo>
                  <a:pt x="1770888" y="3270314"/>
                  <a:pt x="1615154" y="3380041"/>
                  <a:pt x="1493330" y="3441287"/>
                </a:cubicBezTo>
                <a:cubicBezTo>
                  <a:pt x="1460583" y="3458128"/>
                  <a:pt x="1420387" y="3445231"/>
                  <a:pt x="1403547" y="3412484"/>
                </a:cubicBezTo>
                <a:cubicBezTo>
                  <a:pt x="1395727" y="3397291"/>
                  <a:pt x="1394041" y="3379680"/>
                  <a:pt x="1398842" y="3363278"/>
                </a:cubicBezTo>
                <a:cubicBezTo>
                  <a:pt x="1430750" y="3257550"/>
                  <a:pt x="1432465" y="3120199"/>
                  <a:pt x="1269111" y="3052667"/>
                </a:cubicBezTo>
                <a:cubicBezTo>
                  <a:pt x="1261339" y="3049505"/>
                  <a:pt x="1253023" y="3047914"/>
                  <a:pt x="1244632" y="3048000"/>
                </a:cubicBezTo>
                <a:lnTo>
                  <a:pt x="719138" y="3048000"/>
                </a:lnTo>
                <a:cubicBezTo>
                  <a:pt x="321969" y="3048000"/>
                  <a:pt x="0" y="2726036"/>
                  <a:pt x="0" y="2328863"/>
                </a:cubicBezTo>
                <a:lnTo>
                  <a:pt x="0" y="719138"/>
                </a:lnTo>
                <a:cubicBezTo>
                  <a:pt x="0" y="321969"/>
                  <a:pt x="321969" y="0"/>
                  <a:pt x="719138" y="0"/>
                </a:cubicBezTo>
                <a:lnTo>
                  <a:pt x="2424113" y="0"/>
                </a:lnTo>
                <a:cubicBezTo>
                  <a:pt x="2821286" y="0"/>
                  <a:pt x="3143250" y="321969"/>
                  <a:pt x="3143250" y="719138"/>
                </a:cubicBezTo>
                <a:lnTo>
                  <a:pt x="3143250" y="2328863"/>
                </a:lnTo>
                <a:cubicBezTo>
                  <a:pt x="3143250" y="2726036"/>
                  <a:pt x="2821286" y="3048000"/>
                  <a:pt x="2424113" y="304800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907849" y="3072884"/>
            <a:ext cx="376304" cy="311256"/>
          </a:xfrm>
          <a:custGeom>
            <a:avLst/>
            <a:gdLst>
              <a:gd name="connsiteX0" fmla="*/ 114387 w 870468"/>
              <a:gd name="connsiteY0" fmla="*/ 394297 h 720000"/>
              <a:gd name="connsiteX1" fmla="*/ 125598 w 870468"/>
              <a:gd name="connsiteY1" fmla="*/ 421319 h 720000"/>
              <a:gd name="connsiteX2" fmla="*/ 153878 w 870468"/>
              <a:gd name="connsiteY2" fmla="*/ 433051 h 720000"/>
              <a:gd name="connsiteX3" fmla="*/ 449972 w 870468"/>
              <a:gd name="connsiteY3" fmla="*/ 433051 h 720000"/>
              <a:gd name="connsiteX4" fmla="*/ 478295 w 870468"/>
              <a:gd name="connsiteY4" fmla="*/ 421319 h 720000"/>
              <a:gd name="connsiteX5" fmla="*/ 489465 w 870468"/>
              <a:gd name="connsiteY5" fmla="*/ 394297 h 720000"/>
              <a:gd name="connsiteX6" fmla="*/ 116266 w 870468"/>
              <a:gd name="connsiteY6" fmla="*/ 68594 h 720000"/>
              <a:gd name="connsiteX7" fmla="*/ 68708 w 870468"/>
              <a:gd name="connsiteY7" fmla="*/ 116152 h 720000"/>
              <a:gd name="connsiteX8" fmla="*/ 68708 w 870468"/>
              <a:gd name="connsiteY8" fmla="*/ 241561 h 720000"/>
              <a:gd name="connsiteX9" fmla="*/ 801875 w 870468"/>
              <a:gd name="connsiteY9" fmla="*/ 241561 h 720000"/>
              <a:gd name="connsiteX10" fmla="*/ 801875 w 870468"/>
              <a:gd name="connsiteY10" fmla="*/ 116152 h 720000"/>
              <a:gd name="connsiteX11" fmla="*/ 754317 w 870468"/>
              <a:gd name="connsiteY11" fmla="*/ 68594 h 720000"/>
              <a:gd name="connsiteX12" fmla="*/ 598821 w 870468"/>
              <a:gd name="connsiteY12" fmla="*/ 68594 h 720000"/>
              <a:gd name="connsiteX13" fmla="*/ 116266 w 870468"/>
              <a:gd name="connsiteY13" fmla="*/ 0 h 720000"/>
              <a:gd name="connsiteX14" fmla="*/ 598821 w 870468"/>
              <a:gd name="connsiteY14" fmla="*/ 0 h 720000"/>
              <a:gd name="connsiteX15" fmla="*/ 754317 w 870468"/>
              <a:gd name="connsiteY15" fmla="*/ 0 h 720000"/>
              <a:gd name="connsiteX16" fmla="*/ 870468 w 870468"/>
              <a:gd name="connsiteY16" fmla="*/ 116152 h 720000"/>
              <a:gd name="connsiteX17" fmla="*/ 870468 w 870468"/>
              <a:gd name="connsiteY17" fmla="*/ 360001 h 720000"/>
              <a:gd name="connsiteX18" fmla="*/ 870468 w 870468"/>
              <a:gd name="connsiteY18" fmla="*/ 603736 h 720000"/>
              <a:gd name="connsiteX19" fmla="*/ 754317 w 870468"/>
              <a:gd name="connsiteY19" fmla="*/ 720000 h 720000"/>
              <a:gd name="connsiteX20" fmla="*/ 598821 w 870468"/>
              <a:gd name="connsiteY20" fmla="*/ 720000 h 720000"/>
              <a:gd name="connsiteX21" fmla="*/ 116266 w 870468"/>
              <a:gd name="connsiteY21" fmla="*/ 720000 h 720000"/>
              <a:gd name="connsiteX22" fmla="*/ 115 w 870468"/>
              <a:gd name="connsiteY22" fmla="*/ 603850 h 720000"/>
              <a:gd name="connsiteX23" fmla="*/ 115 w 870468"/>
              <a:gd name="connsiteY23" fmla="*/ 360279 h 720000"/>
              <a:gd name="connsiteX24" fmla="*/ 0 w 870468"/>
              <a:gd name="connsiteY24" fmla="*/ 360001 h 720000"/>
              <a:gd name="connsiteX25" fmla="*/ 115 w 870468"/>
              <a:gd name="connsiteY25" fmla="*/ 359723 h 720000"/>
              <a:gd name="connsiteX26" fmla="*/ 115 w 870468"/>
              <a:gd name="connsiteY26" fmla="*/ 116152 h 720000"/>
              <a:gd name="connsiteX27" fmla="*/ 116266 w 870468"/>
              <a:gd name="connsiteY27" fmla="*/ 0 h 720000"/>
            </a:gdLst>
            <a:ahLst/>
            <a:cxnLst/>
            <a:rect l="l" t="t" r="r" b="b"/>
            <a:pathLst>
              <a:path w="870468" h="720000">
                <a:moveTo>
                  <a:pt x="114387" y="394297"/>
                </a:moveTo>
                <a:lnTo>
                  <a:pt x="125598" y="421319"/>
                </a:lnTo>
                <a:cubicBezTo>
                  <a:pt x="132843" y="428564"/>
                  <a:pt x="142846" y="433051"/>
                  <a:pt x="153878" y="433051"/>
                </a:cubicBezTo>
                <a:lnTo>
                  <a:pt x="449972" y="433051"/>
                </a:lnTo>
                <a:cubicBezTo>
                  <a:pt x="461061" y="433051"/>
                  <a:pt x="471064" y="428564"/>
                  <a:pt x="478295" y="421319"/>
                </a:cubicBezTo>
                <a:lnTo>
                  <a:pt x="489465" y="394297"/>
                </a:lnTo>
                <a:close/>
                <a:moveTo>
                  <a:pt x="116266" y="68594"/>
                </a:moveTo>
                <a:cubicBezTo>
                  <a:pt x="89972" y="68594"/>
                  <a:pt x="68708" y="89972"/>
                  <a:pt x="68708" y="116152"/>
                </a:cubicBezTo>
                <a:lnTo>
                  <a:pt x="68708" y="241561"/>
                </a:lnTo>
                <a:lnTo>
                  <a:pt x="801875" y="241561"/>
                </a:lnTo>
                <a:lnTo>
                  <a:pt x="801875" y="116152"/>
                </a:lnTo>
                <a:cubicBezTo>
                  <a:pt x="801875" y="89858"/>
                  <a:pt x="780497" y="68594"/>
                  <a:pt x="754317" y="68594"/>
                </a:cubicBezTo>
                <a:lnTo>
                  <a:pt x="598821" y="68594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2"/>
                </a:cubicBezTo>
                <a:lnTo>
                  <a:pt x="870468" y="360001"/>
                </a:lnTo>
                <a:lnTo>
                  <a:pt x="870468" y="603736"/>
                </a:lnTo>
                <a:cubicBezTo>
                  <a:pt x="870468" y="667870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70"/>
                  <a:pt x="115" y="603850"/>
                </a:cubicBezTo>
                <a:lnTo>
                  <a:pt x="115" y="360279"/>
                </a:lnTo>
                <a:lnTo>
                  <a:pt x="0" y="360001"/>
                </a:lnTo>
                <a:lnTo>
                  <a:pt x="115" y="359723"/>
                </a:lnTo>
                <a:lnTo>
                  <a:pt x="115" y="116152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461396" y="3812469"/>
            <a:ext cx="3269210" cy="2084137"/>
          </a:xfrm>
          <a:prstGeom prst="roundRect">
            <a:avLst>
              <a:gd name="adj" fmla="val 11235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461396" y="4180526"/>
            <a:ext cx="3269210" cy="1850207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708288" y="4469928"/>
            <a:ext cx="2776177" cy="1290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定价依据：定价参考市场同类产品价格水平，结合 AI 芯颐养院服务特色和成本因素，确保价格具有竞争力。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315938" y="3812469"/>
            <a:ext cx="3269210" cy="2084137"/>
          </a:xfrm>
          <a:prstGeom prst="roundRect">
            <a:avLst>
              <a:gd name="adj" fmla="val 11235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315938" y="4180526"/>
            <a:ext cx="3269210" cy="1850207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562830" y="4469928"/>
            <a:ext cx="2776177" cy="1290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价格调整机制：建立价格调整机制，根据市场变化、运营成本、客户反馈等因素，适时调整服务价格。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9629590" y="2931152"/>
            <a:ext cx="615600" cy="684000"/>
          </a:xfrm>
          <a:custGeom>
            <a:avLst/>
            <a:gdLst>
              <a:gd name="connsiteX0" fmla="*/ 2424113 w 3143250"/>
              <a:gd name="connsiteY0" fmla="*/ 3048000 h 3448681"/>
              <a:gd name="connsiteX1" fmla="*/ 1897285 w 3143250"/>
              <a:gd name="connsiteY1" fmla="*/ 3048000 h 3448681"/>
              <a:gd name="connsiteX2" fmla="*/ 1834229 w 3143250"/>
              <a:gd name="connsiteY2" fmla="*/ 3093053 h 3448681"/>
              <a:gd name="connsiteX3" fmla="*/ 1493330 w 3143250"/>
              <a:gd name="connsiteY3" fmla="*/ 3441287 h 3448681"/>
              <a:gd name="connsiteX4" fmla="*/ 1403547 w 3143250"/>
              <a:gd name="connsiteY4" fmla="*/ 3412484 h 3448681"/>
              <a:gd name="connsiteX5" fmla="*/ 1398842 w 3143250"/>
              <a:gd name="connsiteY5" fmla="*/ 3363278 h 3448681"/>
              <a:gd name="connsiteX6" fmla="*/ 1269111 w 3143250"/>
              <a:gd name="connsiteY6" fmla="*/ 3052667 h 3448681"/>
              <a:gd name="connsiteX7" fmla="*/ 1244632 w 3143250"/>
              <a:gd name="connsiteY7" fmla="*/ 3048000 h 3448681"/>
              <a:gd name="connsiteX8" fmla="*/ 719138 w 3143250"/>
              <a:gd name="connsiteY8" fmla="*/ 3048000 h 3448681"/>
              <a:gd name="connsiteX9" fmla="*/ 0 w 3143250"/>
              <a:gd name="connsiteY9" fmla="*/ 2328863 h 3448681"/>
              <a:gd name="connsiteX10" fmla="*/ 0 w 3143250"/>
              <a:gd name="connsiteY10" fmla="*/ 719138 h 3448681"/>
              <a:gd name="connsiteX11" fmla="*/ 719138 w 3143250"/>
              <a:gd name="connsiteY11" fmla="*/ 0 h 3448681"/>
              <a:gd name="connsiteX12" fmla="*/ 2424113 w 3143250"/>
              <a:gd name="connsiteY12" fmla="*/ 0 h 3448681"/>
              <a:gd name="connsiteX13" fmla="*/ 3143250 w 3143250"/>
              <a:gd name="connsiteY13" fmla="*/ 719138 h 3448681"/>
              <a:gd name="connsiteX14" fmla="*/ 3143250 w 3143250"/>
              <a:gd name="connsiteY14" fmla="*/ 2328863 h 3448681"/>
              <a:gd name="connsiteX15" fmla="*/ 2424113 w 3143250"/>
              <a:gd name="connsiteY15" fmla="*/ 3048000 h 3448681"/>
            </a:gdLst>
            <a:ahLst/>
            <a:cxnLst/>
            <a:rect l="l" t="t" r="r" b="b"/>
            <a:pathLst>
              <a:path w="3143250" h="3448681">
                <a:moveTo>
                  <a:pt x="2424113" y="3048000"/>
                </a:moveTo>
                <a:lnTo>
                  <a:pt x="1897285" y="3048000"/>
                </a:lnTo>
                <a:cubicBezTo>
                  <a:pt x="1868805" y="3048010"/>
                  <a:pt x="1843468" y="3066107"/>
                  <a:pt x="1834229" y="3093053"/>
                </a:cubicBezTo>
                <a:cubicBezTo>
                  <a:pt x="1770888" y="3270314"/>
                  <a:pt x="1615154" y="3380041"/>
                  <a:pt x="1493330" y="3441287"/>
                </a:cubicBezTo>
                <a:cubicBezTo>
                  <a:pt x="1460583" y="3458128"/>
                  <a:pt x="1420387" y="3445231"/>
                  <a:pt x="1403547" y="3412484"/>
                </a:cubicBezTo>
                <a:cubicBezTo>
                  <a:pt x="1395727" y="3397291"/>
                  <a:pt x="1394041" y="3379680"/>
                  <a:pt x="1398842" y="3363278"/>
                </a:cubicBezTo>
                <a:cubicBezTo>
                  <a:pt x="1430750" y="3257550"/>
                  <a:pt x="1432465" y="3120199"/>
                  <a:pt x="1269111" y="3052667"/>
                </a:cubicBezTo>
                <a:cubicBezTo>
                  <a:pt x="1261339" y="3049505"/>
                  <a:pt x="1253023" y="3047914"/>
                  <a:pt x="1244632" y="3048000"/>
                </a:cubicBezTo>
                <a:lnTo>
                  <a:pt x="719138" y="3048000"/>
                </a:lnTo>
                <a:cubicBezTo>
                  <a:pt x="321969" y="3048000"/>
                  <a:pt x="0" y="2726036"/>
                  <a:pt x="0" y="2328863"/>
                </a:cubicBezTo>
                <a:lnTo>
                  <a:pt x="0" y="719138"/>
                </a:lnTo>
                <a:cubicBezTo>
                  <a:pt x="0" y="321969"/>
                  <a:pt x="321969" y="0"/>
                  <a:pt x="719138" y="0"/>
                </a:cubicBezTo>
                <a:lnTo>
                  <a:pt x="2424113" y="0"/>
                </a:lnTo>
                <a:cubicBezTo>
                  <a:pt x="2821286" y="0"/>
                  <a:pt x="3143250" y="321969"/>
                  <a:pt x="3143250" y="719138"/>
                </a:cubicBezTo>
                <a:lnTo>
                  <a:pt x="3143250" y="2328863"/>
                </a:lnTo>
                <a:cubicBezTo>
                  <a:pt x="3143250" y="2726036"/>
                  <a:pt x="2821286" y="3048000"/>
                  <a:pt x="2424113" y="304800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9739390" y="3030858"/>
            <a:ext cx="396000" cy="366328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定价策略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5399215">
            <a:off x="10434204" y="-1345769"/>
            <a:ext cx="2987112" cy="2987112"/>
          </a:xfrm>
          <a:prstGeom prst="donut">
            <a:avLst>
              <a:gd name="adj" fmla="val 13257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/>
              </a:gs>
            </a:gsLst>
            <a:lin ang="189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4444986"/>
            <a:ext cx="12192000" cy="2413013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  <a:alpha val="61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0800000">
            <a:off x="670922" y="2366152"/>
            <a:ext cx="3397550" cy="376794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0800000">
            <a:off x="4374850" y="2366152"/>
            <a:ext cx="3397550" cy="376794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0747" y="2787834"/>
            <a:ext cx="3057898" cy="30668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线上渠道：利用养老服务网站、社交媒体平台、在线广告等线上渠道进行推广，吸引潜在客户关注。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44675" y="2787834"/>
            <a:ext cx="3057898" cy="30668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线下渠道：参加养老行业展会、举办社区宣传活动、与老年社团合作等方式，开展线下推广活动，直接与潜在客户接触。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10800000">
            <a:off x="8078777" y="2366152"/>
            <a:ext cx="3397550" cy="376794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248603" y="2787834"/>
            <a:ext cx="3057898" cy="30668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合作渠道：与周边医院、社区、老年大学、养老服务企业等建立合作关系，通过合作渠道进行推广，实现资源共享、优势互补。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>
            <a:off x="655100" y="1154999"/>
            <a:ext cx="10863797" cy="90635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95614" y="1421466"/>
            <a:ext cx="10382769" cy="3734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医药流通行业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渠道选择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239594" y="2497007"/>
            <a:ext cx="3020456" cy="312674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19250" y="2497007"/>
            <a:ext cx="3020456" cy="312674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79423" y="2497007"/>
            <a:ext cx="3020456" cy="312674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239594" y="2497007"/>
            <a:ext cx="3020456" cy="403860"/>
          </a:xfrm>
          <a:prstGeom prst="rect">
            <a:avLst/>
          </a:prstGeom>
          <a:solidFill>
            <a:schemeClr val="accent1"/>
          </a:solidFill>
          <a:ln w="3175" cap="sq">
            <a:solidFill>
              <a:schemeClr val="accent1"/>
            </a:solidFill>
            <a:miter/>
          </a:ln>
          <a:effectLst/>
        </p:spPr>
        <p:txBody>
          <a:bodyPr vert="horz" wrap="square" lIns="180000" tIns="1728000" rIns="180000" bIns="4572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19250" y="2497007"/>
            <a:ext cx="3020456" cy="403860"/>
          </a:xfrm>
          <a:prstGeom prst="rect">
            <a:avLst/>
          </a:prstGeom>
          <a:solidFill>
            <a:schemeClr val="accent1"/>
          </a:solidFill>
          <a:ln w="3175" cap="sq">
            <a:solidFill>
              <a:schemeClr val="accent1"/>
            </a:solidFill>
            <a:miter/>
          </a:ln>
          <a:effectLst/>
        </p:spPr>
        <p:txBody>
          <a:bodyPr vert="horz" wrap="square" lIns="180000" tIns="1728000" rIns="180000" bIns="4572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79423" y="2497007"/>
            <a:ext cx="3020456" cy="403860"/>
          </a:xfrm>
          <a:prstGeom prst="rect">
            <a:avLst/>
          </a:prstGeom>
          <a:solidFill>
            <a:schemeClr val="accent1"/>
          </a:solidFill>
          <a:ln w="3175" cap="sq">
            <a:solidFill>
              <a:schemeClr val="accent1"/>
            </a:solidFill>
            <a:miter/>
          </a:ln>
          <a:effectLst/>
        </p:spPr>
        <p:txBody>
          <a:bodyPr vert="horz" wrap="square" lIns="180000" tIns="1728000" rIns="180000" bIns="4572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55675" y="1311708"/>
            <a:ext cx="10267950" cy="91771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一款多端在线拖拽式作图/视频工具，同时具备创意资产云端存储，管理和多终端分发的功能
平台接入了战略投资方A股上市公司「视觉中国」亿级图片模版素材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329576" y="3286130"/>
            <a:ext cx="840492" cy="8404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211898" y="3168451"/>
            <a:ext cx="1075848" cy="1075846"/>
          </a:xfrm>
          <a:prstGeom prst="ellipse">
            <a:avLst/>
          </a:prstGeom>
          <a:noFill/>
          <a:ln w="9525" cap="rnd">
            <a:solidFill>
              <a:schemeClr val="bg1">
                <a:lumMod val="75000"/>
              </a:schemeClr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560337" y="3523004"/>
            <a:ext cx="378970" cy="366742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349713" y="4481171"/>
            <a:ext cx="2800218" cy="87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节日促销：在重要节日（如春节、中秋节、重阳节等）推出促销活动，如赠送节日礼品、举办节日主题活动等，增强客户体验。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009232" y="3286130"/>
            <a:ext cx="840492" cy="8404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891554" y="3168451"/>
            <a:ext cx="1075848" cy="1075846"/>
          </a:xfrm>
          <a:prstGeom prst="ellipse">
            <a:avLst/>
          </a:prstGeom>
          <a:noFill/>
          <a:ln w="9525" cap="rnd">
            <a:solidFill>
              <a:schemeClr val="bg1">
                <a:lumMod val="75000"/>
              </a:schemeClr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2239993" y="3527782"/>
            <a:ext cx="378970" cy="357186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29369" y="4481171"/>
            <a:ext cx="2800218" cy="87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开业优惠：开业初期推出优惠活动，如入住首月享受 8 折优惠、赠送价值 1000 元的健康体检套餐等，吸引客户入住。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5669405" y="3286130"/>
            <a:ext cx="840492" cy="84048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5551727" y="3168451"/>
            <a:ext cx="1075848" cy="1075846"/>
          </a:xfrm>
          <a:prstGeom prst="ellipse">
            <a:avLst/>
          </a:prstGeom>
          <a:noFill/>
          <a:ln w="9525" cap="rnd">
            <a:solidFill>
              <a:schemeClr val="bg1">
                <a:lumMod val="75000"/>
              </a:schemeClr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5914726" y="3506267"/>
            <a:ext cx="349850" cy="37897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689542" y="4481171"/>
            <a:ext cx="2800218" cy="8749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会员制度：推出会员制度，会员享受专属优惠和服务，如优先入住、折扣优惠、定期健康检查等，增加客户粘性。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促销方案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09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9：生产计划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98900" y="2709757"/>
            <a:ext cx="10620000" cy="9000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flipH="1">
            <a:off x="654048" y="2691757"/>
            <a:ext cx="936000" cy="936000"/>
          </a:xfrm>
          <a:prstGeom prst="ellipse">
            <a:avLst/>
          </a:prstGeom>
          <a:solidFill>
            <a:schemeClr val="accent2"/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802216" y="2799757"/>
            <a:ext cx="936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智能化居住环境：养老院房间配备智能床、智能窗帘、智能灯光等设备，通过语音或手机 APP 控制，为老人提供舒适便捷的居住体验。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7200000">
            <a:off x="906048" y="2909653"/>
            <a:ext cx="432000" cy="500209"/>
          </a:xfrm>
          <a:custGeom>
            <a:avLst/>
            <a:gdLst>
              <a:gd name="connsiteX0" fmla="*/ 3964877 w 4017130"/>
              <a:gd name="connsiteY0" fmla="*/ 1199561 h 4352907"/>
              <a:gd name="connsiteX1" fmla="*/ 2967514 w 4017130"/>
              <a:gd name="connsiteY1" fmla="*/ 69991 h 4352907"/>
              <a:gd name="connsiteX2" fmla="*/ 2675506 w 4017130"/>
              <a:gd name="connsiteY2" fmla="*/ 51771 h 4352907"/>
              <a:gd name="connsiteX3" fmla="*/ 2657285 w 4017130"/>
              <a:gd name="connsiteY3" fmla="*/ 69991 h 4352907"/>
              <a:gd name="connsiteX4" fmla="*/ 1659827 w 4017130"/>
              <a:gd name="connsiteY4" fmla="*/ 1199561 h 4352907"/>
              <a:gd name="connsiteX5" fmla="*/ 1814989 w 4017130"/>
              <a:gd name="connsiteY5" fmla="*/ 1543414 h 4352907"/>
              <a:gd name="connsiteX6" fmla="*/ 2376964 w 4017130"/>
              <a:gd name="connsiteY6" fmla="*/ 1543414 h 4352907"/>
              <a:gd name="connsiteX7" fmla="*/ 0 w 4017130"/>
              <a:gd name="connsiteY7" fmla="*/ 4352908 h 4352907"/>
              <a:gd name="connsiteX8" fmla="*/ 3248025 w 4017130"/>
              <a:gd name="connsiteY8" fmla="*/ 1543033 h 4352907"/>
              <a:gd name="connsiteX9" fmla="*/ 3810000 w 4017130"/>
              <a:gd name="connsiteY9" fmla="*/ 1543033 h 4352907"/>
              <a:gd name="connsiteX10" fmla="*/ 3964877 w 4017130"/>
              <a:gd name="connsiteY10" fmla="*/ 1199561 h 4352907"/>
            </a:gdLst>
            <a:ahLst/>
            <a:cxnLst/>
            <a:rect l="l" t="t" r="r" b="b"/>
            <a:pathLst>
              <a:path w="4017130" h="4352907">
                <a:moveTo>
                  <a:pt x="3964877" y="1199561"/>
                </a:moveTo>
                <a:lnTo>
                  <a:pt x="2967514" y="69991"/>
                </a:lnTo>
                <a:cubicBezTo>
                  <a:pt x="2891904" y="-15676"/>
                  <a:pt x="2761174" y="-23834"/>
                  <a:pt x="2675506" y="51771"/>
                </a:cubicBezTo>
                <a:cubicBezTo>
                  <a:pt x="2669058" y="57460"/>
                  <a:pt x="2662971" y="63545"/>
                  <a:pt x="2657285" y="69991"/>
                </a:cubicBezTo>
                <a:lnTo>
                  <a:pt x="1659827" y="1199561"/>
                </a:lnTo>
                <a:cubicBezTo>
                  <a:pt x="1541907" y="1332911"/>
                  <a:pt x="1636776" y="1543414"/>
                  <a:pt x="1814989" y="1543414"/>
                </a:cubicBezTo>
                <a:lnTo>
                  <a:pt x="2376964" y="1543414"/>
                </a:lnTo>
                <a:cubicBezTo>
                  <a:pt x="2362200" y="3681014"/>
                  <a:pt x="0" y="4352908"/>
                  <a:pt x="0" y="4352908"/>
                </a:cubicBezTo>
                <a:cubicBezTo>
                  <a:pt x="0" y="4352908"/>
                  <a:pt x="3229451" y="3775121"/>
                  <a:pt x="3248025" y="1543033"/>
                </a:cubicBezTo>
                <a:lnTo>
                  <a:pt x="3810000" y="1543033"/>
                </a:lnTo>
                <a:cubicBezTo>
                  <a:pt x="3988022" y="1543033"/>
                  <a:pt x="4082891" y="1333483"/>
                  <a:pt x="3964877" y="119956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90597" y="1417395"/>
            <a:ext cx="9798106" cy="8404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新产品采用了创新的配方和独特的口味，受到消费者的欢迎；新产品的市场反应良好，销售额超过预期。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8900" y="3819382"/>
            <a:ext cx="10620000" cy="90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802216" y="3909382"/>
            <a:ext cx="936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康复设备：配备先进的康复设备，如智能康复机器人、多功能康复训练器械等，为老人提供专业的康复训练服务。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654048" y="3801382"/>
            <a:ext cx="936000" cy="936000"/>
          </a:xfrm>
          <a:prstGeom prst="ellipse">
            <a:avLst/>
          </a:prstGeom>
          <a:solidFill>
            <a:schemeClr val="accent1"/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06048" y="4019276"/>
            <a:ext cx="432000" cy="500211"/>
          </a:xfrm>
          <a:custGeom>
            <a:avLst/>
            <a:gdLst>
              <a:gd name="connsiteX0" fmla="*/ 3964877 w 4017130"/>
              <a:gd name="connsiteY0" fmla="*/ 1199561 h 4352907"/>
              <a:gd name="connsiteX1" fmla="*/ 2967514 w 4017130"/>
              <a:gd name="connsiteY1" fmla="*/ 69991 h 4352907"/>
              <a:gd name="connsiteX2" fmla="*/ 2675506 w 4017130"/>
              <a:gd name="connsiteY2" fmla="*/ 51771 h 4352907"/>
              <a:gd name="connsiteX3" fmla="*/ 2657285 w 4017130"/>
              <a:gd name="connsiteY3" fmla="*/ 69991 h 4352907"/>
              <a:gd name="connsiteX4" fmla="*/ 1659827 w 4017130"/>
              <a:gd name="connsiteY4" fmla="*/ 1199561 h 4352907"/>
              <a:gd name="connsiteX5" fmla="*/ 1814989 w 4017130"/>
              <a:gd name="connsiteY5" fmla="*/ 1543414 h 4352907"/>
              <a:gd name="connsiteX6" fmla="*/ 2376964 w 4017130"/>
              <a:gd name="connsiteY6" fmla="*/ 1543414 h 4352907"/>
              <a:gd name="connsiteX7" fmla="*/ 0 w 4017130"/>
              <a:gd name="connsiteY7" fmla="*/ 4352908 h 4352907"/>
              <a:gd name="connsiteX8" fmla="*/ 3248025 w 4017130"/>
              <a:gd name="connsiteY8" fmla="*/ 1543033 h 4352907"/>
              <a:gd name="connsiteX9" fmla="*/ 3810000 w 4017130"/>
              <a:gd name="connsiteY9" fmla="*/ 1543033 h 4352907"/>
              <a:gd name="connsiteX10" fmla="*/ 3964877 w 4017130"/>
              <a:gd name="connsiteY10" fmla="*/ 1199561 h 4352907"/>
            </a:gdLst>
            <a:ahLst/>
            <a:cxnLst/>
            <a:rect l="l" t="t" r="r" b="b"/>
            <a:pathLst>
              <a:path w="4017130" h="4352907">
                <a:moveTo>
                  <a:pt x="3964877" y="1199561"/>
                </a:moveTo>
                <a:lnTo>
                  <a:pt x="2967514" y="69991"/>
                </a:lnTo>
                <a:cubicBezTo>
                  <a:pt x="2891904" y="-15676"/>
                  <a:pt x="2761174" y="-23834"/>
                  <a:pt x="2675506" y="51771"/>
                </a:cubicBezTo>
                <a:cubicBezTo>
                  <a:pt x="2669058" y="57460"/>
                  <a:pt x="2662971" y="63545"/>
                  <a:pt x="2657285" y="69991"/>
                </a:cubicBezTo>
                <a:lnTo>
                  <a:pt x="1659827" y="1199561"/>
                </a:lnTo>
                <a:cubicBezTo>
                  <a:pt x="1541907" y="1332911"/>
                  <a:pt x="1636776" y="1543414"/>
                  <a:pt x="1814989" y="1543414"/>
                </a:cubicBezTo>
                <a:lnTo>
                  <a:pt x="2376964" y="1543414"/>
                </a:lnTo>
                <a:cubicBezTo>
                  <a:pt x="2362200" y="3681014"/>
                  <a:pt x="0" y="4352908"/>
                  <a:pt x="0" y="4352908"/>
                </a:cubicBezTo>
                <a:cubicBezTo>
                  <a:pt x="0" y="4352908"/>
                  <a:pt x="3229451" y="3775121"/>
                  <a:pt x="3248025" y="1543033"/>
                </a:cubicBezTo>
                <a:lnTo>
                  <a:pt x="3810000" y="1543033"/>
                </a:lnTo>
                <a:cubicBezTo>
                  <a:pt x="3988022" y="1543033"/>
                  <a:pt x="4082891" y="1333483"/>
                  <a:pt x="3964877" y="119956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98900" y="4929005"/>
            <a:ext cx="10620000" cy="90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802216" y="5019004"/>
            <a:ext cx="936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公共设施：公共区域安装智能安防系统，包括门禁系统、视频监控系统、紧急呼叫系统等，全方位保障老人安全。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flipH="1">
            <a:off x="654048" y="4911005"/>
            <a:ext cx="936000" cy="936000"/>
          </a:xfrm>
          <a:prstGeom prst="ellipse">
            <a:avLst/>
          </a:prstGeom>
          <a:solidFill>
            <a:schemeClr val="accent1"/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06048" y="5128899"/>
            <a:ext cx="432000" cy="500211"/>
          </a:xfrm>
          <a:custGeom>
            <a:avLst/>
            <a:gdLst>
              <a:gd name="connsiteX0" fmla="*/ 3964877 w 4017130"/>
              <a:gd name="connsiteY0" fmla="*/ 1199561 h 4352907"/>
              <a:gd name="connsiteX1" fmla="*/ 2967514 w 4017130"/>
              <a:gd name="connsiteY1" fmla="*/ 69991 h 4352907"/>
              <a:gd name="connsiteX2" fmla="*/ 2675506 w 4017130"/>
              <a:gd name="connsiteY2" fmla="*/ 51771 h 4352907"/>
              <a:gd name="connsiteX3" fmla="*/ 2657285 w 4017130"/>
              <a:gd name="connsiteY3" fmla="*/ 69991 h 4352907"/>
              <a:gd name="connsiteX4" fmla="*/ 1659827 w 4017130"/>
              <a:gd name="connsiteY4" fmla="*/ 1199561 h 4352907"/>
              <a:gd name="connsiteX5" fmla="*/ 1814989 w 4017130"/>
              <a:gd name="connsiteY5" fmla="*/ 1543414 h 4352907"/>
              <a:gd name="connsiteX6" fmla="*/ 2376964 w 4017130"/>
              <a:gd name="connsiteY6" fmla="*/ 1543414 h 4352907"/>
              <a:gd name="connsiteX7" fmla="*/ 0 w 4017130"/>
              <a:gd name="connsiteY7" fmla="*/ 4352908 h 4352907"/>
              <a:gd name="connsiteX8" fmla="*/ 3248025 w 4017130"/>
              <a:gd name="connsiteY8" fmla="*/ 1543033 h 4352907"/>
              <a:gd name="connsiteX9" fmla="*/ 3810000 w 4017130"/>
              <a:gd name="connsiteY9" fmla="*/ 1543033 h 4352907"/>
              <a:gd name="connsiteX10" fmla="*/ 3964877 w 4017130"/>
              <a:gd name="connsiteY10" fmla="*/ 1199561 h 4352907"/>
            </a:gdLst>
            <a:ahLst/>
            <a:cxnLst/>
            <a:rect l="l" t="t" r="r" b="b"/>
            <a:pathLst>
              <a:path w="4017130" h="4352907">
                <a:moveTo>
                  <a:pt x="3964877" y="1199561"/>
                </a:moveTo>
                <a:lnTo>
                  <a:pt x="2967514" y="69991"/>
                </a:lnTo>
                <a:cubicBezTo>
                  <a:pt x="2891904" y="-15676"/>
                  <a:pt x="2761174" y="-23834"/>
                  <a:pt x="2675506" y="51771"/>
                </a:cubicBezTo>
                <a:cubicBezTo>
                  <a:pt x="2669058" y="57460"/>
                  <a:pt x="2662971" y="63545"/>
                  <a:pt x="2657285" y="69991"/>
                </a:cubicBezTo>
                <a:lnTo>
                  <a:pt x="1659827" y="1199561"/>
                </a:lnTo>
                <a:cubicBezTo>
                  <a:pt x="1541907" y="1332911"/>
                  <a:pt x="1636776" y="1543414"/>
                  <a:pt x="1814989" y="1543414"/>
                </a:cubicBezTo>
                <a:lnTo>
                  <a:pt x="2376964" y="1543414"/>
                </a:lnTo>
                <a:cubicBezTo>
                  <a:pt x="2362200" y="3681014"/>
                  <a:pt x="0" y="4352908"/>
                  <a:pt x="0" y="4352908"/>
                </a:cubicBezTo>
                <a:cubicBezTo>
                  <a:pt x="0" y="4352908"/>
                  <a:pt x="3229451" y="3775121"/>
                  <a:pt x="3248025" y="1543033"/>
                </a:cubicBezTo>
                <a:lnTo>
                  <a:pt x="3810000" y="1543033"/>
                </a:lnTo>
                <a:cubicBezTo>
                  <a:pt x="3988022" y="1543033"/>
                  <a:pt x="4082891" y="1333483"/>
                  <a:pt x="3964877" y="119956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硬件条件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838325" y="-1107290"/>
            <a:ext cx="9350376" cy="9350372"/>
          </a:xfrm>
          <a:prstGeom prst="arc">
            <a:avLst>
              <a:gd name="adj1" fmla="val 18716968"/>
              <a:gd name="adj2" fmla="val 284618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1829582"/>
            <a:ext cx="6486182" cy="3490914"/>
          </a:xfrm>
          <a:custGeom>
            <a:avLst/>
            <a:gdLst>
              <a:gd name="connsiteX0" fmla="*/ 0 w 6486182"/>
              <a:gd name="connsiteY0" fmla="*/ 0 h 3490914"/>
              <a:gd name="connsiteX1" fmla="*/ 4740726 w 6486182"/>
              <a:gd name="connsiteY1" fmla="*/ 0 h 3490914"/>
              <a:gd name="connsiteX2" fmla="*/ 6486182 w 6486182"/>
              <a:gd name="connsiteY2" fmla="*/ 1745457 h 3490914"/>
              <a:gd name="connsiteX3" fmla="*/ 6486181 w 6486182"/>
              <a:gd name="connsiteY3" fmla="*/ 1745457 h 3490914"/>
              <a:gd name="connsiteX4" fmla="*/ 4740724 w 6486182"/>
              <a:gd name="connsiteY4" fmla="*/ 3490914 h 3490914"/>
              <a:gd name="connsiteX5" fmla="*/ 0 w 6486182"/>
              <a:gd name="connsiteY5" fmla="*/ 3490913 h 3490914"/>
            </a:gdLst>
            <a:ahLst/>
            <a:cxnLst/>
            <a:rect l="l" t="t" r="r" b="b"/>
            <a:pathLst>
              <a:path w="6486182" h="3490914">
                <a:moveTo>
                  <a:pt x="0" y="0"/>
                </a:moveTo>
                <a:lnTo>
                  <a:pt x="4740726" y="0"/>
                </a:lnTo>
                <a:cubicBezTo>
                  <a:pt x="5704714" y="0"/>
                  <a:pt x="6486182" y="781468"/>
                  <a:pt x="6486182" y="1745457"/>
                </a:cubicBezTo>
                <a:lnTo>
                  <a:pt x="6486181" y="1745457"/>
                </a:lnTo>
                <a:cubicBezTo>
                  <a:pt x="6486181" y="2709446"/>
                  <a:pt x="5704713" y="3490914"/>
                  <a:pt x="4740724" y="3490914"/>
                </a:cubicBezTo>
                <a:lnTo>
                  <a:pt x="0" y="349091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862976" y="1555308"/>
            <a:ext cx="744810" cy="851280"/>
            <a:chOff x="6862976" y="1555308"/>
            <a:chExt cx="744810" cy="851280"/>
          </a:xfrm>
        </p:grpSpPr>
        <p:sp>
          <p:nvSpPr>
            <p:cNvPr id="8" name="标题 1"/>
            <p:cNvSpPr txBox="1"/>
            <p:nvPr/>
          </p:nvSpPr>
          <p:spPr>
            <a:xfrm>
              <a:off x="6862976" y="1555308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lumMod val="98000"/>
                    <a:lumOff val="2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blurRad="330200" dist="203200" dir="5400000" sx="90000" sy="90000" algn="t" rotWithShape="0">
                <a:schemeClr val="accent1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>
              <a:off x="6912116" y="1611472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0" name="标题 1"/>
            <p:cNvSpPr txBox="1"/>
            <p:nvPr/>
          </p:nvSpPr>
          <p:spPr>
            <a:xfrm>
              <a:off x="7100850" y="1837005"/>
              <a:ext cx="269061" cy="269101"/>
            </a:xfrm>
            <a:custGeom>
              <a:avLst/>
              <a:gdLst>
                <a:gd name="connsiteX0" fmla="*/ 579031 w 719895"/>
                <a:gd name="connsiteY0" fmla="*/ 554022 h 720000"/>
                <a:gd name="connsiteX1" fmla="*/ 596778 w 719895"/>
                <a:gd name="connsiteY1" fmla="*/ 561368 h 720000"/>
                <a:gd name="connsiteX2" fmla="*/ 712550 w 719895"/>
                <a:gd name="connsiteY2" fmla="*/ 677140 h 720000"/>
                <a:gd name="connsiteX3" fmla="*/ 712550 w 719895"/>
                <a:gd name="connsiteY3" fmla="*/ 712634 h 720000"/>
                <a:gd name="connsiteX4" fmla="*/ 694887 w 719895"/>
                <a:gd name="connsiteY4" fmla="*/ 720000 h 720000"/>
                <a:gd name="connsiteX5" fmla="*/ 677140 w 719895"/>
                <a:gd name="connsiteY5" fmla="*/ 712634 h 720000"/>
                <a:gd name="connsiteX6" fmla="*/ 561284 w 719895"/>
                <a:gd name="connsiteY6" fmla="*/ 596861 h 720000"/>
                <a:gd name="connsiteX7" fmla="*/ 561284 w 719895"/>
                <a:gd name="connsiteY7" fmla="*/ 561368 h 720000"/>
                <a:gd name="connsiteX8" fmla="*/ 579031 w 719895"/>
                <a:gd name="connsiteY8" fmla="*/ 554022 h 720000"/>
                <a:gd name="connsiteX9" fmla="*/ 301109 w 719895"/>
                <a:gd name="connsiteY9" fmla="*/ 0 h 720000"/>
                <a:gd name="connsiteX10" fmla="*/ 602219 w 719895"/>
                <a:gd name="connsiteY10" fmla="*/ 301109 h 720000"/>
                <a:gd name="connsiteX11" fmla="*/ 301109 w 719895"/>
                <a:gd name="connsiteY11" fmla="*/ 602219 h 720000"/>
                <a:gd name="connsiteX12" fmla="*/ 0 w 719895"/>
                <a:gd name="connsiteY12" fmla="*/ 301109 h 720000"/>
                <a:gd name="connsiteX13" fmla="*/ 301109 w 719895"/>
                <a:gd name="connsiteY13" fmla="*/ 0 h 720000"/>
              </a:gdLst>
              <a:ahLst/>
              <a:cxnLst/>
              <a:rect l="l" t="t" r="r" b="b"/>
              <a:pathLst>
                <a:path w="719895" h="720000">
                  <a:moveTo>
                    <a:pt x="579031" y="554022"/>
                  </a:moveTo>
                  <a:cubicBezTo>
                    <a:pt x="585456" y="554022"/>
                    <a:pt x="591880" y="556471"/>
                    <a:pt x="596778" y="561368"/>
                  </a:cubicBezTo>
                  <a:lnTo>
                    <a:pt x="712550" y="677140"/>
                  </a:lnTo>
                  <a:cubicBezTo>
                    <a:pt x="722344" y="686935"/>
                    <a:pt x="722344" y="702840"/>
                    <a:pt x="712550" y="712634"/>
                  </a:cubicBezTo>
                  <a:cubicBezTo>
                    <a:pt x="707778" y="717573"/>
                    <a:pt x="701333" y="720000"/>
                    <a:pt x="694887" y="720000"/>
                  </a:cubicBezTo>
                  <a:cubicBezTo>
                    <a:pt x="688441" y="720000"/>
                    <a:pt x="681995" y="717573"/>
                    <a:pt x="677140" y="712634"/>
                  </a:cubicBezTo>
                  <a:lnTo>
                    <a:pt x="561284" y="596861"/>
                  </a:lnTo>
                  <a:cubicBezTo>
                    <a:pt x="551490" y="587067"/>
                    <a:pt x="551490" y="571162"/>
                    <a:pt x="561284" y="561368"/>
                  </a:cubicBezTo>
                  <a:cubicBezTo>
                    <a:pt x="566181" y="556471"/>
                    <a:pt x="572606" y="554022"/>
                    <a:pt x="579031" y="554022"/>
                  </a:cubicBezTo>
                  <a:close/>
                  <a:moveTo>
                    <a:pt x="301109" y="0"/>
                  </a:moveTo>
                  <a:cubicBezTo>
                    <a:pt x="467443" y="0"/>
                    <a:pt x="602219" y="134859"/>
                    <a:pt x="602219" y="301109"/>
                  </a:cubicBezTo>
                  <a:cubicBezTo>
                    <a:pt x="602219" y="467443"/>
                    <a:pt x="467443" y="602219"/>
                    <a:pt x="301109" y="602219"/>
                  </a:cubicBezTo>
                  <a:cubicBezTo>
                    <a:pt x="134775" y="602219"/>
                    <a:pt x="0" y="467443"/>
                    <a:pt x="0" y="301109"/>
                  </a:cubicBezTo>
                  <a:cubicBezTo>
                    <a:pt x="0" y="134775"/>
                    <a:pt x="134775" y="0"/>
                    <a:pt x="3011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1" name="标题 1"/>
          <p:cNvSpPr txBox="1"/>
          <p:nvPr/>
        </p:nvSpPr>
        <p:spPr>
          <a:xfrm>
            <a:off x="7746416" y="1563628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AI 技术应用团队：组建专业的 AI 技术应用团队，负责智能设备的研发、维护和升级，确保设备稳定运行和功能优化。</a:t>
            </a:r>
            <a:endParaRPr kumimoji="1"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7239462" y="3155046"/>
            <a:ext cx="744810" cy="851280"/>
            <a:chOff x="7239462" y="3155046"/>
            <a:chExt cx="744810" cy="851280"/>
          </a:xfrm>
        </p:grpSpPr>
        <p:sp>
          <p:nvSpPr>
            <p:cNvPr id="13" name="标题 1"/>
            <p:cNvSpPr txBox="1"/>
            <p:nvPr/>
          </p:nvSpPr>
          <p:spPr>
            <a:xfrm>
              <a:off x="7239462" y="3155046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blurRad="330200" dist="203200" dir="5400000" sx="90000" sy="90000" algn="t" rotWithShape="0">
                <a:schemeClr val="accent2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>
              <a:off x="7288601" y="3211214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7477315" y="3446825"/>
              <a:ext cx="269101" cy="248936"/>
            </a:xfrm>
            <a:custGeom>
              <a:avLst/>
              <a:gdLst>
                <a:gd name="connsiteX0" fmla="*/ 2136435 w 5834559"/>
                <a:gd name="connsiteY0" fmla="*/ 643126 h 5397372"/>
                <a:gd name="connsiteX1" fmla="*/ 3716657 w 5834559"/>
                <a:gd name="connsiteY1" fmla="*/ 643126 h 5397372"/>
                <a:gd name="connsiteX2" fmla="*/ 3716657 w 5834559"/>
                <a:gd name="connsiteY2" fmla="*/ 1064855 h 5397372"/>
                <a:gd name="connsiteX3" fmla="*/ 2136435 w 5834559"/>
                <a:gd name="connsiteY3" fmla="*/ 1064855 h 5397372"/>
                <a:gd name="connsiteX4" fmla="*/ 693741 w 5834559"/>
                <a:gd name="connsiteY4" fmla="*/ 643126 h 5397372"/>
                <a:gd name="connsiteX5" fmla="*/ 1550121 w 5834559"/>
                <a:gd name="connsiteY5" fmla="*/ 643126 h 5397372"/>
                <a:gd name="connsiteX6" fmla="*/ 1550121 w 5834559"/>
                <a:gd name="connsiteY6" fmla="*/ 1064855 h 5397372"/>
                <a:gd name="connsiteX7" fmla="*/ 693741 w 5834559"/>
                <a:gd name="connsiteY7" fmla="*/ 1064855 h 5397372"/>
                <a:gd name="connsiteX8" fmla="*/ 421729 w 5834559"/>
                <a:gd name="connsiteY8" fmla="*/ 1336867 h 5397372"/>
                <a:gd name="connsiteX9" fmla="*/ 421729 w 5834559"/>
                <a:gd name="connsiteY9" fmla="*/ 2079805 h 5397372"/>
                <a:gd name="connsiteX10" fmla="*/ 5412133 w 5834559"/>
                <a:gd name="connsiteY10" fmla="*/ 2079805 h 5397372"/>
                <a:gd name="connsiteX11" fmla="*/ 5412133 w 5834559"/>
                <a:gd name="connsiteY11" fmla="*/ 1336867 h 5397372"/>
                <a:gd name="connsiteX12" fmla="*/ 5140113 w 5834559"/>
                <a:gd name="connsiteY12" fmla="*/ 1064855 h 5397372"/>
                <a:gd name="connsiteX13" fmla="*/ 4302971 w 5834559"/>
                <a:gd name="connsiteY13" fmla="*/ 1064855 h 5397372"/>
                <a:gd name="connsiteX14" fmla="*/ 4302971 w 5834559"/>
                <a:gd name="connsiteY14" fmla="*/ 643126 h 5397372"/>
                <a:gd name="connsiteX15" fmla="*/ 5140113 w 5834559"/>
                <a:gd name="connsiteY15" fmla="*/ 643126 h 5397372"/>
                <a:gd name="connsiteX16" fmla="*/ 5834559 w 5834559"/>
                <a:gd name="connsiteY16" fmla="*/ 1336867 h 5397372"/>
                <a:gd name="connsiteX17" fmla="*/ 5834559 w 5834559"/>
                <a:gd name="connsiteY17" fmla="*/ 4703631 h 5397372"/>
                <a:gd name="connsiteX18" fmla="*/ 5140818 w 5834559"/>
                <a:gd name="connsiteY18" fmla="*/ 5397372 h 5397372"/>
                <a:gd name="connsiteX19" fmla="*/ 693741 w 5834559"/>
                <a:gd name="connsiteY19" fmla="*/ 5397372 h 5397372"/>
                <a:gd name="connsiteX20" fmla="*/ 0 w 5834559"/>
                <a:gd name="connsiteY20" fmla="*/ 4703631 h 5397372"/>
                <a:gd name="connsiteX21" fmla="*/ 0 w 5834559"/>
                <a:gd name="connsiteY21" fmla="*/ 2501529 h 5397372"/>
                <a:gd name="connsiteX22" fmla="*/ 0 w 5834559"/>
                <a:gd name="connsiteY22" fmla="*/ 2079805 h 5397372"/>
                <a:gd name="connsiteX23" fmla="*/ 0 w 5834559"/>
                <a:gd name="connsiteY23" fmla="*/ 1336867 h 5397372"/>
                <a:gd name="connsiteX24" fmla="*/ 693741 w 5834559"/>
                <a:gd name="connsiteY24" fmla="*/ 643126 h 5397372"/>
                <a:gd name="connsiteX25" fmla="*/ 3997242 w 5834559"/>
                <a:gd name="connsiteY25" fmla="*/ 0 h 5397372"/>
                <a:gd name="connsiteX26" fmla="*/ 4208106 w 5834559"/>
                <a:gd name="connsiteY26" fmla="*/ 210864 h 5397372"/>
                <a:gd name="connsiteX27" fmla="*/ 4208106 w 5834559"/>
                <a:gd name="connsiteY27" fmla="*/ 1506961 h 5397372"/>
                <a:gd name="connsiteX28" fmla="*/ 3997242 w 5834559"/>
                <a:gd name="connsiteY28" fmla="*/ 1718528 h 5397372"/>
                <a:gd name="connsiteX29" fmla="*/ 3786378 w 5834559"/>
                <a:gd name="connsiteY29" fmla="*/ 1507664 h 5397372"/>
                <a:gd name="connsiteX30" fmla="*/ 3786378 w 5834559"/>
                <a:gd name="connsiteY30" fmla="*/ 210864 h 5397372"/>
                <a:gd name="connsiteX31" fmla="*/ 3997242 w 5834559"/>
                <a:gd name="connsiteY31" fmla="*/ 0 h 5397372"/>
                <a:gd name="connsiteX32" fmla="*/ 1836609 w 5834559"/>
                <a:gd name="connsiteY32" fmla="*/ 0 h 5397372"/>
                <a:gd name="connsiteX33" fmla="*/ 2047469 w 5834559"/>
                <a:gd name="connsiteY33" fmla="*/ 210864 h 5397372"/>
                <a:gd name="connsiteX34" fmla="*/ 2047469 w 5834559"/>
                <a:gd name="connsiteY34" fmla="*/ 1506961 h 5397372"/>
                <a:gd name="connsiteX35" fmla="*/ 1836609 w 5834559"/>
                <a:gd name="connsiteY35" fmla="*/ 1718528 h 5397372"/>
                <a:gd name="connsiteX36" fmla="*/ 1625745 w 5834559"/>
                <a:gd name="connsiteY36" fmla="*/ 1507664 h 5397372"/>
                <a:gd name="connsiteX37" fmla="*/ 1625745 w 5834559"/>
                <a:gd name="connsiteY37" fmla="*/ 210864 h 5397372"/>
                <a:gd name="connsiteX38" fmla="*/ 1836609 w 5834559"/>
                <a:gd name="connsiteY38" fmla="*/ 0 h 5397372"/>
              </a:gdLst>
              <a:ahLst/>
              <a:cxnLst/>
              <a:rect l="l" t="t" r="r" b="b"/>
              <a:pathLst>
                <a:path w="5834559" h="5397372">
                  <a:moveTo>
                    <a:pt x="2136435" y="643126"/>
                  </a:moveTo>
                  <a:lnTo>
                    <a:pt x="3716657" y="643126"/>
                  </a:lnTo>
                  <a:lnTo>
                    <a:pt x="3716657" y="1064855"/>
                  </a:lnTo>
                  <a:lnTo>
                    <a:pt x="2136435" y="1064855"/>
                  </a:lnTo>
                  <a:close/>
                  <a:moveTo>
                    <a:pt x="693741" y="643126"/>
                  </a:moveTo>
                  <a:lnTo>
                    <a:pt x="1550121" y="643126"/>
                  </a:lnTo>
                  <a:lnTo>
                    <a:pt x="1550121" y="1064855"/>
                  </a:lnTo>
                  <a:lnTo>
                    <a:pt x="693741" y="1064855"/>
                  </a:lnTo>
                  <a:cubicBezTo>
                    <a:pt x="543320" y="1064855"/>
                    <a:pt x="421729" y="1187151"/>
                    <a:pt x="421729" y="1336867"/>
                  </a:cubicBezTo>
                  <a:lnTo>
                    <a:pt x="421729" y="2079805"/>
                  </a:lnTo>
                  <a:lnTo>
                    <a:pt x="5412133" y="2079805"/>
                  </a:lnTo>
                  <a:lnTo>
                    <a:pt x="5412133" y="1336867"/>
                  </a:lnTo>
                  <a:cubicBezTo>
                    <a:pt x="5412133" y="1186446"/>
                    <a:pt x="5289830" y="1064855"/>
                    <a:pt x="5140113" y="1064855"/>
                  </a:cubicBezTo>
                  <a:lnTo>
                    <a:pt x="4302971" y="1064855"/>
                  </a:lnTo>
                  <a:lnTo>
                    <a:pt x="4302971" y="643126"/>
                  </a:lnTo>
                  <a:lnTo>
                    <a:pt x="5140113" y="643126"/>
                  </a:lnTo>
                  <a:cubicBezTo>
                    <a:pt x="5523184" y="643126"/>
                    <a:pt x="5833854" y="953797"/>
                    <a:pt x="5834559" y="1336867"/>
                  </a:cubicBezTo>
                  <a:lnTo>
                    <a:pt x="5834559" y="4703631"/>
                  </a:lnTo>
                  <a:cubicBezTo>
                    <a:pt x="5834559" y="5085292"/>
                    <a:pt x="5522479" y="5397372"/>
                    <a:pt x="5140818" y="5397372"/>
                  </a:cubicBezTo>
                  <a:lnTo>
                    <a:pt x="693741" y="5397372"/>
                  </a:lnTo>
                  <a:cubicBezTo>
                    <a:pt x="312080" y="5397372"/>
                    <a:pt x="0" y="5085292"/>
                    <a:pt x="0" y="4703631"/>
                  </a:cubicBezTo>
                  <a:lnTo>
                    <a:pt x="0" y="2501529"/>
                  </a:lnTo>
                  <a:lnTo>
                    <a:pt x="0" y="2079805"/>
                  </a:lnTo>
                  <a:lnTo>
                    <a:pt x="0" y="1336867"/>
                  </a:lnTo>
                  <a:cubicBezTo>
                    <a:pt x="0" y="953797"/>
                    <a:pt x="310671" y="643126"/>
                    <a:pt x="693741" y="643126"/>
                  </a:cubicBezTo>
                  <a:close/>
                  <a:moveTo>
                    <a:pt x="3997242" y="0"/>
                  </a:moveTo>
                  <a:cubicBezTo>
                    <a:pt x="4113920" y="0"/>
                    <a:pt x="4208106" y="94186"/>
                    <a:pt x="4208106" y="210864"/>
                  </a:cubicBezTo>
                  <a:lnTo>
                    <a:pt x="4208106" y="1506961"/>
                  </a:lnTo>
                  <a:cubicBezTo>
                    <a:pt x="4208106" y="1623639"/>
                    <a:pt x="4113920" y="1718528"/>
                    <a:pt x="3997242" y="1718528"/>
                  </a:cubicBezTo>
                  <a:cubicBezTo>
                    <a:pt x="3880564" y="1718528"/>
                    <a:pt x="3786378" y="1624342"/>
                    <a:pt x="3786378" y="1507664"/>
                  </a:cubicBezTo>
                  <a:lnTo>
                    <a:pt x="3786378" y="210864"/>
                  </a:lnTo>
                  <a:cubicBezTo>
                    <a:pt x="3786378" y="94186"/>
                    <a:pt x="3880564" y="0"/>
                    <a:pt x="3997242" y="0"/>
                  </a:cubicBezTo>
                  <a:close/>
                  <a:moveTo>
                    <a:pt x="1836609" y="0"/>
                  </a:moveTo>
                  <a:cubicBezTo>
                    <a:pt x="1953287" y="0"/>
                    <a:pt x="2047469" y="94186"/>
                    <a:pt x="2047469" y="210864"/>
                  </a:cubicBezTo>
                  <a:lnTo>
                    <a:pt x="2047469" y="1506961"/>
                  </a:lnTo>
                  <a:cubicBezTo>
                    <a:pt x="2047469" y="1623639"/>
                    <a:pt x="1953287" y="1718528"/>
                    <a:pt x="1836609" y="1718528"/>
                  </a:cubicBezTo>
                  <a:cubicBezTo>
                    <a:pt x="1719932" y="1718528"/>
                    <a:pt x="1625745" y="1624342"/>
                    <a:pt x="1625745" y="1507664"/>
                  </a:cubicBezTo>
                  <a:lnTo>
                    <a:pt x="1625745" y="210864"/>
                  </a:lnTo>
                  <a:cubicBezTo>
                    <a:pt x="1625745" y="94186"/>
                    <a:pt x="1719932" y="0"/>
                    <a:pt x="18366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6" name="标题 1"/>
          <p:cNvSpPr txBox="1"/>
          <p:nvPr/>
        </p:nvSpPr>
        <p:spPr>
          <a:xfrm>
            <a:off x="8122902" y="3153285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专业护理人才配置：招聘具备专业资质和丰富经验的护理人员，为老人提供贴心、周到的护理服务。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-1311274" y="-580238"/>
            <a:ext cx="8296274" cy="8296270"/>
          </a:xfrm>
          <a:prstGeom prst="arc">
            <a:avLst>
              <a:gd name="adj1" fmla="val 19465670"/>
              <a:gd name="adj2" fmla="val 221115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3133861"/>
            <a:ext cx="5087257" cy="88235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爱设计是一家智能创意科技公司，
国内领先的内容创意全链路服务公司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746416" y="4742942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医疗团队：配备资深医生和护士，为老人提供及时准确的医疗服务，保障老人身体健康。</a:t>
            </a:r>
            <a:endParaRPr kumimoji="1"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862976" y="4734622"/>
            <a:ext cx="744810" cy="851280"/>
            <a:chOff x="6862976" y="4734622"/>
            <a:chExt cx="744810" cy="851280"/>
          </a:xfrm>
        </p:grpSpPr>
        <p:sp>
          <p:nvSpPr>
            <p:cNvPr id="21" name="标题 1"/>
            <p:cNvSpPr txBox="1"/>
            <p:nvPr/>
          </p:nvSpPr>
          <p:spPr>
            <a:xfrm>
              <a:off x="6862976" y="4734622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lumMod val="98000"/>
                    <a:lumOff val="2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blurRad="330200" dist="203200" dir="5400000" sx="90000" sy="90000" algn="t" rotWithShape="0">
                <a:schemeClr val="accent1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6912116" y="4790786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7091379" y="5004274"/>
              <a:ext cx="288000" cy="311972"/>
            </a:xfrm>
            <a:custGeom>
              <a:avLst/>
              <a:gdLst>
                <a:gd name="connsiteX0" fmla="*/ 332293 w 664672"/>
                <a:gd name="connsiteY0" fmla="*/ 387672 h 720001"/>
                <a:gd name="connsiteX1" fmla="*/ 660804 w 664672"/>
                <a:gd name="connsiteY1" fmla="*/ 598902 h 720001"/>
                <a:gd name="connsiteX2" fmla="*/ 563560 w 664672"/>
                <a:gd name="connsiteY2" fmla="*/ 720001 h 720001"/>
                <a:gd name="connsiteX3" fmla="*/ 101112 w 664672"/>
                <a:gd name="connsiteY3" fmla="*/ 720001 h 720001"/>
                <a:gd name="connsiteX4" fmla="*/ 3868 w 664672"/>
                <a:gd name="connsiteY4" fmla="*/ 598902 h 720001"/>
                <a:gd name="connsiteX5" fmla="*/ 332293 w 664672"/>
                <a:gd name="connsiteY5" fmla="*/ 387672 h 720001"/>
                <a:gd name="connsiteX6" fmla="*/ 332293 w 664672"/>
                <a:gd name="connsiteY6" fmla="*/ 0 h 720001"/>
                <a:gd name="connsiteX7" fmla="*/ 509517 w 664672"/>
                <a:gd name="connsiteY7" fmla="*/ 177224 h 720001"/>
                <a:gd name="connsiteX8" fmla="*/ 332293 w 664672"/>
                <a:gd name="connsiteY8" fmla="*/ 354448 h 720001"/>
                <a:gd name="connsiteX9" fmla="*/ 155069 w 664672"/>
                <a:gd name="connsiteY9" fmla="*/ 177224 h 720001"/>
                <a:gd name="connsiteX10" fmla="*/ 332293 w 664672"/>
                <a:gd name="connsiteY10" fmla="*/ 0 h 720001"/>
              </a:gdLst>
              <a:ahLst/>
              <a:cxnLst/>
              <a:rect l="l" t="t" r="r" b="b"/>
              <a:pathLst>
                <a:path w="664672" h="720001">
                  <a:moveTo>
                    <a:pt x="332293" y="387672"/>
                  </a:moveTo>
                  <a:cubicBezTo>
                    <a:pt x="550549" y="387672"/>
                    <a:pt x="628448" y="491162"/>
                    <a:pt x="660804" y="598902"/>
                  </a:cubicBezTo>
                  <a:cubicBezTo>
                    <a:pt x="679021" y="659624"/>
                    <a:pt x="630616" y="720001"/>
                    <a:pt x="563560" y="720001"/>
                  </a:cubicBezTo>
                  <a:lnTo>
                    <a:pt x="101112" y="720001"/>
                  </a:lnTo>
                  <a:cubicBezTo>
                    <a:pt x="34057" y="720001"/>
                    <a:pt x="-14348" y="659624"/>
                    <a:pt x="3868" y="598902"/>
                  </a:cubicBezTo>
                  <a:cubicBezTo>
                    <a:pt x="36138" y="491162"/>
                    <a:pt x="114037" y="387672"/>
                    <a:pt x="332293" y="387672"/>
                  </a:cubicBezTo>
                  <a:close/>
                  <a:moveTo>
                    <a:pt x="332293" y="0"/>
                  </a:moveTo>
                  <a:cubicBezTo>
                    <a:pt x="430230" y="0"/>
                    <a:pt x="509604" y="79287"/>
                    <a:pt x="509517" y="177224"/>
                  </a:cubicBezTo>
                  <a:cubicBezTo>
                    <a:pt x="509517" y="275074"/>
                    <a:pt x="430144" y="354448"/>
                    <a:pt x="332293" y="354448"/>
                  </a:cubicBezTo>
                  <a:cubicBezTo>
                    <a:pt x="234442" y="354448"/>
                    <a:pt x="155069" y="275074"/>
                    <a:pt x="155069" y="177224"/>
                  </a:cubicBezTo>
                  <a:cubicBezTo>
                    <a:pt x="155069" y="79287"/>
                    <a:pt x="234442" y="0"/>
                    <a:pt x="332293" y="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4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生产技术与人才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5399215">
            <a:off x="10434204" y="-1345769"/>
            <a:ext cx="2987112" cy="2987112"/>
          </a:xfrm>
          <a:prstGeom prst="donut">
            <a:avLst>
              <a:gd name="adj" fmla="val 13257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/>
              </a:gs>
            </a:gsLst>
            <a:lin ang="189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4444986"/>
            <a:ext cx="12192000" cy="2413013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  <a:alpha val="61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0800000">
            <a:off x="670922" y="2366152"/>
            <a:ext cx="3397550" cy="376794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0800000">
            <a:off x="4374850" y="2366152"/>
            <a:ext cx="3397550" cy="376794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0747" y="2787834"/>
            <a:ext cx="3057898" cy="30668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服务质量管控体系：建立完善的质量管控体系，涵盖服务流程、服务质量、安全卫生等各个方面，确保服务标准化、规范化。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44675" y="2787834"/>
            <a:ext cx="3057898" cy="30668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服务标准：制定详细的服务标准，包括护理服务、医疗服务、生活照料服务、文化娱乐服务等，确保服务内容和质量有章可循。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10800000">
            <a:off x="8078777" y="2366152"/>
            <a:ext cx="3397550" cy="376794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248603" y="2787834"/>
            <a:ext cx="3057898" cy="306686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客户反馈机制：定期开展服务质量评估，收集客户反馈意见，及时发现和解决服务中存在的问题，持续改进服务质量。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0800000">
            <a:off x="655100" y="1154999"/>
            <a:ext cx="10863797" cy="90635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95614" y="1421466"/>
            <a:ext cx="10382769" cy="3734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医药流通行业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质量管理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997649" y="2083574"/>
            <a:ext cx="2041779" cy="2833428"/>
          </a:xfrm>
          <a:prstGeom prst="roundRect">
            <a:avLst>
              <a:gd name="adj" fmla="val 7034"/>
            </a:avLst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248994" y="2083574"/>
            <a:ext cx="2041200" cy="2833428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381000" dist="127000" dir="5400000" sx="102000" sy="102000" algn="t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768443" y="2349800"/>
            <a:ext cx="500191" cy="500191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024418" y="2319895"/>
            <a:ext cx="490353" cy="560000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07558" y="3116217"/>
            <a:ext cx="1621960" cy="15517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21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日常服务流程规划：制定详细的日常服务流程，涵盖老人入住、日常护理、康复训练、文化娱乐等各个环节，确保服务有序进行。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447629" y="3135247"/>
            <a:ext cx="1643931" cy="15517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紧急事件处理流程：制定完善的紧急事件处理流程，涵盖医疗急救、火灾逃生、自然灾害应对等紧急情况，确保老人安全。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398" y="2226480"/>
            <a:ext cx="4005135" cy="24050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爱设计isheji.com是国内领先的在线设计与协作平台，并为众多先进企业提供内容中台解决方案。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492842" y="2083574"/>
            <a:ext cx="2041200" cy="2833428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381000" dist="127000" dir="5400000" sx="102000" sy="102000" algn="t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691477" y="3116217"/>
            <a:ext cx="1643931" cy="15517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服务优化：通过优化服务流程，提升服务效率和质量，增强客户满意度。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226766" y="2313219"/>
            <a:ext cx="573353" cy="573353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tx2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生产规划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21400083" flipH="1">
            <a:off x="1674234" y="1774704"/>
            <a:ext cx="8640000" cy="3960000"/>
          </a:xfrm>
          <a:prstGeom prst="roundRect">
            <a:avLst>
              <a:gd name="adj" fmla="val 7202"/>
            </a:avLst>
          </a:prstGeom>
          <a:solidFill>
            <a:schemeClr val="accent1"/>
          </a:soli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flipH="1">
            <a:off x="1674234" y="1774704"/>
            <a:ext cx="8640000" cy="3960000"/>
          </a:xfrm>
          <a:prstGeom prst="roundRect">
            <a:avLst>
              <a:gd name="adj" fmla="val 7202"/>
            </a:avLst>
          </a:prstGeom>
          <a:solidFill>
            <a:schemeClr val="bg1"/>
          </a:solidFill>
          <a:ln w="12700" cap="rnd">
            <a:solidFill>
              <a:schemeClr val="accent1"/>
            </a:solidFill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339286" y="2376762"/>
            <a:ext cx="7560000" cy="82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生活用品供应：建立稳定的生活用品供应渠道，确保老人日常所需的生活用品及时、足量供应。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089183" y="2455902"/>
            <a:ext cx="126854" cy="131412"/>
          </a:xfrm>
          <a:custGeom>
            <a:avLst/>
            <a:gdLst>
              <a:gd name="T0" fmla="*/ 7371 w 17675"/>
              <a:gd name="T1" fmla="*/ 1125 h 18310"/>
              <a:gd name="T2" fmla="*/ 5959 w 17675"/>
              <a:gd name="T3" fmla="*/ 593 h 18310"/>
              <a:gd name="T4" fmla="*/ 4735 w 17675"/>
              <a:gd name="T5" fmla="*/ 240 h 18310"/>
              <a:gd name="T6" fmla="*/ 3627 w 17675"/>
              <a:gd name="T7" fmla="*/ 54 h 18310"/>
              <a:gd name="T8" fmla="*/ 2806 w 17675"/>
              <a:gd name="T9" fmla="*/ 7 h 18310"/>
              <a:gd name="T10" fmla="*/ 2454 w 17675"/>
              <a:gd name="T11" fmla="*/ 85 h 18310"/>
              <a:gd name="T12" fmla="*/ 2132 w 17675"/>
              <a:gd name="T13" fmla="*/ 262 h 18310"/>
              <a:gd name="T14" fmla="*/ 1838 w 17675"/>
              <a:gd name="T15" fmla="*/ 533 h 18310"/>
              <a:gd name="T16" fmla="*/ 1454 w 17675"/>
              <a:gd name="T17" fmla="*/ 1111 h 18310"/>
              <a:gd name="T18" fmla="*/ 1261 w 17675"/>
              <a:gd name="T19" fmla="*/ 1545 h 18310"/>
              <a:gd name="T20" fmla="*/ 1008 w 17675"/>
              <a:gd name="T21" fmla="*/ 2315 h 18310"/>
              <a:gd name="T22" fmla="*/ 836 w 17675"/>
              <a:gd name="T23" fmla="*/ 2906 h 18310"/>
              <a:gd name="T24" fmla="*/ 683 w 17675"/>
              <a:gd name="T25" fmla="*/ 3519 h 18310"/>
              <a:gd name="T26" fmla="*/ 506 w 17675"/>
              <a:gd name="T27" fmla="*/ 4330 h 18310"/>
              <a:gd name="T28" fmla="*/ 356 w 17675"/>
              <a:gd name="T29" fmla="*/ 5177 h 18310"/>
              <a:gd name="T30" fmla="*/ 199 w 17675"/>
              <a:gd name="T31" fmla="*/ 6352 h 18310"/>
              <a:gd name="T32" fmla="*/ 65 w 17675"/>
              <a:gd name="T33" fmla="*/ 7805 h 18310"/>
              <a:gd name="T34" fmla="*/ 1 w 17675"/>
              <a:gd name="T35" fmla="*/ 9354 h 18310"/>
              <a:gd name="T36" fmla="*/ 54 w 17675"/>
              <a:gd name="T37" fmla="*/ 10490 h 18310"/>
              <a:gd name="T38" fmla="*/ 149 w 17675"/>
              <a:gd name="T39" fmla="*/ 11811 h 18310"/>
              <a:gd name="T40" fmla="*/ 298 w 17675"/>
              <a:gd name="T41" fmla="*/ 13066 h 18310"/>
              <a:gd name="T42" fmla="*/ 650 w 17675"/>
              <a:gd name="T43" fmla="*/ 14979 h 18310"/>
              <a:gd name="T44" fmla="*/ 991 w 17675"/>
              <a:gd name="T45" fmla="*/ 16266 h 18310"/>
              <a:gd name="T46" fmla="*/ 1332 w 17675"/>
              <a:gd name="T47" fmla="*/ 17156 h 18310"/>
              <a:gd name="T48" fmla="*/ 1598 w 17675"/>
              <a:gd name="T49" fmla="*/ 17614 h 18310"/>
              <a:gd name="T50" fmla="*/ 1917 w 17675"/>
              <a:gd name="T51" fmla="*/ 17970 h 18310"/>
              <a:gd name="T52" fmla="*/ 2349 w 17675"/>
              <a:gd name="T53" fmla="*/ 18232 h 18310"/>
              <a:gd name="T54" fmla="*/ 2745 w 17675"/>
              <a:gd name="T55" fmla="*/ 18309 h 18310"/>
              <a:gd name="T56" fmla="*/ 3384 w 17675"/>
              <a:gd name="T57" fmla="*/ 18287 h 18310"/>
              <a:gd name="T58" fmla="*/ 4157 w 17675"/>
              <a:gd name="T59" fmla="*/ 18192 h 18310"/>
              <a:gd name="T60" fmla="*/ 5006 w 17675"/>
              <a:gd name="T61" fmla="*/ 18009 h 18310"/>
              <a:gd name="T62" fmla="*/ 6483 w 17675"/>
              <a:gd name="T63" fmla="*/ 17544 h 18310"/>
              <a:gd name="T64" fmla="*/ 7200 w 17675"/>
              <a:gd name="T65" fmla="*/ 17277 h 18310"/>
              <a:gd name="T66" fmla="*/ 8295 w 17675"/>
              <a:gd name="T67" fmla="*/ 16841 h 18310"/>
              <a:gd name="T68" fmla="*/ 8872 w 17675"/>
              <a:gd name="T69" fmla="*/ 16605 h 18310"/>
              <a:gd name="T70" fmla="*/ 9346 w 17675"/>
              <a:gd name="T71" fmla="*/ 16391 h 18310"/>
              <a:gd name="T72" fmla="*/ 10057 w 17675"/>
              <a:gd name="T73" fmla="*/ 16048 h 18310"/>
              <a:gd name="T74" fmla="*/ 10903 w 17675"/>
              <a:gd name="T75" fmla="*/ 15584 h 18310"/>
              <a:gd name="T76" fmla="*/ 11867 w 17675"/>
              <a:gd name="T77" fmla="*/ 14997 h 18310"/>
              <a:gd name="T78" fmla="*/ 12590 w 17675"/>
              <a:gd name="T79" fmla="*/ 14528 h 18310"/>
              <a:gd name="T80" fmla="*/ 13212 w 17675"/>
              <a:gd name="T81" fmla="*/ 14088 h 18310"/>
              <a:gd name="T82" fmla="*/ 14481 w 17675"/>
              <a:gd name="T83" fmla="*/ 13112 h 18310"/>
              <a:gd name="T84" fmla="*/ 14802 w 17675"/>
              <a:gd name="T85" fmla="*/ 12854 h 18310"/>
              <a:gd name="T86" fmla="*/ 15451 w 17675"/>
              <a:gd name="T87" fmla="*/ 12291 h 18310"/>
              <a:gd name="T88" fmla="*/ 15927 w 17675"/>
              <a:gd name="T89" fmla="*/ 11853 h 18310"/>
              <a:gd name="T90" fmla="*/ 16443 w 17675"/>
              <a:gd name="T91" fmla="*/ 11335 h 18310"/>
              <a:gd name="T92" fmla="*/ 16856 w 17675"/>
              <a:gd name="T93" fmla="*/ 10896 h 18310"/>
              <a:gd name="T94" fmla="*/ 17295 w 17675"/>
              <a:gd name="T95" fmla="*/ 10296 h 18310"/>
              <a:gd name="T96" fmla="*/ 17543 w 17675"/>
              <a:gd name="T97" fmla="*/ 9805 h 18310"/>
              <a:gd name="T98" fmla="*/ 17675 w 17675"/>
              <a:gd name="T99" fmla="*/ 9283 h 18310"/>
              <a:gd name="T100" fmla="*/ 17609 w 17675"/>
              <a:gd name="T101" fmla="*/ 8895 h 18310"/>
              <a:gd name="T102" fmla="*/ 17328 w 17675"/>
              <a:gd name="T103" fmla="*/ 8254 h 18310"/>
              <a:gd name="T104" fmla="*/ 16958 w 17675"/>
              <a:gd name="T105" fmla="*/ 7727 h 18310"/>
              <a:gd name="T106" fmla="*/ 16207 w 17675"/>
              <a:gd name="T107" fmla="*/ 6899 h 18310"/>
              <a:gd name="T108" fmla="*/ 14144 w 17675"/>
              <a:gd name="T109" fmla="*/ 5052 h 18310"/>
              <a:gd name="T110" fmla="*/ 13172 w 17675"/>
              <a:gd name="T111" fmla="*/ 4299 h 18310"/>
              <a:gd name="T112" fmla="*/ 12177 w 17675"/>
              <a:gd name="T113" fmla="*/ 3589 h 18310"/>
              <a:gd name="T114" fmla="*/ 11125 w 17675"/>
              <a:gd name="T115" fmla="*/ 2920 h 18310"/>
              <a:gd name="T116" fmla="*/ 10015 w 17675"/>
              <a:gd name="T117" fmla="*/ 2305 h 18310"/>
              <a:gd name="T118" fmla="*/ 9091 w 17675"/>
              <a:gd name="T119" fmla="*/ 1855 h 18310"/>
              <a:gd name="T120" fmla="*/ 8300 w 17675"/>
              <a:gd name="T121" fmla="*/ 1511 h 18310"/>
            </a:gdLst>
            <a:ahLst/>
            <a:cxnLst/>
            <a:rect l="0" t="0" r="r" b="b"/>
            <a:pathLst>
              <a:path w="17675" h="18310">
                <a:moveTo>
                  <a:pt x="8078" y="1426"/>
                </a:moveTo>
                <a:lnTo>
                  <a:pt x="8047" y="1409"/>
                </a:lnTo>
                <a:lnTo>
                  <a:pt x="8014" y="1392"/>
                </a:lnTo>
                <a:lnTo>
                  <a:pt x="7978" y="1376"/>
                </a:lnTo>
                <a:lnTo>
                  <a:pt x="7940" y="1360"/>
                </a:lnTo>
                <a:lnTo>
                  <a:pt x="7901" y="1345"/>
                </a:lnTo>
                <a:lnTo>
                  <a:pt x="7862" y="1330"/>
                </a:lnTo>
                <a:lnTo>
                  <a:pt x="7825" y="1315"/>
                </a:lnTo>
                <a:lnTo>
                  <a:pt x="7791" y="1301"/>
                </a:lnTo>
                <a:lnTo>
                  <a:pt x="7583" y="1213"/>
                </a:lnTo>
                <a:lnTo>
                  <a:pt x="7371" y="1125"/>
                </a:lnTo>
                <a:lnTo>
                  <a:pt x="7158" y="1038"/>
                </a:lnTo>
                <a:lnTo>
                  <a:pt x="6943" y="953"/>
                </a:lnTo>
                <a:lnTo>
                  <a:pt x="6836" y="911"/>
                </a:lnTo>
                <a:lnTo>
                  <a:pt x="6727" y="869"/>
                </a:lnTo>
                <a:lnTo>
                  <a:pt x="6618" y="827"/>
                </a:lnTo>
                <a:lnTo>
                  <a:pt x="6508" y="787"/>
                </a:lnTo>
                <a:lnTo>
                  <a:pt x="6400" y="747"/>
                </a:lnTo>
                <a:lnTo>
                  <a:pt x="6290" y="707"/>
                </a:lnTo>
                <a:lnTo>
                  <a:pt x="6180" y="668"/>
                </a:lnTo>
                <a:lnTo>
                  <a:pt x="6070" y="631"/>
                </a:lnTo>
                <a:lnTo>
                  <a:pt x="5959" y="593"/>
                </a:lnTo>
                <a:lnTo>
                  <a:pt x="5848" y="556"/>
                </a:lnTo>
                <a:lnTo>
                  <a:pt x="5737" y="521"/>
                </a:lnTo>
                <a:lnTo>
                  <a:pt x="5626" y="485"/>
                </a:lnTo>
                <a:lnTo>
                  <a:pt x="5515" y="451"/>
                </a:lnTo>
                <a:lnTo>
                  <a:pt x="5404" y="418"/>
                </a:lnTo>
                <a:lnTo>
                  <a:pt x="5292" y="386"/>
                </a:lnTo>
                <a:lnTo>
                  <a:pt x="5181" y="355"/>
                </a:lnTo>
                <a:lnTo>
                  <a:pt x="5069" y="324"/>
                </a:lnTo>
                <a:lnTo>
                  <a:pt x="4958" y="295"/>
                </a:lnTo>
                <a:lnTo>
                  <a:pt x="4846" y="267"/>
                </a:lnTo>
                <a:lnTo>
                  <a:pt x="4735" y="240"/>
                </a:lnTo>
                <a:lnTo>
                  <a:pt x="4623" y="215"/>
                </a:lnTo>
                <a:lnTo>
                  <a:pt x="4511" y="191"/>
                </a:lnTo>
                <a:lnTo>
                  <a:pt x="4400" y="168"/>
                </a:lnTo>
                <a:lnTo>
                  <a:pt x="4287" y="146"/>
                </a:lnTo>
                <a:lnTo>
                  <a:pt x="4234" y="136"/>
                </a:lnTo>
                <a:lnTo>
                  <a:pt x="4162" y="125"/>
                </a:lnTo>
                <a:lnTo>
                  <a:pt x="4075" y="112"/>
                </a:lnTo>
                <a:lnTo>
                  <a:pt x="3975" y="98"/>
                </a:lnTo>
                <a:lnTo>
                  <a:pt x="3865" y="84"/>
                </a:lnTo>
                <a:lnTo>
                  <a:pt x="3749" y="69"/>
                </a:lnTo>
                <a:lnTo>
                  <a:pt x="3627" y="54"/>
                </a:lnTo>
                <a:lnTo>
                  <a:pt x="3504" y="40"/>
                </a:lnTo>
                <a:lnTo>
                  <a:pt x="3381" y="27"/>
                </a:lnTo>
                <a:lnTo>
                  <a:pt x="3262" y="17"/>
                </a:lnTo>
                <a:lnTo>
                  <a:pt x="3148" y="8"/>
                </a:lnTo>
                <a:lnTo>
                  <a:pt x="3043" y="2"/>
                </a:lnTo>
                <a:lnTo>
                  <a:pt x="2994" y="1"/>
                </a:lnTo>
                <a:lnTo>
                  <a:pt x="2949" y="0"/>
                </a:lnTo>
                <a:lnTo>
                  <a:pt x="2908" y="0"/>
                </a:lnTo>
                <a:lnTo>
                  <a:pt x="2869" y="1"/>
                </a:lnTo>
                <a:lnTo>
                  <a:pt x="2834" y="3"/>
                </a:lnTo>
                <a:lnTo>
                  <a:pt x="2806" y="7"/>
                </a:lnTo>
                <a:lnTo>
                  <a:pt x="2780" y="11"/>
                </a:lnTo>
                <a:lnTo>
                  <a:pt x="2761" y="17"/>
                </a:lnTo>
                <a:lnTo>
                  <a:pt x="2724" y="19"/>
                </a:lnTo>
                <a:lnTo>
                  <a:pt x="2689" y="24"/>
                </a:lnTo>
                <a:lnTo>
                  <a:pt x="2655" y="29"/>
                </a:lnTo>
                <a:lnTo>
                  <a:pt x="2620" y="35"/>
                </a:lnTo>
                <a:lnTo>
                  <a:pt x="2586" y="43"/>
                </a:lnTo>
                <a:lnTo>
                  <a:pt x="2552" y="53"/>
                </a:lnTo>
                <a:lnTo>
                  <a:pt x="2518" y="63"/>
                </a:lnTo>
                <a:lnTo>
                  <a:pt x="2486" y="73"/>
                </a:lnTo>
                <a:lnTo>
                  <a:pt x="2454" y="85"/>
                </a:lnTo>
                <a:lnTo>
                  <a:pt x="2423" y="97"/>
                </a:lnTo>
                <a:lnTo>
                  <a:pt x="2393" y="111"/>
                </a:lnTo>
                <a:lnTo>
                  <a:pt x="2363" y="125"/>
                </a:lnTo>
                <a:lnTo>
                  <a:pt x="2333" y="138"/>
                </a:lnTo>
                <a:lnTo>
                  <a:pt x="2306" y="153"/>
                </a:lnTo>
                <a:lnTo>
                  <a:pt x="2278" y="169"/>
                </a:lnTo>
                <a:lnTo>
                  <a:pt x="2252" y="184"/>
                </a:lnTo>
                <a:lnTo>
                  <a:pt x="2218" y="205"/>
                </a:lnTo>
                <a:lnTo>
                  <a:pt x="2187" y="224"/>
                </a:lnTo>
                <a:lnTo>
                  <a:pt x="2158" y="244"/>
                </a:lnTo>
                <a:lnTo>
                  <a:pt x="2132" y="262"/>
                </a:lnTo>
                <a:lnTo>
                  <a:pt x="2108" y="280"/>
                </a:lnTo>
                <a:lnTo>
                  <a:pt x="2086" y="298"/>
                </a:lnTo>
                <a:lnTo>
                  <a:pt x="2065" y="315"/>
                </a:lnTo>
                <a:lnTo>
                  <a:pt x="2046" y="332"/>
                </a:lnTo>
                <a:lnTo>
                  <a:pt x="2007" y="367"/>
                </a:lnTo>
                <a:lnTo>
                  <a:pt x="1968" y="405"/>
                </a:lnTo>
                <a:lnTo>
                  <a:pt x="1927" y="446"/>
                </a:lnTo>
                <a:lnTo>
                  <a:pt x="1878" y="491"/>
                </a:lnTo>
                <a:lnTo>
                  <a:pt x="1866" y="504"/>
                </a:lnTo>
                <a:lnTo>
                  <a:pt x="1853" y="517"/>
                </a:lnTo>
                <a:lnTo>
                  <a:pt x="1838" y="533"/>
                </a:lnTo>
                <a:lnTo>
                  <a:pt x="1823" y="550"/>
                </a:lnTo>
                <a:lnTo>
                  <a:pt x="1790" y="592"/>
                </a:lnTo>
                <a:lnTo>
                  <a:pt x="1754" y="637"/>
                </a:lnTo>
                <a:lnTo>
                  <a:pt x="1717" y="689"/>
                </a:lnTo>
                <a:lnTo>
                  <a:pt x="1679" y="744"/>
                </a:lnTo>
                <a:lnTo>
                  <a:pt x="1639" y="802"/>
                </a:lnTo>
                <a:lnTo>
                  <a:pt x="1600" y="863"/>
                </a:lnTo>
                <a:lnTo>
                  <a:pt x="1561" y="926"/>
                </a:lnTo>
                <a:lnTo>
                  <a:pt x="1524" y="988"/>
                </a:lnTo>
                <a:lnTo>
                  <a:pt x="1488" y="1051"/>
                </a:lnTo>
                <a:lnTo>
                  <a:pt x="1454" y="1111"/>
                </a:lnTo>
                <a:lnTo>
                  <a:pt x="1425" y="1170"/>
                </a:lnTo>
                <a:lnTo>
                  <a:pt x="1398" y="1226"/>
                </a:lnTo>
                <a:lnTo>
                  <a:pt x="1387" y="1252"/>
                </a:lnTo>
                <a:lnTo>
                  <a:pt x="1377" y="1277"/>
                </a:lnTo>
                <a:lnTo>
                  <a:pt x="1367" y="1301"/>
                </a:lnTo>
                <a:lnTo>
                  <a:pt x="1359" y="1323"/>
                </a:lnTo>
                <a:lnTo>
                  <a:pt x="1340" y="1362"/>
                </a:lnTo>
                <a:lnTo>
                  <a:pt x="1320" y="1404"/>
                </a:lnTo>
                <a:lnTo>
                  <a:pt x="1300" y="1449"/>
                </a:lnTo>
                <a:lnTo>
                  <a:pt x="1280" y="1496"/>
                </a:lnTo>
                <a:lnTo>
                  <a:pt x="1261" y="1545"/>
                </a:lnTo>
                <a:lnTo>
                  <a:pt x="1241" y="1596"/>
                </a:lnTo>
                <a:lnTo>
                  <a:pt x="1222" y="1648"/>
                </a:lnTo>
                <a:lnTo>
                  <a:pt x="1204" y="1702"/>
                </a:lnTo>
                <a:lnTo>
                  <a:pt x="1167" y="1808"/>
                </a:lnTo>
                <a:lnTo>
                  <a:pt x="1133" y="1915"/>
                </a:lnTo>
                <a:lnTo>
                  <a:pt x="1101" y="2016"/>
                </a:lnTo>
                <a:lnTo>
                  <a:pt x="1071" y="2110"/>
                </a:lnTo>
                <a:lnTo>
                  <a:pt x="1055" y="2162"/>
                </a:lnTo>
                <a:lnTo>
                  <a:pt x="1039" y="2213"/>
                </a:lnTo>
                <a:lnTo>
                  <a:pt x="1023" y="2264"/>
                </a:lnTo>
                <a:lnTo>
                  <a:pt x="1008" y="2315"/>
                </a:lnTo>
                <a:lnTo>
                  <a:pt x="992" y="2367"/>
                </a:lnTo>
                <a:lnTo>
                  <a:pt x="976" y="2418"/>
                </a:lnTo>
                <a:lnTo>
                  <a:pt x="960" y="2471"/>
                </a:lnTo>
                <a:lnTo>
                  <a:pt x="944" y="2523"/>
                </a:lnTo>
                <a:lnTo>
                  <a:pt x="929" y="2573"/>
                </a:lnTo>
                <a:lnTo>
                  <a:pt x="913" y="2626"/>
                </a:lnTo>
                <a:lnTo>
                  <a:pt x="896" y="2682"/>
                </a:lnTo>
                <a:lnTo>
                  <a:pt x="880" y="2740"/>
                </a:lnTo>
                <a:lnTo>
                  <a:pt x="864" y="2797"/>
                </a:lnTo>
                <a:lnTo>
                  <a:pt x="849" y="2852"/>
                </a:lnTo>
                <a:lnTo>
                  <a:pt x="836" y="2906"/>
                </a:lnTo>
                <a:lnTo>
                  <a:pt x="827" y="2955"/>
                </a:lnTo>
                <a:lnTo>
                  <a:pt x="818" y="2977"/>
                </a:lnTo>
                <a:lnTo>
                  <a:pt x="809" y="3003"/>
                </a:lnTo>
                <a:lnTo>
                  <a:pt x="800" y="3033"/>
                </a:lnTo>
                <a:lnTo>
                  <a:pt x="790" y="3067"/>
                </a:lnTo>
                <a:lnTo>
                  <a:pt x="770" y="3142"/>
                </a:lnTo>
                <a:lnTo>
                  <a:pt x="749" y="3225"/>
                </a:lnTo>
                <a:lnTo>
                  <a:pt x="730" y="3310"/>
                </a:lnTo>
                <a:lnTo>
                  <a:pt x="712" y="3390"/>
                </a:lnTo>
                <a:lnTo>
                  <a:pt x="696" y="3461"/>
                </a:lnTo>
                <a:lnTo>
                  <a:pt x="683" y="3519"/>
                </a:lnTo>
                <a:lnTo>
                  <a:pt x="666" y="3593"/>
                </a:lnTo>
                <a:lnTo>
                  <a:pt x="649" y="3667"/>
                </a:lnTo>
                <a:lnTo>
                  <a:pt x="633" y="3740"/>
                </a:lnTo>
                <a:lnTo>
                  <a:pt x="617" y="3813"/>
                </a:lnTo>
                <a:lnTo>
                  <a:pt x="601" y="3886"/>
                </a:lnTo>
                <a:lnTo>
                  <a:pt x="585" y="3960"/>
                </a:lnTo>
                <a:lnTo>
                  <a:pt x="569" y="4033"/>
                </a:lnTo>
                <a:lnTo>
                  <a:pt x="553" y="4108"/>
                </a:lnTo>
                <a:lnTo>
                  <a:pt x="537" y="4182"/>
                </a:lnTo>
                <a:lnTo>
                  <a:pt x="522" y="4256"/>
                </a:lnTo>
                <a:lnTo>
                  <a:pt x="506" y="4330"/>
                </a:lnTo>
                <a:lnTo>
                  <a:pt x="491" y="4406"/>
                </a:lnTo>
                <a:lnTo>
                  <a:pt x="476" y="4483"/>
                </a:lnTo>
                <a:lnTo>
                  <a:pt x="461" y="4559"/>
                </a:lnTo>
                <a:lnTo>
                  <a:pt x="447" y="4636"/>
                </a:lnTo>
                <a:lnTo>
                  <a:pt x="433" y="4714"/>
                </a:lnTo>
                <a:lnTo>
                  <a:pt x="419" y="4791"/>
                </a:lnTo>
                <a:lnTo>
                  <a:pt x="405" y="4868"/>
                </a:lnTo>
                <a:lnTo>
                  <a:pt x="392" y="4946"/>
                </a:lnTo>
                <a:lnTo>
                  <a:pt x="380" y="5024"/>
                </a:lnTo>
                <a:lnTo>
                  <a:pt x="367" y="5100"/>
                </a:lnTo>
                <a:lnTo>
                  <a:pt x="356" y="5177"/>
                </a:lnTo>
                <a:lnTo>
                  <a:pt x="346" y="5253"/>
                </a:lnTo>
                <a:lnTo>
                  <a:pt x="335" y="5328"/>
                </a:lnTo>
                <a:lnTo>
                  <a:pt x="320" y="5442"/>
                </a:lnTo>
                <a:lnTo>
                  <a:pt x="304" y="5555"/>
                </a:lnTo>
                <a:lnTo>
                  <a:pt x="289" y="5668"/>
                </a:lnTo>
                <a:lnTo>
                  <a:pt x="275" y="5781"/>
                </a:lnTo>
                <a:lnTo>
                  <a:pt x="259" y="5896"/>
                </a:lnTo>
                <a:lnTo>
                  <a:pt x="244" y="6009"/>
                </a:lnTo>
                <a:lnTo>
                  <a:pt x="229" y="6124"/>
                </a:lnTo>
                <a:lnTo>
                  <a:pt x="214" y="6238"/>
                </a:lnTo>
                <a:lnTo>
                  <a:pt x="199" y="6352"/>
                </a:lnTo>
                <a:lnTo>
                  <a:pt x="185" y="6467"/>
                </a:lnTo>
                <a:lnTo>
                  <a:pt x="173" y="6581"/>
                </a:lnTo>
                <a:lnTo>
                  <a:pt x="160" y="6697"/>
                </a:lnTo>
                <a:lnTo>
                  <a:pt x="148" y="6811"/>
                </a:lnTo>
                <a:lnTo>
                  <a:pt x="137" y="6927"/>
                </a:lnTo>
                <a:lnTo>
                  <a:pt x="127" y="7042"/>
                </a:lnTo>
                <a:lnTo>
                  <a:pt x="119" y="7158"/>
                </a:lnTo>
                <a:lnTo>
                  <a:pt x="105" y="7319"/>
                </a:lnTo>
                <a:lnTo>
                  <a:pt x="92" y="7481"/>
                </a:lnTo>
                <a:lnTo>
                  <a:pt x="79" y="7643"/>
                </a:lnTo>
                <a:lnTo>
                  <a:pt x="65" y="7805"/>
                </a:lnTo>
                <a:lnTo>
                  <a:pt x="54" y="7967"/>
                </a:lnTo>
                <a:lnTo>
                  <a:pt x="42" y="8130"/>
                </a:lnTo>
                <a:lnTo>
                  <a:pt x="31" y="8293"/>
                </a:lnTo>
                <a:lnTo>
                  <a:pt x="22" y="8456"/>
                </a:lnTo>
                <a:lnTo>
                  <a:pt x="14" y="8619"/>
                </a:lnTo>
                <a:lnTo>
                  <a:pt x="8" y="8782"/>
                </a:lnTo>
                <a:lnTo>
                  <a:pt x="3" y="8946"/>
                </a:lnTo>
                <a:lnTo>
                  <a:pt x="0" y="9109"/>
                </a:lnTo>
                <a:lnTo>
                  <a:pt x="0" y="9190"/>
                </a:lnTo>
                <a:lnTo>
                  <a:pt x="0" y="9273"/>
                </a:lnTo>
                <a:lnTo>
                  <a:pt x="1" y="9354"/>
                </a:lnTo>
                <a:lnTo>
                  <a:pt x="2" y="9437"/>
                </a:lnTo>
                <a:lnTo>
                  <a:pt x="3" y="9518"/>
                </a:lnTo>
                <a:lnTo>
                  <a:pt x="7" y="9599"/>
                </a:lnTo>
                <a:lnTo>
                  <a:pt x="10" y="9681"/>
                </a:lnTo>
                <a:lnTo>
                  <a:pt x="14" y="9763"/>
                </a:lnTo>
                <a:lnTo>
                  <a:pt x="21" y="9885"/>
                </a:lnTo>
                <a:lnTo>
                  <a:pt x="27" y="10006"/>
                </a:lnTo>
                <a:lnTo>
                  <a:pt x="34" y="10128"/>
                </a:lnTo>
                <a:lnTo>
                  <a:pt x="41" y="10249"/>
                </a:lnTo>
                <a:lnTo>
                  <a:pt x="47" y="10369"/>
                </a:lnTo>
                <a:lnTo>
                  <a:pt x="54" y="10490"/>
                </a:lnTo>
                <a:lnTo>
                  <a:pt x="61" y="10611"/>
                </a:lnTo>
                <a:lnTo>
                  <a:pt x="68" y="10731"/>
                </a:lnTo>
                <a:lnTo>
                  <a:pt x="74" y="10851"/>
                </a:lnTo>
                <a:lnTo>
                  <a:pt x="82" y="10971"/>
                </a:lnTo>
                <a:lnTo>
                  <a:pt x="90" y="11091"/>
                </a:lnTo>
                <a:lnTo>
                  <a:pt x="98" y="11213"/>
                </a:lnTo>
                <a:lnTo>
                  <a:pt x="108" y="11333"/>
                </a:lnTo>
                <a:lnTo>
                  <a:pt x="117" y="11454"/>
                </a:lnTo>
                <a:lnTo>
                  <a:pt x="127" y="11575"/>
                </a:lnTo>
                <a:lnTo>
                  <a:pt x="138" y="11697"/>
                </a:lnTo>
                <a:lnTo>
                  <a:pt x="149" y="11811"/>
                </a:lnTo>
                <a:lnTo>
                  <a:pt x="160" y="11926"/>
                </a:lnTo>
                <a:lnTo>
                  <a:pt x="172" y="12040"/>
                </a:lnTo>
                <a:lnTo>
                  <a:pt x="184" y="12154"/>
                </a:lnTo>
                <a:lnTo>
                  <a:pt x="197" y="12269"/>
                </a:lnTo>
                <a:lnTo>
                  <a:pt x="209" y="12383"/>
                </a:lnTo>
                <a:lnTo>
                  <a:pt x="223" y="12498"/>
                </a:lnTo>
                <a:lnTo>
                  <a:pt x="237" y="12611"/>
                </a:lnTo>
                <a:lnTo>
                  <a:pt x="252" y="12725"/>
                </a:lnTo>
                <a:lnTo>
                  <a:pt x="267" y="12839"/>
                </a:lnTo>
                <a:lnTo>
                  <a:pt x="281" y="12953"/>
                </a:lnTo>
                <a:lnTo>
                  <a:pt x="298" y="13066"/>
                </a:lnTo>
                <a:lnTo>
                  <a:pt x="314" y="13180"/>
                </a:lnTo>
                <a:lnTo>
                  <a:pt x="331" y="13293"/>
                </a:lnTo>
                <a:lnTo>
                  <a:pt x="349" y="13406"/>
                </a:lnTo>
                <a:lnTo>
                  <a:pt x="366" y="13519"/>
                </a:lnTo>
                <a:lnTo>
                  <a:pt x="398" y="13707"/>
                </a:lnTo>
                <a:lnTo>
                  <a:pt x="433" y="13905"/>
                </a:lnTo>
                <a:lnTo>
                  <a:pt x="470" y="14110"/>
                </a:lnTo>
                <a:lnTo>
                  <a:pt x="511" y="14322"/>
                </a:lnTo>
                <a:lnTo>
                  <a:pt x="555" y="14538"/>
                </a:lnTo>
                <a:lnTo>
                  <a:pt x="602" y="14757"/>
                </a:lnTo>
                <a:lnTo>
                  <a:pt x="650" y="14979"/>
                </a:lnTo>
                <a:lnTo>
                  <a:pt x="701" y="15200"/>
                </a:lnTo>
                <a:lnTo>
                  <a:pt x="729" y="15311"/>
                </a:lnTo>
                <a:lnTo>
                  <a:pt x="755" y="15420"/>
                </a:lnTo>
                <a:lnTo>
                  <a:pt x="784" y="15530"/>
                </a:lnTo>
                <a:lnTo>
                  <a:pt x="811" y="15639"/>
                </a:lnTo>
                <a:lnTo>
                  <a:pt x="840" y="15747"/>
                </a:lnTo>
                <a:lnTo>
                  <a:pt x="870" y="15854"/>
                </a:lnTo>
                <a:lnTo>
                  <a:pt x="899" y="15959"/>
                </a:lnTo>
                <a:lnTo>
                  <a:pt x="929" y="16064"/>
                </a:lnTo>
                <a:lnTo>
                  <a:pt x="960" y="16165"/>
                </a:lnTo>
                <a:lnTo>
                  <a:pt x="991" y="16266"/>
                </a:lnTo>
                <a:lnTo>
                  <a:pt x="1022" y="16365"/>
                </a:lnTo>
                <a:lnTo>
                  <a:pt x="1054" y="16461"/>
                </a:lnTo>
                <a:lnTo>
                  <a:pt x="1086" y="16556"/>
                </a:lnTo>
                <a:lnTo>
                  <a:pt x="1119" y="16646"/>
                </a:lnTo>
                <a:lnTo>
                  <a:pt x="1152" y="16735"/>
                </a:lnTo>
                <a:lnTo>
                  <a:pt x="1185" y="16821"/>
                </a:lnTo>
                <a:lnTo>
                  <a:pt x="1225" y="16920"/>
                </a:lnTo>
                <a:lnTo>
                  <a:pt x="1267" y="17017"/>
                </a:lnTo>
                <a:lnTo>
                  <a:pt x="1288" y="17064"/>
                </a:lnTo>
                <a:lnTo>
                  <a:pt x="1310" y="17111"/>
                </a:lnTo>
                <a:lnTo>
                  <a:pt x="1332" y="17156"/>
                </a:lnTo>
                <a:lnTo>
                  <a:pt x="1354" y="17202"/>
                </a:lnTo>
                <a:lnTo>
                  <a:pt x="1377" y="17247"/>
                </a:lnTo>
                <a:lnTo>
                  <a:pt x="1399" y="17290"/>
                </a:lnTo>
                <a:lnTo>
                  <a:pt x="1423" y="17334"/>
                </a:lnTo>
                <a:lnTo>
                  <a:pt x="1447" y="17376"/>
                </a:lnTo>
                <a:lnTo>
                  <a:pt x="1471" y="17417"/>
                </a:lnTo>
                <a:lnTo>
                  <a:pt x="1496" y="17459"/>
                </a:lnTo>
                <a:lnTo>
                  <a:pt x="1521" y="17499"/>
                </a:lnTo>
                <a:lnTo>
                  <a:pt x="1546" y="17538"/>
                </a:lnTo>
                <a:lnTo>
                  <a:pt x="1572" y="17576"/>
                </a:lnTo>
                <a:lnTo>
                  <a:pt x="1598" y="17614"/>
                </a:lnTo>
                <a:lnTo>
                  <a:pt x="1625" y="17651"/>
                </a:lnTo>
                <a:lnTo>
                  <a:pt x="1652" y="17687"/>
                </a:lnTo>
                <a:lnTo>
                  <a:pt x="1680" y="17722"/>
                </a:lnTo>
                <a:lnTo>
                  <a:pt x="1707" y="17756"/>
                </a:lnTo>
                <a:lnTo>
                  <a:pt x="1736" y="17789"/>
                </a:lnTo>
                <a:lnTo>
                  <a:pt x="1764" y="17822"/>
                </a:lnTo>
                <a:lnTo>
                  <a:pt x="1794" y="17853"/>
                </a:lnTo>
                <a:lnTo>
                  <a:pt x="1824" y="17884"/>
                </a:lnTo>
                <a:lnTo>
                  <a:pt x="1854" y="17914"/>
                </a:lnTo>
                <a:lnTo>
                  <a:pt x="1885" y="17943"/>
                </a:lnTo>
                <a:lnTo>
                  <a:pt x="1917" y="17970"/>
                </a:lnTo>
                <a:lnTo>
                  <a:pt x="1947" y="17998"/>
                </a:lnTo>
                <a:lnTo>
                  <a:pt x="1980" y="18023"/>
                </a:lnTo>
                <a:lnTo>
                  <a:pt x="2013" y="18048"/>
                </a:lnTo>
                <a:lnTo>
                  <a:pt x="2052" y="18075"/>
                </a:lnTo>
                <a:lnTo>
                  <a:pt x="2091" y="18102"/>
                </a:lnTo>
                <a:lnTo>
                  <a:pt x="2132" y="18127"/>
                </a:lnTo>
                <a:lnTo>
                  <a:pt x="2173" y="18151"/>
                </a:lnTo>
                <a:lnTo>
                  <a:pt x="2215" y="18174"/>
                </a:lnTo>
                <a:lnTo>
                  <a:pt x="2259" y="18194"/>
                </a:lnTo>
                <a:lnTo>
                  <a:pt x="2303" y="18214"/>
                </a:lnTo>
                <a:lnTo>
                  <a:pt x="2349" y="18232"/>
                </a:lnTo>
                <a:lnTo>
                  <a:pt x="2397" y="18249"/>
                </a:lnTo>
                <a:lnTo>
                  <a:pt x="2446" y="18264"/>
                </a:lnTo>
                <a:lnTo>
                  <a:pt x="2497" y="18277"/>
                </a:lnTo>
                <a:lnTo>
                  <a:pt x="2549" y="18287"/>
                </a:lnTo>
                <a:lnTo>
                  <a:pt x="2576" y="18292"/>
                </a:lnTo>
                <a:lnTo>
                  <a:pt x="2603" y="18296"/>
                </a:lnTo>
                <a:lnTo>
                  <a:pt x="2631" y="18300"/>
                </a:lnTo>
                <a:lnTo>
                  <a:pt x="2658" y="18303"/>
                </a:lnTo>
                <a:lnTo>
                  <a:pt x="2687" y="18305"/>
                </a:lnTo>
                <a:lnTo>
                  <a:pt x="2716" y="18308"/>
                </a:lnTo>
                <a:lnTo>
                  <a:pt x="2745" y="18309"/>
                </a:lnTo>
                <a:lnTo>
                  <a:pt x="2776" y="18309"/>
                </a:lnTo>
                <a:lnTo>
                  <a:pt x="2835" y="18310"/>
                </a:lnTo>
                <a:lnTo>
                  <a:pt x="2896" y="18310"/>
                </a:lnTo>
                <a:lnTo>
                  <a:pt x="2957" y="18309"/>
                </a:lnTo>
                <a:lnTo>
                  <a:pt x="3017" y="18308"/>
                </a:lnTo>
                <a:lnTo>
                  <a:pt x="3079" y="18305"/>
                </a:lnTo>
                <a:lnTo>
                  <a:pt x="3140" y="18303"/>
                </a:lnTo>
                <a:lnTo>
                  <a:pt x="3200" y="18300"/>
                </a:lnTo>
                <a:lnTo>
                  <a:pt x="3262" y="18296"/>
                </a:lnTo>
                <a:lnTo>
                  <a:pt x="3323" y="18292"/>
                </a:lnTo>
                <a:lnTo>
                  <a:pt x="3384" y="18287"/>
                </a:lnTo>
                <a:lnTo>
                  <a:pt x="3444" y="18283"/>
                </a:lnTo>
                <a:lnTo>
                  <a:pt x="3505" y="18277"/>
                </a:lnTo>
                <a:lnTo>
                  <a:pt x="3565" y="18271"/>
                </a:lnTo>
                <a:lnTo>
                  <a:pt x="3625" y="18264"/>
                </a:lnTo>
                <a:lnTo>
                  <a:pt x="3686" y="18257"/>
                </a:lnTo>
                <a:lnTo>
                  <a:pt x="3745" y="18250"/>
                </a:lnTo>
                <a:lnTo>
                  <a:pt x="3829" y="18240"/>
                </a:lnTo>
                <a:lnTo>
                  <a:pt x="3912" y="18230"/>
                </a:lnTo>
                <a:lnTo>
                  <a:pt x="3995" y="18218"/>
                </a:lnTo>
                <a:lnTo>
                  <a:pt x="4076" y="18206"/>
                </a:lnTo>
                <a:lnTo>
                  <a:pt x="4157" y="18192"/>
                </a:lnTo>
                <a:lnTo>
                  <a:pt x="4236" y="18178"/>
                </a:lnTo>
                <a:lnTo>
                  <a:pt x="4316" y="18165"/>
                </a:lnTo>
                <a:lnTo>
                  <a:pt x="4395" y="18150"/>
                </a:lnTo>
                <a:lnTo>
                  <a:pt x="4473" y="18134"/>
                </a:lnTo>
                <a:lnTo>
                  <a:pt x="4549" y="18118"/>
                </a:lnTo>
                <a:lnTo>
                  <a:pt x="4627" y="18101"/>
                </a:lnTo>
                <a:lnTo>
                  <a:pt x="4704" y="18083"/>
                </a:lnTo>
                <a:lnTo>
                  <a:pt x="4779" y="18066"/>
                </a:lnTo>
                <a:lnTo>
                  <a:pt x="4855" y="18048"/>
                </a:lnTo>
                <a:lnTo>
                  <a:pt x="4931" y="18028"/>
                </a:lnTo>
                <a:lnTo>
                  <a:pt x="5006" y="18009"/>
                </a:lnTo>
                <a:lnTo>
                  <a:pt x="5156" y="17969"/>
                </a:lnTo>
                <a:lnTo>
                  <a:pt x="5305" y="17927"/>
                </a:lnTo>
                <a:lnTo>
                  <a:pt x="5455" y="17882"/>
                </a:lnTo>
                <a:lnTo>
                  <a:pt x="5603" y="17836"/>
                </a:lnTo>
                <a:lnTo>
                  <a:pt x="5753" y="17789"/>
                </a:lnTo>
                <a:lnTo>
                  <a:pt x="5904" y="17741"/>
                </a:lnTo>
                <a:lnTo>
                  <a:pt x="6056" y="17691"/>
                </a:lnTo>
                <a:lnTo>
                  <a:pt x="6211" y="17639"/>
                </a:lnTo>
                <a:lnTo>
                  <a:pt x="6273" y="17619"/>
                </a:lnTo>
                <a:lnTo>
                  <a:pt x="6368" y="17586"/>
                </a:lnTo>
                <a:lnTo>
                  <a:pt x="6483" y="17544"/>
                </a:lnTo>
                <a:lnTo>
                  <a:pt x="6608" y="17501"/>
                </a:lnTo>
                <a:lnTo>
                  <a:pt x="6729" y="17456"/>
                </a:lnTo>
                <a:lnTo>
                  <a:pt x="6837" y="17415"/>
                </a:lnTo>
                <a:lnTo>
                  <a:pt x="6881" y="17398"/>
                </a:lnTo>
                <a:lnTo>
                  <a:pt x="6917" y="17382"/>
                </a:lnTo>
                <a:lnTo>
                  <a:pt x="6943" y="17369"/>
                </a:lnTo>
                <a:lnTo>
                  <a:pt x="6959" y="17361"/>
                </a:lnTo>
                <a:lnTo>
                  <a:pt x="6994" y="17351"/>
                </a:lnTo>
                <a:lnTo>
                  <a:pt x="7046" y="17333"/>
                </a:lnTo>
                <a:lnTo>
                  <a:pt x="7116" y="17308"/>
                </a:lnTo>
                <a:lnTo>
                  <a:pt x="7200" y="17277"/>
                </a:lnTo>
                <a:lnTo>
                  <a:pt x="7294" y="17240"/>
                </a:lnTo>
                <a:lnTo>
                  <a:pt x="7397" y="17200"/>
                </a:lnTo>
                <a:lnTo>
                  <a:pt x="7507" y="17156"/>
                </a:lnTo>
                <a:lnTo>
                  <a:pt x="7621" y="17112"/>
                </a:lnTo>
                <a:lnTo>
                  <a:pt x="7734" y="17066"/>
                </a:lnTo>
                <a:lnTo>
                  <a:pt x="7846" y="17021"/>
                </a:lnTo>
                <a:lnTo>
                  <a:pt x="7955" y="16977"/>
                </a:lnTo>
                <a:lnTo>
                  <a:pt x="8057" y="16937"/>
                </a:lnTo>
                <a:lnTo>
                  <a:pt x="8148" y="16899"/>
                </a:lnTo>
                <a:lnTo>
                  <a:pt x="8228" y="16867"/>
                </a:lnTo>
                <a:lnTo>
                  <a:pt x="8295" y="16841"/>
                </a:lnTo>
                <a:lnTo>
                  <a:pt x="8344" y="16821"/>
                </a:lnTo>
                <a:lnTo>
                  <a:pt x="8396" y="16799"/>
                </a:lnTo>
                <a:lnTo>
                  <a:pt x="8454" y="16778"/>
                </a:lnTo>
                <a:lnTo>
                  <a:pt x="8513" y="16755"/>
                </a:lnTo>
                <a:lnTo>
                  <a:pt x="8574" y="16731"/>
                </a:lnTo>
                <a:lnTo>
                  <a:pt x="8633" y="16707"/>
                </a:lnTo>
                <a:lnTo>
                  <a:pt x="8690" y="16682"/>
                </a:lnTo>
                <a:lnTo>
                  <a:pt x="8744" y="16658"/>
                </a:lnTo>
                <a:lnTo>
                  <a:pt x="8792" y="16633"/>
                </a:lnTo>
                <a:lnTo>
                  <a:pt x="8829" y="16621"/>
                </a:lnTo>
                <a:lnTo>
                  <a:pt x="8872" y="16605"/>
                </a:lnTo>
                <a:lnTo>
                  <a:pt x="8918" y="16587"/>
                </a:lnTo>
                <a:lnTo>
                  <a:pt x="8965" y="16565"/>
                </a:lnTo>
                <a:lnTo>
                  <a:pt x="9013" y="16543"/>
                </a:lnTo>
                <a:lnTo>
                  <a:pt x="9059" y="16522"/>
                </a:lnTo>
                <a:lnTo>
                  <a:pt x="9100" y="16502"/>
                </a:lnTo>
                <a:lnTo>
                  <a:pt x="9137" y="16485"/>
                </a:lnTo>
                <a:lnTo>
                  <a:pt x="9178" y="16465"/>
                </a:lnTo>
                <a:lnTo>
                  <a:pt x="9220" y="16447"/>
                </a:lnTo>
                <a:lnTo>
                  <a:pt x="9263" y="16429"/>
                </a:lnTo>
                <a:lnTo>
                  <a:pt x="9304" y="16409"/>
                </a:lnTo>
                <a:lnTo>
                  <a:pt x="9346" y="16391"/>
                </a:lnTo>
                <a:lnTo>
                  <a:pt x="9388" y="16371"/>
                </a:lnTo>
                <a:lnTo>
                  <a:pt x="9430" y="16352"/>
                </a:lnTo>
                <a:lnTo>
                  <a:pt x="9471" y="16331"/>
                </a:lnTo>
                <a:lnTo>
                  <a:pt x="9550" y="16292"/>
                </a:lnTo>
                <a:lnTo>
                  <a:pt x="9633" y="16254"/>
                </a:lnTo>
                <a:lnTo>
                  <a:pt x="9720" y="16214"/>
                </a:lnTo>
                <a:lnTo>
                  <a:pt x="9807" y="16173"/>
                </a:lnTo>
                <a:lnTo>
                  <a:pt x="9894" y="16132"/>
                </a:lnTo>
                <a:lnTo>
                  <a:pt x="9978" y="16091"/>
                </a:lnTo>
                <a:lnTo>
                  <a:pt x="10018" y="16069"/>
                </a:lnTo>
                <a:lnTo>
                  <a:pt x="10057" y="16048"/>
                </a:lnTo>
                <a:lnTo>
                  <a:pt x="10093" y="16026"/>
                </a:lnTo>
                <a:lnTo>
                  <a:pt x="10129" y="16004"/>
                </a:lnTo>
                <a:lnTo>
                  <a:pt x="10153" y="15994"/>
                </a:lnTo>
                <a:lnTo>
                  <a:pt x="10184" y="15979"/>
                </a:lnTo>
                <a:lnTo>
                  <a:pt x="10220" y="15962"/>
                </a:lnTo>
                <a:lnTo>
                  <a:pt x="10263" y="15939"/>
                </a:lnTo>
                <a:lnTo>
                  <a:pt x="10363" y="15886"/>
                </a:lnTo>
                <a:lnTo>
                  <a:pt x="10482" y="15821"/>
                </a:lnTo>
                <a:lnTo>
                  <a:pt x="10614" y="15748"/>
                </a:lnTo>
                <a:lnTo>
                  <a:pt x="10756" y="15669"/>
                </a:lnTo>
                <a:lnTo>
                  <a:pt x="10903" y="15584"/>
                </a:lnTo>
                <a:lnTo>
                  <a:pt x="11053" y="15498"/>
                </a:lnTo>
                <a:lnTo>
                  <a:pt x="11202" y="15411"/>
                </a:lnTo>
                <a:lnTo>
                  <a:pt x="11344" y="15328"/>
                </a:lnTo>
                <a:lnTo>
                  <a:pt x="11477" y="15249"/>
                </a:lnTo>
                <a:lnTo>
                  <a:pt x="11597" y="15176"/>
                </a:lnTo>
                <a:lnTo>
                  <a:pt x="11700" y="15111"/>
                </a:lnTo>
                <a:lnTo>
                  <a:pt x="11781" y="15060"/>
                </a:lnTo>
                <a:lnTo>
                  <a:pt x="11813" y="15038"/>
                </a:lnTo>
                <a:lnTo>
                  <a:pt x="11838" y="15021"/>
                </a:lnTo>
                <a:lnTo>
                  <a:pt x="11857" y="15007"/>
                </a:lnTo>
                <a:lnTo>
                  <a:pt x="11867" y="14997"/>
                </a:lnTo>
                <a:lnTo>
                  <a:pt x="11879" y="14991"/>
                </a:lnTo>
                <a:lnTo>
                  <a:pt x="11898" y="14982"/>
                </a:lnTo>
                <a:lnTo>
                  <a:pt x="11919" y="14970"/>
                </a:lnTo>
                <a:lnTo>
                  <a:pt x="11947" y="14954"/>
                </a:lnTo>
                <a:lnTo>
                  <a:pt x="12012" y="14913"/>
                </a:lnTo>
                <a:lnTo>
                  <a:pt x="12090" y="14864"/>
                </a:lnTo>
                <a:lnTo>
                  <a:pt x="12179" y="14806"/>
                </a:lnTo>
                <a:lnTo>
                  <a:pt x="12276" y="14741"/>
                </a:lnTo>
                <a:lnTo>
                  <a:pt x="12379" y="14672"/>
                </a:lnTo>
                <a:lnTo>
                  <a:pt x="12485" y="14600"/>
                </a:lnTo>
                <a:lnTo>
                  <a:pt x="12590" y="14528"/>
                </a:lnTo>
                <a:lnTo>
                  <a:pt x="12694" y="14457"/>
                </a:lnTo>
                <a:lnTo>
                  <a:pt x="12791" y="14388"/>
                </a:lnTo>
                <a:lnTo>
                  <a:pt x="12883" y="14324"/>
                </a:lnTo>
                <a:lnTo>
                  <a:pt x="12963" y="14267"/>
                </a:lnTo>
                <a:lnTo>
                  <a:pt x="13031" y="14218"/>
                </a:lnTo>
                <a:lnTo>
                  <a:pt x="13083" y="14179"/>
                </a:lnTo>
                <a:lnTo>
                  <a:pt x="13116" y="14152"/>
                </a:lnTo>
                <a:lnTo>
                  <a:pt x="13131" y="14143"/>
                </a:lnTo>
                <a:lnTo>
                  <a:pt x="13152" y="14131"/>
                </a:lnTo>
                <a:lnTo>
                  <a:pt x="13179" y="14112"/>
                </a:lnTo>
                <a:lnTo>
                  <a:pt x="13212" y="14088"/>
                </a:lnTo>
                <a:lnTo>
                  <a:pt x="13294" y="14030"/>
                </a:lnTo>
                <a:lnTo>
                  <a:pt x="13392" y="13958"/>
                </a:lnTo>
                <a:lnTo>
                  <a:pt x="13505" y="13873"/>
                </a:lnTo>
                <a:lnTo>
                  <a:pt x="13628" y="13779"/>
                </a:lnTo>
                <a:lnTo>
                  <a:pt x="13758" y="13680"/>
                </a:lnTo>
                <a:lnTo>
                  <a:pt x="13891" y="13578"/>
                </a:lnTo>
                <a:lnTo>
                  <a:pt x="14024" y="13475"/>
                </a:lnTo>
                <a:lnTo>
                  <a:pt x="14153" y="13374"/>
                </a:lnTo>
                <a:lnTo>
                  <a:pt x="14274" y="13278"/>
                </a:lnTo>
                <a:lnTo>
                  <a:pt x="14385" y="13190"/>
                </a:lnTo>
                <a:lnTo>
                  <a:pt x="14481" y="13112"/>
                </a:lnTo>
                <a:lnTo>
                  <a:pt x="14559" y="13048"/>
                </a:lnTo>
                <a:lnTo>
                  <a:pt x="14590" y="13022"/>
                </a:lnTo>
                <a:lnTo>
                  <a:pt x="14615" y="13000"/>
                </a:lnTo>
                <a:lnTo>
                  <a:pt x="14634" y="12982"/>
                </a:lnTo>
                <a:lnTo>
                  <a:pt x="14645" y="12970"/>
                </a:lnTo>
                <a:lnTo>
                  <a:pt x="14658" y="12963"/>
                </a:lnTo>
                <a:lnTo>
                  <a:pt x="14673" y="12954"/>
                </a:lnTo>
                <a:lnTo>
                  <a:pt x="14690" y="12942"/>
                </a:lnTo>
                <a:lnTo>
                  <a:pt x="14708" y="12928"/>
                </a:lnTo>
                <a:lnTo>
                  <a:pt x="14751" y="12895"/>
                </a:lnTo>
                <a:lnTo>
                  <a:pt x="14802" y="12854"/>
                </a:lnTo>
                <a:lnTo>
                  <a:pt x="14857" y="12807"/>
                </a:lnTo>
                <a:lnTo>
                  <a:pt x="14917" y="12756"/>
                </a:lnTo>
                <a:lnTo>
                  <a:pt x="14979" y="12701"/>
                </a:lnTo>
                <a:lnTo>
                  <a:pt x="15044" y="12645"/>
                </a:lnTo>
                <a:lnTo>
                  <a:pt x="15110" y="12587"/>
                </a:lnTo>
                <a:lnTo>
                  <a:pt x="15175" y="12530"/>
                </a:lnTo>
                <a:lnTo>
                  <a:pt x="15238" y="12475"/>
                </a:lnTo>
                <a:lnTo>
                  <a:pt x="15298" y="12421"/>
                </a:lnTo>
                <a:lnTo>
                  <a:pt x="15354" y="12372"/>
                </a:lnTo>
                <a:lnTo>
                  <a:pt x="15405" y="12328"/>
                </a:lnTo>
                <a:lnTo>
                  <a:pt x="15451" y="12291"/>
                </a:lnTo>
                <a:lnTo>
                  <a:pt x="15487" y="12261"/>
                </a:lnTo>
                <a:lnTo>
                  <a:pt x="15508" y="12245"/>
                </a:lnTo>
                <a:lnTo>
                  <a:pt x="15520" y="12233"/>
                </a:lnTo>
                <a:lnTo>
                  <a:pt x="15534" y="12220"/>
                </a:lnTo>
                <a:lnTo>
                  <a:pt x="15555" y="12200"/>
                </a:lnTo>
                <a:lnTo>
                  <a:pt x="15765" y="12013"/>
                </a:lnTo>
                <a:lnTo>
                  <a:pt x="15798" y="11979"/>
                </a:lnTo>
                <a:lnTo>
                  <a:pt x="15830" y="11947"/>
                </a:lnTo>
                <a:lnTo>
                  <a:pt x="15863" y="11915"/>
                </a:lnTo>
                <a:lnTo>
                  <a:pt x="15895" y="11884"/>
                </a:lnTo>
                <a:lnTo>
                  <a:pt x="15927" y="11853"/>
                </a:lnTo>
                <a:lnTo>
                  <a:pt x="15959" y="11823"/>
                </a:lnTo>
                <a:lnTo>
                  <a:pt x="15992" y="11790"/>
                </a:lnTo>
                <a:lnTo>
                  <a:pt x="16025" y="11758"/>
                </a:lnTo>
                <a:lnTo>
                  <a:pt x="16052" y="11733"/>
                </a:lnTo>
                <a:lnTo>
                  <a:pt x="16089" y="11696"/>
                </a:lnTo>
                <a:lnTo>
                  <a:pt x="16136" y="11649"/>
                </a:lnTo>
                <a:lnTo>
                  <a:pt x="16190" y="11595"/>
                </a:lnTo>
                <a:lnTo>
                  <a:pt x="16248" y="11535"/>
                </a:lnTo>
                <a:lnTo>
                  <a:pt x="16311" y="11470"/>
                </a:lnTo>
                <a:lnTo>
                  <a:pt x="16377" y="11403"/>
                </a:lnTo>
                <a:lnTo>
                  <a:pt x="16443" y="11335"/>
                </a:lnTo>
                <a:lnTo>
                  <a:pt x="16508" y="11268"/>
                </a:lnTo>
                <a:lnTo>
                  <a:pt x="16571" y="11202"/>
                </a:lnTo>
                <a:lnTo>
                  <a:pt x="16629" y="11140"/>
                </a:lnTo>
                <a:lnTo>
                  <a:pt x="16681" y="11084"/>
                </a:lnTo>
                <a:lnTo>
                  <a:pt x="16726" y="11036"/>
                </a:lnTo>
                <a:lnTo>
                  <a:pt x="16761" y="10997"/>
                </a:lnTo>
                <a:lnTo>
                  <a:pt x="16786" y="10969"/>
                </a:lnTo>
                <a:lnTo>
                  <a:pt x="16797" y="10953"/>
                </a:lnTo>
                <a:lnTo>
                  <a:pt x="16818" y="10935"/>
                </a:lnTo>
                <a:lnTo>
                  <a:pt x="16837" y="10915"/>
                </a:lnTo>
                <a:lnTo>
                  <a:pt x="16856" y="10896"/>
                </a:lnTo>
                <a:lnTo>
                  <a:pt x="16874" y="10875"/>
                </a:lnTo>
                <a:lnTo>
                  <a:pt x="16908" y="10833"/>
                </a:lnTo>
                <a:lnTo>
                  <a:pt x="16943" y="10789"/>
                </a:lnTo>
                <a:lnTo>
                  <a:pt x="17006" y="10707"/>
                </a:lnTo>
                <a:lnTo>
                  <a:pt x="17067" y="10626"/>
                </a:lnTo>
                <a:lnTo>
                  <a:pt x="17128" y="10543"/>
                </a:lnTo>
                <a:lnTo>
                  <a:pt x="17185" y="10462"/>
                </a:lnTo>
                <a:lnTo>
                  <a:pt x="17214" y="10421"/>
                </a:lnTo>
                <a:lnTo>
                  <a:pt x="17241" y="10379"/>
                </a:lnTo>
                <a:lnTo>
                  <a:pt x="17269" y="10337"/>
                </a:lnTo>
                <a:lnTo>
                  <a:pt x="17295" y="10296"/>
                </a:lnTo>
                <a:lnTo>
                  <a:pt x="17321" y="10254"/>
                </a:lnTo>
                <a:lnTo>
                  <a:pt x="17347" y="10211"/>
                </a:lnTo>
                <a:lnTo>
                  <a:pt x="17372" y="10169"/>
                </a:lnTo>
                <a:lnTo>
                  <a:pt x="17396" y="10125"/>
                </a:lnTo>
                <a:lnTo>
                  <a:pt x="17419" y="10081"/>
                </a:lnTo>
                <a:lnTo>
                  <a:pt x="17442" y="10037"/>
                </a:lnTo>
                <a:lnTo>
                  <a:pt x="17463" y="9992"/>
                </a:lnTo>
                <a:lnTo>
                  <a:pt x="17485" y="9946"/>
                </a:lnTo>
                <a:lnTo>
                  <a:pt x="17505" y="9900"/>
                </a:lnTo>
                <a:lnTo>
                  <a:pt x="17524" y="9853"/>
                </a:lnTo>
                <a:lnTo>
                  <a:pt x="17543" y="9805"/>
                </a:lnTo>
                <a:lnTo>
                  <a:pt x="17561" y="9757"/>
                </a:lnTo>
                <a:lnTo>
                  <a:pt x="17578" y="9708"/>
                </a:lnTo>
                <a:lnTo>
                  <a:pt x="17594" y="9657"/>
                </a:lnTo>
                <a:lnTo>
                  <a:pt x="17609" y="9606"/>
                </a:lnTo>
                <a:lnTo>
                  <a:pt x="17622" y="9553"/>
                </a:lnTo>
                <a:lnTo>
                  <a:pt x="17636" y="9501"/>
                </a:lnTo>
                <a:lnTo>
                  <a:pt x="17648" y="9446"/>
                </a:lnTo>
                <a:lnTo>
                  <a:pt x="17659" y="9391"/>
                </a:lnTo>
                <a:lnTo>
                  <a:pt x="17669" y="9334"/>
                </a:lnTo>
                <a:lnTo>
                  <a:pt x="17673" y="9309"/>
                </a:lnTo>
                <a:lnTo>
                  <a:pt x="17675" y="9283"/>
                </a:lnTo>
                <a:lnTo>
                  <a:pt x="17675" y="9255"/>
                </a:lnTo>
                <a:lnTo>
                  <a:pt x="17674" y="9226"/>
                </a:lnTo>
                <a:lnTo>
                  <a:pt x="17672" y="9196"/>
                </a:lnTo>
                <a:lnTo>
                  <a:pt x="17669" y="9165"/>
                </a:lnTo>
                <a:lnTo>
                  <a:pt x="17665" y="9133"/>
                </a:lnTo>
                <a:lnTo>
                  <a:pt x="17659" y="9101"/>
                </a:lnTo>
                <a:lnTo>
                  <a:pt x="17653" y="9068"/>
                </a:lnTo>
                <a:lnTo>
                  <a:pt x="17645" y="9034"/>
                </a:lnTo>
                <a:lnTo>
                  <a:pt x="17637" y="8999"/>
                </a:lnTo>
                <a:lnTo>
                  <a:pt x="17629" y="8965"/>
                </a:lnTo>
                <a:lnTo>
                  <a:pt x="17609" y="8895"/>
                </a:lnTo>
                <a:lnTo>
                  <a:pt x="17587" y="8825"/>
                </a:lnTo>
                <a:lnTo>
                  <a:pt x="17563" y="8757"/>
                </a:lnTo>
                <a:lnTo>
                  <a:pt x="17539" y="8689"/>
                </a:lnTo>
                <a:lnTo>
                  <a:pt x="17513" y="8624"/>
                </a:lnTo>
                <a:lnTo>
                  <a:pt x="17487" y="8563"/>
                </a:lnTo>
                <a:lnTo>
                  <a:pt x="17462" y="8506"/>
                </a:lnTo>
                <a:lnTo>
                  <a:pt x="17437" y="8455"/>
                </a:lnTo>
                <a:lnTo>
                  <a:pt x="17415" y="8408"/>
                </a:lnTo>
                <a:lnTo>
                  <a:pt x="17394" y="8369"/>
                </a:lnTo>
                <a:lnTo>
                  <a:pt x="17360" y="8310"/>
                </a:lnTo>
                <a:lnTo>
                  <a:pt x="17328" y="8254"/>
                </a:lnTo>
                <a:lnTo>
                  <a:pt x="17297" y="8203"/>
                </a:lnTo>
                <a:lnTo>
                  <a:pt x="17268" y="8155"/>
                </a:lnTo>
                <a:lnTo>
                  <a:pt x="17239" y="8109"/>
                </a:lnTo>
                <a:lnTo>
                  <a:pt x="17210" y="8066"/>
                </a:lnTo>
                <a:lnTo>
                  <a:pt x="17182" y="8023"/>
                </a:lnTo>
                <a:lnTo>
                  <a:pt x="17153" y="7981"/>
                </a:lnTo>
                <a:lnTo>
                  <a:pt x="17123" y="7941"/>
                </a:lnTo>
                <a:lnTo>
                  <a:pt x="17093" y="7900"/>
                </a:lnTo>
                <a:lnTo>
                  <a:pt x="17062" y="7858"/>
                </a:lnTo>
                <a:lnTo>
                  <a:pt x="17029" y="7816"/>
                </a:lnTo>
                <a:lnTo>
                  <a:pt x="16958" y="7727"/>
                </a:lnTo>
                <a:lnTo>
                  <a:pt x="16877" y="7627"/>
                </a:lnTo>
                <a:lnTo>
                  <a:pt x="16843" y="7585"/>
                </a:lnTo>
                <a:lnTo>
                  <a:pt x="16805" y="7540"/>
                </a:lnTo>
                <a:lnTo>
                  <a:pt x="16766" y="7493"/>
                </a:lnTo>
                <a:lnTo>
                  <a:pt x="16725" y="7446"/>
                </a:lnTo>
                <a:lnTo>
                  <a:pt x="16641" y="7350"/>
                </a:lnTo>
                <a:lnTo>
                  <a:pt x="16551" y="7253"/>
                </a:lnTo>
                <a:lnTo>
                  <a:pt x="16462" y="7157"/>
                </a:lnTo>
                <a:lnTo>
                  <a:pt x="16373" y="7065"/>
                </a:lnTo>
                <a:lnTo>
                  <a:pt x="16287" y="6978"/>
                </a:lnTo>
                <a:lnTo>
                  <a:pt x="16207" y="6899"/>
                </a:lnTo>
                <a:lnTo>
                  <a:pt x="16179" y="6872"/>
                </a:lnTo>
                <a:lnTo>
                  <a:pt x="16153" y="6842"/>
                </a:lnTo>
                <a:lnTo>
                  <a:pt x="16127" y="6811"/>
                </a:lnTo>
                <a:lnTo>
                  <a:pt x="16099" y="6779"/>
                </a:lnTo>
                <a:lnTo>
                  <a:pt x="16071" y="6747"/>
                </a:lnTo>
                <a:lnTo>
                  <a:pt x="16042" y="6715"/>
                </a:lnTo>
                <a:lnTo>
                  <a:pt x="16011" y="6683"/>
                </a:lnTo>
                <a:lnTo>
                  <a:pt x="15979" y="6652"/>
                </a:lnTo>
                <a:lnTo>
                  <a:pt x="14313" y="5186"/>
                </a:lnTo>
                <a:lnTo>
                  <a:pt x="14230" y="5121"/>
                </a:lnTo>
                <a:lnTo>
                  <a:pt x="14144" y="5052"/>
                </a:lnTo>
                <a:lnTo>
                  <a:pt x="14058" y="4981"/>
                </a:lnTo>
                <a:lnTo>
                  <a:pt x="13972" y="4911"/>
                </a:lnTo>
                <a:lnTo>
                  <a:pt x="13885" y="4840"/>
                </a:lnTo>
                <a:lnTo>
                  <a:pt x="13797" y="4769"/>
                </a:lnTo>
                <a:lnTo>
                  <a:pt x="13709" y="4700"/>
                </a:lnTo>
                <a:lnTo>
                  <a:pt x="13622" y="4634"/>
                </a:lnTo>
                <a:lnTo>
                  <a:pt x="13528" y="4565"/>
                </a:lnTo>
                <a:lnTo>
                  <a:pt x="13437" y="4496"/>
                </a:lnTo>
                <a:lnTo>
                  <a:pt x="13348" y="4430"/>
                </a:lnTo>
                <a:lnTo>
                  <a:pt x="13259" y="4364"/>
                </a:lnTo>
                <a:lnTo>
                  <a:pt x="13172" y="4299"/>
                </a:lnTo>
                <a:lnTo>
                  <a:pt x="13085" y="4234"/>
                </a:lnTo>
                <a:lnTo>
                  <a:pt x="12999" y="4170"/>
                </a:lnTo>
                <a:lnTo>
                  <a:pt x="12913" y="4107"/>
                </a:lnTo>
                <a:lnTo>
                  <a:pt x="12826" y="4043"/>
                </a:lnTo>
                <a:lnTo>
                  <a:pt x="12738" y="3980"/>
                </a:lnTo>
                <a:lnTo>
                  <a:pt x="12650" y="3916"/>
                </a:lnTo>
                <a:lnTo>
                  <a:pt x="12559" y="3852"/>
                </a:lnTo>
                <a:lnTo>
                  <a:pt x="12468" y="3787"/>
                </a:lnTo>
                <a:lnTo>
                  <a:pt x="12373" y="3722"/>
                </a:lnTo>
                <a:lnTo>
                  <a:pt x="12276" y="3655"/>
                </a:lnTo>
                <a:lnTo>
                  <a:pt x="12177" y="3589"/>
                </a:lnTo>
                <a:lnTo>
                  <a:pt x="12083" y="3525"/>
                </a:lnTo>
                <a:lnTo>
                  <a:pt x="11988" y="3463"/>
                </a:lnTo>
                <a:lnTo>
                  <a:pt x="11893" y="3402"/>
                </a:lnTo>
                <a:lnTo>
                  <a:pt x="11798" y="3340"/>
                </a:lnTo>
                <a:lnTo>
                  <a:pt x="11702" y="3280"/>
                </a:lnTo>
                <a:lnTo>
                  <a:pt x="11606" y="3219"/>
                </a:lnTo>
                <a:lnTo>
                  <a:pt x="11509" y="3158"/>
                </a:lnTo>
                <a:lnTo>
                  <a:pt x="11411" y="3097"/>
                </a:lnTo>
                <a:lnTo>
                  <a:pt x="11318" y="3037"/>
                </a:lnTo>
                <a:lnTo>
                  <a:pt x="11222" y="2979"/>
                </a:lnTo>
                <a:lnTo>
                  <a:pt x="11125" y="2920"/>
                </a:lnTo>
                <a:lnTo>
                  <a:pt x="11028" y="2863"/>
                </a:lnTo>
                <a:lnTo>
                  <a:pt x="10930" y="2806"/>
                </a:lnTo>
                <a:lnTo>
                  <a:pt x="10831" y="2749"/>
                </a:lnTo>
                <a:lnTo>
                  <a:pt x="10732" y="2692"/>
                </a:lnTo>
                <a:lnTo>
                  <a:pt x="10631" y="2635"/>
                </a:lnTo>
                <a:lnTo>
                  <a:pt x="10529" y="2579"/>
                </a:lnTo>
                <a:lnTo>
                  <a:pt x="10427" y="2523"/>
                </a:lnTo>
                <a:lnTo>
                  <a:pt x="10326" y="2468"/>
                </a:lnTo>
                <a:lnTo>
                  <a:pt x="10223" y="2413"/>
                </a:lnTo>
                <a:lnTo>
                  <a:pt x="10120" y="2359"/>
                </a:lnTo>
                <a:lnTo>
                  <a:pt x="10015" y="2305"/>
                </a:lnTo>
                <a:lnTo>
                  <a:pt x="9911" y="2251"/>
                </a:lnTo>
                <a:lnTo>
                  <a:pt x="9807" y="2198"/>
                </a:lnTo>
                <a:lnTo>
                  <a:pt x="9735" y="2162"/>
                </a:lnTo>
                <a:lnTo>
                  <a:pt x="9660" y="2124"/>
                </a:lnTo>
                <a:lnTo>
                  <a:pt x="9583" y="2086"/>
                </a:lnTo>
                <a:lnTo>
                  <a:pt x="9504" y="2047"/>
                </a:lnTo>
                <a:lnTo>
                  <a:pt x="9423" y="2010"/>
                </a:lnTo>
                <a:lnTo>
                  <a:pt x="9340" y="1971"/>
                </a:lnTo>
                <a:lnTo>
                  <a:pt x="9258" y="1932"/>
                </a:lnTo>
                <a:lnTo>
                  <a:pt x="9174" y="1893"/>
                </a:lnTo>
                <a:lnTo>
                  <a:pt x="9091" y="1855"/>
                </a:lnTo>
                <a:lnTo>
                  <a:pt x="9006" y="1816"/>
                </a:lnTo>
                <a:lnTo>
                  <a:pt x="8923" y="1780"/>
                </a:lnTo>
                <a:lnTo>
                  <a:pt x="8840" y="1743"/>
                </a:lnTo>
                <a:lnTo>
                  <a:pt x="8759" y="1707"/>
                </a:lnTo>
                <a:lnTo>
                  <a:pt x="8679" y="1673"/>
                </a:lnTo>
                <a:lnTo>
                  <a:pt x="8600" y="1640"/>
                </a:lnTo>
                <a:lnTo>
                  <a:pt x="8523" y="1608"/>
                </a:lnTo>
                <a:lnTo>
                  <a:pt x="8472" y="1587"/>
                </a:lnTo>
                <a:lnTo>
                  <a:pt x="8417" y="1562"/>
                </a:lnTo>
                <a:lnTo>
                  <a:pt x="8360" y="1537"/>
                </a:lnTo>
                <a:lnTo>
                  <a:pt x="8300" y="1511"/>
                </a:lnTo>
                <a:lnTo>
                  <a:pt x="8242" y="1485"/>
                </a:lnTo>
                <a:lnTo>
                  <a:pt x="8184" y="1461"/>
                </a:lnTo>
                <a:lnTo>
                  <a:pt x="8156" y="1451"/>
                </a:lnTo>
                <a:lnTo>
                  <a:pt x="8129" y="1442"/>
                </a:lnTo>
                <a:lnTo>
                  <a:pt x="8102" y="1433"/>
                </a:lnTo>
                <a:lnTo>
                  <a:pt x="8078" y="1426"/>
                </a:lnTo>
                <a:close/>
              </a:path>
            </a:pathLst>
          </a:custGeom>
          <a:solidFill>
            <a:schemeClr val="accent2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339286" y="3430080"/>
            <a:ext cx="7560000" cy="82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食品供应：建立严格的食品采购和验收制度，确保食品来源可靠、质量合格，保障老人饮食安全。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089183" y="3510785"/>
            <a:ext cx="126854" cy="131412"/>
          </a:xfrm>
          <a:custGeom>
            <a:avLst/>
            <a:gdLst>
              <a:gd name="T0" fmla="*/ 7371 w 17675"/>
              <a:gd name="T1" fmla="*/ 1125 h 18310"/>
              <a:gd name="T2" fmla="*/ 5959 w 17675"/>
              <a:gd name="T3" fmla="*/ 593 h 18310"/>
              <a:gd name="T4" fmla="*/ 4735 w 17675"/>
              <a:gd name="T5" fmla="*/ 240 h 18310"/>
              <a:gd name="T6" fmla="*/ 3627 w 17675"/>
              <a:gd name="T7" fmla="*/ 54 h 18310"/>
              <a:gd name="T8" fmla="*/ 2806 w 17675"/>
              <a:gd name="T9" fmla="*/ 7 h 18310"/>
              <a:gd name="T10" fmla="*/ 2454 w 17675"/>
              <a:gd name="T11" fmla="*/ 85 h 18310"/>
              <a:gd name="T12" fmla="*/ 2132 w 17675"/>
              <a:gd name="T13" fmla="*/ 262 h 18310"/>
              <a:gd name="T14" fmla="*/ 1838 w 17675"/>
              <a:gd name="T15" fmla="*/ 533 h 18310"/>
              <a:gd name="T16" fmla="*/ 1454 w 17675"/>
              <a:gd name="T17" fmla="*/ 1111 h 18310"/>
              <a:gd name="T18" fmla="*/ 1261 w 17675"/>
              <a:gd name="T19" fmla="*/ 1545 h 18310"/>
              <a:gd name="T20" fmla="*/ 1008 w 17675"/>
              <a:gd name="T21" fmla="*/ 2315 h 18310"/>
              <a:gd name="T22" fmla="*/ 836 w 17675"/>
              <a:gd name="T23" fmla="*/ 2906 h 18310"/>
              <a:gd name="T24" fmla="*/ 683 w 17675"/>
              <a:gd name="T25" fmla="*/ 3519 h 18310"/>
              <a:gd name="T26" fmla="*/ 506 w 17675"/>
              <a:gd name="T27" fmla="*/ 4330 h 18310"/>
              <a:gd name="T28" fmla="*/ 356 w 17675"/>
              <a:gd name="T29" fmla="*/ 5177 h 18310"/>
              <a:gd name="T30" fmla="*/ 199 w 17675"/>
              <a:gd name="T31" fmla="*/ 6352 h 18310"/>
              <a:gd name="T32" fmla="*/ 65 w 17675"/>
              <a:gd name="T33" fmla="*/ 7805 h 18310"/>
              <a:gd name="T34" fmla="*/ 1 w 17675"/>
              <a:gd name="T35" fmla="*/ 9354 h 18310"/>
              <a:gd name="T36" fmla="*/ 54 w 17675"/>
              <a:gd name="T37" fmla="*/ 10490 h 18310"/>
              <a:gd name="T38" fmla="*/ 149 w 17675"/>
              <a:gd name="T39" fmla="*/ 11811 h 18310"/>
              <a:gd name="T40" fmla="*/ 298 w 17675"/>
              <a:gd name="T41" fmla="*/ 13066 h 18310"/>
              <a:gd name="T42" fmla="*/ 650 w 17675"/>
              <a:gd name="T43" fmla="*/ 14979 h 18310"/>
              <a:gd name="T44" fmla="*/ 991 w 17675"/>
              <a:gd name="T45" fmla="*/ 16266 h 18310"/>
              <a:gd name="T46" fmla="*/ 1332 w 17675"/>
              <a:gd name="T47" fmla="*/ 17156 h 18310"/>
              <a:gd name="T48" fmla="*/ 1598 w 17675"/>
              <a:gd name="T49" fmla="*/ 17614 h 18310"/>
              <a:gd name="T50" fmla="*/ 1917 w 17675"/>
              <a:gd name="T51" fmla="*/ 17970 h 18310"/>
              <a:gd name="T52" fmla="*/ 2349 w 17675"/>
              <a:gd name="T53" fmla="*/ 18232 h 18310"/>
              <a:gd name="T54" fmla="*/ 2745 w 17675"/>
              <a:gd name="T55" fmla="*/ 18309 h 18310"/>
              <a:gd name="T56" fmla="*/ 3384 w 17675"/>
              <a:gd name="T57" fmla="*/ 18287 h 18310"/>
              <a:gd name="T58" fmla="*/ 4157 w 17675"/>
              <a:gd name="T59" fmla="*/ 18192 h 18310"/>
              <a:gd name="T60" fmla="*/ 5006 w 17675"/>
              <a:gd name="T61" fmla="*/ 18009 h 18310"/>
              <a:gd name="T62" fmla="*/ 6483 w 17675"/>
              <a:gd name="T63" fmla="*/ 17544 h 18310"/>
              <a:gd name="T64" fmla="*/ 7200 w 17675"/>
              <a:gd name="T65" fmla="*/ 17277 h 18310"/>
              <a:gd name="T66" fmla="*/ 8295 w 17675"/>
              <a:gd name="T67" fmla="*/ 16841 h 18310"/>
              <a:gd name="T68" fmla="*/ 8872 w 17675"/>
              <a:gd name="T69" fmla="*/ 16605 h 18310"/>
              <a:gd name="T70" fmla="*/ 9346 w 17675"/>
              <a:gd name="T71" fmla="*/ 16391 h 18310"/>
              <a:gd name="T72" fmla="*/ 10057 w 17675"/>
              <a:gd name="T73" fmla="*/ 16048 h 18310"/>
              <a:gd name="T74" fmla="*/ 10903 w 17675"/>
              <a:gd name="T75" fmla="*/ 15584 h 18310"/>
              <a:gd name="T76" fmla="*/ 11867 w 17675"/>
              <a:gd name="T77" fmla="*/ 14997 h 18310"/>
              <a:gd name="T78" fmla="*/ 12590 w 17675"/>
              <a:gd name="T79" fmla="*/ 14528 h 18310"/>
              <a:gd name="T80" fmla="*/ 13212 w 17675"/>
              <a:gd name="T81" fmla="*/ 14088 h 18310"/>
              <a:gd name="T82" fmla="*/ 14481 w 17675"/>
              <a:gd name="T83" fmla="*/ 13112 h 18310"/>
              <a:gd name="T84" fmla="*/ 14802 w 17675"/>
              <a:gd name="T85" fmla="*/ 12854 h 18310"/>
              <a:gd name="T86" fmla="*/ 15451 w 17675"/>
              <a:gd name="T87" fmla="*/ 12291 h 18310"/>
              <a:gd name="T88" fmla="*/ 15927 w 17675"/>
              <a:gd name="T89" fmla="*/ 11853 h 18310"/>
              <a:gd name="T90" fmla="*/ 16443 w 17675"/>
              <a:gd name="T91" fmla="*/ 11335 h 18310"/>
              <a:gd name="T92" fmla="*/ 16856 w 17675"/>
              <a:gd name="T93" fmla="*/ 10896 h 18310"/>
              <a:gd name="T94" fmla="*/ 17295 w 17675"/>
              <a:gd name="T95" fmla="*/ 10296 h 18310"/>
              <a:gd name="T96" fmla="*/ 17543 w 17675"/>
              <a:gd name="T97" fmla="*/ 9805 h 18310"/>
              <a:gd name="T98" fmla="*/ 17675 w 17675"/>
              <a:gd name="T99" fmla="*/ 9283 h 18310"/>
              <a:gd name="T100" fmla="*/ 17609 w 17675"/>
              <a:gd name="T101" fmla="*/ 8895 h 18310"/>
              <a:gd name="T102" fmla="*/ 17328 w 17675"/>
              <a:gd name="T103" fmla="*/ 8254 h 18310"/>
              <a:gd name="T104" fmla="*/ 16958 w 17675"/>
              <a:gd name="T105" fmla="*/ 7727 h 18310"/>
              <a:gd name="T106" fmla="*/ 16207 w 17675"/>
              <a:gd name="T107" fmla="*/ 6899 h 18310"/>
              <a:gd name="T108" fmla="*/ 14144 w 17675"/>
              <a:gd name="T109" fmla="*/ 5052 h 18310"/>
              <a:gd name="T110" fmla="*/ 13172 w 17675"/>
              <a:gd name="T111" fmla="*/ 4299 h 18310"/>
              <a:gd name="T112" fmla="*/ 12177 w 17675"/>
              <a:gd name="T113" fmla="*/ 3589 h 18310"/>
              <a:gd name="T114" fmla="*/ 11125 w 17675"/>
              <a:gd name="T115" fmla="*/ 2920 h 18310"/>
              <a:gd name="T116" fmla="*/ 10015 w 17675"/>
              <a:gd name="T117" fmla="*/ 2305 h 18310"/>
              <a:gd name="T118" fmla="*/ 9091 w 17675"/>
              <a:gd name="T119" fmla="*/ 1855 h 18310"/>
              <a:gd name="T120" fmla="*/ 8300 w 17675"/>
              <a:gd name="T121" fmla="*/ 1511 h 18310"/>
            </a:gdLst>
            <a:ahLst/>
            <a:cxnLst/>
            <a:rect l="0" t="0" r="r" b="b"/>
            <a:pathLst>
              <a:path w="17675" h="18310">
                <a:moveTo>
                  <a:pt x="8078" y="1426"/>
                </a:moveTo>
                <a:lnTo>
                  <a:pt x="8047" y="1409"/>
                </a:lnTo>
                <a:lnTo>
                  <a:pt x="8014" y="1392"/>
                </a:lnTo>
                <a:lnTo>
                  <a:pt x="7978" y="1376"/>
                </a:lnTo>
                <a:lnTo>
                  <a:pt x="7940" y="1360"/>
                </a:lnTo>
                <a:lnTo>
                  <a:pt x="7901" y="1345"/>
                </a:lnTo>
                <a:lnTo>
                  <a:pt x="7862" y="1330"/>
                </a:lnTo>
                <a:lnTo>
                  <a:pt x="7825" y="1315"/>
                </a:lnTo>
                <a:lnTo>
                  <a:pt x="7791" y="1301"/>
                </a:lnTo>
                <a:lnTo>
                  <a:pt x="7583" y="1213"/>
                </a:lnTo>
                <a:lnTo>
                  <a:pt x="7371" y="1125"/>
                </a:lnTo>
                <a:lnTo>
                  <a:pt x="7158" y="1038"/>
                </a:lnTo>
                <a:lnTo>
                  <a:pt x="6943" y="953"/>
                </a:lnTo>
                <a:lnTo>
                  <a:pt x="6836" y="911"/>
                </a:lnTo>
                <a:lnTo>
                  <a:pt x="6727" y="869"/>
                </a:lnTo>
                <a:lnTo>
                  <a:pt x="6618" y="827"/>
                </a:lnTo>
                <a:lnTo>
                  <a:pt x="6508" y="787"/>
                </a:lnTo>
                <a:lnTo>
                  <a:pt x="6400" y="747"/>
                </a:lnTo>
                <a:lnTo>
                  <a:pt x="6290" y="707"/>
                </a:lnTo>
                <a:lnTo>
                  <a:pt x="6180" y="668"/>
                </a:lnTo>
                <a:lnTo>
                  <a:pt x="6070" y="631"/>
                </a:lnTo>
                <a:lnTo>
                  <a:pt x="5959" y="593"/>
                </a:lnTo>
                <a:lnTo>
                  <a:pt x="5848" y="556"/>
                </a:lnTo>
                <a:lnTo>
                  <a:pt x="5737" y="521"/>
                </a:lnTo>
                <a:lnTo>
                  <a:pt x="5626" y="485"/>
                </a:lnTo>
                <a:lnTo>
                  <a:pt x="5515" y="451"/>
                </a:lnTo>
                <a:lnTo>
                  <a:pt x="5404" y="418"/>
                </a:lnTo>
                <a:lnTo>
                  <a:pt x="5292" y="386"/>
                </a:lnTo>
                <a:lnTo>
                  <a:pt x="5181" y="355"/>
                </a:lnTo>
                <a:lnTo>
                  <a:pt x="5069" y="324"/>
                </a:lnTo>
                <a:lnTo>
                  <a:pt x="4958" y="295"/>
                </a:lnTo>
                <a:lnTo>
                  <a:pt x="4846" y="267"/>
                </a:lnTo>
                <a:lnTo>
                  <a:pt x="4735" y="240"/>
                </a:lnTo>
                <a:lnTo>
                  <a:pt x="4623" y="215"/>
                </a:lnTo>
                <a:lnTo>
                  <a:pt x="4511" y="191"/>
                </a:lnTo>
                <a:lnTo>
                  <a:pt x="4400" y="168"/>
                </a:lnTo>
                <a:lnTo>
                  <a:pt x="4287" y="146"/>
                </a:lnTo>
                <a:lnTo>
                  <a:pt x="4234" y="136"/>
                </a:lnTo>
                <a:lnTo>
                  <a:pt x="4162" y="125"/>
                </a:lnTo>
                <a:lnTo>
                  <a:pt x="4075" y="112"/>
                </a:lnTo>
                <a:lnTo>
                  <a:pt x="3975" y="98"/>
                </a:lnTo>
                <a:lnTo>
                  <a:pt x="3865" y="84"/>
                </a:lnTo>
                <a:lnTo>
                  <a:pt x="3749" y="69"/>
                </a:lnTo>
                <a:lnTo>
                  <a:pt x="3627" y="54"/>
                </a:lnTo>
                <a:lnTo>
                  <a:pt x="3504" y="40"/>
                </a:lnTo>
                <a:lnTo>
                  <a:pt x="3381" y="27"/>
                </a:lnTo>
                <a:lnTo>
                  <a:pt x="3262" y="17"/>
                </a:lnTo>
                <a:lnTo>
                  <a:pt x="3148" y="8"/>
                </a:lnTo>
                <a:lnTo>
                  <a:pt x="3043" y="2"/>
                </a:lnTo>
                <a:lnTo>
                  <a:pt x="2994" y="1"/>
                </a:lnTo>
                <a:lnTo>
                  <a:pt x="2949" y="0"/>
                </a:lnTo>
                <a:lnTo>
                  <a:pt x="2908" y="0"/>
                </a:lnTo>
                <a:lnTo>
                  <a:pt x="2869" y="1"/>
                </a:lnTo>
                <a:lnTo>
                  <a:pt x="2834" y="3"/>
                </a:lnTo>
                <a:lnTo>
                  <a:pt x="2806" y="7"/>
                </a:lnTo>
                <a:lnTo>
                  <a:pt x="2780" y="11"/>
                </a:lnTo>
                <a:lnTo>
                  <a:pt x="2761" y="17"/>
                </a:lnTo>
                <a:lnTo>
                  <a:pt x="2724" y="19"/>
                </a:lnTo>
                <a:lnTo>
                  <a:pt x="2689" y="24"/>
                </a:lnTo>
                <a:lnTo>
                  <a:pt x="2655" y="29"/>
                </a:lnTo>
                <a:lnTo>
                  <a:pt x="2620" y="35"/>
                </a:lnTo>
                <a:lnTo>
                  <a:pt x="2586" y="43"/>
                </a:lnTo>
                <a:lnTo>
                  <a:pt x="2552" y="53"/>
                </a:lnTo>
                <a:lnTo>
                  <a:pt x="2518" y="63"/>
                </a:lnTo>
                <a:lnTo>
                  <a:pt x="2486" y="73"/>
                </a:lnTo>
                <a:lnTo>
                  <a:pt x="2454" y="85"/>
                </a:lnTo>
                <a:lnTo>
                  <a:pt x="2423" y="97"/>
                </a:lnTo>
                <a:lnTo>
                  <a:pt x="2393" y="111"/>
                </a:lnTo>
                <a:lnTo>
                  <a:pt x="2363" y="125"/>
                </a:lnTo>
                <a:lnTo>
                  <a:pt x="2333" y="138"/>
                </a:lnTo>
                <a:lnTo>
                  <a:pt x="2306" y="153"/>
                </a:lnTo>
                <a:lnTo>
                  <a:pt x="2278" y="169"/>
                </a:lnTo>
                <a:lnTo>
                  <a:pt x="2252" y="184"/>
                </a:lnTo>
                <a:lnTo>
                  <a:pt x="2218" y="205"/>
                </a:lnTo>
                <a:lnTo>
                  <a:pt x="2187" y="224"/>
                </a:lnTo>
                <a:lnTo>
                  <a:pt x="2158" y="244"/>
                </a:lnTo>
                <a:lnTo>
                  <a:pt x="2132" y="262"/>
                </a:lnTo>
                <a:lnTo>
                  <a:pt x="2108" y="280"/>
                </a:lnTo>
                <a:lnTo>
                  <a:pt x="2086" y="298"/>
                </a:lnTo>
                <a:lnTo>
                  <a:pt x="2065" y="315"/>
                </a:lnTo>
                <a:lnTo>
                  <a:pt x="2046" y="332"/>
                </a:lnTo>
                <a:lnTo>
                  <a:pt x="2007" y="367"/>
                </a:lnTo>
                <a:lnTo>
                  <a:pt x="1968" y="405"/>
                </a:lnTo>
                <a:lnTo>
                  <a:pt x="1927" y="446"/>
                </a:lnTo>
                <a:lnTo>
                  <a:pt x="1878" y="491"/>
                </a:lnTo>
                <a:lnTo>
                  <a:pt x="1866" y="504"/>
                </a:lnTo>
                <a:lnTo>
                  <a:pt x="1853" y="517"/>
                </a:lnTo>
                <a:lnTo>
                  <a:pt x="1838" y="533"/>
                </a:lnTo>
                <a:lnTo>
                  <a:pt x="1823" y="550"/>
                </a:lnTo>
                <a:lnTo>
                  <a:pt x="1790" y="592"/>
                </a:lnTo>
                <a:lnTo>
                  <a:pt x="1754" y="637"/>
                </a:lnTo>
                <a:lnTo>
                  <a:pt x="1717" y="689"/>
                </a:lnTo>
                <a:lnTo>
                  <a:pt x="1679" y="744"/>
                </a:lnTo>
                <a:lnTo>
                  <a:pt x="1639" y="802"/>
                </a:lnTo>
                <a:lnTo>
                  <a:pt x="1600" y="863"/>
                </a:lnTo>
                <a:lnTo>
                  <a:pt x="1561" y="926"/>
                </a:lnTo>
                <a:lnTo>
                  <a:pt x="1524" y="988"/>
                </a:lnTo>
                <a:lnTo>
                  <a:pt x="1488" y="1051"/>
                </a:lnTo>
                <a:lnTo>
                  <a:pt x="1454" y="1111"/>
                </a:lnTo>
                <a:lnTo>
                  <a:pt x="1425" y="1170"/>
                </a:lnTo>
                <a:lnTo>
                  <a:pt x="1398" y="1226"/>
                </a:lnTo>
                <a:lnTo>
                  <a:pt x="1387" y="1252"/>
                </a:lnTo>
                <a:lnTo>
                  <a:pt x="1377" y="1277"/>
                </a:lnTo>
                <a:lnTo>
                  <a:pt x="1367" y="1301"/>
                </a:lnTo>
                <a:lnTo>
                  <a:pt x="1359" y="1323"/>
                </a:lnTo>
                <a:lnTo>
                  <a:pt x="1340" y="1362"/>
                </a:lnTo>
                <a:lnTo>
                  <a:pt x="1320" y="1404"/>
                </a:lnTo>
                <a:lnTo>
                  <a:pt x="1300" y="1449"/>
                </a:lnTo>
                <a:lnTo>
                  <a:pt x="1280" y="1496"/>
                </a:lnTo>
                <a:lnTo>
                  <a:pt x="1261" y="1545"/>
                </a:lnTo>
                <a:lnTo>
                  <a:pt x="1241" y="1596"/>
                </a:lnTo>
                <a:lnTo>
                  <a:pt x="1222" y="1648"/>
                </a:lnTo>
                <a:lnTo>
                  <a:pt x="1204" y="1702"/>
                </a:lnTo>
                <a:lnTo>
                  <a:pt x="1167" y="1808"/>
                </a:lnTo>
                <a:lnTo>
                  <a:pt x="1133" y="1915"/>
                </a:lnTo>
                <a:lnTo>
                  <a:pt x="1101" y="2016"/>
                </a:lnTo>
                <a:lnTo>
                  <a:pt x="1071" y="2110"/>
                </a:lnTo>
                <a:lnTo>
                  <a:pt x="1055" y="2162"/>
                </a:lnTo>
                <a:lnTo>
                  <a:pt x="1039" y="2213"/>
                </a:lnTo>
                <a:lnTo>
                  <a:pt x="1023" y="2264"/>
                </a:lnTo>
                <a:lnTo>
                  <a:pt x="1008" y="2315"/>
                </a:lnTo>
                <a:lnTo>
                  <a:pt x="992" y="2367"/>
                </a:lnTo>
                <a:lnTo>
                  <a:pt x="976" y="2418"/>
                </a:lnTo>
                <a:lnTo>
                  <a:pt x="960" y="2471"/>
                </a:lnTo>
                <a:lnTo>
                  <a:pt x="944" y="2523"/>
                </a:lnTo>
                <a:lnTo>
                  <a:pt x="929" y="2573"/>
                </a:lnTo>
                <a:lnTo>
                  <a:pt x="913" y="2626"/>
                </a:lnTo>
                <a:lnTo>
                  <a:pt x="896" y="2682"/>
                </a:lnTo>
                <a:lnTo>
                  <a:pt x="880" y="2740"/>
                </a:lnTo>
                <a:lnTo>
                  <a:pt x="864" y="2797"/>
                </a:lnTo>
                <a:lnTo>
                  <a:pt x="849" y="2852"/>
                </a:lnTo>
                <a:lnTo>
                  <a:pt x="836" y="2906"/>
                </a:lnTo>
                <a:lnTo>
                  <a:pt x="827" y="2955"/>
                </a:lnTo>
                <a:lnTo>
                  <a:pt x="818" y="2977"/>
                </a:lnTo>
                <a:lnTo>
                  <a:pt x="809" y="3003"/>
                </a:lnTo>
                <a:lnTo>
                  <a:pt x="800" y="3033"/>
                </a:lnTo>
                <a:lnTo>
                  <a:pt x="790" y="3067"/>
                </a:lnTo>
                <a:lnTo>
                  <a:pt x="770" y="3142"/>
                </a:lnTo>
                <a:lnTo>
                  <a:pt x="749" y="3225"/>
                </a:lnTo>
                <a:lnTo>
                  <a:pt x="730" y="3310"/>
                </a:lnTo>
                <a:lnTo>
                  <a:pt x="712" y="3390"/>
                </a:lnTo>
                <a:lnTo>
                  <a:pt x="696" y="3461"/>
                </a:lnTo>
                <a:lnTo>
                  <a:pt x="683" y="3519"/>
                </a:lnTo>
                <a:lnTo>
                  <a:pt x="666" y="3593"/>
                </a:lnTo>
                <a:lnTo>
                  <a:pt x="649" y="3667"/>
                </a:lnTo>
                <a:lnTo>
                  <a:pt x="633" y="3740"/>
                </a:lnTo>
                <a:lnTo>
                  <a:pt x="617" y="3813"/>
                </a:lnTo>
                <a:lnTo>
                  <a:pt x="601" y="3886"/>
                </a:lnTo>
                <a:lnTo>
                  <a:pt x="585" y="3960"/>
                </a:lnTo>
                <a:lnTo>
                  <a:pt x="569" y="4033"/>
                </a:lnTo>
                <a:lnTo>
                  <a:pt x="553" y="4108"/>
                </a:lnTo>
                <a:lnTo>
                  <a:pt x="537" y="4182"/>
                </a:lnTo>
                <a:lnTo>
                  <a:pt x="522" y="4256"/>
                </a:lnTo>
                <a:lnTo>
                  <a:pt x="506" y="4330"/>
                </a:lnTo>
                <a:lnTo>
                  <a:pt x="491" y="4406"/>
                </a:lnTo>
                <a:lnTo>
                  <a:pt x="476" y="4483"/>
                </a:lnTo>
                <a:lnTo>
                  <a:pt x="461" y="4559"/>
                </a:lnTo>
                <a:lnTo>
                  <a:pt x="447" y="4636"/>
                </a:lnTo>
                <a:lnTo>
                  <a:pt x="433" y="4714"/>
                </a:lnTo>
                <a:lnTo>
                  <a:pt x="419" y="4791"/>
                </a:lnTo>
                <a:lnTo>
                  <a:pt x="405" y="4868"/>
                </a:lnTo>
                <a:lnTo>
                  <a:pt x="392" y="4946"/>
                </a:lnTo>
                <a:lnTo>
                  <a:pt x="380" y="5024"/>
                </a:lnTo>
                <a:lnTo>
                  <a:pt x="367" y="5100"/>
                </a:lnTo>
                <a:lnTo>
                  <a:pt x="356" y="5177"/>
                </a:lnTo>
                <a:lnTo>
                  <a:pt x="346" y="5253"/>
                </a:lnTo>
                <a:lnTo>
                  <a:pt x="335" y="5328"/>
                </a:lnTo>
                <a:lnTo>
                  <a:pt x="320" y="5442"/>
                </a:lnTo>
                <a:lnTo>
                  <a:pt x="304" y="5555"/>
                </a:lnTo>
                <a:lnTo>
                  <a:pt x="289" y="5668"/>
                </a:lnTo>
                <a:lnTo>
                  <a:pt x="275" y="5781"/>
                </a:lnTo>
                <a:lnTo>
                  <a:pt x="259" y="5896"/>
                </a:lnTo>
                <a:lnTo>
                  <a:pt x="244" y="6009"/>
                </a:lnTo>
                <a:lnTo>
                  <a:pt x="229" y="6124"/>
                </a:lnTo>
                <a:lnTo>
                  <a:pt x="214" y="6238"/>
                </a:lnTo>
                <a:lnTo>
                  <a:pt x="199" y="6352"/>
                </a:lnTo>
                <a:lnTo>
                  <a:pt x="185" y="6467"/>
                </a:lnTo>
                <a:lnTo>
                  <a:pt x="173" y="6581"/>
                </a:lnTo>
                <a:lnTo>
                  <a:pt x="160" y="6697"/>
                </a:lnTo>
                <a:lnTo>
                  <a:pt x="148" y="6811"/>
                </a:lnTo>
                <a:lnTo>
                  <a:pt x="137" y="6927"/>
                </a:lnTo>
                <a:lnTo>
                  <a:pt x="127" y="7042"/>
                </a:lnTo>
                <a:lnTo>
                  <a:pt x="119" y="7158"/>
                </a:lnTo>
                <a:lnTo>
                  <a:pt x="105" y="7319"/>
                </a:lnTo>
                <a:lnTo>
                  <a:pt x="92" y="7481"/>
                </a:lnTo>
                <a:lnTo>
                  <a:pt x="79" y="7643"/>
                </a:lnTo>
                <a:lnTo>
                  <a:pt x="65" y="7805"/>
                </a:lnTo>
                <a:lnTo>
                  <a:pt x="54" y="7967"/>
                </a:lnTo>
                <a:lnTo>
                  <a:pt x="42" y="8130"/>
                </a:lnTo>
                <a:lnTo>
                  <a:pt x="31" y="8293"/>
                </a:lnTo>
                <a:lnTo>
                  <a:pt x="22" y="8456"/>
                </a:lnTo>
                <a:lnTo>
                  <a:pt x="14" y="8619"/>
                </a:lnTo>
                <a:lnTo>
                  <a:pt x="8" y="8782"/>
                </a:lnTo>
                <a:lnTo>
                  <a:pt x="3" y="8946"/>
                </a:lnTo>
                <a:lnTo>
                  <a:pt x="0" y="9109"/>
                </a:lnTo>
                <a:lnTo>
                  <a:pt x="0" y="9190"/>
                </a:lnTo>
                <a:lnTo>
                  <a:pt x="0" y="9273"/>
                </a:lnTo>
                <a:lnTo>
                  <a:pt x="1" y="9354"/>
                </a:lnTo>
                <a:lnTo>
                  <a:pt x="2" y="9437"/>
                </a:lnTo>
                <a:lnTo>
                  <a:pt x="3" y="9518"/>
                </a:lnTo>
                <a:lnTo>
                  <a:pt x="7" y="9599"/>
                </a:lnTo>
                <a:lnTo>
                  <a:pt x="10" y="9681"/>
                </a:lnTo>
                <a:lnTo>
                  <a:pt x="14" y="9763"/>
                </a:lnTo>
                <a:lnTo>
                  <a:pt x="21" y="9885"/>
                </a:lnTo>
                <a:lnTo>
                  <a:pt x="27" y="10006"/>
                </a:lnTo>
                <a:lnTo>
                  <a:pt x="34" y="10128"/>
                </a:lnTo>
                <a:lnTo>
                  <a:pt x="41" y="10249"/>
                </a:lnTo>
                <a:lnTo>
                  <a:pt x="47" y="10369"/>
                </a:lnTo>
                <a:lnTo>
                  <a:pt x="54" y="10490"/>
                </a:lnTo>
                <a:lnTo>
                  <a:pt x="61" y="10611"/>
                </a:lnTo>
                <a:lnTo>
                  <a:pt x="68" y="10731"/>
                </a:lnTo>
                <a:lnTo>
                  <a:pt x="74" y="10851"/>
                </a:lnTo>
                <a:lnTo>
                  <a:pt x="82" y="10971"/>
                </a:lnTo>
                <a:lnTo>
                  <a:pt x="90" y="11091"/>
                </a:lnTo>
                <a:lnTo>
                  <a:pt x="98" y="11213"/>
                </a:lnTo>
                <a:lnTo>
                  <a:pt x="108" y="11333"/>
                </a:lnTo>
                <a:lnTo>
                  <a:pt x="117" y="11454"/>
                </a:lnTo>
                <a:lnTo>
                  <a:pt x="127" y="11575"/>
                </a:lnTo>
                <a:lnTo>
                  <a:pt x="138" y="11697"/>
                </a:lnTo>
                <a:lnTo>
                  <a:pt x="149" y="11811"/>
                </a:lnTo>
                <a:lnTo>
                  <a:pt x="160" y="11926"/>
                </a:lnTo>
                <a:lnTo>
                  <a:pt x="172" y="12040"/>
                </a:lnTo>
                <a:lnTo>
                  <a:pt x="184" y="12154"/>
                </a:lnTo>
                <a:lnTo>
                  <a:pt x="197" y="12269"/>
                </a:lnTo>
                <a:lnTo>
                  <a:pt x="209" y="12383"/>
                </a:lnTo>
                <a:lnTo>
                  <a:pt x="223" y="12498"/>
                </a:lnTo>
                <a:lnTo>
                  <a:pt x="237" y="12611"/>
                </a:lnTo>
                <a:lnTo>
                  <a:pt x="252" y="12725"/>
                </a:lnTo>
                <a:lnTo>
                  <a:pt x="267" y="12839"/>
                </a:lnTo>
                <a:lnTo>
                  <a:pt x="281" y="12953"/>
                </a:lnTo>
                <a:lnTo>
                  <a:pt x="298" y="13066"/>
                </a:lnTo>
                <a:lnTo>
                  <a:pt x="314" y="13180"/>
                </a:lnTo>
                <a:lnTo>
                  <a:pt x="331" y="13293"/>
                </a:lnTo>
                <a:lnTo>
                  <a:pt x="349" y="13406"/>
                </a:lnTo>
                <a:lnTo>
                  <a:pt x="366" y="13519"/>
                </a:lnTo>
                <a:lnTo>
                  <a:pt x="398" y="13707"/>
                </a:lnTo>
                <a:lnTo>
                  <a:pt x="433" y="13905"/>
                </a:lnTo>
                <a:lnTo>
                  <a:pt x="470" y="14110"/>
                </a:lnTo>
                <a:lnTo>
                  <a:pt x="511" y="14322"/>
                </a:lnTo>
                <a:lnTo>
                  <a:pt x="555" y="14538"/>
                </a:lnTo>
                <a:lnTo>
                  <a:pt x="602" y="14757"/>
                </a:lnTo>
                <a:lnTo>
                  <a:pt x="650" y="14979"/>
                </a:lnTo>
                <a:lnTo>
                  <a:pt x="701" y="15200"/>
                </a:lnTo>
                <a:lnTo>
                  <a:pt x="729" y="15311"/>
                </a:lnTo>
                <a:lnTo>
                  <a:pt x="755" y="15420"/>
                </a:lnTo>
                <a:lnTo>
                  <a:pt x="784" y="15530"/>
                </a:lnTo>
                <a:lnTo>
                  <a:pt x="811" y="15639"/>
                </a:lnTo>
                <a:lnTo>
                  <a:pt x="840" y="15747"/>
                </a:lnTo>
                <a:lnTo>
                  <a:pt x="870" y="15854"/>
                </a:lnTo>
                <a:lnTo>
                  <a:pt x="899" y="15959"/>
                </a:lnTo>
                <a:lnTo>
                  <a:pt x="929" y="16064"/>
                </a:lnTo>
                <a:lnTo>
                  <a:pt x="960" y="16165"/>
                </a:lnTo>
                <a:lnTo>
                  <a:pt x="991" y="16266"/>
                </a:lnTo>
                <a:lnTo>
                  <a:pt x="1022" y="16365"/>
                </a:lnTo>
                <a:lnTo>
                  <a:pt x="1054" y="16461"/>
                </a:lnTo>
                <a:lnTo>
                  <a:pt x="1086" y="16556"/>
                </a:lnTo>
                <a:lnTo>
                  <a:pt x="1119" y="16646"/>
                </a:lnTo>
                <a:lnTo>
                  <a:pt x="1152" y="16735"/>
                </a:lnTo>
                <a:lnTo>
                  <a:pt x="1185" y="16821"/>
                </a:lnTo>
                <a:lnTo>
                  <a:pt x="1225" y="16920"/>
                </a:lnTo>
                <a:lnTo>
                  <a:pt x="1267" y="17017"/>
                </a:lnTo>
                <a:lnTo>
                  <a:pt x="1288" y="17064"/>
                </a:lnTo>
                <a:lnTo>
                  <a:pt x="1310" y="17111"/>
                </a:lnTo>
                <a:lnTo>
                  <a:pt x="1332" y="17156"/>
                </a:lnTo>
                <a:lnTo>
                  <a:pt x="1354" y="17202"/>
                </a:lnTo>
                <a:lnTo>
                  <a:pt x="1377" y="17247"/>
                </a:lnTo>
                <a:lnTo>
                  <a:pt x="1399" y="17290"/>
                </a:lnTo>
                <a:lnTo>
                  <a:pt x="1423" y="17334"/>
                </a:lnTo>
                <a:lnTo>
                  <a:pt x="1447" y="17376"/>
                </a:lnTo>
                <a:lnTo>
                  <a:pt x="1471" y="17417"/>
                </a:lnTo>
                <a:lnTo>
                  <a:pt x="1496" y="17459"/>
                </a:lnTo>
                <a:lnTo>
                  <a:pt x="1521" y="17499"/>
                </a:lnTo>
                <a:lnTo>
                  <a:pt x="1546" y="17538"/>
                </a:lnTo>
                <a:lnTo>
                  <a:pt x="1572" y="17576"/>
                </a:lnTo>
                <a:lnTo>
                  <a:pt x="1598" y="17614"/>
                </a:lnTo>
                <a:lnTo>
                  <a:pt x="1625" y="17651"/>
                </a:lnTo>
                <a:lnTo>
                  <a:pt x="1652" y="17687"/>
                </a:lnTo>
                <a:lnTo>
                  <a:pt x="1680" y="17722"/>
                </a:lnTo>
                <a:lnTo>
                  <a:pt x="1707" y="17756"/>
                </a:lnTo>
                <a:lnTo>
                  <a:pt x="1736" y="17789"/>
                </a:lnTo>
                <a:lnTo>
                  <a:pt x="1764" y="17822"/>
                </a:lnTo>
                <a:lnTo>
                  <a:pt x="1794" y="17853"/>
                </a:lnTo>
                <a:lnTo>
                  <a:pt x="1824" y="17884"/>
                </a:lnTo>
                <a:lnTo>
                  <a:pt x="1854" y="17914"/>
                </a:lnTo>
                <a:lnTo>
                  <a:pt x="1885" y="17943"/>
                </a:lnTo>
                <a:lnTo>
                  <a:pt x="1917" y="17970"/>
                </a:lnTo>
                <a:lnTo>
                  <a:pt x="1947" y="17998"/>
                </a:lnTo>
                <a:lnTo>
                  <a:pt x="1980" y="18023"/>
                </a:lnTo>
                <a:lnTo>
                  <a:pt x="2013" y="18048"/>
                </a:lnTo>
                <a:lnTo>
                  <a:pt x="2052" y="18075"/>
                </a:lnTo>
                <a:lnTo>
                  <a:pt x="2091" y="18102"/>
                </a:lnTo>
                <a:lnTo>
                  <a:pt x="2132" y="18127"/>
                </a:lnTo>
                <a:lnTo>
                  <a:pt x="2173" y="18151"/>
                </a:lnTo>
                <a:lnTo>
                  <a:pt x="2215" y="18174"/>
                </a:lnTo>
                <a:lnTo>
                  <a:pt x="2259" y="18194"/>
                </a:lnTo>
                <a:lnTo>
                  <a:pt x="2303" y="18214"/>
                </a:lnTo>
                <a:lnTo>
                  <a:pt x="2349" y="18232"/>
                </a:lnTo>
                <a:lnTo>
                  <a:pt x="2397" y="18249"/>
                </a:lnTo>
                <a:lnTo>
                  <a:pt x="2446" y="18264"/>
                </a:lnTo>
                <a:lnTo>
                  <a:pt x="2497" y="18277"/>
                </a:lnTo>
                <a:lnTo>
                  <a:pt x="2549" y="18287"/>
                </a:lnTo>
                <a:lnTo>
                  <a:pt x="2576" y="18292"/>
                </a:lnTo>
                <a:lnTo>
                  <a:pt x="2603" y="18296"/>
                </a:lnTo>
                <a:lnTo>
                  <a:pt x="2631" y="18300"/>
                </a:lnTo>
                <a:lnTo>
                  <a:pt x="2658" y="18303"/>
                </a:lnTo>
                <a:lnTo>
                  <a:pt x="2687" y="18305"/>
                </a:lnTo>
                <a:lnTo>
                  <a:pt x="2716" y="18308"/>
                </a:lnTo>
                <a:lnTo>
                  <a:pt x="2745" y="18309"/>
                </a:lnTo>
                <a:lnTo>
                  <a:pt x="2776" y="18309"/>
                </a:lnTo>
                <a:lnTo>
                  <a:pt x="2835" y="18310"/>
                </a:lnTo>
                <a:lnTo>
                  <a:pt x="2896" y="18310"/>
                </a:lnTo>
                <a:lnTo>
                  <a:pt x="2957" y="18309"/>
                </a:lnTo>
                <a:lnTo>
                  <a:pt x="3017" y="18308"/>
                </a:lnTo>
                <a:lnTo>
                  <a:pt x="3079" y="18305"/>
                </a:lnTo>
                <a:lnTo>
                  <a:pt x="3140" y="18303"/>
                </a:lnTo>
                <a:lnTo>
                  <a:pt x="3200" y="18300"/>
                </a:lnTo>
                <a:lnTo>
                  <a:pt x="3262" y="18296"/>
                </a:lnTo>
                <a:lnTo>
                  <a:pt x="3323" y="18292"/>
                </a:lnTo>
                <a:lnTo>
                  <a:pt x="3384" y="18287"/>
                </a:lnTo>
                <a:lnTo>
                  <a:pt x="3444" y="18283"/>
                </a:lnTo>
                <a:lnTo>
                  <a:pt x="3505" y="18277"/>
                </a:lnTo>
                <a:lnTo>
                  <a:pt x="3565" y="18271"/>
                </a:lnTo>
                <a:lnTo>
                  <a:pt x="3625" y="18264"/>
                </a:lnTo>
                <a:lnTo>
                  <a:pt x="3686" y="18257"/>
                </a:lnTo>
                <a:lnTo>
                  <a:pt x="3745" y="18250"/>
                </a:lnTo>
                <a:lnTo>
                  <a:pt x="3829" y="18240"/>
                </a:lnTo>
                <a:lnTo>
                  <a:pt x="3912" y="18230"/>
                </a:lnTo>
                <a:lnTo>
                  <a:pt x="3995" y="18218"/>
                </a:lnTo>
                <a:lnTo>
                  <a:pt x="4076" y="18206"/>
                </a:lnTo>
                <a:lnTo>
                  <a:pt x="4157" y="18192"/>
                </a:lnTo>
                <a:lnTo>
                  <a:pt x="4236" y="18178"/>
                </a:lnTo>
                <a:lnTo>
                  <a:pt x="4316" y="18165"/>
                </a:lnTo>
                <a:lnTo>
                  <a:pt x="4395" y="18150"/>
                </a:lnTo>
                <a:lnTo>
                  <a:pt x="4473" y="18134"/>
                </a:lnTo>
                <a:lnTo>
                  <a:pt x="4549" y="18118"/>
                </a:lnTo>
                <a:lnTo>
                  <a:pt x="4627" y="18101"/>
                </a:lnTo>
                <a:lnTo>
                  <a:pt x="4704" y="18083"/>
                </a:lnTo>
                <a:lnTo>
                  <a:pt x="4779" y="18066"/>
                </a:lnTo>
                <a:lnTo>
                  <a:pt x="4855" y="18048"/>
                </a:lnTo>
                <a:lnTo>
                  <a:pt x="4931" y="18028"/>
                </a:lnTo>
                <a:lnTo>
                  <a:pt x="5006" y="18009"/>
                </a:lnTo>
                <a:lnTo>
                  <a:pt x="5156" y="17969"/>
                </a:lnTo>
                <a:lnTo>
                  <a:pt x="5305" y="17927"/>
                </a:lnTo>
                <a:lnTo>
                  <a:pt x="5455" y="17882"/>
                </a:lnTo>
                <a:lnTo>
                  <a:pt x="5603" y="17836"/>
                </a:lnTo>
                <a:lnTo>
                  <a:pt x="5753" y="17789"/>
                </a:lnTo>
                <a:lnTo>
                  <a:pt x="5904" y="17741"/>
                </a:lnTo>
                <a:lnTo>
                  <a:pt x="6056" y="17691"/>
                </a:lnTo>
                <a:lnTo>
                  <a:pt x="6211" y="17639"/>
                </a:lnTo>
                <a:lnTo>
                  <a:pt x="6273" y="17619"/>
                </a:lnTo>
                <a:lnTo>
                  <a:pt x="6368" y="17586"/>
                </a:lnTo>
                <a:lnTo>
                  <a:pt x="6483" y="17544"/>
                </a:lnTo>
                <a:lnTo>
                  <a:pt x="6608" y="17501"/>
                </a:lnTo>
                <a:lnTo>
                  <a:pt x="6729" y="17456"/>
                </a:lnTo>
                <a:lnTo>
                  <a:pt x="6837" y="17415"/>
                </a:lnTo>
                <a:lnTo>
                  <a:pt x="6881" y="17398"/>
                </a:lnTo>
                <a:lnTo>
                  <a:pt x="6917" y="17382"/>
                </a:lnTo>
                <a:lnTo>
                  <a:pt x="6943" y="17369"/>
                </a:lnTo>
                <a:lnTo>
                  <a:pt x="6959" y="17361"/>
                </a:lnTo>
                <a:lnTo>
                  <a:pt x="6994" y="17351"/>
                </a:lnTo>
                <a:lnTo>
                  <a:pt x="7046" y="17333"/>
                </a:lnTo>
                <a:lnTo>
                  <a:pt x="7116" y="17308"/>
                </a:lnTo>
                <a:lnTo>
                  <a:pt x="7200" y="17277"/>
                </a:lnTo>
                <a:lnTo>
                  <a:pt x="7294" y="17240"/>
                </a:lnTo>
                <a:lnTo>
                  <a:pt x="7397" y="17200"/>
                </a:lnTo>
                <a:lnTo>
                  <a:pt x="7507" y="17156"/>
                </a:lnTo>
                <a:lnTo>
                  <a:pt x="7621" y="17112"/>
                </a:lnTo>
                <a:lnTo>
                  <a:pt x="7734" y="17066"/>
                </a:lnTo>
                <a:lnTo>
                  <a:pt x="7846" y="17021"/>
                </a:lnTo>
                <a:lnTo>
                  <a:pt x="7955" y="16977"/>
                </a:lnTo>
                <a:lnTo>
                  <a:pt x="8057" y="16937"/>
                </a:lnTo>
                <a:lnTo>
                  <a:pt x="8148" y="16899"/>
                </a:lnTo>
                <a:lnTo>
                  <a:pt x="8228" y="16867"/>
                </a:lnTo>
                <a:lnTo>
                  <a:pt x="8295" y="16841"/>
                </a:lnTo>
                <a:lnTo>
                  <a:pt x="8344" y="16821"/>
                </a:lnTo>
                <a:lnTo>
                  <a:pt x="8396" y="16799"/>
                </a:lnTo>
                <a:lnTo>
                  <a:pt x="8454" y="16778"/>
                </a:lnTo>
                <a:lnTo>
                  <a:pt x="8513" y="16755"/>
                </a:lnTo>
                <a:lnTo>
                  <a:pt x="8574" y="16731"/>
                </a:lnTo>
                <a:lnTo>
                  <a:pt x="8633" y="16707"/>
                </a:lnTo>
                <a:lnTo>
                  <a:pt x="8690" y="16682"/>
                </a:lnTo>
                <a:lnTo>
                  <a:pt x="8744" y="16658"/>
                </a:lnTo>
                <a:lnTo>
                  <a:pt x="8792" y="16633"/>
                </a:lnTo>
                <a:lnTo>
                  <a:pt x="8829" y="16621"/>
                </a:lnTo>
                <a:lnTo>
                  <a:pt x="8872" y="16605"/>
                </a:lnTo>
                <a:lnTo>
                  <a:pt x="8918" y="16587"/>
                </a:lnTo>
                <a:lnTo>
                  <a:pt x="8965" y="16565"/>
                </a:lnTo>
                <a:lnTo>
                  <a:pt x="9013" y="16543"/>
                </a:lnTo>
                <a:lnTo>
                  <a:pt x="9059" y="16522"/>
                </a:lnTo>
                <a:lnTo>
                  <a:pt x="9100" y="16502"/>
                </a:lnTo>
                <a:lnTo>
                  <a:pt x="9137" y="16485"/>
                </a:lnTo>
                <a:lnTo>
                  <a:pt x="9178" y="16465"/>
                </a:lnTo>
                <a:lnTo>
                  <a:pt x="9220" y="16447"/>
                </a:lnTo>
                <a:lnTo>
                  <a:pt x="9263" y="16429"/>
                </a:lnTo>
                <a:lnTo>
                  <a:pt x="9304" y="16409"/>
                </a:lnTo>
                <a:lnTo>
                  <a:pt x="9346" y="16391"/>
                </a:lnTo>
                <a:lnTo>
                  <a:pt x="9388" y="16371"/>
                </a:lnTo>
                <a:lnTo>
                  <a:pt x="9430" y="16352"/>
                </a:lnTo>
                <a:lnTo>
                  <a:pt x="9471" y="16331"/>
                </a:lnTo>
                <a:lnTo>
                  <a:pt x="9550" y="16292"/>
                </a:lnTo>
                <a:lnTo>
                  <a:pt x="9633" y="16254"/>
                </a:lnTo>
                <a:lnTo>
                  <a:pt x="9720" y="16214"/>
                </a:lnTo>
                <a:lnTo>
                  <a:pt x="9807" y="16173"/>
                </a:lnTo>
                <a:lnTo>
                  <a:pt x="9894" y="16132"/>
                </a:lnTo>
                <a:lnTo>
                  <a:pt x="9978" y="16091"/>
                </a:lnTo>
                <a:lnTo>
                  <a:pt x="10018" y="16069"/>
                </a:lnTo>
                <a:lnTo>
                  <a:pt x="10057" y="16048"/>
                </a:lnTo>
                <a:lnTo>
                  <a:pt x="10093" y="16026"/>
                </a:lnTo>
                <a:lnTo>
                  <a:pt x="10129" y="16004"/>
                </a:lnTo>
                <a:lnTo>
                  <a:pt x="10153" y="15994"/>
                </a:lnTo>
                <a:lnTo>
                  <a:pt x="10184" y="15979"/>
                </a:lnTo>
                <a:lnTo>
                  <a:pt x="10220" y="15962"/>
                </a:lnTo>
                <a:lnTo>
                  <a:pt x="10263" y="15939"/>
                </a:lnTo>
                <a:lnTo>
                  <a:pt x="10363" y="15886"/>
                </a:lnTo>
                <a:lnTo>
                  <a:pt x="10482" y="15821"/>
                </a:lnTo>
                <a:lnTo>
                  <a:pt x="10614" y="15748"/>
                </a:lnTo>
                <a:lnTo>
                  <a:pt x="10756" y="15669"/>
                </a:lnTo>
                <a:lnTo>
                  <a:pt x="10903" y="15584"/>
                </a:lnTo>
                <a:lnTo>
                  <a:pt x="11053" y="15498"/>
                </a:lnTo>
                <a:lnTo>
                  <a:pt x="11202" y="15411"/>
                </a:lnTo>
                <a:lnTo>
                  <a:pt x="11344" y="15328"/>
                </a:lnTo>
                <a:lnTo>
                  <a:pt x="11477" y="15249"/>
                </a:lnTo>
                <a:lnTo>
                  <a:pt x="11597" y="15176"/>
                </a:lnTo>
                <a:lnTo>
                  <a:pt x="11700" y="15111"/>
                </a:lnTo>
                <a:lnTo>
                  <a:pt x="11781" y="15060"/>
                </a:lnTo>
                <a:lnTo>
                  <a:pt x="11813" y="15038"/>
                </a:lnTo>
                <a:lnTo>
                  <a:pt x="11838" y="15021"/>
                </a:lnTo>
                <a:lnTo>
                  <a:pt x="11857" y="15007"/>
                </a:lnTo>
                <a:lnTo>
                  <a:pt x="11867" y="14997"/>
                </a:lnTo>
                <a:lnTo>
                  <a:pt x="11879" y="14991"/>
                </a:lnTo>
                <a:lnTo>
                  <a:pt x="11898" y="14982"/>
                </a:lnTo>
                <a:lnTo>
                  <a:pt x="11919" y="14970"/>
                </a:lnTo>
                <a:lnTo>
                  <a:pt x="11947" y="14954"/>
                </a:lnTo>
                <a:lnTo>
                  <a:pt x="12012" y="14913"/>
                </a:lnTo>
                <a:lnTo>
                  <a:pt x="12090" y="14864"/>
                </a:lnTo>
                <a:lnTo>
                  <a:pt x="12179" y="14806"/>
                </a:lnTo>
                <a:lnTo>
                  <a:pt x="12276" y="14741"/>
                </a:lnTo>
                <a:lnTo>
                  <a:pt x="12379" y="14672"/>
                </a:lnTo>
                <a:lnTo>
                  <a:pt x="12485" y="14600"/>
                </a:lnTo>
                <a:lnTo>
                  <a:pt x="12590" y="14528"/>
                </a:lnTo>
                <a:lnTo>
                  <a:pt x="12694" y="14457"/>
                </a:lnTo>
                <a:lnTo>
                  <a:pt x="12791" y="14388"/>
                </a:lnTo>
                <a:lnTo>
                  <a:pt x="12883" y="14324"/>
                </a:lnTo>
                <a:lnTo>
                  <a:pt x="12963" y="14267"/>
                </a:lnTo>
                <a:lnTo>
                  <a:pt x="13031" y="14218"/>
                </a:lnTo>
                <a:lnTo>
                  <a:pt x="13083" y="14179"/>
                </a:lnTo>
                <a:lnTo>
                  <a:pt x="13116" y="14152"/>
                </a:lnTo>
                <a:lnTo>
                  <a:pt x="13131" y="14143"/>
                </a:lnTo>
                <a:lnTo>
                  <a:pt x="13152" y="14131"/>
                </a:lnTo>
                <a:lnTo>
                  <a:pt x="13179" y="14112"/>
                </a:lnTo>
                <a:lnTo>
                  <a:pt x="13212" y="14088"/>
                </a:lnTo>
                <a:lnTo>
                  <a:pt x="13294" y="14030"/>
                </a:lnTo>
                <a:lnTo>
                  <a:pt x="13392" y="13958"/>
                </a:lnTo>
                <a:lnTo>
                  <a:pt x="13505" y="13873"/>
                </a:lnTo>
                <a:lnTo>
                  <a:pt x="13628" y="13779"/>
                </a:lnTo>
                <a:lnTo>
                  <a:pt x="13758" y="13680"/>
                </a:lnTo>
                <a:lnTo>
                  <a:pt x="13891" y="13578"/>
                </a:lnTo>
                <a:lnTo>
                  <a:pt x="14024" y="13475"/>
                </a:lnTo>
                <a:lnTo>
                  <a:pt x="14153" y="13374"/>
                </a:lnTo>
                <a:lnTo>
                  <a:pt x="14274" y="13278"/>
                </a:lnTo>
                <a:lnTo>
                  <a:pt x="14385" y="13190"/>
                </a:lnTo>
                <a:lnTo>
                  <a:pt x="14481" y="13112"/>
                </a:lnTo>
                <a:lnTo>
                  <a:pt x="14559" y="13048"/>
                </a:lnTo>
                <a:lnTo>
                  <a:pt x="14590" y="13022"/>
                </a:lnTo>
                <a:lnTo>
                  <a:pt x="14615" y="13000"/>
                </a:lnTo>
                <a:lnTo>
                  <a:pt x="14634" y="12982"/>
                </a:lnTo>
                <a:lnTo>
                  <a:pt x="14645" y="12970"/>
                </a:lnTo>
                <a:lnTo>
                  <a:pt x="14658" y="12963"/>
                </a:lnTo>
                <a:lnTo>
                  <a:pt x="14673" y="12954"/>
                </a:lnTo>
                <a:lnTo>
                  <a:pt x="14690" y="12942"/>
                </a:lnTo>
                <a:lnTo>
                  <a:pt x="14708" y="12928"/>
                </a:lnTo>
                <a:lnTo>
                  <a:pt x="14751" y="12895"/>
                </a:lnTo>
                <a:lnTo>
                  <a:pt x="14802" y="12854"/>
                </a:lnTo>
                <a:lnTo>
                  <a:pt x="14857" y="12807"/>
                </a:lnTo>
                <a:lnTo>
                  <a:pt x="14917" y="12756"/>
                </a:lnTo>
                <a:lnTo>
                  <a:pt x="14979" y="12701"/>
                </a:lnTo>
                <a:lnTo>
                  <a:pt x="15044" y="12645"/>
                </a:lnTo>
                <a:lnTo>
                  <a:pt x="15110" y="12587"/>
                </a:lnTo>
                <a:lnTo>
                  <a:pt x="15175" y="12530"/>
                </a:lnTo>
                <a:lnTo>
                  <a:pt x="15238" y="12475"/>
                </a:lnTo>
                <a:lnTo>
                  <a:pt x="15298" y="12421"/>
                </a:lnTo>
                <a:lnTo>
                  <a:pt x="15354" y="12372"/>
                </a:lnTo>
                <a:lnTo>
                  <a:pt x="15405" y="12328"/>
                </a:lnTo>
                <a:lnTo>
                  <a:pt x="15451" y="12291"/>
                </a:lnTo>
                <a:lnTo>
                  <a:pt x="15487" y="12261"/>
                </a:lnTo>
                <a:lnTo>
                  <a:pt x="15508" y="12245"/>
                </a:lnTo>
                <a:lnTo>
                  <a:pt x="15520" y="12233"/>
                </a:lnTo>
                <a:lnTo>
                  <a:pt x="15534" y="12220"/>
                </a:lnTo>
                <a:lnTo>
                  <a:pt x="15555" y="12200"/>
                </a:lnTo>
                <a:lnTo>
                  <a:pt x="15765" y="12013"/>
                </a:lnTo>
                <a:lnTo>
                  <a:pt x="15798" y="11979"/>
                </a:lnTo>
                <a:lnTo>
                  <a:pt x="15830" y="11947"/>
                </a:lnTo>
                <a:lnTo>
                  <a:pt x="15863" y="11915"/>
                </a:lnTo>
                <a:lnTo>
                  <a:pt x="15895" y="11884"/>
                </a:lnTo>
                <a:lnTo>
                  <a:pt x="15927" y="11853"/>
                </a:lnTo>
                <a:lnTo>
                  <a:pt x="15959" y="11823"/>
                </a:lnTo>
                <a:lnTo>
                  <a:pt x="15992" y="11790"/>
                </a:lnTo>
                <a:lnTo>
                  <a:pt x="16025" y="11758"/>
                </a:lnTo>
                <a:lnTo>
                  <a:pt x="16052" y="11733"/>
                </a:lnTo>
                <a:lnTo>
                  <a:pt x="16089" y="11696"/>
                </a:lnTo>
                <a:lnTo>
                  <a:pt x="16136" y="11649"/>
                </a:lnTo>
                <a:lnTo>
                  <a:pt x="16190" y="11595"/>
                </a:lnTo>
                <a:lnTo>
                  <a:pt x="16248" y="11535"/>
                </a:lnTo>
                <a:lnTo>
                  <a:pt x="16311" y="11470"/>
                </a:lnTo>
                <a:lnTo>
                  <a:pt x="16377" y="11403"/>
                </a:lnTo>
                <a:lnTo>
                  <a:pt x="16443" y="11335"/>
                </a:lnTo>
                <a:lnTo>
                  <a:pt x="16508" y="11268"/>
                </a:lnTo>
                <a:lnTo>
                  <a:pt x="16571" y="11202"/>
                </a:lnTo>
                <a:lnTo>
                  <a:pt x="16629" y="11140"/>
                </a:lnTo>
                <a:lnTo>
                  <a:pt x="16681" y="11084"/>
                </a:lnTo>
                <a:lnTo>
                  <a:pt x="16726" y="11036"/>
                </a:lnTo>
                <a:lnTo>
                  <a:pt x="16761" y="10997"/>
                </a:lnTo>
                <a:lnTo>
                  <a:pt x="16786" y="10969"/>
                </a:lnTo>
                <a:lnTo>
                  <a:pt x="16797" y="10953"/>
                </a:lnTo>
                <a:lnTo>
                  <a:pt x="16818" y="10935"/>
                </a:lnTo>
                <a:lnTo>
                  <a:pt x="16837" y="10915"/>
                </a:lnTo>
                <a:lnTo>
                  <a:pt x="16856" y="10896"/>
                </a:lnTo>
                <a:lnTo>
                  <a:pt x="16874" y="10875"/>
                </a:lnTo>
                <a:lnTo>
                  <a:pt x="16908" y="10833"/>
                </a:lnTo>
                <a:lnTo>
                  <a:pt x="16943" y="10789"/>
                </a:lnTo>
                <a:lnTo>
                  <a:pt x="17006" y="10707"/>
                </a:lnTo>
                <a:lnTo>
                  <a:pt x="17067" y="10626"/>
                </a:lnTo>
                <a:lnTo>
                  <a:pt x="17128" y="10543"/>
                </a:lnTo>
                <a:lnTo>
                  <a:pt x="17185" y="10462"/>
                </a:lnTo>
                <a:lnTo>
                  <a:pt x="17214" y="10421"/>
                </a:lnTo>
                <a:lnTo>
                  <a:pt x="17241" y="10379"/>
                </a:lnTo>
                <a:lnTo>
                  <a:pt x="17269" y="10337"/>
                </a:lnTo>
                <a:lnTo>
                  <a:pt x="17295" y="10296"/>
                </a:lnTo>
                <a:lnTo>
                  <a:pt x="17321" y="10254"/>
                </a:lnTo>
                <a:lnTo>
                  <a:pt x="17347" y="10211"/>
                </a:lnTo>
                <a:lnTo>
                  <a:pt x="17372" y="10169"/>
                </a:lnTo>
                <a:lnTo>
                  <a:pt x="17396" y="10125"/>
                </a:lnTo>
                <a:lnTo>
                  <a:pt x="17419" y="10081"/>
                </a:lnTo>
                <a:lnTo>
                  <a:pt x="17442" y="10037"/>
                </a:lnTo>
                <a:lnTo>
                  <a:pt x="17463" y="9992"/>
                </a:lnTo>
                <a:lnTo>
                  <a:pt x="17485" y="9946"/>
                </a:lnTo>
                <a:lnTo>
                  <a:pt x="17505" y="9900"/>
                </a:lnTo>
                <a:lnTo>
                  <a:pt x="17524" y="9853"/>
                </a:lnTo>
                <a:lnTo>
                  <a:pt x="17543" y="9805"/>
                </a:lnTo>
                <a:lnTo>
                  <a:pt x="17561" y="9757"/>
                </a:lnTo>
                <a:lnTo>
                  <a:pt x="17578" y="9708"/>
                </a:lnTo>
                <a:lnTo>
                  <a:pt x="17594" y="9657"/>
                </a:lnTo>
                <a:lnTo>
                  <a:pt x="17609" y="9606"/>
                </a:lnTo>
                <a:lnTo>
                  <a:pt x="17622" y="9553"/>
                </a:lnTo>
                <a:lnTo>
                  <a:pt x="17636" y="9501"/>
                </a:lnTo>
                <a:lnTo>
                  <a:pt x="17648" y="9446"/>
                </a:lnTo>
                <a:lnTo>
                  <a:pt x="17659" y="9391"/>
                </a:lnTo>
                <a:lnTo>
                  <a:pt x="17669" y="9334"/>
                </a:lnTo>
                <a:lnTo>
                  <a:pt x="17673" y="9309"/>
                </a:lnTo>
                <a:lnTo>
                  <a:pt x="17675" y="9283"/>
                </a:lnTo>
                <a:lnTo>
                  <a:pt x="17675" y="9255"/>
                </a:lnTo>
                <a:lnTo>
                  <a:pt x="17674" y="9226"/>
                </a:lnTo>
                <a:lnTo>
                  <a:pt x="17672" y="9196"/>
                </a:lnTo>
                <a:lnTo>
                  <a:pt x="17669" y="9165"/>
                </a:lnTo>
                <a:lnTo>
                  <a:pt x="17665" y="9133"/>
                </a:lnTo>
                <a:lnTo>
                  <a:pt x="17659" y="9101"/>
                </a:lnTo>
                <a:lnTo>
                  <a:pt x="17653" y="9068"/>
                </a:lnTo>
                <a:lnTo>
                  <a:pt x="17645" y="9034"/>
                </a:lnTo>
                <a:lnTo>
                  <a:pt x="17637" y="8999"/>
                </a:lnTo>
                <a:lnTo>
                  <a:pt x="17629" y="8965"/>
                </a:lnTo>
                <a:lnTo>
                  <a:pt x="17609" y="8895"/>
                </a:lnTo>
                <a:lnTo>
                  <a:pt x="17587" y="8825"/>
                </a:lnTo>
                <a:lnTo>
                  <a:pt x="17563" y="8757"/>
                </a:lnTo>
                <a:lnTo>
                  <a:pt x="17539" y="8689"/>
                </a:lnTo>
                <a:lnTo>
                  <a:pt x="17513" y="8624"/>
                </a:lnTo>
                <a:lnTo>
                  <a:pt x="17487" y="8563"/>
                </a:lnTo>
                <a:lnTo>
                  <a:pt x="17462" y="8506"/>
                </a:lnTo>
                <a:lnTo>
                  <a:pt x="17437" y="8455"/>
                </a:lnTo>
                <a:lnTo>
                  <a:pt x="17415" y="8408"/>
                </a:lnTo>
                <a:lnTo>
                  <a:pt x="17394" y="8369"/>
                </a:lnTo>
                <a:lnTo>
                  <a:pt x="17360" y="8310"/>
                </a:lnTo>
                <a:lnTo>
                  <a:pt x="17328" y="8254"/>
                </a:lnTo>
                <a:lnTo>
                  <a:pt x="17297" y="8203"/>
                </a:lnTo>
                <a:lnTo>
                  <a:pt x="17268" y="8155"/>
                </a:lnTo>
                <a:lnTo>
                  <a:pt x="17239" y="8109"/>
                </a:lnTo>
                <a:lnTo>
                  <a:pt x="17210" y="8066"/>
                </a:lnTo>
                <a:lnTo>
                  <a:pt x="17182" y="8023"/>
                </a:lnTo>
                <a:lnTo>
                  <a:pt x="17153" y="7981"/>
                </a:lnTo>
                <a:lnTo>
                  <a:pt x="17123" y="7941"/>
                </a:lnTo>
                <a:lnTo>
                  <a:pt x="17093" y="7900"/>
                </a:lnTo>
                <a:lnTo>
                  <a:pt x="17062" y="7858"/>
                </a:lnTo>
                <a:lnTo>
                  <a:pt x="17029" y="7816"/>
                </a:lnTo>
                <a:lnTo>
                  <a:pt x="16958" y="7727"/>
                </a:lnTo>
                <a:lnTo>
                  <a:pt x="16877" y="7627"/>
                </a:lnTo>
                <a:lnTo>
                  <a:pt x="16843" y="7585"/>
                </a:lnTo>
                <a:lnTo>
                  <a:pt x="16805" y="7540"/>
                </a:lnTo>
                <a:lnTo>
                  <a:pt x="16766" y="7493"/>
                </a:lnTo>
                <a:lnTo>
                  <a:pt x="16725" y="7446"/>
                </a:lnTo>
                <a:lnTo>
                  <a:pt x="16641" y="7350"/>
                </a:lnTo>
                <a:lnTo>
                  <a:pt x="16551" y="7253"/>
                </a:lnTo>
                <a:lnTo>
                  <a:pt x="16462" y="7157"/>
                </a:lnTo>
                <a:lnTo>
                  <a:pt x="16373" y="7065"/>
                </a:lnTo>
                <a:lnTo>
                  <a:pt x="16287" y="6978"/>
                </a:lnTo>
                <a:lnTo>
                  <a:pt x="16207" y="6899"/>
                </a:lnTo>
                <a:lnTo>
                  <a:pt x="16179" y="6872"/>
                </a:lnTo>
                <a:lnTo>
                  <a:pt x="16153" y="6842"/>
                </a:lnTo>
                <a:lnTo>
                  <a:pt x="16127" y="6811"/>
                </a:lnTo>
                <a:lnTo>
                  <a:pt x="16099" y="6779"/>
                </a:lnTo>
                <a:lnTo>
                  <a:pt x="16071" y="6747"/>
                </a:lnTo>
                <a:lnTo>
                  <a:pt x="16042" y="6715"/>
                </a:lnTo>
                <a:lnTo>
                  <a:pt x="16011" y="6683"/>
                </a:lnTo>
                <a:lnTo>
                  <a:pt x="15979" y="6652"/>
                </a:lnTo>
                <a:lnTo>
                  <a:pt x="14313" y="5186"/>
                </a:lnTo>
                <a:lnTo>
                  <a:pt x="14230" y="5121"/>
                </a:lnTo>
                <a:lnTo>
                  <a:pt x="14144" y="5052"/>
                </a:lnTo>
                <a:lnTo>
                  <a:pt x="14058" y="4981"/>
                </a:lnTo>
                <a:lnTo>
                  <a:pt x="13972" y="4911"/>
                </a:lnTo>
                <a:lnTo>
                  <a:pt x="13885" y="4840"/>
                </a:lnTo>
                <a:lnTo>
                  <a:pt x="13797" y="4769"/>
                </a:lnTo>
                <a:lnTo>
                  <a:pt x="13709" y="4700"/>
                </a:lnTo>
                <a:lnTo>
                  <a:pt x="13622" y="4634"/>
                </a:lnTo>
                <a:lnTo>
                  <a:pt x="13528" y="4565"/>
                </a:lnTo>
                <a:lnTo>
                  <a:pt x="13437" y="4496"/>
                </a:lnTo>
                <a:lnTo>
                  <a:pt x="13348" y="4430"/>
                </a:lnTo>
                <a:lnTo>
                  <a:pt x="13259" y="4364"/>
                </a:lnTo>
                <a:lnTo>
                  <a:pt x="13172" y="4299"/>
                </a:lnTo>
                <a:lnTo>
                  <a:pt x="13085" y="4234"/>
                </a:lnTo>
                <a:lnTo>
                  <a:pt x="12999" y="4170"/>
                </a:lnTo>
                <a:lnTo>
                  <a:pt x="12913" y="4107"/>
                </a:lnTo>
                <a:lnTo>
                  <a:pt x="12826" y="4043"/>
                </a:lnTo>
                <a:lnTo>
                  <a:pt x="12738" y="3980"/>
                </a:lnTo>
                <a:lnTo>
                  <a:pt x="12650" y="3916"/>
                </a:lnTo>
                <a:lnTo>
                  <a:pt x="12559" y="3852"/>
                </a:lnTo>
                <a:lnTo>
                  <a:pt x="12468" y="3787"/>
                </a:lnTo>
                <a:lnTo>
                  <a:pt x="12373" y="3722"/>
                </a:lnTo>
                <a:lnTo>
                  <a:pt x="12276" y="3655"/>
                </a:lnTo>
                <a:lnTo>
                  <a:pt x="12177" y="3589"/>
                </a:lnTo>
                <a:lnTo>
                  <a:pt x="12083" y="3525"/>
                </a:lnTo>
                <a:lnTo>
                  <a:pt x="11988" y="3463"/>
                </a:lnTo>
                <a:lnTo>
                  <a:pt x="11893" y="3402"/>
                </a:lnTo>
                <a:lnTo>
                  <a:pt x="11798" y="3340"/>
                </a:lnTo>
                <a:lnTo>
                  <a:pt x="11702" y="3280"/>
                </a:lnTo>
                <a:lnTo>
                  <a:pt x="11606" y="3219"/>
                </a:lnTo>
                <a:lnTo>
                  <a:pt x="11509" y="3158"/>
                </a:lnTo>
                <a:lnTo>
                  <a:pt x="11411" y="3097"/>
                </a:lnTo>
                <a:lnTo>
                  <a:pt x="11318" y="3037"/>
                </a:lnTo>
                <a:lnTo>
                  <a:pt x="11222" y="2979"/>
                </a:lnTo>
                <a:lnTo>
                  <a:pt x="11125" y="2920"/>
                </a:lnTo>
                <a:lnTo>
                  <a:pt x="11028" y="2863"/>
                </a:lnTo>
                <a:lnTo>
                  <a:pt x="10930" y="2806"/>
                </a:lnTo>
                <a:lnTo>
                  <a:pt x="10831" y="2749"/>
                </a:lnTo>
                <a:lnTo>
                  <a:pt x="10732" y="2692"/>
                </a:lnTo>
                <a:lnTo>
                  <a:pt x="10631" y="2635"/>
                </a:lnTo>
                <a:lnTo>
                  <a:pt x="10529" y="2579"/>
                </a:lnTo>
                <a:lnTo>
                  <a:pt x="10427" y="2523"/>
                </a:lnTo>
                <a:lnTo>
                  <a:pt x="10326" y="2468"/>
                </a:lnTo>
                <a:lnTo>
                  <a:pt x="10223" y="2413"/>
                </a:lnTo>
                <a:lnTo>
                  <a:pt x="10120" y="2359"/>
                </a:lnTo>
                <a:lnTo>
                  <a:pt x="10015" y="2305"/>
                </a:lnTo>
                <a:lnTo>
                  <a:pt x="9911" y="2251"/>
                </a:lnTo>
                <a:lnTo>
                  <a:pt x="9807" y="2198"/>
                </a:lnTo>
                <a:lnTo>
                  <a:pt x="9735" y="2162"/>
                </a:lnTo>
                <a:lnTo>
                  <a:pt x="9660" y="2124"/>
                </a:lnTo>
                <a:lnTo>
                  <a:pt x="9583" y="2086"/>
                </a:lnTo>
                <a:lnTo>
                  <a:pt x="9504" y="2047"/>
                </a:lnTo>
                <a:lnTo>
                  <a:pt x="9423" y="2010"/>
                </a:lnTo>
                <a:lnTo>
                  <a:pt x="9340" y="1971"/>
                </a:lnTo>
                <a:lnTo>
                  <a:pt x="9258" y="1932"/>
                </a:lnTo>
                <a:lnTo>
                  <a:pt x="9174" y="1893"/>
                </a:lnTo>
                <a:lnTo>
                  <a:pt x="9091" y="1855"/>
                </a:lnTo>
                <a:lnTo>
                  <a:pt x="9006" y="1816"/>
                </a:lnTo>
                <a:lnTo>
                  <a:pt x="8923" y="1780"/>
                </a:lnTo>
                <a:lnTo>
                  <a:pt x="8840" y="1743"/>
                </a:lnTo>
                <a:lnTo>
                  <a:pt x="8759" y="1707"/>
                </a:lnTo>
                <a:lnTo>
                  <a:pt x="8679" y="1673"/>
                </a:lnTo>
                <a:lnTo>
                  <a:pt x="8600" y="1640"/>
                </a:lnTo>
                <a:lnTo>
                  <a:pt x="8523" y="1608"/>
                </a:lnTo>
                <a:lnTo>
                  <a:pt x="8472" y="1587"/>
                </a:lnTo>
                <a:lnTo>
                  <a:pt x="8417" y="1562"/>
                </a:lnTo>
                <a:lnTo>
                  <a:pt x="8360" y="1537"/>
                </a:lnTo>
                <a:lnTo>
                  <a:pt x="8300" y="1511"/>
                </a:lnTo>
                <a:lnTo>
                  <a:pt x="8242" y="1485"/>
                </a:lnTo>
                <a:lnTo>
                  <a:pt x="8184" y="1461"/>
                </a:lnTo>
                <a:lnTo>
                  <a:pt x="8156" y="1451"/>
                </a:lnTo>
                <a:lnTo>
                  <a:pt x="8129" y="1442"/>
                </a:lnTo>
                <a:lnTo>
                  <a:pt x="8102" y="1433"/>
                </a:lnTo>
                <a:lnTo>
                  <a:pt x="8078" y="1426"/>
                </a:lnTo>
                <a:close/>
              </a:path>
            </a:pathLst>
          </a:custGeom>
          <a:solidFill>
            <a:schemeClr val="accent2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339286" y="4483398"/>
            <a:ext cx="7560000" cy="82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物资管理：通过优化采购流程和库存管理，降低采购成本，提高物资供应效率。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089183" y="4565668"/>
            <a:ext cx="126854" cy="131412"/>
          </a:xfrm>
          <a:custGeom>
            <a:avLst/>
            <a:gdLst>
              <a:gd name="T0" fmla="*/ 7371 w 17675"/>
              <a:gd name="T1" fmla="*/ 1125 h 18310"/>
              <a:gd name="T2" fmla="*/ 5959 w 17675"/>
              <a:gd name="T3" fmla="*/ 593 h 18310"/>
              <a:gd name="T4" fmla="*/ 4735 w 17675"/>
              <a:gd name="T5" fmla="*/ 240 h 18310"/>
              <a:gd name="T6" fmla="*/ 3627 w 17675"/>
              <a:gd name="T7" fmla="*/ 54 h 18310"/>
              <a:gd name="T8" fmla="*/ 2806 w 17675"/>
              <a:gd name="T9" fmla="*/ 7 h 18310"/>
              <a:gd name="T10" fmla="*/ 2454 w 17675"/>
              <a:gd name="T11" fmla="*/ 85 h 18310"/>
              <a:gd name="T12" fmla="*/ 2132 w 17675"/>
              <a:gd name="T13" fmla="*/ 262 h 18310"/>
              <a:gd name="T14" fmla="*/ 1838 w 17675"/>
              <a:gd name="T15" fmla="*/ 533 h 18310"/>
              <a:gd name="T16" fmla="*/ 1454 w 17675"/>
              <a:gd name="T17" fmla="*/ 1111 h 18310"/>
              <a:gd name="T18" fmla="*/ 1261 w 17675"/>
              <a:gd name="T19" fmla="*/ 1545 h 18310"/>
              <a:gd name="T20" fmla="*/ 1008 w 17675"/>
              <a:gd name="T21" fmla="*/ 2315 h 18310"/>
              <a:gd name="T22" fmla="*/ 836 w 17675"/>
              <a:gd name="T23" fmla="*/ 2906 h 18310"/>
              <a:gd name="T24" fmla="*/ 683 w 17675"/>
              <a:gd name="T25" fmla="*/ 3519 h 18310"/>
              <a:gd name="T26" fmla="*/ 506 w 17675"/>
              <a:gd name="T27" fmla="*/ 4330 h 18310"/>
              <a:gd name="T28" fmla="*/ 356 w 17675"/>
              <a:gd name="T29" fmla="*/ 5177 h 18310"/>
              <a:gd name="T30" fmla="*/ 199 w 17675"/>
              <a:gd name="T31" fmla="*/ 6352 h 18310"/>
              <a:gd name="T32" fmla="*/ 65 w 17675"/>
              <a:gd name="T33" fmla="*/ 7805 h 18310"/>
              <a:gd name="T34" fmla="*/ 1 w 17675"/>
              <a:gd name="T35" fmla="*/ 9354 h 18310"/>
              <a:gd name="T36" fmla="*/ 54 w 17675"/>
              <a:gd name="T37" fmla="*/ 10490 h 18310"/>
              <a:gd name="T38" fmla="*/ 149 w 17675"/>
              <a:gd name="T39" fmla="*/ 11811 h 18310"/>
              <a:gd name="T40" fmla="*/ 298 w 17675"/>
              <a:gd name="T41" fmla="*/ 13066 h 18310"/>
              <a:gd name="T42" fmla="*/ 650 w 17675"/>
              <a:gd name="T43" fmla="*/ 14979 h 18310"/>
              <a:gd name="T44" fmla="*/ 991 w 17675"/>
              <a:gd name="T45" fmla="*/ 16266 h 18310"/>
              <a:gd name="T46" fmla="*/ 1332 w 17675"/>
              <a:gd name="T47" fmla="*/ 17156 h 18310"/>
              <a:gd name="T48" fmla="*/ 1598 w 17675"/>
              <a:gd name="T49" fmla="*/ 17614 h 18310"/>
              <a:gd name="T50" fmla="*/ 1917 w 17675"/>
              <a:gd name="T51" fmla="*/ 17970 h 18310"/>
              <a:gd name="T52" fmla="*/ 2349 w 17675"/>
              <a:gd name="T53" fmla="*/ 18232 h 18310"/>
              <a:gd name="T54" fmla="*/ 2745 w 17675"/>
              <a:gd name="T55" fmla="*/ 18309 h 18310"/>
              <a:gd name="T56" fmla="*/ 3384 w 17675"/>
              <a:gd name="T57" fmla="*/ 18287 h 18310"/>
              <a:gd name="T58" fmla="*/ 4157 w 17675"/>
              <a:gd name="T59" fmla="*/ 18192 h 18310"/>
              <a:gd name="T60" fmla="*/ 5006 w 17675"/>
              <a:gd name="T61" fmla="*/ 18009 h 18310"/>
              <a:gd name="T62" fmla="*/ 6483 w 17675"/>
              <a:gd name="T63" fmla="*/ 17544 h 18310"/>
              <a:gd name="T64" fmla="*/ 7200 w 17675"/>
              <a:gd name="T65" fmla="*/ 17277 h 18310"/>
              <a:gd name="T66" fmla="*/ 8295 w 17675"/>
              <a:gd name="T67" fmla="*/ 16841 h 18310"/>
              <a:gd name="T68" fmla="*/ 8872 w 17675"/>
              <a:gd name="T69" fmla="*/ 16605 h 18310"/>
              <a:gd name="T70" fmla="*/ 9346 w 17675"/>
              <a:gd name="T71" fmla="*/ 16391 h 18310"/>
              <a:gd name="T72" fmla="*/ 10057 w 17675"/>
              <a:gd name="T73" fmla="*/ 16048 h 18310"/>
              <a:gd name="T74" fmla="*/ 10903 w 17675"/>
              <a:gd name="T75" fmla="*/ 15584 h 18310"/>
              <a:gd name="T76" fmla="*/ 11867 w 17675"/>
              <a:gd name="T77" fmla="*/ 14997 h 18310"/>
              <a:gd name="T78" fmla="*/ 12590 w 17675"/>
              <a:gd name="T79" fmla="*/ 14528 h 18310"/>
              <a:gd name="T80" fmla="*/ 13212 w 17675"/>
              <a:gd name="T81" fmla="*/ 14088 h 18310"/>
              <a:gd name="T82" fmla="*/ 14481 w 17675"/>
              <a:gd name="T83" fmla="*/ 13112 h 18310"/>
              <a:gd name="T84" fmla="*/ 14802 w 17675"/>
              <a:gd name="T85" fmla="*/ 12854 h 18310"/>
              <a:gd name="T86" fmla="*/ 15451 w 17675"/>
              <a:gd name="T87" fmla="*/ 12291 h 18310"/>
              <a:gd name="T88" fmla="*/ 15927 w 17675"/>
              <a:gd name="T89" fmla="*/ 11853 h 18310"/>
              <a:gd name="T90" fmla="*/ 16443 w 17675"/>
              <a:gd name="T91" fmla="*/ 11335 h 18310"/>
              <a:gd name="T92" fmla="*/ 16856 w 17675"/>
              <a:gd name="T93" fmla="*/ 10896 h 18310"/>
              <a:gd name="T94" fmla="*/ 17295 w 17675"/>
              <a:gd name="T95" fmla="*/ 10296 h 18310"/>
              <a:gd name="T96" fmla="*/ 17543 w 17675"/>
              <a:gd name="T97" fmla="*/ 9805 h 18310"/>
              <a:gd name="T98" fmla="*/ 17675 w 17675"/>
              <a:gd name="T99" fmla="*/ 9283 h 18310"/>
              <a:gd name="T100" fmla="*/ 17609 w 17675"/>
              <a:gd name="T101" fmla="*/ 8895 h 18310"/>
              <a:gd name="T102" fmla="*/ 17328 w 17675"/>
              <a:gd name="T103" fmla="*/ 8254 h 18310"/>
              <a:gd name="T104" fmla="*/ 16958 w 17675"/>
              <a:gd name="T105" fmla="*/ 7727 h 18310"/>
              <a:gd name="T106" fmla="*/ 16207 w 17675"/>
              <a:gd name="T107" fmla="*/ 6899 h 18310"/>
              <a:gd name="T108" fmla="*/ 14144 w 17675"/>
              <a:gd name="T109" fmla="*/ 5052 h 18310"/>
              <a:gd name="T110" fmla="*/ 13172 w 17675"/>
              <a:gd name="T111" fmla="*/ 4299 h 18310"/>
              <a:gd name="T112" fmla="*/ 12177 w 17675"/>
              <a:gd name="T113" fmla="*/ 3589 h 18310"/>
              <a:gd name="T114" fmla="*/ 11125 w 17675"/>
              <a:gd name="T115" fmla="*/ 2920 h 18310"/>
              <a:gd name="T116" fmla="*/ 10015 w 17675"/>
              <a:gd name="T117" fmla="*/ 2305 h 18310"/>
              <a:gd name="T118" fmla="*/ 9091 w 17675"/>
              <a:gd name="T119" fmla="*/ 1855 h 18310"/>
              <a:gd name="T120" fmla="*/ 8300 w 17675"/>
              <a:gd name="T121" fmla="*/ 1511 h 18310"/>
            </a:gdLst>
            <a:ahLst/>
            <a:cxnLst/>
            <a:rect l="0" t="0" r="r" b="b"/>
            <a:pathLst>
              <a:path w="17675" h="18310">
                <a:moveTo>
                  <a:pt x="8078" y="1426"/>
                </a:moveTo>
                <a:lnTo>
                  <a:pt x="8047" y="1409"/>
                </a:lnTo>
                <a:lnTo>
                  <a:pt x="8014" y="1392"/>
                </a:lnTo>
                <a:lnTo>
                  <a:pt x="7978" y="1376"/>
                </a:lnTo>
                <a:lnTo>
                  <a:pt x="7940" y="1360"/>
                </a:lnTo>
                <a:lnTo>
                  <a:pt x="7901" y="1345"/>
                </a:lnTo>
                <a:lnTo>
                  <a:pt x="7862" y="1330"/>
                </a:lnTo>
                <a:lnTo>
                  <a:pt x="7825" y="1315"/>
                </a:lnTo>
                <a:lnTo>
                  <a:pt x="7791" y="1301"/>
                </a:lnTo>
                <a:lnTo>
                  <a:pt x="7583" y="1213"/>
                </a:lnTo>
                <a:lnTo>
                  <a:pt x="7371" y="1125"/>
                </a:lnTo>
                <a:lnTo>
                  <a:pt x="7158" y="1038"/>
                </a:lnTo>
                <a:lnTo>
                  <a:pt x="6943" y="953"/>
                </a:lnTo>
                <a:lnTo>
                  <a:pt x="6836" y="911"/>
                </a:lnTo>
                <a:lnTo>
                  <a:pt x="6727" y="869"/>
                </a:lnTo>
                <a:lnTo>
                  <a:pt x="6618" y="827"/>
                </a:lnTo>
                <a:lnTo>
                  <a:pt x="6508" y="787"/>
                </a:lnTo>
                <a:lnTo>
                  <a:pt x="6400" y="747"/>
                </a:lnTo>
                <a:lnTo>
                  <a:pt x="6290" y="707"/>
                </a:lnTo>
                <a:lnTo>
                  <a:pt x="6180" y="668"/>
                </a:lnTo>
                <a:lnTo>
                  <a:pt x="6070" y="631"/>
                </a:lnTo>
                <a:lnTo>
                  <a:pt x="5959" y="593"/>
                </a:lnTo>
                <a:lnTo>
                  <a:pt x="5848" y="556"/>
                </a:lnTo>
                <a:lnTo>
                  <a:pt x="5737" y="521"/>
                </a:lnTo>
                <a:lnTo>
                  <a:pt x="5626" y="485"/>
                </a:lnTo>
                <a:lnTo>
                  <a:pt x="5515" y="451"/>
                </a:lnTo>
                <a:lnTo>
                  <a:pt x="5404" y="418"/>
                </a:lnTo>
                <a:lnTo>
                  <a:pt x="5292" y="386"/>
                </a:lnTo>
                <a:lnTo>
                  <a:pt x="5181" y="355"/>
                </a:lnTo>
                <a:lnTo>
                  <a:pt x="5069" y="324"/>
                </a:lnTo>
                <a:lnTo>
                  <a:pt x="4958" y="295"/>
                </a:lnTo>
                <a:lnTo>
                  <a:pt x="4846" y="267"/>
                </a:lnTo>
                <a:lnTo>
                  <a:pt x="4735" y="240"/>
                </a:lnTo>
                <a:lnTo>
                  <a:pt x="4623" y="215"/>
                </a:lnTo>
                <a:lnTo>
                  <a:pt x="4511" y="191"/>
                </a:lnTo>
                <a:lnTo>
                  <a:pt x="4400" y="168"/>
                </a:lnTo>
                <a:lnTo>
                  <a:pt x="4287" y="146"/>
                </a:lnTo>
                <a:lnTo>
                  <a:pt x="4234" y="136"/>
                </a:lnTo>
                <a:lnTo>
                  <a:pt x="4162" y="125"/>
                </a:lnTo>
                <a:lnTo>
                  <a:pt x="4075" y="112"/>
                </a:lnTo>
                <a:lnTo>
                  <a:pt x="3975" y="98"/>
                </a:lnTo>
                <a:lnTo>
                  <a:pt x="3865" y="84"/>
                </a:lnTo>
                <a:lnTo>
                  <a:pt x="3749" y="69"/>
                </a:lnTo>
                <a:lnTo>
                  <a:pt x="3627" y="54"/>
                </a:lnTo>
                <a:lnTo>
                  <a:pt x="3504" y="40"/>
                </a:lnTo>
                <a:lnTo>
                  <a:pt x="3381" y="27"/>
                </a:lnTo>
                <a:lnTo>
                  <a:pt x="3262" y="17"/>
                </a:lnTo>
                <a:lnTo>
                  <a:pt x="3148" y="8"/>
                </a:lnTo>
                <a:lnTo>
                  <a:pt x="3043" y="2"/>
                </a:lnTo>
                <a:lnTo>
                  <a:pt x="2994" y="1"/>
                </a:lnTo>
                <a:lnTo>
                  <a:pt x="2949" y="0"/>
                </a:lnTo>
                <a:lnTo>
                  <a:pt x="2908" y="0"/>
                </a:lnTo>
                <a:lnTo>
                  <a:pt x="2869" y="1"/>
                </a:lnTo>
                <a:lnTo>
                  <a:pt x="2834" y="3"/>
                </a:lnTo>
                <a:lnTo>
                  <a:pt x="2806" y="7"/>
                </a:lnTo>
                <a:lnTo>
                  <a:pt x="2780" y="11"/>
                </a:lnTo>
                <a:lnTo>
                  <a:pt x="2761" y="17"/>
                </a:lnTo>
                <a:lnTo>
                  <a:pt x="2724" y="19"/>
                </a:lnTo>
                <a:lnTo>
                  <a:pt x="2689" y="24"/>
                </a:lnTo>
                <a:lnTo>
                  <a:pt x="2655" y="29"/>
                </a:lnTo>
                <a:lnTo>
                  <a:pt x="2620" y="35"/>
                </a:lnTo>
                <a:lnTo>
                  <a:pt x="2586" y="43"/>
                </a:lnTo>
                <a:lnTo>
                  <a:pt x="2552" y="53"/>
                </a:lnTo>
                <a:lnTo>
                  <a:pt x="2518" y="63"/>
                </a:lnTo>
                <a:lnTo>
                  <a:pt x="2486" y="73"/>
                </a:lnTo>
                <a:lnTo>
                  <a:pt x="2454" y="85"/>
                </a:lnTo>
                <a:lnTo>
                  <a:pt x="2423" y="97"/>
                </a:lnTo>
                <a:lnTo>
                  <a:pt x="2393" y="111"/>
                </a:lnTo>
                <a:lnTo>
                  <a:pt x="2363" y="125"/>
                </a:lnTo>
                <a:lnTo>
                  <a:pt x="2333" y="138"/>
                </a:lnTo>
                <a:lnTo>
                  <a:pt x="2306" y="153"/>
                </a:lnTo>
                <a:lnTo>
                  <a:pt x="2278" y="169"/>
                </a:lnTo>
                <a:lnTo>
                  <a:pt x="2252" y="184"/>
                </a:lnTo>
                <a:lnTo>
                  <a:pt x="2218" y="205"/>
                </a:lnTo>
                <a:lnTo>
                  <a:pt x="2187" y="224"/>
                </a:lnTo>
                <a:lnTo>
                  <a:pt x="2158" y="244"/>
                </a:lnTo>
                <a:lnTo>
                  <a:pt x="2132" y="262"/>
                </a:lnTo>
                <a:lnTo>
                  <a:pt x="2108" y="280"/>
                </a:lnTo>
                <a:lnTo>
                  <a:pt x="2086" y="298"/>
                </a:lnTo>
                <a:lnTo>
                  <a:pt x="2065" y="315"/>
                </a:lnTo>
                <a:lnTo>
                  <a:pt x="2046" y="332"/>
                </a:lnTo>
                <a:lnTo>
                  <a:pt x="2007" y="367"/>
                </a:lnTo>
                <a:lnTo>
                  <a:pt x="1968" y="405"/>
                </a:lnTo>
                <a:lnTo>
                  <a:pt x="1927" y="446"/>
                </a:lnTo>
                <a:lnTo>
                  <a:pt x="1878" y="491"/>
                </a:lnTo>
                <a:lnTo>
                  <a:pt x="1866" y="504"/>
                </a:lnTo>
                <a:lnTo>
                  <a:pt x="1853" y="517"/>
                </a:lnTo>
                <a:lnTo>
                  <a:pt x="1838" y="533"/>
                </a:lnTo>
                <a:lnTo>
                  <a:pt x="1823" y="550"/>
                </a:lnTo>
                <a:lnTo>
                  <a:pt x="1790" y="592"/>
                </a:lnTo>
                <a:lnTo>
                  <a:pt x="1754" y="637"/>
                </a:lnTo>
                <a:lnTo>
                  <a:pt x="1717" y="689"/>
                </a:lnTo>
                <a:lnTo>
                  <a:pt x="1679" y="744"/>
                </a:lnTo>
                <a:lnTo>
                  <a:pt x="1639" y="802"/>
                </a:lnTo>
                <a:lnTo>
                  <a:pt x="1600" y="863"/>
                </a:lnTo>
                <a:lnTo>
                  <a:pt x="1561" y="926"/>
                </a:lnTo>
                <a:lnTo>
                  <a:pt x="1524" y="988"/>
                </a:lnTo>
                <a:lnTo>
                  <a:pt x="1488" y="1051"/>
                </a:lnTo>
                <a:lnTo>
                  <a:pt x="1454" y="1111"/>
                </a:lnTo>
                <a:lnTo>
                  <a:pt x="1425" y="1170"/>
                </a:lnTo>
                <a:lnTo>
                  <a:pt x="1398" y="1226"/>
                </a:lnTo>
                <a:lnTo>
                  <a:pt x="1387" y="1252"/>
                </a:lnTo>
                <a:lnTo>
                  <a:pt x="1377" y="1277"/>
                </a:lnTo>
                <a:lnTo>
                  <a:pt x="1367" y="1301"/>
                </a:lnTo>
                <a:lnTo>
                  <a:pt x="1359" y="1323"/>
                </a:lnTo>
                <a:lnTo>
                  <a:pt x="1340" y="1362"/>
                </a:lnTo>
                <a:lnTo>
                  <a:pt x="1320" y="1404"/>
                </a:lnTo>
                <a:lnTo>
                  <a:pt x="1300" y="1449"/>
                </a:lnTo>
                <a:lnTo>
                  <a:pt x="1280" y="1496"/>
                </a:lnTo>
                <a:lnTo>
                  <a:pt x="1261" y="1545"/>
                </a:lnTo>
                <a:lnTo>
                  <a:pt x="1241" y="1596"/>
                </a:lnTo>
                <a:lnTo>
                  <a:pt x="1222" y="1648"/>
                </a:lnTo>
                <a:lnTo>
                  <a:pt x="1204" y="1702"/>
                </a:lnTo>
                <a:lnTo>
                  <a:pt x="1167" y="1808"/>
                </a:lnTo>
                <a:lnTo>
                  <a:pt x="1133" y="1915"/>
                </a:lnTo>
                <a:lnTo>
                  <a:pt x="1101" y="2016"/>
                </a:lnTo>
                <a:lnTo>
                  <a:pt x="1071" y="2110"/>
                </a:lnTo>
                <a:lnTo>
                  <a:pt x="1055" y="2162"/>
                </a:lnTo>
                <a:lnTo>
                  <a:pt x="1039" y="2213"/>
                </a:lnTo>
                <a:lnTo>
                  <a:pt x="1023" y="2264"/>
                </a:lnTo>
                <a:lnTo>
                  <a:pt x="1008" y="2315"/>
                </a:lnTo>
                <a:lnTo>
                  <a:pt x="992" y="2367"/>
                </a:lnTo>
                <a:lnTo>
                  <a:pt x="976" y="2418"/>
                </a:lnTo>
                <a:lnTo>
                  <a:pt x="960" y="2471"/>
                </a:lnTo>
                <a:lnTo>
                  <a:pt x="944" y="2523"/>
                </a:lnTo>
                <a:lnTo>
                  <a:pt x="929" y="2573"/>
                </a:lnTo>
                <a:lnTo>
                  <a:pt x="913" y="2626"/>
                </a:lnTo>
                <a:lnTo>
                  <a:pt x="896" y="2682"/>
                </a:lnTo>
                <a:lnTo>
                  <a:pt x="880" y="2740"/>
                </a:lnTo>
                <a:lnTo>
                  <a:pt x="864" y="2797"/>
                </a:lnTo>
                <a:lnTo>
                  <a:pt x="849" y="2852"/>
                </a:lnTo>
                <a:lnTo>
                  <a:pt x="836" y="2906"/>
                </a:lnTo>
                <a:lnTo>
                  <a:pt x="827" y="2955"/>
                </a:lnTo>
                <a:lnTo>
                  <a:pt x="818" y="2977"/>
                </a:lnTo>
                <a:lnTo>
                  <a:pt x="809" y="3003"/>
                </a:lnTo>
                <a:lnTo>
                  <a:pt x="800" y="3033"/>
                </a:lnTo>
                <a:lnTo>
                  <a:pt x="790" y="3067"/>
                </a:lnTo>
                <a:lnTo>
                  <a:pt x="770" y="3142"/>
                </a:lnTo>
                <a:lnTo>
                  <a:pt x="749" y="3225"/>
                </a:lnTo>
                <a:lnTo>
                  <a:pt x="730" y="3310"/>
                </a:lnTo>
                <a:lnTo>
                  <a:pt x="712" y="3390"/>
                </a:lnTo>
                <a:lnTo>
                  <a:pt x="696" y="3461"/>
                </a:lnTo>
                <a:lnTo>
                  <a:pt x="683" y="3519"/>
                </a:lnTo>
                <a:lnTo>
                  <a:pt x="666" y="3593"/>
                </a:lnTo>
                <a:lnTo>
                  <a:pt x="649" y="3667"/>
                </a:lnTo>
                <a:lnTo>
                  <a:pt x="633" y="3740"/>
                </a:lnTo>
                <a:lnTo>
                  <a:pt x="617" y="3813"/>
                </a:lnTo>
                <a:lnTo>
                  <a:pt x="601" y="3886"/>
                </a:lnTo>
                <a:lnTo>
                  <a:pt x="585" y="3960"/>
                </a:lnTo>
                <a:lnTo>
                  <a:pt x="569" y="4033"/>
                </a:lnTo>
                <a:lnTo>
                  <a:pt x="553" y="4108"/>
                </a:lnTo>
                <a:lnTo>
                  <a:pt x="537" y="4182"/>
                </a:lnTo>
                <a:lnTo>
                  <a:pt x="522" y="4256"/>
                </a:lnTo>
                <a:lnTo>
                  <a:pt x="506" y="4330"/>
                </a:lnTo>
                <a:lnTo>
                  <a:pt x="491" y="4406"/>
                </a:lnTo>
                <a:lnTo>
                  <a:pt x="476" y="4483"/>
                </a:lnTo>
                <a:lnTo>
                  <a:pt x="461" y="4559"/>
                </a:lnTo>
                <a:lnTo>
                  <a:pt x="447" y="4636"/>
                </a:lnTo>
                <a:lnTo>
                  <a:pt x="433" y="4714"/>
                </a:lnTo>
                <a:lnTo>
                  <a:pt x="419" y="4791"/>
                </a:lnTo>
                <a:lnTo>
                  <a:pt x="405" y="4868"/>
                </a:lnTo>
                <a:lnTo>
                  <a:pt x="392" y="4946"/>
                </a:lnTo>
                <a:lnTo>
                  <a:pt x="380" y="5024"/>
                </a:lnTo>
                <a:lnTo>
                  <a:pt x="367" y="5100"/>
                </a:lnTo>
                <a:lnTo>
                  <a:pt x="356" y="5177"/>
                </a:lnTo>
                <a:lnTo>
                  <a:pt x="346" y="5253"/>
                </a:lnTo>
                <a:lnTo>
                  <a:pt x="335" y="5328"/>
                </a:lnTo>
                <a:lnTo>
                  <a:pt x="320" y="5442"/>
                </a:lnTo>
                <a:lnTo>
                  <a:pt x="304" y="5555"/>
                </a:lnTo>
                <a:lnTo>
                  <a:pt x="289" y="5668"/>
                </a:lnTo>
                <a:lnTo>
                  <a:pt x="275" y="5781"/>
                </a:lnTo>
                <a:lnTo>
                  <a:pt x="259" y="5896"/>
                </a:lnTo>
                <a:lnTo>
                  <a:pt x="244" y="6009"/>
                </a:lnTo>
                <a:lnTo>
                  <a:pt x="229" y="6124"/>
                </a:lnTo>
                <a:lnTo>
                  <a:pt x="214" y="6238"/>
                </a:lnTo>
                <a:lnTo>
                  <a:pt x="199" y="6352"/>
                </a:lnTo>
                <a:lnTo>
                  <a:pt x="185" y="6467"/>
                </a:lnTo>
                <a:lnTo>
                  <a:pt x="173" y="6581"/>
                </a:lnTo>
                <a:lnTo>
                  <a:pt x="160" y="6697"/>
                </a:lnTo>
                <a:lnTo>
                  <a:pt x="148" y="6811"/>
                </a:lnTo>
                <a:lnTo>
                  <a:pt x="137" y="6927"/>
                </a:lnTo>
                <a:lnTo>
                  <a:pt x="127" y="7042"/>
                </a:lnTo>
                <a:lnTo>
                  <a:pt x="119" y="7158"/>
                </a:lnTo>
                <a:lnTo>
                  <a:pt x="105" y="7319"/>
                </a:lnTo>
                <a:lnTo>
                  <a:pt x="92" y="7481"/>
                </a:lnTo>
                <a:lnTo>
                  <a:pt x="79" y="7643"/>
                </a:lnTo>
                <a:lnTo>
                  <a:pt x="65" y="7805"/>
                </a:lnTo>
                <a:lnTo>
                  <a:pt x="54" y="7967"/>
                </a:lnTo>
                <a:lnTo>
                  <a:pt x="42" y="8130"/>
                </a:lnTo>
                <a:lnTo>
                  <a:pt x="31" y="8293"/>
                </a:lnTo>
                <a:lnTo>
                  <a:pt x="22" y="8456"/>
                </a:lnTo>
                <a:lnTo>
                  <a:pt x="14" y="8619"/>
                </a:lnTo>
                <a:lnTo>
                  <a:pt x="8" y="8782"/>
                </a:lnTo>
                <a:lnTo>
                  <a:pt x="3" y="8946"/>
                </a:lnTo>
                <a:lnTo>
                  <a:pt x="0" y="9109"/>
                </a:lnTo>
                <a:lnTo>
                  <a:pt x="0" y="9190"/>
                </a:lnTo>
                <a:lnTo>
                  <a:pt x="0" y="9273"/>
                </a:lnTo>
                <a:lnTo>
                  <a:pt x="1" y="9354"/>
                </a:lnTo>
                <a:lnTo>
                  <a:pt x="2" y="9437"/>
                </a:lnTo>
                <a:lnTo>
                  <a:pt x="3" y="9518"/>
                </a:lnTo>
                <a:lnTo>
                  <a:pt x="7" y="9599"/>
                </a:lnTo>
                <a:lnTo>
                  <a:pt x="10" y="9681"/>
                </a:lnTo>
                <a:lnTo>
                  <a:pt x="14" y="9763"/>
                </a:lnTo>
                <a:lnTo>
                  <a:pt x="21" y="9885"/>
                </a:lnTo>
                <a:lnTo>
                  <a:pt x="27" y="10006"/>
                </a:lnTo>
                <a:lnTo>
                  <a:pt x="34" y="10128"/>
                </a:lnTo>
                <a:lnTo>
                  <a:pt x="41" y="10249"/>
                </a:lnTo>
                <a:lnTo>
                  <a:pt x="47" y="10369"/>
                </a:lnTo>
                <a:lnTo>
                  <a:pt x="54" y="10490"/>
                </a:lnTo>
                <a:lnTo>
                  <a:pt x="61" y="10611"/>
                </a:lnTo>
                <a:lnTo>
                  <a:pt x="68" y="10731"/>
                </a:lnTo>
                <a:lnTo>
                  <a:pt x="74" y="10851"/>
                </a:lnTo>
                <a:lnTo>
                  <a:pt x="82" y="10971"/>
                </a:lnTo>
                <a:lnTo>
                  <a:pt x="90" y="11091"/>
                </a:lnTo>
                <a:lnTo>
                  <a:pt x="98" y="11213"/>
                </a:lnTo>
                <a:lnTo>
                  <a:pt x="108" y="11333"/>
                </a:lnTo>
                <a:lnTo>
                  <a:pt x="117" y="11454"/>
                </a:lnTo>
                <a:lnTo>
                  <a:pt x="127" y="11575"/>
                </a:lnTo>
                <a:lnTo>
                  <a:pt x="138" y="11697"/>
                </a:lnTo>
                <a:lnTo>
                  <a:pt x="149" y="11811"/>
                </a:lnTo>
                <a:lnTo>
                  <a:pt x="160" y="11926"/>
                </a:lnTo>
                <a:lnTo>
                  <a:pt x="172" y="12040"/>
                </a:lnTo>
                <a:lnTo>
                  <a:pt x="184" y="12154"/>
                </a:lnTo>
                <a:lnTo>
                  <a:pt x="197" y="12269"/>
                </a:lnTo>
                <a:lnTo>
                  <a:pt x="209" y="12383"/>
                </a:lnTo>
                <a:lnTo>
                  <a:pt x="223" y="12498"/>
                </a:lnTo>
                <a:lnTo>
                  <a:pt x="237" y="12611"/>
                </a:lnTo>
                <a:lnTo>
                  <a:pt x="252" y="12725"/>
                </a:lnTo>
                <a:lnTo>
                  <a:pt x="267" y="12839"/>
                </a:lnTo>
                <a:lnTo>
                  <a:pt x="281" y="12953"/>
                </a:lnTo>
                <a:lnTo>
                  <a:pt x="298" y="13066"/>
                </a:lnTo>
                <a:lnTo>
                  <a:pt x="314" y="13180"/>
                </a:lnTo>
                <a:lnTo>
                  <a:pt x="331" y="13293"/>
                </a:lnTo>
                <a:lnTo>
                  <a:pt x="349" y="13406"/>
                </a:lnTo>
                <a:lnTo>
                  <a:pt x="366" y="13519"/>
                </a:lnTo>
                <a:lnTo>
                  <a:pt x="398" y="13707"/>
                </a:lnTo>
                <a:lnTo>
                  <a:pt x="433" y="13905"/>
                </a:lnTo>
                <a:lnTo>
                  <a:pt x="470" y="14110"/>
                </a:lnTo>
                <a:lnTo>
                  <a:pt x="511" y="14322"/>
                </a:lnTo>
                <a:lnTo>
                  <a:pt x="555" y="14538"/>
                </a:lnTo>
                <a:lnTo>
                  <a:pt x="602" y="14757"/>
                </a:lnTo>
                <a:lnTo>
                  <a:pt x="650" y="14979"/>
                </a:lnTo>
                <a:lnTo>
                  <a:pt x="701" y="15200"/>
                </a:lnTo>
                <a:lnTo>
                  <a:pt x="729" y="15311"/>
                </a:lnTo>
                <a:lnTo>
                  <a:pt x="755" y="15420"/>
                </a:lnTo>
                <a:lnTo>
                  <a:pt x="784" y="15530"/>
                </a:lnTo>
                <a:lnTo>
                  <a:pt x="811" y="15639"/>
                </a:lnTo>
                <a:lnTo>
                  <a:pt x="840" y="15747"/>
                </a:lnTo>
                <a:lnTo>
                  <a:pt x="870" y="15854"/>
                </a:lnTo>
                <a:lnTo>
                  <a:pt x="899" y="15959"/>
                </a:lnTo>
                <a:lnTo>
                  <a:pt x="929" y="16064"/>
                </a:lnTo>
                <a:lnTo>
                  <a:pt x="960" y="16165"/>
                </a:lnTo>
                <a:lnTo>
                  <a:pt x="991" y="16266"/>
                </a:lnTo>
                <a:lnTo>
                  <a:pt x="1022" y="16365"/>
                </a:lnTo>
                <a:lnTo>
                  <a:pt x="1054" y="16461"/>
                </a:lnTo>
                <a:lnTo>
                  <a:pt x="1086" y="16556"/>
                </a:lnTo>
                <a:lnTo>
                  <a:pt x="1119" y="16646"/>
                </a:lnTo>
                <a:lnTo>
                  <a:pt x="1152" y="16735"/>
                </a:lnTo>
                <a:lnTo>
                  <a:pt x="1185" y="16821"/>
                </a:lnTo>
                <a:lnTo>
                  <a:pt x="1225" y="16920"/>
                </a:lnTo>
                <a:lnTo>
                  <a:pt x="1267" y="17017"/>
                </a:lnTo>
                <a:lnTo>
                  <a:pt x="1288" y="17064"/>
                </a:lnTo>
                <a:lnTo>
                  <a:pt x="1310" y="17111"/>
                </a:lnTo>
                <a:lnTo>
                  <a:pt x="1332" y="17156"/>
                </a:lnTo>
                <a:lnTo>
                  <a:pt x="1354" y="17202"/>
                </a:lnTo>
                <a:lnTo>
                  <a:pt x="1377" y="17247"/>
                </a:lnTo>
                <a:lnTo>
                  <a:pt x="1399" y="17290"/>
                </a:lnTo>
                <a:lnTo>
                  <a:pt x="1423" y="17334"/>
                </a:lnTo>
                <a:lnTo>
                  <a:pt x="1447" y="17376"/>
                </a:lnTo>
                <a:lnTo>
                  <a:pt x="1471" y="17417"/>
                </a:lnTo>
                <a:lnTo>
                  <a:pt x="1496" y="17459"/>
                </a:lnTo>
                <a:lnTo>
                  <a:pt x="1521" y="17499"/>
                </a:lnTo>
                <a:lnTo>
                  <a:pt x="1546" y="17538"/>
                </a:lnTo>
                <a:lnTo>
                  <a:pt x="1572" y="17576"/>
                </a:lnTo>
                <a:lnTo>
                  <a:pt x="1598" y="17614"/>
                </a:lnTo>
                <a:lnTo>
                  <a:pt x="1625" y="17651"/>
                </a:lnTo>
                <a:lnTo>
                  <a:pt x="1652" y="17687"/>
                </a:lnTo>
                <a:lnTo>
                  <a:pt x="1680" y="17722"/>
                </a:lnTo>
                <a:lnTo>
                  <a:pt x="1707" y="17756"/>
                </a:lnTo>
                <a:lnTo>
                  <a:pt x="1736" y="17789"/>
                </a:lnTo>
                <a:lnTo>
                  <a:pt x="1764" y="17822"/>
                </a:lnTo>
                <a:lnTo>
                  <a:pt x="1794" y="17853"/>
                </a:lnTo>
                <a:lnTo>
                  <a:pt x="1824" y="17884"/>
                </a:lnTo>
                <a:lnTo>
                  <a:pt x="1854" y="17914"/>
                </a:lnTo>
                <a:lnTo>
                  <a:pt x="1885" y="17943"/>
                </a:lnTo>
                <a:lnTo>
                  <a:pt x="1917" y="17970"/>
                </a:lnTo>
                <a:lnTo>
                  <a:pt x="1947" y="17998"/>
                </a:lnTo>
                <a:lnTo>
                  <a:pt x="1980" y="18023"/>
                </a:lnTo>
                <a:lnTo>
                  <a:pt x="2013" y="18048"/>
                </a:lnTo>
                <a:lnTo>
                  <a:pt x="2052" y="18075"/>
                </a:lnTo>
                <a:lnTo>
                  <a:pt x="2091" y="18102"/>
                </a:lnTo>
                <a:lnTo>
                  <a:pt x="2132" y="18127"/>
                </a:lnTo>
                <a:lnTo>
                  <a:pt x="2173" y="18151"/>
                </a:lnTo>
                <a:lnTo>
                  <a:pt x="2215" y="18174"/>
                </a:lnTo>
                <a:lnTo>
                  <a:pt x="2259" y="18194"/>
                </a:lnTo>
                <a:lnTo>
                  <a:pt x="2303" y="18214"/>
                </a:lnTo>
                <a:lnTo>
                  <a:pt x="2349" y="18232"/>
                </a:lnTo>
                <a:lnTo>
                  <a:pt x="2397" y="18249"/>
                </a:lnTo>
                <a:lnTo>
                  <a:pt x="2446" y="18264"/>
                </a:lnTo>
                <a:lnTo>
                  <a:pt x="2497" y="18277"/>
                </a:lnTo>
                <a:lnTo>
                  <a:pt x="2549" y="18287"/>
                </a:lnTo>
                <a:lnTo>
                  <a:pt x="2576" y="18292"/>
                </a:lnTo>
                <a:lnTo>
                  <a:pt x="2603" y="18296"/>
                </a:lnTo>
                <a:lnTo>
                  <a:pt x="2631" y="18300"/>
                </a:lnTo>
                <a:lnTo>
                  <a:pt x="2658" y="18303"/>
                </a:lnTo>
                <a:lnTo>
                  <a:pt x="2687" y="18305"/>
                </a:lnTo>
                <a:lnTo>
                  <a:pt x="2716" y="18308"/>
                </a:lnTo>
                <a:lnTo>
                  <a:pt x="2745" y="18309"/>
                </a:lnTo>
                <a:lnTo>
                  <a:pt x="2776" y="18309"/>
                </a:lnTo>
                <a:lnTo>
                  <a:pt x="2835" y="18310"/>
                </a:lnTo>
                <a:lnTo>
                  <a:pt x="2896" y="18310"/>
                </a:lnTo>
                <a:lnTo>
                  <a:pt x="2957" y="18309"/>
                </a:lnTo>
                <a:lnTo>
                  <a:pt x="3017" y="18308"/>
                </a:lnTo>
                <a:lnTo>
                  <a:pt x="3079" y="18305"/>
                </a:lnTo>
                <a:lnTo>
                  <a:pt x="3140" y="18303"/>
                </a:lnTo>
                <a:lnTo>
                  <a:pt x="3200" y="18300"/>
                </a:lnTo>
                <a:lnTo>
                  <a:pt x="3262" y="18296"/>
                </a:lnTo>
                <a:lnTo>
                  <a:pt x="3323" y="18292"/>
                </a:lnTo>
                <a:lnTo>
                  <a:pt x="3384" y="18287"/>
                </a:lnTo>
                <a:lnTo>
                  <a:pt x="3444" y="18283"/>
                </a:lnTo>
                <a:lnTo>
                  <a:pt x="3505" y="18277"/>
                </a:lnTo>
                <a:lnTo>
                  <a:pt x="3565" y="18271"/>
                </a:lnTo>
                <a:lnTo>
                  <a:pt x="3625" y="18264"/>
                </a:lnTo>
                <a:lnTo>
                  <a:pt x="3686" y="18257"/>
                </a:lnTo>
                <a:lnTo>
                  <a:pt x="3745" y="18250"/>
                </a:lnTo>
                <a:lnTo>
                  <a:pt x="3829" y="18240"/>
                </a:lnTo>
                <a:lnTo>
                  <a:pt x="3912" y="18230"/>
                </a:lnTo>
                <a:lnTo>
                  <a:pt x="3995" y="18218"/>
                </a:lnTo>
                <a:lnTo>
                  <a:pt x="4076" y="18206"/>
                </a:lnTo>
                <a:lnTo>
                  <a:pt x="4157" y="18192"/>
                </a:lnTo>
                <a:lnTo>
                  <a:pt x="4236" y="18178"/>
                </a:lnTo>
                <a:lnTo>
                  <a:pt x="4316" y="18165"/>
                </a:lnTo>
                <a:lnTo>
                  <a:pt x="4395" y="18150"/>
                </a:lnTo>
                <a:lnTo>
                  <a:pt x="4473" y="18134"/>
                </a:lnTo>
                <a:lnTo>
                  <a:pt x="4549" y="18118"/>
                </a:lnTo>
                <a:lnTo>
                  <a:pt x="4627" y="18101"/>
                </a:lnTo>
                <a:lnTo>
                  <a:pt x="4704" y="18083"/>
                </a:lnTo>
                <a:lnTo>
                  <a:pt x="4779" y="18066"/>
                </a:lnTo>
                <a:lnTo>
                  <a:pt x="4855" y="18048"/>
                </a:lnTo>
                <a:lnTo>
                  <a:pt x="4931" y="18028"/>
                </a:lnTo>
                <a:lnTo>
                  <a:pt x="5006" y="18009"/>
                </a:lnTo>
                <a:lnTo>
                  <a:pt x="5156" y="17969"/>
                </a:lnTo>
                <a:lnTo>
                  <a:pt x="5305" y="17927"/>
                </a:lnTo>
                <a:lnTo>
                  <a:pt x="5455" y="17882"/>
                </a:lnTo>
                <a:lnTo>
                  <a:pt x="5603" y="17836"/>
                </a:lnTo>
                <a:lnTo>
                  <a:pt x="5753" y="17789"/>
                </a:lnTo>
                <a:lnTo>
                  <a:pt x="5904" y="17741"/>
                </a:lnTo>
                <a:lnTo>
                  <a:pt x="6056" y="17691"/>
                </a:lnTo>
                <a:lnTo>
                  <a:pt x="6211" y="17639"/>
                </a:lnTo>
                <a:lnTo>
                  <a:pt x="6273" y="17619"/>
                </a:lnTo>
                <a:lnTo>
                  <a:pt x="6368" y="17586"/>
                </a:lnTo>
                <a:lnTo>
                  <a:pt x="6483" y="17544"/>
                </a:lnTo>
                <a:lnTo>
                  <a:pt x="6608" y="17501"/>
                </a:lnTo>
                <a:lnTo>
                  <a:pt x="6729" y="17456"/>
                </a:lnTo>
                <a:lnTo>
                  <a:pt x="6837" y="17415"/>
                </a:lnTo>
                <a:lnTo>
                  <a:pt x="6881" y="17398"/>
                </a:lnTo>
                <a:lnTo>
                  <a:pt x="6917" y="17382"/>
                </a:lnTo>
                <a:lnTo>
                  <a:pt x="6943" y="17369"/>
                </a:lnTo>
                <a:lnTo>
                  <a:pt x="6959" y="17361"/>
                </a:lnTo>
                <a:lnTo>
                  <a:pt x="6994" y="17351"/>
                </a:lnTo>
                <a:lnTo>
                  <a:pt x="7046" y="17333"/>
                </a:lnTo>
                <a:lnTo>
                  <a:pt x="7116" y="17308"/>
                </a:lnTo>
                <a:lnTo>
                  <a:pt x="7200" y="17277"/>
                </a:lnTo>
                <a:lnTo>
                  <a:pt x="7294" y="17240"/>
                </a:lnTo>
                <a:lnTo>
                  <a:pt x="7397" y="17200"/>
                </a:lnTo>
                <a:lnTo>
                  <a:pt x="7507" y="17156"/>
                </a:lnTo>
                <a:lnTo>
                  <a:pt x="7621" y="17112"/>
                </a:lnTo>
                <a:lnTo>
                  <a:pt x="7734" y="17066"/>
                </a:lnTo>
                <a:lnTo>
                  <a:pt x="7846" y="17021"/>
                </a:lnTo>
                <a:lnTo>
                  <a:pt x="7955" y="16977"/>
                </a:lnTo>
                <a:lnTo>
                  <a:pt x="8057" y="16937"/>
                </a:lnTo>
                <a:lnTo>
                  <a:pt x="8148" y="16899"/>
                </a:lnTo>
                <a:lnTo>
                  <a:pt x="8228" y="16867"/>
                </a:lnTo>
                <a:lnTo>
                  <a:pt x="8295" y="16841"/>
                </a:lnTo>
                <a:lnTo>
                  <a:pt x="8344" y="16821"/>
                </a:lnTo>
                <a:lnTo>
                  <a:pt x="8396" y="16799"/>
                </a:lnTo>
                <a:lnTo>
                  <a:pt x="8454" y="16778"/>
                </a:lnTo>
                <a:lnTo>
                  <a:pt x="8513" y="16755"/>
                </a:lnTo>
                <a:lnTo>
                  <a:pt x="8574" y="16731"/>
                </a:lnTo>
                <a:lnTo>
                  <a:pt x="8633" y="16707"/>
                </a:lnTo>
                <a:lnTo>
                  <a:pt x="8690" y="16682"/>
                </a:lnTo>
                <a:lnTo>
                  <a:pt x="8744" y="16658"/>
                </a:lnTo>
                <a:lnTo>
                  <a:pt x="8792" y="16633"/>
                </a:lnTo>
                <a:lnTo>
                  <a:pt x="8829" y="16621"/>
                </a:lnTo>
                <a:lnTo>
                  <a:pt x="8872" y="16605"/>
                </a:lnTo>
                <a:lnTo>
                  <a:pt x="8918" y="16587"/>
                </a:lnTo>
                <a:lnTo>
                  <a:pt x="8965" y="16565"/>
                </a:lnTo>
                <a:lnTo>
                  <a:pt x="9013" y="16543"/>
                </a:lnTo>
                <a:lnTo>
                  <a:pt x="9059" y="16522"/>
                </a:lnTo>
                <a:lnTo>
                  <a:pt x="9100" y="16502"/>
                </a:lnTo>
                <a:lnTo>
                  <a:pt x="9137" y="16485"/>
                </a:lnTo>
                <a:lnTo>
                  <a:pt x="9178" y="16465"/>
                </a:lnTo>
                <a:lnTo>
                  <a:pt x="9220" y="16447"/>
                </a:lnTo>
                <a:lnTo>
                  <a:pt x="9263" y="16429"/>
                </a:lnTo>
                <a:lnTo>
                  <a:pt x="9304" y="16409"/>
                </a:lnTo>
                <a:lnTo>
                  <a:pt x="9346" y="16391"/>
                </a:lnTo>
                <a:lnTo>
                  <a:pt x="9388" y="16371"/>
                </a:lnTo>
                <a:lnTo>
                  <a:pt x="9430" y="16352"/>
                </a:lnTo>
                <a:lnTo>
                  <a:pt x="9471" y="16331"/>
                </a:lnTo>
                <a:lnTo>
                  <a:pt x="9550" y="16292"/>
                </a:lnTo>
                <a:lnTo>
                  <a:pt x="9633" y="16254"/>
                </a:lnTo>
                <a:lnTo>
                  <a:pt x="9720" y="16214"/>
                </a:lnTo>
                <a:lnTo>
                  <a:pt x="9807" y="16173"/>
                </a:lnTo>
                <a:lnTo>
                  <a:pt x="9894" y="16132"/>
                </a:lnTo>
                <a:lnTo>
                  <a:pt x="9978" y="16091"/>
                </a:lnTo>
                <a:lnTo>
                  <a:pt x="10018" y="16069"/>
                </a:lnTo>
                <a:lnTo>
                  <a:pt x="10057" y="16048"/>
                </a:lnTo>
                <a:lnTo>
                  <a:pt x="10093" y="16026"/>
                </a:lnTo>
                <a:lnTo>
                  <a:pt x="10129" y="16004"/>
                </a:lnTo>
                <a:lnTo>
                  <a:pt x="10153" y="15994"/>
                </a:lnTo>
                <a:lnTo>
                  <a:pt x="10184" y="15979"/>
                </a:lnTo>
                <a:lnTo>
                  <a:pt x="10220" y="15962"/>
                </a:lnTo>
                <a:lnTo>
                  <a:pt x="10263" y="15939"/>
                </a:lnTo>
                <a:lnTo>
                  <a:pt x="10363" y="15886"/>
                </a:lnTo>
                <a:lnTo>
                  <a:pt x="10482" y="15821"/>
                </a:lnTo>
                <a:lnTo>
                  <a:pt x="10614" y="15748"/>
                </a:lnTo>
                <a:lnTo>
                  <a:pt x="10756" y="15669"/>
                </a:lnTo>
                <a:lnTo>
                  <a:pt x="10903" y="15584"/>
                </a:lnTo>
                <a:lnTo>
                  <a:pt x="11053" y="15498"/>
                </a:lnTo>
                <a:lnTo>
                  <a:pt x="11202" y="15411"/>
                </a:lnTo>
                <a:lnTo>
                  <a:pt x="11344" y="15328"/>
                </a:lnTo>
                <a:lnTo>
                  <a:pt x="11477" y="15249"/>
                </a:lnTo>
                <a:lnTo>
                  <a:pt x="11597" y="15176"/>
                </a:lnTo>
                <a:lnTo>
                  <a:pt x="11700" y="15111"/>
                </a:lnTo>
                <a:lnTo>
                  <a:pt x="11781" y="15060"/>
                </a:lnTo>
                <a:lnTo>
                  <a:pt x="11813" y="15038"/>
                </a:lnTo>
                <a:lnTo>
                  <a:pt x="11838" y="15021"/>
                </a:lnTo>
                <a:lnTo>
                  <a:pt x="11857" y="15007"/>
                </a:lnTo>
                <a:lnTo>
                  <a:pt x="11867" y="14997"/>
                </a:lnTo>
                <a:lnTo>
                  <a:pt x="11879" y="14991"/>
                </a:lnTo>
                <a:lnTo>
                  <a:pt x="11898" y="14982"/>
                </a:lnTo>
                <a:lnTo>
                  <a:pt x="11919" y="14970"/>
                </a:lnTo>
                <a:lnTo>
                  <a:pt x="11947" y="14954"/>
                </a:lnTo>
                <a:lnTo>
                  <a:pt x="12012" y="14913"/>
                </a:lnTo>
                <a:lnTo>
                  <a:pt x="12090" y="14864"/>
                </a:lnTo>
                <a:lnTo>
                  <a:pt x="12179" y="14806"/>
                </a:lnTo>
                <a:lnTo>
                  <a:pt x="12276" y="14741"/>
                </a:lnTo>
                <a:lnTo>
                  <a:pt x="12379" y="14672"/>
                </a:lnTo>
                <a:lnTo>
                  <a:pt x="12485" y="14600"/>
                </a:lnTo>
                <a:lnTo>
                  <a:pt x="12590" y="14528"/>
                </a:lnTo>
                <a:lnTo>
                  <a:pt x="12694" y="14457"/>
                </a:lnTo>
                <a:lnTo>
                  <a:pt x="12791" y="14388"/>
                </a:lnTo>
                <a:lnTo>
                  <a:pt x="12883" y="14324"/>
                </a:lnTo>
                <a:lnTo>
                  <a:pt x="12963" y="14267"/>
                </a:lnTo>
                <a:lnTo>
                  <a:pt x="13031" y="14218"/>
                </a:lnTo>
                <a:lnTo>
                  <a:pt x="13083" y="14179"/>
                </a:lnTo>
                <a:lnTo>
                  <a:pt x="13116" y="14152"/>
                </a:lnTo>
                <a:lnTo>
                  <a:pt x="13131" y="14143"/>
                </a:lnTo>
                <a:lnTo>
                  <a:pt x="13152" y="14131"/>
                </a:lnTo>
                <a:lnTo>
                  <a:pt x="13179" y="14112"/>
                </a:lnTo>
                <a:lnTo>
                  <a:pt x="13212" y="14088"/>
                </a:lnTo>
                <a:lnTo>
                  <a:pt x="13294" y="14030"/>
                </a:lnTo>
                <a:lnTo>
                  <a:pt x="13392" y="13958"/>
                </a:lnTo>
                <a:lnTo>
                  <a:pt x="13505" y="13873"/>
                </a:lnTo>
                <a:lnTo>
                  <a:pt x="13628" y="13779"/>
                </a:lnTo>
                <a:lnTo>
                  <a:pt x="13758" y="13680"/>
                </a:lnTo>
                <a:lnTo>
                  <a:pt x="13891" y="13578"/>
                </a:lnTo>
                <a:lnTo>
                  <a:pt x="14024" y="13475"/>
                </a:lnTo>
                <a:lnTo>
                  <a:pt x="14153" y="13374"/>
                </a:lnTo>
                <a:lnTo>
                  <a:pt x="14274" y="13278"/>
                </a:lnTo>
                <a:lnTo>
                  <a:pt x="14385" y="13190"/>
                </a:lnTo>
                <a:lnTo>
                  <a:pt x="14481" y="13112"/>
                </a:lnTo>
                <a:lnTo>
                  <a:pt x="14559" y="13048"/>
                </a:lnTo>
                <a:lnTo>
                  <a:pt x="14590" y="13022"/>
                </a:lnTo>
                <a:lnTo>
                  <a:pt x="14615" y="13000"/>
                </a:lnTo>
                <a:lnTo>
                  <a:pt x="14634" y="12982"/>
                </a:lnTo>
                <a:lnTo>
                  <a:pt x="14645" y="12970"/>
                </a:lnTo>
                <a:lnTo>
                  <a:pt x="14658" y="12963"/>
                </a:lnTo>
                <a:lnTo>
                  <a:pt x="14673" y="12954"/>
                </a:lnTo>
                <a:lnTo>
                  <a:pt x="14690" y="12942"/>
                </a:lnTo>
                <a:lnTo>
                  <a:pt x="14708" y="12928"/>
                </a:lnTo>
                <a:lnTo>
                  <a:pt x="14751" y="12895"/>
                </a:lnTo>
                <a:lnTo>
                  <a:pt x="14802" y="12854"/>
                </a:lnTo>
                <a:lnTo>
                  <a:pt x="14857" y="12807"/>
                </a:lnTo>
                <a:lnTo>
                  <a:pt x="14917" y="12756"/>
                </a:lnTo>
                <a:lnTo>
                  <a:pt x="14979" y="12701"/>
                </a:lnTo>
                <a:lnTo>
                  <a:pt x="15044" y="12645"/>
                </a:lnTo>
                <a:lnTo>
                  <a:pt x="15110" y="12587"/>
                </a:lnTo>
                <a:lnTo>
                  <a:pt x="15175" y="12530"/>
                </a:lnTo>
                <a:lnTo>
                  <a:pt x="15238" y="12475"/>
                </a:lnTo>
                <a:lnTo>
                  <a:pt x="15298" y="12421"/>
                </a:lnTo>
                <a:lnTo>
                  <a:pt x="15354" y="12372"/>
                </a:lnTo>
                <a:lnTo>
                  <a:pt x="15405" y="12328"/>
                </a:lnTo>
                <a:lnTo>
                  <a:pt x="15451" y="12291"/>
                </a:lnTo>
                <a:lnTo>
                  <a:pt x="15487" y="12261"/>
                </a:lnTo>
                <a:lnTo>
                  <a:pt x="15508" y="12245"/>
                </a:lnTo>
                <a:lnTo>
                  <a:pt x="15520" y="12233"/>
                </a:lnTo>
                <a:lnTo>
                  <a:pt x="15534" y="12220"/>
                </a:lnTo>
                <a:lnTo>
                  <a:pt x="15555" y="12200"/>
                </a:lnTo>
                <a:lnTo>
                  <a:pt x="15765" y="12013"/>
                </a:lnTo>
                <a:lnTo>
                  <a:pt x="15798" y="11979"/>
                </a:lnTo>
                <a:lnTo>
                  <a:pt x="15830" y="11947"/>
                </a:lnTo>
                <a:lnTo>
                  <a:pt x="15863" y="11915"/>
                </a:lnTo>
                <a:lnTo>
                  <a:pt x="15895" y="11884"/>
                </a:lnTo>
                <a:lnTo>
                  <a:pt x="15927" y="11853"/>
                </a:lnTo>
                <a:lnTo>
                  <a:pt x="15959" y="11823"/>
                </a:lnTo>
                <a:lnTo>
                  <a:pt x="15992" y="11790"/>
                </a:lnTo>
                <a:lnTo>
                  <a:pt x="16025" y="11758"/>
                </a:lnTo>
                <a:lnTo>
                  <a:pt x="16052" y="11733"/>
                </a:lnTo>
                <a:lnTo>
                  <a:pt x="16089" y="11696"/>
                </a:lnTo>
                <a:lnTo>
                  <a:pt x="16136" y="11649"/>
                </a:lnTo>
                <a:lnTo>
                  <a:pt x="16190" y="11595"/>
                </a:lnTo>
                <a:lnTo>
                  <a:pt x="16248" y="11535"/>
                </a:lnTo>
                <a:lnTo>
                  <a:pt x="16311" y="11470"/>
                </a:lnTo>
                <a:lnTo>
                  <a:pt x="16377" y="11403"/>
                </a:lnTo>
                <a:lnTo>
                  <a:pt x="16443" y="11335"/>
                </a:lnTo>
                <a:lnTo>
                  <a:pt x="16508" y="11268"/>
                </a:lnTo>
                <a:lnTo>
                  <a:pt x="16571" y="11202"/>
                </a:lnTo>
                <a:lnTo>
                  <a:pt x="16629" y="11140"/>
                </a:lnTo>
                <a:lnTo>
                  <a:pt x="16681" y="11084"/>
                </a:lnTo>
                <a:lnTo>
                  <a:pt x="16726" y="11036"/>
                </a:lnTo>
                <a:lnTo>
                  <a:pt x="16761" y="10997"/>
                </a:lnTo>
                <a:lnTo>
                  <a:pt x="16786" y="10969"/>
                </a:lnTo>
                <a:lnTo>
                  <a:pt x="16797" y="10953"/>
                </a:lnTo>
                <a:lnTo>
                  <a:pt x="16818" y="10935"/>
                </a:lnTo>
                <a:lnTo>
                  <a:pt x="16837" y="10915"/>
                </a:lnTo>
                <a:lnTo>
                  <a:pt x="16856" y="10896"/>
                </a:lnTo>
                <a:lnTo>
                  <a:pt x="16874" y="10875"/>
                </a:lnTo>
                <a:lnTo>
                  <a:pt x="16908" y="10833"/>
                </a:lnTo>
                <a:lnTo>
                  <a:pt x="16943" y="10789"/>
                </a:lnTo>
                <a:lnTo>
                  <a:pt x="17006" y="10707"/>
                </a:lnTo>
                <a:lnTo>
                  <a:pt x="17067" y="10626"/>
                </a:lnTo>
                <a:lnTo>
                  <a:pt x="17128" y="10543"/>
                </a:lnTo>
                <a:lnTo>
                  <a:pt x="17185" y="10462"/>
                </a:lnTo>
                <a:lnTo>
                  <a:pt x="17214" y="10421"/>
                </a:lnTo>
                <a:lnTo>
                  <a:pt x="17241" y="10379"/>
                </a:lnTo>
                <a:lnTo>
                  <a:pt x="17269" y="10337"/>
                </a:lnTo>
                <a:lnTo>
                  <a:pt x="17295" y="10296"/>
                </a:lnTo>
                <a:lnTo>
                  <a:pt x="17321" y="10254"/>
                </a:lnTo>
                <a:lnTo>
                  <a:pt x="17347" y="10211"/>
                </a:lnTo>
                <a:lnTo>
                  <a:pt x="17372" y="10169"/>
                </a:lnTo>
                <a:lnTo>
                  <a:pt x="17396" y="10125"/>
                </a:lnTo>
                <a:lnTo>
                  <a:pt x="17419" y="10081"/>
                </a:lnTo>
                <a:lnTo>
                  <a:pt x="17442" y="10037"/>
                </a:lnTo>
                <a:lnTo>
                  <a:pt x="17463" y="9992"/>
                </a:lnTo>
                <a:lnTo>
                  <a:pt x="17485" y="9946"/>
                </a:lnTo>
                <a:lnTo>
                  <a:pt x="17505" y="9900"/>
                </a:lnTo>
                <a:lnTo>
                  <a:pt x="17524" y="9853"/>
                </a:lnTo>
                <a:lnTo>
                  <a:pt x="17543" y="9805"/>
                </a:lnTo>
                <a:lnTo>
                  <a:pt x="17561" y="9757"/>
                </a:lnTo>
                <a:lnTo>
                  <a:pt x="17578" y="9708"/>
                </a:lnTo>
                <a:lnTo>
                  <a:pt x="17594" y="9657"/>
                </a:lnTo>
                <a:lnTo>
                  <a:pt x="17609" y="9606"/>
                </a:lnTo>
                <a:lnTo>
                  <a:pt x="17622" y="9553"/>
                </a:lnTo>
                <a:lnTo>
                  <a:pt x="17636" y="9501"/>
                </a:lnTo>
                <a:lnTo>
                  <a:pt x="17648" y="9446"/>
                </a:lnTo>
                <a:lnTo>
                  <a:pt x="17659" y="9391"/>
                </a:lnTo>
                <a:lnTo>
                  <a:pt x="17669" y="9334"/>
                </a:lnTo>
                <a:lnTo>
                  <a:pt x="17673" y="9309"/>
                </a:lnTo>
                <a:lnTo>
                  <a:pt x="17675" y="9283"/>
                </a:lnTo>
                <a:lnTo>
                  <a:pt x="17675" y="9255"/>
                </a:lnTo>
                <a:lnTo>
                  <a:pt x="17674" y="9226"/>
                </a:lnTo>
                <a:lnTo>
                  <a:pt x="17672" y="9196"/>
                </a:lnTo>
                <a:lnTo>
                  <a:pt x="17669" y="9165"/>
                </a:lnTo>
                <a:lnTo>
                  <a:pt x="17665" y="9133"/>
                </a:lnTo>
                <a:lnTo>
                  <a:pt x="17659" y="9101"/>
                </a:lnTo>
                <a:lnTo>
                  <a:pt x="17653" y="9068"/>
                </a:lnTo>
                <a:lnTo>
                  <a:pt x="17645" y="9034"/>
                </a:lnTo>
                <a:lnTo>
                  <a:pt x="17637" y="8999"/>
                </a:lnTo>
                <a:lnTo>
                  <a:pt x="17629" y="8965"/>
                </a:lnTo>
                <a:lnTo>
                  <a:pt x="17609" y="8895"/>
                </a:lnTo>
                <a:lnTo>
                  <a:pt x="17587" y="8825"/>
                </a:lnTo>
                <a:lnTo>
                  <a:pt x="17563" y="8757"/>
                </a:lnTo>
                <a:lnTo>
                  <a:pt x="17539" y="8689"/>
                </a:lnTo>
                <a:lnTo>
                  <a:pt x="17513" y="8624"/>
                </a:lnTo>
                <a:lnTo>
                  <a:pt x="17487" y="8563"/>
                </a:lnTo>
                <a:lnTo>
                  <a:pt x="17462" y="8506"/>
                </a:lnTo>
                <a:lnTo>
                  <a:pt x="17437" y="8455"/>
                </a:lnTo>
                <a:lnTo>
                  <a:pt x="17415" y="8408"/>
                </a:lnTo>
                <a:lnTo>
                  <a:pt x="17394" y="8369"/>
                </a:lnTo>
                <a:lnTo>
                  <a:pt x="17360" y="8310"/>
                </a:lnTo>
                <a:lnTo>
                  <a:pt x="17328" y="8254"/>
                </a:lnTo>
                <a:lnTo>
                  <a:pt x="17297" y="8203"/>
                </a:lnTo>
                <a:lnTo>
                  <a:pt x="17268" y="8155"/>
                </a:lnTo>
                <a:lnTo>
                  <a:pt x="17239" y="8109"/>
                </a:lnTo>
                <a:lnTo>
                  <a:pt x="17210" y="8066"/>
                </a:lnTo>
                <a:lnTo>
                  <a:pt x="17182" y="8023"/>
                </a:lnTo>
                <a:lnTo>
                  <a:pt x="17153" y="7981"/>
                </a:lnTo>
                <a:lnTo>
                  <a:pt x="17123" y="7941"/>
                </a:lnTo>
                <a:lnTo>
                  <a:pt x="17093" y="7900"/>
                </a:lnTo>
                <a:lnTo>
                  <a:pt x="17062" y="7858"/>
                </a:lnTo>
                <a:lnTo>
                  <a:pt x="17029" y="7816"/>
                </a:lnTo>
                <a:lnTo>
                  <a:pt x="16958" y="7727"/>
                </a:lnTo>
                <a:lnTo>
                  <a:pt x="16877" y="7627"/>
                </a:lnTo>
                <a:lnTo>
                  <a:pt x="16843" y="7585"/>
                </a:lnTo>
                <a:lnTo>
                  <a:pt x="16805" y="7540"/>
                </a:lnTo>
                <a:lnTo>
                  <a:pt x="16766" y="7493"/>
                </a:lnTo>
                <a:lnTo>
                  <a:pt x="16725" y="7446"/>
                </a:lnTo>
                <a:lnTo>
                  <a:pt x="16641" y="7350"/>
                </a:lnTo>
                <a:lnTo>
                  <a:pt x="16551" y="7253"/>
                </a:lnTo>
                <a:lnTo>
                  <a:pt x="16462" y="7157"/>
                </a:lnTo>
                <a:lnTo>
                  <a:pt x="16373" y="7065"/>
                </a:lnTo>
                <a:lnTo>
                  <a:pt x="16287" y="6978"/>
                </a:lnTo>
                <a:lnTo>
                  <a:pt x="16207" y="6899"/>
                </a:lnTo>
                <a:lnTo>
                  <a:pt x="16179" y="6872"/>
                </a:lnTo>
                <a:lnTo>
                  <a:pt x="16153" y="6842"/>
                </a:lnTo>
                <a:lnTo>
                  <a:pt x="16127" y="6811"/>
                </a:lnTo>
                <a:lnTo>
                  <a:pt x="16099" y="6779"/>
                </a:lnTo>
                <a:lnTo>
                  <a:pt x="16071" y="6747"/>
                </a:lnTo>
                <a:lnTo>
                  <a:pt x="16042" y="6715"/>
                </a:lnTo>
                <a:lnTo>
                  <a:pt x="16011" y="6683"/>
                </a:lnTo>
                <a:lnTo>
                  <a:pt x="15979" y="6652"/>
                </a:lnTo>
                <a:lnTo>
                  <a:pt x="14313" y="5186"/>
                </a:lnTo>
                <a:lnTo>
                  <a:pt x="14230" y="5121"/>
                </a:lnTo>
                <a:lnTo>
                  <a:pt x="14144" y="5052"/>
                </a:lnTo>
                <a:lnTo>
                  <a:pt x="14058" y="4981"/>
                </a:lnTo>
                <a:lnTo>
                  <a:pt x="13972" y="4911"/>
                </a:lnTo>
                <a:lnTo>
                  <a:pt x="13885" y="4840"/>
                </a:lnTo>
                <a:lnTo>
                  <a:pt x="13797" y="4769"/>
                </a:lnTo>
                <a:lnTo>
                  <a:pt x="13709" y="4700"/>
                </a:lnTo>
                <a:lnTo>
                  <a:pt x="13622" y="4634"/>
                </a:lnTo>
                <a:lnTo>
                  <a:pt x="13528" y="4565"/>
                </a:lnTo>
                <a:lnTo>
                  <a:pt x="13437" y="4496"/>
                </a:lnTo>
                <a:lnTo>
                  <a:pt x="13348" y="4430"/>
                </a:lnTo>
                <a:lnTo>
                  <a:pt x="13259" y="4364"/>
                </a:lnTo>
                <a:lnTo>
                  <a:pt x="13172" y="4299"/>
                </a:lnTo>
                <a:lnTo>
                  <a:pt x="13085" y="4234"/>
                </a:lnTo>
                <a:lnTo>
                  <a:pt x="12999" y="4170"/>
                </a:lnTo>
                <a:lnTo>
                  <a:pt x="12913" y="4107"/>
                </a:lnTo>
                <a:lnTo>
                  <a:pt x="12826" y="4043"/>
                </a:lnTo>
                <a:lnTo>
                  <a:pt x="12738" y="3980"/>
                </a:lnTo>
                <a:lnTo>
                  <a:pt x="12650" y="3916"/>
                </a:lnTo>
                <a:lnTo>
                  <a:pt x="12559" y="3852"/>
                </a:lnTo>
                <a:lnTo>
                  <a:pt x="12468" y="3787"/>
                </a:lnTo>
                <a:lnTo>
                  <a:pt x="12373" y="3722"/>
                </a:lnTo>
                <a:lnTo>
                  <a:pt x="12276" y="3655"/>
                </a:lnTo>
                <a:lnTo>
                  <a:pt x="12177" y="3589"/>
                </a:lnTo>
                <a:lnTo>
                  <a:pt x="12083" y="3525"/>
                </a:lnTo>
                <a:lnTo>
                  <a:pt x="11988" y="3463"/>
                </a:lnTo>
                <a:lnTo>
                  <a:pt x="11893" y="3402"/>
                </a:lnTo>
                <a:lnTo>
                  <a:pt x="11798" y="3340"/>
                </a:lnTo>
                <a:lnTo>
                  <a:pt x="11702" y="3280"/>
                </a:lnTo>
                <a:lnTo>
                  <a:pt x="11606" y="3219"/>
                </a:lnTo>
                <a:lnTo>
                  <a:pt x="11509" y="3158"/>
                </a:lnTo>
                <a:lnTo>
                  <a:pt x="11411" y="3097"/>
                </a:lnTo>
                <a:lnTo>
                  <a:pt x="11318" y="3037"/>
                </a:lnTo>
                <a:lnTo>
                  <a:pt x="11222" y="2979"/>
                </a:lnTo>
                <a:lnTo>
                  <a:pt x="11125" y="2920"/>
                </a:lnTo>
                <a:lnTo>
                  <a:pt x="11028" y="2863"/>
                </a:lnTo>
                <a:lnTo>
                  <a:pt x="10930" y="2806"/>
                </a:lnTo>
                <a:lnTo>
                  <a:pt x="10831" y="2749"/>
                </a:lnTo>
                <a:lnTo>
                  <a:pt x="10732" y="2692"/>
                </a:lnTo>
                <a:lnTo>
                  <a:pt x="10631" y="2635"/>
                </a:lnTo>
                <a:lnTo>
                  <a:pt x="10529" y="2579"/>
                </a:lnTo>
                <a:lnTo>
                  <a:pt x="10427" y="2523"/>
                </a:lnTo>
                <a:lnTo>
                  <a:pt x="10326" y="2468"/>
                </a:lnTo>
                <a:lnTo>
                  <a:pt x="10223" y="2413"/>
                </a:lnTo>
                <a:lnTo>
                  <a:pt x="10120" y="2359"/>
                </a:lnTo>
                <a:lnTo>
                  <a:pt x="10015" y="2305"/>
                </a:lnTo>
                <a:lnTo>
                  <a:pt x="9911" y="2251"/>
                </a:lnTo>
                <a:lnTo>
                  <a:pt x="9807" y="2198"/>
                </a:lnTo>
                <a:lnTo>
                  <a:pt x="9735" y="2162"/>
                </a:lnTo>
                <a:lnTo>
                  <a:pt x="9660" y="2124"/>
                </a:lnTo>
                <a:lnTo>
                  <a:pt x="9583" y="2086"/>
                </a:lnTo>
                <a:lnTo>
                  <a:pt x="9504" y="2047"/>
                </a:lnTo>
                <a:lnTo>
                  <a:pt x="9423" y="2010"/>
                </a:lnTo>
                <a:lnTo>
                  <a:pt x="9340" y="1971"/>
                </a:lnTo>
                <a:lnTo>
                  <a:pt x="9258" y="1932"/>
                </a:lnTo>
                <a:lnTo>
                  <a:pt x="9174" y="1893"/>
                </a:lnTo>
                <a:lnTo>
                  <a:pt x="9091" y="1855"/>
                </a:lnTo>
                <a:lnTo>
                  <a:pt x="9006" y="1816"/>
                </a:lnTo>
                <a:lnTo>
                  <a:pt x="8923" y="1780"/>
                </a:lnTo>
                <a:lnTo>
                  <a:pt x="8840" y="1743"/>
                </a:lnTo>
                <a:lnTo>
                  <a:pt x="8759" y="1707"/>
                </a:lnTo>
                <a:lnTo>
                  <a:pt x="8679" y="1673"/>
                </a:lnTo>
                <a:lnTo>
                  <a:pt x="8600" y="1640"/>
                </a:lnTo>
                <a:lnTo>
                  <a:pt x="8523" y="1608"/>
                </a:lnTo>
                <a:lnTo>
                  <a:pt x="8472" y="1587"/>
                </a:lnTo>
                <a:lnTo>
                  <a:pt x="8417" y="1562"/>
                </a:lnTo>
                <a:lnTo>
                  <a:pt x="8360" y="1537"/>
                </a:lnTo>
                <a:lnTo>
                  <a:pt x="8300" y="1511"/>
                </a:lnTo>
                <a:lnTo>
                  <a:pt x="8242" y="1485"/>
                </a:lnTo>
                <a:lnTo>
                  <a:pt x="8184" y="1461"/>
                </a:lnTo>
                <a:lnTo>
                  <a:pt x="8156" y="1451"/>
                </a:lnTo>
                <a:lnTo>
                  <a:pt x="8129" y="1442"/>
                </a:lnTo>
                <a:lnTo>
                  <a:pt x="8102" y="1433"/>
                </a:lnTo>
                <a:lnTo>
                  <a:pt x="8078" y="1426"/>
                </a:lnTo>
                <a:close/>
              </a:path>
            </a:pathLst>
          </a:custGeom>
          <a:solidFill>
            <a:schemeClr val="accent2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566457" y="1512278"/>
            <a:ext cx="5400000" cy="504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251999" tIns="324000" rIns="180000" bIns="216000" rtlCol="0" anchor="b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812642" y="1610390"/>
            <a:ext cx="4919084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重视小结和总结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物料供应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010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10：财务分析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838325" y="-1107290"/>
            <a:ext cx="9350376" cy="9350372"/>
          </a:xfrm>
          <a:prstGeom prst="arc">
            <a:avLst>
              <a:gd name="adj1" fmla="val 18716968"/>
              <a:gd name="adj2" fmla="val 284618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1829582"/>
            <a:ext cx="6486182" cy="3490914"/>
          </a:xfrm>
          <a:custGeom>
            <a:avLst/>
            <a:gdLst>
              <a:gd name="connsiteX0" fmla="*/ 0 w 6486182"/>
              <a:gd name="connsiteY0" fmla="*/ 0 h 3490914"/>
              <a:gd name="connsiteX1" fmla="*/ 4740726 w 6486182"/>
              <a:gd name="connsiteY1" fmla="*/ 0 h 3490914"/>
              <a:gd name="connsiteX2" fmla="*/ 6486182 w 6486182"/>
              <a:gd name="connsiteY2" fmla="*/ 1745457 h 3490914"/>
              <a:gd name="connsiteX3" fmla="*/ 6486181 w 6486182"/>
              <a:gd name="connsiteY3" fmla="*/ 1745457 h 3490914"/>
              <a:gd name="connsiteX4" fmla="*/ 4740724 w 6486182"/>
              <a:gd name="connsiteY4" fmla="*/ 3490914 h 3490914"/>
              <a:gd name="connsiteX5" fmla="*/ 0 w 6486182"/>
              <a:gd name="connsiteY5" fmla="*/ 3490913 h 3490914"/>
            </a:gdLst>
            <a:ahLst/>
            <a:cxnLst/>
            <a:rect l="l" t="t" r="r" b="b"/>
            <a:pathLst>
              <a:path w="6486182" h="3490914">
                <a:moveTo>
                  <a:pt x="0" y="0"/>
                </a:moveTo>
                <a:lnTo>
                  <a:pt x="4740726" y="0"/>
                </a:lnTo>
                <a:cubicBezTo>
                  <a:pt x="5704714" y="0"/>
                  <a:pt x="6486182" y="781468"/>
                  <a:pt x="6486182" y="1745457"/>
                </a:cubicBezTo>
                <a:lnTo>
                  <a:pt x="6486181" y="1745457"/>
                </a:lnTo>
                <a:cubicBezTo>
                  <a:pt x="6486181" y="2709446"/>
                  <a:pt x="5704713" y="3490914"/>
                  <a:pt x="4740724" y="3490914"/>
                </a:cubicBezTo>
                <a:lnTo>
                  <a:pt x="0" y="349091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862976" y="1555308"/>
            <a:ext cx="744810" cy="851280"/>
            <a:chOff x="6862976" y="1555308"/>
            <a:chExt cx="744810" cy="851280"/>
          </a:xfrm>
        </p:grpSpPr>
        <p:sp>
          <p:nvSpPr>
            <p:cNvPr id="8" name="标题 1"/>
            <p:cNvSpPr txBox="1"/>
            <p:nvPr/>
          </p:nvSpPr>
          <p:spPr>
            <a:xfrm>
              <a:off x="6862976" y="1555308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lumMod val="98000"/>
                    <a:lumOff val="2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blurRad="330200" dist="203200" dir="5400000" sx="90000" sy="90000" algn="t" rotWithShape="0">
                <a:schemeClr val="accent1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>
              <a:off x="6912116" y="1611472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0" name="标题 1"/>
            <p:cNvSpPr txBox="1"/>
            <p:nvPr/>
          </p:nvSpPr>
          <p:spPr>
            <a:xfrm>
              <a:off x="7100850" y="1837005"/>
              <a:ext cx="269061" cy="269101"/>
            </a:xfrm>
            <a:custGeom>
              <a:avLst/>
              <a:gdLst>
                <a:gd name="connsiteX0" fmla="*/ 579031 w 719895"/>
                <a:gd name="connsiteY0" fmla="*/ 554022 h 720000"/>
                <a:gd name="connsiteX1" fmla="*/ 596778 w 719895"/>
                <a:gd name="connsiteY1" fmla="*/ 561368 h 720000"/>
                <a:gd name="connsiteX2" fmla="*/ 712550 w 719895"/>
                <a:gd name="connsiteY2" fmla="*/ 677140 h 720000"/>
                <a:gd name="connsiteX3" fmla="*/ 712550 w 719895"/>
                <a:gd name="connsiteY3" fmla="*/ 712634 h 720000"/>
                <a:gd name="connsiteX4" fmla="*/ 694887 w 719895"/>
                <a:gd name="connsiteY4" fmla="*/ 720000 h 720000"/>
                <a:gd name="connsiteX5" fmla="*/ 677140 w 719895"/>
                <a:gd name="connsiteY5" fmla="*/ 712634 h 720000"/>
                <a:gd name="connsiteX6" fmla="*/ 561284 w 719895"/>
                <a:gd name="connsiteY6" fmla="*/ 596861 h 720000"/>
                <a:gd name="connsiteX7" fmla="*/ 561284 w 719895"/>
                <a:gd name="connsiteY7" fmla="*/ 561368 h 720000"/>
                <a:gd name="connsiteX8" fmla="*/ 579031 w 719895"/>
                <a:gd name="connsiteY8" fmla="*/ 554022 h 720000"/>
                <a:gd name="connsiteX9" fmla="*/ 301109 w 719895"/>
                <a:gd name="connsiteY9" fmla="*/ 0 h 720000"/>
                <a:gd name="connsiteX10" fmla="*/ 602219 w 719895"/>
                <a:gd name="connsiteY10" fmla="*/ 301109 h 720000"/>
                <a:gd name="connsiteX11" fmla="*/ 301109 w 719895"/>
                <a:gd name="connsiteY11" fmla="*/ 602219 h 720000"/>
                <a:gd name="connsiteX12" fmla="*/ 0 w 719895"/>
                <a:gd name="connsiteY12" fmla="*/ 301109 h 720000"/>
                <a:gd name="connsiteX13" fmla="*/ 301109 w 719895"/>
                <a:gd name="connsiteY13" fmla="*/ 0 h 720000"/>
              </a:gdLst>
              <a:ahLst/>
              <a:cxnLst/>
              <a:rect l="l" t="t" r="r" b="b"/>
              <a:pathLst>
                <a:path w="719895" h="720000">
                  <a:moveTo>
                    <a:pt x="579031" y="554022"/>
                  </a:moveTo>
                  <a:cubicBezTo>
                    <a:pt x="585456" y="554022"/>
                    <a:pt x="591880" y="556471"/>
                    <a:pt x="596778" y="561368"/>
                  </a:cubicBezTo>
                  <a:lnTo>
                    <a:pt x="712550" y="677140"/>
                  </a:lnTo>
                  <a:cubicBezTo>
                    <a:pt x="722344" y="686935"/>
                    <a:pt x="722344" y="702840"/>
                    <a:pt x="712550" y="712634"/>
                  </a:cubicBezTo>
                  <a:cubicBezTo>
                    <a:pt x="707778" y="717573"/>
                    <a:pt x="701333" y="720000"/>
                    <a:pt x="694887" y="720000"/>
                  </a:cubicBezTo>
                  <a:cubicBezTo>
                    <a:pt x="688441" y="720000"/>
                    <a:pt x="681995" y="717573"/>
                    <a:pt x="677140" y="712634"/>
                  </a:cubicBezTo>
                  <a:lnTo>
                    <a:pt x="561284" y="596861"/>
                  </a:lnTo>
                  <a:cubicBezTo>
                    <a:pt x="551490" y="587067"/>
                    <a:pt x="551490" y="571162"/>
                    <a:pt x="561284" y="561368"/>
                  </a:cubicBezTo>
                  <a:cubicBezTo>
                    <a:pt x="566181" y="556471"/>
                    <a:pt x="572606" y="554022"/>
                    <a:pt x="579031" y="554022"/>
                  </a:cubicBezTo>
                  <a:close/>
                  <a:moveTo>
                    <a:pt x="301109" y="0"/>
                  </a:moveTo>
                  <a:cubicBezTo>
                    <a:pt x="467443" y="0"/>
                    <a:pt x="602219" y="134859"/>
                    <a:pt x="602219" y="301109"/>
                  </a:cubicBezTo>
                  <a:cubicBezTo>
                    <a:pt x="602219" y="467443"/>
                    <a:pt x="467443" y="602219"/>
                    <a:pt x="301109" y="602219"/>
                  </a:cubicBezTo>
                  <a:cubicBezTo>
                    <a:pt x="134775" y="602219"/>
                    <a:pt x="0" y="467443"/>
                    <a:pt x="0" y="301109"/>
                  </a:cubicBezTo>
                  <a:cubicBezTo>
                    <a:pt x="0" y="134775"/>
                    <a:pt x="134775" y="0"/>
                    <a:pt x="3011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1" name="标题 1"/>
          <p:cNvSpPr txBox="1"/>
          <p:nvPr/>
        </p:nvSpPr>
        <p:spPr>
          <a:xfrm>
            <a:off x="7746416" y="1563628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入住率假设：假设开业初期入住率为 50%，通过市场推广和优质服务，逐步提升入住率至 80%以上。</a:t>
            </a:r>
            <a:endParaRPr kumimoji="1"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7239462" y="3155046"/>
            <a:ext cx="744810" cy="851280"/>
            <a:chOff x="7239462" y="3155046"/>
            <a:chExt cx="744810" cy="851280"/>
          </a:xfrm>
        </p:grpSpPr>
        <p:sp>
          <p:nvSpPr>
            <p:cNvPr id="13" name="标题 1"/>
            <p:cNvSpPr txBox="1"/>
            <p:nvPr/>
          </p:nvSpPr>
          <p:spPr>
            <a:xfrm>
              <a:off x="7239462" y="3155046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blurRad="330200" dist="203200" dir="5400000" sx="90000" sy="90000" algn="t" rotWithShape="0">
                <a:schemeClr val="accent2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>
              <a:off x="7288601" y="3211214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7477315" y="3446825"/>
              <a:ext cx="269101" cy="248936"/>
            </a:xfrm>
            <a:custGeom>
              <a:avLst/>
              <a:gdLst>
                <a:gd name="connsiteX0" fmla="*/ 2136435 w 5834559"/>
                <a:gd name="connsiteY0" fmla="*/ 643126 h 5397372"/>
                <a:gd name="connsiteX1" fmla="*/ 3716657 w 5834559"/>
                <a:gd name="connsiteY1" fmla="*/ 643126 h 5397372"/>
                <a:gd name="connsiteX2" fmla="*/ 3716657 w 5834559"/>
                <a:gd name="connsiteY2" fmla="*/ 1064855 h 5397372"/>
                <a:gd name="connsiteX3" fmla="*/ 2136435 w 5834559"/>
                <a:gd name="connsiteY3" fmla="*/ 1064855 h 5397372"/>
                <a:gd name="connsiteX4" fmla="*/ 693741 w 5834559"/>
                <a:gd name="connsiteY4" fmla="*/ 643126 h 5397372"/>
                <a:gd name="connsiteX5" fmla="*/ 1550121 w 5834559"/>
                <a:gd name="connsiteY5" fmla="*/ 643126 h 5397372"/>
                <a:gd name="connsiteX6" fmla="*/ 1550121 w 5834559"/>
                <a:gd name="connsiteY6" fmla="*/ 1064855 h 5397372"/>
                <a:gd name="connsiteX7" fmla="*/ 693741 w 5834559"/>
                <a:gd name="connsiteY7" fmla="*/ 1064855 h 5397372"/>
                <a:gd name="connsiteX8" fmla="*/ 421729 w 5834559"/>
                <a:gd name="connsiteY8" fmla="*/ 1336867 h 5397372"/>
                <a:gd name="connsiteX9" fmla="*/ 421729 w 5834559"/>
                <a:gd name="connsiteY9" fmla="*/ 2079805 h 5397372"/>
                <a:gd name="connsiteX10" fmla="*/ 5412133 w 5834559"/>
                <a:gd name="connsiteY10" fmla="*/ 2079805 h 5397372"/>
                <a:gd name="connsiteX11" fmla="*/ 5412133 w 5834559"/>
                <a:gd name="connsiteY11" fmla="*/ 1336867 h 5397372"/>
                <a:gd name="connsiteX12" fmla="*/ 5140113 w 5834559"/>
                <a:gd name="connsiteY12" fmla="*/ 1064855 h 5397372"/>
                <a:gd name="connsiteX13" fmla="*/ 4302971 w 5834559"/>
                <a:gd name="connsiteY13" fmla="*/ 1064855 h 5397372"/>
                <a:gd name="connsiteX14" fmla="*/ 4302971 w 5834559"/>
                <a:gd name="connsiteY14" fmla="*/ 643126 h 5397372"/>
                <a:gd name="connsiteX15" fmla="*/ 5140113 w 5834559"/>
                <a:gd name="connsiteY15" fmla="*/ 643126 h 5397372"/>
                <a:gd name="connsiteX16" fmla="*/ 5834559 w 5834559"/>
                <a:gd name="connsiteY16" fmla="*/ 1336867 h 5397372"/>
                <a:gd name="connsiteX17" fmla="*/ 5834559 w 5834559"/>
                <a:gd name="connsiteY17" fmla="*/ 4703631 h 5397372"/>
                <a:gd name="connsiteX18" fmla="*/ 5140818 w 5834559"/>
                <a:gd name="connsiteY18" fmla="*/ 5397372 h 5397372"/>
                <a:gd name="connsiteX19" fmla="*/ 693741 w 5834559"/>
                <a:gd name="connsiteY19" fmla="*/ 5397372 h 5397372"/>
                <a:gd name="connsiteX20" fmla="*/ 0 w 5834559"/>
                <a:gd name="connsiteY20" fmla="*/ 4703631 h 5397372"/>
                <a:gd name="connsiteX21" fmla="*/ 0 w 5834559"/>
                <a:gd name="connsiteY21" fmla="*/ 2501529 h 5397372"/>
                <a:gd name="connsiteX22" fmla="*/ 0 w 5834559"/>
                <a:gd name="connsiteY22" fmla="*/ 2079805 h 5397372"/>
                <a:gd name="connsiteX23" fmla="*/ 0 w 5834559"/>
                <a:gd name="connsiteY23" fmla="*/ 1336867 h 5397372"/>
                <a:gd name="connsiteX24" fmla="*/ 693741 w 5834559"/>
                <a:gd name="connsiteY24" fmla="*/ 643126 h 5397372"/>
                <a:gd name="connsiteX25" fmla="*/ 3997242 w 5834559"/>
                <a:gd name="connsiteY25" fmla="*/ 0 h 5397372"/>
                <a:gd name="connsiteX26" fmla="*/ 4208106 w 5834559"/>
                <a:gd name="connsiteY26" fmla="*/ 210864 h 5397372"/>
                <a:gd name="connsiteX27" fmla="*/ 4208106 w 5834559"/>
                <a:gd name="connsiteY27" fmla="*/ 1506961 h 5397372"/>
                <a:gd name="connsiteX28" fmla="*/ 3997242 w 5834559"/>
                <a:gd name="connsiteY28" fmla="*/ 1718528 h 5397372"/>
                <a:gd name="connsiteX29" fmla="*/ 3786378 w 5834559"/>
                <a:gd name="connsiteY29" fmla="*/ 1507664 h 5397372"/>
                <a:gd name="connsiteX30" fmla="*/ 3786378 w 5834559"/>
                <a:gd name="connsiteY30" fmla="*/ 210864 h 5397372"/>
                <a:gd name="connsiteX31" fmla="*/ 3997242 w 5834559"/>
                <a:gd name="connsiteY31" fmla="*/ 0 h 5397372"/>
                <a:gd name="connsiteX32" fmla="*/ 1836609 w 5834559"/>
                <a:gd name="connsiteY32" fmla="*/ 0 h 5397372"/>
                <a:gd name="connsiteX33" fmla="*/ 2047469 w 5834559"/>
                <a:gd name="connsiteY33" fmla="*/ 210864 h 5397372"/>
                <a:gd name="connsiteX34" fmla="*/ 2047469 w 5834559"/>
                <a:gd name="connsiteY34" fmla="*/ 1506961 h 5397372"/>
                <a:gd name="connsiteX35" fmla="*/ 1836609 w 5834559"/>
                <a:gd name="connsiteY35" fmla="*/ 1718528 h 5397372"/>
                <a:gd name="connsiteX36" fmla="*/ 1625745 w 5834559"/>
                <a:gd name="connsiteY36" fmla="*/ 1507664 h 5397372"/>
                <a:gd name="connsiteX37" fmla="*/ 1625745 w 5834559"/>
                <a:gd name="connsiteY37" fmla="*/ 210864 h 5397372"/>
                <a:gd name="connsiteX38" fmla="*/ 1836609 w 5834559"/>
                <a:gd name="connsiteY38" fmla="*/ 0 h 5397372"/>
              </a:gdLst>
              <a:ahLst/>
              <a:cxnLst/>
              <a:rect l="l" t="t" r="r" b="b"/>
              <a:pathLst>
                <a:path w="5834559" h="5397372">
                  <a:moveTo>
                    <a:pt x="2136435" y="643126"/>
                  </a:moveTo>
                  <a:lnTo>
                    <a:pt x="3716657" y="643126"/>
                  </a:lnTo>
                  <a:lnTo>
                    <a:pt x="3716657" y="1064855"/>
                  </a:lnTo>
                  <a:lnTo>
                    <a:pt x="2136435" y="1064855"/>
                  </a:lnTo>
                  <a:close/>
                  <a:moveTo>
                    <a:pt x="693741" y="643126"/>
                  </a:moveTo>
                  <a:lnTo>
                    <a:pt x="1550121" y="643126"/>
                  </a:lnTo>
                  <a:lnTo>
                    <a:pt x="1550121" y="1064855"/>
                  </a:lnTo>
                  <a:lnTo>
                    <a:pt x="693741" y="1064855"/>
                  </a:lnTo>
                  <a:cubicBezTo>
                    <a:pt x="543320" y="1064855"/>
                    <a:pt x="421729" y="1187151"/>
                    <a:pt x="421729" y="1336867"/>
                  </a:cubicBezTo>
                  <a:lnTo>
                    <a:pt x="421729" y="2079805"/>
                  </a:lnTo>
                  <a:lnTo>
                    <a:pt x="5412133" y="2079805"/>
                  </a:lnTo>
                  <a:lnTo>
                    <a:pt x="5412133" y="1336867"/>
                  </a:lnTo>
                  <a:cubicBezTo>
                    <a:pt x="5412133" y="1186446"/>
                    <a:pt x="5289830" y="1064855"/>
                    <a:pt x="5140113" y="1064855"/>
                  </a:cubicBezTo>
                  <a:lnTo>
                    <a:pt x="4302971" y="1064855"/>
                  </a:lnTo>
                  <a:lnTo>
                    <a:pt x="4302971" y="643126"/>
                  </a:lnTo>
                  <a:lnTo>
                    <a:pt x="5140113" y="643126"/>
                  </a:lnTo>
                  <a:cubicBezTo>
                    <a:pt x="5523184" y="643126"/>
                    <a:pt x="5833854" y="953797"/>
                    <a:pt x="5834559" y="1336867"/>
                  </a:cubicBezTo>
                  <a:lnTo>
                    <a:pt x="5834559" y="4703631"/>
                  </a:lnTo>
                  <a:cubicBezTo>
                    <a:pt x="5834559" y="5085292"/>
                    <a:pt x="5522479" y="5397372"/>
                    <a:pt x="5140818" y="5397372"/>
                  </a:cubicBezTo>
                  <a:lnTo>
                    <a:pt x="693741" y="5397372"/>
                  </a:lnTo>
                  <a:cubicBezTo>
                    <a:pt x="312080" y="5397372"/>
                    <a:pt x="0" y="5085292"/>
                    <a:pt x="0" y="4703631"/>
                  </a:cubicBezTo>
                  <a:lnTo>
                    <a:pt x="0" y="2501529"/>
                  </a:lnTo>
                  <a:lnTo>
                    <a:pt x="0" y="2079805"/>
                  </a:lnTo>
                  <a:lnTo>
                    <a:pt x="0" y="1336867"/>
                  </a:lnTo>
                  <a:cubicBezTo>
                    <a:pt x="0" y="953797"/>
                    <a:pt x="310671" y="643126"/>
                    <a:pt x="693741" y="643126"/>
                  </a:cubicBezTo>
                  <a:close/>
                  <a:moveTo>
                    <a:pt x="3997242" y="0"/>
                  </a:moveTo>
                  <a:cubicBezTo>
                    <a:pt x="4113920" y="0"/>
                    <a:pt x="4208106" y="94186"/>
                    <a:pt x="4208106" y="210864"/>
                  </a:cubicBezTo>
                  <a:lnTo>
                    <a:pt x="4208106" y="1506961"/>
                  </a:lnTo>
                  <a:cubicBezTo>
                    <a:pt x="4208106" y="1623639"/>
                    <a:pt x="4113920" y="1718528"/>
                    <a:pt x="3997242" y="1718528"/>
                  </a:cubicBezTo>
                  <a:cubicBezTo>
                    <a:pt x="3880564" y="1718528"/>
                    <a:pt x="3786378" y="1624342"/>
                    <a:pt x="3786378" y="1507664"/>
                  </a:cubicBezTo>
                  <a:lnTo>
                    <a:pt x="3786378" y="210864"/>
                  </a:lnTo>
                  <a:cubicBezTo>
                    <a:pt x="3786378" y="94186"/>
                    <a:pt x="3880564" y="0"/>
                    <a:pt x="3997242" y="0"/>
                  </a:cubicBezTo>
                  <a:close/>
                  <a:moveTo>
                    <a:pt x="1836609" y="0"/>
                  </a:moveTo>
                  <a:cubicBezTo>
                    <a:pt x="1953287" y="0"/>
                    <a:pt x="2047469" y="94186"/>
                    <a:pt x="2047469" y="210864"/>
                  </a:cubicBezTo>
                  <a:lnTo>
                    <a:pt x="2047469" y="1506961"/>
                  </a:lnTo>
                  <a:cubicBezTo>
                    <a:pt x="2047469" y="1623639"/>
                    <a:pt x="1953287" y="1718528"/>
                    <a:pt x="1836609" y="1718528"/>
                  </a:cubicBezTo>
                  <a:cubicBezTo>
                    <a:pt x="1719932" y="1718528"/>
                    <a:pt x="1625745" y="1624342"/>
                    <a:pt x="1625745" y="1507664"/>
                  </a:cubicBezTo>
                  <a:lnTo>
                    <a:pt x="1625745" y="210864"/>
                  </a:lnTo>
                  <a:cubicBezTo>
                    <a:pt x="1625745" y="94186"/>
                    <a:pt x="1719932" y="0"/>
                    <a:pt x="18366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6" name="标题 1"/>
          <p:cNvSpPr txBox="1"/>
          <p:nvPr/>
        </p:nvSpPr>
        <p:spPr>
          <a:xfrm>
            <a:off x="8122902" y="3153285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服务价格变动：假设服务价格在开业初期保持稳定，随着市场变化和成本调整，适时进行价格调整。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-1311274" y="-580238"/>
            <a:ext cx="8296274" cy="8296270"/>
          </a:xfrm>
          <a:prstGeom prst="arc">
            <a:avLst>
              <a:gd name="adj1" fmla="val 19465670"/>
              <a:gd name="adj2" fmla="val 221115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3133861"/>
            <a:ext cx="5087257" cy="88235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爱设计是一家智能创意科技公司，
国内领先的内容创意全链路服务公司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746416" y="4742942"/>
            <a:ext cx="3340376" cy="822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成本控制：通过优化采购流程和成本管理，降低运营成本，提升盈利能力。</a:t>
            </a:r>
            <a:endParaRPr kumimoji="1"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862976" y="4734622"/>
            <a:ext cx="744810" cy="851280"/>
            <a:chOff x="6862976" y="4734622"/>
            <a:chExt cx="744810" cy="851280"/>
          </a:xfrm>
        </p:grpSpPr>
        <p:sp>
          <p:nvSpPr>
            <p:cNvPr id="21" name="标题 1"/>
            <p:cNvSpPr txBox="1"/>
            <p:nvPr/>
          </p:nvSpPr>
          <p:spPr>
            <a:xfrm>
              <a:off x="6862976" y="4734622"/>
              <a:ext cx="744810" cy="851280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lumMod val="98000"/>
                    <a:lumOff val="2000"/>
                  </a:schemeClr>
                </a:gs>
              </a:gsLst>
              <a:lin ang="5400000" scaled="0"/>
            </a:gradFill>
            <a:ln cap="sq">
              <a:noFill/>
            </a:ln>
            <a:effectLst>
              <a:outerShdw blurRad="330200" dist="203200" dir="5400000" sx="90000" sy="90000" algn="t" rotWithShape="0">
                <a:schemeClr val="accent1">
                  <a:lumMod val="50000"/>
                  <a:alpha val="65000"/>
                </a:schemeClr>
              </a:outerShdw>
            </a:effectLst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>
              <a:off x="6912116" y="4790786"/>
              <a:ext cx="646527" cy="738949"/>
            </a:xfrm>
            <a:custGeom>
              <a:avLst/>
              <a:gdLst>
                <a:gd name="T0" fmla="*/ 626 w 644"/>
                <a:gd name="T1" fmla="*/ 172 h 736"/>
                <a:gd name="T2" fmla="*/ 340 w 644"/>
                <a:gd name="T3" fmla="*/ 6 h 736"/>
                <a:gd name="T4" fmla="*/ 304 w 644"/>
                <a:gd name="T5" fmla="*/ 6 h 736"/>
                <a:gd name="T6" fmla="*/ 18 w 644"/>
                <a:gd name="T7" fmla="*/ 172 h 736"/>
                <a:gd name="T8" fmla="*/ 0 w 644"/>
                <a:gd name="T9" fmla="*/ 203 h 736"/>
                <a:gd name="T10" fmla="*/ 0 w 644"/>
                <a:gd name="T11" fmla="*/ 533 h 736"/>
                <a:gd name="T12" fmla="*/ 18 w 644"/>
                <a:gd name="T13" fmla="*/ 564 h 736"/>
                <a:gd name="T14" fmla="*/ 304 w 644"/>
                <a:gd name="T15" fmla="*/ 730 h 736"/>
                <a:gd name="T16" fmla="*/ 340 w 644"/>
                <a:gd name="T17" fmla="*/ 730 h 736"/>
                <a:gd name="T18" fmla="*/ 626 w 644"/>
                <a:gd name="T19" fmla="*/ 564 h 736"/>
                <a:gd name="T20" fmla="*/ 644 w 644"/>
                <a:gd name="T21" fmla="*/ 533 h 736"/>
                <a:gd name="T22" fmla="*/ 644 w 644"/>
                <a:gd name="T23" fmla="*/ 203 h 736"/>
                <a:gd name="T24" fmla="*/ 626 w 644"/>
                <a:gd name="T25" fmla="*/ 172 h 736"/>
              </a:gdLst>
              <a:ahLst/>
              <a:cxnLst/>
              <a:rect l="0" t="0" r="r" b="b"/>
              <a:pathLst>
                <a:path w="644" h="736">
                  <a:moveTo>
                    <a:pt x="626" y="172"/>
                  </a:moveTo>
                  <a:cubicBezTo>
                    <a:pt x="340" y="6"/>
                    <a:pt x="340" y="6"/>
                    <a:pt x="340" y="6"/>
                  </a:cubicBezTo>
                  <a:cubicBezTo>
                    <a:pt x="329" y="0"/>
                    <a:pt x="315" y="0"/>
                    <a:pt x="304" y="6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7" y="178"/>
                    <a:pt x="0" y="190"/>
                    <a:pt x="0" y="20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46"/>
                    <a:pt x="7" y="558"/>
                    <a:pt x="18" y="564"/>
                  </a:cubicBezTo>
                  <a:cubicBezTo>
                    <a:pt x="304" y="730"/>
                    <a:pt x="304" y="730"/>
                    <a:pt x="304" y="730"/>
                  </a:cubicBezTo>
                  <a:cubicBezTo>
                    <a:pt x="315" y="736"/>
                    <a:pt x="329" y="736"/>
                    <a:pt x="340" y="730"/>
                  </a:cubicBezTo>
                  <a:cubicBezTo>
                    <a:pt x="626" y="564"/>
                    <a:pt x="626" y="564"/>
                    <a:pt x="626" y="564"/>
                  </a:cubicBezTo>
                  <a:cubicBezTo>
                    <a:pt x="637" y="558"/>
                    <a:pt x="644" y="546"/>
                    <a:pt x="644" y="533"/>
                  </a:cubicBezTo>
                  <a:cubicBezTo>
                    <a:pt x="644" y="203"/>
                    <a:pt x="644" y="203"/>
                    <a:pt x="644" y="203"/>
                  </a:cubicBezTo>
                  <a:cubicBezTo>
                    <a:pt x="644" y="190"/>
                    <a:pt x="637" y="178"/>
                    <a:pt x="626" y="1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2700000" scaled="0"/>
            </a:gradFill>
            <a:ln cap="sq">
              <a:noFill/>
            </a:ln>
            <a:effectLst/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7091379" y="5004274"/>
              <a:ext cx="288000" cy="311972"/>
            </a:xfrm>
            <a:custGeom>
              <a:avLst/>
              <a:gdLst>
                <a:gd name="connsiteX0" fmla="*/ 332293 w 664672"/>
                <a:gd name="connsiteY0" fmla="*/ 387672 h 720001"/>
                <a:gd name="connsiteX1" fmla="*/ 660804 w 664672"/>
                <a:gd name="connsiteY1" fmla="*/ 598902 h 720001"/>
                <a:gd name="connsiteX2" fmla="*/ 563560 w 664672"/>
                <a:gd name="connsiteY2" fmla="*/ 720001 h 720001"/>
                <a:gd name="connsiteX3" fmla="*/ 101112 w 664672"/>
                <a:gd name="connsiteY3" fmla="*/ 720001 h 720001"/>
                <a:gd name="connsiteX4" fmla="*/ 3868 w 664672"/>
                <a:gd name="connsiteY4" fmla="*/ 598902 h 720001"/>
                <a:gd name="connsiteX5" fmla="*/ 332293 w 664672"/>
                <a:gd name="connsiteY5" fmla="*/ 387672 h 720001"/>
                <a:gd name="connsiteX6" fmla="*/ 332293 w 664672"/>
                <a:gd name="connsiteY6" fmla="*/ 0 h 720001"/>
                <a:gd name="connsiteX7" fmla="*/ 509517 w 664672"/>
                <a:gd name="connsiteY7" fmla="*/ 177224 h 720001"/>
                <a:gd name="connsiteX8" fmla="*/ 332293 w 664672"/>
                <a:gd name="connsiteY8" fmla="*/ 354448 h 720001"/>
                <a:gd name="connsiteX9" fmla="*/ 155069 w 664672"/>
                <a:gd name="connsiteY9" fmla="*/ 177224 h 720001"/>
                <a:gd name="connsiteX10" fmla="*/ 332293 w 664672"/>
                <a:gd name="connsiteY10" fmla="*/ 0 h 720001"/>
              </a:gdLst>
              <a:ahLst/>
              <a:cxnLst/>
              <a:rect l="l" t="t" r="r" b="b"/>
              <a:pathLst>
                <a:path w="664672" h="720001">
                  <a:moveTo>
                    <a:pt x="332293" y="387672"/>
                  </a:moveTo>
                  <a:cubicBezTo>
                    <a:pt x="550549" y="387672"/>
                    <a:pt x="628448" y="491162"/>
                    <a:pt x="660804" y="598902"/>
                  </a:cubicBezTo>
                  <a:cubicBezTo>
                    <a:pt x="679021" y="659624"/>
                    <a:pt x="630616" y="720001"/>
                    <a:pt x="563560" y="720001"/>
                  </a:cubicBezTo>
                  <a:lnTo>
                    <a:pt x="101112" y="720001"/>
                  </a:lnTo>
                  <a:cubicBezTo>
                    <a:pt x="34057" y="720001"/>
                    <a:pt x="-14348" y="659624"/>
                    <a:pt x="3868" y="598902"/>
                  </a:cubicBezTo>
                  <a:cubicBezTo>
                    <a:pt x="36138" y="491162"/>
                    <a:pt x="114037" y="387672"/>
                    <a:pt x="332293" y="387672"/>
                  </a:cubicBezTo>
                  <a:close/>
                  <a:moveTo>
                    <a:pt x="332293" y="0"/>
                  </a:moveTo>
                  <a:cubicBezTo>
                    <a:pt x="430230" y="0"/>
                    <a:pt x="509604" y="79287"/>
                    <a:pt x="509517" y="177224"/>
                  </a:cubicBezTo>
                  <a:cubicBezTo>
                    <a:pt x="509517" y="275074"/>
                    <a:pt x="430144" y="354448"/>
                    <a:pt x="332293" y="354448"/>
                  </a:cubicBezTo>
                  <a:cubicBezTo>
                    <a:pt x="234442" y="354448"/>
                    <a:pt x="155069" y="275074"/>
                    <a:pt x="155069" y="177224"/>
                  </a:cubicBezTo>
                  <a:cubicBezTo>
                    <a:pt x="155069" y="79287"/>
                    <a:pt x="234442" y="0"/>
                    <a:pt x="332293" y="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4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经营条件假设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445002" y="2835106"/>
            <a:ext cx="3301999" cy="2786676"/>
            <a:chOff x="4445002" y="2835106"/>
            <a:chExt cx="3301999" cy="2786676"/>
          </a:xfrm>
        </p:grpSpPr>
        <p:sp>
          <p:nvSpPr>
            <p:cNvPr id="6" name="标题 1"/>
            <p:cNvSpPr txBox="1"/>
            <p:nvPr/>
          </p:nvSpPr>
          <p:spPr>
            <a:xfrm>
              <a:off x="5482829" y="3592568"/>
              <a:ext cx="1295674" cy="1347290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/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accent1"/>
            </a:solidFill>
            <a:ln cap="sq">
              <a:noFill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7" name="标题 1"/>
            <p:cNvSpPr txBox="1"/>
            <p:nvPr/>
          </p:nvSpPr>
          <p:spPr>
            <a:xfrm>
              <a:off x="4445002" y="3901969"/>
              <a:ext cx="3068138" cy="1719813"/>
            </a:xfrm>
            <a:custGeom>
              <a:avLst/>
              <a:gdLst>
                <a:gd name="T0" fmla="*/ 289 w 526"/>
                <a:gd name="T1" fmla="*/ 240 h 295"/>
                <a:gd name="T2" fmla="*/ 109 w 526"/>
                <a:gd name="T3" fmla="*/ 85 h 295"/>
                <a:gd name="T4" fmla="*/ 108 w 526"/>
                <a:gd name="T5" fmla="*/ 80 h 295"/>
                <a:gd name="T6" fmla="*/ 154 w 526"/>
                <a:gd name="T7" fmla="*/ 85 h 295"/>
                <a:gd name="T8" fmla="*/ 116 w 526"/>
                <a:gd name="T9" fmla="*/ 39 h 295"/>
                <a:gd name="T10" fmla="*/ 116 w 526"/>
                <a:gd name="T11" fmla="*/ 39 h 295"/>
                <a:gd name="T12" fmla="*/ 85 w 526"/>
                <a:gd name="T13" fmla="*/ 0 h 295"/>
                <a:gd name="T14" fmla="*/ 0 w 526"/>
                <a:gd name="T15" fmla="*/ 68 h 295"/>
                <a:gd name="T16" fmla="*/ 52 w 526"/>
                <a:gd name="T17" fmla="*/ 74 h 295"/>
                <a:gd name="T18" fmla="*/ 53 w 526"/>
                <a:gd name="T19" fmla="*/ 77 h 295"/>
                <a:gd name="T20" fmla="*/ 289 w 526"/>
                <a:gd name="T21" fmla="*/ 295 h 295"/>
                <a:gd name="T22" fmla="*/ 526 w 526"/>
                <a:gd name="T23" fmla="*/ 65 h 295"/>
                <a:gd name="T24" fmla="*/ 502 w 526"/>
                <a:gd name="T25" fmla="*/ 96 h 295"/>
                <a:gd name="T26" fmla="*/ 498 w 526"/>
                <a:gd name="T27" fmla="*/ 98 h 295"/>
                <a:gd name="T28" fmla="*/ 498 w 526"/>
                <a:gd name="T29" fmla="*/ 98 h 295"/>
                <a:gd name="T30" fmla="*/ 496 w 526"/>
                <a:gd name="T31" fmla="*/ 97 h 295"/>
                <a:gd name="T32" fmla="*/ 496 w 526"/>
                <a:gd name="T33" fmla="*/ 97 h 295"/>
                <a:gd name="T34" fmla="*/ 494 w 526"/>
                <a:gd name="T35" fmla="*/ 97 h 295"/>
                <a:gd name="T36" fmla="*/ 470 w 526"/>
                <a:gd name="T37" fmla="*/ 77 h 295"/>
                <a:gd name="T38" fmla="*/ 289 w 526"/>
                <a:gd name="T39" fmla="*/ 240 h 295"/>
              </a:gdLst>
              <a:ahLst/>
              <a:cxnLst/>
              <a:rect l="0" t="0" r="r" b="b"/>
              <a:pathLst>
                <a:path w="526" h="295">
                  <a:moveTo>
                    <a:pt x="289" y="240"/>
                  </a:moveTo>
                  <a:cubicBezTo>
                    <a:pt x="200" y="240"/>
                    <a:pt x="122" y="174"/>
                    <a:pt x="109" y="85"/>
                  </a:cubicBezTo>
                  <a:cubicBezTo>
                    <a:pt x="108" y="80"/>
                    <a:pt x="108" y="80"/>
                    <a:pt x="108" y="80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53" y="77"/>
                    <a:pt x="53" y="77"/>
                    <a:pt x="53" y="77"/>
                  </a:cubicBezTo>
                  <a:cubicBezTo>
                    <a:pt x="63" y="200"/>
                    <a:pt x="166" y="295"/>
                    <a:pt x="289" y="295"/>
                  </a:cubicBezTo>
                  <a:cubicBezTo>
                    <a:pt x="417" y="295"/>
                    <a:pt x="522" y="193"/>
                    <a:pt x="526" y="65"/>
                  </a:cubicBezTo>
                  <a:cubicBezTo>
                    <a:pt x="502" y="96"/>
                    <a:pt x="502" y="96"/>
                    <a:pt x="502" y="96"/>
                  </a:cubicBezTo>
                  <a:cubicBezTo>
                    <a:pt x="501" y="97"/>
                    <a:pt x="499" y="98"/>
                    <a:pt x="498" y="98"/>
                  </a:cubicBezTo>
                  <a:cubicBezTo>
                    <a:pt x="498" y="98"/>
                    <a:pt x="498" y="98"/>
                    <a:pt x="498" y="98"/>
                  </a:cubicBezTo>
                  <a:cubicBezTo>
                    <a:pt x="497" y="98"/>
                    <a:pt x="497" y="98"/>
                    <a:pt x="496" y="97"/>
                  </a:cubicBezTo>
                  <a:cubicBezTo>
                    <a:pt x="496" y="97"/>
                    <a:pt x="496" y="97"/>
                    <a:pt x="496" y="97"/>
                  </a:cubicBezTo>
                  <a:cubicBezTo>
                    <a:pt x="495" y="97"/>
                    <a:pt x="495" y="97"/>
                    <a:pt x="494" y="97"/>
                  </a:cubicBezTo>
                  <a:cubicBezTo>
                    <a:pt x="470" y="77"/>
                    <a:pt x="470" y="77"/>
                    <a:pt x="470" y="77"/>
                  </a:cubicBezTo>
                  <a:cubicBezTo>
                    <a:pt x="460" y="169"/>
                    <a:pt x="382" y="240"/>
                    <a:pt x="289" y="240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12700" cap="sq">
              <a:noFill/>
              <a:miter/>
            </a:ln>
          </p:spPr>
          <p:txBody>
            <a:bodyPr vert="horz" wrap="square" lIns="180000" tIns="46800" rIns="180000" bIns="4680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8" name="标题 1"/>
            <p:cNvSpPr txBox="1"/>
            <p:nvPr/>
          </p:nvSpPr>
          <p:spPr>
            <a:xfrm>
              <a:off x="4771994" y="2835106"/>
              <a:ext cx="2975007" cy="1556317"/>
            </a:xfrm>
            <a:custGeom>
              <a:avLst/>
              <a:gdLst>
                <a:gd name="T0" fmla="*/ 233 w 510"/>
                <a:gd name="T1" fmla="*/ 55 h 267"/>
                <a:gd name="T2" fmla="*/ 408 w 510"/>
                <a:gd name="T3" fmla="*/ 188 h 267"/>
                <a:gd name="T4" fmla="*/ 410 w 510"/>
                <a:gd name="T5" fmla="*/ 193 h 267"/>
                <a:gd name="T6" fmla="*/ 356 w 510"/>
                <a:gd name="T7" fmla="*/ 199 h 267"/>
                <a:gd name="T8" fmla="*/ 407 w 510"/>
                <a:gd name="T9" fmla="*/ 240 h 267"/>
                <a:gd name="T10" fmla="*/ 407 w 510"/>
                <a:gd name="T11" fmla="*/ 240 h 267"/>
                <a:gd name="T12" fmla="*/ 441 w 510"/>
                <a:gd name="T13" fmla="*/ 267 h 267"/>
                <a:gd name="T14" fmla="*/ 510 w 510"/>
                <a:gd name="T15" fmla="*/ 182 h 267"/>
                <a:gd name="T16" fmla="*/ 465 w 510"/>
                <a:gd name="T17" fmla="*/ 187 h 267"/>
                <a:gd name="T18" fmla="*/ 464 w 510"/>
                <a:gd name="T19" fmla="*/ 183 h 267"/>
                <a:gd name="T20" fmla="*/ 233 w 510"/>
                <a:gd name="T21" fmla="*/ 0 h 267"/>
                <a:gd name="T22" fmla="*/ 0 w 510"/>
                <a:gd name="T23" fmla="*/ 191 h 267"/>
                <a:gd name="T24" fmla="*/ 26 w 510"/>
                <a:gd name="T25" fmla="*/ 170 h 267"/>
                <a:gd name="T26" fmla="*/ 30 w 510"/>
                <a:gd name="T27" fmla="*/ 169 h 267"/>
                <a:gd name="T28" fmla="*/ 34 w 510"/>
                <a:gd name="T29" fmla="*/ 171 h 267"/>
                <a:gd name="T30" fmla="*/ 55 w 510"/>
                <a:gd name="T31" fmla="*/ 198 h 267"/>
                <a:gd name="T32" fmla="*/ 233 w 510"/>
                <a:gd name="T33" fmla="*/ 55 h 267"/>
              </a:gdLst>
              <a:ahLst/>
              <a:cxnLst/>
              <a:rect l="0" t="0" r="r" b="b"/>
              <a:pathLst>
                <a:path w="510" h="267">
                  <a:moveTo>
                    <a:pt x="233" y="55"/>
                  </a:moveTo>
                  <a:cubicBezTo>
                    <a:pt x="314" y="55"/>
                    <a:pt x="387" y="110"/>
                    <a:pt x="408" y="188"/>
                  </a:cubicBezTo>
                  <a:cubicBezTo>
                    <a:pt x="410" y="193"/>
                    <a:pt x="410" y="193"/>
                    <a:pt x="410" y="193"/>
                  </a:cubicBezTo>
                  <a:cubicBezTo>
                    <a:pt x="356" y="199"/>
                    <a:pt x="356" y="199"/>
                    <a:pt x="356" y="199"/>
                  </a:cubicBezTo>
                  <a:cubicBezTo>
                    <a:pt x="407" y="240"/>
                    <a:pt x="407" y="240"/>
                    <a:pt x="407" y="240"/>
                  </a:cubicBezTo>
                  <a:cubicBezTo>
                    <a:pt x="407" y="240"/>
                    <a:pt x="407" y="240"/>
                    <a:pt x="407" y="240"/>
                  </a:cubicBezTo>
                  <a:cubicBezTo>
                    <a:pt x="441" y="267"/>
                    <a:pt x="441" y="267"/>
                    <a:pt x="441" y="267"/>
                  </a:cubicBezTo>
                  <a:cubicBezTo>
                    <a:pt x="510" y="182"/>
                    <a:pt x="510" y="182"/>
                    <a:pt x="510" y="182"/>
                  </a:cubicBezTo>
                  <a:cubicBezTo>
                    <a:pt x="465" y="187"/>
                    <a:pt x="465" y="187"/>
                    <a:pt x="465" y="187"/>
                  </a:cubicBezTo>
                  <a:cubicBezTo>
                    <a:pt x="464" y="183"/>
                    <a:pt x="464" y="183"/>
                    <a:pt x="464" y="183"/>
                  </a:cubicBezTo>
                  <a:cubicBezTo>
                    <a:pt x="439" y="75"/>
                    <a:pt x="344" y="0"/>
                    <a:pt x="233" y="0"/>
                  </a:cubicBezTo>
                  <a:cubicBezTo>
                    <a:pt x="120" y="0"/>
                    <a:pt x="22" y="81"/>
                    <a:pt x="0" y="191"/>
                  </a:cubicBezTo>
                  <a:cubicBezTo>
                    <a:pt x="26" y="170"/>
                    <a:pt x="26" y="170"/>
                    <a:pt x="26" y="170"/>
                  </a:cubicBezTo>
                  <a:cubicBezTo>
                    <a:pt x="27" y="169"/>
                    <a:pt x="29" y="169"/>
                    <a:pt x="30" y="169"/>
                  </a:cubicBezTo>
                  <a:cubicBezTo>
                    <a:pt x="32" y="169"/>
                    <a:pt x="33" y="170"/>
                    <a:pt x="34" y="171"/>
                  </a:cubicBezTo>
                  <a:cubicBezTo>
                    <a:pt x="55" y="198"/>
                    <a:pt x="55" y="198"/>
                    <a:pt x="55" y="198"/>
                  </a:cubicBezTo>
                  <a:cubicBezTo>
                    <a:pt x="74" y="115"/>
                    <a:pt x="147" y="55"/>
                    <a:pt x="233" y="55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12700" cap="sq">
              <a:noFill/>
              <a:miter/>
            </a:ln>
          </p:spPr>
          <p:txBody>
            <a:bodyPr vert="horz" wrap="square" lIns="180000" tIns="46800" rIns="180000" bIns="4680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9" name="标题 1"/>
          <p:cNvSpPr txBox="1"/>
          <p:nvPr/>
        </p:nvSpPr>
        <p:spPr>
          <a:xfrm>
            <a:off x="8048234" y="3609675"/>
            <a:ext cx="3470666" cy="1172797"/>
          </a:xfrm>
          <a:prstGeom prst="roundRect">
            <a:avLst>
              <a:gd name="adj" fmla="val 0"/>
            </a:avLst>
          </a:prstGeom>
          <a:solidFill>
            <a:schemeClr val="tx2">
              <a:alpha val="15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145273" y="3832982"/>
            <a:ext cx="3373627" cy="89073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成本预算：制定详细的成本预算，涵盖人员成本、设备采购成本、运营成本、市场推广成本等。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243919" y="3317494"/>
            <a:ext cx="481369" cy="48136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366141" y="3446525"/>
            <a:ext cx="236925" cy="223307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70024" y="2646351"/>
            <a:ext cx="3470666" cy="1172796"/>
          </a:xfrm>
          <a:prstGeom prst="roundRect">
            <a:avLst>
              <a:gd name="adj" fmla="val 0"/>
            </a:avLst>
          </a:prstGeom>
          <a:solidFill>
            <a:schemeClr val="tx2">
              <a:alpha val="15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67063" y="2869657"/>
            <a:ext cx="3373627" cy="89073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收入预算：根据入住率和服务价格假设，制定详细的收入预算，涵盖各项服务收入、政府补贴收入等。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65709" y="2354169"/>
            <a:ext cx="481369" cy="4813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83641" y="2472102"/>
            <a:ext cx="245504" cy="245504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70024" y="4573001"/>
            <a:ext cx="3470666" cy="1172797"/>
          </a:xfrm>
          <a:prstGeom prst="roundRect">
            <a:avLst>
              <a:gd name="adj" fmla="val 0"/>
            </a:avLst>
          </a:prstGeom>
          <a:solidFill>
            <a:schemeClr val="tx2">
              <a:alpha val="15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767063" y="4796308"/>
            <a:ext cx="3373627" cy="89073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利润预测：根据收入预算和成本预算，制定详细的利润预测表，预测未来几年养老院的利润情况。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65709" y="4280820"/>
            <a:ext cx="481369" cy="4813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87125" y="4406084"/>
            <a:ext cx="238536" cy="230840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ahLst/>
            <a:cxnLst/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166223" y="1317785"/>
            <a:ext cx="9846853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爱设计是一家智能创意科技公司，是国内领先的内容创意全链路服务公司，致力于构建“创意资源+智能创作+内容管理+投放分发+数据监测的内容创意全链路平台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财务预算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571625" y="1521856"/>
            <a:ext cx="3143250" cy="31432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762000" dist="254000" dir="5400000" algn="ctr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6" name="标题 1"/>
          <p:cNvCxnSpPr/>
          <p:nvPr/>
        </p:nvCxnSpPr>
        <p:spPr>
          <a:xfrm>
            <a:off x="660400" y="3093481"/>
            <a:ext cx="363220" cy="0"/>
          </a:xfrm>
          <a:prstGeom prst="straightConnector1">
            <a:avLst/>
          </a:prstGeom>
          <a:noFill/>
          <a:ln w="57150" cap="sq">
            <a:solidFill>
              <a:srgbClr val="FFFFFF">
                <a:alpha val="100000"/>
              </a:srgbClr>
            </a:solidFill>
            <a:miter/>
            <a:tailEnd type="triangle"/>
          </a:ln>
        </p:spPr>
      </p:cxnSp>
      <p:cxnSp>
        <p:nvCxnSpPr>
          <p:cNvPr id="7" name="标题 1"/>
          <p:cNvCxnSpPr/>
          <p:nvPr/>
        </p:nvCxnSpPr>
        <p:spPr>
          <a:xfrm>
            <a:off x="2571116" y="3008947"/>
            <a:ext cx="6326286" cy="1"/>
          </a:xfrm>
          <a:prstGeom prst="line">
            <a:avLst/>
          </a:prstGeom>
          <a:noFill/>
          <a:ln w="10477" cap="sq">
            <a:solidFill>
              <a:schemeClr val="tx2">
                <a:lumMod val="60000"/>
                <a:lumOff val="40000"/>
              </a:schemeClr>
            </a:solidFill>
            <a:miter/>
          </a:ln>
        </p:spPr>
      </p:cxnSp>
      <p:sp>
        <p:nvSpPr>
          <p:cNvPr id="8" name="标题 1"/>
          <p:cNvSpPr txBox="1"/>
          <p:nvPr/>
        </p:nvSpPr>
        <p:spPr>
          <a:xfrm>
            <a:off x="2494680" y="2955574"/>
            <a:ext cx="106747" cy="106747"/>
          </a:xfrm>
          <a:prstGeom prst="ellipse">
            <a:avLst/>
          </a:prstGeom>
          <a:solidFill>
            <a:schemeClr val="bg1"/>
          </a:solidFill>
          <a:ln w="13970" cap="sq">
            <a:solidFill>
              <a:schemeClr val="accent1"/>
            </a:solidFill>
            <a:miter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734259" y="2955574"/>
            <a:ext cx="106747" cy="106747"/>
          </a:xfrm>
          <a:prstGeom prst="ellipse">
            <a:avLst/>
          </a:prstGeom>
          <a:solidFill>
            <a:schemeClr val="bg1"/>
          </a:solidFill>
          <a:ln w="13970" cap="sq">
            <a:solidFill>
              <a:schemeClr val="accent1"/>
            </a:solidFill>
            <a:miter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897401" y="2955574"/>
            <a:ext cx="106747" cy="106747"/>
          </a:xfrm>
          <a:prstGeom prst="ellipse">
            <a:avLst/>
          </a:prstGeom>
          <a:solidFill>
            <a:schemeClr val="bg1"/>
          </a:solidFill>
          <a:ln w="13970" cap="sq">
            <a:solidFill>
              <a:schemeClr val="accent1"/>
            </a:solidFill>
            <a:miter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513779" y="3395382"/>
            <a:ext cx="458868" cy="497065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712938" y="3395382"/>
            <a:ext cx="435245" cy="497065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845171" y="3397756"/>
            <a:ext cx="497065" cy="481028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2494680" y="4109074"/>
            <a:ext cx="2791155" cy="1652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216000" bIns="3600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融资需求：根据项目建设和运营资金需求，制定详细的融资需求计划，涵盖设备采购、装修、人员招聘等方面。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682028" y="4109073"/>
            <a:ext cx="2791155" cy="1652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216000" bIns="3600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资金用途：明确融资资金用途，包括设备采购、装修、人员招聘、市场推广等，确保资金专款专用。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845170" y="4109073"/>
            <a:ext cx="2791155" cy="1652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216000" bIns="3600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融资方式：选择多种融资方式，包括股权融资、债权融资、政府补贴等，降低融资成本，提升融资效率。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377255" y="1622730"/>
            <a:ext cx="905764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5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爱设计是一家智能创意科技公司，是国内领先的内容创意全链路服务公司，致力于构建“创意资源+智能创作+内容管理+投放分发+数据监测的内容创意全链路平台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融资计划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011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11：组织结构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873753" y="2065622"/>
            <a:ext cx="8444495" cy="3045808"/>
          </a:xfrm>
          <a:prstGeom prst="rect">
            <a:avLst/>
          </a:prstGeom>
          <a:solidFill>
            <a:schemeClr val="bg1"/>
          </a:solidFill>
          <a:ln w="38100" cap="sq">
            <a:noFill/>
            <a:miter/>
          </a:ln>
          <a:effectLst>
            <a:outerShdw blurRad="317500" dist="190500" dir="30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873753" y="2065622"/>
            <a:ext cx="8444495" cy="95388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141502" y="2422356"/>
            <a:ext cx="7938461" cy="25413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详细组织架构图：展示院长、副院长、护理部、医疗部、后勤部、市场部、财务部等部门负责人及各岗位人员，清晰呈现各部门关系。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组织架构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5399215">
            <a:off x="10434204" y="-1345769"/>
            <a:ext cx="2987112" cy="2987112"/>
          </a:xfrm>
          <a:prstGeom prst="donut">
            <a:avLst>
              <a:gd name="adj" fmla="val 13257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/>
              </a:gs>
            </a:gsLst>
            <a:lin ang="189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0" y="4444986"/>
            <a:ext cx="12192000" cy="2413013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  <a:alpha val="61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0800000">
            <a:off x="670922" y="2400300"/>
            <a:ext cx="5220000" cy="3595976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0800000">
            <a:off x="6298900" y="2400300"/>
            <a:ext cx="5220000" cy="3595976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50921" y="2864035"/>
            <a:ext cx="4860000" cy="283896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各部门职责：护理部负责老人日常护理工作，医疗部负责老人医疗保健工作，后勤部负责养老院设施设备管理、物资采购、安全保卫等工作。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478900" y="2864035"/>
            <a:ext cx="4860000" cy="283896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岗位职责：院长负责养老院全面管理工作，各部门负责人负责本部门具体工作，各岗位人员根据岗位职责，完成具体工作任务。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10800000">
            <a:off x="655100" y="1154999"/>
            <a:ext cx="10863797" cy="906357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95614" y="1421466"/>
            <a:ext cx="10382769" cy="3734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医药流通行业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职责分工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05654" y="1840182"/>
            <a:ext cx="3287130" cy="23835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1439" y="1688302"/>
            <a:ext cx="3287130" cy="2383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437034" y="1837707"/>
            <a:ext cx="1535942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90173" y="2583497"/>
            <a:ext cx="2829663" cy="1316487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人员招聘计划：根据养老院发展需求，制定详细的人员招聘计划，涵盖护理人员、医护人员、技术人员等。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532529" y="1828849"/>
            <a:ext cx="3287130" cy="23835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388314" y="1676969"/>
            <a:ext cx="3287130" cy="2383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179089" y="1826373"/>
            <a:ext cx="1705580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02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617048" y="2607148"/>
            <a:ext cx="2829663" cy="1292836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培训计划：制定详细的培训计划，涵盖新员工入职培训、在职员工技能培训、管理人员领导力培训等。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73101" y="4767966"/>
            <a:ext cx="10845798" cy="81946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爱设计是一家智能创意科技公司，是国内领先的内容创意全链路服务公司，致力于构建“创意资源+智能创作+内容
管理+投放分发+数据监测的内容创意全链路平台，在“内容为王”的数字化时代,技术正在全面改变内容行业.</a:t>
            </a:r>
            <a:endParaRPr kumimoji="1" lang="zh-CN" altLang="en-US"/>
          </a:p>
        </p:txBody>
      </p:sp>
      <p:cxnSp>
        <p:nvCxnSpPr>
          <p:cNvPr id="14" name="标题 1"/>
          <p:cNvCxnSpPr/>
          <p:nvPr/>
        </p:nvCxnSpPr>
        <p:spPr>
          <a:xfrm>
            <a:off x="5892800" y="4605920"/>
            <a:ext cx="406400" cy="0"/>
          </a:xfrm>
          <a:prstGeom prst="line">
            <a:avLst/>
          </a:prstGeom>
          <a:noFill/>
          <a:ln w="12700" cap="sq">
            <a:solidFill>
              <a:schemeClr val="accent1"/>
            </a:solidFill>
            <a:miter/>
            <a:headEnd type="oval"/>
            <a:tailEnd type="oval"/>
          </a:ln>
        </p:spPr>
      </p:cxnSp>
      <p:sp>
        <p:nvSpPr>
          <p:cNvPr id="15" name="标题 1"/>
          <p:cNvSpPr txBox="1"/>
          <p:nvPr/>
        </p:nvSpPr>
        <p:spPr>
          <a:xfrm>
            <a:off x="8359403" y="1828849"/>
            <a:ext cx="3287130" cy="23835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215188" y="1676969"/>
            <a:ext cx="3287130" cy="2383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005963" y="1826373"/>
            <a:ext cx="1705580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03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443922" y="2607148"/>
            <a:ext cx="2829663" cy="1292836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绩效考核体系：建立完善的绩效考核体系，涵盖员工工作表现、服务质量、客户满意度等方面，激励员工提升工作积极性和责任心。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人力资源规划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012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12：风险分析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095141" y="2865817"/>
            <a:ext cx="5076220" cy="163087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2700000" algn="t" rotWithShape="0">
              <a:srgbClr val="000000">
                <a:alpha val="15000"/>
              </a:srgbClr>
            </a:outerShdw>
          </a:effectLst>
        </p:spPr>
        <p:txBody>
          <a:bodyPr vert="horz" wrap="square" lIns="2052000" tIns="0" rIns="91440" bIns="45720" rtlCol="0" anchor="ctr"/>
          <a:lstStyle/>
          <a:p>
            <a:pPr algn="l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096152" y="2865817"/>
            <a:ext cx="68400" cy="1630870"/>
          </a:xfrm>
          <a:prstGeom prst="rect">
            <a:avLst/>
          </a:prstGeom>
          <a:solidFill>
            <a:schemeClr val="tx1">
              <a:alpha val="2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599218" y="3260351"/>
            <a:ext cx="841802" cy="841802"/>
          </a:xfrm>
          <a:prstGeom prst="ellipse">
            <a:avLst/>
          </a:prstGeom>
          <a:noFill/>
          <a:ln w="12700" cap="sq">
            <a:solidFill>
              <a:schemeClr val="tx1">
                <a:alpha val="3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105301" y="1130635"/>
            <a:ext cx="5076220" cy="1580821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81000" dist="127000" dir="5400000" sx="102000" sy="102000" algn="t" rotWithShape="0">
              <a:schemeClr val="accent1">
                <a:lumMod val="40000"/>
                <a:lumOff val="60000"/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just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101008" y="1125538"/>
            <a:ext cx="74994" cy="1585918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599218" y="1500144"/>
            <a:ext cx="841802" cy="841802"/>
          </a:xfrm>
          <a:prstGeom prst="ellipse">
            <a:avLst/>
          </a:prstGeom>
          <a:noFill/>
          <a:ln w="12700" cap="sq">
            <a:solidFill>
              <a:schemeClr val="accent1">
                <a:lumMod val="7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095141" y="4653641"/>
            <a:ext cx="5076220" cy="16248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2052000" tIns="0" rIns="91440" bIns="45720" rtlCol="0" anchor="ctr"/>
          <a:lstStyle/>
          <a:p>
            <a:pPr algn="l">
              <a:lnSpc>
                <a:spcPct val="15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096000" y="4653641"/>
            <a:ext cx="68400" cy="1633016"/>
          </a:xfrm>
          <a:prstGeom prst="rect">
            <a:avLst/>
          </a:prstGeom>
          <a:solidFill>
            <a:schemeClr val="tx1">
              <a:alpha val="2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599218" y="5045180"/>
            <a:ext cx="841802" cy="841802"/>
          </a:xfrm>
          <a:prstGeom prst="ellipse">
            <a:avLst/>
          </a:prstGeom>
          <a:noFill/>
          <a:ln w="12700" cap="sq">
            <a:solidFill>
              <a:schemeClr val="tx1">
                <a:alpha val="3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879172" y="1369869"/>
            <a:ext cx="31369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79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市场风险：市场竞争激烈，可能导致入住率低于预期，影响养老院盈利能力。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879172" y="3130076"/>
            <a:ext cx="32512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79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技术风险：AI 技术应用过程中可能出现技术故障，影响设备运行和服务质量。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879172" y="5054943"/>
            <a:ext cx="30734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zh-CN" sz="76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经营风险：运营过程中可能出现管理不善，导致服务质量下降，影响客户满意度。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829085" y="3474316"/>
            <a:ext cx="382068" cy="41387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tx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813183" y="5274651"/>
            <a:ext cx="413872" cy="382860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tx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813183" y="1714109"/>
            <a:ext cx="413872" cy="413872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162023" y="1858267"/>
            <a:ext cx="3734881" cy="35845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爱设计个人版是一款多端在线拖拽式作图/视频工具，同时具备创意资产云端存储，管理和多终端分发的功能。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风险类型</a:t>
            </a:r>
            <a:endParaRPr kumimoji="1"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5" name="标题 1"/>
          <p:cNvCxnSpPr/>
          <p:nvPr/>
        </p:nvCxnSpPr>
        <p:spPr>
          <a:xfrm>
            <a:off x="2046532" y="3381612"/>
            <a:ext cx="7640833" cy="0"/>
          </a:xfrm>
          <a:prstGeom prst="line">
            <a:avLst/>
          </a:prstGeom>
          <a:noFill/>
          <a:ln w="9525" cap="sq">
            <a:solidFill>
              <a:schemeClr val="tx2">
                <a:lumMod val="60000"/>
                <a:lumOff val="40000"/>
              </a:schemeClr>
            </a:solidFill>
            <a:miter/>
          </a:ln>
        </p:spPr>
      </p:cxnSp>
      <p:sp>
        <p:nvSpPr>
          <p:cNvPr id="6" name="标题 1"/>
          <p:cNvSpPr txBox="1"/>
          <p:nvPr/>
        </p:nvSpPr>
        <p:spPr>
          <a:xfrm>
            <a:off x="5143467" y="4407330"/>
            <a:ext cx="1906210" cy="17267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216000" bIns="3600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技术风险防范：建立技术维护和升级机制，加强技术团队建设和培训，与技术供应商建立长期合作关系。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137634" y="2655214"/>
            <a:ext cx="1452796" cy="145279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641146" y="3127069"/>
            <a:ext cx="445770" cy="509086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046532" y="4407330"/>
            <a:ext cx="1906210" cy="17267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216000" bIns="3600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市场风险防范：通过市场调研和竞争分析，制定灵活的市场策略，加强品牌建设和市场推广，建立客户反馈机制。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046532" y="2655214"/>
            <a:ext cx="1452796" cy="145279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536240" y="3127066"/>
            <a:ext cx="469964" cy="509086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239258" y="4407330"/>
            <a:ext cx="1906210" cy="17267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216000" bIns="3600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经营风险防范：建立完善的管理制度和流程，优化资金管理，建立员工激励机制，提升员工工作积极性和责任心。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234569" y="2655214"/>
            <a:ext cx="1452796" cy="145279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741606" y="3135279"/>
            <a:ext cx="509085" cy="492661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166223" y="1359215"/>
            <a:ext cx="9846853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爱设计是一家智能创意科技公司，是国内领先的内容创意全链路服务公司，致力于构建“创意资源+智能创作+内容管理+投放分发+数据监测的内容创意全链路平台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防范措施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17932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96747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94167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alphaModFix amt="100000"/>
          </a:blip>
          <a:srcRect l="14625" t="8515" r="17750" b="8924"/>
          <a:stretch>
            <a:fillRect/>
          </a:stretch>
        </p:blipFill>
        <p:spPr>
          <a:xfrm>
            <a:off x="6213290" y="1963580"/>
            <a:ext cx="5044440" cy="3451540"/>
          </a:xfrm>
          <a:custGeom>
            <a:avLst/>
            <a:gdLst>
              <a:gd name="connsiteX0" fmla="*/ 0 w 8244840"/>
              <a:gd name="connsiteY0" fmla="*/ 0 h 5641340"/>
              <a:gd name="connsiteX1" fmla="*/ 8244840 w 8244840"/>
              <a:gd name="connsiteY1" fmla="*/ 0 h 5641340"/>
              <a:gd name="connsiteX2" fmla="*/ 8244840 w 8244840"/>
              <a:gd name="connsiteY2" fmla="*/ 5641340 h 5641340"/>
              <a:gd name="connsiteX3" fmla="*/ 0 w 8244840"/>
              <a:gd name="connsiteY3" fmla="*/ 5641340 h 5641340"/>
              <a:gd name="connsiteX4" fmla="*/ 0 w 8244840"/>
              <a:gd name="connsiteY4" fmla="*/ 0 h 5641340"/>
            </a:gdLst>
            <a:ahLst/>
            <a:cxnLst/>
            <a:rect l="l" t="t" r="r" b="b"/>
            <a:pathLst>
              <a:path w="8244840" h="5641340">
                <a:moveTo>
                  <a:pt x="0" y="0"/>
                </a:moveTo>
                <a:lnTo>
                  <a:pt x="8244840" y="0"/>
                </a:lnTo>
                <a:lnTo>
                  <a:pt x="8244840" y="5641340"/>
                </a:lnTo>
                <a:lnTo>
                  <a:pt x="0" y="56413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-13716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440420" y="6078220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932549" y="5566917"/>
            <a:ext cx="1807786" cy="11343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67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932549" y="196583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2464904" y="1584322"/>
            <a:ext cx="2035534" cy="1248355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520" y="1600887"/>
            <a:ext cx="5279666" cy="4157869"/>
          </a:xfrm>
          <a:custGeom>
            <a:avLst/>
            <a:gdLst>
              <a:gd name="connsiteX0" fmla="*/ 292106 w 5279666"/>
              <a:gd name="connsiteY0" fmla="*/ 0 h 4157869"/>
              <a:gd name="connsiteX1" fmla="*/ 1628134 w 5279666"/>
              <a:gd name="connsiteY1" fmla="*/ 0 h 4157869"/>
              <a:gd name="connsiteX2" fmla="*/ 1920240 w 5279666"/>
              <a:gd name="connsiteY2" fmla="*/ 292106 h 4157869"/>
              <a:gd name="connsiteX3" fmla="*/ 1920240 w 5279666"/>
              <a:gd name="connsiteY3" fmla="*/ 686904 h 4157869"/>
              <a:gd name="connsiteX4" fmla="*/ 4971514 w 5279666"/>
              <a:gd name="connsiteY4" fmla="*/ 686904 h 4157869"/>
              <a:gd name="connsiteX5" fmla="*/ 5279666 w 5279666"/>
              <a:gd name="connsiteY5" fmla="*/ 995056 h 4157869"/>
              <a:gd name="connsiteX6" fmla="*/ 5279666 w 5279666"/>
              <a:gd name="connsiteY6" fmla="*/ 3849717 h 4157869"/>
              <a:gd name="connsiteX7" fmla="*/ 4971514 w 5279666"/>
              <a:gd name="connsiteY7" fmla="*/ 4157869 h 4157869"/>
              <a:gd name="connsiteX8" fmla="*/ 308152 w 5279666"/>
              <a:gd name="connsiteY8" fmla="*/ 4157869 h 4157869"/>
              <a:gd name="connsiteX9" fmla="*/ 0 w 5279666"/>
              <a:gd name="connsiteY9" fmla="*/ 3849717 h 4157869"/>
              <a:gd name="connsiteX10" fmla="*/ 0 w 5279666"/>
              <a:gd name="connsiteY10" fmla="*/ 1460494 h 4157869"/>
              <a:gd name="connsiteX11" fmla="*/ 0 w 5279666"/>
              <a:gd name="connsiteY11" fmla="*/ 995056 h 4157869"/>
              <a:gd name="connsiteX12" fmla="*/ 0 w 5279666"/>
              <a:gd name="connsiteY12" fmla="*/ 292106 h 4157869"/>
              <a:gd name="connsiteX13" fmla="*/ 292106 w 5279666"/>
              <a:gd name="connsiteY13" fmla="*/ 0 h 4157869"/>
            </a:gdLst>
            <a:ahLst/>
            <a:cxnLst/>
            <a:rect l="l" t="t" r="r" b="b"/>
            <a:pathLst>
              <a:path w="5279666" h="4157869">
                <a:moveTo>
                  <a:pt x="292106" y="0"/>
                </a:moveTo>
                <a:lnTo>
                  <a:pt x="1628134" y="0"/>
                </a:lnTo>
                <a:cubicBezTo>
                  <a:pt x="1789460" y="0"/>
                  <a:pt x="1920240" y="130780"/>
                  <a:pt x="1920240" y="292106"/>
                </a:cubicBezTo>
                <a:lnTo>
                  <a:pt x="1920240" y="686904"/>
                </a:lnTo>
                <a:lnTo>
                  <a:pt x="4971514" y="686904"/>
                </a:lnTo>
                <a:cubicBezTo>
                  <a:pt x="5141702" y="686904"/>
                  <a:pt x="5279666" y="824868"/>
                  <a:pt x="5279666" y="995056"/>
                </a:cubicBezTo>
                <a:lnTo>
                  <a:pt x="5279666" y="3849717"/>
                </a:lnTo>
                <a:cubicBezTo>
                  <a:pt x="5279666" y="4019905"/>
                  <a:pt x="5141702" y="4157869"/>
                  <a:pt x="4971514" y="4157869"/>
                </a:cubicBezTo>
                <a:lnTo>
                  <a:pt x="308152" y="4157869"/>
                </a:lnTo>
                <a:cubicBezTo>
                  <a:pt x="137964" y="4157869"/>
                  <a:pt x="0" y="4019905"/>
                  <a:pt x="0" y="3849717"/>
                </a:cubicBezTo>
                <a:lnTo>
                  <a:pt x="0" y="1460494"/>
                </a:lnTo>
                <a:lnTo>
                  <a:pt x="0" y="995056"/>
                </a:lnTo>
                <a:lnTo>
                  <a:pt x="0" y="292106"/>
                </a:lnTo>
                <a:cubicBezTo>
                  <a:pt x="0" y="130780"/>
                  <a:pt x="130780" y="0"/>
                  <a:pt x="2921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43609" y="1351746"/>
            <a:ext cx="2719346" cy="26162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1500">
                <a:ln w="12700">
                  <a:noFill/>
                </a:ln>
                <a:solidFill>
                  <a:srgbClr val="48CEC8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013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1800000">
            <a:off x="4425653" y="4187288"/>
            <a:ext cx="1268306" cy="1330122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86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43609" y="3959312"/>
            <a:ext cx="4702321" cy="16018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幻灯片 13：附件、备查资料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41423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40262" y="1719316"/>
            <a:ext cx="1701556" cy="426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205947" y="1665505"/>
            <a:ext cx="970186" cy="533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PART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720693" y="1740874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610848" y="1617593"/>
            <a:ext cx="8949648" cy="4269518"/>
          </a:xfrm>
          <a:prstGeom prst="roundRect">
            <a:avLst>
              <a:gd name="adj" fmla="val 3915"/>
            </a:avLst>
          </a:prstGeom>
          <a:solidFill>
            <a:schemeClr val="bg1"/>
          </a:solidFill>
          <a:ln w="28575" cap="sq">
            <a:noFill/>
            <a:miter/>
          </a:ln>
          <a:effectLst>
            <a:outerShdw blurRad="279400" dist="38100" dir="2700000" sx="99000" sy="99000" algn="tl" rotWithShape="0">
              <a:schemeClr val="accent1">
                <a:alpha val="2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618804" y="1377289"/>
            <a:ext cx="8941692" cy="1004622"/>
          </a:xfrm>
          <a:custGeom>
            <a:avLst/>
            <a:gdLst>
              <a:gd name="connsiteX0" fmla="*/ 4470848 w 8941692"/>
              <a:gd name="connsiteY0" fmla="*/ 0 h 1004622"/>
              <a:gd name="connsiteX1" fmla="*/ 4544161 w 8941692"/>
              <a:gd name="connsiteY1" fmla="*/ 22799 h 1004622"/>
              <a:gd name="connsiteX2" fmla="*/ 4722086 w 8941692"/>
              <a:gd name="connsiteY2" fmla="*/ 156382 h 1004622"/>
              <a:gd name="connsiteX3" fmla="*/ 6692392 w 8941692"/>
              <a:gd name="connsiteY3" fmla="*/ 156382 h 1004622"/>
              <a:gd name="connsiteX4" fmla="*/ 6708354 w 8941692"/>
              <a:gd name="connsiteY4" fmla="*/ 158802 h 1004622"/>
              <a:gd name="connsiteX5" fmla="*/ 8856577 w 8941692"/>
              <a:gd name="connsiteY5" fmla="*/ 158802 h 1004622"/>
              <a:gd name="connsiteX6" fmla="*/ 8941692 w 8941692"/>
              <a:gd name="connsiteY6" fmla="*/ 243917 h 1004622"/>
              <a:gd name="connsiteX7" fmla="*/ 8941692 w 8941692"/>
              <a:gd name="connsiteY7" fmla="*/ 919507 h 1004622"/>
              <a:gd name="connsiteX8" fmla="*/ 8856577 w 8941692"/>
              <a:gd name="connsiteY8" fmla="*/ 1004622 h 1004622"/>
              <a:gd name="connsiteX9" fmla="*/ 85115 w 8941692"/>
              <a:gd name="connsiteY9" fmla="*/ 1004622 h 1004622"/>
              <a:gd name="connsiteX10" fmla="*/ 0 w 8941692"/>
              <a:gd name="connsiteY10" fmla="*/ 919507 h 1004622"/>
              <a:gd name="connsiteX11" fmla="*/ 0 w 8941692"/>
              <a:gd name="connsiteY11" fmla="*/ 243917 h 1004622"/>
              <a:gd name="connsiteX12" fmla="*/ 85115 w 8941692"/>
              <a:gd name="connsiteY12" fmla="*/ 158802 h 1004622"/>
              <a:gd name="connsiteX13" fmla="*/ 2233339 w 8941692"/>
              <a:gd name="connsiteY13" fmla="*/ 158802 h 1004622"/>
              <a:gd name="connsiteX14" fmla="*/ 2249302 w 8941692"/>
              <a:gd name="connsiteY14" fmla="*/ 156382 h 1004622"/>
              <a:gd name="connsiteX15" fmla="*/ 4219609 w 8941692"/>
              <a:gd name="connsiteY15" fmla="*/ 156382 h 1004622"/>
              <a:gd name="connsiteX16" fmla="*/ 4397536 w 8941692"/>
              <a:gd name="connsiteY16" fmla="*/ 22799 h 1004622"/>
              <a:gd name="connsiteX17" fmla="*/ 4470848 w 8941692"/>
              <a:gd name="connsiteY17" fmla="*/ 0 h 1004622"/>
            </a:gdLst>
            <a:ahLst/>
            <a:cxnLst/>
            <a:rect l="l" t="t" r="r" b="b"/>
            <a:pathLst>
              <a:path w="8941692" h="1004622">
                <a:moveTo>
                  <a:pt x="4470848" y="0"/>
                </a:moveTo>
                <a:cubicBezTo>
                  <a:pt x="4497381" y="0"/>
                  <a:pt x="4523916" y="7599"/>
                  <a:pt x="4544161" y="22799"/>
                </a:cubicBezTo>
                <a:lnTo>
                  <a:pt x="4722086" y="156382"/>
                </a:lnTo>
                <a:lnTo>
                  <a:pt x="6692392" y="156382"/>
                </a:lnTo>
                <a:lnTo>
                  <a:pt x="6708354" y="158802"/>
                </a:lnTo>
                <a:lnTo>
                  <a:pt x="8856577" y="158802"/>
                </a:lnTo>
                <a:cubicBezTo>
                  <a:pt x="8903585" y="158802"/>
                  <a:pt x="8941692" y="196909"/>
                  <a:pt x="8941692" y="243917"/>
                </a:cubicBezTo>
                <a:lnTo>
                  <a:pt x="8941692" y="919507"/>
                </a:lnTo>
                <a:cubicBezTo>
                  <a:pt x="8941692" y="966515"/>
                  <a:pt x="8903585" y="1004622"/>
                  <a:pt x="8856577" y="1004622"/>
                </a:cubicBezTo>
                <a:lnTo>
                  <a:pt x="85115" y="1004622"/>
                </a:lnTo>
                <a:cubicBezTo>
                  <a:pt x="38107" y="1004622"/>
                  <a:pt x="0" y="966515"/>
                  <a:pt x="0" y="919507"/>
                </a:cubicBezTo>
                <a:lnTo>
                  <a:pt x="0" y="243917"/>
                </a:lnTo>
                <a:cubicBezTo>
                  <a:pt x="0" y="196909"/>
                  <a:pt x="38107" y="158802"/>
                  <a:pt x="85115" y="158802"/>
                </a:cubicBezTo>
                <a:lnTo>
                  <a:pt x="2233339" y="158802"/>
                </a:lnTo>
                <a:lnTo>
                  <a:pt x="2249302" y="156382"/>
                </a:lnTo>
                <a:lnTo>
                  <a:pt x="4219609" y="156382"/>
                </a:lnTo>
                <a:lnTo>
                  <a:pt x="4397536" y="22799"/>
                </a:lnTo>
                <a:cubicBezTo>
                  <a:pt x="4417779" y="7599"/>
                  <a:pt x="4444314" y="0"/>
                  <a:pt x="447084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898883" y="2663851"/>
            <a:ext cx="8373582" cy="28803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合法经营资质：展示营业执照，证明养老院合法经营资质。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867140" y="1677168"/>
            <a:ext cx="8405324" cy="58745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营业执照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940546" y="1659773"/>
            <a:ext cx="2310908" cy="2310906"/>
          </a:xfrm>
          <a:custGeom>
            <a:avLst/>
            <a:gdLst>
              <a:gd name="T0" fmla="*/ 22 w 562"/>
              <a:gd name="T1" fmla="*/ 241 h 525"/>
              <a:gd name="T2" fmla="*/ 241 w 562"/>
              <a:gd name="T3" fmla="*/ 22 h 525"/>
              <a:gd name="T4" fmla="*/ 321 w 562"/>
              <a:gd name="T5" fmla="*/ 22 h 525"/>
              <a:gd name="T6" fmla="*/ 540 w 562"/>
              <a:gd name="T7" fmla="*/ 241 h 525"/>
              <a:gd name="T8" fmla="*/ 540 w 562"/>
              <a:gd name="T9" fmla="*/ 321 h 525"/>
              <a:gd name="T10" fmla="*/ 401 w 562"/>
              <a:gd name="T11" fmla="*/ 459 h 525"/>
              <a:gd name="T12" fmla="*/ 161 w 562"/>
              <a:gd name="T13" fmla="*/ 459 h 525"/>
              <a:gd name="T14" fmla="*/ 22 w 562"/>
              <a:gd name="T15" fmla="*/ 321 h 525"/>
              <a:gd name="T16" fmla="*/ 22 w 562"/>
              <a:gd name="T17" fmla="*/ 241 h 525"/>
            </a:gdLst>
            <a:ahLst/>
            <a:cxnLst/>
            <a:rect l="0" t="0" r="r" b="b"/>
            <a:pathLst>
              <a:path w="562" h="525">
                <a:moveTo>
                  <a:pt x="22" y="241"/>
                </a:moveTo>
                <a:cubicBezTo>
                  <a:pt x="241" y="22"/>
                  <a:pt x="241" y="22"/>
                  <a:pt x="241" y="22"/>
                </a:cubicBezTo>
                <a:cubicBezTo>
                  <a:pt x="263" y="0"/>
                  <a:pt x="299" y="0"/>
                  <a:pt x="321" y="22"/>
                </a:cubicBezTo>
                <a:cubicBezTo>
                  <a:pt x="540" y="241"/>
                  <a:pt x="540" y="241"/>
                  <a:pt x="540" y="241"/>
                </a:cubicBezTo>
                <a:cubicBezTo>
                  <a:pt x="562" y="263"/>
                  <a:pt x="562" y="299"/>
                  <a:pt x="540" y="321"/>
                </a:cubicBezTo>
                <a:cubicBezTo>
                  <a:pt x="401" y="459"/>
                  <a:pt x="401" y="459"/>
                  <a:pt x="401" y="459"/>
                </a:cubicBezTo>
                <a:cubicBezTo>
                  <a:pt x="335" y="525"/>
                  <a:pt x="227" y="525"/>
                  <a:pt x="161" y="459"/>
                </a:cubicBezTo>
                <a:cubicBezTo>
                  <a:pt x="22" y="321"/>
                  <a:pt x="22" y="321"/>
                  <a:pt x="22" y="321"/>
                </a:cubicBezTo>
                <a:cubicBezTo>
                  <a:pt x="0" y="299"/>
                  <a:pt x="0" y="263"/>
                  <a:pt x="22" y="24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31000">
                <a:schemeClr val="accent1">
                  <a:lumMod val="60000"/>
                  <a:lumOff val="40000"/>
                </a:schemeClr>
              </a:gs>
              <a:gs pos="73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12700" cap="sq">
            <a:noFill/>
            <a:miter/>
          </a:ln>
          <a:effectLst>
            <a:outerShdw blurRad="444500" dist="317500" dir="5400000" sx="92000" sy="92000" algn="t" rotWithShape="0">
              <a:schemeClr val="accent1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157131" y="2769255"/>
            <a:ext cx="1877738" cy="9357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577884" y="2255546"/>
            <a:ext cx="1036232" cy="1036232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282036" y="4254560"/>
            <a:ext cx="5627929" cy="147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技术专利展示：如有相关技术专利，展示专利证书，体现企业技术创新能力。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专利证书（授权）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5199313" y="1760620"/>
            <a:ext cx="1780674" cy="902369"/>
          </a:xfrm>
          <a:custGeom>
            <a:avLst/>
            <a:gdLst>
              <a:gd name="connsiteX0" fmla="*/ 890337 w 1780674"/>
              <a:gd name="connsiteY0" fmla="*/ 0 h 902369"/>
              <a:gd name="connsiteX1" fmla="*/ 1780674 w 1780674"/>
              <a:gd name="connsiteY1" fmla="*/ 890337 h 902369"/>
              <a:gd name="connsiteX2" fmla="*/ 1780067 w 1780674"/>
              <a:gd name="connsiteY2" fmla="*/ 902369 h 902369"/>
              <a:gd name="connsiteX3" fmla="*/ 608 w 1780674"/>
              <a:gd name="connsiteY3" fmla="*/ 902369 h 902369"/>
              <a:gd name="connsiteX4" fmla="*/ 0 w 1780674"/>
              <a:gd name="connsiteY4" fmla="*/ 890337 h 902369"/>
              <a:gd name="connsiteX5" fmla="*/ 890337 w 1780674"/>
              <a:gd name="connsiteY5" fmla="*/ 0 h 902369"/>
            </a:gdLst>
            <a:ahLst/>
            <a:cxnLst/>
            <a:rect l="l" t="t" r="r" b="b"/>
            <a:pathLst>
              <a:path w="1780674" h="902369">
                <a:moveTo>
                  <a:pt x="890337" y="0"/>
                </a:moveTo>
                <a:cubicBezTo>
                  <a:pt x="1382057" y="0"/>
                  <a:pt x="1780674" y="398617"/>
                  <a:pt x="1780674" y="890337"/>
                </a:cubicBezTo>
                <a:lnTo>
                  <a:pt x="1780067" y="902369"/>
                </a:lnTo>
                <a:lnTo>
                  <a:pt x="608" y="902369"/>
                </a:lnTo>
                <a:lnTo>
                  <a:pt x="0" y="890337"/>
                </a:lnTo>
                <a:cubicBezTo>
                  <a:pt x="0" y="398617"/>
                  <a:pt x="398617" y="0"/>
                  <a:pt x="890337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415047" y="2662989"/>
            <a:ext cx="9349206" cy="2852264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818584" y="2899697"/>
            <a:ext cx="8542132" cy="23184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公司运营管理规则：展示公司章程，呈现公司运营管理的基本规则。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877094" y="2047374"/>
            <a:ext cx="425114" cy="425114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15047" y="5408614"/>
            <a:ext cx="9349206" cy="106639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公司章程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5152281" y="1511004"/>
            <a:ext cx="1891448" cy="189144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556663" y="3617824"/>
            <a:ext cx="1082686" cy="3897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488908" y="4200924"/>
            <a:ext cx="9294394" cy="208047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资金实力与合规性证明：展示验资审计报告，证明资金实力与合规性。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566598" y="3672421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448162" y="1804320"/>
            <a:ext cx="1299685" cy="129968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406400" dist="38100" dir="10800000" sx="106000" sy="106000" algn="r" rotWithShape="0">
              <a:schemeClr val="bg1"/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443954" y="1809452"/>
            <a:ext cx="1299685" cy="129968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28600" dist="304800" dir="2700000" sx="88000" sy="88000" algn="tl" rotWithShape="0">
              <a:schemeClr val="accent2">
                <a:lumMod val="60000"/>
                <a:lumOff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586014" y="1942172"/>
            <a:ext cx="1023980" cy="1023979"/>
          </a:xfrm>
          <a:prstGeom prst="arc">
            <a:avLst>
              <a:gd name="adj1" fmla="val 5386012"/>
              <a:gd name="adj2" fmla="val 921677"/>
            </a:avLst>
          </a:prstGeom>
          <a:noFill/>
          <a:ln w="6350" cap="flat">
            <a:solidFill>
              <a:schemeClr val="accent2">
                <a:lumMod val="7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550201" y="2582524"/>
            <a:ext cx="59794" cy="59794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068107" y="2936254"/>
            <a:ext cx="59794" cy="59794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858846" y="2227851"/>
            <a:ext cx="478318" cy="46288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验资审计报告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1777368" y="1977012"/>
            <a:ext cx="8637263" cy="3452238"/>
          </a:xfrm>
          <a:prstGeom prst="roundRect">
            <a:avLst>
              <a:gd name="adj" fmla="val 9428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117945" y="2888856"/>
            <a:ext cx="7956109" cy="23977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企业技术创新能力：如有高新技术企业（项目）证书，展示证书，体现企业技术创新能力。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117945" y="2127886"/>
            <a:ext cx="7956109" cy="75986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9525">
                  <a:solidFill>
                    <a:srgbClr val="000000">
                      <a:alpha val="100000"/>
                    </a:srgbClr>
                  </a:solidFill>
                </a:ln>
                <a:noFill/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01</a:t>
            </a:r>
            <a:endParaRPr kumimoji="1"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3392803" y="1940380"/>
            <a:ext cx="5406393" cy="95945"/>
            <a:chOff x="3392803" y="1940380"/>
            <a:chExt cx="5406393" cy="95945"/>
          </a:xfrm>
        </p:grpSpPr>
        <p:sp>
          <p:nvSpPr>
            <p:cNvPr id="9" name="标题 1"/>
            <p:cNvSpPr txBox="1"/>
            <p:nvPr/>
          </p:nvSpPr>
          <p:spPr>
            <a:xfrm>
              <a:off x="6053403" y="1940380"/>
              <a:ext cx="2745793" cy="9594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0" name="标题 1"/>
            <p:cNvSpPr txBox="1"/>
            <p:nvPr/>
          </p:nvSpPr>
          <p:spPr>
            <a:xfrm>
              <a:off x="3392803" y="1941489"/>
              <a:ext cx="2745793" cy="93729"/>
            </a:xfrm>
            <a:prstGeom prst="rect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1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高新技术企业（项目）证书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980364" y="2066254"/>
            <a:ext cx="8218572" cy="3244785"/>
          </a:xfrm>
          <a:prstGeom prst="roundRect">
            <a:avLst>
              <a:gd name="adj" fmla="val 5126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63500" sx="102000" sy="102000" algn="ctr" rotWithShape="0">
              <a:schemeClr val="bg1">
                <a:lumMod val="8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149473" y="3379375"/>
            <a:ext cx="7880355" cy="17623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设备、服务质量相关检定报告：展示设备、服务质量相关检定报告，证明设备和服务质量符合标准。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154480" y="2853005"/>
            <a:ext cx="7880355" cy="3971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330581" y="2853006"/>
            <a:ext cx="7563556" cy="39710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600455" y="1709442"/>
            <a:ext cx="978390" cy="978390"/>
          </a:xfrm>
          <a:prstGeom prst="ellipse">
            <a:avLst/>
          </a:prstGeom>
          <a:solidFill>
            <a:schemeClr val="accent2"/>
          </a:solidFill>
          <a:ln w="76200" cap="flat">
            <a:solidFill>
              <a:schemeClr val="accent2">
                <a:lumMod val="20000"/>
                <a:lumOff val="8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846514" y="1955501"/>
            <a:ext cx="486271" cy="486271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检定报告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555080" y="5062459"/>
            <a:ext cx="752849" cy="2538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288021" y="1968500"/>
            <a:ext cx="7928449" cy="3266440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4699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801451" y="1485830"/>
            <a:ext cx="1098903" cy="1107986"/>
            <a:chOff x="1801451" y="1485830"/>
            <a:chExt cx="1098903" cy="1107986"/>
          </a:xfrm>
        </p:grpSpPr>
        <p:sp>
          <p:nvSpPr>
            <p:cNvPr id="8" name="标题 1"/>
            <p:cNvSpPr txBox="1"/>
            <p:nvPr/>
          </p:nvSpPr>
          <p:spPr>
            <a:xfrm rot="11339608">
              <a:off x="1871371" y="1554829"/>
              <a:ext cx="959063" cy="969988"/>
            </a:xfrm>
            <a:prstGeom prst="blockArc">
              <a:avLst>
                <a:gd name="adj1" fmla="val 4131234"/>
                <a:gd name="adj2" fmla="val 21435934"/>
                <a:gd name="adj3" fmla="val 10263"/>
              </a:avLst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rot="11339608">
              <a:off x="2041290" y="1726684"/>
              <a:ext cx="619225" cy="626278"/>
            </a:xfrm>
            <a:prstGeom prst="ellipse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0" name="标题 1"/>
          <p:cNvSpPr txBox="1"/>
          <p:nvPr/>
        </p:nvSpPr>
        <p:spPr>
          <a:xfrm>
            <a:off x="2700356" y="2316480"/>
            <a:ext cx="7103778" cy="2590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支撑项目可行性的调研数据图表：展示市场调查数据，包括市场需求、客户偏好、竞争分析等内容。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135170" y="1863626"/>
            <a:ext cx="431467" cy="3523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01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市场调查数据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75463" y="1626772"/>
            <a:ext cx="10030687" cy="3954877"/>
          </a:xfrm>
          <a:prstGeom prst="roundRect">
            <a:avLst>
              <a:gd name="adj" fmla="val 3513"/>
            </a:avLst>
          </a:prstGeom>
          <a:noFill/>
          <a:ln w="1905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803999" y="1809826"/>
            <a:ext cx="9006875" cy="342079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C3C3C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经营场地合法性证明：展示场地租用证明，证明经营场地合法性。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330908" y="1819029"/>
            <a:ext cx="388740" cy="388740"/>
          </a:xfrm>
          <a:prstGeom prst="flowChartConnector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8864410">
            <a:off x="1407935" y="1910473"/>
            <a:ext cx="234687" cy="150331"/>
          </a:xfrm>
          <a:custGeom>
            <a:avLst/>
            <a:gdLst>
              <a:gd name="connsiteX0" fmla="*/ 598101 w 598101"/>
              <a:gd name="connsiteY0" fmla="*/ 294512 h 383119"/>
              <a:gd name="connsiteX1" fmla="*/ 598101 w 598101"/>
              <a:gd name="connsiteY1" fmla="*/ 383119 h 383119"/>
              <a:gd name="connsiteX2" fmla="*/ 1844 w 598101"/>
              <a:gd name="connsiteY2" fmla="*/ 383119 h 383119"/>
              <a:gd name="connsiteX3" fmla="*/ 1844 w 598101"/>
              <a:gd name="connsiteY3" fmla="*/ 368685 h 383119"/>
              <a:gd name="connsiteX4" fmla="*/ 0 w 598101"/>
              <a:gd name="connsiteY4" fmla="*/ 368613 h 383119"/>
              <a:gd name="connsiteX5" fmla="*/ 1844 w 598101"/>
              <a:gd name="connsiteY5" fmla="*/ 321357 h 383119"/>
              <a:gd name="connsiteX6" fmla="*/ 1844 w 598101"/>
              <a:gd name="connsiteY6" fmla="*/ 294512 h 383119"/>
              <a:gd name="connsiteX7" fmla="*/ 2892 w 598101"/>
              <a:gd name="connsiteY7" fmla="*/ 294512 h 383119"/>
              <a:gd name="connsiteX8" fmla="*/ 14387 w 598101"/>
              <a:gd name="connsiteY8" fmla="*/ 0 h 383119"/>
              <a:gd name="connsiteX9" fmla="*/ 102926 w 598101"/>
              <a:gd name="connsiteY9" fmla="*/ 3456 h 383119"/>
              <a:gd name="connsiteX10" fmla="*/ 91566 w 598101"/>
              <a:gd name="connsiteY10" fmla="*/ 294512 h 383119"/>
            </a:gdLst>
            <a:ahLst/>
            <a:cxnLst/>
            <a:rect l="l" t="t" r="r" b="b"/>
            <a:pathLst>
              <a:path w="598101" h="383119">
                <a:moveTo>
                  <a:pt x="598101" y="294512"/>
                </a:moveTo>
                <a:lnTo>
                  <a:pt x="598101" y="383119"/>
                </a:lnTo>
                <a:lnTo>
                  <a:pt x="1844" y="383119"/>
                </a:lnTo>
                <a:lnTo>
                  <a:pt x="1844" y="368685"/>
                </a:lnTo>
                <a:lnTo>
                  <a:pt x="0" y="368613"/>
                </a:lnTo>
                <a:lnTo>
                  <a:pt x="1844" y="321357"/>
                </a:lnTo>
                <a:lnTo>
                  <a:pt x="1844" y="294512"/>
                </a:lnTo>
                <a:lnTo>
                  <a:pt x="2892" y="294512"/>
                </a:lnTo>
                <a:lnTo>
                  <a:pt x="14387" y="0"/>
                </a:lnTo>
                <a:lnTo>
                  <a:pt x="102926" y="3456"/>
                </a:lnTo>
                <a:lnTo>
                  <a:pt x="91566" y="294512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场地租用证明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77290" y="2001520"/>
            <a:ext cx="3759200" cy="375920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177290" y="2499360"/>
            <a:ext cx="2763520" cy="276352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177290" y="2631440"/>
            <a:ext cx="2499360" cy="249936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blurRad="50800" dist="38100" dir="5400000" algn="t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389718" y="2843868"/>
            <a:ext cx="2074504" cy="2074504"/>
          </a:xfrm>
          <a:prstGeom prst="ellipse">
            <a:avLst/>
          </a:prstGeom>
          <a:noFill/>
          <a:ln w="12700" cap="sq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3000">
                  <a:schemeClr val="bg1">
                    <a:alpha val="0"/>
                  </a:schemeClr>
                </a:gs>
              </a:gsLst>
              <a:lin ang="0" scaled="0"/>
            </a:gra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1891360" y="3430529"/>
            <a:ext cx="1071220" cy="9011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标题 1"/>
          <p:cNvSpPr txBox="1"/>
          <p:nvPr/>
        </p:nvSpPr>
        <p:spPr>
          <a:xfrm>
            <a:off x="2986480" y="3597412"/>
            <a:ext cx="1185819" cy="5486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63500" sx="102000" sy="102000" algn="ctr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311941" y="2303362"/>
            <a:ext cx="6690069" cy="31176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宣传册内容展示：简单展示企业宣传册内容，包括企业介绍、服务特色、设施环境等。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3894170" y="3818393"/>
            <a:ext cx="137160" cy="118241"/>
          </a:xfrm>
          <a:prstGeom prst="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企业宣传册</a:t>
            </a:r>
            <a:endParaRPr kumimoji="1"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1832200"/>
            <a:ext cx="12192000" cy="36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498375" y="2685112"/>
            <a:ext cx="7344000" cy="2429856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服务流程工艺图表：展示服务流程工艺图表，涵盖老人入住、日常护理、康复训练等服务流程。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050855" y="2181038"/>
            <a:ext cx="254070" cy="504074"/>
          </a:xfrm>
          <a:custGeom>
            <a:avLst/>
            <a:gdLst>
              <a:gd name="connsiteX0" fmla="*/ 190500 w 190500"/>
              <a:gd name="connsiteY0" fmla="*/ 377952 h 377952"/>
              <a:gd name="connsiteX1" fmla="*/ 190500 w 190500"/>
              <a:gd name="connsiteY1" fmla="*/ 187452 h 377952"/>
              <a:gd name="connsiteX2" fmla="*/ 81820 w 190500"/>
              <a:gd name="connsiteY2" fmla="*/ 187452 h 377952"/>
              <a:gd name="connsiteX3" fmla="*/ 190500 w 190500"/>
              <a:gd name="connsiteY3" fmla="*/ 81725 h 377952"/>
              <a:gd name="connsiteX4" fmla="*/ 190500 w 190500"/>
              <a:gd name="connsiteY4" fmla="*/ 0 h 377952"/>
              <a:gd name="connsiteX5" fmla="*/ 0 w 190500"/>
              <a:gd name="connsiteY5" fmla="*/ 187452 h 377952"/>
              <a:gd name="connsiteX6" fmla="*/ 0 w 190500"/>
              <a:gd name="connsiteY6" fmla="*/ 187452 h 377952"/>
              <a:gd name="connsiteX7" fmla="*/ 0 w 190500"/>
              <a:gd name="connsiteY7" fmla="*/ 377952 h 377952"/>
            </a:gdLst>
            <a:ahLst/>
            <a:cxnLst/>
            <a:rect l="l" t="t" r="r" b="b"/>
            <a:pathLst>
              <a:path w="190500" h="377952">
                <a:moveTo>
                  <a:pt x="190500" y="377952"/>
                </a:moveTo>
                <a:lnTo>
                  <a:pt x="190500" y="187452"/>
                </a:lnTo>
                <a:lnTo>
                  <a:pt x="81820" y="187452"/>
                </a:lnTo>
                <a:cubicBezTo>
                  <a:pt x="83469" y="128608"/>
                  <a:pt x="131633" y="81753"/>
                  <a:pt x="190500" y="81725"/>
                </a:cubicBezTo>
                <a:lnTo>
                  <a:pt x="190500" y="0"/>
                </a:lnTo>
                <a:cubicBezTo>
                  <a:pt x="86469" y="-13"/>
                  <a:pt x="1665" y="83434"/>
                  <a:pt x="0" y="187452"/>
                </a:cubicBezTo>
                <a:lnTo>
                  <a:pt x="0" y="187452"/>
                </a:lnTo>
                <a:lnTo>
                  <a:pt x="0" y="377952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miter/>
            <a:headEnd type="oval"/>
            <a:tailEnd type="none"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9751" y="2181038"/>
            <a:ext cx="254070" cy="504074"/>
          </a:xfrm>
          <a:custGeom>
            <a:avLst/>
            <a:gdLst>
              <a:gd name="connsiteX0" fmla="*/ 190500 w 190500"/>
              <a:gd name="connsiteY0" fmla="*/ 377952 h 377952"/>
              <a:gd name="connsiteX1" fmla="*/ 190500 w 190500"/>
              <a:gd name="connsiteY1" fmla="*/ 187452 h 377952"/>
              <a:gd name="connsiteX2" fmla="*/ 81820 w 190500"/>
              <a:gd name="connsiteY2" fmla="*/ 187452 h 377952"/>
              <a:gd name="connsiteX3" fmla="*/ 190500 w 190500"/>
              <a:gd name="connsiteY3" fmla="*/ 81725 h 377952"/>
              <a:gd name="connsiteX4" fmla="*/ 190500 w 190500"/>
              <a:gd name="connsiteY4" fmla="*/ 0 h 377952"/>
              <a:gd name="connsiteX5" fmla="*/ 0 w 190500"/>
              <a:gd name="connsiteY5" fmla="*/ 187452 h 377952"/>
              <a:gd name="connsiteX6" fmla="*/ 0 w 190500"/>
              <a:gd name="connsiteY6" fmla="*/ 187452 h 377952"/>
              <a:gd name="connsiteX7" fmla="*/ 0 w 190500"/>
              <a:gd name="connsiteY7" fmla="*/ 377952 h 377952"/>
            </a:gdLst>
            <a:ahLst/>
            <a:cxnLst/>
            <a:rect l="l" t="t" r="r" b="b"/>
            <a:pathLst>
              <a:path w="190500" h="377952">
                <a:moveTo>
                  <a:pt x="190500" y="377952"/>
                </a:moveTo>
                <a:lnTo>
                  <a:pt x="190500" y="187452"/>
                </a:lnTo>
                <a:lnTo>
                  <a:pt x="81820" y="187452"/>
                </a:lnTo>
                <a:cubicBezTo>
                  <a:pt x="83469" y="128608"/>
                  <a:pt x="131633" y="81753"/>
                  <a:pt x="190500" y="81725"/>
                </a:cubicBezTo>
                <a:lnTo>
                  <a:pt x="190500" y="0"/>
                </a:lnTo>
                <a:cubicBezTo>
                  <a:pt x="86469" y="-13"/>
                  <a:pt x="1665" y="83434"/>
                  <a:pt x="0" y="187452"/>
                </a:cubicBezTo>
                <a:lnTo>
                  <a:pt x="0" y="187452"/>
                </a:lnTo>
                <a:lnTo>
                  <a:pt x="0" y="377952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miter/>
            <a:headEnd type="oval"/>
            <a:tailEnd type="none"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515475" y="3493443"/>
            <a:ext cx="801370" cy="1589919"/>
          </a:xfrm>
          <a:custGeom>
            <a:avLst/>
            <a:gdLst>
              <a:gd name="connsiteX0" fmla="*/ 0 w 190500"/>
              <a:gd name="connsiteY0" fmla="*/ 0 h 377952"/>
              <a:gd name="connsiteX1" fmla="*/ 0 w 190500"/>
              <a:gd name="connsiteY1" fmla="*/ 190500 h 377952"/>
              <a:gd name="connsiteX2" fmla="*/ 108680 w 190500"/>
              <a:gd name="connsiteY2" fmla="*/ 190500 h 377952"/>
              <a:gd name="connsiteX3" fmla="*/ 0 w 190500"/>
              <a:gd name="connsiteY3" fmla="*/ 296228 h 377952"/>
              <a:gd name="connsiteX4" fmla="*/ 0 w 190500"/>
              <a:gd name="connsiteY4" fmla="*/ 377952 h 377952"/>
              <a:gd name="connsiteX5" fmla="*/ 190500 w 190500"/>
              <a:gd name="connsiteY5" fmla="*/ 190500 h 377952"/>
              <a:gd name="connsiteX6" fmla="*/ 190500 w 190500"/>
              <a:gd name="connsiteY6" fmla="*/ 190500 h 377952"/>
              <a:gd name="connsiteX7" fmla="*/ 190500 w 190500"/>
              <a:gd name="connsiteY7" fmla="*/ 0 h 377952"/>
            </a:gdLst>
            <a:ahLst/>
            <a:cxnLst/>
            <a:rect l="l" t="t" r="r" b="b"/>
            <a:pathLst>
              <a:path w="190500" h="377952">
                <a:moveTo>
                  <a:pt x="0" y="0"/>
                </a:moveTo>
                <a:lnTo>
                  <a:pt x="0" y="190500"/>
                </a:lnTo>
                <a:lnTo>
                  <a:pt x="108680" y="190500"/>
                </a:lnTo>
                <a:cubicBezTo>
                  <a:pt x="107031" y="249344"/>
                  <a:pt x="58867" y="296199"/>
                  <a:pt x="0" y="296228"/>
                </a:cubicBezTo>
                <a:lnTo>
                  <a:pt x="0" y="377952"/>
                </a:lnTo>
                <a:cubicBezTo>
                  <a:pt x="104031" y="377965"/>
                  <a:pt x="188835" y="294518"/>
                  <a:pt x="190500" y="190500"/>
                </a:cubicBezTo>
                <a:lnTo>
                  <a:pt x="190500" y="1905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0717530" y="3493443"/>
            <a:ext cx="801370" cy="1589919"/>
          </a:xfrm>
          <a:custGeom>
            <a:avLst/>
            <a:gdLst>
              <a:gd name="connsiteX0" fmla="*/ 0 w 190500"/>
              <a:gd name="connsiteY0" fmla="*/ 0 h 377952"/>
              <a:gd name="connsiteX1" fmla="*/ 0 w 190500"/>
              <a:gd name="connsiteY1" fmla="*/ 190500 h 377952"/>
              <a:gd name="connsiteX2" fmla="*/ 108680 w 190500"/>
              <a:gd name="connsiteY2" fmla="*/ 190500 h 377952"/>
              <a:gd name="connsiteX3" fmla="*/ 0 w 190500"/>
              <a:gd name="connsiteY3" fmla="*/ 296228 h 377952"/>
              <a:gd name="connsiteX4" fmla="*/ 0 w 190500"/>
              <a:gd name="connsiteY4" fmla="*/ 377952 h 377952"/>
              <a:gd name="connsiteX5" fmla="*/ 190500 w 190500"/>
              <a:gd name="connsiteY5" fmla="*/ 190500 h 377952"/>
              <a:gd name="connsiteX6" fmla="*/ 190500 w 190500"/>
              <a:gd name="connsiteY6" fmla="*/ 190500 h 377952"/>
              <a:gd name="connsiteX7" fmla="*/ 190500 w 190500"/>
              <a:gd name="connsiteY7" fmla="*/ 0 h 377952"/>
            </a:gdLst>
            <a:ahLst/>
            <a:cxnLst/>
            <a:rect l="l" t="t" r="r" b="b"/>
            <a:pathLst>
              <a:path w="190500" h="377952">
                <a:moveTo>
                  <a:pt x="0" y="0"/>
                </a:moveTo>
                <a:lnTo>
                  <a:pt x="0" y="190500"/>
                </a:lnTo>
                <a:lnTo>
                  <a:pt x="108680" y="190500"/>
                </a:lnTo>
                <a:cubicBezTo>
                  <a:pt x="107031" y="249344"/>
                  <a:pt x="58867" y="296199"/>
                  <a:pt x="0" y="296228"/>
                </a:cubicBezTo>
                <a:lnTo>
                  <a:pt x="0" y="377952"/>
                </a:lnTo>
                <a:cubicBezTo>
                  <a:pt x="104031" y="377965"/>
                  <a:pt x="188835" y="294518"/>
                  <a:pt x="190500" y="190500"/>
                </a:cubicBezTo>
                <a:lnTo>
                  <a:pt x="190500" y="1905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工艺流程图</a:t>
            </a:r>
            <a:endParaRPr kumimoji="1" lang="zh-CN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5400000">
            <a:off x="5320208" y="1770938"/>
            <a:ext cx="1538883" cy="1616236"/>
          </a:xfrm>
          <a:prstGeom prst="hexagon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5400000">
            <a:off x="5305879" y="2070637"/>
            <a:ext cx="1567543" cy="1386167"/>
          </a:xfrm>
          <a:prstGeom prst="hexagon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775995" y="3862429"/>
            <a:ext cx="8627310" cy="166407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可靠供应商信息：展示物料供应商名单，涵盖生活用品、食品等物资供应商信息。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833371" y="2531374"/>
            <a:ext cx="512558" cy="464693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物料供应商名单</a:t>
            </a:r>
            <a:endParaRPr kumimoji="1"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20000"/>
                  <a:lumOff val="80000"/>
                </a:schemeClr>
              </a:gs>
              <a:gs pos="95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68580" y="6492240"/>
            <a:ext cx="12329160" cy="36576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325351" y="2208323"/>
            <a:ext cx="6480000" cy="24300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已签约或意向客户展示：展示主要客户名单，包括已签约客户和意向客户信息。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flipH="1">
            <a:off x="3056687" y="2303979"/>
            <a:ext cx="844105" cy="2518129"/>
          </a:xfrm>
          <a:custGeom>
            <a:avLst/>
            <a:gdLst>
              <a:gd name="T0" fmla="*/ 77 w 77"/>
              <a:gd name="T1" fmla="*/ 233 h 233"/>
              <a:gd name="T2" fmla="*/ 37 w 77"/>
              <a:gd name="T3" fmla="*/ 206 h 233"/>
              <a:gd name="T4" fmla="*/ 10 w 77"/>
              <a:gd name="T5" fmla="*/ 166 h 233"/>
              <a:gd name="T6" fmla="*/ 0 w 77"/>
              <a:gd name="T7" fmla="*/ 116 h 233"/>
              <a:gd name="T8" fmla="*/ 10 w 77"/>
              <a:gd name="T9" fmla="*/ 67 h 233"/>
              <a:gd name="T10" fmla="*/ 37 w 77"/>
              <a:gd name="T11" fmla="*/ 27 h 233"/>
              <a:gd name="T12" fmla="*/ 77 w 77"/>
              <a:gd name="T13" fmla="*/ 0 h 233"/>
            </a:gdLst>
            <a:ahLst/>
            <a:cxnLst/>
            <a:rect l="0" t="0" r="r" b="b"/>
            <a:pathLst>
              <a:path w="77" h="233">
                <a:moveTo>
                  <a:pt x="77" y="233"/>
                </a:moveTo>
                <a:cubicBezTo>
                  <a:pt x="62" y="226"/>
                  <a:pt x="49" y="217"/>
                  <a:pt x="37" y="206"/>
                </a:cubicBezTo>
                <a:cubicBezTo>
                  <a:pt x="26" y="194"/>
                  <a:pt x="16" y="181"/>
                  <a:pt x="10" y="166"/>
                </a:cubicBezTo>
                <a:cubicBezTo>
                  <a:pt x="4" y="150"/>
                  <a:pt x="0" y="134"/>
                  <a:pt x="0" y="116"/>
                </a:cubicBezTo>
                <a:cubicBezTo>
                  <a:pt x="0" y="99"/>
                  <a:pt x="4" y="82"/>
                  <a:pt x="10" y="67"/>
                </a:cubicBezTo>
                <a:cubicBezTo>
                  <a:pt x="16" y="52"/>
                  <a:pt x="26" y="38"/>
                  <a:pt x="37" y="27"/>
                </a:cubicBezTo>
                <a:cubicBezTo>
                  <a:pt x="49" y="16"/>
                  <a:pt x="62" y="6"/>
                  <a:pt x="77" y="0"/>
                </a:cubicBezTo>
              </a:path>
            </a:pathLst>
          </a:custGeom>
          <a:noFill/>
          <a:ln w="20638" cap="flat">
            <a:solidFill>
              <a:schemeClr val="accent1"/>
            </a:solidFill>
            <a:miter/>
            <a:headEnd type="oval"/>
            <a:tailEnd type="oval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361249" y="2391822"/>
            <a:ext cx="2342442" cy="2342442"/>
          </a:xfrm>
          <a:prstGeom prst="ellipse">
            <a:avLst/>
          </a:prstGeom>
          <a:solidFill>
            <a:schemeClr val="accent1"/>
          </a:solidFill>
          <a:ln w="25400" cap="sq">
            <a:noFill/>
            <a:miter/>
          </a:ln>
          <a:effectLst>
            <a:outerShdw blurRad="508000" dist="2540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45720" rIns="0" bIns="45720" rtlCol="0" anchor="ctr"/>
          <a:lstStyle/>
          <a:p>
            <a:pPr algn="ctr">
              <a:lnSpc>
                <a:spcPct val="12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066324" y="3030689"/>
            <a:ext cx="932293" cy="1064709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-142449" y="550399"/>
            <a:ext cx="612000" cy="32710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2867397" y="-1986051"/>
            <a:ext cx="612000" cy="540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400" y="479950"/>
            <a:ext cx="1085850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主要客户名单</a:t>
            </a:r>
            <a:endParaRPr kumimoji="1"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</a:schemeClr>
              </a:gs>
              <a:gs pos="95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2700000">
            <a:off x="7442521" y="-3287210"/>
            <a:ext cx="6886937" cy="6886937"/>
          </a:xfrm>
          <a:prstGeom prst="ellipse">
            <a:avLst/>
          </a:prstGeom>
          <a:gradFill>
            <a:gsLst>
              <a:gs pos="40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975360" y="0"/>
            <a:ext cx="8636000" cy="863600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5408220" y="4287520"/>
            <a:ext cx="6198730" cy="2338633"/>
          </a:xfrm>
          <a:custGeom>
            <a:avLst/>
            <a:gdLst>
              <a:gd name="connsiteX0" fmla="*/ 6198730 w 6198730"/>
              <a:gd name="connsiteY0" fmla="*/ 2338633 h 2338633"/>
              <a:gd name="connsiteX1" fmla="*/ 5141110 w 6198730"/>
              <a:gd name="connsiteY1" fmla="*/ 2338633 h 2338633"/>
              <a:gd name="connsiteX2" fmla="*/ 5138500 w 6198730"/>
              <a:gd name="connsiteY2" fmla="*/ 2321536 h 2338633"/>
              <a:gd name="connsiteX3" fmla="*/ 3099365 w 6198730"/>
              <a:gd name="connsiteY3" fmla="*/ 659593 h 2338633"/>
              <a:gd name="connsiteX4" fmla="*/ 1060230 w 6198730"/>
              <a:gd name="connsiteY4" fmla="*/ 2321536 h 2338633"/>
              <a:gd name="connsiteX5" fmla="*/ 1057621 w 6198730"/>
              <a:gd name="connsiteY5" fmla="*/ 2338633 h 2338633"/>
              <a:gd name="connsiteX6" fmla="*/ 0 w 6198730"/>
              <a:gd name="connsiteY6" fmla="*/ 2338633 h 2338633"/>
              <a:gd name="connsiteX7" fmla="*/ 30119 w 6198730"/>
              <a:gd name="connsiteY7" fmla="*/ 2149414 h 2338633"/>
              <a:gd name="connsiteX8" fmla="*/ 1352056 w 6198730"/>
              <a:gd name="connsiteY8" fmla="*/ 149579 h 2338633"/>
              <a:gd name="connsiteX9" fmla="*/ 1598271 w 6198730"/>
              <a:gd name="connsiteY9" fmla="*/ 0 h 2338633"/>
              <a:gd name="connsiteX10" fmla="*/ 4600459 w 6198730"/>
              <a:gd name="connsiteY10" fmla="*/ 0 h 2338633"/>
              <a:gd name="connsiteX11" fmla="*/ 4846674 w 6198730"/>
              <a:gd name="connsiteY11" fmla="*/ 149579 h 2338633"/>
              <a:gd name="connsiteX12" fmla="*/ 6168611 w 6198730"/>
              <a:gd name="connsiteY12" fmla="*/ 2149414 h 2338633"/>
              <a:gd name="connsiteX13" fmla="*/ 6198730 w 6198730"/>
              <a:gd name="connsiteY13" fmla="*/ 2338633 h 2338633"/>
            </a:gdLst>
            <a:ahLst/>
            <a:cxnLst/>
            <a:rect l="l" t="t" r="r" b="b"/>
            <a:pathLst>
              <a:path w="6198730" h="2338633">
                <a:moveTo>
                  <a:pt x="6198730" y="2338633"/>
                </a:moveTo>
                <a:lnTo>
                  <a:pt x="5141110" y="2338633"/>
                </a:lnTo>
                <a:lnTo>
                  <a:pt x="5138500" y="2321536"/>
                </a:lnTo>
                <a:cubicBezTo>
                  <a:pt x="4944415" y="1373067"/>
                  <a:pt x="4105211" y="659593"/>
                  <a:pt x="3099365" y="659593"/>
                </a:cubicBezTo>
                <a:cubicBezTo>
                  <a:pt x="2093519" y="659593"/>
                  <a:pt x="1254315" y="1373067"/>
                  <a:pt x="1060230" y="2321536"/>
                </a:cubicBezTo>
                <a:lnTo>
                  <a:pt x="1057621" y="2338633"/>
                </a:lnTo>
                <a:lnTo>
                  <a:pt x="0" y="2338633"/>
                </a:lnTo>
                <a:lnTo>
                  <a:pt x="30119" y="2149414"/>
                </a:lnTo>
                <a:cubicBezTo>
                  <a:pt x="189169" y="1319313"/>
                  <a:pt x="676625" y="605891"/>
                  <a:pt x="1352056" y="149579"/>
                </a:cubicBezTo>
                <a:lnTo>
                  <a:pt x="1598271" y="0"/>
                </a:lnTo>
                <a:lnTo>
                  <a:pt x="4600459" y="0"/>
                </a:lnTo>
                <a:lnTo>
                  <a:pt x="4846674" y="149579"/>
                </a:lnTo>
                <a:cubicBezTo>
                  <a:pt x="5522105" y="605891"/>
                  <a:pt x="6009561" y="1319313"/>
                  <a:pt x="6168611" y="2149414"/>
                </a:cubicBezTo>
                <a:lnTo>
                  <a:pt x="6198730" y="2338633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5382420" y="759974"/>
            <a:ext cx="6250330" cy="3527547"/>
          </a:xfrm>
          <a:custGeom>
            <a:avLst/>
            <a:gdLst>
              <a:gd name="connsiteX0" fmla="*/ 3125165 w 6250330"/>
              <a:gd name="connsiteY0" fmla="*/ 3527547 h 3527547"/>
              <a:gd name="connsiteX1" fmla="*/ 0 w 6250330"/>
              <a:gd name="connsiteY1" fmla="*/ 402382 h 3527547"/>
              <a:gd name="connsiteX2" fmla="*/ 25108 w 6250330"/>
              <a:gd name="connsiteY2" fmla="*/ 4350 h 3527547"/>
              <a:gd name="connsiteX3" fmla="*/ 25800 w 6250330"/>
              <a:gd name="connsiteY3" fmla="*/ 0 h 3527547"/>
              <a:gd name="connsiteX4" fmla="*/ 1083421 w 6250330"/>
              <a:gd name="connsiteY4" fmla="*/ 0 h 3527547"/>
              <a:gd name="connsiteX5" fmla="*/ 1054489 w 6250330"/>
              <a:gd name="connsiteY5" fmla="*/ 189569 h 3527547"/>
              <a:gd name="connsiteX6" fmla="*/ 1043743 w 6250330"/>
              <a:gd name="connsiteY6" fmla="*/ 402382 h 3527547"/>
              <a:gd name="connsiteX7" fmla="*/ 3125165 w 6250330"/>
              <a:gd name="connsiteY7" fmla="*/ 2483804 h 3527547"/>
              <a:gd name="connsiteX8" fmla="*/ 5206587 w 6250330"/>
              <a:gd name="connsiteY8" fmla="*/ 402382 h 3527547"/>
              <a:gd name="connsiteX9" fmla="*/ 5195841 w 6250330"/>
              <a:gd name="connsiteY9" fmla="*/ 189569 h 3527547"/>
              <a:gd name="connsiteX10" fmla="*/ 5166910 w 6250330"/>
              <a:gd name="connsiteY10" fmla="*/ 0 h 3527547"/>
              <a:gd name="connsiteX11" fmla="*/ 6224530 w 6250330"/>
              <a:gd name="connsiteY11" fmla="*/ 0 h 3527547"/>
              <a:gd name="connsiteX12" fmla="*/ 6225222 w 6250330"/>
              <a:gd name="connsiteY12" fmla="*/ 4350 h 3527547"/>
              <a:gd name="connsiteX13" fmla="*/ 6250330 w 6250330"/>
              <a:gd name="connsiteY13" fmla="*/ 402382 h 3527547"/>
              <a:gd name="connsiteX14" fmla="*/ 3125165 w 6250330"/>
              <a:gd name="connsiteY14" fmla="*/ 3527547 h 3527547"/>
            </a:gdLst>
            <a:ahLst/>
            <a:cxnLst/>
            <a:rect l="l" t="t" r="r" b="b"/>
            <a:pathLst>
              <a:path w="6250330" h="3527547">
                <a:moveTo>
                  <a:pt x="3125165" y="3527547"/>
                </a:moveTo>
                <a:cubicBezTo>
                  <a:pt x="1399184" y="3527547"/>
                  <a:pt x="0" y="2128363"/>
                  <a:pt x="0" y="402382"/>
                </a:cubicBezTo>
                <a:cubicBezTo>
                  <a:pt x="0" y="267540"/>
                  <a:pt x="8540" y="134692"/>
                  <a:pt x="25108" y="4350"/>
                </a:cubicBezTo>
                <a:lnTo>
                  <a:pt x="25800" y="0"/>
                </a:lnTo>
                <a:lnTo>
                  <a:pt x="1083421" y="0"/>
                </a:lnTo>
                <a:lnTo>
                  <a:pt x="1054489" y="189569"/>
                </a:lnTo>
                <a:cubicBezTo>
                  <a:pt x="1047383" y="259540"/>
                  <a:pt x="1043743" y="330536"/>
                  <a:pt x="1043743" y="402382"/>
                </a:cubicBezTo>
                <a:cubicBezTo>
                  <a:pt x="1043743" y="1551920"/>
                  <a:pt x="1975627" y="2483804"/>
                  <a:pt x="3125165" y="2483804"/>
                </a:cubicBezTo>
                <a:cubicBezTo>
                  <a:pt x="4274703" y="2483804"/>
                  <a:pt x="5206587" y="1551920"/>
                  <a:pt x="5206587" y="402382"/>
                </a:cubicBezTo>
                <a:cubicBezTo>
                  <a:pt x="5206587" y="330536"/>
                  <a:pt x="5202947" y="259540"/>
                  <a:pt x="5195841" y="189569"/>
                </a:cubicBezTo>
                <a:lnTo>
                  <a:pt x="5166910" y="0"/>
                </a:lnTo>
                <a:lnTo>
                  <a:pt x="6224530" y="0"/>
                </a:lnTo>
                <a:lnTo>
                  <a:pt x="6225222" y="4350"/>
                </a:lnTo>
                <a:cubicBezTo>
                  <a:pt x="6241790" y="134692"/>
                  <a:pt x="6250330" y="267540"/>
                  <a:pt x="6250330" y="402382"/>
                </a:cubicBezTo>
                <a:cubicBezTo>
                  <a:pt x="6250330" y="2128363"/>
                  <a:pt x="4851146" y="3527547"/>
                  <a:pt x="3125165" y="352754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0800000">
            <a:off x="0" y="4287520"/>
            <a:ext cx="7006491" cy="2570480"/>
          </a:xfrm>
          <a:custGeom>
            <a:avLst/>
            <a:gdLst>
              <a:gd name="connsiteX0" fmla="*/ 7006491 w 7006491"/>
              <a:gd name="connsiteY0" fmla="*/ 2570480 h 2570480"/>
              <a:gd name="connsiteX1" fmla="*/ 1598271 w 7006491"/>
              <a:gd name="connsiteY1" fmla="*/ 2570480 h 2570480"/>
              <a:gd name="connsiteX2" fmla="*/ 1568152 w 7006491"/>
              <a:gd name="connsiteY2" fmla="*/ 2381261 h 2570480"/>
              <a:gd name="connsiteX3" fmla="*/ 246215 w 7006491"/>
              <a:gd name="connsiteY3" fmla="*/ 381426 h 2570480"/>
              <a:gd name="connsiteX4" fmla="*/ 0 w 7006491"/>
              <a:gd name="connsiteY4" fmla="*/ 231847 h 2570480"/>
              <a:gd name="connsiteX5" fmla="*/ 5149243 w 7006491"/>
              <a:gd name="connsiteY5" fmla="*/ 231847 h 2570480"/>
              <a:gd name="connsiteX6" fmla="*/ 5284778 w 7006491"/>
              <a:gd name="connsiteY6" fmla="*/ 0 h 2570480"/>
              <a:gd name="connsiteX7" fmla="*/ 5420312 w 7006491"/>
              <a:gd name="connsiteY7" fmla="*/ 231847 h 2570480"/>
              <a:gd name="connsiteX8" fmla="*/ 7006491 w 7006491"/>
              <a:gd name="connsiteY8" fmla="*/ 231847 h 2570480"/>
              <a:gd name="connsiteX9" fmla="*/ 7006491 w 7006491"/>
              <a:gd name="connsiteY9" fmla="*/ 2570480 h 2570480"/>
            </a:gdLst>
            <a:ahLst/>
            <a:cxnLst/>
            <a:rect l="l" t="t" r="r" b="b"/>
            <a:pathLst>
              <a:path w="7006491" h="2570480">
                <a:moveTo>
                  <a:pt x="7006491" y="2570480"/>
                </a:moveTo>
                <a:lnTo>
                  <a:pt x="1598271" y="2570480"/>
                </a:lnTo>
                <a:lnTo>
                  <a:pt x="1568152" y="2381261"/>
                </a:lnTo>
                <a:cubicBezTo>
                  <a:pt x="1409102" y="1551160"/>
                  <a:pt x="921646" y="837738"/>
                  <a:pt x="246215" y="381426"/>
                </a:cubicBezTo>
                <a:lnTo>
                  <a:pt x="0" y="231847"/>
                </a:lnTo>
                <a:lnTo>
                  <a:pt x="5149243" y="231847"/>
                </a:lnTo>
                <a:lnTo>
                  <a:pt x="5284778" y="0"/>
                </a:lnTo>
                <a:lnTo>
                  <a:pt x="5420312" y="231847"/>
                </a:lnTo>
                <a:lnTo>
                  <a:pt x="7006491" y="231847"/>
                </a:lnTo>
                <a:lnTo>
                  <a:pt x="7006491" y="257048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0800000">
            <a:off x="6465840" y="4287520"/>
            <a:ext cx="4083489" cy="1679040"/>
          </a:xfrm>
          <a:custGeom>
            <a:avLst/>
            <a:gdLst>
              <a:gd name="connsiteX0" fmla="*/ 4083489 w 4083489"/>
              <a:gd name="connsiteY0" fmla="*/ 1679040 h 1679040"/>
              <a:gd name="connsiteX1" fmla="*/ 0 w 4083489"/>
              <a:gd name="connsiteY1" fmla="*/ 1679040 h 1679040"/>
              <a:gd name="connsiteX2" fmla="*/ 2609 w 4083489"/>
              <a:gd name="connsiteY2" fmla="*/ 1661943 h 1679040"/>
              <a:gd name="connsiteX3" fmla="*/ 2041744 w 4083489"/>
              <a:gd name="connsiteY3" fmla="*/ 0 h 1679040"/>
              <a:gd name="connsiteX4" fmla="*/ 4080879 w 4083489"/>
              <a:gd name="connsiteY4" fmla="*/ 1661943 h 1679040"/>
              <a:gd name="connsiteX5" fmla="*/ 4083489 w 4083489"/>
              <a:gd name="connsiteY5" fmla="*/ 1679040 h 1679040"/>
            </a:gdLst>
            <a:ahLst/>
            <a:cxnLst/>
            <a:rect l="l" t="t" r="r" b="b"/>
            <a:pathLst>
              <a:path w="4083489" h="1679040">
                <a:moveTo>
                  <a:pt x="4083489" y="1679040"/>
                </a:moveTo>
                <a:lnTo>
                  <a:pt x="0" y="1679040"/>
                </a:lnTo>
                <a:lnTo>
                  <a:pt x="2609" y="1661943"/>
                </a:lnTo>
                <a:cubicBezTo>
                  <a:pt x="196694" y="713474"/>
                  <a:pt x="1035898" y="0"/>
                  <a:pt x="2041744" y="0"/>
                </a:cubicBezTo>
                <a:cubicBezTo>
                  <a:pt x="3047590" y="0"/>
                  <a:pt x="3886794" y="713474"/>
                  <a:pt x="4080879" y="1661943"/>
                </a:cubicBezTo>
                <a:lnTo>
                  <a:pt x="4083489" y="167904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0800000">
            <a:off x="7006491" y="6626153"/>
            <a:ext cx="3002188" cy="2186"/>
          </a:xfrm>
          <a:custGeom>
            <a:avLst/>
            <a:gdLst>
              <a:gd name="connsiteX0" fmla="*/ 3002188 w 3002188"/>
              <a:gd name="connsiteY0" fmla="*/ 2186 h 2186"/>
              <a:gd name="connsiteX1" fmla="*/ 0 w 3002188"/>
              <a:gd name="connsiteY1" fmla="*/ 2186 h 2186"/>
              <a:gd name="connsiteX2" fmla="*/ 3598 w 3002188"/>
              <a:gd name="connsiteY2" fmla="*/ 0 h 2186"/>
              <a:gd name="connsiteX3" fmla="*/ 2998589 w 3002188"/>
              <a:gd name="connsiteY3" fmla="*/ 0 h 2186"/>
              <a:gd name="connsiteX4" fmla="*/ 3002188 w 3002188"/>
              <a:gd name="connsiteY4" fmla="*/ 2186 h 2186"/>
            </a:gdLst>
            <a:ahLst/>
            <a:cxnLst/>
            <a:rect l="l" t="t" r="r" b="b"/>
            <a:pathLst>
              <a:path w="3002188" h="2186">
                <a:moveTo>
                  <a:pt x="3002188" y="2186"/>
                </a:moveTo>
                <a:lnTo>
                  <a:pt x="0" y="2186"/>
                </a:lnTo>
                <a:lnTo>
                  <a:pt x="3598" y="0"/>
                </a:lnTo>
                <a:lnTo>
                  <a:pt x="2998589" y="0"/>
                </a:lnTo>
                <a:lnTo>
                  <a:pt x="3002188" y="2186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248894" y="4750308"/>
            <a:ext cx="1846580" cy="10099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400" y="4750308"/>
            <a:ext cx="5121634" cy="1383792"/>
          </a:xfrm>
          <a:custGeom>
            <a:avLst/>
            <a:gdLst>
              <a:gd name="connsiteX0" fmla="*/ 162563 w 5121634"/>
              <a:gd name="connsiteY0" fmla="*/ 0 h 1383792"/>
              <a:gd name="connsiteX1" fmla="*/ 1561567 w 5121634"/>
              <a:gd name="connsiteY1" fmla="*/ 0 h 1383792"/>
              <a:gd name="connsiteX2" fmla="*/ 1724130 w 5121634"/>
              <a:gd name="connsiteY2" fmla="*/ 162563 h 1383792"/>
              <a:gd name="connsiteX3" fmla="*/ 1724130 w 5121634"/>
              <a:gd name="connsiteY3" fmla="*/ 566928 h 1383792"/>
              <a:gd name="connsiteX4" fmla="*/ 3294869 w 5121634"/>
              <a:gd name="connsiteY4" fmla="*/ 566928 h 1383792"/>
              <a:gd name="connsiteX5" fmla="*/ 4416852 w 5121634"/>
              <a:gd name="connsiteY5" fmla="*/ 566928 h 1383792"/>
              <a:gd name="connsiteX6" fmla="*/ 4985487 w 5121634"/>
              <a:gd name="connsiteY6" fmla="*/ 566928 h 1383792"/>
              <a:gd name="connsiteX7" fmla="*/ 5121634 w 5121634"/>
              <a:gd name="connsiteY7" fmla="*/ 703075 h 1383792"/>
              <a:gd name="connsiteX8" fmla="*/ 5121634 w 5121634"/>
              <a:gd name="connsiteY8" fmla="*/ 1247645 h 1383792"/>
              <a:gd name="connsiteX9" fmla="*/ 4985487 w 5121634"/>
              <a:gd name="connsiteY9" fmla="*/ 1383792 h 1383792"/>
              <a:gd name="connsiteX10" fmla="*/ 3294869 w 5121634"/>
              <a:gd name="connsiteY10" fmla="*/ 1383792 h 1383792"/>
              <a:gd name="connsiteX11" fmla="*/ 3241874 w 5121634"/>
              <a:gd name="connsiteY11" fmla="*/ 1373093 h 1383792"/>
              <a:gd name="connsiteX12" fmla="*/ 3239662 w 5121634"/>
              <a:gd name="connsiteY12" fmla="*/ 1371601 h 1383792"/>
              <a:gd name="connsiteX13" fmla="*/ 166302 w 5121634"/>
              <a:gd name="connsiteY13" fmla="*/ 1371601 h 1383792"/>
              <a:gd name="connsiteX14" fmla="*/ 0 w 5121634"/>
              <a:gd name="connsiteY14" fmla="*/ 1205299 h 1383792"/>
              <a:gd name="connsiteX15" fmla="*/ 0 w 5121634"/>
              <a:gd name="connsiteY15" fmla="*/ 812797 h 1383792"/>
              <a:gd name="connsiteX16" fmla="*/ 0 w 5121634"/>
              <a:gd name="connsiteY16" fmla="*/ 733230 h 1383792"/>
              <a:gd name="connsiteX17" fmla="*/ 0 w 5121634"/>
              <a:gd name="connsiteY17" fmla="*/ 162563 h 1383792"/>
              <a:gd name="connsiteX18" fmla="*/ 162563 w 5121634"/>
              <a:gd name="connsiteY18" fmla="*/ 0 h 1383792"/>
            </a:gdLst>
            <a:ahLst/>
            <a:cxnLst/>
            <a:rect l="l" t="t" r="r" b="b"/>
            <a:pathLst>
              <a:path w="5121634" h="1383792">
                <a:moveTo>
                  <a:pt x="162563" y="0"/>
                </a:moveTo>
                <a:lnTo>
                  <a:pt x="1561567" y="0"/>
                </a:lnTo>
                <a:cubicBezTo>
                  <a:pt x="1651348" y="0"/>
                  <a:pt x="1724130" y="72782"/>
                  <a:pt x="1724130" y="162563"/>
                </a:cubicBezTo>
                <a:lnTo>
                  <a:pt x="1724130" y="566928"/>
                </a:lnTo>
                <a:lnTo>
                  <a:pt x="3294869" y="566928"/>
                </a:lnTo>
                <a:lnTo>
                  <a:pt x="4416852" y="566928"/>
                </a:lnTo>
                <a:lnTo>
                  <a:pt x="4985487" y="566928"/>
                </a:lnTo>
                <a:cubicBezTo>
                  <a:pt x="5060679" y="566928"/>
                  <a:pt x="5121634" y="627883"/>
                  <a:pt x="5121634" y="703075"/>
                </a:cubicBezTo>
                <a:lnTo>
                  <a:pt x="5121634" y="1247645"/>
                </a:lnTo>
                <a:cubicBezTo>
                  <a:pt x="5121634" y="1322837"/>
                  <a:pt x="5060679" y="1383792"/>
                  <a:pt x="4985487" y="1383792"/>
                </a:cubicBezTo>
                <a:lnTo>
                  <a:pt x="3294869" y="1383792"/>
                </a:lnTo>
                <a:cubicBezTo>
                  <a:pt x="3276071" y="1383792"/>
                  <a:pt x="3258163" y="1379982"/>
                  <a:pt x="3241874" y="1373093"/>
                </a:cubicBezTo>
                <a:lnTo>
                  <a:pt x="3239662" y="1371601"/>
                </a:lnTo>
                <a:lnTo>
                  <a:pt x="166302" y="1371601"/>
                </a:lnTo>
                <a:cubicBezTo>
                  <a:pt x="74456" y="1371601"/>
                  <a:pt x="0" y="1297145"/>
                  <a:pt x="0" y="1205299"/>
                </a:cubicBezTo>
                <a:lnTo>
                  <a:pt x="0" y="812797"/>
                </a:lnTo>
                <a:lnTo>
                  <a:pt x="0" y="733230"/>
                </a:lnTo>
                <a:lnTo>
                  <a:pt x="0" y="162563"/>
                </a:lnTo>
                <a:cubicBezTo>
                  <a:pt x="0" y="72782"/>
                  <a:pt x="72782" y="0"/>
                  <a:pt x="16256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279400" dist="38100" dir="5400000" algn="t" rotWithShape="0">
              <a:schemeClr val="accent1">
                <a:lumMod val="50000"/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86221" y="4885853"/>
            <a:ext cx="1454038" cy="364066"/>
          </a:xfrm>
          <a:prstGeom prst="roundRect">
            <a:avLst>
              <a:gd name="adj" fmla="val 23903"/>
            </a:avLst>
          </a:prstGeom>
          <a:gradFill>
            <a:gsLst>
              <a:gs pos="0">
                <a:schemeClr val="accent2"/>
              </a:gs>
              <a:gs pos="91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480700" y="5495279"/>
            <a:ext cx="432000" cy="432000"/>
          </a:xfrm>
          <a:prstGeom prst="ellipse">
            <a:avLst/>
          </a:prstGeom>
          <a:gradFill>
            <a:gsLst>
              <a:gs pos="14000">
                <a:schemeClr val="accent1"/>
              </a:gs>
              <a:gs pos="95000">
                <a:schemeClr val="accent2"/>
              </a:gs>
            </a:gsLst>
            <a:lin ang="2700000" scaled="0"/>
          </a:gradFill>
          <a:ln w="12700" cap="sq">
            <a:noFill/>
            <a:miter/>
          </a:ln>
          <a:effectLst>
            <a:outerShdw blurRad="101600" dist="38100" dir="5400000" algn="t" rotWithShape="0">
              <a:schemeClr val="accent1">
                <a:lumMod val="50000"/>
                <a:alpha val="19000"/>
              </a:schemeClr>
            </a:outerShdw>
          </a:effectLst>
        </p:spPr>
        <p:txBody>
          <a:bodyPr vert="horz" wrap="square" lIns="73152" tIns="36576" rIns="73152" bIns="365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601492" y="5612279"/>
            <a:ext cx="190415" cy="198000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41056" y="5495279"/>
            <a:ext cx="432000" cy="432000"/>
          </a:xfrm>
          <a:prstGeom prst="ellipse">
            <a:avLst/>
          </a:prstGeom>
          <a:gradFill>
            <a:gsLst>
              <a:gs pos="14000">
                <a:schemeClr val="accent1"/>
              </a:gs>
              <a:gs pos="95000">
                <a:schemeClr val="accent2"/>
              </a:gs>
            </a:gsLst>
            <a:lin ang="2700000" scaled="0"/>
          </a:gradFill>
          <a:ln w="12700" cap="sq">
            <a:noFill/>
            <a:miter/>
          </a:ln>
          <a:effectLst>
            <a:outerShdw blurRad="101600" dist="38100" dir="5400000" algn="t" rotWithShape="0">
              <a:schemeClr val="accent1">
                <a:lumMod val="50000"/>
                <a:alpha val="19000"/>
              </a:schemeClr>
            </a:outerShdw>
          </a:effectLst>
        </p:spPr>
        <p:txBody>
          <a:bodyPr vert="horz" wrap="square" lIns="73152" tIns="36576" rIns="73152" bIns="365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65023" y="5611584"/>
            <a:ext cx="184066" cy="199390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3844515" y="5494174"/>
            <a:ext cx="175769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时间：202X.X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377674" y="5495190"/>
            <a:ext cx="1722120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主讲人：AiPPT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42318" y="4839870"/>
            <a:ext cx="1083056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DESIGN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394690" y="4839870"/>
            <a:ext cx="1609344" cy="4560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PowerPoint</a:t>
            </a:r>
            <a:endParaRPr kumimoji="1"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067786" y="5428864"/>
            <a:ext cx="604124" cy="532105"/>
            <a:chOff x="6067786" y="5428864"/>
            <a:chExt cx="604124" cy="532105"/>
          </a:xfrm>
        </p:grpSpPr>
        <p:cxnSp>
          <p:nvCxnSpPr>
            <p:cNvPr id="22" name="标题 1"/>
            <p:cNvCxnSpPr/>
            <p:nvPr/>
          </p:nvCxnSpPr>
          <p:spPr>
            <a:xfrm>
              <a:off x="6067786" y="5694917"/>
              <a:ext cx="604124" cy="0"/>
            </a:xfrm>
            <a:prstGeom prst="line">
              <a:avLst/>
            </a:prstGeom>
            <a:noFill/>
            <a:ln w="34925" cap="rnd">
              <a:solidFill>
                <a:schemeClr val="bg1"/>
              </a:solidFill>
              <a:prstDash val="solid"/>
              <a:round/>
            </a:ln>
          </p:spPr>
        </p:cxnSp>
        <p:cxnSp>
          <p:nvCxnSpPr>
            <p:cNvPr id="23" name="标题 1"/>
            <p:cNvCxnSpPr/>
            <p:nvPr/>
          </p:nvCxnSpPr>
          <p:spPr>
            <a:xfrm rot="2700000">
              <a:off x="6358003" y="5558693"/>
              <a:ext cx="367213" cy="0"/>
            </a:xfrm>
            <a:prstGeom prst="line">
              <a:avLst/>
            </a:prstGeom>
            <a:noFill/>
            <a:ln w="34925" cap="rnd">
              <a:solidFill>
                <a:schemeClr val="bg1"/>
              </a:solidFill>
              <a:prstDash val="solid"/>
              <a:round/>
            </a:ln>
          </p:spPr>
        </p:cxnSp>
        <p:cxnSp>
          <p:nvCxnSpPr>
            <p:cNvPr id="24" name="标题 1"/>
            <p:cNvCxnSpPr/>
            <p:nvPr/>
          </p:nvCxnSpPr>
          <p:spPr>
            <a:xfrm rot="18900000" flipH="1">
              <a:off x="6352081" y="5831140"/>
              <a:ext cx="367213" cy="0"/>
            </a:xfrm>
            <a:prstGeom prst="line">
              <a:avLst/>
            </a:prstGeom>
            <a:noFill/>
            <a:ln w="34925" cap="rnd">
              <a:solidFill>
                <a:schemeClr val="bg1"/>
              </a:solidFill>
              <a:prstDash val="solid"/>
              <a:round/>
            </a:ln>
          </p:spPr>
        </p:cxnSp>
      </p:grpSp>
      <p:sp>
        <p:nvSpPr>
          <p:cNvPr id="25" name="标题 1"/>
          <p:cNvSpPr txBox="1"/>
          <p:nvPr/>
        </p:nvSpPr>
        <p:spPr>
          <a:xfrm>
            <a:off x="10817860" y="678180"/>
            <a:ext cx="701040" cy="701040"/>
          </a:xfrm>
          <a:custGeom>
            <a:avLst/>
            <a:gdLst>
              <a:gd name="connsiteX0" fmla="*/ 350520 w 701040"/>
              <a:gd name="connsiteY0" fmla="*/ 0 h 701040"/>
              <a:gd name="connsiteX1" fmla="*/ 701040 w 701040"/>
              <a:gd name="connsiteY1" fmla="*/ 350520 h 701040"/>
              <a:gd name="connsiteX2" fmla="*/ 350520 w 701040"/>
              <a:gd name="connsiteY2" fmla="*/ 701040 h 701040"/>
              <a:gd name="connsiteX3" fmla="*/ 0 w 701040"/>
              <a:gd name="connsiteY3" fmla="*/ 350520 h 701040"/>
              <a:gd name="connsiteX4" fmla="*/ 350520 w 701040"/>
              <a:gd name="connsiteY4" fmla="*/ 0 h 701040"/>
              <a:gd name="connsiteX5" fmla="*/ 350520 w 701040"/>
              <a:gd name="connsiteY5" fmla="*/ 182880 h 701040"/>
              <a:gd name="connsiteX6" fmla="*/ 182880 w 701040"/>
              <a:gd name="connsiteY6" fmla="*/ 350520 h 701040"/>
              <a:gd name="connsiteX7" fmla="*/ 350520 w 701040"/>
              <a:gd name="connsiteY7" fmla="*/ 518160 h 701040"/>
              <a:gd name="connsiteX8" fmla="*/ 518160 w 701040"/>
              <a:gd name="connsiteY8" fmla="*/ 350520 h 701040"/>
              <a:gd name="connsiteX9" fmla="*/ 350520 w 701040"/>
              <a:gd name="connsiteY9" fmla="*/ 182880 h 701040"/>
            </a:gdLst>
            <a:ahLst/>
            <a:cxnLst/>
            <a:rect l="l" t="t" r="r" b="b"/>
            <a:pathLst>
              <a:path w="701040" h="701040">
                <a:moveTo>
                  <a:pt x="350520" y="0"/>
                </a:moveTo>
                <a:cubicBezTo>
                  <a:pt x="544107" y="0"/>
                  <a:pt x="701040" y="156933"/>
                  <a:pt x="701040" y="350520"/>
                </a:cubicBezTo>
                <a:cubicBezTo>
                  <a:pt x="701040" y="544107"/>
                  <a:pt x="544107" y="701040"/>
                  <a:pt x="350520" y="701040"/>
                </a:cubicBezTo>
                <a:cubicBezTo>
                  <a:pt x="156933" y="701040"/>
                  <a:pt x="0" y="544107"/>
                  <a:pt x="0" y="350520"/>
                </a:cubicBezTo>
                <a:cubicBezTo>
                  <a:pt x="0" y="156933"/>
                  <a:pt x="156933" y="0"/>
                  <a:pt x="350520" y="0"/>
                </a:cubicBezTo>
                <a:close/>
                <a:moveTo>
                  <a:pt x="350520" y="182880"/>
                </a:moveTo>
                <a:cubicBezTo>
                  <a:pt x="257935" y="182880"/>
                  <a:pt x="182880" y="257935"/>
                  <a:pt x="182880" y="350520"/>
                </a:cubicBezTo>
                <a:cubicBezTo>
                  <a:pt x="182880" y="443105"/>
                  <a:pt x="257935" y="518160"/>
                  <a:pt x="350520" y="518160"/>
                </a:cubicBezTo>
                <a:cubicBezTo>
                  <a:pt x="443105" y="518160"/>
                  <a:pt x="518160" y="443105"/>
                  <a:pt x="518160" y="350520"/>
                </a:cubicBezTo>
                <a:cubicBezTo>
                  <a:pt x="518160" y="257935"/>
                  <a:pt x="443105" y="182880"/>
                  <a:pt x="350520" y="18288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60400" y="935057"/>
            <a:ext cx="1572284" cy="19524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2537718" y="948820"/>
            <a:ext cx="159762" cy="15976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10800000">
            <a:off x="10008679" y="4287520"/>
            <a:ext cx="2183321" cy="2338633"/>
          </a:xfrm>
          <a:custGeom>
            <a:avLst/>
            <a:gdLst>
              <a:gd name="connsiteX0" fmla="*/ 585050 w 2183321"/>
              <a:gd name="connsiteY0" fmla="*/ 2338633 h 2338633"/>
              <a:gd name="connsiteX1" fmla="*/ 0 w 2183321"/>
              <a:gd name="connsiteY1" fmla="*/ 2338633 h 2338633"/>
              <a:gd name="connsiteX2" fmla="*/ 0 w 2183321"/>
              <a:gd name="connsiteY2" fmla="*/ 0 h 2338633"/>
              <a:gd name="connsiteX3" fmla="*/ 2183321 w 2183321"/>
              <a:gd name="connsiteY3" fmla="*/ 0 h 2338633"/>
              <a:gd name="connsiteX4" fmla="*/ 1937106 w 2183321"/>
              <a:gd name="connsiteY4" fmla="*/ 149579 h 2338633"/>
              <a:gd name="connsiteX5" fmla="*/ 615169 w 2183321"/>
              <a:gd name="connsiteY5" fmla="*/ 2149414 h 2338633"/>
              <a:gd name="connsiteX6" fmla="*/ 585050 w 2183321"/>
              <a:gd name="connsiteY6" fmla="*/ 2338633 h 2338633"/>
            </a:gdLst>
            <a:ahLst/>
            <a:cxnLst/>
            <a:rect l="l" t="t" r="r" b="b"/>
            <a:pathLst>
              <a:path w="2183321" h="2338633">
                <a:moveTo>
                  <a:pt x="585050" y="2338633"/>
                </a:moveTo>
                <a:lnTo>
                  <a:pt x="0" y="2338633"/>
                </a:lnTo>
                <a:lnTo>
                  <a:pt x="0" y="0"/>
                </a:lnTo>
                <a:lnTo>
                  <a:pt x="2183321" y="0"/>
                </a:lnTo>
                <a:lnTo>
                  <a:pt x="1937106" y="149579"/>
                </a:lnTo>
                <a:cubicBezTo>
                  <a:pt x="1261675" y="605891"/>
                  <a:pt x="774219" y="1319313"/>
                  <a:pt x="615169" y="2149414"/>
                </a:cubicBezTo>
                <a:lnTo>
                  <a:pt x="585050" y="2338633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9872980" y="4297680"/>
            <a:ext cx="2319020" cy="2319020"/>
          </a:xfrm>
          <a:custGeom>
            <a:avLst/>
            <a:gdLst>
              <a:gd name="connsiteX0" fmla="*/ 4318000 w 8636000"/>
              <a:gd name="connsiteY0" fmla="*/ 0 h 8636000"/>
              <a:gd name="connsiteX1" fmla="*/ 8636000 w 8636000"/>
              <a:gd name="connsiteY1" fmla="*/ 4318000 h 8636000"/>
              <a:gd name="connsiteX2" fmla="*/ 4318000 w 8636000"/>
              <a:gd name="connsiteY2" fmla="*/ 8636000 h 8636000"/>
              <a:gd name="connsiteX3" fmla="*/ 0 w 8636000"/>
              <a:gd name="connsiteY3" fmla="*/ 4318000 h 8636000"/>
              <a:gd name="connsiteX4" fmla="*/ 4318000 w 8636000"/>
              <a:gd name="connsiteY4" fmla="*/ 0 h 8636000"/>
              <a:gd name="connsiteX5" fmla="*/ 4318000 w 8636000"/>
              <a:gd name="connsiteY5" fmla="*/ 2021840 h 8636000"/>
              <a:gd name="connsiteX6" fmla="*/ 2021840 w 8636000"/>
              <a:gd name="connsiteY6" fmla="*/ 4318000 h 8636000"/>
              <a:gd name="connsiteX7" fmla="*/ 4318000 w 8636000"/>
              <a:gd name="connsiteY7" fmla="*/ 6614160 h 8636000"/>
              <a:gd name="connsiteX8" fmla="*/ 6614160 w 8636000"/>
              <a:gd name="connsiteY8" fmla="*/ 4318000 h 8636000"/>
              <a:gd name="connsiteX9" fmla="*/ 4318000 w 8636000"/>
              <a:gd name="connsiteY9" fmla="*/ 2021840 h 8636000"/>
            </a:gdLst>
            <a:ahLst/>
            <a:cxnLst/>
            <a:rect l="l" t="t" r="r" b="b"/>
            <a:pathLst>
              <a:path w="8636000" h="8636000">
                <a:moveTo>
                  <a:pt x="4318000" y="0"/>
                </a:moveTo>
                <a:cubicBezTo>
                  <a:pt x="6702766" y="0"/>
                  <a:pt x="8636000" y="1933234"/>
                  <a:pt x="8636000" y="4318000"/>
                </a:cubicBezTo>
                <a:cubicBezTo>
                  <a:pt x="8636000" y="6702766"/>
                  <a:pt x="6702766" y="8636000"/>
                  <a:pt x="4318000" y="8636000"/>
                </a:cubicBezTo>
                <a:cubicBezTo>
                  <a:pt x="1933234" y="8636000"/>
                  <a:pt x="0" y="6702766"/>
                  <a:pt x="0" y="4318000"/>
                </a:cubicBezTo>
                <a:cubicBezTo>
                  <a:pt x="0" y="1933234"/>
                  <a:pt x="1933234" y="0"/>
                  <a:pt x="4318000" y="0"/>
                </a:cubicBezTo>
                <a:close/>
                <a:moveTo>
                  <a:pt x="4318000" y="2021840"/>
                </a:moveTo>
                <a:cubicBezTo>
                  <a:pt x="3049866" y="2021840"/>
                  <a:pt x="2021840" y="3049866"/>
                  <a:pt x="2021840" y="4318000"/>
                </a:cubicBezTo>
                <a:cubicBezTo>
                  <a:pt x="2021840" y="5586134"/>
                  <a:pt x="3049866" y="6614160"/>
                  <a:pt x="4318000" y="6614160"/>
                </a:cubicBezTo>
                <a:cubicBezTo>
                  <a:pt x="5586134" y="6614160"/>
                  <a:pt x="6614160" y="5586134"/>
                  <a:pt x="6614160" y="4318000"/>
                </a:cubicBezTo>
                <a:cubicBezTo>
                  <a:pt x="6614160" y="3049866"/>
                  <a:pt x="5586134" y="2021840"/>
                  <a:pt x="4318000" y="2021840"/>
                </a:cubicBezTo>
                <a:close/>
              </a:path>
            </a:pathLst>
          </a:custGeom>
          <a:gradFill>
            <a:gsLst>
              <a:gs pos="3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0083657" y="5988806"/>
            <a:ext cx="701040" cy="111760"/>
          </a:xfrm>
          <a:custGeom>
            <a:avLst/>
            <a:gdLst>
              <a:gd name="connsiteX0" fmla="*/ 645160 w 701040"/>
              <a:gd name="connsiteY0" fmla="*/ 0 h 111760"/>
              <a:gd name="connsiteX1" fmla="*/ 701040 w 701040"/>
              <a:gd name="connsiteY1" fmla="*/ 55880 h 111760"/>
              <a:gd name="connsiteX2" fmla="*/ 645160 w 701040"/>
              <a:gd name="connsiteY2" fmla="*/ 111760 h 111760"/>
              <a:gd name="connsiteX3" fmla="*/ 589280 w 701040"/>
              <a:gd name="connsiteY3" fmla="*/ 55880 h 111760"/>
              <a:gd name="connsiteX4" fmla="*/ 645160 w 701040"/>
              <a:gd name="connsiteY4" fmla="*/ 0 h 111760"/>
              <a:gd name="connsiteX5" fmla="*/ 350520 w 701040"/>
              <a:gd name="connsiteY5" fmla="*/ 0 h 111760"/>
              <a:gd name="connsiteX6" fmla="*/ 406400 w 701040"/>
              <a:gd name="connsiteY6" fmla="*/ 55880 h 111760"/>
              <a:gd name="connsiteX7" fmla="*/ 350520 w 701040"/>
              <a:gd name="connsiteY7" fmla="*/ 111760 h 111760"/>
              <a:gd name="connsiteX8" fmla="*/ 294640 w 701040"/>
              <a:gd name="connsiteY8" fmla="*/ 55880 h 111760"/>
              <a:gd name="connsiteX9" fmla="*/ 350520 w 701040"/>
              <a:gd name="connsiteY9" fmla="*/ 0 h 111760"/>
              <a:gd name="connsiteX10" fmla="*/ 55880 w 701040"/>
              <a:gd name="connsiteY10" fmla="*/ 0 h 111760"/>
              <a:gd name="connsiteX11" fmla="*/ 111760 w 701040"/>
              <a:gd name="connsiteY11" fmla="*/ 55880 h 111760"/>
              <a:gd name="connsiteX12" fmla="*/ 55880 w 701040"/>
              <a:gd name="connsiteY12" fmla="*/ 111760 h 111760"/>
              <a:gd name="connsiteX13" fmla="*/ 0 w 701040"/>
              <a:gd name="connsiteY13" fmla="*/ 55880 h 111760"/>
              <a:gd name="connsiteX14" fmla="*/ 55880 w 701040"/>
              <a:gd name="connsiteY14" fmla="*/ 0 h 111760"/>
            </a:gdLst>
            <a:ahLst/>
            <a:cxnLst/>
            <a:rect l="l" t="t" r="r" b="b"/>
            <a:pathLst>
              <a:path w="701040" h="111760">
                <a:moveTo>
                  <a:pt x="645160" y="0"/>
                </a:moveTo>
                <a:cubicBezTo>
                  <a:pt x="676022" y="0"/>
                  <a:pt x="701040" y="25018"/>
                  <a:pt x="701040" y="55880"/>
                </a:cubicBezTo>
                <a:cubicBezTo>
                  <a:pt x="701040" y="86742"/>
                  <a:pt x="676022" y="111760"/>
                  <a:pt x="645160" y="111760"/>
                </a:cubicBezTo>
                <a:cubicBezTo>
                  <a:pt x="614298" y="111760"/>
                  <a:pt x="589280" y="86742"/>
                  <a:pt x="589280" y="55880"/>
                </a:cubicBezTo>
                <a:cubicBezTo>
                  <a:pt x="589280" y="25018"/>
                  <a:pt x="614298" y="0"/>
                  <a:pt x="645160" y="0"/>
                </a:cubicBezTo>
                <a:close/>
                <a:moveTo>
                  <a:pt x="350520" y="0"/>
                </a:moveTo>
                <a:cubicBezTo>
                  <a:pt x="381382" y="0"/>
                  <a:pt x="406400" y="25018"/>
                  <a:pt x="406400" y="55880"/>
                </a:cubicBezTo>
                <a:cubicBezTo>
                  <a:pt x="406400" y="86742"/>
                  <a:pt x="381382" y="111760"/>
                  <a:pt x="350520" y="111760"/>
                </a:cubicBezTo>
                <a:cubicBezTo>
                  <a:pt x="319658" y="111760"/>
                  <a:pt x="294640" y="86742"/>
                  <a:pt x="294640" y="55880"/>
                </a:cubicBezTo>
                <a:cubicBezTo>
                  <a:pt x="294640" y="25018"/>
                  <a:pt x="319658" y="0"/>
                  <a:pt x="350520" y="0"/>
                </a:cubicBezTo>
                <a:close/>
                <a:moveTo>
                  <a:pt x="55880" y="0"/>
                </a:moveTo>
                <a:cubicBezTo>
                  <a:pt x="86742" y="0"/>
                  <a:pt x="111760" y="25018"/>
                  <a:pt x="111760" y="55880"/>
                </a:cubicBezTo>
                <a:cubicBezTo>
                  <a:pt x="111760" y="86742"/>
                  <a:pt x="86742" y="111760"/>
                  <a:pt x="55880" y="111760"/>
                </a:cubicBezTo>
                <a:cubicBezTo>
                  <a:pt x="25018" y="111760"/>
                  <a:pt x="0" y="86742"/>
                  <a:pt x="0" y="55880"/>
                </a:cubicBezTo>
                <a:cubicBezTo>
                  <a:pt x="0" y="25018"/>
                  <a:pt x="25018" y="0"/>
                  <a:pt x="5588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660400" y="1446169"/>
            <a:ext cx="2754716" cy="1116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rgbClr val="FFFFFF">
                        <a:alpha val="7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202X</a:t>
            </a:r>
            <a:endParaRPr kumimoji="1"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5532120" y="1322715"/>
            <a:ext cx="5415280" cy="3704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597269" y="700917"/>
            <a:ext cx="2840982" cy="28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标题 1"/>
          <p:cNvSpPr txBox="1"/>
          <p:nvPr/>
        </p:nvSpPr>
        <p:spPr>
          <a:xfrm>
            <a:off x="6001024" y="1389394"/>
            <a:ext cx="1700256" cy="47242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 rot="5400000">
            <a:off x="10104471" y="6241559"/>
            <a:ext cx="2535762" cy="704576"/>
          </a:xfrm>
          <a:custGeom>
            <a:avLst/>
            <a:gdLst>
              <a:gd name="connsiteX0" fmla="*/ 3429221 w 3492832"/>
              <a:gd name="connsiteY0" fmla="*/ 843280 h 970502"/>
              <a:gd name="connsiteX1" fmla="*/ 3492832 w 3492832"/>
              <a:gd name="connsiteY1" fmla="*/ 906891 h 970502"/>
              <a:gd name="connsiteX2" fmla="*/ 3429221 w 3492832"/>
              <a:gd name="connsiteY2" fmla="*/ 970502 h 970502"/>
              <a:gd name="connsiteX3" fmla="*/ 3365610 w 3492832"/>
              <a:gd name="connsiteY3" fmla="*/ 906891 h 970502"/>
              <a:gd name="connsiteX4" fmla="*/ 3429221 w 3492832"/>
              <a:gd name="connsiteY4" fmla="*/ 843280 h 970502"/>
              <a:gd name="connsiteX5" fmla="*/ 3125923 w 3492832"/>
              <a:gd name="connsiteY5" fmla="*/ 843280 h 970502"/>
              <a:gd name="connsiteX6" fmla="*/ 3189534 w 3492832"/>
              <a:gd name="connsiteY6" fmla="*/ 906891 h 970502"/>
              <a:gd name="connsiteX7" fmla="*/ 3125923 w 3492832"/>
              <a:gd name="connsiteY7" fmla="*/ 970502 h 970502"/>
              <a:gd name="connsiteX8" fmla="*/ 3062312 w 3492832"/>
              <a:gd name="connsiteY8" fmla="*/ 906891 h 970502"/>
              <a:gd name="connsiteX9" fmla="*/ 3125923 w 3492832"/>
              <a:gd name="connsiteY9" fmla="*/ 843280 h 970502"/>
              <a:gd name="connsiteX10" fmla="*/ 2822625 w 3492832"/>
              <a:gd name="connsiteY10" fmla="*/ 843280 h 970502"/>
              <a:gd name="connsiteX11" fmla="*/ 2886236 w 3492832"/>
              <a:gd name="connsiteY11" fmla="*/ 906891 h 970502"/>
              <a:gd name="connsiteX12" fmla="*/ 2822625 w 3492832"/>
              <a:gd name="connsiteY12" fmla="*/ 970502 h 970502"/>
              <a:gd name="connsiteX13" fmla="*/ 2759014 w 3492832"/>
              <a:gd name="connsiteY13" fmla="*/ 906891 h 970502"/>
              <a:gd name="connsiteX14" fmla="*/ 2822625 w 3492832"/>
              <a:gd name="connsiteY14" fmla="*/ 843280 h 970502"/>
              <a:gd name="connsiteX15" fmla="*/ 2519327 w 3492832"/>
              <a:gd name="connsiteY15" fmla="*/ 843280 h 970502"/>
              <a:gd name="connsiteX16" fmla="*/ 2582938 w 3492832"/>
              <a:gd name="connsiteY16" fmla="*/ 906891 h 970502"/>
              <a:gd name="connsiteX17" fmla="*/ 2519327 w 3492832"/>
              <a:gd name="connsiteY17" fmla="*/ 970502 h 970502"/>
              <a:gd name="connsiteX18" fmla="*/ 2455716 w 3492832"/>
              <a:gd name="connsiteY18" fmla="*/ 906891 h 970502"/>
              <a:gd name="connsiteX19" fmla="*/ 2519327 w 3492832"/>
              <a:gd name="connsiteY19" fmla="*/ 843280 h 970502"/>
              <a:gd name="connsiteX20" fmla="*/ 2216029 w 3492832"/>
              <a:gd name="connsiteY20" fmla="*/ 843280 h 970502"/>
              <a:gd name="connsiteX21" fmla="*/ 2279640 w 3492832"/>
              <a:gd name="connsiteY21" fmla="*/ 906891 h 970502"/>
              <a:gd name="connsiteX22" fmla="*/ 2216029 w 3492832"/>
              <a:gd name="connsiteY22" fmla="*/ 970502 h 970502"/>
              <a:gd name="connsiteX23" fmla="*/ 2152418 w 3492832"/>
              <a:gd name="connsiteY23" fmla="*/ 906891 h 970502"/>
              <a:gd name="connsiteX24" fmla="*/ 2216029 w 3492832"/>
              <a:gd name="connsiteY24" fmla="*/ 843280 h 970502"/>
              <a:gd name="connsiteX25" fmla="*/ 1912731 w 3492832"/>
              <a:gd name="connsiteY25" fmla="*/ 843280 h 970502"/>
              <a:gd name="connsiteX26" fmla="*/ 1976342 w 3492832"/>
              <a:gd name="connsiteY26" fmla="*/ 906891 h 970502"/>
              <a:gd name="connsiteX27" fmla="*/ 1912731 w 3492832"/>
              <a:gd name="connsiteY27" fmla="*/ 970502 h 970502"/>
              <a:gd name="connsiteX28" fmla="*/ 1849120 w 3492832"/>
              <a:gd name="connsiteY28" fmla="*/ 906891 h 970502"/>
              <a:gd name="connsiteX29" fmla="*/ 1912731 w 3492832"/>
              <a:gd name="connsiteY29" fmla="*/ 843280 h 970502"/>
              <a:gd name="connsiteX30" fmla="*/ 1580101 w 3492832"/>
              <a:gd name="connsiteY30" fmla="*/ 843280 h 970502"/>
              <a:gd name="connsiteX31" fmla="*/ 1643712 w 3492832"/>
              <a:gd name="connsiteY31" fmla="*/ 906891 h 970502"/>
              <a:gd name="connsiteX32" fmla="*/ 1580101 w 3492832"/>
              <a:gd name="connsiteY32" fmla="*/ 970502 h 970502"/>
              <a:gd name="connsiteX33" fmla="*/ 1516490 w 3492832"/>
              <a:gd name="connsiteY33" fmla="*/ 906891 h 970502"/>
              <a:gd name="connsiteX34" fmla="*/ 1580101 w 3492832"/>
              <a:gd name="connsiteY34" fmla="*/ 843280 h 970502"/>
              <a:gd name="connsiteX35" fmla="*/ 1276803 w 3492832"/>
              <a:gd name="connsiteY35" fmla="*/ 843280 h 970502"/>
              <a:gd name="connsiteX36" fmla="*/ 1340414 w 3492832"/>
              <a:gd name="connsiteY36" fmla="*/ 906891 h 970502"/>
              <a:gd name="connsiteX37" fmla="*/ 1276803 w 3492832"/>
              <a:gd name="connsiteY37" fmla="*/ 970502 h 970502"/>
              <a:gd name="connsiteX38" fmla="*/ 1213192 w 3492832"/>
              <a:gd name="connsiteY38" fmla="*/ 906891 h 970502"/>
              <a:gd name="connsiteX39" fmla="*/ 1276803 w 3492832"/>
              <a:gd name="connsiteY39" fmla="*/ 843280 h 970502"/>
              <a:gd name="connsiteX40" fmla="*/ 973505 w 3492832"/>
              <a:gd name="connsiteY40" fmla="*/ 843280 h 970502"/>
              <a:gd name="connsiteX41" fmla="*/ 1037116 w 3492832"/>
              <a:gd name="connsiteY41" fmla="*/ 906891 h 970502"/>
              <a:gd name="connsiteX42" fmla="*/ 973505 w 3492832"/>
              <a:gd name="connsiteY42" fmla="*/ 970502 h 970502"/>
              <a:gd name="connsiteX43" fmla="*/ 909894 w 3492832"/>
              <a:gd name="connsiteY43" fmla="*/ 906891 h 970502"/>
              <a:gd name="connsiteX44" fmla="*/ 973505 w 3492832"/>
              <a:gd name="connsiteY44" fmla="*/ 843280 h 970502"/>
              <a:gd name="connsiteX45" fmla="*/ 670207 w 3492832"/>
              <a:gd name="connsiteY45" fmla="*/ 843280 h 970502"/>
              <a:gd name="connsiteX46" fmla="*/ 733818 w 3492832"/>
              <a:gd name="connsiteY46" fmla="*/ 906891 h 970502"/>
              <a:gd name="connsiteX47" fmla="*/ 670207 w 3492832"/>
              <a:gd name="connsiteY47" fmla="*/ 970502 h 970502"/>
              <a:gd name="connsiteX48" fmla="*/ 606596 w 3492832"/>
              <a:gd name="connsiteY48" fmla="*/ 906891 h 970502"/>
              <a:gd name="connsiteX49" fmla="*/ 670207 w 3492832"/>
              <a:gd name="connsiteY49" fmla="*/ 843280 h 970502"/>
              <a:gd name="connsiteX50" fmla="*/ 366909 w 3492832"/>
              <a:gd name="connsiteY50" fmla="*/ 843280 h 970502"/>
              <a:gd name="connsiteX51" fmla="*/ 430520 w 3492832"/>
              <a:gd name="connsiteY51" fmla="*/ 906891 h 970502"/>
              <a:gd name="connsiteX52" fmla="*/ 366909 w 3492832"/>
              <a:gd name="connsiteY52" fmla="*/ 970502 h 970502"/>
              <a:gd name="connsiteX53" fmla="*/ 303298 w 3492832"/>
              <a:gd name="connsiteY53" fmla="*/ 906891 h 970502"/>
              <a:gd name="connsiteX54" fmla="*/ 366909 w 3492832"/>
              <a:gd name="connsiteY54" fmla="*/ 843280 h 970502"/>
              <a:gd name="connsiteX55" fmla="*/ 63611 w 3492832"/>
              <a:gd name="connsiteY55" fmla="*/ 843280 h 970502"/>
              <a:gd name="connsiteX56" fmla="*/ 127222 w 3492832"/>
              <a:gd name="connsiteY56" fmla="*/ 906891 h 970502"/>
              <a:gd name="connsiteX57" fmla="*/ 63611 w 3492832"/>
              <a:gd name="connsiteY57" fmla="*/ 970502 h 970502"/>
              <a:gd name="connsiteX58" fmla="*/ 0 w 3492832"/>
              <a:gd name="connsiteY58" fmla="*/ 906891 h 970502"/>
              <a:gd name="connsiteX59" fmla="*/ 63611 w 3492832"/>
              <a:gd name="connsiteY59" fmla="*/ 843280 h 970502"/>
              <a:gd name="connsiteX60" fmla="*/ 3429221 w 3492832"/>
              <a:gd name="connsiteY60" fmla="*/ 558800 h 970502"/>
              <a:gd name="connsiteX61" fmla="*/ 3492832 w 3492832"/>
              <a:gd name="connsiteY61" fmla="*/ 622411 h 970502"/>
              <a:gd name="connsiteX62" fmla="*/ 3429221 w 3492832"/>
              <a:gd name="connsiteY62" fmla="*/ 686022 h 970502"/>
              <a:gd name="connsiteX63" fmla="*/ 3365610 w 3492832"/>
              <a:gd name="connsiteY63" fmla="*/ 622411 h 970502"/>
              <a:gd name="connsiteX64" fmla="*/ 3429221 w 3492832"/>
              <a:gd name="connsiteY64" fmla="*/ 558800 h 970502"/>
              <a:gd name="connsiteX65" fmla="*/ 3125923 w 3492832"/>
              <a:gd name="connsiteY65" fmla="*/ 558800 h 970502"/>
              <a:gd name="connsiteX66" fmla="*/ 3189534 w 3492832"/>
              <a:gd name="connsiteY66" fmla="*/ 622411 h 970502"/>
              <a:gd name="connsiteX67" fmla="*/ 3125923 w 3492832"/>
              <a:gd name="connsiteY67" fmla="*/ 686022 h 970502"/>
              <a:gd name="connsiteX68" fmla="*/ 3062312 w 3492832"/>
              <a:gd name="connsiteY68" fmla="*/ 622411 h 970502"/>
              <a:gd name="connsiteX69" fmla="*/ 3125923 w 3492832"/>
              <a:gd name="connsiteY69" fmla="*/ 558800 h 970502"/>
              <a:gd name="connsiteX70" fmla="*/ 2822625 w 3492832"/>
              <a:gd name="connsiteY70" fmla="*/ 558800 h 970502"/>
              <a:gd name="connsiteX71" fmla="*/ 2886236 w 3492832"/>
              <a:gd name="connsiteY71" fmla="*/ 622411 h 970502"/>
              <a:gd name="connsiteX72" fmla="*/ 2822625 w 3492832"/>
              <a:gd name="connsiteY72" fmla="*/ 686022 h 970502"/>
              <a:gd name="connsiteX73" fmla="*/ 2759014 w 3492832"/>
              <a:gd name="connsiteY73" fmla="*/ 622411 h 970502"/>
              <a:gd name="connsiteX74" fmla="*/ 2822625 w 3492832"/>
              <a:gd name="connsiteY74" fmla="*/ 558800 h 970502"/>
              <a:gd name="connsiteX75" fmla="*/ 2519327 w 3492832"/>
              <a:gd name="connsiteY75" fmla="*/ 558800 h 970502"/>
              <a:gd name="connsiteX76" fmla="*/ 2582938 w 3492832"/>
              <a:gd name="connsiteY76" fmla="*/ 622411 h 970502"/>
              <a:gd name="connsiteX77" fmla="*/ 2519327 w 3492832"/>
              <a:gd name="connsiteY77" fmla="*/ 686022 h 970502"/>
              <a:gd name="connsiteX78" fmla="*/ 2455716 w 3492832"/>
              <a:gd name="connsiteY78" fmla="*/ 622411 h 970502"/>
              <a:gd name="connsiteX79" fmla="*/ 2519327 w 3492832"/>
              <a:gd name="connsiteY79" fmla="*/ 558800 h 970502"/>
              <a:gd name="connsiteX80" fmla="*/ 2216029 w 3492832"/>
              <a:gd name="connsiteY80" fmla="*/ 558800 h 970502"/>
              <a:gd name="connsiteX81" fmla="*/ 2279640 w 3492832"/>
              <a:gd name="connsiteY81" fmla="*/ 622411 h 970502"/>
              <a:gd name="connsiteX82" fmla="*/ 2216029 w 3492832"/>
              <a:gd name="connsiteY82" fmla="*/ 686022 h 970502"/>
              <a:gd name="connsiteX83" fmla="*/ 2152418 w 3492832"/>
              <a:gd name="connsiteY83" fmla="*/ 622411 h 970502"/>
              <a:gd name="connsiteX84" fmla="*/ 2216029 w 3492832"/>
              <a:gd name="connsiteY84" fmla="*/ 558800 h 970502"/>
              <a:gd name="connsiteX85" fmla="*/ 1912731 w 3492832"/>
              <a:gd name="connsiteY85" fmla="*/ 558800 h 970502"/>
              <a:gd name="connsiteX86" fmla="*/ 1976342 w 3492832"/>
              <a:gd name="connsiteY86" fmla="*/ 622411 h 970502"/>
              <a:gd name="connsiteX87" fmla="*/ 1912731 w 3492832"/>
              <a:gd name="connsiteY87" fmla="*/ 686022 h 970502"/>
              <a:gd name="connsiteX88" fmla="*/ 1849120 w 3492832"/>
              <a:gd name="connsiteY88" fmla="*/ 622411 h 970502"/>
              <a:gd name="connsiteX89" fmla="*/ 1912731 w 3492832"/>
              <a:gd name="connsiteY89" fmla="*/ 558800 h 970502"/>
              <a:gd name="connsiteX90" fmla="*/ 1580101 w 3492832"/>
              <a:gd name="connsiteY90" fmla="*/ 558800 h 970502"/>
              <a:gd name="connsiteX91" fmla="*/ 1643712 w 3492832"/>
              <a:gd name="connsiteY91" fmla="*/ 622411 h 970502"/>
              <a:gd name="connsiteX92" fmla="*/ 1580101 w 3492832"/>
              <a:gd name="connsiteY92" fmla="*/ 686022 h 970502"/>
              <a:gd name="connsiteX93" fmla="*/ 1516490 w 3492832"/>
              <a:gd name="connsiteY93" fmla="*/ 622411 h 970502"/>
              <a:gd name="connsiteX94" fmla="*/ 1580101 w 3492832"/>
              <a:gd name="connsiteY94" fmla="*/ 558800 h 970502"/>
              <a:gd name="connsiteX95" fmla="*/ 1276803 w 3492832"/>
              <a:gd name="connsiteY95" fmla="*/ 558800 h 970502"/>
              <a:gd name="connsiteX96" fmla="*/ 1340414 w 3492832"/>
              <a:gd name="connsiteY96" fmla="*/ 622411 h 970502"/>
              <a:gd name="connsiteX97" fmla="*/ 1276803 w 3492832"/>
              <a:gd name="connsiteY97" fmla="*/ 686022 h 970502"/>
              <a:gd name="connsiteX98" fmla="*/ 1213192 w 3492832"/>
              <a:gd name="connsiteY98" fmla="*/ 622411 h 970502"/>
              <a:gd name="connsiteX99" fmla="*/ 1276803 w 3492832"/>
              <a:gd name="connsiteY99" fmla="*/ 558800 h 970502"/>
              <a:gd name="connsiteX100" fmla="*/ 973505 w 3492832"/>
              <a:gd name="connsiteY100" fmla="*/ 558800 h 970502"/>
              <a:gd name="connsiteX101" fmla="*/ 1037116 w 3492832"/>
              <a:gd name="connsiteY101" fmla="*/ 622411 h 970502"/>
              <a:gd name="connsiteX102" fmla="*/ 973505 w 3492832"/>
              <a:gd name="connsiteY102" fmla="*/ 686022 h 970502"/>
              <a:gd name="connsiteX103" fmla="*/ 909894 w 3492832"/>
              <a:gd name="connsiteY103" fmla="*/ 622411 h 970502"/>
              <a:gd name="connsiteX104" fmla="*/ 973505 w 3492832"/>
              <a:gd name="connsiteY104" fmla="*/ 558800 h 970502"/>
              <a:gd name="connsiteX105" fmla="*/ 670207 w 3492832"/>
              <a:gd name="connsiteY105" fmla="*/ 558800 h 970502"/>
              <a:gd name="connsiteX106" fmla="*/ 733818 w 3492832"/>
              <a:gd name="connsiteY106" fmla="*/ 622411 h 970502"/>
              <a:gd name="connsiteX107" fmla="*/ 670207 w 3492832"/>
              <a:gd name="connsiteY107" fmla="*/ 686022 h 970502"/>
              <a:gd name="connsiteX108" fmla="*/ 606596 w 3492832"/>
              <a:gd name="connsiteY108" fmla="*/ 622411 h 970502"/>
              <a:gd name="connsiteX109" fmla="*/ 670207 w 3492832"/>
              <a:gd name="connsiteY109" fmla="*/ 558800 h 970502"/>
              <a:gd name="connsiteX110" fmla="*/ 366909 w 3492832"/>
              <a:gd name="connsiteY110" fmla="*/ 558800 h 970502"/>
              <a:gd name="connsiteX111" fmla="*/ 430520 w 3492832"/>
              <a:gd name="connsiteY111" fmla="*/ 622411 h 970502"/>
              <a:gd name="connsiteX112" fmla="*/ 366909 w 3492832"/>
              <a:gd name="connsiteY112" fmla="*/ 686022 h 970502"/>
              <a:gd name="connsiteX113" fmla="*/ 303298 w 3492832"/>
              <a:gd name="connsiteY113" fmla="*/ 622411 h 970502"/>
              <a:gd name="connsiteX114" fmla="*/ 366909 w 3492832"/>
              <a:gd name="connsiteY114" fmla="*/ 558800 h 970502"/>
              <a:gd name="connsiteX115" fmla="*/ 63611 w 3492832"/>
              <a:gd name="connsiteY115" fmla="*/ 558800 h 970502"/>
              <a:gd name="connsiteX116" fmla="*/ 127222 w 3492832"/>
              <a:gd name="connsiteY116" fmla="*/ 622411 h 970502"/>
              <a:gd name="connsiteX117" fmla="*/ 63611 w 3492832"/>
              <a:gd name="connsiteY117" fmla="*/ 686022 h 970502"/>
              <a:gd name="connsiteX118" fmla="*/ 0 w 3492832"/>
              <a:gd name="connsiteY118" fmla="*/ 622411 h 970502"/>
              <a:gd name="connsiteX119" fmla="*/ 63611 w 3492832"/>
              <a:gd name="connsiteY119" fmla="*/ 558800 h 970502"/>
              <a:gd name="connsiteX120" fmla="*/ 3429221 w 3492832"/>
              <a:gd name="connsiteY120" fmla="*/ 284480 h 970502"/>
              <a:gd name="connsiteX121" fmla="*/ 3492832 w 3492832"/>
              <a:gd name="connsiteY121" fmla="*/ 348091 h 970502"/>
              <a:gd name="connsiteX122" fmla="*/ 3429221 w 3492832"/>
              <a:gd name="connsiteY122" fmla="*/ 411702 h 970502"/>
              <a:gd name="connsiteX123" fmla="*/ 3365610 w 3492832"/>
              <a:gd name="connsiteY123" fmla="*/ 348091 h 970502"/>
              <a:gd name="connsiteX124" fmla="*/ 3429221 w 3492832"/>
              <a:gd name="connsiteY124" fmla="*/ 284480 h 970502"/>
              <a:gd name="connsiteX125" fmla="*/ 3125923 w 3492832"/>
              <a:gd name="connsiteY125" fmla="*/ 284480 h 970502"/>
              <a:gd name="connsiteX126" fmla="*/ 3189534 w 3492832"/>
              <a:gd name="connsiteY126" fmla="*/ 348091 h 970502"/>
              <a:gd name="connsiteX127" fmla="*/ 3125923 w 3492832"/>
              <a:gd name="connsiteY127" fmla="*/ 411702 h 970502"/>
              <a:gd name="connsiteX128" fmla="*/ 3062312 w 3492832"/>
              <a:gd name="connsiteY128" fmla="*/ 348091 h 970502"/>
              <a:gd name="connsiteX129" fmla="*/ 3125923 w 3492832"/>
              <a:gd name="connsiteY129" fmla="*/ 284480 h 970502"/>
              <a:gd name="connsiteX130" fmla="*/ 2822625 w 3492832"/>
              <a:gd name="connsiteY130" fmla="*/ 284480 h 970502"/>
              <a:gd name="connsiteX131" fmla="*/ 2886236 w 3492832"/>
              <a:gd name="connsiteY131" fmla="*/ 348091 h 970502"/>
              <a:gd name="connsiteX132" fmla="*/ 2822625 w 3492832"/>
              <a:gd name="connsiteY132" fmla="*/ 411702 h 970502"/>
              <a:gd name="connsiteX133" fmla="*/ 2759014 w 3492832"/>
              <a:gd name="connsiteY133" fmla="*/ 348091 h 970502"/>
              <a:gd name="connsiteX134" fmla="*/ 2822625 w 3492832"/>
              <a:gd name="connsiteY134" fmla="*/ 284480 h 970502"/>
              <a:gd name="connsiteX135" fmla="*/ 2519327 w 3492832"/>
              <a:gd name="connsiteY135" fmla="*/ 284480 h 970502"/>
              <a:gd name="connsiteX136" fmla="*/ 2582938 w 3492832"/>
              <a:gd name="connsiteY136" fmla="*/ 348091 h 970502"/>
              <a:gd name="connsiteX137" fmla="*/ 2519327 w 3492832"/>
              <a:gd name="connsiteY137" fmla="*/ 411702 h 970502"/>
              <a:gd name="connsiteX138" fmla="*/ 2455716 w 3492832"/>
              <a:gd name="connsiteY138" fmla="*/ 348091 h 970502"/>
              <a:gd name="connsiteX139" fmla="*/ 2519327 w 3492832"/>
              <a:gd name="connsiteY139" fmla="*/ 284480 h 970502"/>
              <a:gd name="connsiteX140" fmla="*/ 2216029 w 3492832"/>
              <a:gd name="connsiteY140" fmla="*/ 284480 h 970502"/>
              <a:gd name="connsiteX141" fmla="*/ 2279640 w 3492832"/>
              <a:gd name="connsiteY141" fmla="*/ 348091 h 970502"/>
              <a:gd name="connsiteX142" fmla="*/ 2216029 w 3492832"/>
              <a:gd name="connsiteY142" fmla="*/ 411702 h 970502"/>
              <a:gd name="connsiteX143" fmla="*/ 2152418 w 3492832"/>
              <a:gd name="connsiteY143" fmla="*/ 348091 h 970502"/>
              <a:gd name="connsiteX144" fmla="*/ 2216029 w 3492832"/>
              <a:gd name="connsiteY144" fmla="*/ 284480 h 970502"/>
              <a:gd name="connsiteX145" fmla="*/ 1912731 w 3492832"/>
              <a:gd name="connsiteY145" fmla="*/ 284480 h 970502"/>
              <a:gd name="connsiteX146" fmla="*/ 1976342 w 3492832"/>
              <a:gd name="connsiteY146" fmla="*/ 348091 h 970502"/>
              <a:gd name="connsiteX147" fmla="*/ 1912731 w 3492832"/>
              <a:gd name="connsiteY147" fmla="*/ 411702 h 970502"/>
              <a:gd name="connsiteX148" fmla="*/ 1849120 w 3492832"/>
              <a:gd name="connsiteY148" fmla="*/ 348091 h 970502"/>
              <a:gd name="connsiteX149" fmla="*/ 1912731 w 3492832"/>
              <a:gd name="connsiteY149" fmla="*/ 284480 h 970502"/>
              <a:gd name="connsiteX150" fmla="*/ 1580101 w 3492832"/>
              <a:gd name="connsiteY150" fmla="*/ 284480 h 970502"/>
              <a:gd name="connsiteX151" fmla="*/ 1643712 w 3492832"/>
              <a:gd name="connsiteY151" fmla="*/ 348091 h 970502"/>
              <a:gd name="connsiteX152" fmla="*/ 1580101 w 3492832"/>
              <a:gd name="connsiteY152" fmla="*/ 411702 h 970502"/>
              <a:gd name="connsiteX153" fmla="*/ 1516490 w 3492832"/>
              <a:gd name="connsiteY153" fmla="*/ 348091 h 970502"/>
              <a:gd name="connsiteX154" fmla="*/ 1580101 w 3492832"/>
              <a:gd name="connsiteY154" fmla="*/ 284480 h 970502"/>
              <a:gd name="connsiteX155" fmla="*/ 1276803 w 3492832"/>
              <a:gd name="connsiteY155" fmla="*/ 284480 h 970502"/>
              <a:gd name="connsiteX156" fmla="*/ 1340414 w 3492832"/>
              <a:gd name="connsiteY156" fmla="*/ 348091 h 970502"/>
              <a:gd name="connsiteX157" fmla="*/ 1276803 w 3492832"/>
              <a:gd name="connsiteY157" fmla="*/ 411702 h 970502"/>
              <a:gd name="connsiteX158" fmla="*/ 1213192 w 3492832"/>
              <a:gd name="connsiteY158" fmla="*/ 348091 h 970502"/>
              <a:gd name="connsiteX159" fmla="*/ 1276803 w 3492832"/>
              <a:gd name="connsiteY159" fmla="*/ 284480 h 970502"/>
              <a:gd name="connsiteX160" fmla="*/ 973505 w 3492832"/>
              <a:gd name="connsiteY160" fmla="*/ 284480 h 970502"/>
              <a:gd name="connsiteX161" fmla="*/ 1037116 w 3492832"/>
              <a:gd name="connsiteY161" fmla="*/ 348091 h 970502"/>
              <a:gd name="connsiteX162" fmla="*/ 973505 w 3492832"/>
              <a:gd name="connsiteY162" fmla="*/ 411702 h 970502"/>
              <a:gd name="connsiteX163" fmla="*/ 909894 w 3492832"/>
              <a:gd name="connsiteY163" fmla="*/ 348091 h 970502"/>
              <a:gd name="connsiteX164" fmla="*/ 973505 w 3492832"/>
              <a:gd name="connsiteY164" fmla="*/ 284480 h 970502"/>
              <a:gd name="connsiteX165" fmla="*/ 670207 w 3492832"/>
              <a:gd name="connsiteY165" fmla="*/ 284480 h 970502"/>
              <a:gd name="connsiteX166" fmla="*/ 733818 w 3492832"/>
              <a:gd name="connsiteY166" fmla="*/ 348091 h 970502"/>
              <a:gd name="connsiteX167" fmla="*/ 670207 w 3492832"/>
              <a:gd name="connsiteY167" fmla="*/ 411702 h 970502"/>
              <a:gd name="connsiteX168" fmla="*/ 606596 w 3492832"/>
              <a:gd name="connsiteY168" fmla="*/ 348091 h 970502"/>
              <a:gd name="connsiteX169" fmla="*/ 670207 w 3492832"/>
              <a:gd name="connsiteY169" fmla="*/ 284480 h 970502"/>
              <a:gd name="connsiteX170" fmla="*/ 366909 w 3492832"/>
              <a:gd name="connsiteY170" fmla="*/ 284480 h 970502"/>
              <a:gd name="connsiteX171" fmla="*/ 430520 w 3492832"/>
              <a:gd name="connsiteY171" fmla="*/ 348091 h 970502"/>
              <a:gd name="connsiteX172" fmla="*/ 366909 w 3492832"/>
              <a:gd name="connsiteY172" fmla="*/ 411702 h 970502"/>
              <a:gd name="connsiteX173" fmla="*/ 303298 w 3492832"/>
              <a:gd name="connsiteY173" fmla="*/ 348091 h 970502"/>
              <a:gd name="connsiteX174" fmla="*/ 366909 w 3492832"/>
              <a:gd name="connsiteY174" fmla="*/ 284480 h 970502"/>
              <a:gd name="connsiteX175" fmla="*/ 63611 w 3492832"/>
              <a:gd name="connsiteY175" fmla="*/ 284480 h 970502"/>
              <a:gd name="connsiteX176" fmla="*/ 127222 w 3492832"/>
              <a:gd name="connsiteY176" fmla="*/ 348091 h 970502"/>
              <a:gd name="connsiteX177" fmla="*/ 63611 w 3492832"/>
              <a:gd name="connsiteY177" fmla="*/ 411702 h 970502"/>
              <a:gd name="connsiteX178" fmla="*/ 0 w 3492832"/>
              <a:gd name="connsiteY178" fmla="*/ 348091 h 970502"/>
              <a:gd name="connsiteX179" fmla="*/ 63611 w 3492832"/>
              <a:gd name="connsiteY179" fmla="*/ 284480 h 970502"/>
              <a:gd name="connsiteX180" fmla="*/ 3429221 w 3492832"/>
              <a:gd name="connsiteY180" fmla="*/ 0 h 970502"/>
              <a:gd name="connsiteX181" fmla="*/ 3492832 w 3492832"/>
              <a:gd name="connsiteY181" fmla="*/ 63611 h 970502"/>
              <a:gd name="connsiteX182" fmla="*/ 3429221 w 3492832"/>
              <a:gd name="connsiteY182" fmla="*/ 127222 h 970502"/>
              <a:gd name="connsiteX183" fmla="*/ 3365610 w 3492832"/>
              <a:gd name="connsiteY183" fmla="*/ 63611 h 970502"/>
              <a:gd name="connsiteX184" fmla="*/ 3429221 w 3492832"/>
              <a:gd name="connsiteY184" fmla="*/ 0 h 970502"/>
              <a:gd name="connsiteX185" fmla="*/ 3125923 w 3492832"/>
              <a:gd name="connsiteY185" fmla="*/ 0 h 970502"/>
              <a:gd name="connsiteX186" fmla="*/ 3189534 w 3492832"/>
              <a:gd name="connsiteY186" fmla="*/ 63611 h 970502"/>
              <a:gd name="connsiteX187" fmla="*/ 3125923 w 3492832"/>
              <a:gd name="connsiteY187" fmla="*/ 127222 h 970502"/>
              <a:gd name="connsiteX188" fmla="*/ 3062312 w 3492832"/>
              <a:gd name="connsiteY188" fmla="*/ 63611 h 970502"/>
              <a:gd name="connsiteX189" fmla="*/ 3125923 w 3492832"/>
              <a:gd name="connsiteY189" fmla="*/ 0 h 970502"/>
              <a:gd name="connsiteX190" fmla="*/ 2822625 w 3492832"/>
              <a:gd name="connsiteY190" fmla="*/ 0 h 970502"/>
              <a:gd name="connsiteX191" fmla="*/ 2886236 w 3492832"/>
              <a:gd name="connsiteY191" fmla="*/ 63611 h 970502"/>
              <a:gd name="connsiteX192" fmla="*/ 2822625 w 3492832"/>
              <a:gd name="connsiteY192" fmla="*/ 127222 h 970502"/>
              <a:gd name="connsiteX193" fmla="*/ 2759014 w 3492832"/>
              <a:gd name="connsiteY193" fmla="*/ 63611 h 970502"/>
              <a:gd name="connsiteX194" fmla="*/ 2822625 w 3492832"/>
              <a:gd name="connsiteY194" fmla="*/ 0 h 970502"/>
              <a:gd name="connsiteX195" fmla="*/ 2519327 w 3492832"/>
              <a:gd name="connsiteY195" fmla="*/ 0 h 970502"/>
              <a:gd name="connsiteX196" fmla="*/ 2582938 w 3492832"/>
              <a:gd name="connsiteY196" fmla="*/ 63611 h 970502"/>
              <a:gd name="connsiteX197" fmla="*/ 2519327 w 3492832"/>
              <a:gd name="connsiteY197" fmla="*/ 127222 h 970502"/>
              <a:gd name="connsiteX198" fmla="*/ 2455716 w 3492832"/>
              <a:gd name="connsiteY198" fmla="*/ 63611 h 970502"/>
              <a:gd name="connsiteX199" fmla="*/ 2519327 w 3492832"/>
              <a:gd name="connsiteY199" fmla="*/ 0 h 970502"/>
              <a:gd name="connsiteX200" fmla="*/ 2216029 w 3492832"/>
              <a:gd name="connsiteY200" fmla="*/ 0 h 970502"/>
              <a:gd name="connsiteX201" fmla="*/ 2279640 w 3492832"/>
              <a:gd name="connsiteY201" fmla="*/ 63611 h 970502"/>
              <a:gd name="connsiteX202" fmla="*/ 2216029 w 3492832"/>
              <a:gd name="connsiteY202" fmla="*/ 127222 h 970502"/>
              <a:gd name="connsiteX203" fmla="*/ 2152418 w 3492832"/>
              <a:gd name="connsiteY203" fmla="*/ 63611 h 970502"/>
              <a:gd name="connsiteX204" fmla="*/ 2216029 w 3492832"/>
              <a:gd name="connsiteY204" fmla="*/ 0 h 970502"/>
              <a:gd name="connsiteX205" fmla="*/ 1912731 w 3492832"/>
              <a:gd name="connsiteY205" fmla="*/ 0 h 970502"/>
              <a:gd name="connsiteX206" fmla="*/ 1976342 w 3492832"/>
              <a:gd name="connsiteY206" fmla="*/ 63611 h 970502"/>
              <a:gd name="connsiteX207" fmla="*/ 1912731 w 3492832"/>
              <a:gd name="connsiteY207" fmla="*/ 127222 h 970502"/>
              <a:gd name="connsiteX208" fmla="*/ 1849120 w 3492832"/>
              <a:gd name="connsiteY208" fmla="*/ 63611 h 970502"/>
              <a:gd name="connsiteX209" fmla="*/ 1912731 w 3492832"/>
              <a:gd name="connsiteY209" fmla="*/ 0 h 970502"/>
              <a:gd name="connsiteX210" fmla="*/ 1580101 w 3492832"/>
              <a:gd name="connsiteY210" fmla="*/ 0 h 970502"/>
              <a:gd name="connsiteX211" fmla="*/ 1643712 w 3492832"/>
              <a:gd name="connsiteY211" fmla="*/ 63611 h 970502"/>
              <a:gd name="connsiteX212" fmla="*/ 1580101 w 3492832"/>
              <a:gd name="connsiteY212" fmla="*/ 127222 h 970502"/>
              <a:gd name="connsiteX213" fmla="*/ 1516490 w 3492832"/>
              <a:gd name="connsiteY213" fmla="*/ 63611 h 970502"/>
              <a:gd name="connsiteX214" fmla="*/ 1580101 w 3492832"/>
              <a:gd name="connsiteY214" fmla="*/ 0 h 970502"/>
              <a:gd name="connsiteX215" fmla="*/ 1276803 w 3492832"/>
              <a:gd name="connsiteY215" fmla="*/ 0 h 970502"/>
              <a:gd name="connsiteX216" fmla="*/ 1340414 w 3492832"/>
              <a:gd name="connsiteY216" fmla="*/ 63611 h 970502"/>
              <a:gd name="connsiteX217" fmla="*/ 1276803 w 3492832"/>
              <a:gd name="connsiteY217" fmla="*/ 127222 h 970502"/>
              <a:gd name="connsiteX218" fmla="*/ 1213192 w 3492832"/>
              <a:gd name="connsiteY218" fmla="*/ 63611 h 970502"/>
              <a:gd name="connsiteX219" fmla="*/ 1276803 w 3492832"/>
              <a:gd name="connsiteY219" fmla="*/ 0 h 970502"/>
              <a:gd name="connsiteX220" fmla="*/ 973505 w 3492832"/>
              <a:gd name="connsiteY220" fmla="*/ 0 h 970502"/>
              <a:gd name="connsiteX221" fmla="*/ 1037116 w 3492832"/>
              <a:gd name="connsiteY221" fmla="*/ 63611 h 970502"/>
              <a:gd name="connsiteX222" fmla="*/ 973505 w 3492832"/>
              <a:gd name="connsiteY222" fmla="*/ 127222 h 970502"/>
              <a:gd name="connsiteX223" fmla="*/ 909894 w 3492832"/>
              <a:gd name="connsiteY223" fmla="*/ 63611 h 970502"/>
              <a:gd name="connsiteX224" fmla="*/ 973505 w 3492832"/>
              <a:gd name="connsiteY224" fmla="*/ 0 h 970502"/>
              <a:gd name="connsiteX225" fmla="*/ 670207 w 3492832"/>
              <a:gd name="connsiteY225" fmla="*/ 0 h 970502"/>
              <a:gd name="connsiteX226" fmla="*/ 733818 w 3492832"/>
              <a:gd name="connsiteY226" fmla="*/ 63611 h 970502"/>
              <a:gd name="connsiteX227" fmla="*/ 670207 w 3492832"/>
              <a:gd name="connsiteY227" fmla="*/ 127222 h 970502"/>
              <a:gd name="connsiteX228" fmla="*/ 606596 w 3492832"/>
              <a:gd name="connsiteY228" fmla="*/ 63611 h 970502"/>
              <a:gd name="connsiteX229" fmla="*/ 670207 w 3492832"/>
              <a:gd name="connsiteY229" fmla="*/ 0 h 970502"/>
              <a:gd name="connsiteX230" fmla="*/ 366909 w 3492832"/>
              <a:gd name="connsiteY230" fmla="*/ 0 h 970502"/>
              <a:gd name="connsiteX231" fmla="*/ 430520 w 3492832"/>
              <a:gd name="connsiteY231" fmla="*/ 63611 h 970502"/>
              <a:gd name="connsiteX232" fmla="*/ 366909 w 3492832"/>
              <a:gd name="connsiteY232" fmla="*/ 127222 h 970502"/>
              <a:gd name="connsiteX233" fmla="*/ 303298 w 3492832"/>
              <a:gd name="connsiteY233" fmla="*/ 63611 h 970502"/>
              <a:gd name="connsiteX234" fmla="*/ 366909 w 3492832"/>
              <a:gd name="connsiteY234" fmla="*/ 0 h 970502"/>
              <a:gd name="connsiteX235" fmla="*/ 63611 w 3492832"/>
              <a:gd name="connsiteY235" fmla="*/ 0 h 970502"/>
              <a:gd name="connsiteX236" fmla="*/ 127222 w 3492832"/>
              <a:gd name="connsiteY236" fmla="*/ 63611 h 970502"/>
              <a:gd name="connsiteX237" fmla="*/ 63611 w 3492832"/>
              <a:gd name="connsiteY237" fmla="*/ 127222 h 970502"/>
              <a:gd name="connsiteX238" fmla="*/ 0 w 3492832"/>
              <a:gd name="connsiteY238" fmla="*/ 63611 h 970502"/>
              <a:gd name="connsiteX239" fmla="*/ 63611 w 3492832"/>
              <a:gd name="connsiteY239" fmla="*/ 0 h 970502"/>
            </a:gdLst>
            <a:ahLst/>
            <a:cxnLst/>
            <a:rect l="l" t="t" r="r" b="b"/>
            <a:pathLst>
              <a:path w="3492832" h="970502">
                <a:moveTo>
                  <a:pt x="3429221" y="843280"/>
                </a:moveTo>
                <a:cubicBezTo>
                  <a:pt x="3464352" y="843280"/>
                  <a:pt x="3492832" y="871760"/>
                  <a:pt x="3492832" y="906891"/>
                </a:cubicBezTo>
                <a:cubicBezTo>
                  <a:pt x="3492832" y="942022"/>
                  <a:pt x="3464352" y="970502"/>
                  <a:pt x="3429221" y="970502"/>
                </a:cubicBezTo>
                <a:cubicBezTo>
                  <a:pt x="3394090" y="970502"/>
                  <a:pt x="3365610" y="942022"/>
                  <a:pt x="3365610" y="906891"/>
                </a:cubicBezTo>
                <a:cubicBezTo>
                  <a:pt x="3365610" y="871760"/>
                  <a:pt x="3394090" y="843280"/>
                  <a:pt x="3429221" y="843280"/>
                </a:cubicBezTo>
                <a:close/>
                <a:moveTo>
                  <a:pt x="3125923" y="843280"/>
                </a:moveTo>
                <a:cubicBezTo>
                  <a:pt x="3161054" y="843280"/>
                  <a:pt x="3189534" y="871760"/>
                  <a:pt x="3189534" y="906891"/>
                </a:cubicBezTo>
                <a:cubicBezTo>
                  <a:pt x="3189534" y="942022"/>
                  <a:pt x="3161054" y="970502"/>
                  <a:pt x="3125923" y="970502"/>
                </a:cubicBezTo>
                <a:cubicBezTo>
                  <a:pt x="3090792" y="970502"/>
                  <a:pt x="3062312" y="942022"/>
                  <a:pt x="3062312" y="906891"/>
                </a:cubicBezTo>
                <a:cubicBezTo>
                  <a:pt x="3062312" y="871760"/>
                  <a:pt x="3090792" y="843280"/>
                  <a:pt x="3125923" y="843280"/>
                </a:cubicBezTo>
                <a:close/>
                <a:moveTo>
                  <a:pt x="2822625" y="843280"/>
                </a:moveTo>
                <a:cubicBezTo>
                  <a:pt x="2857756" y="843280"/>
                  <a:pt x="2886236" y="871760"/>
                  <a:pt x="2886236" y="906891"/>
                </a:cubicBezTo>
                <a:cubicBezTo>
                  <a:pt x="2886236" y="942022"/>
                  <a:pt x="2857756" y="970502"/>
                  <a:pt x="2822625" y="970502"/>
                </a:cubicBezTo>
                <a:cubicBezTo>
                  <a:pt x="2787494" y="970502"/>
                  <a:pt x="2759014" y="942022"/>
                  <a:pt x="2759014" y="906891"/>
                </a:cubicBezTo>
                <a:cubicBezTo>
                  <a:pt x="2759014" y="871760"/>
                  <a:pt x="2787494" y="843280"/>
                  <a:pt x="2822625" y="843280"/>
                </a:cubicBezTo>
                <a:close/>
                <a:moveTo>
                  <a:pt x="2519327" y="843280"/>
                </a:moveTo>
                <a:cubicBezTo>
                  <a:pt x="2554458" y="843280"/>
                  <a:pt x="2582938" y="871760"/>
                  <a:pt x="2582938" y="906891"/>
                </a:cubicBezTo>
                <a:cubicBezTo>
                  <a:pt x="2582938" y="942022"/>
                  <a:pt x="2554458" y="970502"/>
                  <a:pt x="2519327" y="970502"/>
                </a:cubicBezTo>
                <a:cubicBezTo>
                  <a:pt x="2484196" y="970502"/>
                  <a:pt x="2455716" y="942022"/>
                  <a:pt x="2455716" y="906891"/>
                </a:cubicBezTo>
                <a:cubicBezTo>
                  <a:pt x="2455716" y="871760"/>
                  <a:pt x="2484196" y="843280"/>
                  <a:pt x="2519327" y="843280"/>
                </a:cubicBezTo>
                <a:close/>
                <a:moveTo>
                  <a:pt x="2216029" y="843280"/>
                </a:moveTo>
                <a:cubicBezTo>
                  <a:pt x="2251160" y="843280"/>
                  <a:pt x="2279640" y="871760"/>
                  <a:pt x="2279640" y="906891"/>
                </a:cubicBezTo>
                <a:cubicBezTo>
                  <a:pt x="2279640" y="942022"/>
                  <a:pt x="2251160" y="970502"/>
                  <a:pt x="2216029" y="970502"/>
                </a:cubicBezTo>
                <a:cubicBezTo>
                  <a:pt x="2180898" y="970502"/>
                  <a:pt x="2152418" y="942022"/>
                  <a:pt x="2152418" y="906891"/>
                </a:cubicBezTo>
                <a:cubicBezTo>
                  <a:pt x="2152418" y="871760"/>
                  <a:pt x="2180898" y="843280"/>
                  <a:pt x="2216029" y="843280"/>
                </a:cubicBezTo>
                <a:close/>
                <a:moveTo>
                  <a:pt x="1912731" y="843280"/>
                </a:moveTo>
                <a:cubicBezTo>
                  <a:pt x="1947862" y="843280"/>
                  <a:pt x="1976342" y="871760"/>
                  <a:pt x="1976342" y="906891"/>
                </a:cubicBezTo>
                <a:cubicBezTo>
                  <a:pt x="1976342" y="942022"/>
                  <a:pt x="1947862" y="970502"/>
                  <a:pt x="1912731" y="970502"/>
                </a:cubicBezTo>
                <a:cubicBezTo>
                  <a:pt x="1877600" y="970502"/>
                  <a:pt x="1849120" y="942022"/>
                  <a:pt x="1849120" y="906891"/>
                </a:cubicBezTo>
                <a:cubicBezTo>
                  <a:pt x="1849120" y="871760"/>
                  <a:pt x="1877600" y="843280"/>
                  <a:pt x="1912731" y="843280"/>
                </a:cubicBezTo>
                <a:close/>
                <a:moveTo>
                  <a:pt x="1580101" y="843280"/>
                </a:moveTo>
                <a:cubicBezTo>
                  <a:pt x="1615232" y="843280"/>
                  <a:pt x="1643712" y="871760"/>
                  <a:pt x="1643712" y="906891"/>
                </a:cubicBezTo>
                <a:cubicBezTo>
                  <a:pt x="1643712" y="942022"/>
                  <a:pt x="1615232" y="970502"/>
                  <a:pt x="1580101" y="970502"/>
                </a:cubicBezTo>
                <a:cubicBezTo>
                  <a:pt x="1544970" y="970502"/>
                  <a:pt x="1516490" y="942022"/>
                  <a:pt x="1516490" y="906891"/>
                </a:cubicBezTo>
                <a:cubicBezTo>
                  <a:pt x="1516490" y="871760"/>
                  <a:pt x="1544970" y="843280"/>
                  <a:pt x="1580101" y="843280"/>
                </a:cubicBezTo>
                <a:close/>
                <a:moveTo>
                  <a:pt x="1276803" y="843280"/>
                </a:moveTo>
                <a:cubicBezTo>
                  <a:pt x="1311934" y="843280"/>
                  <a:pt x="1340414" y="871760"/>
                  <a:pt x="1340414" y="906891"/>
                </a:cubicBezTo>
                <a:cubicBezTo>
                  <a:pt x="1340414" y="942022"/>
                  <a:pt x="1311934" y="970502"/>
                  <a:pt x="1276803" y="970502"/>
                </a:cubicBezTo>
                <a:cubicBezTo>
                  <a:pt x="1241672" y="970502"/>
                  <a:pt x="1213192" y="942022"/>
                  <a:pt x="1213192" y="906891"/>
                </a:cubicBezTo>
                <a:cubicBezTo>
                  <a:pt x="1213192" y="871760"/>
                  <a:pt x="1241672" y="843280"/>
                  <a:pt x="1276803" y="843280"/>
                </a:cubicBezTo>
                <a:close/>
                <a:moveTo>
                  <a:pt x="973505" y="843280"/>
                </a:moveTo>
                <a:cubicBezTo>
                  <a:pt x="1008636" y="843280"/>
                  <a:pt x="1037116" y="871760"/>
                  <a:pt x="1037116" y="906891"/>
                </a:cubicBezTo>
                <a:cubicBezTo>
                  <a:pt x="1037116" y="942022"/>
                  <a:pt x="1008636" y="970502"/>
                  <a:pt x="973505" y="970502"/>
                </a:cubicBezTo>
                <a:cubicBezTo>
                  <a:pt x="938374" y="970502"/>
                  <a:pt x="909894" y="942022"/>
                  <a:pt x="909894" y="906891"/>
                </a:cubicBezTo>
                <a:cubicBezTo>
                  <a:pt x="909894" y="871760"/>
                  <a:pt x="938374" y="843280"/>
                  <a:pt x="973505" y="843280"/>
                </a:cubicBezTo>
                <a:close/>
                <a:moveTo>
                  <a:pt x="670207" y="843280"/>
                </a:moveTo>
                <a:cubicBezTo>
                  <a:pt x="705338" y="843280"/>
                  <a:pt x="733818" y="871760"/>
                  <a:pt x="733818" y="906891"/>
                </a:cubicBezTo>
                <a:cubicBezTo>
                  <a:pt x="733818" y="942022"/>
                  <a:pt x="705338" y="970502"/>
                  <a:pt x="670207" y="970502"/>
                </a:cubicBezTo>
                <a:cubicBezTo>
                  <a:pt x="635076" y="970502"/>
                  <a:pt x="606596" y="942022"/>
                  <a:pt x="606596" y="906891"/>
                </a:cubicBezTo>
                <a:cubicBezTo>
                  <a:pt x="606596" y="871760"/>
                  <a:pt x="635076" y="843280"/>
                  <a:pt x="670207" y="843280"/>
                </a:cubicBezTo>
                <a:close/>
                <a:moveTo>
                  <a:pt x="366909" y="843280"/>
                </a:moveTo>
                <a:cubicBezTo>
                  <a:pt x="402040" y="843280"/>
                  <a:pt x="430520" y="871760"/>
                  <a:pt x="430520" y="906891"/>
                </a:cubicBezTo>
                <a:cubicBezTo>
                  <a:pt x="430520" y="942022"/>
                  <a:pt x="402040" y="970502"/>
                  <a:pt x="366909" y="970502"/>
                </a:cubicBezTo>
                <a:cubicBezTo>
                  <a:pt x="331778" y="970502"/>
                  <a:pt x="303298" y="942022"/>
                  <a:pt x="303298" y="906891"/>
                </a:cubicBezTo>
                <a:cubicBezTo>
                  <a:pt x="303298" y="871760"/>
                  <a:pt x="331778" y="843280"/>
                  <a:pt x="366909" y="843280"/>
                </a:cubicBezTo>
                <a:close/>
                <a:moveTo>
                  <a:pt x="63611" y="843280"/>
                </a:moveTo>
                <a:cubicBezTo>
                  <a:pt x="98742" y="843280"/>
                  <a:pt x="127222" y="871760"/>
                  <a:pt x="127222" y="906891"/>
                </a:cubicBezTo>
                <a:cubicBezTo>
                  <a:pt x="127222" y="942022"/>
                  <a:pt x="98742" y="970502"/>
                  <a:pt x="63611" y="970502"/>
                </a:cubicBezTo>
                <a:cubicBezTo>
                  <a:pt x="28480" y="970502"/>
                  <a:pt x="0" y="942022"/>
                  <a:pt x="0" y="906891"/>
                </a:cubicBezTo>
                <a:cubicBezTo>
                  <a:pt x="0" y="871760"/>
                  <a:pt x="28480" y="843280"/>
                  <a:pt x="63611" y="843280"/>
                </a:cubicBezTo>
                <a:close/>
                <a:moveTo>
                  <a:pt x="3429221" y="558800"/>
                </a:moveTo>
                <a:cubicBezTo>
                  <a:pt x="3464352" y="558800"/>
                  <a:pt x="3492832" y="587280"/>
                  <a:pt x="3492832" y="622411"/>
                </a:cubicBezTo>
                <a:cubicBezTo>
                  <a:pt x="3492832" y="657542"/>
                  <a:pt x="3464352" y="686022"/>
                  <a:pt x="3429221" y="686022"/>
                </a:cubicBezTo>
                <a:cubicBezTo>
                  <a:pt x="3394090" y="686022"/>
                  <a:pt x="3365610" y="657542"/>
                  <a:pt x="3365610" y="622411"/>
                </a:cubicBezTo>
                <a:cubicBezTo>
                  <a:pt x="3365610" y="587280"/>
                  <a:pt x="3394090" y="558800"/>
                  <a:pt x="3429221" y="558800"/>
                </a:cubicBezTo>
                <a:close/>
                <a:moveTo>
                  <a:pt x="3125923" y="558800"/>
                </a:moveTo>
                <a:cubicBezTo>
                  <a:pt x="3161054" y="558800"/>
                  <a:pt x="3189534" y="587280"/>
                  <a:pt x="3189534" y="622411"/>
                </a:cubicBezTo>
                <a:cubicBezTo>
                  <a:pt x="3189534" y="657542"/>
                  <a:pt x="3161054" y="686022"/>
                  <a:pt x="3125923" y="686022"/>
                </a:cubicBezTo>
                <a:cubicBezTo>
                  <a:pt x="3090792" y="686022"/>
                  <a:pt x="3062312" y="657542"/>
                  <a:pt x="3062312" y="622411"/>
                </a:cubicBezTo>
                <a:cubicBezTo>
                  <a:pt x="3062312" y="587280"/>
                  <a:pt x="3090792" y="558800"/>
                  <a:pt x="3125923" y="558800"/>
                </a:cubicBezTo>
                <a:close/>
                <a:moveTo>
                  <a:pt x="2822625" y="558800"/>
                </a:moveTo>
                <a:cubicBezTo>
                  <a:pt x="2857756" y="558800"/>
                  <a:pt x="2886236" y="587280"/>
                  <a:pt x="2886236" y="622411"/>
                </a:cubicBezTo>
                <a:cubicBezTo>
                  <a:pt x="2886236" y="657542"/>
                  <a:pt x="2857756" y="686022"/>
                  <a:pt x="2822625" y="686022"/>
                </a:cubicBezTo>
                <a:cubicBezTo>
                  <a:pt x="2787494" y="686022"/>
                  <a:pt x="2759014" y="657542"/>
                  <a:pt x="2759014" y="622411"/>
                </a:cubicBezTo>
                <a:cubicBezTo>
                  <a:pt x="2759014" y="587280"/>
                  <a:pt x="2787494" y="558800"/>
                  <a:pt x="2822625" y="558800"/>
                </a:cubicBezTo>
                <a:close/>
                <a:moveTo>
                  <a:pt x="2519327" y="558800"/>
                </a:moveTo>
                <a:cubicBezTo>
                  <a:pt x="2554458" y="558800"/>
                  <a:pt x="2582938" y="587280"/>
                  <a:pt x="2582938" y="622411"/>
                </a:cubicBezTo>
                <a:cubicBezTo>
                  <a:pt x="2582938" y="657542"/>
                  <a:pt x="2554458" y="686022"/>
                  <a:pt x="2519327" y="686022"/>
                </a:cubicBezTo>
                <a:cubicBezTo>
                  <a:pt x="2484196" y="686022"/>
                  <a:pt x="2455716" y="657542"/>
                  <a:pt x="2455716" y="622411"/>
                </a:cubicBezTo>
                <a:cubicBezTo>
                  <a:pt x="2455716" y="587280"/>
                  <a:pt x="2484196" y="558800"/>
                  <a:pt x="2519327" y="558800"/>
                </a:cubicBezTo>
                <a:close/>
                <a:moveTo>
                  <a:pt x="2216029" y="558800"/>
                </a:moveTo>
                <a:cubicBezTo>
                  <a:pt x="2251160" y="558800"/>
                  <a:pt x="2279640" y="587280"/>
                  <a:pt x="2279640" y="622411"/>
                </a:cubicBezTo>
                <a:cubicBezTo>
                  <a:pt x="2279640" y="657542"/>
                  <a:pt x="2251160" y="686022"/>
                  <a:pt x="2216029" y="686022"/>
                </a:cubicBezTo>
                <a:cubicBezTo>
                  <a:pt x="2180898" y="686022"/>
                  <a:pt x="2152418" y="657542"/>
                  <a:pt x="2152418" y="622411"/>
                </a:cubicBezTo>
                <a:cubicBezTo>
                  <a:pt x="2152418" y="587280"/>
                  <a:pt x="2180898" y="558800"/>
                  <a:pt x="2216029" y="558800"/>
                </a:cubicBezTo>
                <a:close/>
                <a:moveTo>
                  <a:pt x="1912731" y="558800"/>
                </a:moveTo>
                <a:cubicBezTo>
                  <a:pt x="1947862" y="558800"/>
                  <a:pt x="1976342" y="587280"/>
                  <a:pt x="1976342" y="622411"/>
                </a:cubicBezTo>
                <a:cubicBezTo>
                  <a:pt x="1976342" y="657542"/>
                  <a:pt x="1947862" y="686022"/>
                  <a:pt x="1912731" y="686022"/>
                </a:cubicBezTo>
                <a:cubicBezTo>
                  <a:pt x="1877600" y="686022"/>
                  <a:pt x="1849120" y="657542"/>
                  <a:pt x="1849120" y="622411"/>
                </a:cubicBezTo>
                <a:cubicBezTo>
                  <a:pt x="1849120" y="587280"/>
                  <a:pt x="1877600" y="558800"/>
                  <a:pt x="1912731" y="558800"/>
                </a:cubicBezTo>
                <a:close/>
                <a:moveTo>
                  <a:pt x="1580101" y="558800"/>
                </a:moveTo>
                <a:cubicBezTo>
                  <a:pt x="1615232" y="558800"/>
                  <a:pt x="1643712" y="587280"/>
                  <a:pt x="1643712" y="622411"/>
                </a:cubicBezTo>
                <a:cubicBezTo>
                  <a:pt x="1643712" y="657542"/>
                  <a:pt x="1615232" y="686022"/>
                  <a:pt x="1580101" y="686022"/>
                </a:cubicBezTo>
                <a:cubicBezTo>
                  <a:pt x="1544970" y="686022"/>
                  <a:pt x="1516490" y="657542"/>
                  <a:pt x="1516490" y="622411"/>
                </a:cubicBezTo>
                <a:cubicBezTo>
                  <a:pt x="1516490" y="587280"/>
                  <a:pt x="1544970" y="558800"/>
                  <a:pt x="1580101" y="558800"/>
                </a:cubicBezTo>
                <a:close/>
                <a:moveTo>
                  <a:pt x="1276803" y="558800"/>
                </a:moveTo>
                <a:cubicBezTo>
                  <a:pt x="1311934" y="558800"/>
                  <a:pt x="1340414" y="587280"/>
                  <a:pt x="1340414" y="622411"/>
                </a:cubicBezTo>
                <a:cubicBezTo>
                  <a:pt x="1340414" y="657542"/>
                  <a:pt x="1311934" y="686022"/>
                  <a:pt x="1276803" y="686022"/>
                </a:cubicBezTo>
                <a:cubicBezTo>
                  <a:pt x="1241672" y="686022"/>
                  <a:pt x="1213192" y="657542"/>
                  <a:pt x="1213192" y="622411"/>
                </a:cubicBezTo>
                <a:cubicBezTo>
                  <a:pt x="1213192" y="587280"/>
                  <a:pt x="1241672" y="558800"/>
                  <a:pt x="1276803" y="558800"/>
                </a:cubicBezTo>
                <a:close/>
                <a:moveTo>
                  <a:pt x="973505" y="558800"/>
                </a:moveTo>
                <a:cubicBezTo>
                  <a:pt x="1008636" y="558800"/>
                  <a:pt x="1037116" y="587280"/>
                  <a:pt x="1037116" y="622411"/>
                </a:cubicBezTo>
                <a:cubicBezTo>
                  <a:pt x="1037116" y="657542"/>
                  <a:pt x="1008636" y="686022"/>
                  <a:pt x="973505" y="686022"/>
                </a:cubicBezTo>
                <a:cubicBezTo>
                  <a:pt x="938374" y="686022"/>
                  <a:pt x="909894" y="657542"/>
                  <a:pt x="909894" y="622411"/>
                </a:cubicBezTo>
                <a:cubicBezTo>
                  <a:pt x="909894" y="587280"/>
                  <a:pt x="938374" y="558800"/>
                  <a:pt x="973505" y="558800"/>
                </a:cubicBezTo>
                <a:close/>
                <a:moveTo>
                  <a:pt x="670207" y="558800"/>
                </a:moveTo>
                <a:cubicBezTo>
                  <a:pt x="705338" y="558800"/>
                  <a:pt x="733818" y="587280"/>
                  <a:pt x="733818" y="622411"/>
                </a:cubicBezTo>
                <a:cubicBezTo>
                  <a:pt x="733818" y="657542"/>
                  <a:pt x="705338" y="686022"/>
                  <a:pt x="670207" y="686022"/>
                </a:cubicBezTo>
                <a:cubicBezTo>
                  <a:pt x="635076" y="686022"/>
                  <a:pt x="606596" y="657542"/>
                  <a:pt x="606596" y="622411"/>
                </a:cubicBezTo>
                <a:cubicBezTo>
                  <a:pt x="606596" y="587280"/>
                  <a:pt x="635076" y="558800"/>
                  <a:pt x="670207" y="558800"/>
                </a:cubicBezTo>
                <a:close/>
                <a:moveTo>
                  <a:pt x="366909" y="558800"/>
                </a:moveTo>
                <a:cubicBezTo>
                  <a:pt x="402040" y="558800"/>
                  <a:pt x="430520" y="587280"/>
                  <a:pt x="430520" y="622411"/>
                </a:cubicBezTo>
                <a:cubicBezTo>
                  <a:pt x="430520" y="657542"/>
                  <a:pt x="402040" y="686022"/>
                  <a:pt x="366909" y="686022"/>
                </a:cubicBezTo>
                <a:cubicBezTo>
                  <a:pt x="331778" y="686022"/>
                  <a:pt x="303298" y="657542"/>
                  <a:pt x="303298" y="622411"/>
                </a:cubicBezTo>
                <a:cubicBezTo>
                  <a:pt x="303298" y="587280"/>
                  <a:pt x="331778" y="558800"/>
                  <a:pt x="366909" y="558800"/>
                </a:cubicBezTo>
                <a:close/>
                <a:moveTo>
                  <a:pt x="63611" y="558800"/>
                </a:moveTo>
                <a:cubicBezTo>
                  <a:pt x="98742" y="558800"/>
                  <a:pt x="127222" y="587280"/>
                  <a:pt x="127222" y="622411"/>
                </a:cubicBezTo>
                <a:cubicBezTo>
                  <a:pt x="127222" y="657542"/>
                  <a:pt x="98742" y="686022"/>
                  <a:pt x="63611" y="686022"/>
                </a:cubicBezTo>
                <a:cubicBezTo>
                  <a:pt x="28480" y="686022"/>
                  <a:pt x="0" y="657542"/>
                  <a:pt x="0" y="622411"/>
                </a:cubicBezTo>
                <a:cubicBezTo>
                  <a:pt x="0" y="587280"/>
                  <a:pt x="28480" y="558800"/>
                  <a:pt x="63611" y="558800"/>
                </a:cubicBezTo>
                <a:close/>
                <a:moveTo>
                  <a:pt x="3429221" y="284480"/>
                </a:moveTo>
                <a:cubicBezTo>
                  <a:pt x="3464352" y="284480"/>
                  <a:pt x="3492832" y="312960"/>
                  <a:pt x="3492832" y="348091"/>
                </a:cubicBezTo>
                <a:cubicBezTo>
                  <a:pt x="3492832" y="383222"/>
                  <a:pt x="3464352" y="411702"/>
                  <a:pt x="3429221" y="411702"/>
                </a:cubicBezTo>
                <a:cubicBezTo>
                  <a:pt x="3394090" y="411702"/>
                  <a:pt x="3365610" y="383222"/>
                  <a:pt x="3365610" y="348091"/>
                </a:cubicBezTo>
                <a:cubicBezTo>
                  <a:pt x="3365610" y="312960"/>
                  <a:pt x="3394090" y="284480"/>
                  <a:pt x="3429221" y="284480"/>
                </a:cubicBezTo>
                <a:close/>
                <a:moveTo>
                  <a:pt x="3125923" y="284480"/>
                </a:moveTo>
                <a:cubicBezTo>
                  <a:pt x="3161054" y="284480"/>
                  <a:pt x="3189534" y="312960"/>
                  <a:pt x="3189534" y="348091"/>
                </a:cubicBezTo>
                <a:cubicBezTo>
                  <a:pt x="3189534" y="383222"/>
                  <a:pt x="3161054" y="411702"/>
                  <a:pt x="3125923" y="411702"/>
                </a:cubicBezTo>
                <a:cubicBezTo>
                  <a:pt x="3090792" y="411702"/>
                  <a:pt x="3062312" y="383222"/>
                  <a:pt x="3062312" y="348091"/>
                </a:cubicBezTo>
                <a:cubicBezTo>
                  <a:pt x="3062312" y="312960"/>
                  <a:pt x="3090792" y="284480"/>
                  <a:pt x="3125923" y="284480"/>
                </a:cubicBezTo>
                <a:close/>
                <a:moveTo>
                  <a:pt x="2822625" y="284480"/>
                </a:moveTo>
                <a:cubicBezTo>
                  <a:pt x="2857756" y="284480"/>
                  <a:pt x="2886236" y="312960"/>
                  <a:pt x="2886236" y="348091"/>
                </a:cubicBezTo>
                <a:cubicBezTo>
                  <a:pt x="2886236" y="383222"/>
                  <a:pt x="2857756" y="411702"/>
                  <a:pt x="2822625" y="411702"/>
                </a:cubicBezTo>
                <a:cubicBezTo>
                  <a:pt x="2787494" y="411702"/>
                  <a:pt x="2759014" y="383222"/>
                  <a:pt x="2759014" y="348091"/>
                </a:cubicBezTo>
                <a:cubicBezTo>
                  <a:pt x="2759014" y="312960"/>
                  <a:pt x="2787494" y="284480"/>
                  <a:pt x="2822625" y="284480"/>
                </a:cubicBezTo>
                <a:close/>
                <a:moveTo>
                  <a:pt x="2519327" y="284480"/>
                </a:moveTo>
                <a:cubicBezTo>
                  <a:pt x="2554458" y="284480"/>
                  <a:pt x="2582938" y="312960"/>
                  <a:pt x="2582938" y="348091"/>
                </a:cubicBezTo>
                <a:cubicBezTo>
                  <a:pt x="2582938" y="383222"/>
                  <a:pt x="2554458" y="411702"/>
                  <a:pt x="2519327" y="411702"/>
                </a:cubicBezTo>
                <a:cubicBezTo>
                  <a:pt x="2484196" y="411702"/>
                  <a:pt x="2455716" y="383222"/>
                  <a:pt x="2455716" y="348091"/>
                </a:cubicBezTo>
                <a:cubicBezTo>
                  <a:pt x="2455716" y="312960"/>
                  <a:pt x="2484196" y="284480"/>
                  <a:pt x="2519327" y="284480"/>
                </a:cubicBezTo>
                <a:close/>
                <a:moveTo>
                  <a:pt x="2216029" y="284480"/>
                </a:moveTo>
                <a:cubicBezTo>
                  <a:pt x="2251160" y="284480"/>
                  <a:pt x="2279640" y="312960"/>
                  <a:pt x="2279640" y="348091"/>
                </a:cubicBezTo>
                <a:cubicBezTo>
                  <a:pt x="2279640" y="383222"/>
                  <a:pt x="2251160" y="411702"/>
                  <a:pt x="2216029" y="411702"/>
                </a:cubicBezTo>
                <a:cubicBezTo>
                  <a:pt x="2180898" y="411702"/>
                  <a:pt x="2152418" y="383222"/>
                  <a:pt x="2152418" y="348091"/>
                </a:cubicBezTo>
                <a:cubicBezTo>
                  <a:pt x="2152418" y="312960"/>
                  <a:pt x="2180898" y="284480"/>
                  <a:pt x="2216029" y="284480"/>
                </a:cubicBezTo>
                <a:close/>
                <a:moveTo>
                  <a:pt x="1912731" y="284480"/>
                </a:moveTo>
                <a:cubicBezTo>
                  <a:pt x="1947862" y="284480"/>
                  <a:pt x="1976342" y="312960"/>
                  <a:pt x="1976342" y="348091"/>
                </a:cubicBezTo>
                <a:cubicBezTo>
                  <a:pt x="1976342" y="383222"/>
                  <a:pt x="1947862" y="411702"/>
                  <a:pt x="1912731" y="411702"/>
                </a:cubicBezTo>
                <a:cubicBezTo>
                  <a:pt x="1877600" y="411702"/>
                  <a:pt x="1849120" y="383222"/>
                  <a:pt x="1849120" y="348091"/>
                </a:cubicBezTo>
                <a:cubicBezTo>
                  <a:pt x="1849120" y="312960"/>
                  <a:pt x="1877600" y="284480"/>
                  <a:pt x="1912731" y="284480"/>
                </a:cubicBezTo>
                <a:close/>
                <a:moveTo>
                  <a:pt x="1580101" y="284480"/>
                </a:moveTo>
                <a:cubicBezTo>
                  <a:pt x="1615232" y="284480"/>
                  <a:pt x="1643712" y="312960"/>
                  <a:pt x="1643712" y="348091"/>
                </a:cubicBezTo>
                <a:cubicBezTo>
                  <a:pt x="1643712" y="383222"/>
                  <a:pt x="1615232" y="411702"/>
                  <a:pt x="1580101" y="411702"/>
                </a:cubicBezTo>
                <a:cubicBezTo>
                  <a:pt x="1544970" y="411702"/>
                  <a:pt x="1516490" y="383222"/>
                  <a:pt x="1516490" y="348091"/>
                </a:cubicBezTo>
                <a:cubicBezTo>
                  <a:pt x="1516490" y="312960"/>
                  <a:pt x="1544970" y="284480"/>
                  <a:pt x="1580101" y="284480"/>
                </a:cubicBezTo>
                <a:close/>
                <a:moveTo>
                  <a:pt x="1276803" y="284480"/>
                </a:moveTo>
                <a:cubicBezTo>
                  <a:pt x="1311934" y="284480"/>
                  <a:pt x="1340414" y="312960"/>
                  <a:pt x="1340414" y="348091"/>
                </a:cubicBezTo>
                <a:cubicBezTo>
                  <a:pt x="1340414" y="383222"/>
                  <a:pt x="1311934" y="411702"/>
                  <a:pt x="1276803" y="411702"/>
                </a:cubicBezTo>
                <a:cubicBezTo>
                  <a:pt x="1241672" y="411702"/>
                  <a:pt x="1213192" y="383222"/>
                  <a:pt x="1213192" y="348091"/>
                </a:cubicBezTo>
                <a:cubicBezTo>
                  <a:pt x="1213192" y="312960"/>
                  <a:pt x="1241672" y="284480"/>
                  <a:pt x="1276803" y="284480"/>
                </a:cubicBezTo>
                <a:close/>
                <a:moveTo>
                  <a:pt x="973505" y="284480"/>
                </a:moveTo>
                <a:cubicBezTo>
                  <a:pt x="1008636" y="284480"/>
                  <a:pt x="1037116" y="312960"/>
                  <a:pt x="1037116" y="348091"/>
                </a:cubicBezTo>
                <a:cubicBezTo>
                  <a:pt x="1037116" y="383222"/>
                  <a:pt x="1008636" y="411702"/>
                  <a:pt x="973505" y="411702"/>
                </a:cubicBezTo>
                <a:cubicBezTo>
                  <a:pt x="938374" y="411702"/>
                  <a:pt x="909894" y="383222"/>
                  <a:pt x="909894" y="348091"/>
                </a:cubicBezTo>
                <a:cubicBezTo>
                  <a:pt x="909894" y="312960"/>
                  <a:pt x="938374" y="284480"/>
                  <a:pt x="973505" y="284480"/>
                </a:cubicBezTo>
                <a:close/>
                <a:moveTo>
                  <a:pt x="670207" y="284480"/>
                </a:moveTo>
                <a:cubicBezTo>
                  <a:pt x="705338" y="284480"/>
                  <a:pt x="733818" y="312960"/>
                  <a:pt x="733818" y="348091"/>
                </a:cubicBezTo>
                <a:cubicBezTo>
                  <a:pt x="733818" y="383222"/>
                  <a:pt x="705338" y="411702"/>
                  <a:pt x="670207" y="411702"/>
                </a:cubicBezTo>
                <a:cubicBezTo>
                  <a:pt x="635076" y="411702"/>
                  <a:pt x="606596" y="383222"/>
                  <a:pt x="606596" y="348091"/>
                </a:cubicBezTo>
                <a:cubicBezTo>
                  <a:pt x="606596" y="312960"/>
                  <a:pt x="635076" y="284480"/>
                  <a:pt x="670207" y="284480"/>
                </a:cubicBezTo>
                <a:close/>
                <a:moveTo>
                  <a:pt x="366909" y="284480"/>
                </a:moveTo>
                <a:cubicBezTo>
                  <a:pt x="402040" y="284480"/>
                  <a:pt x="430520" y="312960"/>
                  <a:pt x="430520" y="348091"/>
                </a:cubicBezTo>
                <a:cubicBezTo>
                  <a:pt x="430520" y="383222"/>
                  <a:pt x="402040" y="411702"/>
                  <a:pt x="366909" y="411702"/>
                </a:cubicBezTo>
                <a:cubicBezTo>
                  <a:pt x="331778" y="411702"/>
                  <a:pt x="303298" y="383222"/>
                  <a:pt x="303298" y="348091"/>
                </a:cubicBezTo>
                <a:cubicBezTo>
                  <a:pt x="303298" y="312960"/>
                  <a:pt x="331778" y="284480"/>
                  <a:pt x="366909" y="284480"/>
                </a:cubicBezTo>
                <a:close/>
                <a:moveTo>
                  <a:pt x="63611" y="284480"/>
                </a:moveTo>
                <a:cubicBezTo>
                  <a:pt x="98742" y="284480"/>
                  <a:pt x="127222" y="312960"/>
                  <a:pt x="127222" y="348091"/>
                </a:cubicBezTo>
                <a:cubicBezTo>
                  <a:pt x="127222" y="383222"/>
                  <a:pt x="98742" y="411702"/>
                  <a:pt x="63611" y="411702"/>
                </a:cubicBezTo>
                <a:cubicBezTo>
                  <a:pt x="28480" y="411702"/>
                  <a:pt x="0" y="383222"/>
                  <a:pt x="0" y="348091"/>
                </a:cubicBezTo>
                <a:cubicBezTo>
                  <a:pt x="0" y="312960"/>
                  <a:pt x="28480" y="284480"/>
                  <a:pt x="63611" y="284480"/>
                </a:cubicBezTo>
                <a:close/>
                <a:moveTo>
                  <a:pt x="3429221" y="0"/>
                </a:moveTo>
                <a:cubicBezTo>
                  <a:pt x="3464352" y="0"/>
                  <a:pt x="3492832" y="28480"/>
                  <a:pt x="3492832" y="63611"/>
                </a:cubicBezTo>
                <a:cubicBezTo>
                  <a:pt x="3492832" y="98742"/>
                  <a:pt x="3464352" y="127222"/>
                  <a:pt x="3429221" y="127222"/>
                </a:cubicBezTo>
                <a:cubicBezTo>
                  <a:pt x="3394090" y="127222"/>
                  <a:pt x="3365610" y="98742"/>
                  <a:pt x="3365610" y="63611"/>
                </a:cubicBezTo>
                <a:cubicBezTo>
                  <a:pt x="3365610" y="28480"/>
                  <a:pt x="3394090" y="0"/>
                  <a:pt x="3429221" y="0"/>
                </a:cubicBezTo>
                <a:close/>
                <a:moveTo>
                  <a:pt x="3125923" y="0"/>
                </a:moveTo>
                <a:cubicBezTo>
                  <a:pt x="3161054" y="0"/>
                  <a:pt x="3189534" y="28480"/>
                  <a:pt x="3189534" y="63611"/>
                </a:cubicBezTo>
                <a:cubicBezTo>
                  <a:pt x="3189534" y="98742"/>
                  <a:pt x="3161054" y="127222"/>
                  <a:pt x="3125923" y="127222"/>
                </a:cubicBezTo>
                <a:cubicBezTo>
                  <a:pt x="3090792" y="127222"/>
                  <a:pt x="3062312" y="98742"/>
                  <a:pt x="3062312" y="63611"/>
                </a:cubicBezTo>
                <a:cubicBezTo>
                  <a:pt x="3062312" y="28480"/>
                  <a:pt x="3090792" y="0"/>
                  <a:pt x="3125923" y="0"/>
                </a:cubicBezTo>
                <a:close/>
                <a:moveTo>
                  <a:pt x="2822625" y="0"/>
                </a:moveTo>
                <a:cubicBezTo>
                  <a:pt x="2857756" y="0"/>
                  <a:pt x="2886236" y="28480"/>
                  <a:pt x="2886236" y="63611"/>
                </a:cubicBezTo>
                <a:cubicBezTo>
                  <a:pt x="2886236" y="98742"/>
                  <a:pt x="2857756" y="127222"/>
                  <a:pt x="2822625" y="127222"/>
                </a:cubicBezTo>
                <a:cubicBezTo>
                  <a:pt x="2787494" y="127222"/>
                  <a:pt x="2759014" y="98742"/>
                  <a:pt x="2759014" y="63611"/>
                </a:cubicBezTo>
                <a:cubicBezTo>
                  <a:pt x="2759014" y="28480"/>
                  <a:pt x="2787494" y="0"/>
                  <a:pt x="2822625" y="0"/>
                </a:cubicBezTo>
                <a:close/>
                <a:moveTo>
                  <a:pt x="2519327" y="0"/>
                </a:moveTo>
                <a:cubicBezTo>
                  <a:pt x="2554458" y="0"/>
                  <a:pt x="2582938" y="28480"/>
                  <a:pt x="2582938" y="63611"/>
                </a:cubicBezTo>
                <a:cubicBezTo>
                  <a:pt x="2582938" y="98742"/>
                  <a:pt x="2554458" y="127222"/>
                  <a:pt x="2519327" y="127222"/>
                </a:cubicBezTo>
                <a:cubicBezTo>
                  <a:pt x="2484196" y="127222"/>
                  <a:pt x="2455716" y="98742"/>
                  <a:pt x="2455716" y="63611"/>
                </a:cubicBezTo>
                <a:cubicBezTo>
                  <a:pt x="2455716" y="28480"/>
                  <a:pt x="2484196" y="0"/>
                  <a:pt x="2519327" y="0"/>
                </a:cubicBezTo>
                <a:close/>
                <a:moveTo>
                  <a:pt x="2216029" y="0"/>
                </a:moveTo>
                <a:cubicBezTo>
                  <a:pt x="2251160" y="0"/>
                  <a:pt x="2279640" y="28480"/>
                  <a:pt x="2279640" y="63611"/>
                </a:cubicBezTo>
                <a:cubicBezTo>
                  <a:pt x="2279640" y="98742"/>
                  <a:pt x="2251160" y="127222"/>
                  <a:pt x="2216029" y="127222"/>
                </a:cubicBezTo>
                <a:cubicBezTo>
                  <a:pt x="2180898" y="127222"/>
                  <a:pt x="2152418" y="98742"/>
                  <a:pt x="2152418" y="63611"/>
                </a:cubicBezTo>
                <a:cubicBezTo>
                  <a:pt x="2152418" y="28480"/>
                  <a:pt x="2180898" y="0"/>
                  <a:pt x="2216029" y="0"/>
                </a:cubicBezTo>
                <a:close/>
                <a:moveTo>
                  <a:pt x="1912731" y="0"/>
                </a:moveTo>
                <a:cubicBezTo>
                  <a:pt x="1947862" y="0"/>
                  <a:pt x="1976342" y="28480"/>
                  <a:pt x="1976342" y="63611"/>
                </a:cubicBezTo>
                <a:cubicBezTo>
                  <a:pt x="1976342" y="98742"/>
                  <a:pt x="1947862" y="127222"/>
                  <a:pt x="1912731" y="127222"/>
                </a:cubicBezTo>
                <a:cubicBezTo>
                  <a:pt x="1877600" y="127222"/>
                  <a:pt x="1849120" y="98742"/>
                  <a:pt x="1849120" y="63611"/>
                </a:cubicBezTo>
                <a:cubicBezTo>
                  <a:pt x="1849120" y="28480"/>
                  <a:pt x="1877600" y="0"/>
                  <a:pt x="1912731" y="0"/>
                </a:cubicBezTo>
                <a:close/>
                <a:moveTo>
                  <a:pt x="1580101" y="0"/>
                </a:moveTo>
                <a:cubicBezTo>
                  <a:pt x="1615232" y="0"/>
                  <a:pt x="1643712" y="28480"/>
                  <a:pt x="1643712" y="63611"/>
                </a:cubicBezTo>
                <a:cubicBezTo>
                  <a:pt x="1643712" y="98742"/>
                  <a:pt x="1615232" y="127222"/>
                  <a:pt x="1580101" y="127222"/>
                </a:cubicBezTo>
                <a:cubicBezTo>
                  <a:pt x="1544970" y="127222"/>
                  <a:pt x="1516490" y="98742"/>
                  <a:pt x="1516490" y="63611"/>
                </a:cubicBezTo>
                <a:cubicBezTo>
                  <a:pt x="1516490" y="28480"/>
                  <a:pt x="1544970" y="0"/>
                  <a:pt x="1580101" y="0"/>
                </a:cubicBezTo>
                <a:close/>
                <a:moveTo>
                  <a:pt x="1276803" y="0"/>
                </a:moveTo>
                <a:cubicBezTo>
                  <a:pt x="1311934" y="0"/>
                  <a:pt x="1340414" y="28480"/>
                  <a:pt x="1340414" y="63611"/>
                </a:cubicBezTo>
                <a:cubicBezTo>
                  <a:pt x="1340414" y="98742"/>
                  <a:pt x="1311934" y="127222"/>
                  <a:pt x="1276803" y="127222"/>
                </a:cubicBezTo>
                <a:cubicBezTo>
                  <a:pt x="1241672" y="127222"/>
                  <a:pt x="1213192" y="98742"/>
                  <a:pt x="1213192" y="63611"/>
                </a:cubicBezTo>
                <a:cubicBezTo>
                  <a:pt x="1213192" y="28480"/>
                  <a:pt x="1241672" y="0"/>
                  <a:pt x="1276803" y="0"/>
                </a:cubicBezTo>
                <a:close/>
                <a:moveTo>
                  <a:pt x="973505" y="0"/>
                </a:moveTo>
                <a:cubicBezTo>
                  <a:pt x="1008636" y="0"/>
                  <a:pt x="1037116" y="28480"/>
                  <a:pt x="1037116" y="63611"/>
                </a:cubicBezTo>
                <a:cubicBezTo>
                  <a:pt x="1037116" y="98742"/>
                  <a:pt x="1008636" y="127222"/>
                  <a:pt x="973505" y="127222"/>
                </a:cubicBezTo>
                <a:cubicBezTo>
                  <a:pt x="938374" y="127222"/>
                  <a:pt x="909894" y="98742"/>
                  <a:pt x="909894" y="63611"/>
                </a:cubicBezTo>
                <a:cubicBezTo>
                  <a:pt x="909894" y="28480"/>
                  <a:pt x="938374" y="0"/>
                  <a:pt x="973505" y="0"/>
                </a:cubicBezTo>
                <a:close/>
                <a:moveTo>
                  <a:pt x="670207" y="0"/>
                </a:moveTo>
                <a:cubicBezTo>
                  <a:pt x="705338" y="0"/>
                  <a:pt x="733818" y="28480"/>
                  <a:pt x="733818" y="63611"/>
                </a:cubicBezTo>
                <a:cubicBezTo>
                  <a:pt x="733818" y="98742"/>
                  <a:pt x="705338" y="127222"/>
                  <a:pt x="670207" y="127222"/>
                </a:cubicBezTo>
                <a:cubicBezTo>
                  <a:pt x="635076" y="127222"/>
                  <a:pt x="606596" y="98742"/>
                  <a:pt x="606596" y="63611"/>
                </a:cubicBezTo>
                <a:cubicBezTo>
                  <a:pt x="606596" y="28480"/>
                  <a:pt x="635076" y="0"/>
                  <a:pt x="670207" y="0"/>
                </a:cubicBezTo>
                <a:close/>
                <a:moveTo>
                  <a:pt x="366909" y="0"/>
                </a:moveTo>
                <a:cubicBezTo>
                  <a:pt x="402040" y="0"/>
                  <a:pt x="430520" y="28480"/>
                  <a:pt x="430520" y="63611"/>
                </a:cubicBezTo>
                <a:cubicBezTo>
                  <a:pt x="430520" y="98742"/>
                  <a:pt x="402040" y="127222"/>
                  <a:pt x="366909" y="127222"/>
                </a:cubicBezTo>
                <a:cubicBezTo>
                  <a:pt x="331778" y="127222"/>
                  <a:pt x="303298" y="98742"/>
                  <a:pt x="303298" y="63611"/>
                </a:cubicBezTo>
                <a:cubicBezTo>
                  <a:pt x="303298" y="28480"/>
                  <a:pt x="331778" y="0"/>
                  <a:pt x="366909" y="0"/>
                </a:cubicBezTo>
                <a:close/>
                <a:moveTo>
                  <a:pt x="63611" y="0"/>
                </a:moveTo>
                <a:cubicBezTo>
                  <a:pt x="98742" y="0"/>
                  <a:pt x="127222" y="28480"/>
                  <a:pt x="127222" y="63611"/>
                </a:cubicBezTo>
                <a:cubicBezTo>
                  <a:pt x="127222" y="98742"/>
                  <a:pt x="98742" y="127222"/>
                  <a:pt x="63611" y="127222"/>
                </a:cubicBezTo>
                <a:cubicBezTo>
                  <a:pt x="28480" y="127222"/>
                  <a:pt x="0" y="98742"/>
                  <a:pt x="0" y="63611"/>
                </a:cubicBezTo>
                <a:cubicBezTo>
                  <a:pt x="0" y="28480"/>
                  <a:pt x="28480" y="0"/>
                  <a:pt x="63611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 rot="1800000">
            <a:off x="4521921" y="1556760"/>
            <a:ext cx="1152269" cy="1208430"/>
          </a:xfrm>
          <a:custGeom>
            <a:avLst/>
            <a:gdLst>
              <a:gd name="connsiteX0" fmla="*/ 1016225 w 1565786"/>
              <a:gd name="connsiteY0" fmla="*/ 737981 h 1642101"/>
              <a:gd name="connsiteX1" fmla="*/ 1057871 w 1565786"/>
              <a:gd name="connsiteY1" fmla="*/ 655208 h 1642101"/>
              <a:gd name="connsiteX2" fmla="*/ 1479685 w 1565786"/>
              <a:gd name="connsiteY2" fmla="*/ 515775 h 1642101"/>
              <a:gd name="connsiteX3" fmla="*/ 1562458 w 1565786"/>
              <a:gd name="connsiteY3" fmla="*/ 557421 h 1642101"/>
              <a:gd name="connsiteX4" fmla="*/ 1520812 w 1565786"/>
              <a:gd name="connsiteY4" fmla="*/ 640194 h 1642101"/>
              <a:gd name="connsiteX5" fmla="*/ 1098998 w 1565786"/>
              <a:gd name="connsiteY5" fmla="*/ 779626 h 1642101"/>
              <a:gd name="connsiteX6" fmla="*/ 1016225 w 1565786"/>
              <a:gd name="connsiteY6" fmla="*/ 737981 h 1642101"/>
              <a:gd name="connsiteX7" fmla="*/ 886444 w 1565786"/>
              <a:gd name="connsiteY7" fmla="*/ 577181 h 1642101"/>
              <a:gd name="connsiteX8" fmla="*/ 897181 w 1565786"/>
              <a:gd name="connsiteY8" fmla="*/ 528197 h 1642101"/>
              <a:gd name="connsiteX9" fmla="*/ 1151132 w 1565786"/>
              <a:gd name="connsiteY9" fmla="*/ 163673 h 1642101"/>
              <a:gd name="connsiteX10" fmla="*/ 1242345 w 1565786"/>
              <a:gd name="connsiteY10" fmla="*/ 147366 h 1642101"/>
              <a:gd name="connsiteX11" fmla="*/ 1258652 w 1565786"/>
              <a:gd name="connsiteY11" fmla="*/ 238579 h 1642101"/>
              <a:gd name="connsiteX12" fmla="*/ 1004701 w 1565786"/>
              <a:gd name="connsiteY12" fmla="*/ 603102 h 1642101"/>
              <a:gd name="connsiteX13" fmla="*/ 913488 w 1565786"/>
              <a:gd name="connsiteY13" fmla="*/ 619410 h 1642101"/>
              <a:gd name="connsiteX14" fmla="*/ 886444 w 1565786"/>
              <a:gd name="connsiteY14" fmla="*/ 577181 h 1642101"/>
              <a:gd name="connsiteX15" fmla="*/ 1005918 w 1565786"/>
              <a:gd name="connsiteY15" fmla="*/ 956496 h 1642101"/>
              <a:gd name="connsiteX16" fmla="*/ 1004779 w 1565786"/>
              <a:gd name="connsiteY16" fmla="*/ 906362 h 1642101"/>
              <a:gd name="connsiteX17" fmla="*/ 1089557 w 1565786"/>
              <a:gd name="connsiteY17" fmla="*/ 868967 h 1642101"/>
              <a:gd name="connsiteX18" fmla="*/ 1503758 w 1565786"/>
              <a:gd name="connsiteY18" fmla="*/ 1029609 h 1642101"/>
              <a:gd name="connsiteX19" fmla="*/ 1541153 w 1565786"/>
              <a:gd name="connsiteY19" fmla="*/ 1114387 h 1642101"/>
              <a:gd name="connsiteX20" fmla="*/ 1456375 w 1565786"/>
              <a:gd name="connsiteY20" fmla="*/ 1151782 h 1642101"/>
              <a:gd name="connsiteX21" fmla="*/ 1042174 w 1565786"/>
              <a:gd name="connsiteY21" fmla="*/ 991140 h 1642101"/>
              <a:gd name="connsiteX22" fmla="*/ 1005918 w 1565786"/>
              <a:gd name="connsiteY22" fmla="*/ 956496 h 1642101"/>
              <a:gd name="connsiteX23" fmla="*/ 712641 w 1565786"/>
              <a:gd name="connsiteY23" fmla="*/ 535286 h 1642101"/>
              <a:gd name="connsiteX24" fmla="*/ 707492 w 1565786"/>
              <a:gd name="connsiteY24" fmla="*/ 509782 h 1642101"/>
              <a:gd name="connsiteX25" fmla="*/ 707492 w 1565786"/>
              <a:gd name="connsiteY25" fmla="*/ 65520 h 1642101"/>
              <a:gd name="connsiteX26" fmla="*/ 773012 w 1565786"/>
              <a:gd name="connsiteY26" fmla="*/ 0 h 1642101"/>
              <a:gd name="connsiteX27" fmla="*/ 838532 w 1565786"/>
              <a:gd name="connsiteY27" fmla="*/ 65520 h 1642101"/>
              <a:gd name="connsiteX28" fmla="*/ 838532 w 1565786"/>
              <a:gd name="connsiteY28" fmla="*/ 509782 h 1642101"/>
              <a:gd name="connsiteX29" fmla="*/ 773012 w 1565786"/>
              <a:gd name="connsiteY29" fmla="*/ 575302 h 1642101"/>
              <a:gd name="connsiteX30" fmla="*/ 712641 w 1565786"/>
              <a:gd name="connsiteY30" fmla="*/ 535286 h 1642101"/>
              <a:gd name="connsiteX31" fmla="*/ 877464 w 1565786"/>
              <a:gd name="connsiteY31" fmla="*/ 1091257 h 1642101"/>
              <a:gd name="connsiteX32" fmla="*/ 907078 w 1565786"/>
              <a:gd name="connsiteY32" fmla="*/ 1025158 h 1642101"/>
              <a:gd name="connsiteX33" fmla="*/ 997480 w 1565786"/>
              <a:gd name="connsiteY33" fmla="*/ 1045485 h 1642101"/>
              <a:gd name="connsiteX34" fmla="*/ 1235058 w 1565786"/>
              <a:gd name="connsiteY34" fmla="*/ 1420885 h 1642101"/>
              <a:gd name="connsiteX35" fmla="*/ 1214732 w 1565786"/>
              <a:gd name="connsiteY35" fmla="*/ 1511287 h 1642101"/>
              <a:gd name="connsiteX36" fmla="*/ 1124330 w 1565786"/>
              <a:gd name="connsiteY36" fmla="*/ 1490961 h 1642101"/>
              <a:gd name="connsiteX37" fmla="*/ 886752 w 1565786"/>
              <a:gd name="connsiteY37" fmla="*/ 1115561 h 1642101"/>
              <a:gd name="connsiteX38" fmla="*/ 877464 w 1565786"/>
              <a:gd name="connsiteY38" fmla="*/ 1091257 h 1642101"/>
              <a:gd name="connsiteX39" fmla="*/ 306970 w 1565786"/>
              <a:gd name="connsiteY39" fmla="*/ 189813 h 1642101"/>
              <a:gd name="connsiteX40" fmla="*/ 336584 w 1565786"/>
              <a:gd name="connsiteY40" fmla="*/ 123715 h 1642101"/>
              <a:gd name="connsiteX41" fmla="*/ 426987 w 1565786"/>
              <a:gd name="connsiteY41" fmla="*/ 144041 h 1642101"/>
              <a:gd name="connsiteX42" fmla="*/ 664565 w 1565786"/>
              <a:gd name="connsiteY42" fmla="*/ 519441 h 1642101"/>
              <a:gd name="connsiteX43" fmla="*/ 644239 w 1565786"/>
              <a:gd name="connsiteY43" fmla="*/ 609843 h 1642101"/>
              <a:gd name="connsiteX44" fmla="*/ 553837 w 1565786"/>
              <a:gd name="connsiteY44" fmla="*/ 589517 h 1642101"/>
              <a:gd name="connsiteX45" fmla="*/ 316258 w 1565786"/>
              <a:gd name="connsiteY45" fmla="*/ 214117 h 1642101"/>
              <a:gd name="connsiteX46" fmla="*/ 306970 w 1565786"/>
              <a:gd name="connsiteY46" fmla="*/ 189813 h 1642101"/>
              <a:gd name="connsiteX47" fmla="*/ 712642 w 1565786"/>
              <a:gd name="connsiteY47" fmla="*/ 1602084 h 1642101"/>
              <a:gd name="connsiteX48" fmla="*/ 707493 w 1565786"/>
              <a:gd name="connsiteY48" fmla="*/ 1576581 h 1642101"/>
              <a:gd name="connsiteX49" fmla="*/ 707493 w 1565786"/>
              <a:gd name="connsiteY49" fmla="*/ 1132319 h 1642101"/>
              <a:gd name="connsiteX50" fmla="*/ 773013 w 1565786"/>
              <a:gd name="connsiteY50" fmla="*/ 1066799 h 1642101"/>
              <a:gd name="connsiteX51" fmla="*/ 838533 w 1565786"/>
              <a:gd name="connsiteY51" fmla="*/ 1132319 h 1642101"/>
              <a:gd name="connsiteX52" fmla="*/ 838533 w 1565786"/>
              <a:gd name="connsiteY52" fmla="*/ 1576581 h 1642101"/>
              <a:gd name="connsiteX53" fmla="*/ 773013 w 1565786"/>
              <a:gd name="connsiteY53" fmla="*/ 1642101 h 1642101"/>
              <a:gd name="connsiteX54" fmla="*/ 712642 w 1565786"/>
              <a:gd name="connsiteY54" fmla="*/ 1602084 h 1642101"/>
              <a:gd name="connsiteX55" fmla="*/ 11303 w 1565786"/>
              <a:gd name="connsiteY55" fmla="*/ 570748 h 1642101"/>
              <a:gd name="connsiteX56" fmla="*/ 10163 w 1565786"/>
              <a:gd name="connsiteY56" fmla="*/ 520614 h 1642101"/>
              <a:gd name="connsiteX57" fmla="*/ 94942 w 1565786"/>
              <a:gd name="connsiteY57" fmla="*/ 483219 h 1642101"/>
              <a:gd name="connsiteX58" fmla="*/ 509143 w 1565786"/>
              <a:gd name="connsiteY58" fmla="*/ 643862 h 1642101"/>
              <a:gd name="connsiteX59" fmla="*/ 546538 w 1565786"/>
              <a:gd name="connsiteY59" fmla="*/ 728640 h 1642101"/>
              <a:gd name="connsiteX60" fmla="*/ 461760 w 1565786"/>
              <a:gd name="connsiteY60" fmla="*/ 766035 h 1642101"/>
              <a:gd name="connsiteX61" fmla="*/ 47558 w 1565786"/>
              <a:gd name="connsiteY61" fmla="*/ 605393 h 1642101"/>
              <a:gd name="connsiteX62" fmla="*/ 11303 w 1565786"/>
              <a:gd name="connsiteY62" fmla="*/ 570748 h 1642101"/>
              <a:gd name="connsiteX63" fmla="*/ 276636 w 1565786"/>
              <a:gd name="connsiteY63" fmla="*/ 1452506 h 1642101"/>
              <a:gd name="connsiteX64" fmla="*/ 287373 w 1565786"/>
              <a:gd name="connsiteY64" fmla="*/ 1403522 h 1642101"/>
              <a:gd name="connsiteX65" fmla="*/ 541324 w 1565786"/>
              <a:gd name="connsiteY65" fmla="*/ 1038999 h 1642101"/>
              <a:gd name="connsiteX66" fmla="*/ 632537 w 1565786"/>
              <a:gd name="connsiteY66" fmla="*/ 1022691 h 1642101"/>
              <a:gd name="connsiteX67" fmla="*/ 648844 w 1565786"/>
              <a:gd name="connsiteY67" fmla="*/ 1113904 h 1642101"/>
              <a:gd name="connsiteX68" fmla="*/ 394893 w 1565786"/>
              <a:gd name="connsiteY68" fmla="*/ 1478428 h 1642101"/>
              <a:gd name="connsiteX69" fmla="*/ 303680 w 1565786"/>
              <a:gd name="connsiteY69" fmla="*/ 1494735 h 1642101"/>
              <a:gd name="connsiteX70" fmla="*/ 276636 w 1565786"/>
              <a:gd name="connsiteY70" fmla="*/ 1452506 h 1642101"/>
              <a:gd name="connsiteX71" fmla="*/ 3328 w 1565786"/>
              <a:gd name="connsiteY71" fmla="*/ 1072797 h 1642101"/>
              <a:gd name="connsiteX72" fmla="*/ 44974 w 1565786"/>
              <a:gd name="connsiteY72" fmla="*/ 990024 h 1642101"/>
              <a:gd name="connsiteX73" fmla="*/ 466789 w 1565786"/>
              <a:gd name="connsiteY73" fmla="*/ 850592 h 1642101"/>
              <a:gd name="connsiteX74" fmla="*/ 549561 w 1565786"/>
              <a:gd name="connsiteY74" fmla="*/ 892238 h 1642101"/>
              <a:gd name="connsiteX75" fmla="*/ 507916 w 1565786"/>
              <a:gd name="connsiteY75" fmla="*/ 975011 h 1642101"/>
              <a:gd name="connsiteX76" fmla="*/ 86101 w 1565786"/>
              <a:gd name="connsiteY76" fmla="*/ 1114443 h 1642101"/>
              <a:gd name="connsiteX77" fmla="*/ 3328 w 1565786"/>
              <a:gd name="connsiteY77" fmla="*/ 1072797 h 1642101"/>
            </a:gdLst>
            <a:ahLst/>
            <a:cxnLst/>
            <a:rect l="l" t="t" r="r" b="b"/>
            <a:pathLst>
              <a:path w="1565786" h="1642101">
                <a:moveTo>
                  <a:pt x="1016225" y="737981"/>
                </a:moveTo>
                <a:cubicBezTo>
                  <a:pt x="1004868" y="703623"/>
                  <a:pt x="1023513" y="666565"/>
                  <a:pt x="1057871" y="655208"/>
                </a:cubicBezTo>
                <a:lnTo>
                  <a:pt x="1479685" y="515775"/>
                </a:lnTo>
                <a:cubicBezTo>
                  <a:pt x="1514043" y="504418"/>
                  <a:pt x="1551101" y="523064"/>
                  <a:pt x="1562458" y="557421"/>
                </a:cubicBezTo>
                <a:cubicBezTo>
                  <a:pt x="1573815" y="591779"/>
                  <a:pt x="1555170" y="628837"/>
                  <a:pt x="1520812" y="640194"/>
                </a:cubicBezTo>
                <a:lnTo>
                  <a:pt x="1098998" y="779626"/>
                </a:lnTo>
                <a:cubicBezTo>
                  <a:pt x="1064640" y="790983"/>
                  <a:pt x="1027582" y="772338"/>
                  <a:pt x="1016225" y="737981"/>
                </a:cubicBezTo>
                <a:close/>
                <a:moveTo>
                  <a:pt x="886444" y="577181"/>
                </a:moveTo>
                <a:cubicBezTo>
                  <a:pt x="883493" y="560674"/>
                  <a:pt x="886839" y="543042"/>
                  <a:pt x="897181" y="528197"/>
                </a:cubicBezTo>
                <a:lnTo>
                  <a:pt x="1151132" y="163673"/>
                </a:lnTo>
                <a:cubicBezTo>
                  <a:pt x="1171817" y="133982"/>
                  <a:pt x="1212654" y="126681"/>
                  <a:pt x="1242345" y="147366"/>
                </a:cubicBezTo>
                <a:cubicBezTo>
                  <a:pt x="1272036" y="168050"/>
                  <a:pt x="1279337" y="208887"/>
                  <a:pt x="1258652" y="238579"/>
                </a:cubicBezTo>
                <a:lnTo>
                  <a:pt x="1004701" y="603102"/>
                </a:lnTo>
                <a:cubicBezTo>
                  <a:pt x="984017" y="632794"/>
                  <a:pt x="943180" y="640095"/>
                  <a:pt x="913488" y="619410"/>
                </a:cubicBezTo>
                <a:cubicBezTo>
                  <a:pt x="898643" y="609067"/>
                  <a:pt x="889395" y="593687"/>
                  <a:pt x="886444" y="577181"/>
                </a:cubicBezTo>
                <a:close/>
                <a:moveTo>
                  <a:pt x="1005918" y="956496"/>
                </a:moveTo>
                <a:cubicBezTo>
                  <a:pt x="999151" y="941154"/>
                  <a:pt x="998236" y="923230"/>
                  <a:pt x="1004779" y="906362"/>
                </a:cubicBezTo>
                <a:cubicBezTo>
                  <a:pt x="1017863" y="872624"/>
                  <a:pt x="1055819" y="855882"/>
                  <a:pt x="1089557" y="868967"/>
                </a:cubicBezTo>
                <a:lnTo>
                  <a:pt x="1503758" y="1029609"/>
                </a:lnTo>
                <a:cubicBezTo>
                  <a:pt x="1537496" y="1042694"/>
                  <a:pt x="1554238" y="1080650"/>
                  <a:pt x="1541153" y="1114387"/>
                </a:cubicBezTo>
                <a:cubicBezTo>
                  <a:pt x="1528069" y="1148125"/>
                  <a:pt x="1490113" y="1164867"/>
                  <a:pt x="1456375" y="1151782"/>
                </a:cubicBezTo>
                <a:lnTo>
                  <a:pt x="1042174" y="991140"/>
                </a:lnTo>
                <a:cubicBezTo>
                  <a:pt x="1025305" y="984598"/>
                  <a:pt x="1012685" y="971837"/>
                  <a:pt x="1005918" y="956496"/>
                </a:cubicBezTo>
                <a:close/>
                <a:moveTo>
                  <a:pt x="712641" y="535286"/>
                </a:moveTo>
                <a:cubicBezTo>
                  <a:pt x="709326" y="527447"/>
                  <a:pt x="707492" y="518829"/>
                  <a:pt x="707492" y="509782"/>
                </a:cubicBezTo>
                <a:lnTo>
                  <a:pt x="707492" y="65520"/>
                </a:lnTo>
                <a:cubicBezTo>
                  <a:pt x="707492" y="29334"/>
                  <a:pt x="736826" y="0"/>
                  <a:pt x="773012" y="0"/>
                </a:cubicBezTo>
                <a:cubicBezTo>
                  <a:pt x="809198" y="0"/>
                  <a:pt x="838532" y="29334"/>
                  <a:pt x="838532" y="65520"/>
                </a:cubicBezTo>
                <a:lnTo>
                  <a:pt x="838532" y="509782"/>
                </a:lnTo>
                <a:cubicBezTo>
                  <a:pt x="838532" y="545968"/>
                  <a:pt x="809198" y="575302"/>
                  <a:pt x="773012" y="575302"/>
                </a:cubicBezTo>
                <a:cubicBezTo>
                  <a:pt x="745873" y="575302"/>
                  <a:pt x="722588" y="558802"/>
                  <a:pt x="712641" y="535286"/>
                </a:cubicBezTo>
                <a:close/>
                <a:moveTo>
                  <a:pt x="877464" y="1091257"/>
                </a:moveTo>
                <a:cubicBezTo>
                  <a:pt x="873293" y="1066067"/>
                  <a:pt x="884145" y="1039672"/>
                  <a:pt x="907078" y="1025158"/>
                </a:cubicBezTo>
                <a:cubicBezTo>
                  <a:pt x="937655" y="1005807"/>
                  <a:pt x="978129" y="1014907"/>
                  <a:pt x="997480" y="1045485"/>
                </a:cubicBezTo>
                <a:lnTo>
                  <a:pt x="1235058" y="1420885"/>
                </a:lnTo>
                <a:cubicBezTo>
                  <a:pt x="1254410" y="1451462"/>
                  <a:pt x="1245309" y="1491936"/>
                  <a:pt x="1214732" y="1511287"/>
                </a:cubicBezTo>
                <a:cubicBezTo>
                  <a:pt x="1184155" y="1530638"/>
                  <a:pt x="1143681" y="1521538"/>
                  <a:pt x="1124330" y="1490961"/>
                </a:cubicBezTo>
                <a:lnTo>
                  <a:pt x="886752" y="1115561"/>
                </a:lnTo>
                <a:cubicBezTo>
                  <a:pt x="881914" y="1107916"/>
                  <a:pt x="878854" y="1099654"/>
                  <a:pt x="877464" y="1091257"/>
                </a:cubicBezTo>
                <a:close/>
                <a:moveTo>
                  <a:pt x="306970" y="189813"/>
                </a:moveTo>
                <a:cubicBezTo>
                  <a:pt x="302799" y="164623"/>
                  <a:pt x="313651" y="138228"/>
                  <a:pt x="336584" y="123715"/>
                </a:cubicBezTo>
                <a:cubicBezTo>
                  <a:pt x="367161" y="104363"/>
                  <a:pt x="407635" y="113464"/>
                  <a:pt x="426987" y="144041"/>
                </a:cubicBezTo>
                <a:lnTo>
                  <a:pt x="664565" y="519441"/>
                </a:lnTo>
                <a:cubicBezTo>
                  <a:pt x="683916" y="550018"/>
                  <a:pt x="674816" y="590492"/>
                  <a:pt x="644239" y="609843"/>
                </a:cubicBezTo>
                <a:cubicBezTo>
                  <a:pt x="613662" y="629194"/>
                  <a:pt x="573188" y="620094"/>
                  <a:pt x="553837" y="589517"/>
                </a:cubicBezTo>
                <a:lnTo>
                  <a:pt x="316258" y="214117"/>
                </a:lnTo>
                <a:cubicBezTo>
                  <a:pt x="311420" y="206473"/>
                  <a:pt x="308361" y="198210"/>
                  <a:pt x="306970" y="189813"/>
                </a:cubicBezTo>
                <a:close/>
                <a:moveTo>
                  <a:pt x="712642" y="1602084"/>
                </a:moveTo>
                <a:cubicBezTo>
                  <a:pt x="709326" y="1594246"/>
                  <a:pt x="707493" y="1585627"/>
                  <a:pt x="707493" y="1576581"/>
                </a:cubicBezTo>
                <a:lnTo>
                  <a:pt x="707493" y="1132319"/>
                </a:lnTo>
                <a:cubicBezTo>
                  <a:pt x="707493" y="1096133"/>
                  <a:pt x="736827" y="1066799"/>
                  <a:pt x="773013" y="1066799"/>
                </a:cubicBezTo>
                <a:cubicBezTo>
                  <a:pt x="809199" y="1066799"/>
                  <a:pt x="838533" y="1096133"/>
                  <a:pt x="838533" y="1132319"/>
                </a:cubicBezTo>
                <a:lnTo>
                  <a:pt x="838533" y="1576581"/>
                </a:lnTo>
                <a:cubicBezTo>
                  <a:pt x="838533" y="1612767"/>
                  <a:pt x="809199" y="1642101"/>
                  <a:pt x="773013" y="1642101"/>
                </a:cubicBezTo>
                <a:cubicBezTo>
                  <a:pt x="745873" y="1642101"/>
                  <a:pt x="722588" y="1625601"/>
                  <a:pt x="712642" y="1602084"/>
                </a:cubicBezTo>
                <a:close/>
                <a:moveTo>
                  <a:pt x="11303" y="570748"/>
                </a:moveTo>
                <a:cubicBezTo>
                  <a:pt x="4535" y="555407"/>
                  <a:pt x="3621" y="537483"/>
                  <a:pt x="10163" y="520614"/>
                </a:cubicBezTo>
                <a:cubicBezTo>
                  <a:pt x="23248" y="486877"/>
                  <a:pt x="61204" y="470135"/>
                  <a:pt x="94942" y="483219"/>
                </a:cubicBezTo>
                <a:lnTo>
                  <a:pt x="509143" y="643862"/>
                </a:lnTo>
                <a:cubicBezTo>
                  <a:pt x="542881" y="656946"/>
                  <a:pt x="559623" y="694902"/>
                  <a:pt x="546538" y="728640"/>
                </a:cubicBezTo>
                <a:cubicBezTo>
                  <a:pt x="533454" y="762377"/>
                  <a:pt x="495497" y="779120"/>
                  <a:pt x="461760" y="766035"/>
                </a:cubicBezTo>
                <a:lnTo>
                  <a:pt x="47558" y="605393"/>
                </a:lnTo>
                <a:cubicBezTo>
                  <a:pt x="30690" y="598850"/>
                  <a:pt x="18070" y="586090"/>
                  <a:pt x="11303" y="570748"/>
                </a:cubicBezTo>
                <a:close/>
                <a:moveTo>
                  <a:pt x="276636" y="1452506"/>
                </a:moveTo>
                <a:cubicBezTo>
                  <a:pt x="273685" y="1436000"/>
                  <a:pt x="277031" y="1418368"/>
                  <a:pt x="287373" y="1403522"/>
                </a:cubicBezTo>
                <a:lnTo>
                  <a:pt x="541324" y="1038999"/>
                </a:lnTo>
                <a:cubicBezTo>
                  <a:pt x="562009" y="1009307"/>
                  <a:pt x="602846" y="1002006"/>
                  <a:pt x="632537" y="1022691"/>
                </a:cubicBezTo>
                <a:cubicBezTo>
                  <a:pt x="662228" y="1043376"/>
                  <a:pt x="669529" y="1084213"/>
                  <a:pt x="648844" y="1113904"/>
                </a:cubicBezTo>
                <a:lnTo>
                  <a:pt x="394893" y="1478428"/>
                </a:lnTo>
                <a:cubicBezTo>
                  <a:pt x="374209" y="1508119"/>
                  <a:pt x="333372" y="1515420"/>
                  <a:pt x="303680" y="1494735"/>
                </a:cubicBezTo>
                <a:cubicBezTo>
                  <a:pt x="288835" y="1484393"/>
                  <a:pt x="279587" y="1469012"/>
                  <a:pt x="276636" y="1452506"/>
                </a:cubicBezTo>
                <a:close/>
                <a:moveTo>
                  <a:pt x="3328" y="1072797"/>
                </a:moveTo>
                <a:cubicBezTo>
                  <a:pt x="-8029" y="1038440"/>
                  <a:pt x="10617" y="1001382"/>
                  <a:pt x="44974" y="990024"/>
                </a:cubicBezTo>
                <a:lnTo>
                  <a:pt x="466789" y="850592"/>
                </a:lnTo>
                <a:cubicBezTo>
                  <a:pt x="501146" y="839235"/>
                  <a:pt x="538204" y="857880"/>
                  <a:pt x="549561" y="892238"/>
                </a:cubicBezTo>
                <a:cubicBezTo>
                  <a:pt x="560919" y="926596"/>
                  <a:pt x="542273" y="963654"/>
                  <a:pt x="507916" y="975011"/>
                </a:cubicBezTo>
                <a:lnTo>
                  <a:pt x="86101" y="1114443"/>
                </a:lnTo>
                <a:cubicBezTo>
                  <a:pt x="51744" y="1125800"/>
                  <a:pt x="14685" y="1107155"/>
                  <a:pt x="3328" y="107279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645160" y="2284366"/>
            <a:ext cx="4677221" cy="1808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谢谢大家</a:t>
            </a:r>
            <a:endParaRPr kumimoji="1"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2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3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4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5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6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7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8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9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10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11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12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13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14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15.xml><?xml version="1.0" encoding="utf-8"?>
<p:tagLst xmlns:p="http://schemas.openxmlformats.org/presentationml/2006/main">
  <p:tag name="KSO_WM_DIAGRAM_VIRTUALLY_FRAME" val="{&quot;height&quot;:326.4089763779528,&quot;left&quot;:54.454566929133854,&quot;top&quot;:164.18921259842517,&quot;width&quot;:848.4544881889764}"/>
</p:tagLst>
</file>

<file path=ppt/tags/tag16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17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18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19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20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21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22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23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24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25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26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27.xml><?xml version="1.0" encoding="utf-8"?>
<p:tagLst xmlns:p="http://schemas.openxmlformats.org/presentationml/2006/main">
  <p:tag name="KSO_WM_DIAGRAM_VIRTUALLY_FRAME" val="{&quot;height&quot;:346.79748031496064,&quot;left&quot;:46.4407874015748,&quot;top&quot;:136.20251968503936,&quot;width&quot;:860.5592913385829}"/>
</p:tagLst>
</file>

<file path=ppt/tags/tag28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29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30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31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32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33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34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35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36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37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38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39.xml><?xml version="1.0" encoding="utf-8"?>
<p:tagLst xmlns:p="http://schemas.openxmlformats.org/presentationml/2006/main">
  <p:tag name="KSO_WM_DIAGRAM_VIRTUALLY_FRAME" val="{&quot;height&quot;:246.2,&quot;left&quot;:72.38188976377953,&quot;top&quot;:196.6147244094488,&quot;width&quot;:526.0337795275591}"/>
</p:tagLst>
</file>

<file path=ppt/tags/tag40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41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42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43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44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45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46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47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48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49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50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51.xml><?xml version="1.0" encoding="utf-8"?>
<p:tagLst xmlns:p="http://schemas.openxmlformats.org/presentationml/2006/main">
  <p:tag name="KSO_WM_DIAGRAM_VIRTUALLY_FRAME" val="{&quot;height&quot;:295.57583940271064,&quot;left&quot;:309.9879070702982,&quot;top&quot;:137.48459998368403,&quot;width&quot;:597.0122504100167}"/>
</p:tagLst>
</file>

<file path=ppt/tags/tag52.xml><?xml version="1.0" encoding="utf-8"?>
<p:tagLst xmlns:p="http://schemas.openxmlformats.org/presentationml/2006/main">
  <p:tag name="KSO_WM_DIAGRAM_VIRTUALLY_FRAME" val="{&quot;height&quot;:250.23984251968514,&quot;left&quot;:118.58267716535434,&quot;top&quot;:240.9091338582677,&quot;width&quot;:735.2433858267717}"/>
</p:tagLst>
</file>

<file path=ppt/tags/tag53.xml><?xml version="1.0" encoding="utf-8"?>
<p:tagLst xmlns:p="http://schemas.openxmlformats.org/presentationml/2006/main">
  <p:tag name="KSO_WM_DIAGRAM_VIRTUALLY_FRAME" val="{&quot;height&quot;:250.23984251968514,&quot;left&quot;:118.58267716535434,&quot;top&quot;:240.9091338582677,&quot;width&quot;:735.2433858267717}"/>
</p:tagLst>
</file>

<file path=ppt/tags/tag54.xml><?xml version="1.0" encoding="utf-8"?>
<p:tagLst xmlns:p="http://schemas.openxmlformats.org/presentationml/2006/main">
  <p:tag name="KSO_WM_DIAGRAM_VIRTUALLY_FRAME" val="{&quot;height&quot;:250.23984251968514,&quot;left&quot;:118.58267716535434,&quot;top&quot;:240.9091338582677,&quot;width&quot;:735.2433858267717}"/>
</p:tagLst>
</file>

<file path=ppt/tags/tag55.xml><?xml version="1.0" encoding="utf-8"?>
<p:tagLst xmlns:p="http://schemas.openxmlformats.org/presentationml/2006/main">
  <p:tag name="KSO_WM_DIAGRAM_VIRTUALLY_FRAME" val="{&quot;height&quot;:250.23984251968514,&quot;left&quot;:118.58267716535434,&quot;top&quot;:240.9091338582677,&quot;width&quot;:735.2433858267717}"/>
</p:tagLst>
</file>

<file path=ppt/tags/tag56.xml><?xml version="1.0" encoding="utf-8"?>
<p:tagLst xmlns:p="http://schemas.openxmlformats.org/presentationml/2006/main">
  <p:tag name="KSO_WM_DIAGRAM_VIRTUALLY_FRAME" val="{&quot;height&quot;:250.23984251968514,&quot;left&quot;:118.58267716535434,&quot;top&quot;:240.9091338582677,&quot;width&quot;:735.2433858267717}"/>
</p:tagLst>
</file>

<file path=ppt/tags/tag57.xml><?xml version="1.0" encoding="utf-8"?>
<p:tagLst xmlns:p="http://schemas.openxmlformats.org/presentationml/2006/main">
  <p:tag name="KSO_WM_DIAGRAM_VIRTUALLY_FRAME" val="{&quot;height&quot;:250.23984251968514,&quot;left&quot;:118.58267716535434,&quot;top&quot;:240.9091338582677,&quot;width&quot;:735.2433858267717}"/>
</p:tagLst>
</file>

<file path=ppt/tags/tag58.xml><?xml version="1.0" encoding="utf-8"?>
<p:tagLst xmlns:p="http://schemas.openxmlformats.org/presentationml/2006/main">
  <p:tag name="KSO_WM_DIAGRAM_VIRTUALLY_FRAME" val="{&quot;height&quot;:250.23984251968514,&quot;left&quot;:118.58267716535434,&quot;top&quot;:240.9091338582677,&quot;width&quot;:735.2433858267717}"/>
</p:tagLst>
</file>

<file path=ppt/tags/tag59.xml><?xml version="1.0" encoding="utf-8"?>
<p:tagLst xmlns:p="http://schemas.openxmlformats.org/presentationml/2006/main">
  <p:tag name="KSO_WM_DIAGRAM_VIRTUALLY_FRAME" val="{&quot;height&quot;:250.23984251968514,&quot;left&quot;:118.58267716535434,&quot;top&quot;:240.9091338582677,&quot;width&quot;:735.2433858267717}"/>
</p:tagLst>
</file>

<file path=ppt/tags/tag60.xml><?xml version="1.0" encoding="utf-8"?>
<p:tagLst xmlns:p="http://schemas.openxmlformats.org/presentationml/2006/main">
  <p:tag name="KSO_WM_DIAGRAM_VIRTUALLY_FRAME" val="{&quot;height&quot;:250.23984251968514,&quot;left&quot;:118.58267716535434,&quot;top&quot;:240.9091338582677,&quot;width&quot;:735.2433858267717}"/>
</p:tagLst>
</file>

<file path=ppt/tags/tag61.xml><?xml version="1.0" encoding="utf-8"?>
<p:tagLst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62.xml><?xml version="1.0" encoding="utf-8"?>
<p:tagLst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63.xml><?xml version="1.0" encoding="utf-8"?>
<p:tagLst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64.xml><?xml version="1.0" encoding="utf-8"?>
<p:tagLst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65.xml><?xml version="1.0" encoding="utf-8"?>
<p:tagLst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66.xml><?xml version="1.0" encoding="utf-8"?>
<p:tagLst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67.xml><?xml version="1.0" encoding="utf-8"?>
<p:tagLst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68.xml><?xml version="1.0" encoding="utf-8"?>
<p:tagLst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69.xml><?xml version="1.0" encoding="utf-8"?>
<p:tagLst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ags/tag70.xml><?xml version="1.0" encoding="utf-8"?>
<p:tagLst xmlns:p="http://schemas.openxmlformats.org/presentationml/2006/main">
  <p:tag name="KSO_WM_DIAGRAM_VIRTUALLY_FRAME" val="{&quot;height&quot;:208.5271653543307,&quot;left&quot;:113.13527559055117,&quot;top&quot;:252.4728346456693,&quot;width&quot;:735.242440944882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8CEC8"/>
      </a:accent1>
      <a:accent2>
        <a:srgbClr val="28CD8F"/>
      </a:accent2>
      <a:accent3>
        <a:srgbClr val="5B83E7"/>
      </a:accent3>
      <a:accent4>
        <a:srgbClr val="2BADFF"/>
      </a:accent4>
      <a:accent5>
        <a:srgbClr val="2960B1"/>
      </a:accent5>
      <a:accent6>
        <a:srgbClr val="BF9000"/>
      </a:accent6>
      <a:hlink>
        <a:srgbClr val="7B68E9"/>
      </a:hlink>
      <a:folHlink>
        <a:srgbClr val="BFBFB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8941</Words>
  <Application>WPS 演示</Application>
  <PresentationFormat/>
  <Paragraphs>704</Paragraphs>
  <Slides>83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97" baseType="lpstr">
      <vt:lpstr>Arial</vt:lpstr>
      <vt:lpstr>宋体</vt:lpstr>
      <vt:lpstr>Wingdings</vt:lpstr>
      <vt:lpstr>Source Han Sans</vt:lpstr>
      <vt:lpstr>Source Han Sans CN Bold</vt:lpstr>
      <vt:lpstr>等线</vt:lpstr>
      <vt:lpstr>微软雅黑</vt:lpstr>
      <vt:lpstr>Arial Unicode MS</vt:lpstr>
      <vt:lpstr>Calibri</vt:lpstr>
      <vt:lpstr>OPPOSans L</vt:lpstr>
      <vt:lpstr>OPPOSans B</vt:lpstr>
      <vt:lpstr>OPPOSans H</vt:lpstr>
      <vt:lpstr>OPPOSans 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刘欣语</cp:lastModifiedBy>
  <cp:revision>1</cp:revision>
  <dcterms:created xsi:type="dcterms:W3CDTF">2025-04-06T09:19:01Z</dcterms:created>
  <dcterms:modified xsi:type="dcterms:W3CDTF">2025-04-06T09:19:02Z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CF3EE8A6F7A14AFF88242F82D5BDBB34_12</vt:lpwstr>
  </property>
  <property fmtid="{D5CDD505-2E9C-101B-9397-08002B2CF9AE}" pid="3" name="KSOProductBuildVer">
    <vt:lpwstr>2052-12.1.0.20305</vt:lpwstr>
  </property>
</Properties>
</file>